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FD966"/>
              </a:solidFill>
              <a:ln w="9525">
                <a:solidFill>
                  <a:srgbClr val="111827"/>
                </a:solidFill>
              </a:ln>
            </c:spPr>
          </c:dPt>
          <c:dPt>
            <c:idx val="2"/>
            <c:spPr>
              <a:solidFill>
                <a:srgbClr val="B6D7A8"/>
              </a:solidFill>
              <a:ln w="9525">
                <a:solidFill>
                  <a:srgbClr val="111827"/>
                </a:solidFill>
              </a:ln>
            </c:spPr>
          </c:dPt>
          <c:dPt>
            <c:idx val="3"/>
            <c:spPr>
              <a:solidFill>
                <a:srgbClr val="F6B26B"/>
              </a:solidFill>
              <a:ln w="9525">
                <a:solidFill>
                  <a:srgbClr val="111827"/>
                </a:solidFill>
              </a:ln>
            </c:spPr>
          </c:dPt>
          <c:dPt>
            <c:idx val="4"/>
            <c:spPr>
              <a:solidFill>
                <a:srgbClr val="FFD966"/>
              </a:solidFill>
              <a:ln w="9525">
                <a:solidFill>
                  <a:srgbClr val="111827"/>
                </a:solidFill>
              </a:ln>
            </c:spPr>
          </c:dPt>
          <c:dPt>
            <c:idx val="5"/>
            <c:spPr>
              <a:solidFill>
                <a:srgbClr val="B6D7A8"/>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B6D7A8"/>
              </a:solidFill>
              <a:ln w="9525">
                <a:solidFill>
                  <a:srgbClr val="111827"/>
                </a:solidFill>
              </a:ln>
            </c:spPr>
          </c:dPt>
          <c:dPt>
            <c:idx val="9"/>
            <c:spPr>
              <a:solidFill>
                <a:srgbClr val="FFD966"/>
              </a:solidFill>
              <a:ln w="9525">
                <a:solidFill>
                  <a:srgbClr val="111827"/>
                </a:solidFill>
              </a:ln>
            </c:spPr>
          </c:dPt>
          <c:dPt>
            <c:idx val="10"/>
            <c:spPr>
              <a:solidFill>
                <a:srgbClr val="B6D7A8"/>
              </a:solidFill>
              <a:ln w="9525">
                <a:solidFill>
                  <a:srgbClr val="111827"/>
                </a:solidFill>
              </a:ln>
            </c:spPr>
          </c:dPt>
          <c:dPt>
            <c:idx val="11"/>
            <c:spPr>
              <a:solidFill>
                <a:srgbClr val="FFD966"/>
              </a:solidFill>
              <a:ln w="9525">
                <a:solidFill>
                  <a:srgbClr val="111827"/>
                </a:solidFill>
              </a:ln>
            </c:spPr>
          </c:dPt>
          <c:dPt>
            <c:idx val="12"/>
            <c:spPr>
              <a:solidFill>
                <a:srgbClr val="FFD966"/>
              </a:solidFill>
              <a:ln w="9525">
                <a:solidFill>
                  <a:srgbClr val="111827"/>
                </a:solidFill>
              </a:ln>
            </c:spPr>
          </c:dPt>
          <c:dPt>
            <c:idx val="13"/>
            <c:spPr>
              <a:solidFill>
                <a:srgbClr val="FFD966"/>
              </a:solidFill>
              <a:ln w="9525">
                <a:solidFill>
                  <a:srgbClr val="111827"/>
                </a:solidFill>
              </a:ln>
            </c:spPr>
          </c:dPt>
          <c:dPt>
            <c:idx val="14"/>
            <c:spPr>
              <a:solidFill>
                <a:srgbClr val="B6D7A8"/>
              </a:solidFill>
              <a:ln w="9525">
                <a:solidFill>
                  <a:srgbClr val="111827"/>
                </a:solidFill>
              </a:ln>
            </c:spPr>
          </c:dPt>
          <c:dPt>
            <c:idx val="15"/>
            <c:spPr>
              <a:solidFill>
                <a:srgbClr val="FFD966"/>
              </a:solidFill>
              <a:ln w="9525">
                <a:solidFill>
                  <a:srgbClr val="111827"/>
                </a:solidFill>
              </a:ln>
            </c:spPr>
          </c:dPt>
          <c:dPt>
            <c:idx val="16"/>
            <c:spPr>
              <a:solidFill>
                <a:srgbClr val="FFD966"/>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2.0</c:v>
                </c:pt>
                <c:pt idx="1">
                  <c:v>2.0</c:v>
                </c:pt>
                <c:pt idx="2">
                  <c:v>1.0</c:v>
                </c:pt>
                <c:pt idx="3">
                  <c:v>3.0</c:v>
                </c:pt>
                <c:pt idx="4">
                  <c:v>2.0</c:v>
                </c:pt>
                <c:pt idx="5">
                  <c:v>1.0</c:v>
                </c:pt>
                <c:pt idx="6">
                  <c:v>2.0</c:v>
                </c:pt>
                <c:pt idx="7">
                  <c:v>2.0</c:v>
                </c:pt>
                <c:pt idx="8">
                  <c:v>1.0</c:v>
                </c:pt>
                <c:pt idx="9">
                  <c:v>2.0</c:v>
                </c:pt>
                <c:pt idx="10">
                  <c:v>1.0</c:v>
                </c:pt>
                <c:pt idx="11">
                  <c:v>2.0</c:v>
                </c:pt>
                <c:pt idx="12">
                  <c:v>2.0</c:v>
                </c:pt>
                <c:pt idx="13">
                  <c:v>2.0</c:v>
                </c:pt>
                <c:pt idx="14">
                  <c:v>1.0</c:v>
                </c:pt>
                <c:pt idx="15">
                  <c:v>2.0</c:v>
                </c:pt>
                <c:pt idx="16">
                  <c:v>2.0</c:v>
                </c:pt>
                <c:pt idx="17">
                  <c:v>2.0</c:v>
                </c:pt>
                <c:pt idx="18">
                  <c:v>2.0</c:v>
                </c:pt>
                <c:pt idx="19">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lists the first AP as '2 + 9 + ... + 91 = 654' and the second as '5 + 12 + ... + 94 = 702'. These lists are wrong (2 and 9 are not two-digit; 91 and 94 are not of the form 7k+2 / 7k+5, and the sum of the first list as printed would be 651, not 654). The totals 654 and 702 are right for the correct lists 16..93 (12 terms) and 12..96 (13 terms); the working was rewritten with the correct lists and term counts. Final answer 1356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says 'r != 1, so x != 2'. That implication is wrong: r = 1 corresponds to x = 3 (since x = 1 + r + 1/r), not x = 2. The correct reasoning is the discriminant condition (1-x)^2 - 4 &gt;= 0, which the PDF also writes, giving x &lt;= -1 or x &gt;= 3 (with the end values excluded by distinctness); x = 2 is excluded because it lies in (-1, 3). Final answer (C) unchanged.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takes b = +sqrt(ac) (writes 2b x = 2 sqrt(ac) x and the root as -sqrt(c/a)), which silently assumes b &gt; 0. If b &lt; 0 the double root is +sqrt(c/a), not -sqrt(c/a). The result d/a + f/c = 2e/b still holds in both cases because the common root is -b/a. The working here is rewritten with the double root -b/a. Final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finds the critical points d = 8/5 and 2/3, then claims 'for d = 2/3, d^2A/dd^2 &lt; 0, hence d = 2/3'. This is wrong: A = -10d^3 + 34d^2 - 32d + 8, A'' = -60d + 68, which is +28 at d = 2/3 (local minimum, A = -32/27) and -28 at d = 8/5 (local maximum, A = 72/25 = 2.88). So the key (A) 2/3 is wrong; the correct answer is (B) 8/5. Note A -&gt; +infinity as d -&gt; -infinity, so 8/5 is the local maximum, which is what the question intends (no global maximum exists).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01 Algebra 02 — Paper Analysis</a:t>
            </a:r>
            <a:endParaRPr sz="4000">
              <a:solidFill>
                <a:srgbClr val="FFFFFF"/>
              </a:solidFill>
            </a:endParaRPr>
          </a:p>
          <a:p>
            <a:pPr algn="ctr"/>
            <a:r>
              <a:rPr sz="2200">
                <a:solidFill>
                  <a:srgbClr val="FFFFFF"/>
                </a:solidFill>
                <a:latin typeface="Arial"/>
              </a:rPr>
              <a:t>Sequence and Progression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(assumed: no marks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for numerical questions</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7</m:t>
                        </m:r>
                      </m:sub>
                    </m:sSub>
                  </m:oMath>
                </a14:m>
                <a:r>
                  <a:rPr sz="2400" b="0">
                    <a:solidFill>
                      <a:srgbClr val="111827"/>
                    </a:solidFill>
                    <a:latin typeface="Arial"/>
                  </a:rPr>
                  <a:t> be the roots of the 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5</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$\alpha_1,\alpha_2,\ldots,\alpha_7$</a:t>
                </a:r>
                <a:r>
                  <a:rPr sz="2400" b="0">
                    <a:solidFill>
                      <a:srgbClr val="111827"/>
                    </a:solidFill>
                    <a:latin typeface="Arial"/>
                  </a:rPr>
                  <a:t> be the roots of the equation </a:t>
                </a:r>
                <a:r>
                  <a:rPr lang="en-IN" sz="2400">
                    <a:solidFill>
                      <a:srgbClr val="111827"/>
                    </a:solidFill>
                    <a:latin typeface="Cambria Math" panose="02040503050406030204" pitchFamily="18" charset="0"/>
                  </a:rPr>
                  <a:t>$x^7+3x^5-13x^3-15x=0$</a:t>
                </a:r>
                <a:r>
                  <a:rPr sz="2400" b="0">
                    <a:solidFill>
                      <a:srgbClr val="111827"/>
                    </a:solidFill>
                    <a:latin typeface="Arial"/>
                  </a:rPr>
                  <a:t> and </a:t>
                </a:r>
                <a:r>
                  <a:rPr lang="en-IN" sz="2400">
                    <a:solidFill>
                      <a:srgbClr val="111827"/>
                    </a:solidFill>
                    <a:latin typeface="Cambria Math" panose="02040503050406030204" pitchFamily="18" charset="0"/>
                  </a:rPr>
                  <a:t>$|\alpha_1|\ge|\alpha_2|\ge\ldots\ge|\alpha_7|$</a:t>
                </a:r>
                <a:r>
                  <a:rPr sz="2400" b="0">
                    <a:solidFill>
                      <a:srgbClr val="111827"/>
                    </a:solidFill>
                    <a:latin typeface="Arial"/>
                  </a:rPr>
                  <a:t>. Then </a:t>
                </a:r>
                <a:r>
                  <a:rPr lang="en-IN" sz="2400">
                    <a:solidFill>
                      <a:srgbClr val="111827"/>
                    </a:solidFill>
                    <a:latin typeface="Cambria Math" panose="02040503050406030204" pitchFamily="18" charset="0"/>
                  </a:rPr>
                  <a:t>$\alpha_1\alpha_2-\alpha_3\alpha_4+\alpha_5\alpha_6$</a:t>
                </a:r>
                <a:r>
                  <a:rPr sz="2400" b="0">
                    <a:solidFill>
                      <a:srgbClr val="111827"/>
                    </a:solidFill>
                    <a:latin typeface="Arial"/>
                  </a:rPr>
                  <a:t> is equal to ______.</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Roots of a polynomial equation reducible to a cubic in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ordered by modulus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Roots of a polynomial equation reducible to a cubic in </a:t>
                </a:r>
                <a:r>
                  <a:rPr lang="en-IN" sz="2400">
                    <a:solidFill>
                      <a:srgbClr val="111827"/>
                    </a:solidFill>
                    <a:latin typeface="Cambria Math" panose="02040503050406030204" pitchFamily="18" charset="0"/>
                  </a:rPr>
                  <a:t>$x^2$</a:t>
                </a:r>
                <a:r>
                  <a:rPr sz="2400" b="0">
                    <a:solidFill>
                      <a:srgbClr val="111827"/>
                    </a:solidFill>
                    <a:latin typeface="Arial"/>
                  </a:rPr>
                  <a:t>, ordered by modulus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polynomial is odd, so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is a root and the rest depend only on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giving a cubic in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whose roots are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polynomial is odd, so </a:t>
                </a:r>
                <a:r>
                  <a:rPr lang="en-IN" sz="2400">
                    <a:solidFill>
                      <a:srgbClr val="78350F"/>
                    </a:solidFill>
                    <a:latin typeface="Cambria Math" panose="02040503050406030204" pitchFamily="18" charset="0"/>
                  </a:rPr>
                  <a:t>$x=0$</a:t>
                </a:r>
                <a:r>
                  <a:rPr sz="2400" b="0">
                    <a:solidFill>
                      <a:srgbClr val="78350F"/>
                    </a:solidFill>
                    <a:latin typeface="Arial"/>
                  </a:rPr>
                  <a:t> is a root and the rest depend only on </a:t>
                </a:r>
                <a:r>
                  <a:rPr lang="en-IN" sz="2400">
                    <a:solidFill>
                      <a:srgbClr val="78350F"/>
                    </a:solidFill>
                    <a:latin typeface="Cambria Math" panose="02040503050406030204" pitchFamily="18" charset="0"/>
                  </a:rPr>
                  <a:t>$t=x^2$</a:t>
                </a:r>
                <a:r>
                  <a:rPr sz="2400" b="0">
                    <a:solidFill>
                      <a:srgbClr val="78350F"/>
                    </a:solidFill>
                    <a:latin typeface="Arial"/>
                  </a:rPr>
                  <a:t>, giving a cubic in </a:t>
                </a:r>
                <a:r>
                  <a:rPr lang="en-IN" sz="2400">
                    <a:solidFill>
                      <a:srgbClr val="78350F"/>
                    </a:solidFill>
                    <a:latin typeface="Cambria Math" panose="02040503050406030204" pitchFamily="18" charset="0"/>
                  </a:rPr>
                  <a:t>$t$</a:t>
                </a:r>
                <a:r>
                  <a:rPr sz="2400" b="0">
                    <a:solidFill>
                      <a:srgbClr val="78350F"/>
                    </a:solidFill>
                    <a:latin typeface="Arial"/>
                  </a:rPr>
                  <a:t> whose roots are </a:t>
                </a:r>
                <a:r>
                  <a:rPr lang="en-IN" sz="2400">
                    <a:solidFill>
                      <a:srgbClr val="78350F"/>
                    </a:solidFill>
                    <a:latin typeface="Cambria Math" panose="02040503050406030204" pitchFamily="18" charset="0"/>
                  </a:rPr>
                  <a:t>$3,-1,-5$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$x^7+3x^5-13x^3-15x=0$</a:t>
                </a:r>
                <a:r>
                  <a:rPr sz="2400" b="0">
                    <a:solidFill>
                      <a:srgbClr val="111827"/>
                    </a:solidFill>
                    <a:latin typeface="Arial"/>
                  </a:rPr>
                  <a:t> gives </a:t>
                </a:r>
                <a:r>
                  <a:rPr lang="en-IN" sz="2400">
                    <a:solidFill>
                      <a:srgbClr val="111827"/>
                    </a:solidFill>
                    <a:latin typeface="Cambria Math" panose="02040503050406030204" pitchFamily="18" charset="0"/>
                  </a:rPr>
                  <a:t>$x=0$</a:t>
                </a:r>
                <a:r>
                  <a:rPr sz="2400" b="0">
                    <a:solidFill>
                      <a:srgbClr val="111827"/>
                    </a:solidFill>
                    <a:latin typeface="Arial"/>
                  </a:rPr>
                  <a:t> or </a:t>
                </a:r>
                <a:r>
                  <a:rPr lang="en-IN" sz="2400">
                    <a:solidFill>
                      <a:srgbClr val="111827"/>
                    </a:solidFill>
                    <a:latin typeface="Cambria Math" panose="02040503050406030204" pitchFamily="18" charset="0"/>
                  </a:rPr>
                  <a:t>$x^6+3x^4-13x^2-15=0$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$x^2=t$</a:t>
                </a:r>
                <a:r>
                  <a:rPr sz="2400" b="0">
                    <a:solidFill>
                      <a:srgbClr val="111827"/>
                    </a:solidFill>
                    <a:latin typeface="Arial"/>
                  </a:rPr>
                  <a:t>: </a:t>
                </a:r>
                <a:r>
                  <a:rPr lang="en-IN" sz="2400">
                    <a:solidFill>
                      <a:srgbClr val="111827"/>
                    </a:solidFill>
                    <a:latin typeface="Cambria Math" panose="02040503050406030204" pitchFamily="18" charset="0"/>
                  </a:rPr>
                  <a:t>$t^3+3t^2-13t-15=0$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r>
                  <a:rPr lang="en-IN" sz="2400">
                    <a:solidFill>
                      <a:srgbClr val="111827"/>
                    </a:solidFill>
                    <a:latin typeface="Cambria Math" panose="02040503050406030204" pitchFamily="18" charset="0"/>
                  </a:rPr>
                  <a:t>$(t-3)(t^2+6t+5)=0$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$t=3$</a:t>
                </a:r>
                <a:r>
                  <a:rPr sz="2400" b="0">
                    <a:solidFill>
                      <a:srgbClr val="111827"/>
                    </a:solidFill>
                    <a:latin typeface="Arial"/>
                  </a:rPr>
                  <a:t> or </a:t>
                </a:r>
                <a:r>
                  <a:rPr lang="en-IN" sz="2400">
                    <a:solidFill>
                      <a:srgbClr val="111827"/>
                    </a:solidFill>
                    <a:latin typeface="Cambria Math" panose="02040503050406030204" pitchFamily="18" charset="0"/>
                  </a:rPr>
                  <a:t>$t^2+6t+5=0$</a:t>
                </a:r>
                <a:r>
                  <a:rPr sz="2400" b="0">
                    <a:solidFill>
                      <a:srgbClr val="111827"/>
                    </a:solidFill>
                    <a:latin typeface="Arial"/>
                  </a:rPr>
                  <a:t>, i.e. </a:t>
                </a:r>
                <a:r>
                  <a:rPr lang="en-IN" sz="2400">
                    <a:solidFill>
                      <a:srgbClr val="111827"/>
                    </a:solidFill>
                    <a:latin typeface="Cambria Math" panose="02040503050406030204" pitchFamily="18" charset="0"/>
                  </a:rPr>
                  <a:t>$t=-1,-5$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$x^2=3\Rightarrow x=\sqrt3,-\sqrt3$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Moduli in decreasing order: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5</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$x^2=-1\Rightarrow x=i,-i$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$x^2=-5\Rightarrow x=-\sqrt5\,i,\ \sqrt5\,i$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Moduli in decreasing order: </a:t>
                </a:r>
                <a:r>
                  <a:rPr lang="en-IN" sz="2400">
                    <a:solidFill>
                      <a:srgbClr val="111827"/>
                    </a:solidFill>
                    <a:latin typeface="Cambria Math" panose="02040503050406030204" pitchFamily="18" charset="0"/>
                  </a:rPr>
                  <a:t>$\sqrt5,\sqrt5,\sqrt3,\sqrt3,1,1,0$</a:t>
                </a:r>
                <a:r>
                  <a:rPr sz="2400" b="0">
                    <a:solidFill>
                      <a:srgbClr val="111827"/>
                    </a:solidFill>
                    <a:latin typeface="Arial"/>
                  </a:rPr>
                  <a:t>, so </a:t>
                </a:r>
                <a:r>
                  <a:rPr lang="en-IN" sz="2400">
                    <a:solidFill>
                      <a:srgbClr val="111827"/>
                    </a:solidFill>
                    <a:latin typeface="Cambria Math" panose="02040503050406030204" pitchFamily="18" charset="0"/>
                  </a:rPr>
                  <a:t>$\alpha_{1,2}=\pm\sqrt5 i$</a:t>
                </a:r>
                <a:r>
                  <a:rPr sz="2400" b="0">
                    <a:solidFill>
                      <a:srgbClr val="111827"/>
                    </a:solidFill>
                    <a:latin typeface="Arial"/>
                  </a:rPr>
                  <a:t>, </a:t>
                </a:r>
                <a:r>
                  <a:rPr lang="en-IN" sz="2400">
                    <a:solidFill>
                      <a:srgbClr val="111827"/>
                    </a:solidFill>
                    <a:latin typeface="Cambria Math" panose="02040503050406030204" pitchFamily="18" charset="0"/>
                  </a:rPr>
                  <a:t>$\alpha_{3,4}=\pm\sqrt3$</a:t>
                </a:r>
                <a:r>
                  <a:rPr sz="2400" b="0">
                    <a:solidFill>
                      <a:srgbClr val="111827"/>
                    </a:solidFill>
                    <a:latin typeface="Arial"/>
                  </a:rPr>
                  <a:t>, </a:t>
                </a:r>
                <a:r>
                  <a:rPr lang="en-IN" sz="2400">
                    <a:solidFill>
                      <a:srgbClr val="111827"/>
                    </a:solidFill>
                    <a:latin typeface="Cambria Math" panose="02040503050406030204" pitchFamily="18" charset="0"/>
                  </a:rPr>
                  <a:t>$\alpha_{5,6}=\pm i$</a:t>
                </a:r>
                <a:r>
                  <a:rPr sz="2400" b="0">
                    <a:solidFill>
                      <a:srgbClr val="111827"/>
                    </a:solidFill>
                    <a:latin typeface="Arial"/>
                  </a:rPr>
                  <a:t>, </a:t>
                </a:r>
                <a:r>
                  <a:rPr lang="en-IN" sz="2400">
                    <a:solidFill>
                      <a:srgbClr val="111827"/>
                    </a:solidFill>
                    <a:latin typeface="Cambria Math" panose="02040503050406030204" pitchFamily="18" charset="0"/>
                  </a:rPr>
                  <a:t>$\alpha_7=0$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$\alpha_1\alpha_2-\alpha_3\alpha_4+\alpha_5\alpha_6=(\sqrt5 i)(-\sqrt5 i)-(\sqrt3)(-\sqrt3)+(i)(-i)$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$=5+3+1=9$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Each pair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oMath>
                </a14:m>
                <a:r>
                  <a:rPr sz="2400" b="0">
                    <a:solidFill>
                      <a:srgbClr val="78350F"/>
                    </a:solidFill>
                    <a:latin typeface="Arial"/>
                  </a:rPr>
                  <a:t> has product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β</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so the expression is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𝑡</m:t>
                        </m:r>
                      </m:e>
                      <m:sub>
                        <m:r>
                          <a:rPr lang="en-IN" sz="2400" i="1">
                            <a:solidFill>
                              <a:srgbClr val="78350F"/>
                            </a:solidFill>
                            <a:latin typeface="Cambria Math" panose="02040503050406030204" pitchFamily="18" charset="0"/>
                          </a:rPr>
                          <m:t>𝑎</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𝑡</m:t>
                        </m:r>
                      </m:e>
                      <m:sub>
                        <m:r>
                          <a:rPr lang="en-IN" sz="2400" i="1">
                            <a:solidFill>
                              <a:srgbClr val="78350F"/>
                            </a:solidFill>
                            <a:latin typeface="Cambria Math" panose="02040503050406030204" pitchFamily="18" charset="0"/>
                          </a:rPr>
                          <m:t>𝑏</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𝑡</m:t>
                        </m:r>
                      </m:e>
                      <m:sub>
                        <m:r>
                          <a:rPr lang="en-IN" sz="2400" i="1">
                            <a:solidFill>
                              <a:srgbClr val="78350F"/>
                            </a:solidFill>
                            <a:latin typeface="Cambria Math" panose="02040503050406030204" pitchFamily="18" charset="0"/>
                          </a:rPr>
                          <m:t>𝑐</m:t>
                        </m:r>
                      </m:sub>
                    </m:sSub>
                  </m:oMath>
                </a14:m>
                <a:r>
                  <a:rPr sz="2400" b="0">
                    <a:solidFill>
                      <a:srgbClr val="78350F"/>
                    </a:solidFill>
                    <a:latin typeface="Arial"/>
                  </a:rPr>
                  <a:t> in terms of the roots of the cubic; Vieta then needs only the one rational root.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Each pair </a:t>
                </a:r>
                <a:r>
                  <a:rPr lang="en-IN" sz="2400">
                    <a:solidFill>
                      <a:srgbClr val="78350F"/>
                    </a:solidFill>
                    <a:latin typeface="Cambria Math" panose="02040503050406030204" pitchFamily="18" charset="0"/>
                  </a:rPr>
                  <a:t>$\pm\beta$</a:t>
                </a:r>
                <a:r>
                  <a:rPr sz="2400" b="0">
                    <a:solidFill>
                      <a:srgbClr val="78350F"/>
                    </a:solidFill>
                    <a:latin typeface="Arial"/>
                  </a:rPr>
                  <a:t> has product </a:t>
                </a:r>
                <a:r>
                  <a:rPr lang="en-IN" sz="2400">
                    <a:solidFill>
                      <a:srgbClr val="78350F"/>
                    </a:solidFill>
                    <a:latin typeface="Cambria Math" panose="02040503050406030204" pitchFamily="18" charset="0"/>
                  </a:rPr>
                  <a:t>$-\beta^2=-t$</a:t>
                </a:r>
                <a:r>
                  <a:rPr sz="2400" b="0">
                    <a:solidFill>
                      <a:srgbClr val="78350F"/>
                    </a:solidFill>
                    <a:latin typeface="Arial"/>
                  </a:rPr>
                  <a:t>, so the expression is </a:t>
                </a:r>
                <a:r>
                  <a:rPr lang="en-IN" sz="2400">
                    <a:solidFill>
                      <a:srgbClr val="78350F"/>
                    </a:solidFill>
                    <a:latin typeface="Cambria Math" panose="02040503050406030204" pitchFamily="18" charset="0"/>
                  </a:rPr>
                  <a:t>$-t_a+t_b-t_c$</a:t>
                </a:r>
                <a:r>
                  <a:rPr sz="2400" b="0">
                    <a:solidFill>
                      <a:srgbClr val="78350F"/>
                    </a:solidFill>
                    <a:latin typeface="Arial"/>
                  </a:rPr>
                  <a:t> in terms of the roots of the cubic; Vieta then needs only the one rational root.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Roots come in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and the product of a pair is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roots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 root test: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is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other two roots have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product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both are negative: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Roots come in pairs </a:t>
                </a:r>
                <a:r>
                  <a:rPr lang="en-IN" sz="2400">
                    <a:solidFill>
                      <a:srgbClr val="111827"/>
                    </a:solidFill>
                    <a:latin typeface="Cambria Math" panose="02040503050406030204" pitchFamily="18" charset="0"/>
                  </a:rPr>
                  <a:t>$\pm\beta$</a:t>
                </a:r>
                <a:r>
                  <a:rPr sz="2400" b="0">
                    <a:solidFill>
                      <a:srgbClr val="111827"/>
                    </a:solidFill>
                    <a:latin typeface="Arial"/>
                  </a:rPr>
                  <a:t> with </a:t>
                </a:r>
                <a:r>
                  <a:rPr lang="en-IN" sz="2400">
                    <a:solidFill>
                      <a:srgbClr val="111827"/>
                    </a:solidFill>
                    <a:latin typeface="Cambria Math" panose="02040503050406030204" pitchFamily="18" charset="0"/>
                  </a:rPr>
                  <a:t>$\beta^2=t$</a:t>
                </a:r>
                <a:r>
                  <a:rPr sz="2400" b="0">
                    <a:solidFill>
                      <a:srgbClr val="111827"/>
                    </a:solidFill>
                    <a:latin typeface="Arial"/>
                  </a:rPr>
                  <a:t>, and the product of a pair is </a:t>
                </a:r>
                <a:r>
                  <a:rPr lang="en-IN" sz="2400">
                    <a:solidFill>
                      <a:srgbClr val="111827"/>
                    </a:solidFill>
                    <a:latin typeface="Cambria Math" panose="02040503050406030204" pitchFamily="18" charset="0"/>
                  </a:rPr>
                  <a:t>$\beta(-\beta)=-t$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r>
                  <a:rPr lang="en-IN" sz="2400">
                    <a:solidFill>
                      <a:srgbClr val="111827"/>
                    </a:solidFill>
                    <a:latin typeface="Cambria Math" panose="02040503050406030204" pitchFamily="18" charset="0"/>
                  </a:rPr>
                  <a:t>$t^3+3t^2-13t-15=0$</a:t>
                </a:r>
                <a:r>
                  <a:rPr sz="2400" b="0">
                    <a:solidFill>
                      <a:srgbClr val="111827"/>
                    </a:solidFill>
                    <a:latin typeface="Arial"/>
                  </a:rPr>
                  <a:t> has roots </a:t>
                </a:r>
                <a:r>
                  <a:rPr lang="en-IN" sz="2400">
                    <a:solidFill>
                      <a:srgbClr val="111827"/>
                    </a:solidFill>
                    <a:latin typeface="Cambria Math" panose="02040503050406030204" pitchFamily="18" charset="0"/>
                  </a:rPr>
                  <a:t>$t_1,t_2,t_3$</a:t>
                </a:r>
                <a:r>
                  <a:rPr sz="2400" b="0">
                    <a:solidFill>
                      <a:srgbClr val="111827"/>
                    </a:solidFill>
                    <a:latin typeface="Arial"/>
                  </a:rPr>
                  <a:t> with </a:t>
                </a:r>
                <a:r>
                  <a:rPr lang="en-IN" sz="2400">
                    <a:solidFill>
                      <a:srgbClr val="111827"/>
                    </a:solidFill>
                    <a:latin typeface="Cambria Math" panose="02040503050406030204" pitchFamily="18" charset="0"/>
                  </a:rPr>
                  <a:t>$t_1+t_2+t_3=-3$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 root test: </a:t>
                </a:r>
                <a:r>
                  <a:rPr lang="en-IN" sz="2400">
                    <a:solidFill>
                      <a:srgbClr val="111827"/>
                    </a:solidFill>
                    <a:latin typeface="Cambria Math" panose="02040503050406030204" pitchFamily="18" charset="0"/>
                  </a:rPr>
                  <a:t>$t=3$</a:t>
                </a:r>
                <a:r>
                  <a:rPr sz="2400" b="0">
                    <a:solidFill>
                      <a:srgbClr val="111827"/>
                    </a:solidFill>
                    <a:latin typeface="Arial"/>
                  </a:rPr>
                  <a:t> gives </a:t>
                </a:r>
                <a:r>
                  <a:rPr lang="en-IN" sz="2400">
                    <a:solidFill>
                      <a:srgbClr val="111827"/>
                    </a:solidFill>
                    <a:latin typeface="Cambria Math" panose="02040503050406030204" pitchFamily="18" charset="0"/>
                  </a:rPr>
                  <a:t>$27+27-39-15=0$</a:t>
                </a:r>
                <a:r>
                  <a:rPr sz="2400" b="0">
                    <a:solidFill>
                      <a:srgbClr val="111827"/>
                    </a:solidFill>
                    <a:latin typeface="Arial"/>
                  </a:rPr>
                  <a:t>, so </a:t>
                </a:r>
                <a:r>
                  <a:rPr lang="en-IN" sz="2400">
                    <a:solidFill>
                      <a:srgbClr val="111827"/>
                    </a:solidFill>
                    <a:latin typeface="Cambria Math" panose="02040503050406030204" pitchFamily="18" charset="0"/>
                  </a:rPr>
                  <a:t>$3$</a:t>
                </a:r>
                <a:r>
                  <a:rPr sz="2400" b="0">
                    <a:solidFill>
                      <a:srgbClr val="111827"/>
                    </a:solidFill>
                    <a:latin typeface="Arial"/>
                  </a:rPr>
                  <a:t> is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other two roots have sum </a:t>
                </a:r>
                <a:r>
                  <a:rPr lang="en-IN" sz="2400">
                    <a:solidFill>
                      <a:srgbClr val="111827"/>
                    </a:solidFill>
                    <a:latin typeface="Cambria Math" panose="02040503050406030204" pitchFamily="18" charset="0"/>
                  </a:rPr>
                  <a:t>$-3-3=-6$</a:t>
                </a:r>
                <a:r>
                  <a:rPr sz="2400" b="0">
                    <a:solidFill>
                      <a:srgbClr val="111827"/>
                    </a:solidFill>
                    <a:latin typeface="Arial"/>
                  </a:rPr>
                  <a:t> and product </a:t>
                </a:r>
                <a:r>
                  <a:rPr lang="en-IN" sz="2400">
                    <a:solidFill>
                      <a:srgbClr val="111827"/>
                    </a:solidFill>
                    <a:latin typeface="Cambria Math" panose="02040503050406030204" pitchFamily="18" charset="0"/>
                  </a:rPr>
                  <a:t>$\frac{15}{3}=5$</a:t>
                </a:r>
                <a:r>
                  <a:rPr sz="2400" b="0">
                    <a:solidFill>
                      <a:srgbClr val="111827"/>
                    </a:solidFill>
                    <a:latin typeface="Arial"/>
                  </a:rPr>
                  <a:t>, so both are negative: </a:t>
                </a:r>
                <a:r>
                  <a:rPr lang="en-IN" sz="2400">
                    <a:solidFill>
                      <a:srgbClr val="111827"/>
                    </a:solidFill>
                    <a:latin typeface="Cambria Math" panose="02040503050406030204" pitchFamily="18" charset="0"/>
                  </a:rPr>
                  <a:t>$t=-1$</a:t>
                </a:r>
                <a:r>
                  <a:rPr sz="2400" b="0">
                    <a:solidFill>
                      <a:srgbClr val="111827"/>
                    </a:solidFill>
                    <a:latin typeface="Arial"/>
                  </a:rPr>
                  <a:t> and </a:t>
                </a:r>
                <a:r>
                  <a:rPr lang="en-IN" sz="2400">
                    <a:solidFill>
                      <a:srgbClr val="111827"/>
                    </a:solidFill>
                    <a:latin typeface="Cambria Math" panose="02040503050406030204" pitchFamily="18" charset="0"/>
                  </a:rPr>
                  <a:t>$t=-5$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moduli are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e>
                    </m:rad>
                  </m:oMath>
                </a14:m>
                <a:r>
                  <a:rPr sz="2400" b="0">
                    <a:solidFill>
                      <a:srgbClr val="111827"/>
                    </a:solidFill>
                    <a:latin typeface="Arial"/>
                  </a:rPr>
                  <a:t>, so in decreasing order the pairs are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5</m:t>
                        </m:r>
                      </m:sub>
                    </m:sSub>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Expression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moduli are </a:t>
                </a:r>
                <a:r>
                  <a:rPr lang="en-IN" sz="2400">
                    <a:solidFill>
                      <a:srgbClr val="111827"/>
                    </a:solidFill>
                    <a:latin typeface="Cambria Math" panose="02040503050406030204" pitchFamily="18" charset="0"/>
                  </a:rPr>
                  <a:t>$\sqrt{|t|}$</a:t>
                </a:r>
                <a:r>
                  <a:rPr sz="2400" b="0">
                    <a:solidFill>
                      <a:srgbClr val="111827"/>
                    </a:solidFill>
                    <a:latin typeface="Arial"/>
                  </a:rPr>
                  <a:t>, so in decreasing order the pairs are </a:t>
                </a:r>
                <a:r>
                  <a:rPr lang="en-IN" sz="2400">
                    <a:solidFill>
                      <a:srgbClr val="111827"/>
                    </a:solidFill>
                    <a:latin typeface="Cambria Math" panose="02040503050406030204" pitchFamily="18" charset="0"/>
                  </a:rPr>
                  <a:t>$t=-5$</a:t>
                </a:r>
                <a:r>
                  <a:rPr sz="2400" b="0">
                    <a:solidFill>
                      <a:srgbClr val="111827"/>
                    </a:solidFill>
                    <a:latin typeface="Arial"/>
                  </a:rPr>
                  <a:t>, then </a:t>
                </a:r>
                <a:r>
                  <a:rPr lang="en-IN" sz="2400">
                    <a:solidFill>
                      <a:srgbClr val="111827"/>
                    </a:solidFill>
                    <a:latin typeface="Cambria Math" panose="02040503050406030204" pitchFamily="18" charset="0"/>
                  </a:rPr>
                  <a:t>$t=3$</a:t>
                </a:r>
                <a:r>
                  <a:rPr sz="2400" b="0">
                    <a:solidFill>
                      <a:srgbClr val="111827"/>
                    </a:solidFill>
                    <a:latin typeface="Arial"/>
                  </a:rPr>
                  <a:t>, then </a:t>
                </a:r>
                <a:r>
                  <a:rPr lang="en-IN" sz="2400">
                    <a:solidFill>
                      <a:srgbClr val="111827"/>
                    </a:solidFill>
                    <a:latin typeface="Cambria Math" panose="02040503050406030204" pitchFamily="18" charset="0"/>
                  </a:rPr>
                  <a:t>$t=-1$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$\alpha_1\alpha_2=-t=5$</a:t>
                </a:r>
                <a:r>
                  <a:rPr sz="2400" b="0">
                    <a:solidFill>
                      <a:srgbClr val="111827"/>
                    </a:solidFill>
                    <a:latin typeface="Arial"/>
                  </a:rPr>
                  <a:t>, </a:t>
                </a:r>
                <a:r>
                  <a:rPr lang="en-IN" sz="2400">
                    <a:solidFill>
                      <a:srgbClr val="111827"/>
                    </a:solidFill>
                    <a:latin typeface="Cambria Math" panose="02040503050406030204" pitchFamily="18" charset="0"/>
                  </a:rPr>
                  <a:t>$\alpha_3\alpha_4=-3$</a:t>
                </a:r>
                <a:r>
                  <a:rPr sz="2400" b="0">
                    <a:solidFill>
                      <a:srgbClr val="111827"/>
                    </a:solidFill>
                    <a:latin typeface="Arial"/>
                  </a:rPr>
                  <a:t>, </a:t>
                </a:r>
                <a:r>
                  <a:rPr lang="en-IN" sz="2400">
                    <a:solidFill>
                      <a:srgbClr val="111827"/>
                    </a:solidFill>
                    <a:latin typeface="Cambria Math" panose="02040503050406030204" pitchFamily="18" charset="0"/>
                  </a:rPr>
                  <a:t>$\alpha_5\alpha_6=-(-1)=1$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Expression </a:t>
                </a:r>
                <a:r>
                  <a:rPr lang="en-IN" sz="2400">
                    <a:solidFill>
                      <a:srgbClr val="111827"/>
                    </a:solidFill>
                    <a:latin typeface="Cambria Math" panose="02040503050406030204" pitchFamily="18" charset="0"/>
                  </a:rPr>
                  <a:t>$=5-(-3)+1=9$</a:t>
                </a:r>
                <a:r>
                  <a:rPr sz="2400" b="0">
                    <a:solidFill>
                      <a:srgbClr val="111827"/>
                    </a:solidFill>
                    <a:latin typeface="Arial"/>
                  </a:rPr>
                  <a:t>; the same answer.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odd polynomial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the root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its other roots come in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 root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 negative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(imaginary pair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oMath>
                </a14:m>
                <a:r>
                  <a:rPr sz="2400" b="0">
                    <a:solidFill>
                      <a:srgbClr val="111827"/>
                    </a:solidFill>
                    <a:latin typeface="Arial"/>
                  </a:rPr>
                  <a:t>) this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 positive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 root test: for monic integer polynomials try the divisors of the constant term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one root then reduces the cubic to a quadratic.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Ties in modulus (such as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do not matter when the expression multiplies the two members of the tied pair.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odd polynomial </a:t>
                </a:r>
                <a:r>
                  <a:rPr lang="en-IN" sz="2400">
                    <a:solidFill>
                      <a:srgbClr val="111827"/>
                    </a:solidFill>
                    <a:latin typeface="Cambria Math" panose="02040503050406030204" pitchFamily="18" charset="0"/>
                  </a:rPr>
                  <a:t>$x\,g(x^2)$</a:t>
                </a:r>
                <a:r>
                  <a:rPr sz="2400" b="0">
                    <a:solidFill>
                      <a:srgbClr val="111827"/>
                    </a:solidFill>
                    <a:latin typeface="Arial"/>
                  </a:rPr>
                  <a:t> has the root </a:t>
                </a:r>
                <a:r>
                  <a:rPr lang="en-IN" sz="2400">
                    <a:solidFill>
                      <a:srgbClr val="111827"/>
                    </a:solidFill>
                    <a:latin typeface="Cambria Math" panose="02040503050406030204" pitchFamily="18" charset="0"/>
                  </a:rPr>
                  <a:t>$0$</a:t>
                </a:r>
                <a:r>
                  <a:rPr sz="2400" b="0">
                    <a:solidFill>
                      <a:srgbClr val="111827"/>
                    </a:solidFill>
                    <a:latin typeface="Arial"/>
                  </a:rPr>
                  <a:t> and its other roots come in pairs </a:t>
                </a:r>
                <a:r>
                  <a:rPr lang="en-IN" sz="2400">
                    <a:solidFill>
                      <a:srgbClr val="111827"/>
                    </a:solidFill>
                    <a:latin typeface="Cambria Math" panose="02040503050406030204" pitchFamily="18" charset="0"/>
                  </a:rPr>
                  <a:t>$\pm\beta$</a:t>
                </a:r>
                <a:r>
                  <a:rPr sz="2400" b="0">
                    <a:solidFill>
                      <a:srgbClr val="111827"/>
                    </a:solidFill>
                    <a:latin typeface="Arial"/>
                  </a:rPr>
                  <a:t> with </a:t>
                </a:r>
                <a:r>
                  <a:rPr lang="en-IN" sz="2400">
                    <a:solidFill>
                      <a:srgbClr val="111827"/>
                    </a:solidFill>
                    <a:latin typeface="Cambria Math" panose="02040503050406030204" pitchFamily="18" charset="0"/>
                  </a:rPr>
                  <a:t>$\beta^2$</a:t>
                </a:r>
                <a:r>
                  <a:rPr sz="2400" b="0">
                    <a:solidFill>
                      <a:srgbClr val="111827"/>
                    </a:solidFill>
                    <a:latin typeface="Arial"/>
                  </a:rPr>
                  <a:t> a root of </a:t>
                </a:r>
                <a:r>
                  <a:rPr lang="en-IN" sz="2400">
                    <a:solidFill>
                      <a:srgbClr val="111827"/>
                    </a:solidFill>
                    <a:latin typeface="Cambria Math" panose="02040503050406030204" pitchFamily="18" charset="0"/>
                  </a:rPr>
                  <a:t>$g$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pair </a:t>
                </a:r>
                <a:r>
                  <a:rPr lang="en-IN" sz="2400">
                    <a:solidFill>
                      <a:srgbClr val="111827"/>
                    </a:solidFill>
                    <a:latin typeface="Cambria Math" panose="02040503050406030204" pitchFamily="18" charset="0"/>
                  </a:rPr>
                  <a:t>$\pm\beta$</a:t>
                </a:r>
                <a:r>
                  <a:rPr sz="2400" b="0">
                    <a:solidFill>
                      <a:srgbClr val="111827"/>
                    </a:solidFill>
                    <a:latin typeface="Arial"/>
                  </a:rPr>
                  <a:t> is </a:t>
                </a:r>
                <a:r>
                  <a:rPr lang="en-IN" sz="2400">
                    <a:solidFill>
                      <a:srgbClr val="111827"/>
                    </a:solidFill>
                    <a:latin typeface="Cambria Math" panose="02040503050406030204" pitchFamily="18" charset="0"/>
                  </a:rPr>
                  <a:t>$-\beta^2$</a:t>
                </a:r>
                <a:r>
                  <a:rPr sz="2400" b="0">
                    <a:solidFill>
                      <a:srgbClr val="111827"/>
                    </a:solidFill>
                    <a:latin typeface="Arial"/>
                  </a:rPr>
                  <a:t>; for a negative </a:t>
                </a:r>
                <a:r>
                  <a:rPr lang="en-IN" sz="2400">
                    <a:solidFill>
                      <a:srgbClr val="111827"/>
                    </a:solidFill>
                    <a:latin typeface="Cambria Math" panose="02040503050406030204" pitchFamily="18" charset="0"/>
                  </a:rPr>
                  <a:t>$t$</a:t>
                </a:r>
                <a:r>
                  <a:rPr sz="2400" b="0">
                    <a:solidFill>
                      <a:srgbClr val="111827"/>
                    </a:solidFill>
                    <a:latin typeface="Arial"/>
                  </a:rPr>
                  <a:t> (imaginary pair </a:t>
                </a:r>
                <a:r>
                  <a:rPr lang="en-IN" sz="2400">
                    <a:solidFill>
                      <a:srgbClr val="111827"/>
                    </a:solidFill>
                    <a:latin typeface="Cambria Math" panose="02040503050406030204" pitchFamily="18" charset="0"/>
                  </a:rPr>
                  <a:t>$\pm\sqrt{|t|}\,i$</a:t>
                </a:r>
                <a:r>
                  <a:rPr sz="2400" b="0">
                    <a:solidFill>
                      <a:srgbClr val="111827"/>
                    </a:solidFill>
                    <a:latin typeface="Arial"/>
                  </a:rPr>
                  <a:t>) this is </a:t>
                </a:r>
                <a:r>
                  <a:rPr lang="en-IN" sz="2400">
                    <a:solidFill>
                      <a:srgbClr val="111827"/>
                    </a:solidFill>
                    <a:latin typeface="Cambria Math" panose="02040503050406030204" pitchFamily="18" charset="0"/>
                  </a:rPr>
                  <a:t>$+|t|$</a:t>
                </a:r>
                <a:r>
                  <a:rPr sz="2400" b="0">
                    <a:solidFill>
                      <a:srgbClr val="111827"/>
                    </a:solidFill>
                    <a:latin typeface="Arial"/>
                  </a:rPr>
                  <a:t>, for a positive </a:t>
                </a:r>
                <a:r>
                  <a:rPr lang="en-IN" sz="2400">
                    <a:solidFill>
                      <a:srgbClr val="111827"/>
                    </a:solidFill>
                    <a:latin typeface="Cambria Math" panose="02040503050406030204" pitchFamily="18" charset="0"/>
                  </a:rPr>
                  <a:t>$t$</a:t>
                </a:r>
                <a:r>
                  <a:rPr sz="2400" b="0">
                    <a:solidFill>
                      <a:srgbClr val="111827"/>
                    </a:solidFill>
                    <a:latin typeface="Arial"/>
                  </a:rPr>
                  <a:t> it is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Rational root test: for monic integer polynomials try the divisors of the constant term (here </a:t>
                </a:r>
                <a:r>
                  <a:rPr lang="en-IN" sz="2400">
                    <a:solidFill>
                      <a:srgbClr val="111827"/>
                    </a:solidFill>
                    <a:latin typeface="Cambria Math" panose="02040503050406030204" pitchFamily="18" charset="0"/>
                  </a:rPr>
                  <a:t>$\pm1,\pm3,\pm5,\pm15$</a:t>
                </a:r>
                <a:r>
                  <a:rPr sz="2400" b="0">
                    <a:solidFill>
                      <a:srgbClr val="111827"/>
                    </a:solidFill>
                    <a:latin typeface="Arial"/>
                  </a:rPr>
                  <a:t>); one root then reduces the cubic to a quadratic.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Ties in modulus (such as </a:t>
                </a:r>
                <a:r>
                  <a:rPr lang="en-IN" sz="2400">
                    <a:solidFill>
                      <a:srgbClr val="111827"/>
                    </a:solidFill>
                    <a:latin typeface="Cambria Math" panose="02040503050406030204" pitchFamily="18" charset="0"/>
                  </a:rPr>
                  <a:t>$\sqrt5,\sqrt5$</a:t>
                </a:r>
                <a:r>
                  <a:rPr sz="2400" b="0">
                    <a:solidFill>
                      <a:srgbClr val="111827"/>
                    </a:solidFill>
                    <a:latin typeface="Arial"/>
                  </a:rPr>
                  <a:t>) do not matter when the expression multiplies the two members of the tied pair.</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Q02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(assumed: no marks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for single-correct questions</a:t>
            </a:r>
            <a:endParaRPr sz="2800">
              <a:solidFill>
                <a:srgbClr val="FFFFFF"/>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two digit positive numbers which when divided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yield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as remainder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1256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1365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1356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1465</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two digit positive numbers which when divided by </a:t>
                </a:r>
                <a:r>
                  <a:rPr lang="en-IN" sz="2400">
                    <a:solidFill>
                      <a:srgbClr val="111827"/>
                    </a:solidFill>
                    <a:latin typeface="Cambria Math" panose="02040503050406030204" pitchFamily="18" charset="0"/>
                  </a:rPr>
                  <a:t>$7$</a:t>
                </a:r>
                <a:r>
                  <a:rPr sz="2400" b="0">
                    <a:solidFill>
                      <a:srgbClr val="111827"/>
                    </a:solidFill>
                    <a:latin typeface="Arial"/>
                  </a:rPr>
                  <a:t> yield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as remainder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$1256$</a:t>
                </a:r>
                <a:r>
                  <a:rPr sz="2400" b="0">
                    <a:solidFill>
                      <a:srgbClr val="111827"/>
                    </a:solidFill>
                    <a:latin typeface="Arial"/>
                  </a:rPr>
                  <a:t>   (B) </a:t>
                </a:r>
                <a:r>
                  <a:rPr lang="en-IN" sz="2400">
                    <a:solidFill>
                      <a:srgbClr val="111827"/>
                    </a:solidFill>
                    <a:latin typeface="Cambria Math" panose="02040503050406030204" pitchFamily="18" charset="0"/>
                  </a:rPr>
                  <a:t>$1365$</a:t>
                </a:r>
                <a:r>
                  <a:rPr sz="2400" b="0">
                    <a:solidFill>
                      <a:srgbClr val="111827"/>
                    </a:solidFill>
                    <a:latin typeface="Arial"/>
                  </a:rPr>
                  <a:t>   (C) </a:t>
                </a:r>
                <a:r>
                  <a:rPr lang="en-IN" sz="2400">
                    <a:solidFill>
                      <a:srgbClr val="111827"/>
                    </a:solidFill>
                    <a:latin typeface="Cambria Math" panose="02040503050406030204" pitchFamily="18" charset="0"/>
                  </a:rPr>
                  <a:t>$1356$</a:t>
                </a:r>
                <a:r>
                  <a:rPr sz="2400" b="0">
                    <a:solidFill>
                      <a:srgbClr val="111827"/>
                    </a:solidFill>
                    <a:latin typeface="Arial"/>
                  </a:rPr>
                  <a:t>   (D) </a:t>
                </a:r>
                <a:r>
                  <a:rPr lang="en-IN" sz="2400">
                    <a:solidFill>
                      <a:srgbClr val="111827"/>
                    </a:solidFill>
                    <a:latin typeface="Cambria Math" panose="02040503050406030204" pitchFamily="18" charset="0"/>
                  </a:rPr>
                  <a:t>$1465$</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an arithmetic progression (numbers with a given remainder)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Numbers with remainder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on division by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form an AP of common difference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list only the two-digit members (first term </a:t>
                </a:r>
                <a14:m>
                  <m:oMath xmlns:m="http://schemas.openxmlformats.org/officeDocument/2006/math">
                    <m:r>
                      <a:rPr lang="en-IN" sz="2400" i="1">
                        <a:solidFill>
                          <a:srgbClr val="78350F"/>
                        </a:solidFill>
                        <a:latin typeface="Cambria Math" panose="02040503050406030204" pitchFamily="18" charset="0"/>
                      </a:rPr>
                      <m:t>16</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Numbers with remainder </a:t>
                </a:r>
                <a:r>
                  <a:rPr lang="en-IN" sz="2400">
                    <a:solidFill>
                      <a:srgbClr val="78350F"/>
                    </a:solidFill>
                    <a:latin typeface="Cambria Math" panose="02040503050406030204" pitchFamily="18" charset="0"/>
                  </a:rPr>
                  <a:t>$r$</a:t>
                </a:r>
                <a:r>
                  <a:rPr sz="2400" b="0">
                    <a:solidFill>
                      <a:srgbClr val="78350F"/>
                    </a:solidFill>
                    <a:latin typeface="Arial"/>
                  </a:rPr>
                  <a:t> on division by </a:t>
                </a:r>
                <a:r>
                  <a:rPr lang="en-IN" sz="2400">
                    <a:solidFill>
                      <a:srgbClr val="78350F"/>
                    </a:solidFill>
                    <a:latin typeface="Cambria Math" panose="02040503050406030204" pitchFamily="18" charset="0"/>
                  </a:rPr>
                  <a:t>$7$</a:t>
                </a:r>
                <a:r>
                  <a:rPr sz="2400" b="0">
                    <a:solidFill>
                      <a:srgbClr val="78350F"/>
                    </a:solidFill>
                    <a:latin typeface="Arial"/>
                  </a:rPr>
                  <a:t> form an AP of common difference </a:t>
                </a:r>
                <a:r>
                  <a:rPr lang="en-IN" sz="2400">
                    <a:solidFill>
                      <a:srgbClr val="78350F"/>
                    </a:solidFill>
                    <a:latin typeface="Cambria Math" panose="02040503050406030204" pitchFamily="18" charset="0"/>
                  </a:rPr>
                  <a:t>$7$</a:t>
                </a:r>
                <a:r>
                  <a:rPr sz="2400" b="0">
                    <a:solidFill>
                      <a:srgbClr val="78350F"/>
                    </a:solidFill>
                    <a:latin typeface="Arial"/>
                  </a:rPr>
                  <a:t>; list only the two-digit members (first term </a:t>
                </a:r>
                <a:r>
                  <a:rPr lang="en-IN" sz="2400">
                    <a:solidFill>
                      <a:srgbClr val="78350F"/>
                    </a:solidFill>
                    <a:latin typeface="Cambria Math" panose="02040503050406030204" pitchFamily="18" charset="0"/>
                  </a:rPr>
                  <a:t>$16$</a:t>
                </a:r>
                <a:r>
                  <a:rPr sz="2400" b="0">
                    <a:solidFill>
                      <a:srgbClr val="78350F"/>
                    </a:solidFill>
                    <a:latin typeface="Arial"/>
                  </a:rPr>
                  <a:t> and </a:t>
                </a:r>
                <a:r>
                  <a:rPr lang="en-IN" sz="2400">
                    <a:solidFill>
                      <a:srgbClr val="78350F"/>
                    </a:solidFill>
                    <a:latin typeface="Cambria Math" panose="02040503050406030204" pitchFamily="18" charset="0"/>
                  </a:rPr>
                  <a:t>$12$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Two-digit numbers leaving remainder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on division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form the AP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is one digit); it has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Two-digit numbers leaving remainder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form the AP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 it has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terms.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Two-digit numbers leaving remainder </a:t>
                </a:r>
                <a:r>
                  <a:rPr lang="en-IN" sz="2400">
                    <a:solidFill>
                      <a:srgbClr val="111827"/>
                    </a:solidFill>
                    <a:latin typeface="Cambria Math" panose="02040503050406030204" pitchFamily="18" charset="0"/>
                  </a:rPr>
                  <a:t>$2$</a:t>
                </a:r>
                <a:r>
                  <a:rPr sz="2400" b="0">
                    <a:solidFill>
                      <a:srgbClr val="111827"/>
                    </a:solidFill>
                    <a:latin typeface="Arial"/>
                  </a:rPr>
                  <a:t> on division by </a:t>
                </a:r>
                <a:r>
                  <a:rPr lang="en-IN" sz="2400">
                    <a:solidFill>
                      <a:srgbClr val="111827"/>
                    </a:solidFill>
                    <a:latin typeface="Cambria Math" panose="02040503050406030204" pitchFamily="18" charset="0"/>
                  </a:rPr>
                  <a:t>$7$</a:t>
                </a:r>
                <a:r>
                  <a:rPr sz="2400" b="0">
                    <a:solidFill>
                      <a:srgbClr val="111827"/>
                    </a:solidFill>
                    <a:latin typeface="Arial"/>
                  </a:rPr>
                  <a:t> form the AP </a:t>
                </a:r>
                <a:r>
                  <a:rPr lang="en-IN" sz="2400">
                    <a:solidFill>
                      <a:srgbClr val="111827"/>
                    </a:solidFill>
                    <a:latin typeface="Cambria Math" panose="02040503050406030204" pitchFamily="18" charset="0"/>
                  </a:rPr>
                  <a:t>$16,23,30,\ldots,93$</a:t>
                </a:r>
                <a:r>
                  <a:rPr sz="2400" b="0">
                    <a:solidFill>
                      <a:srgbClr val="111827"/>
                    </a:solidFill>
                    <a:latin typeface="Arial"/>
                  </a:rPr>
                  <a:t> (</a:t>
                </a:r>
                <a:r>
                  <a:rPr lang="en-IN" sz="2400">
                    <a:solidFill>
                      <a:srgbClr val="111827"/>
                    </a:solidFill>
                    <a:latin typeface="Cambria Math" panose="02040503050406030204" pitchFamily="18" charset="0"/>
                  </a:rPr>
                  <a:t>$9$</a:t>
                </a:r>
                <a:r>
                  <a:rPr sz="2400" b="0">
                    <a:solidFill>
                      <a:srgbClr val="111827"/>
                    </a:solidFill>
                    <a:latin typeface="Arial"/>
                  </a:rPr>
                  <a:t> is one digit); it has </a:t>
                </a:r>
                <a:r>
                  <a:rPr lang="en-IN" sz="2400">
                    <a:solidFill>
                      <a:srgbClr val="111827"/>
                    </a:solidFill>
                    <a:latin typeface="Cambria Math" panose="02040503050406030204" pitchFamily="18" charset="0"/>
                  </a:rPr>
                  <a:t>$12$</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r>
                  <a:rPr lang="en-IN" sz="2400">
                    <a:solidFill>
                      <a:srgbClr val="111827"/>
                    </a:solidFill>
                    <a:latin typeface="Cambria Math" panose="02040503050406030204" pitchFamily="18" charset="0"/>
                  </a:rPr>
                  <a:t>$\frac{12}{2}(16+93)=654$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Two-digit numbers leaving remainder </a:t>
                </a:r>
                <a:r>
                  <a:rPr lang="en-IN" sz="2400">
                    <a:solidFill>
                      <a:srgbClr val="111827"/>
                    </a:solidFill>
                    <a:latin typeface="Cambria Math" panose="02040503050406030204" pitchFamily="18" charset="0"/>
                  </a:rPr>
                  <a:t>$5$</a:t>
                </a:r>
                <a:r>
                  <a:rPr sz="2400" b="0">
                    <a:solidFill>
                      <a:srgbClr val="111827"/>
                    </a:solidFill>
                    <a:latin typeface="Arial"/>
                  </a:rPr>
                  <a:t> form the AP </a:t>
                </a:r>
                <a:r>
                  <a:rPr lang="en-IN" sz="2400">
                    <a:solidFill>
                      <a:srgbClr val="111827"/>
                    </a:solidFill>
                    <a:latin typeface="Cambria Math" panose="02040503050406030204" pitchFamily="18" charset="0"/>
                  </a:rPr>
                  <a:t>$12,19,26,\ldots,96$</a:t>
                </a:r>
                <a:r>
                  <a:rPr sz="2400" b="0">
                    <a:solidFill>
                      <a:srgbClr val="111827"/>
                    </a:solidFill>
                    <a:latin typeface="Arial"/>
                  </a:rPr>
                  <a:t>; it has </a:t>
                </a:r>
                <a:r>
                  <a:rPr lang="en-IN" sz="2400">
                    <a:solidFill>
                      <a:srgbClr val="111827"/>
                    </a:solidFill>
                    <a:latin typeface="Cambria Math" panose="02040503050406030204" pitchFamily="18" charset="0"/>
                  </a:rPr>
                  <a:t>$13$</a:t>
                </a:r>
                <a:r>
                  <a:rPr sz="2400" b="0">
                    <a:solidFill>
                      <a:srgbClr val="111827"/>
                    </a:solidFill>
                    <a:latin typeface="Arial"/>
                  </a:rPr>
                  <a:t> terms.</a:t>
                </a:r>
                <a:endParaRPr sz="2400">
                  <a:solidFill>
                    <a:srgbClr val="111827"/>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classes are disjoint, so the required sum is </a:t>
                </a:r>
                <a14:m>
                  <m:oMath xmlns:m="http://schemas.openxmlformats.org/officeDocument/2006/math">
                    <m:r>
                      <a:rPr lang="en-IN" sz="2400" i="1">
                        <a:solidFill>
                          <a:srgbClr val="111827"/>
                        </a:solidFill>
                        <a:latin typeface="Cambria Math" panose="02040503050406030204" pitchFamily="18" charset="0"/>
                      </a:rPr>
                      <m:t>654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r>
                  <a:rPr lang="en-IN" sz="2400">
                    <a:solidFill>
                      <a:srgbClr val="111827"/>
                    </a:solidFill>
                    <a:latin typeface="Cambria Math" panose="02040503050406030204" pitchFamily="18" charset="0"/>
                  </a:rPr>
                  <a:t>$\frac{13}{2}(12+96)=702$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classes are disjoint, so the required sum is </a:t>
                </a:r>
                <a:r>
                  <a:rPr lang="en-IN" sz="2400">
                    <a:solidFill>
                      <a:srgbClr val="111827"/>
                    </a:solidFill>
                    <a:latin typeface="Cambria Math" panose="02040503050406030204" pitchFamily="18" charset="0"/>
                  </a:rPr>
                  <a:t>$654+702=1356$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1356</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$1356$</a:t>
                </a:r>
                <a:endParaRPr sz="2800">
                  <a:solidFill>
                    <a:srgbClr val="15803D"/>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numbers in blocks </a:t>
                </a:r>
                <a14:m>
                  <m:oMath xmlns:m="http://schemas.openxmlformats.org/officeDocument/2006/math">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each block contributes the pair </a:t>
                </a:r>
                <a14:m>
                  <m:oMath xmlns:m="http://schemas.openxmlformats.org/officeDocument/2006/math">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with sum </a:t>
                </a:r>
                <a14:m>
                  <m:oMath xmlns:m="http://schemas.openxmlformats.org/officeDocument/2006/math">
                    <m:r>
                      <a:rPr lang="en-IN" sz="2400" i="1">
                        <a:solidFill>
                          <a:srgbClr val="78350F"/>
                        </a:solidFill>
                        <a:latin typeface="Cambria Math" panose="02040503050406030204" pitchFamily="18" charset="0"/>
                      </a:rPr>
                      <m:t>14</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numbers in blocks </a:t>
                </a:r>
                <a:r>
                  <a:rPr lang="en-IN" sz="2400">
                    <a:solidFill>
                      <a:srgbClr val="78350F"/>
                    </a:solidFill>
                    <a:latin typeface="Cambria Math" panose="02040503050406030204" pitchFamily="18" charset="0"/>
                  </a:rPr>
                  <a:t>$7k,\dots,7k+6$</a:t>
                </a:r>
                <a:r>
                  <a:rPr sz="2400" b="0">
                    <a:solidFill>
                      <a:srgbClr val="78350F"/>
                    </a:solidFill>
                    <a:latin typeface="Arial"/>
                  </a:rPr>
                  <a:t>: each block contributes the pair </a:t>
                </a:r>
                <a:r>
                  <a:rPr lang="en-IN" sz="2400">
                    <a:solidFill>
                      <a:srgbClr val="78350F"/>
                    </a:solidFill>
                    <a:latin typeface="Cambria Math" panose="02040503050406030204" pitchFamily="18" charset="0"/>
                  </a:rPr>
                  <a:t>$7k+2$</a:t>
                </a:r>
                <a:r>
                  <a:rPr sz="2400" b="0">
                    <a:solidFill>
                      <a:srgbClr val="78350F"/>
                    </a:solidFill>
                    <a:latin typeface="Arial"/>
                  </a:rPr>
                  <a:t> and </a:t>
                </a:r>
                <a:r>
                  <a:rPr lang="en-IN" sz="2400">
                    <a:solidFill>
                      <a:srgbClr val="78350F"/>
                    </a:solidFill>
                    <a:latin typeface="Cambria Math" panose="02040503050406030204" pitchFamily="18" charset="0"/>
                  </a:rPr>
                  <a:t>$7k+5$</a:t>
                </a:r>
                <a:r>
                  <a:rPr sz="2400" b="0">
                    <a:solidFill>
                      <a:srgbClr val="78350F"/>
                    </a:solidFill>
                    <a:latin typeface="Arial"/>
                  </a:rPr>
                  <a:t> with sum </a:t>
                </a:r>
                <a:r>
                  <a:rPr lang="en-IN" sz="2400">
                    <a:solidFill>
                      <a:srgbClr val="78350F"/>
                    </a:solidFill>
                    <a:latin typeface="Cambria Math" panose="02040503050406030204" pitchFamily="18" charset="0"/>
                  </a:rPr>
                  <a:t>$14k+7$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Block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(numbers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holds exactly one number with remainder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one with remainder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both numbers are two-digit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93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13</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1344</m:t>
                    </m:r>
                  </m:oMath>
                </a14:m>
                <a:r>
                  <a:rPr sz="2400" b="0">
                    <a:solidFill>
                      <a:srgbClr val="111827"/>
                    </a:solidFill>
                    <a:latin typeface="Arial"/>
                  </a:rPr>
                  <a:t>, using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13</m:t>
                        </m:r>
                      </m:sup>
                      <m:e>
                        <m:r>
                          <a:rPr lang="en-IN" sz="2400" i="1">
                            <a:solidFill>
                              <a:srgbClr val="111827"/>
                            </a:solidFill>
                            <a:latin typeface="Cambria Math" panose="02040503050406030204" pitchFamily="18" charset="0"/>
                          </a:rPr>
                          <m:t>𝑘</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Block </a:t>
                </a:r>
                <a:r>
                  <a:rPr lang="en-IN" sz="2400">
                    <a:solidFill>
                      <a:srgbClr val="111827"/>
                    </a:solidFill>
                    <a:latin typeface="Cambria Math" panose="02040503050406030204" pitchFamily="18" charset="0"/>
                  </a:rPr>
                  <a:t>$k$</a:t>
                </a:r>
                <a:r>
                  <a:rPr sz="2400" b="0">
                    <a:solidFill>
                      <a:srgbClr val="111827"/>
                    </a:solidFill>
                    <a:latin typeface="Arial"/>
                  </a:rPr>
                  <a:t> (numbers </a:t>
                </a:r>
                <a:r>
                  <a:rPr lang="en-IN" sz="2400">
                    <a:solidFill>
                      <a:srgbClr val="111827"/>
                    </a:solidFill>
                    <a:latin typeface="Cambria Math" panose="02040503050406030204" pitchFamily="18" charset="0"/>
                  </a:rPr>
                  <a:t>$7k$</a:t>
                </a:r>
                <a:r>
                  <a:rPr sz="2400" b="0">
                    <a:solidFill>
                      <a:srgbClr val="111827"/>
                    </a:solidFill>
                    <a:latin typeface="Arial"/>
                  </a:rPr>
                  <a:t> to </a:t>
                </a:r>
                <a:r>
                  <a:rPr lang="en-IN" sz="2400">
                    <a:solidFill>
                      <a:srgbClr val="111827"/>
                    </a:solidFill>
                    <a:latin typeface="Cambria Math" panose="02040503050406030204" pitchFamily="18" charset="0"/>
                  </a:rPr>
                  <a:t>$7k+6$</a:t>
                </a:r>
                <a:r>
                  <a:rPr sz="2400" b="0">
                    <a:solidFill>
                      <a:srgbClr val="111827"/>
                    </a:solidFill>
                    <a:latin typeface="Arial"/>
                  </a:rPr>
                  <a:t>) holds exactly one number with remainder </a:t>
                </a:r>
                <a:r>
                  <a:rPr lang="en-IN" sz="2400">
                    <a:solidFill>
                      <a:srgbClr val="111827"/>
                    </a:solidFill>
                    <a:latin typeface="Cambria Math" panose="02040503050406030204" pitchFamily="18" charset="0"/>
                  </a:rPr>
                  <a:t>$2$</a:t>
                </a:r>
                <a:r>
                  <a:rPr sz="2400" b="0">
                    <a:solidFill>
                      <a:srgbClr val="111827"/>
                    </a:solidFill>
                    <a:latin typeface="Arial"/>
                  </a:rPr>
                  <a:t> and one with remainder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$7k+2$</a:t>
                </a:r>
                <a:r>
                  <a:rPr sz="2400" b="0">
                    <a:solidFill>
                      <a:srgbClr val="111827"/>
                    </a:solidFill>
                    <a:latin typeface="Arial"/>
                  </a:rPr>
                  <a:t> and </a:t>
                </a:r>
                <a:r>
                  <a:rPr lang="en-IN" sz="2400">
                    <a:solidFill>
                      <a:srgbClr val="111827"/>
                    </a:solidFill>
                    <a:latin typeface="Cambria Math" panose="02040503050406030204" pitchFamily="18" charset="0"/>
                  </a:rPr>
                  <a:t>$7k+5$</a:t>
                </a:r>
                <a:r>
                  <a:rPr sz="2400" b="0">
                    <a:solidFill>
                      <a:srgbClr val="111827"/>
                    </a:solidFill>
                    <a:latin typeface="Arial"/>
                  </a:rPr>
                  <a:t>, with sum </a:t>
                </a:r>
                <a:r>
                  <a:rPr lang="en-IN" sz="2400">
                    <a:solidFill>
                      <a:srgbClr val="111827"/>
                    </a:solidFill>
                    <a:latin typeface="Cambria Math" panose="02040503050406030204" pitchFamily="18" charset="0"/>
                  </a:rPr>
                  <a:t>$14k+7$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$k=2,\ldots,13$</a:t>
                </a:r>
                <a:r>
                  <a:rPr sz="2400" b="0">
                    <a:solidFill>
                      <a:srgbClr val="111827"/>
                    </a:solidFill>
                    <a:latin typeface="Arial"/>
                  </a:rPr>
                  <a:t> both numbers are two-digit (</a:t>
                </a:r>
                <a:r>
                  <a:rPr lang="en-IN" sz="2400">
                    <a:solidFill>
                      <a:srgbClr val="111827"/>
                    </a:solidFill>
                    <a:latin typeface="Cambria Math" panose="02040503050406030204" pitchFamily="18" charset="0"/>
                  </a:rPr>
                  <a:t>$16,19$</a:t>
                </a:r>
                <a:r>
                  <a:rPr sz="2400" b="0">
                    <a:solidFill>
                      <a:srgbClr val="111827"/>
                    </a:solidFill>
                    <a:latin typeface="Arial"/>
                  </a:rPr>
                  <a:t> up to </a:t>
                </a:r>
                <a:r>
                  <a:rPr lang="en-IN" sz="2400">
                    <a:solidFill>
                      <a:srgbClr val="111827"/>
                    </a:solidFill>
                    <a:latin typeface="Cambria Math" panose="02040503050406030204" pitchFamily="18" charset="0"/>
                  </a:rPr>
                  <a:t>$93,96$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$\sum_{k=2}^{13}(14k+7)=14(90)+7(12)=1260+84=1344$</a:t>
                </a:r>
                <a:r>
                  <a:rPr sz="2400" b="0">
                    <a:solidFill>
                      <a:srgbClr val="111827"/>
                    </a:solidFill>
                    <a:latin typeface="Arial"/>
                  </a:rPr>
                  <a:t>, using </a:t>
                </a:r>
                <a:r>
                  <a:rPr lang="en-IN" sz="2400">
                    <a:solidFill>
                      <a:srgbClr val="111827"/>
                    </a:solidFill>
                    <a:latin typeface="Cambria Math" panose="02040503050406030204" pitchFamily="18" charset="0"/>
                  </a:rPr>
                  <a:t>$\sum_{k=2}^{13}k=91-1=90$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is one digit, but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is two-digit, so add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the numbers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exceed two digits;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both are one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1356</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$k=1$</a:t>
                </a:r>
                <a:r>
                  <a:rPr sz="2400" b="0">
                    <a:solidFill>
                      <a:srgbClr val="111827"/>
                    </a:solidFill>
                    <a:latin typeface="Arial"/>
                  </a:rPr>
                  <a:t>: </a:t>
                </a:r>
                <a:r>
                  <a:rPr lang="en-IN" sz="2400">
                    <a:solidFill>
                      <a:srgbClr val="111827"/>
                    </a:solidFill>
                    <a:latin typeface="Cambria Math" panose="02040503050406030204" pitchFamily="18" charset="0"/>
                  </a:rPr>
                  <a:t>$7+2=9$</a:t>
                </a:r>
                <a:r>
                  <a:rPr sz="2400" b="0">
                    <a:solidFill>
                      <a:srgbClr val="111827"/>
                    </a:solidFill>
                    <a:latin typeface="Arial"/>
                  </a:rPr>
                  <a:t> is one digit, but </a:t>
                </a:r>
                <a:r>
                  <a:rPr lang="en-IN" sz="2400">
                    <a:solidFill>
                      <a:srgbClr val="111827"/>
                    </a:solidFill>
                    <a:latin typeface="Cambria Math" panose="02040503050406030204" pitchFamily="18" charset="0"/>
                  </a:rPr>
                  <a:t>$7+5=12$</a:t>
                </a:r>
                <a:r>
                  <a:rPr sz="2400" b="0">
                    <a:solidFill>
                      <a:srgbClr val="111827"/>
                    </a:solidFill>
                    <a:latin typeface="Arial"/>
                  </a:rPr>
                  <a:t> is two-digit, so add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$k=14$</a:t>
                </a:r>
                <a:r>
                  <a:rPr sz="2400" b="0">
                    <a:solidFill>
                      <a:srgbClr val="111827"/>
                    </a:solidFill>
                    <a:latin typeface="Arial"/>
                  </a:rPr>
                  <a:t> the numbers </a:t>
                </a:r>
                <a:r>
                  <a:rPr lang="en-IN" sz="2400">
                    <a:solidFill>
                      <a:srgbClr val="111827"/>
                    </a:solidFill>
                    <a:latin typeface="Cambria Math" panose="02040503050406030204" pitchFamily="18" charset="0"/>
                  </a:rPr>
                  <a:t>$100,\ldots$</a:t>
                </a:r>
                <a:r>
                  <a:rPr sz="2400" b="0">
                    <a:solidFill>
                      <a:srgbClr val="111827"/>
                    </a:solidFill>
                    <a:latin typeface="Arial"/>
                  </a:rPr>
                  <a:t> exceed two digits; for </a:t>
                </a:r>
                <a:r>
                  <a:rPr lang="en-IN" sz="2400">
                    <a:solidFill>
                      <a:srgbClr val="111827"/>
                    </a:solidFill>
                    <a:latin typeface="Cambria Math" panose="02040503050406030204" pitchFamily="18" charset="0"/>
                  </a:rPr>
                  <a:t>$k=0$</a:t>
                </a:r>
                <a:r>
                  <a:rPr sz="2400" b="0">
                    <a:solidFill>
                      <a:srgbClr val="111827"/>
                    </a:solidFill>
                    <a:latin typeface="Arial"/>
                  </a:rPr>
                  <a:t> both are one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$=1344+12=1356$</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1356</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$1356$</a:t>
                </a:r>
                <a:endParaRPr sz="2800">
                  <a:solidFill>
                    <a:srgbClr val="15803D"/>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 range form an AP of common difference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the count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𝑙𝑎𝑠𝑡</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𝑓𝑖𝑟𝑠𝑡</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𝑓𝑖𝑟𝑠𝑡</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𝑙𝑎𝑠𝑡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take the first term from inside the range (here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not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 wrong first term changes the term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Pairing the two residue classes block by block turns the sum into one AP in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654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702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oMath>
                </a14:m>
                <a:r>
                  <a:rPr sz="2400" b="0">
                    <a:solidFill>
                      <a:srgbClr val="111827"/>
                    </a:solidFill>
                    <a:latin typeface="Arial"/>
                  </a:rPr>
                  <a:t> (mean of an AP is its middle term, mean of first and last).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a:t>
                </a:r>
                <a:r>
                  <a:rPr lang="en-IN" sz="2400">
                    <a:solidFill>
                      <a:srgbClr val="111827"/>
                    </a:solidFill>
                    <a:latin typeface="Cambria Math" panose="02040503050406030204" pitchFamily="18" charset="0"/>
                  </a:rPr>
                  <a:t>$\equiv r\pmod m$</a:t>
                </a:r>
                <a:r>
                  <a:rPr sz="2400" b="0">
                    <a:solidFill>
                      <a:srgbClr val="111827"/>
                    </a:solidFill>
                    <a:latin typeface="Arial"/>
                  </a:rPr>
                  <a:t> in a range form an AP of common difference </a:t>
                </a:r>
                <a:r>
                  <a:rPr lang="en-IN" sz="2400">
                    <a:solidFill>
                      <a:srgbClr val="111827"/>
                    </a:solidFill>
                    <a:latin typeface="Cambria Math" panose="02040503050406030204" pitchFamily="18" charset="0"/>
                  </a:rPr>
                  <a:t>$m$</a:t>
                </a:r>
                <a:r>
                  <a:rPr sz="2400" b="0">
                    <a:solidFill>
                      <a:srgbClr val="111827"/>
                    </a:solidFill>
                    <a:latin typeface="Arial"/>
                  </a:rPr>
                  <a:t>; the count is </a:t>
                </a:r>
                <a:r>
                  <a:rPr lang="en-IN" sz="2400">
                    <a:solidFill>
                      <a:srgbClr val="111827"/>
                    </a:solidFill>
                    <a:latin typeface="Cambria Math" panose="02040503050406030204" pitchFamily="18" charset="0"/>
                  </a:rPr>
                  <a:t>$\frac{\text{last}-\text{first}}{m}+1$</a:t>
                </a:r>
                <a:r>
                  <a:rPr sz="2400" b="0">
                    <a:solidFill>
                      <a:srgbClr val="111827"/>
                    </a:solidFill>
                    <a:latin typeface="Arial"/>
                  </a:rPr>
                  <a:t> and the sum is </a:t>
                </a:r>
                <a:r>
                  <a:rPr lang="en-IN" sz="2400">
                    <a:solidFill>
                      <a:srgbClr val="111827"/>
                    </a:solidFill>
                    <a:latin typeface="Cambria Math" panose="02040503050406030204" pitchFamily="18" charset="0"/>
                  </a:rPr>
                  <a:t>$\frac{n}{2}(\text{first}+\text{last})$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take the first term from inside the range (here </a:t>
                </a:r>
                <a:r>
                  <a:rPr lang="en-IN" sz="2400">
                    <a:solidFill>
                      <a:srgbClr val="111827"/>
                    </a:solidFill>
                    <a:latin typeface="Cambria Math" panose="02040503050406030204" pitchFamily="18" charset="0"/>
                  </a:rPr>
                  <a:t>$16$</a:t>
                </a:r>
                <a:r>
                  <a:rPr sz="2400" b="0">
                    <a:solidFill>
                      <a:srgbClr val="111827"/>
                    </a:solidFill>
                    <a:latin typeface="Arial"/>
                  </a:rPr>
                  <a:t>, not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$9$</a:t>
                </a:r>
                <a:r>
                  <a:rPr sz="2400" b="0">
                    <a:solidFill>
                      <a:srgbClr val="111827"/>
                    </a:solidFill>
                    <a:latin typeface="Arial"/>
                  </a:rPr>
                  <a:t>): a wrong first term changes the term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Pairing the two residue classes block by block turns the sum into one AP in </a:t>
                </a:r>
                <a:r>
                  <a:rPr lang="en-IN" sz="2400">
                    <a:solidFill>
                      <a:srgbClr val="111827"/>
                    </a:solidFill>
                    <a:latin typeface="Cambria Math" panose="02040503050406030204" pitchFamily="18" charset="0"/>
                  </a:rPr>
                  <a:t>$k$</a:t>
                </a:r>
                <a:r>
                  <a:rPr sz="2400" b="0">
                    <a:solidFill>
                      <a:srgbClr val="111827"/>
                    </a:solidFill>
                    <a:latin typeface="Arial"/>
                  </a:rPr>
                  <a:t>: </a:t>
                </a:r>
                <a:r>
                  <a:rPr lang="en-IN" sz="2400">
                    <a:solidFill>
                      <a:srgbClr val="111827"/>
                    </a:solidFill>
                    <a:latin typeface="Cambria Math" panose="02040503050406030204" pitchFamily="18" charset="0"/>
                  </a:rPr>
                  <a:t>$\sum(14k+7)$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$654=12\times54.5$</a:t>
                </a:r>
                <a:r>
                  <a:rPr sz="2400" b="0">
                    <a:solidFill>
                      <a:srgbClr val="111827"/>
                    </a:solidFill>
                    <a:latin typeface="Arial"/>
                  </a:rPr>
                  <a:t> and </a:t>
                </a:r>
                <a:r>
                  <a:rPr lang="en-IN" sz="2400">
                    <a:solidFill>
                      <a:srgbClr val="111827"/>
                    </a:solidFill>
                    <a:latin typeface="Cambria Math" panose="02040503050406030204" pitchFamily="18" charset="0"/>
                  </a:rPr>
                  <a:t>$702=13\times54$</a:t>
                </a:r>
                <a:r>
                  <a:rPr sz="2400" b="0">
                    <a:solidFill>
                      <a:srgbClr val="111827"/>
                    </a:solidFill>
                    <a:latin typeface="Arial"/>
                  </a:rPr>
                  <a:t> (mean of an AP is its middle term, mean of first and last).</a:t>
                </a:r>
                <a:endParaRPr sz="2400">
                  <a:solidFill>
                    <a:srgbClr val="111827"/>
                  </a:solidFill>
                </a:endParaRP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19</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of a non-zero A.P. is zero, then its (</a:t>
                </a:r>
                <a14:m>
                  <m:oMath xmlns:m="http://schemas.openxmlformats.org/officeDocument/2006/math">
                    <m:sSup>
                      <m:e>
                        <m:r>
                          <a:rPr lang="en-IN" sz="2400" i="1">
                            <a:solidFill>
                              <a:srgbClr val="111827"/>
                            </a:solidFill>
                            <a:latin typeface="Cambria Math" panose="02040503050406030204" pitchFamily="18" charset="0"/>
                          </a:rPr>
                          <m:t>49</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 (</a:t>
                </a:r>
                <a14:m>
                  <m:oMath xmlns:m="http://schemas.openxmlformats.org/officeDocument/2006/math">
                    <m:sSup>
                      <m:e>
                        <m:r>
                          <a:rPr lang="en-IN" sz="2400" i="1">
                            <a:solidFill>
                              <a:srgbClr val="111827"/>
                            </a:solidFill>
                            <a:latin typeface="Cambria Math" panose="02040503050406030204" pitchFamily="18" charset="0"/>
                          </a:rPr>
                          <m:t>29</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$19^{\text{th}}$</a:t>
                </a:r>
                <a:r>
                  <a:rPr sz="2400" b="0">
                    <a:solidFill>
                      <a:srgbClr val="111827"/>
                    </a:solidFill>
                    <a:latin typeface="Arial"/>
                  </a:rPr>
                  <a:t> term of a non-zero A.P. is zero, then its (</a:t>
                </a:r>
                <a:r>
                  <a:rPr lang="en-IN" sz="2400">
                    <a:solidFill>
                      <a:srgbClr val="111827"/>
                    </a:solidFill>
                    <a:latin typeface="Cambria Math" panose="02040503050406030204" pitchFamily="18" charset="0"/>
                  </a:rPr>
                  <a:t>$49^{\text{th}}$</a:t>
                </a:r>
                <a:r>
                  <a:rPr sz="2400" b="0">
                    <a:solidFill>
                      <a:srgbClr val="111827"/>
                    </a:solidFill>
                    <a:latin typeface="Arial"/>
                  </a:rPr>
                  <a:t> term) : (</a:t>
                </a:r>
                <a:r>
                  <a:rPr lang="en-IN" sz="2400">
                    <a:solidFill>
                      <a:srgbClr val="111827"/>
                    </a:solidFill>
                    <a:latin typeface="Cambria Math" panose="02040503050406030204" pitchFamily="18" charset="0"/>
                  </a:rPr>
                  <a:t>$29^{\text{th}}$</a:t>
                </a:r>
                <a:r>
                  <a:rPr sz="2400" b="0">
                    <a:solidFill>
                      <a:srgbClr val="111827"/>
                    </a:solidFill>
                    <a:latin typeface="Arial"/>
                  </a:rPr>
                  <a:t> term)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$2:1$</a:t>
                </a:r>
                <a:r>
                  <a:rPr sz="2400" b="0">
                    <a:solidFill>
                      <a:srgbClr val="111827"/>
                    </a:solidFill>
                    <a:latin typeface="Arial"/>
                  </a:rPr>
                  <a:t>   (B) </a:t>
                </a:r>
                <a:r>
                  <a:rPr lang="en-IN" sz="2400">
                    <a:solidFill>
                      <a:srgbClr val="111827"/>
                    </a:solidFill>
                    <a:latin typeface="Cambria Math" panose="02040503050406030204" pitchFamily="18" charset="0"/>
                  </a:rPr>
                  <a:t>$4:1$</a:t>
                </a:r>
                <a:r>
                  <a:rPr sz="2400" b="0">
                    <a:solidFill>
                      <a:srgbClr val="111827"/>
                    </a:solidFill>
                    <a:latin typeface="Arial"/>
                  </a:rPr>
                  <a:t>   (C) </a:t>
                </a:r>
                <a:r>
                  <a:rPr lang="en-IN" sz="2400">
                    <a:solidFill>
                      <a:srgbClr val="111827"/>
                    </a:solidFill>
                    <a:latin typeface="Cambria Math" panose="02040503050406030204" pitchFamily="18" charset="0"/>
                  </a:rPr>
                  <a:t>$3:1$</a:t>
                </a:r>
                <a:r>
                  <a:rPr sz="2400" b="0">
                    <a:solidFill>
                      <a:srgbClr val="111827"/>
                    </a:solidFill>
                    <a:latin typeface="Arial"/>
                  </a:rPr>
                  <a:t>   (D) </a:t>
                </a:r>
                <a:r>
                  <a:rPr lang="en-IN" sz="2400">
                    <a:solidFill>
                      <a:srgbClr val="111827"/>
                    </a:solidFill>
                    <a:latin typeface="Cambria Math" panose="02040503050406030204" pitchFamily="18" charset="0"/>
                  </a:rPr>
                  <a:t>$1:3$</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General term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19</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18</m:t>
                    </m:r>
                    <m:r>
                      <a:rPr lang="en-IN" sz="2400" i="1">
                        <a:solidFill>
                          <a:srgbClr val="78350F"/>
                        </a:solidFill>
                        <a:latin typeface="Cambria Math" panose="02040503050406030204" pitchFamily="18" charset="0"/>
                      </a:rPr>
                      <m:t>𝑑</m:t>
                    </m:r>
                  </m:oMath>
                </a14:m>
                <a:r>
                  <a:rPr sz="2400" b="0">
                    <a:solidFill>
                      <a:srgbClr val="78350F"/>
                    </a:solidFill>
                    <a:latin typeface="Arial"/>
                  </a:rPr>
                  <a:t>, so every term is a multiple of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$a_{19}=0$</a:t>
                </a:r>
                <a:r>
                  <a:rPr sz="2400" b="0">
                    <a:solidFill>
                      <a:srgbClr val="78350F"/>
                    </a:solidFill>
                    <a:latin typeface="Arial"/>
                  </a:rPr>
                  <a:t> gives </a:t>
                </a:r>
                <a:r>
                  <a:rPr lang="en-IN" sz="2400">
                    <a:solidFill>
                      <a:srgbClr val="78350F"/>
                    </a:solidFill>
                    <a:latin typeface="Cambria Math" panose="02040503050406030204" pitchFamily="18" charset="0"/>
                  </a:rPr>
                  <a:t>$a=-18d$</a:t>
                </a:r>
                <a:r>
                  <a:rPr sz="2400" b="0">
                    <a:solidFill>
                      <a:srgbClr val="78350F"/>
                    </a:solidFill>
                    <a:latin typeface="Arial"/>
                  </a:rPr>
                  <a:t>, so every term is a multiple of </a:t>
                </a:r>
                <a:r>
                  <a:rPr lang="en-IN" sz="2400">
                    <a:solidFill>
                      <a:srgbClr val="78350F"/>
                    </a:solidFill>
                    <a:latin typeface="Cambria Math" panose="02040503050406030204" pitchFamily="18" charset="0"/>
                  </a:rPr>
                  <a:t>$d$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49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49</m:t>
                            </m:r>
                          </m:sub>
                        </m:sSub>
                      </m:num>
                      <m:den>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29</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i.e. the ratio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since the A.P. is non-zero and its </a:t>
                </a:r>
                <a14:m>
                  <m:oMath xmlns:m="http://schemas.openxmlformats.org/officeDocument/2006/math">
                    <m:sSup>
                      <m:e>
                        <m:r>
                          <a:rPr lang="en-IN" sz="2400" i="1">
                            <a:solidFill>
                              <a:srgbClr val="111827"/>
                            </a:solidFill>
                            <a:latin typeface="Cambria Math" panose="02040503050406030204" pitchFamily="18" charset="0"/>
                          </a:rPr>
                          <m:t>19</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is zero).</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$a_{19}=a+18d=0$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$T_{49}=a+48d=30d$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$T_{29}=a+28d=10d$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$\frac{T_{49}}{T_{29}}=\frac{30d}{10d}=3$</a:t>
                </a:r>
                <a:r>
                  <a:rPr sz="2400" b="0">
                    <a:solidFill>
                      <a:srgbClr val="111827"/>
                    </a:solidFill>
                    <a:latin typeface="Arial"/>
                  </a:rPr>
                  <a:t>, i.e. the ratio is </a:t>
                </a:r>
                <a:r>
                  <a:rPr lang="en-IN" sz="2400">
                    <a:solidFill>
                      <a:srgbClr val="111827"/>
                    </a:solidFill>
                    <a:latin typeface="Cambria Math" panose="02040503050406030204" pitchFamily="18" charset="0"/>
                  </a:rPr>
                  <a:t>$3:1$</a:t>
                </a:r>
                <a:r>
                  <a:rPr sz="2400" b="0">
                    <a:solidFill>
                      <a:srgbClr val="111827"/>
                    </a:solidFill>
                    <a:latin typeface="Arial"/>
                  </a:rPr>
                  <a:t> (here </a:t>
                </a:r>
                <a:r>
                  <a:rPr lang="en-IN" sz="2400">
                    <a:solidFill>
                      <a:srgbClr val="111827"/>
                    </a:solidFill>
                    <a:latin typeface="Cambria Math" panose="02040503050406030204" pitchFamily="18" charset="0"/>
                  </a:rPr>
                  <a:t>$d\neq0$</a:t>
                </a:r>
                <a:r>
                  <a:rPr sz="2400" b="0">
                    <a:solidFill>
                      <a:srgbClr val="111827"/>
                    </a:solidFill>
                    <a:latin typeface="Arial"/>
                  </a:rPr>
                  <a:t>, since the A.P. is non-zero and its </a:t>
                </a:r>
                <a:r>
                  <a:rPr lang="en-IN" sz="2400">
                    <a:solidFill>
                      <a:srgbClr val="111827"/>
                    </a:solidFill>
                    <a:latin typeface="Cambria Math" panose="02040503050406030204" pitchFamily="18" charset="0"/>
                  </a:rPr>
                  <a:t>$19^{\text{th}}$</a:t>
                </a:r>
                <a:r>
                  <a:rPr sz="2400" b="0">
                    <a:solidFill>
                      <a:srgbClr val="111827"/>
                    </a:solidFill>
                    <a:latin typeface="Arial"/>
                  </a:rPr>
                  <a:t> term is zero).</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$3:1$</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t>
                </a:r>
                <a14:m>
                  <m:oMath xmlns:m="http://schemas.openxmlformats.org/officeDocument/2006/math">
                    <m:sSup>
                      <m:e>
                        <m:r>
                          <a:rPr lang="en-IN" sz="2400" i="1">
                            <a:solidFill>
                              <a:srgbClr val="78350F"/>
                            </a:solidFill>
                            <a:latin typeface="Cambria Math" panose="02040503050406030204" pitchFamily="18" charset="0"/>
                          </a:rPr>
                          <m:t>𝑛</m:t>
                        </m:r>
                      </m:e>
                      <m:sup>
                        <m:r>
                          <m:rPr>
                            <m:nor/>
                          </m:rPr>
                          <a:rPr lang="en-IN" sz="2400" i="1">
                            <a:solidFill>
                              <a:srgbClr val="78350F"/>
                            </a:solidFill>
                            <a:latin typeface="Cambria Math" panose="02040503050406030204" pitchFamily="18" charset="0"/>
                          </a:rPr>
                          <m:t>𝑡ℎ</m:t>
                        </m:r>
                      </m:sup>
                    </m:sSup>
                  </m:oMath>
                </a14:m>
                <a:r>
                  <a:rPr sz="2400" b="0">
                    <a:solidFill>
                      <a:srgbClr val="78350F"/>
                    </a:solidFill>
                    <a:latin typeface="Arial"/>
                  </a:rPr>
                  <a:t> term is a linear function of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vanishing at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19</m:t>
                    </m:r>
                  </m:oMath>
                </a14:m>
                <a:r>
                  <a:rPr sz="2400" b="0">
                    <a:solidFill>
                      <a:srgbClr val="78350F"/>
                    </a:solidFill>
                    <a:latin typeface="Arial"/>
                  </a:rPr>
                  <a:t>, so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19</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t>
                </a:r>
                <a:r>
                  <a:rPr lang="en-IN" sz="2400">
                    <a:solidFill>
                      <a:srgbClr val="78350F"/>
                    </a:solidFill>
                    <a:latin typeface="Cambria Math" panose="02040503050406030204" pitchFamily="18" charset="0"/>
                  </a:rPr>
                  <a:t>$n^{\text{th}}$</a:t>
                </a:r>
                <a:r>
                  <a:rPr sz="2400" b="0">
                    <a:solidFill>
                      <a:srgbClr val="78350F"/>
                    </a:solidFill>
                    <a:latin typeface="Arial"/>
                  </a:rPr>
                  <a:t> term is a linear function of </a:t>
                </a:r>
                <a:r>
                  <a:rPr lang="en-IN" sz="2400">
                    <a:solidFill>
                      <a:srgbClr val="78350F"/>
                    </a:solidFill>
                    <a:latin typeface="Cambria Math" panose="02040503050406030204" pitchFamily="18" charset="0"/>
                  </a:rPr>
                  <a:t>$n$</a:t>
                </a:r>
                <a:r>
                  <a:rPr sz="2400" b="0">
                    <a:solidFill>
                      <a:srgbClr val="78350F"/>
                    </a:solidFill>
                    <a:latin typeface="Arial"/>
                  </a:rPr>
                  <a:t> vanishing at </a:t>
                </a:r>
                <a:r>
                  <a:rPr lang="en-IN" sz="2400">
                    <a:solidFill>
                      <a:srgbClr val="78350F"/>
                    </a:solidFill>
                    <a:latin typeface="Cambria Math" panose="02040503050406030204" pitchFamily="18" charset="0"/>
                  </a:rPr>
                  <a:t>$n=19$</a:t>
                </a:r>
                <a:r>
                  <a:rPr sz="2400" b="0">
                    <a:solidFill>
                      <a:srgbClr val="78350F"/>
                    </a:solidFill>
                    <a:latin typeface="Arial"/>
                  </a:rPr>
                  <a:t>, so </a:t>
                </a:r>
                <a:r>
                  <a:rPr lang="en-IN" sz="2400">
                    <a:solidFill>
                      <a:srgbClr val="78350F"/>
                    </a:solidFill>
                    <a:latin typeface="Cambria Math" panose="02040503050406030204" pitchFamily="18" charset="0"/>
                  </a:rPr>
                  <a:t>$T_n=d\,(n-19)$</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is linear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slope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49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29</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$T_n=a+(n-1)d$</a:t>
                </a:r>
                <a:r>
                  <a:rPr sz="2400" b="0">
                    <a:solidFill>
                      <a:srgbClr val="111827"/>
                    </a:solidFill>
                    <a:latin typeface="Arial"/>
                  </a:rPr>
                  <a:t> is linear in </a:t>
                </a:r>
                <a:r>
                  <a:rPr lang="en-IN" sz="2400">
                    <a:solidFill>
                      <a:srgbClr val="111827"/>
                    </a:solidFill>
                    <a:latin typeface="Cambria Math" panose="02040503050406030204" pitchFamily="18" charset="0"/>
                  </a:rPr>
                  <a:t>$n$</a:t>
                </a:r>
                <a:r>
                  <a:rPr sz="2400" b="0">
                    <a:solidFill>
                      <a:srgbClr val="111827"/>
                    </a:solidFill>
                    <a:latin typeface="Arial"/>
                  </a:rPr>
                  <a:t> with slope </a:t>
                </a:r>
                <a:r>
                  <a:rPr lang="en-IN" sz="2400">
                    <a:solidFill>
                      <a:srgbClr val="111827"/>
                    </a:solidFill>
                    <a:latin typeface="Cambria Math" panose="02040503050406030204" pitchFamily="18" charset="0"/>
                  </a:rPr>
                  <a:t>$d$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$T_{19}=0$</a:t>
                </a:r>
                <a:r>
                  <a:rPr sz="2400" b="0">
                    <a:solidFill>
                      <a:srgbClr val="111827"/>
                    </a:solidFill>
                    <a:latin typeface="Arial"/>
                  </a:rPr>
                  <a:t>, </a:t>
                </a:r>
                <a:r>
                  <a:rPr lang="en-IN" sz="2400">
                    <a:solidFill>
                      <a:srgbClr val="111827"/>
                    </a:solidFill>
                    <a:latin typeface="Cambria Math" panose="02040503050406030204" pitchFamily="18" charset="0"/>
                  </a:rPr>
                  <a:t>$T_n=d(n-19)$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$T_{49}=30d$</a:t>
                </a:r>
                <a:r>
                  <a:rPr sz="2400" b="0">
                    <a:solidFill>
                      <a:srgbClr val="111827"/>
                    </a:solidFill>
                    <a:latin typeface="Arial"/>
                  </a:rPr>
                  <a:t> and </a:t>
                </a:r>
                <a:r>
                  <a:rPr lang="en-IN" sz="2400">
                    <a:solidFill>
                      <a:srgbClr val="111827"/>
                    </a:solidFill>
                    <a:latin typeface="Cambria Math" panose="02040503050406030204" pitchFamily="18" charset="0"/>
                  </a:rPr>
                  <a:t>$T_{29}=10d$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ratio is </a:t>
                </a:r>
                <a:r>
                  <a:rPr lang="en-IN" sz="2400">
                    <a:solidFill>
                      <a:srgbClr val="111827"/>
                    </a:solidFill>
                    <a:latin typeface="Cambria Math" panose="02040503050406030204" pitchFamily="18" charset="0"/>
                  </a:rPr>
                  <a:t>$\frac{49-19}{29-19}=\frac{30}{10}=3$</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$3:1$</a:t>
                </a:r>
                <a:endParaRPr sz="2800">
                  <a:solidFill>
                    <a:srgbClr val="15803D"/>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an A.P. then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𝑚</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terms of an A.P. of the same sign on either side of the zero term are in the ratio of their distances from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$T_p=0$</a:t>
                </a:r>
                <a:r>
                  <a:rPr sz="2400" b="0">
                    <a:solidFill>
                      <a:srgbClr val="111827"/>
                    </a:solidFill>
                    <a:latin typeface="Arial"/>
                  </a:rPr>
                  <a:t> in an A.P. then </a:t>
                </a:r>
                <a:r>
                  <a:rPr lang="en-IN" sz="2400">
                    <a:solidFill>
                      <a:srgbClr val="111827"/>
                    </a:solidFill>
                    <a:latin typeface="Cambria Math" panose="02040503050406030204" pitchFamily="18" charset="0"/>
                  </a:rPr>
                  <a:t>$T_n=d(n-p)$</a:t>
                </a:r>
                <a:r>
                  <a:rPr sz="2400" b="0">
                    <a:solidFill>
                      <a:srgbClr val="111827"/>
                    </a:solidFill>
                    <a:latin typeface="Arial"/>
                  </a:rPr>
                  <a:t> and </a:t>
                </a:r>
                <a:r>
                  <a:rPr lang="en-IN" sz="2400">
                    <a:solidFill>
                      <a:srgbClr val="111827"/>
                    </a:solidFill>
                    <a:latin typeface="Cambria Math" panose="02040503050406030204" pitchFamily="18" charset="0"/>
                  </a:rPr>
                  <a:t>$T_m:T_n=(m-p):(n-p)$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terms of an A.P. of the same sign on either side of the zero term are in the ratio of their distances from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r>
                  <a:rPr lang="en-IN" sz="2400">
                    <a:solidFill>
                      <a:srgbClr val="111827"/>
                    </a:solidFill>
                    <a:latin typeface="Cambria Math" panose="02040503050406030204" pitchFamily="18" charset="0"/>
                  </a:rPr>
                  <a:t>$(49-19):(29-19)=30:10=3:1$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9263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be the roots of the quadratic 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 Then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m:rPr>
                            <m:sty m:val="p"/>
                          </m:rPr>
                          <a:rPr lang="en-IN" sz="2400">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den>
                            </m:f>
                          </m:e>
                        </m:d>
                      </m:e>
                    </m:nary>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endParaRPr sz="2400">
                  <a:solidFill>
                    <a:srgbClr val="111827"/>
                  </a:solidFill>
                </a:endParaRPr>
              </a:p>
            </p:txBody>
          </p:sp>
        </mc:Choice>
        <mc:Fallback>
          <p:sp>
            <p:nvSpPr>
              <p:cNvPr id="4" name="Rounded Rectangle 3"/>
              <p:cNvSpPr/>
              <p:nvPr/>
            </p:nvSpPr>
            <p:spPr>
              <a:xfrm>
                <a:off x="731520" y="1280160"/>
                <a:ext cx="10725912" cy="39263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be the roots of the quadratic equation </a:t>
                </a:r>
                <a:r>
                  <a:rPr lang="en-IN" sz="2400">
                    <a:solidFill>
                      <a:srgbClr val="111827"/>
                    </a:solidFill>
                    <a:latin typeface="Cambria Math" panose="02040503050406030204" pitchFamily="18" charset="0"/>
                  </a:rPr>
                  <a:t>$x^2\sin\theta-x(\sin\theta\cos\theta+1)+\cos\theta=0$</a:t>
                </a:r>
                <a:r>
                  <a:rPr sz="2400" b="0">
                    <a:solidFill>
                      <a:srgbClr val="111827"/>
                    </a:solidFill>
                    <a:latin typeface="Arial"/>
                  </a:rPr>
                  <a:t> </a:t>
                </a:r>
                <a:r>
                  <a:rPr lang="en-IN" sz="2400">
                    <a:solidFill>
                      <a:srgbClr val="111827"/>
                    </a:solidFill>
                    <a:latin typeface="Cambria Math" panose="02040503050406030204" pitchFamily="18" charset="0"/>
                  </a:rPr>
                  <a:t>$(0&lt;\theta&lt;45^\circ)$</a:t>
                </a:r>
                <a:r>
                  <a:rPr sz="2400" b="0">
                    <a:solidFill>
                      <a:srgbClr val="111827"/>
                    </a:solidFill>
                    <a:latin typeface="Arial"/>
                  </a:rPr>
                  <a:t>, and </a:t>
                </a:r>
                <a:r>
                  <a:rPr lang="en-IN" sz="2400">
                    <a:solidFill>
                      <a:srgbClr val="111827"/>
                    </a:solidFill>
                    <a:latin typeface="Cambria Math" panose="02040503050406030204" pitchFamily="18" charset="0"/>
                  </a:rPr>
                  <a:t>$\alpha&lt;\beta$</a:t>
                </a:r>
                <a:r>
                  <a:rPr sz="2400" b="0">
                    <a:solidFill>
                      <a:srgbClr val="111827"/>
                    </a:solidFill>
                    <a:latin typeface="Arial"/>
                  </a:rPr>
                  <a:t>. Then </a:t>
                </a:r>
                <a:r>
                  <a:rPr lang="en-IN" sz="2400">
                    <a:solidFill>
                      <a:srgbClr val="111827"/>
                    </a:solidFill>
                    <a:latin typeface="Cambria Math" panose="02040503050406030204" pitchFamily="18" charset="0"/>
                  </a:rPr>
                  <a:t>$\sum_{n=0}^{\infty}\left(\alpha^n+\frac{(-1)^n}{\beta^n}\right)$</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$\frac{1}{1+\cos\theta}+\frac{1}{1-\sin\theta}$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$\frac{1}{1+\cos\theta}-\frac{1}{1-\sin\theta}$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$\frac{1}{1-\cos\theta}-\frac{1}{1+\sin\theta}$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$\frac{1}{1-\cos\theta}+\frac{1}{1+\sin\theta}$</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Quadratic equation with trigonometric coefficients, Sum of an infinite geometric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roots are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cosec</m:t>
                    </m:r>
                    <m:r>
                      <a:rPr lang="en-IN" sz="2400" i="1">
                        <a:solidFill>
                          <a:srgbClr val="78350F"/>
                        </a:solidFill>
                        <a:latin typeface="Cambria Math" panose="02040503050406030204" pitchFamily="18" charset="0"/>
                      </a:rPr>
                      <m:t>θ</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&lt;</m:t>
                    </m:r>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β</m:t>
                    </m:r>
                  </m:oMath>
                </a14:m>
                <a:r>
                  <a:rPr sz="2400" b="0">
                    <a:solidFill>
                      <a:srgbClr val="78350F"/>
                    </a:solidFill>
                    <a:latin typeface="Arial"/>
                  </a:rPr>
                  <a:t>, and both series ratios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oMath>
                </a14:m>
                <a:r>
                  <a:rPr sz="2400" b="0">
                    <a:solidFill>
                      <a:srgbClr val="78350F"/>
                    </a:solidFill>
                    <a:latin typeface="Arial"/>
                  </a:rPr>
                  <a:t> lie in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roots are </a:t>
                </a:r>
                <a:r>
                  <a:rPr lang="en-IN" sz="2400">
                    <a:solidFill>
                      <a:srgbClr val="78350F"/>
                    </a:solidFill>
                    <a:latin typeface="Cambria Math" panose="02040503050406030204" pitchFamily="18" charset="0"/>
                  </a:rPr>
                  <a:t>$\cos\theta$</a:t>
                </a:r>
                <a:r>
                  <a:rPr sz="2400" b="0">
                    <a:solidFill>
                      <a:srgbClr val="78350F"/>
                    </a:solidFill>
                    <a:latin typeface="Arial"/>
                  </a:rPr>
                  <a:t> and </a:t>
                </a:r>
                <a:r>
                  <a:rPr lang="en-IN" sz="2400">
                    <a:solidFill>
                      <a:srgbClr val="78350F"/>
                    </a:solidFill>
                    <a:latin typeface="Cambria Math" panose="02040503050406030204" pitchFamily="18" charset="0"/>
                  </a:rPr>
                  <a:t>$\operatorname{cosec}\theta$</a:t>
                </a:r>
                <a:r>
                  <a:rPr sz="2400" b="0">
                    <a:solidFill>
                      <a:srgbClr val="78350F"/>
                    </a:solidFill>
                    <a:latin typeface="Arial"/>
                  </a:rPr>
                  <a:t>, and </a:t>
                </a:r>
                <a:r>
                  <a:rPr lang="en-IN" sz="2400">
                    <a:solidFill>
                      <a:srgbClr val="78350F"/>
                    </a:solidFill>
                    <a:latin typeface="Cambria Math" panose="02040503050406030204" pitchFamily="18" charset="0"/>
                  </a:rPr>
                  <a:t>$0&lt;\theta&lt;45^\circ$</a:t>
                </a:r>
                <a:r>
                  <a:rPr sz="2400" b="0">
                    <a:solidFill>
                      <a:srgbClr val="78350F"/>
                    </a:solidFill>
                    <a:latin typeface="Arial"/>
                  </a:rPr>
                  <a:t> gives </a:t>
                </a:r>
                <a:r>
                  <a:rPr lang="en-IN" sz="2400">
                    <a:solidFill>
                      <a:srgbClr val="78350F"/>
                    </a:solidFill>
                    <a:latin typeface="Cambria Math" panose="02040503050406030204" pitchFamily="18" charset="0"/>
                  </a:rPr>
                  <a:t>$\alpha=\cos\theta&lt;\beta$</a:t>
                </a:r>
                <a:r>
                  <a:rPr sz="2400" b="0">
                    <a:solidFill>
                      <a:srgbClr val="78350F"/>
                    </a:solidFill>
                    <a:latin typeface="Arial"/>
                  </a:rPr>
                  <a:t>, and both series ratios </a:t>
                </a:r>
                <a:r>
                  <a:rPr lang="en-IN" sz="2400">
                    <a:solidFill>
                      <a:srgbClr val="78350F"/>
                    </a:solidFill>
                    <a:latin typeface="Cambria Math" panose="02040503050406030204" pitchFamily="18" charset="0"/>
                  </a:rPr>
                  <a:t>$\cos\theta,-\sin\theta$</a:t>
                </a:r>
                <a:r>
                  <a:rPr sz="2400" b="0">
                    <a:solidFill>
                      <a:srgbClr val="78350F"/>
                    </a:solidFill>
                    <a:latin typeface="Arial"/>
                  </a:rPr>
                  <a:t> lie in </a:t>
                </a:r>
                <a:r>
                  <a:rPr lang="en-IN" sz="2400">
                    <a:solidFill>
                      <a:srgbClr val="78350F"/>
                    </a:solidFill>
                    <a:latin typeface="Cambria Math" panose="02040503050406030204" pitchFamily="18" charset="0"/>
                  </a:rPr>
                  <a:t>$(-1,1)$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quadratic formula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e>
                        </m:rad>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quadratic formula </a:t>
                </a:r>
                <a:r>
                  <a:rPr lang="en-IN" sz="2400">
                    <a:solidFill>
                      <a:srgbClr val="111827"/>
                    </a:solidFill>
                    <a:latin typeface="Cambria Math" panose="02040503050406030204" pitchFamily="18" charset="0"/>
                  </a:rPr>
                  <a:t>$x=\frac{(\sin\theta\cos\theta+1)\pm\sqrt{(\sin\theta\cos\theta+1)^2-4\sin\theta\cos\theta}}{2\sin\theta}$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discriminant is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roots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cosec</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cosec</m:t>
                    </m:r>
                    <m:r>
                      <a:rPr lang="en-IN" sz="2400" i="1">
                        <a:solidFill>
                          <a:srgbClr val="111827"/>
                        </a:solidFill>
                        <a:latin typeface="Cambria Math" panose="02040503050406030204" pitchFamily="18" charset="0"/>
                      </a:rPr>
                      <m:t>θ</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cosec</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m:rPr>
                            <m:sty m:val="p"/>
                          </m:rPr>
                          <a:rPr lang="en-IN" sz="2400">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m:rPr>
                            <m:sty m:val="p"/>
                          </m:rPr>
                          <a:rPr lang="en-IN" sz="2400">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both are geometric series with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𝑟𝑎𝑡𝑖𝑜</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discriminant is </a:t>
                </a:r>
                <a:r>
                  <a:rPr lang="en-IN" sz="2400">
                    <a:solidFill>
                      <a:srgbClr val="111827"/>
                    </a:solidFill>
                    <a:latin typeface="Cambria Math" panose="02040503050406030204" pitchFamily="18" charset="0"/>
                  </a:rPr>
                  <a:t>$\sin^2\theta\cos^2\theta+1-2\sin\theta\cos\theta=(\sin\theta\cos\theta-1)^2$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$x=\frac{\sin\theta\cos\theta+1\pm(1-\sin\theta\cos\theta)}{2\sin\theta}$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two roots are </a:t>
                </a:r>
                <a:r>
                  <a:rPr lang="en-IN" sz="2400">
                    <a:solidFill>
                      <a:srgbClr val="111827"/>
                    </a:solidFill>
                    <a:latin typeface="Cambria Math" panose="02040503050406030204" pitchFamily="18" charset="0"/>
                  </a:rPr>
                  <a:t>$x=\cos\theta$</a:t>
                </a:r>
                <a:r>
                  <a:rPr sz="2400" b="0">
                    <a:solidFill>
                      <a:srgbClr val="111827"/>
                    </a:solidFill>
                    <a:latin typeface="Arial"/>
                  </a:rPr>
                  <a:t> and </a:t>
                </a:r>
                <a:r>
                  <a:rPr lang="en-IN" sz="2400">
                    <a:solidFill>
                      <a:srgbClr val="111827"/>
                    </a:solidFill>
                    <a:latin typeface="Cambria Math" panose="02040503050406030204" pitchFamily="18" charset="0"/>
                  </a:rPr>
                  <a:t>$x=\operatorname{cosec}\theta$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$0&lt;\theta&lt;45^\circ$</a:t>
                </a:r>
                <a:r>
                  <a:rPr sz="2400" b="0">
                    <a:solidFill>
                      <a:srgbClr val="111827"/>
                    </a:solidFill>
                    <a:latin typeface="Arial"/>
                  </a:rPr>
                  <a:t>, </a:t>
                </a:r>
                <a:r>
                  <a:rPr lang="en-IN" sz="2400">
                    <a:solidFill>
                      <a:srgbClr val="111827"/>
                    </a:solidFill>
                    <a:latin typeface="Cambria Math" panose="02040503050406030204" pitchFamily="18" charset="0"/>
                  </a:rPr>
                  <a:t>$\cos\theta&lt;1&lt;\operatorname{cosec}\theta$</a:t>
                </a:r>
                <a:r>
                  <a:rPr sz="2400" b="0">
                    <a:solidFill>
                      <a:srgbClr val="111827"/>
                    </a:solidFill>
                    <a:latin typeface="Arial"/>
                  </a:rPr>
                  <a:t>, so </a:t>
                </a:r>
                <a:r>
                  <a:rPr lang="en-IN" sz="2400">
                    <a:solidFill>
                      <a:srgbClr val="111827"/>
                    </a:solidFill>
                    <a:latin typeface="Cambria Math" panose="02040503050406030204" pitchFamily="18" charset="0"/>
                  </a:rPr>
                  <a:t>$\alpha=\cos\theta$</a:t>
                </a:r>
                <a:r>
                  <a:rPr sz="2400" b="0">
                    <a:solidFill>
                      <a:srgbClr val="111827"/>
                    </a:solidFill>
                    <a:latin typeface="Arial"/>
                  </a:rPr>
                  <a:t> and </a:t>
                </a:r>
                <a:r>
                  <a:rPr lang="en-IN" sz="2400">
                    <a:solidFill>
                      <a:srgbClr val="111827"/>
                    </a:solidFill>
                    <a:latin typeface="Cambria Math" panose="02040503050406030204" pitchFamily="18" charset="0"/>
                  </a:rPr>
                  <a:t>$\beta=\operatorname{cosec}\theta$</a:t>
                </a:r>
                <a:r>
                  <a:rPr sz="2400" b="0">
                    <a:solidFill>
                      <a:srgbClr val="111827"/>
                    </a:solidFill>
                    <a:latin typeface="Arial"/>
                  </a:rPr>
                  <a:t> (and </a:t>
                </a:r>
                <a:r>
                  <a:rPr lang="en-IN" sz="2400">
                    <a:solidFill>
                      <a:srgbClr val="111827"/>
                    </a:solidFill>
                    <a:latin typeface="Cambria Math" panose="02040503050406030204" pitchFamily="18" charset="0"/>
                  </a:rPr>
                  <a:t>$\frac1\beta=\sin\theta$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$\alpha^n+\frac{(-1)^n}{\beta^n}=(\cos\theta)^n+(-\sin\theta)^n$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$\sum_{n=0}^{\infty}(\cos\theta)^n+\sum_{n=0}^{\infty}(-\sin\theta)^n$</a:t>
                </a:r>
                <a:r>
                  <a:rPr sz="2400" b="0">
                    <a:solidFill>
                      <a:srgbClr val="111827"/>
                    </a:solidFill>
                    <a:latin typeface="Arial"/>
                  </a:rPr>
                  <a:t>; both are geometric series with </a:t>
                </a:r>
                <a:r>
                  <a:rPr lang="en-IN" sz="2400">
                    <a:solidFill>
                      <a:srgbClr val="111827"/>
                    </a:solidFill>
                    <a:latin typeface="Cambria Math" panose="02040503050406030204" pitchFamily="18" charset="0"/>
                  </a:rPr>
                  <a:t>$|\text{ratio}|&lt;1$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$=\frac{1}{1-\cos\theta}+\frac{1}{1+\sin\theta}$</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θ</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θ</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$\frac{1}{1-\cos\theta}+\frac{1}{1+\sin\theta}$</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the quadratic by inspection: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Factorise the quadratic by inspection: </a:t>
                </a:r>
                <a:r>
                  <a:rPr lang="en-IN" sz="2400">
                    <a:solidFill>
                      <a:srgbClr val="78350F"/>
                    </a:solidFill>
                    <a:latin typeface="Cambria Math" panose="02040503050406030204" pitchFamily="18" charset="0"/>
                  </a:rPr>
                  <a:t>$\sin\theta\,x^2-(\sin\theta\cos\theta+1)x+\cos\theta=(x-\cos\theta)(x\sin\theta-1)$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is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roots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 so the other root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factorisation: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Correct.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Try </a:t>
                </a:r>
                <a:r>
                  <a:rPr lang="en-IN" sz="2400">
                    <a:solidFill>
                      <a:srgbClr val="111827"/>
                    </a:solidFill>
                    <a:latin typeface="Cambria Math" panose="02040503050406030204" pitchFamily="18" charset="0"/>
                  </a:rPr>
                  <a:t>$x=\cos\theta$</a:t>
                </a:r>
                <a:r>
                  <a:rPr sz="2400" b="0">
                    <a:solidFill>
                      <a:srgbClr val="111827"/>
                    </a:solidFill>
                    <a:latin typeface="Arial"/>
                  </a:rPr>
                  <a:t>: </a:t>
                </a:r>
                <a:r>
                  <a:rPr lang="en-IN" sz="2400">
                    <a:solidFill>
                      <a:srgbClr val="111827"/>
                    </a:solidFill>
                    <a:latin typeface="Cambria Math" panose="02040503050406030204" pitchFamily="18" charset="0"/>
                  </a:rPr>
                  <a:t>$\sin\theta\cos^2\theta-\sin\theta\cos^2\theta-\cos\theta+\cos\theta=0$</a:t>
                </a:r>
                <a:r>
                  <a:rPr sz="2400" b="0">
                    <a:solidFill>
                      <a:srgbClr val="111827"/>
                    </a:solidFill>
                    <a:latin typeface="Arial"/>
                  </a:rPr>
                  <a:t>, so </a:t>
                </a:r>
                <a:r>
                  <a:rPr lang="en-IN" sz="2400">
                    <a:solidFill>
                      <a:srgbClr val="111827"/>
                    </a:solidFill>
                    <a:latin typeface="Cambria Math" panose="02040503050406030204" pitchFamily="18" charset="0"/>
                  </a:rPr>
                  <a:t>$\cos\theta$</a:t>
                </a:r>
                <a:r>
                  <a:rPr sz="2400" b="0">
                    <a:solidFill>
                      <a:srgbClr val="111827"/>
                    </a:solidFill>
                    <a:latin typeface="Arial"/>
                  </a:rPr>
                  <a:t> is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of the roots is </a:t>
                </a:r>
                <a:r>
                  <a:rPr lang="en-IN" sz="2400">
                    <a:solidFill>
                      <a:srgbClr val="111827"/>
                    </a:solidFill>
                    <a:latin typeface="Cambria Math" panose="02040503050406030204" pitchFamily="18" charset="0"/>
                  </a:rPr>
                  <a:t>$\frac{\cos\theta}{\sin\theta}$</a:t>
                </a:r>
                <a:r>
                  <a:rPr sz="2400" b="0">
                    <a:solidFill>
                      <a:srgbClr val="111827"/>
                    </a:solidFill>
                    <a:latin typeface="Arial"/>
                  </a:rPr>
                  <a:t>, so the other root is </a:t>
                </a:r>
                <a:r>
                  <a:rPr lang="en-IN" sz="2400">
                    <a:solidFill>
                      <a:srgbClr val="111827"/>
                    </a:solidFill>
                    <a:latin typeface="Cambria Math" panose="02040503050406030204" pitchFamily="18" charset="0"/>
                  </a:rPr>
                  <a:t>$\frac{\cos\theta}{\sin\theta\cos\theta}=\frac{1}{\sin\theta}$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factorisation: </a:t>
                </a:r>
                <a:r>
                  <a:rPr lang="en-IN" sz="2400">
                    <a:solidFill>
                      <a:srgbClr val="111827"/>
                    </a:solidFill>
                    <a:latin typeface="Cambria Math" panose="02040503050406030204" pitchFamily="18" charset="0"/>
                  </a:rPr>
                  <a:t>$(x-\cos\theta)(x\sin\theta-1)=x^2\sin\theta-x(1+\sin\theta\cos\theta)+\cos\theta$</a:t>
                </a:r>
                <a:r>
                  <a:rPr sz="2400" b="0">
                    <a:solidFill>
                      <a:srgbClr val="111827"/>
                    </a:solidFill>
                    <a:latin typeface="Arial"/>
                  </a:rPr>
                  <a:t>. Correct.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 the same answer, option (D).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m:t>
                    </m:r>
                  </m:oMath>
                </a14:m>
                <a:r>
                  <a:rPr sz="2400" b="0">
                    <a:solidFill>
                      <a:srgbClr val="111827"/>
                    </a:solidFill>
                    <a:latin typeface="Arial"/>
                  </a:rPr>
                  <a:t> rad: 300 terms of the series sum to </a:t>
                </a:r>
                <a14:m>
                  <m:oMath xmlns:m="http://schemas.openxmlformats.org/officeDocument/2006/math">
                    <m:r>
                      <a:rPr lang="en-IN" sz="2400" i="1">
                        <a:solidFill>
                          <a:srgbClr val="111827"/>
                        </a:solidFill>
                        <a:latin typeface="Cambria Math" panose="02040503050406030204" pitchFamily="18" charset="0"/>
                      </a:rPr>
                      <m:t>23.1615</m:t>
                    </m:r>
                  </m:oMath>
                </a14:m>
                <a:r>
                  <a:rPr sz="2400" b="0">
                    <a:solidFill>
                      <a:srgbClr val="111827"/>
                    </a:solidFill>
                    <a:latin typeface="Arial"/>
                  </a:rPr>
                  <a:t> and option (D) gives </a:t>
                </a:r>
                <a14:m>
                  <m:oMath xmlns:m="http://schemas.openxmlformats.org/officeDocument/2006/math">
                    <m:r>
                      <a:rPr lang="en-IN" sz="2400" i="1">
                        <a:solidFill>
                          <a:srgbClr val="111827"/>
                        </a:solidFill>
                        <a:latin typeface="Cambria Math" panose="02040503050406030204" pitchFamily="18" charset="0"/>
                      </a:rPr>
                      <m:t>23.1615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$0&lt;\theta&lt;45^\circ$</a:t>
                </a:r>
                <a:r>
                  <a:rPr sz="2400" b="0">
                    <a:solidFill>
                      <a:srgbClr val="111827"/>
                    </a:solidFill>
                    <a:latin typeface="Arial"/>
                  </a:rPr>
                  <a:t>: </a:t>
                </a:r>
                <a:r>
                  <a:rPr lang="en-IN" sz="2400">
                    <a:solidFill>
                      <a:srgbClr val="111827"/>
                    </a:solidFill>
                    <a:latin typeface="Cambria Math" panose="02040503050406030204" pitchFamily="18" charset="0"/>
                  </a:rPr>
                  <a:t>$\cos\theta&lt;1&lt;\frac1{\sin\theta}$</a:t>
                </a:r>
                <a:r>
                  <a:rPr sz="2400" b="0">
                    <a:solidFill>
                      <a:srgbClr val="111827"/>
                    </a:solidFill>
                    <a:latin typeface="Arial"/>
                  </a:rPr>
                  <a:t>, so </a:t>
                </a:r>
                <a:r>
                  <a:rPr lang="en-IN" sz="2400">
                    <a:solidFill>
                      <a:srgbClr val="111827"/>
                    </a:solidFill>
                    <a:latin typeface="Cambria Math" panose="02040503050406030204" pitchFamily="18" charset="0"/>
                  </a:rPr>
                  <a:t>$\alpha=\cos\theta$</a:t>
                </a:r>
                <a:r>
                  <a:rPr sz="2400" b="0">
                    <a:solidFill>
                      <a:srgbClr val="111827"/>
                    </a:solidFill>
                    <a:latin typeface="Arial"/>
                  </a:rPr>
                  <a:t>, </a:t>
                </a:r>
                <a:r>
                  <a:rPr lang="en-IN" sz="2400">
                    <a:solidFill>
                      <a:srgbClr val="111827"/>
                    </a:solidFill>
                    <a:latin typeface="Cambria Math" panose="02040503050406030204" pitchFamily="18" charset="0"/>
                  </a:rPr>
                  <a:t>$\frac1\beta=\sin\theta$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Series: </a:t>
                </a:r>
                <a:r>
                  <a:rPr lang="en-IN" sz="2400">
                    <a:solidFill>
                      <a:srgbClr val="111827"/>
                    </a:solidFill>
                    <a:latin typeface="Cambria Math" panose="02040503050406030204" pitchFamily="18" charset="0"/>
                  </a:rPr>
                  <a:t>$\frac1{1-\cos\theta}+\frac1{1-(-\sin\theta)}=\frac1{1-\cos\theta}+\frac1{1+\sin\theta}$</a:t>
                </a:r>
                <a:r>
                  <a:rPr sz="2400" b="0">
                    <a:solidFill>
                      <a:srgbClr val="111827"/>
                    </a:solidFill>
                    <a:latin typeface="Arial"/>
                  </a:rPr>
                  <a:t>; the same answer, option (D).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at </a:t>
                </a:r>
                <a:r>
                  <a:rPr lang="en-IN" sz="2400">
                    <a:solidFill>
                      <a:srgbClr val="111827"/>
                    </a:solidFill>
                    <a:latin typeface="Cambria Math" panose="02040503050406030204" pitchFamily="18" charset="0"/>
                  </a:rPr>
                  <a:t>$\theta=0.3$</a:t>
                </a:r>
                <a:r>
                  <a:rPr sz="2400" b="0">
                    <a:solidFill>
                      <a:srgbClr val="111827"/>
                    </a:solidFill>
                    <a:latin typeface="Arial"/>
                  </a:rPr>
                  <a:t> rad: 300 terms of the series sum to </a:t>
                </a:r>
                <a:r>
                  <a:rPr lang="en-IN" sz="2400">
                    <a:solidFill>
                      <a:srgbClr val="111827"/>
                    </a:solidFill>
                    <a:latin typeface="Cambria Math" panose="02040503050406030204" pitchFamily="18" charset="0"/>
                  </a:rPr>
                  <a:t>$23.1615$</a:t>
                </a:r>
                <a:r>
                  <a:rPr sz="2400" b="0">
                    <a:solidFill>
                      <a:srgbClr val="111827"/>
                    </a:solidFill>
                    <a:latin typeface="Arial"/>
                  </a:rPr>
                  <a:t> and option (D) gives </a:t>
                </a:r>
                <a:r>
                  <a:rPr lang="en-IN" sz="2400">
                    <a:solidFill>
                      <a:srgbClr val="111827"/>
                    </a:solidFill>
                    <a:latin typeface="Cambria Math" panose="02040503050406030204" pitchFamily="18" charset="0"/>
                  </a:rPr>
                  <a:t>$23.1615$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θ</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θ</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$\frac{1}{1-\cos\theta}+\frac{1}{1+\sin\theta}$</a:t>
                </a:r>
                <a:endParaRPr sz="2800">
                  <a:solidFill>
                    <a:srgbClr val="15803D"/>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𝑛</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hence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num>
                          <m:den>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𝑛</m:t>
                                </m:r>
                              </m:sup>
                            </m:sSup>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when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with trigonometric coefficients is often a product of two linear factors: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Look for the pattern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ordering condition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 decides which root goes to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cosec</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series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converges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$\sum_{n\ge0}r^n=\frac{1}{1-r}$</a:t>
                </a:r>
                <a:r>
                  <a:rPr sz="2400" b="0">
                    <a:solidFill>
                      <a:srgbClr val="111827"/>
                    </a:solidFill>
                    <a:latin typeface="Arial"/>
                  </a:rPr>
                  <a:t> for </a:t>
                </a:r>
                <a:r>
                  <a:rPr lang="en-IN" sz="2400">
                    <a:solidFill>
                      <a:srgbClr val="111827"/>
                    </a:solidFill>
                    <a:latin typeface="Cambria Math" panose="02040503050406030204" pitchFamily="18" charset="0"/>
                  </a:rPr>
                  <a:t>$|r|&lt;1$</a:t>
                </a:r>
                <a:r>
                  <a:rPr sz="2400" b="0">
                    <a:solidFill>
                      <a:srgbClr val="111827"/>
                    </a:solidFill>
                    <a:latin typeface="Arial"/>
                  </a:rPr>
                  <a:t>; hence </a:t>
                </a:r>
                <a:r>
                  <a:rPr lang="en-IN" sz="2400">
                    <a:solidFill>
                      <a:srgbClr val="111827"/>
                    </a:solidFill>
                    <a:latin typeface="Cambria Math" panose="02040503050406030204" pitchFamily="18" charset="0"/>
                  </a:rPr>
                  <a:t>$\sum_{n\ge0}\frac{(-1)^n}{\beta^n}=\frac{1}{1+1/\beta}=\frac{\beta}{\beta+1}$</a:t>
                </a:r>
                <a:r>
                  <a:rPr sz="2400" b="0">
                    <a:solidFill>
                      <a:srgbClr val="111827"/>
                    </a:solidFill>
                    <a:latin typeface="Arial"/>
                  </a:rPr>
                  <a:t> when </a:t>
                </a:r>
                <a:r>
                  <a:rPr lang="en-IN" sz="2400">
                    <a:solidFill>
                      <a:srgbClr val="111827"/>
                    </a:solidFill>
                    <a:latin typeface="Cambria Math" panose="02040503050406030204" pitchFamily="18" charset="0"/>
                  </a:rPr>
                  <a:t>$|\beta|&gt;1$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with trigonometric coefficients is often a product of two linear factors: </a:t>
                </a:r>
                <a:r>
                  <a:rPr lang="en-IN" sz="2400">
                    <a:solidFill>
                      <a:srgbClr val="111827"/>
                    </a:solidFill>
                    <a:latin typeface="Cambria Math" panose="02040503050406030204" pitchFamily="18" charset="0"/>
                  </a:rPr>
                  <a:t>$\sin\theta\,x^2-(1+\sin\theta\cos\theta)x+\cos\theta=(x-\cos\theta)(x\sin\theta-1)$</a:t>
                </a:r>
                <a:r>
                  <a:rPr sz="2400" b="0">
                    <a:solidFill>
                      <a:srgbClr val="111827"/>
                    </a:solidFill>
                    <a:latin typeface="Arial"/>
                  </a:rPr>
                  <a:t>. Look for the pattern </a:t>
                </a:r>
                <a:r>
                  <a:rPr lang="en-IN" sz="2400">
                    <a:solidFill>
                      <a:srgbClr val="111827"/>
                    </a:solidFill>
                    <a:latin typeface="Cambria Math" panose="02040503050406030204" pitchFamily="18" charset="0"/>
                  </a:rPr>
                  <a:t>$ax^2-(ab+1)x+b=(x-b)(ax-1)$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ordering condition </a:t>
                </a:r>
                <a:r>
                  <a:rPr lang="en-IN" sz="2400">
                    <a:solidFill>
                      <a:srgbClr val="111827"/>
                    </a:solidFill>
                    <a:latin typeface="Cambria Math" panose="02040503050406030204" pitchFamily="18" charset="0"/>
                  </a:rPr>
                  <a:t>$\alpha&lt;\beta$</a:t>
                </a:r>
                <a:r>
                  <a:rPr sz="2400" b="0">
                    <a:solidFill>
                      <a:srgbClr val="111827"/>
                    </a:solidFill>
                    <a:latin typeface="Arial"/>
                  </a:rPr>
                  <a:t> decides which root goes to </a:t>
                </a:r>
                <a:r>
                  <a:rPr lang="en-IN" sz="2400">
                    <a:solidFill>
                      <a:srgbClr val="111827"/>
                    </a:solidFill>
                    <a:latin typeface="Cambria Math" panose="02040503050406030204" pitchFamily="18" charset="0"/>
                  </a:rPr>
                  <a:t>$\alpha$</a:t>
                </a:r>
                <a:r>
                  <a:rPr sz="2400" b="0">
                    <a:solidFill>
                      <a:srgbClr val="111827"/>
                    </a:solidFill>
                    <a:latin typeface="Arial"/>
                  </a:rPr>
                  <a:t>; on </a:t>
                </a:r>
                <a:r>
                  <a:rPr lang="en-IN" sz="2400">
                    <a:solidFill>
                      <a:srgbClr val="111827"/>
                    </a:solidFill>
                    <a:latin typeface="Cambria Math" panose="02040503050406030204" pitchFamily="18" charset="0"/>
                  </a:rPr>
                  <a:t>$(0,45^\circ)$</a:t>
                </a:r>
                <a:r>
                  <a:rPr sz="2400" b="0">
                    <a:solidFill>
                      <a:srgbClr val="111827"/>
                    </a:solidFill>
                    <a:latin typeface="Arial"/>
                  </a:rPr>
                  <a:t>, </a:t>
                </a:r>
                <a:r>
                  <a:rPr lang="en-IN" sz="2400">
                    <a:solidFill>
                      <a:srgbClr val="111827"/>
                    </a:solidFill>
                    <a:latin typeface="Cambria Math" panose="02040503050406030204" pitchFamily="18" charset="0"/>
                  </a:rPr>
                  <a:t>$\cos\theta&lt;1&lt;\operatorname{cosec}\theta$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series </a:t>
                </a:r>
                <a:r>
                  <a:rPr lang="en-IN" sz="2400">
                    <a:solidFill>
                      <a:srgbClr val="111827"/>
                    </a:solidFill>
                    <a:latin typeface="Cambria Math" panose="02040503050406030204" pitchFamily="18" charset="0"/>
                  </a:rPr>
                  <a:t>$\sum(p^n+q^n)$</a:t>
                </a:r>
                <a:r>
                  <a:rPr sz="2400" b="0">
                    <a:solidFill>
                      <a:srgbClr val="111827"/>
                    </a:solidFill>
                    <a:latin typeface="Arial"/>
                  </a:rPr>
                  <a:t> converges iff </a:t>
                </a:r>
                <a:r>
                  <a:rPr lang="en-IN" sz="2400">
                    <a:solidFill>
                      <a:srgbClr val="111827"/>
                    </a:solidFill>
                    <a:latin typeface="Cambria Math" panose="02040503050406030204" pitchFamily="18" charset="0"/>
                  </a:rPr>
                  <a:t>$|p|&lt;1$</a:t>
                </a:r>
                <a:r>
                  <a:rPr sz="2400" b="0">
                    <a:solidFill>
                      <a:srgbClr val="111827"/>
                    </a:solidFill>
                    <a:latin typeface="Arial"/>
                  </a:rPr>
                  <a:t> and </a:t>
                </a:r>
                <a:r>
                  <a:rPr lang="en-IN" sz="2400">
                    <a:solidFill>
                      <a:srgbClr val="111827"/>
                    </a:solidFill>
                    <a:latin typeface="Cambria Math" panose="02040503050406030204" pitchFamily="18" charset="0"/>
                  </a:rPr>
                  <a:t>$|q|&lt;1$</a:t>
                </a:r>
                <a:r>
                  <a:rPr sz="2400" b="0">
                    <a:solidFill>
                      <a:srgbClr val="111827"/>
                    </a:solidFill>
                    <a:latin typeface="Arial"/>
                  </a:rPr>
                  <a:t>; here </a:t>
                </a:r>
                <a:r>
                  <a:rPr lang="en-IN" sz="2400">
                    <a:solidFill>
                      <a:srgbClr val="111827"/>
                    </a:solidFill>
                    <a:latin typeface="Cambria Math" panose="02040503050406030204" pitchFamily="18" charset="0"/>
                  </a:rPr>
                  <a:t>$|{\cos\theta}|&lt;1$</a:t>
                </a:r>
                <a:r>
                  <a:rPr sz="2400" b="0">
                    <a:solidFill>
                      <a:srgbClr val="111827"/>
                    </a:solidFill>
                    <a:latin typeface="Arial"/>
                  </a:rPr>
                  <a:t> and </a:t>
                </a:r>
                <a:r>
                  <a:rPr lang="en-IN" sz="2400">
                    <a:solidFill>
                      <a:srgbClr val="111827"/>
                    </a:solidFill>
                    <a:latin typeface="Cambria Math" panose="02040503050406030204" pitchFamily="18" charset="0"/>
                  </a:rPr>
                  <a:t>$|\sin\theta|&lt;1$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be positive real numbers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positive integers. The maximum value of the expression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$x,y$</a:t>
                </a:r>
                <a:r>
                  <a:rPr sz="2400" b="0">
                    <a:solidFill>
                      <a:srgbClr val="111827"/>
                    </a:solidFill>
                    <a:latin typeface="Arial"/>
                  </a:rPr>
                  <a:t> be positive real numbers and </a:t>
                </a:r>
                <a:r>
                  <a:rPr lang="en-IN" sz="2400">
                    <a:solidFill>
                      <a:srgbClr val="111827"/>
                    </a:solidFill>
                    <a:latin typeface="Cambria Math" panose="02040503050406030204" pitchFamily="18" charset="0"/>
                  </a:rPr>
                  <a:t>$m,n$</a:t>
                </a:r>
                <a:r>
                  <a:rPr sz="2400" b="0">
                    <a:solidFill>
                      <a:srgbClr val="111827"/>
                    </a:solidFill>
                    <a:latin typeface="Arial"/>
                  </a:rPr>
                  <a:t> positive integers. The maximum value of the expression </a:t>
                </a:r>
                <a:r>
                  <a:rPr lang="en-IN" sz="2400">
                    <a:solidFill>
                      <a:srgbClr val="111827"/>
                    </a:solidFill>
                    <a:latin typeface="Cambria Math" panose="02040503050406030204" pitchFamily="18" charset="0"/>
                  </a:rPr>
                  <a:t>$\frac{x^my^n}{(1+x^{2m})(1+y^{2n})}$</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$\frac12$</a:t>
                </a:r>
                <a:r>
                  <a:rPr sz="2400" b="0">
                    <a:solidFill>
                      <a:srgbClr val="111827"/>
                    </a:solidFill>
                    <a:latin typeface="Arial"/>
                  </a:rPr>
                  <a:t>   (B) </a:t>
                </a:r>
                <a:r>
                  <a:rPr lang="en-IN" sz="2400">
                    <a:solidFill>
                      <a:srgbClr val="111827"/>
                    </a:solidFill>
                    <a:latin typeface="Cambria Math" panose="02040503050406030204" pitchFamily="18" charset="0"/>
                  </a:rPr>
                  <a:t>$1$</a:t>
                </a:r>
                <a:r>
                  <a:rPr sz="2400" b="0">
                    <a:solidFill>
                      <a:srgbClr val="111827"/>
                    </a:solidFill>
                    <a:latin typeface="Arial"/>
                  </a:rPr>
                  <a:t>   (C) </a:t>
                </a:r>
                <a:r>
                  <a:rPr lang="en-IN" sz="2400">
                    <a:solidFill>
                      <a:srgbClr val="111827"/>
                    </a:solidFill>
                    <a:latin typeface="Cambria Math" panose="02040503050406030204" pitchFamily="18" charset="0"/>
                  </a:rPr>
                  <a:t>$\frac{m+n}{6mn}$</a:t>
                </a:r>
                <a:r>
                  <a:rPr sz="2400" b="0">
                    <a:solidFill>
                      <a:srgbClr val="111827"/>
                    </a:solidFill>
                    <a:latin typeface="Arial"/>
                  </a:rPr>
                  <a:t>   (D) </a:t>
                </a:r>
                <a:r>
                  <a:rPr lang="en-IN" sz="2400">
                    <a:solidFill>
                      <a:srgbClr val="111827"/>
                    </a:solidFill>
                    <a:latin typeface="Cambria Math" panose="02040503050406030204" pitchFamily="18" charset="0"/>
                  </a:rPr>
                  <a:t>$\frac14$</a:t>
                </a:r>
                <a:endParaRPr sz="2400">
                  <a:solidFill>
                    <a:srgbClr val="111827"/>
                  </a:solidFill>
                </a:endParaRPr>
              </a:p>
            </p:txBody>
          </p:sp>
        </mc:Fallback>
      </mc:AlternateContent>
      <p:sp>
        <p:nvSpPr>
          <p:cNvPr id="5" name="Rectangle 4"/>
          <p:cNvSpPr/>
          <p:nvPr/>
        </p:nvSpPr>
        <p:spPr>
          <a:xfrm>
            <a:off x="731520" y="37998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AM-GM inequality (greatest value of an expression)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Divide each factor by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𝑚</m:t>
                        </m:r>
                      </m:sup>
                    </m:sSup>
                  </m:oMath>
                </a14:m>
                <a:r>
                  <a:rPr sz="2400" b="0">
                    <a:solidFill>
                      <a:srgbClr val="78350F"/>
                    </a:solidFill>
                    <a:latin typeface="Arial"/>
                  </a:rPr>
                  <a:t> (resp.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to get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in both denominators.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Divide each factor by </a:t>
                </a:r>
                <a:r>
                  <a:rPr lang="en-IN" sz="2400">
                    <a:solidFill>
                      <a:srgbClr val="78350F"/>
                    </a:solidFill>
                    <a:latin typeface="Cambria Math" panose="02040503050406030204" pitchFamily="18" charset="0"/>
                  </a:rPr>
                  <a:t>$x^m$</a:t>
                </a:r>
                <a:r>
                  <a:rPr sz="2400" b="0">
                    <a:solidFill>
                      <a:srgbClr val="78350F"/>
                    </a:solidFill>
                    <a:latin typeface="Arial"/>
                  </a:rPr>
                  <a:t> (resp. </a:t>
                </a:r>
                <a:r>
                  <a:rPr lang="en-IN" sz="2400">
                    <a:solidFill>
                      <a:srgbClr val="78350F"/>
                    </a:solidFill>
                    <a:latin typeface="Cambria Math" panose="02040503050406030204" pitchFamily="18" charset="0"/>
                  </a:rPr>
                  <a:t>$y^n$</a:t>
                </a:r>
                <a:r>
                  <a:rPr sz="2400" b="0">
                    <a:solidFill>
                      <a:srgbClr val="78350F"/>
                    </a:solidFill>
                    <a:latin typeface="Arial"/>
                  </a:rPr>
                  <a:t>) to get </a:t>
                </a:r>
                <a:r>
                  <a:rPr lang="en-IN" sz="2400">
                    <a:solidFill>
                      <a:srgbClr val="78350F"/>
                    </a:solidFill>
                    <a:latin typeface="Cambria Math" panose="02040503050406030204" pitchFamily="18" charset="0"/>
                  </a:rPr>
                  <a:t>$t+\frac1t\ge2$</a:t>
                </a:r>
                <a:r>
                  <a:rPr sz="2400" b="0">
                    <a:solidFill>
                      <a:srgbClr val="78350F"/>
                    </a:solidFill>
                    <a:latin typeface="Arial"/>
                  </a:rPr>
                  <a:t> in both denominators.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expression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e>
                        </m: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(AM-GM).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r>
                  <a:rPr lang="en-IN" sz="2400">
                    <a:solidFill>
                      <a:srgbClr val="111827"/>
                    </a:solidFill>
                    <a:latin typeface="Cambria Math" panose="02040503050406030204" pitchFamily="18" charset="0"/>
                  </a:rPr>
                  <a:t>$x^my^n$</a:t>
                </a:r>
                <a:r>
                  <a:rPr sz="2400" b="0">
                    <a:solidFill>
                      <a:srgbClr val="111827"/>
                    </a:solidFill>
                    <a:latin typeface="Arial"/>
                  </a:rPr>
                  <a:t>: expression </a:t>
                </a:r>
                <a:r>
                  <a:rPr lang="en-IN" sz="2400">
                    <a:solidFill>
                      <a:srgbClr val="111827"/>
                    </a:solidFill>
                    <a:latin typeface="Cambria Math" panose="02040503050406030204" pitchFamily="18" charset="0"/>
                  </a:rPr>
                  <a:t>$=\frac{1}{\left(\frac1{x^m}+x^m\right)}\times\frac{1}{\left(\frac1{y^n}+y^n\right)}$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$x^m+\frac1{x^m}\ge2$</a:t>
                </a:r>
                <a:r>
                  <a:rPr sz="2400" b="0">
                    <a:solidFill>
                      <a:srgbClr val="111827"/>
                    </a:solidFill>
                    <a:latin typeface="Arial"/>
                  </a:rPr>
                  <a:t> (AM-GM).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$\frac{1}{x^m+\frac1{x^m}}\le\frac12$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factors are positive, so their product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holds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maximum value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$\frac{1}{y^n+\frac1{y^n}}\le\frac12$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factors are positive, so their product is </a:t>
                </a:r>
                <a:r>
                  <a:rPr lang="en-IN" sz="2400">
                    <a:solidFill>
                      <a:srgbClr val="111827"/>
                    </a:solidFill>
                    <a:latin typeface="Cambria Math" panose="02040503050406030204" pitchFamily="18" charset="0"/>
                  </a:rPr>
                  <a:t>$\le\frac12\cdot\frac12=\frac14$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holds at </a:t>
                </a:r>
                <a:r>
                  <a:rPr lang="en-IN" sz="2400">
                    <a:solidFill>
                      <a:srgbClr val="111827"/>
                    </a:solidFill>
                    <a:latin typeface="Cambria Math" panose="02040503050406030204" pitchFamily="18" charset="0"/>
                  </a:rPr>
                  <a:t>$x=y=1$</a:t>
                </a:r>
                <a:r>
                  <a:rPr sz="2400" b="0">
                    <a:solidFill>
                      <a:srgbClr val="111827"/>
                    </a:solidFill>
                    <a:latin typeface="Arial"/>
                  </a:rPr>
                  <a:t>, so the maximum value is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$\frac14$</a:t>
                </a:r>
                <a:endParaRPr sz="2800">
                  <a:solidFill>
                    <a:srgbClr val="15803D"/>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𝑚</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𝑢</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𝑣</m:t>
                    </m:r>
                  </m:oMath>
                </a14:m>
                <a:r>
                  <a:rPr sz="2400" b="0">
                    <a:solidFill>
                      <a:srgbClr val="78350F"/>
                    </a:solidFill>
                    <a:latin typeface="Arial"/>
                  </a:rPr>
                  <a:t>: then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𝑚</m:t>
                            </m:r>
                          </m:sup>
                        </m:sSup>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𝑚</m:t>
                            </m:r>
                          </m:sup>
                        </m:sSup>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𝑢</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$x^m=\tan u$</a:t>
                </a:r>
                <a:r>
                  <a:rPr sz="2400" b="0">
                    <a:solidFill>
                      <a:srgbClr val="78350F"/>
                    </a:solidFill>
                    <a:latin typeface="Arial"/>
                  </a:rPr>
                  <a:t>, </a:t>
                </a:r>
                <a:r>
                  <a:rPr lang="en-IN" sz="2400">
                    <a:solidFill>
                      <a:srgbClr val="78350F"/>
                    </a:solidFill>
                    <a:latin typeface="Cambria Math" panose="02040503050406030204" pitchFamily="18" charset="0"/>
                  </a:rPr>
                  <a:t>$y^n=\tan v$</a:t>
                </a:r>
                <a:r>
                  <a:rPr sz="2400" b="0">
                    <a:solidFill>
                      <a:srgbClr val="78350F"/>
                    </a:solidFill>
                    <a:latin typeface="Arial"/>
                  </a:rPr>
                  <a:t>: then </a:t>
                </a:r>
                <a:r>
                  <a:rPr lang="en-IN" sz="2400">
                    <a:solidFill>
                      <a:srgbClr val="78350F"/>
                    </a:solidFill>
                    <a:latin typeface="Cambria Math" panose="02040503050406030204" pitchFamily="18" charset="0"/>
                  </a:rPr>
                  <a:t>$\frac{x^m}{1+x^{2m}}=\sin u\cos u=\frac12\sin2u$</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𝑢</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𝑣</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𝑢</m:t>
                        </m:r>
                      </m:num>
                      <m:den>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Likewise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$x^m=\tan u$</a:t>
                </a:r>
                <a:r>
                  <a:rPr sz="2400" b="0">
                    <a:solidFill>
                      <a:srgbClr val="111827"/>
                    </a:solidFill>
                    <a:latin typeface="Arial"/>
                  </a:rPr>
                  <a:t> and </a:t>
                </a:r>
                <a:r>
                  <a:rPr lang="en-IN" sz="2400">
                    <a:solidFill>
                      <a:srgbClr val="111827"/>
                    </a:solidFill>
                    <a:latin typeface="Cambria Math" panose="02040503050406030204" pitchFamily="18" charset="0"/>
                  </a:rPr>
                  <a:t>$y^n=\tan v$</a:t>
                </a:r>
                <a:r>
                  <a:rPr sz="2400" b="0">
                    <a:solidFill>
                      <a:srgbClr val="111827"/>
                    </a:solidFill>
                    <a:latin typeface="Arial"/>
                  </a:rPr>
                  <a:t> with </a:t>
                </a:r>
                <a:r>
                  <a:rPr lang="en-IN" sz="2400">
                    <a:solidFill>
                      <a:srgbClr val="111827"/>
                    </a:solidFill>
                    <a:latin typeface="Cambria Math" panose="02040503050406030204" pitchFamily="18" charset="0"/>
                  </a:rPr>
                  <a:t>$u,v\in\left(0,\frac\pi2\right)$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$\frac{x^m}{1+x^{2m}}=\frac{\tan u}{\sec^2u}=\sin u\cos u=\frac12\sin2u$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Likewise </a:t>
                </a:r>
                <a:r>
                  <a:rPr lang="en-IN" sz="2400">
                    <a:solidFill>
                      <a:srgbClr val="111827"/>
                    </a:solidFill>
                    <a:latin typeface="Cambria Math" panose="02040503050406030204" pitchFamily="18" charset="0"/>
                  </a:rPr>
                  <a:t>$\frac{y^n}{1+y^{2n}}=\frac12\sin2v$</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expression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when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maximum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expression equals </a:t>
                </a:r>
                <a:r>
                  <a:rPr lang="en-IN" sz="2400">
                    <a:solidFill>
                      <a:srgbClr val="111827"/>
                    </a:solidFill>
                    <a:latin typeface="Cambria Math" panose="02040503050406030204" pitchFamily="18" charset="0"/>
                  </a:rPr>
                  <a:t>$\frac14\sin2u\sin2v\le\frac14$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when </a:t>
                </a:r>
                <a:r>
                  <a:rPr lang="en-IN" sz="2400">
                    <a:solidFill>
                      <a:srgbClr val="111827"/>
                    </a:solidFill>
                    <a:latin typeface="Cambria Math" panose="02040503050406030204" pitchFamily="18" charset="0"/>
                  </a:rPr>
                  <a:t>$u=v=\frac\pi4$</a:t>
                </a:r>
                <a:r>
                  <a:rPr sz="2400" b="0">
                    <a:solidFill>
                      <a:srgbClr val="111827"/>
                    </a:solidFill>
                    <a:latin typeface="Arial"/>
                  </a:rPr>
                  <a:t>, i.e. </a:t>
                </a:r>
                <a:r>
                  <a:rPr lang="en-IN" sz="2400">
                    <a:solidFill>
                      <a:srgbClr val="111827"/>
                    </a:solidFill>
                    <a:latin typeface="Cambria Math" panose="02040503050406030204" pitchFamily="18" charset="0"/>
                  </a:rPr>
                  <a:t>$x=y=1$</a:t>
                </a:r>
                <a:r>
                  <a:rPr sz="2400" b="0">
                    <a:solidFill>
                      <a:srgbClr val="111827"/>
                    </a:solidFill>
                    <a:latin typeface="Arial"/>
                  </a:rPr>
                  <a:t>; the maximum is </a:t>
                </a:r>
                <a:r>
                  <a:rPr lang="en-IN" sz="2400">
                    <a:solidFill>
                      <a:srgbClr val="111827"/>
                    </a:solidFill>
                    <a:latin typeface="Cambria Math" panose="02040503050406030204" pitchFamily="18" charset="0"/>
                  </a:rPr>
                  <a:t>$\frac14$</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$\frac14$</a:t>
                </a:r>
                <a:endParaRPr sz="2800">
                  <a:solidFill>
                    <a:srgbClr val="15803D"/>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equality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substitution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𝑢</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 is independent of the exponents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because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is just another positive number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bounds of two positive factors can be multiplied; equality needs both to attain their bounds simultaneously (here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$t&gt;0$</a:t>
                </a:r>
                <a:r>
                  <a:rPr sz="2400" b="0">
                    <a:solidFill>
                      <a:srgbClr val="111827"/>
                    </a:solidFill>
                    <a:latin typeface="Arial"/>
                  </a:rPr>
                  <a:t>: </a:t>
                </a:r>
                <a:r>
                  <a:rPr lang="en-IN" sz="2400">
                    <a:solidFill>
                      <a:srgbClr val="111827"/>
                    </a:solidFill>
                    <a:latin typeface="Cambria Math" panose="02040503050406030204" pitchFamily="18" charset="0"/>
                  </a:rPr>
                  <a:t>$\frac{t}{1+t^2}\le\frac12$</a:t>
                </a:r>
                <a:r>
                  <a:rPr sz="2400" b="0">
                    <a:solidFill>
                      <a:srgbClr val="111827"/>
                    </a:solidFill>
                    <a:latin typeface="Arial"/>
                  </a:rPr>
                  <a:t> with equality at </a:t>
                </a:r>
                <a:r>
                  <a:rPr lang="en-IN" sz="2400">
                    <a:solidFill>
                      <a:srgbClr val="111827"/>
                    </a:solidFill>
                    <a:latin typeface="Cambria Math" panose="02040503050406030204" pitchFamily="18" charset="0"/>
                  </a:rPr>
                  <a:t>$t=1$</a:t>
                </a:r>
                <a:r>
                  <a:rPr sz="2400" b="0">
                    <a:solidFill>
                      <a:srgbClr val="111827"/>
                    </a:solidFill>
                    <a:latin typeface="Arial"/>
                  </a:rPr>
                  <a:t> (since </a:t>
                </a:r>
                <a:r>
                  <a:rPr lang="en-IN" sz="2400">
                    <a:solidFill>
                      <a:srgbClr val="111827"/>
                    </a:solidFill>
                    <a:latin typeface="Cambria Math" panose="02040503050406030204" pitchFamily="18" charset="0"/>
                  </a:rPr>
                  <a:t>$t+\frac1t\ge2$</a:t>
                </a:r>
                <a:r>
                  <a:rPr sz="2400" b="0">
                    <a:solidFill>
                      <a:srgbClr val="111827"/>
                    </a:solidFill>
                    <a:latin typeface="Arial"/>
                  </a:rPr>
                  <a:t>); the substitution </a:t>
                </a:r>
                <a:r>
                  <a:rPr lang="en-IN" sz="2400">
                    <a:solidFill>
                      <a:srgbClr val="111827"/>
                    </a:solidFill>
                    <a:latin typeface="Cambria Math" panose="02040503050406030204" pitchFamily="18" charset="0"/>
                  </a:rPr>
                  <a:t>$t=\tan u$</a:t>
                </a:r>
                <a:r>
                  <a:rPr sz="2400" b="0">
                    <a:solidFill>
                      <a:srgbClr val="111827"/>
                    </a:solidFill>
                    <a:latin typeface="Arial"/>
                  </a:rPr>
                  <a:t> gives </a:t>
                </a:r>
                <a:r>
                  <a:rPr lang="en-IN" sz="2400">
                    <a:solidFill>
                      <a:srgbClr val="111827"/>
                    </a:solidFill>
                    <a:latin typeface="Cambria Math" panose="02040503050406030204" pitchFamily="18" charset="0"/>
                  </a:rPr>
                  <a:t>$\frac12\sin2u$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 is independent of the exponents </a:t>
                </a:r>
                <a:r>
                  <a:rPr lang="en-IN" sz="2400">
                    <a:solidFill>
                      <a:srgbClr val="111827"/>
                    </a:solidFill>
                    <a:latin typeface="Cambria Math" panose="02040503050406030204" pitchFamily="18" charset="0"/>
                  </a:rPr>
                  <a:t>$m,n$</a:t>
                </a:r>
                <a:r>
                  <a:rPr sz="2400" b="0">
                    <a:solidFill>
                      <a:srgbClr val="111827"/>
                    </a:solidFill>
                    <a:latin typeface="Arial"/>
                  </a:rPr>
                  <a:t> because </a:t>
                </a:r>
                <a:r>
                  <a:rPr lang="en-IN" sz="2400">
                    <a:solidFill>
                      <a:srgbClr val="111827"/>
                    </a:solidFill>
                    <a:latin typeface="Cambria Math" panose="02040503050406030204" pitchFamily="18" charset="0"/>
                  </a:rPr>
                  <a:t>$x^m$</a:t>
                </a:r>
                <a:r>
                  <a:rPr sz="2400" b="0">
                    <a:solidFill>
                      <a:srgbClr val="111827"/>
                    </a:solidFill>
                    <a:latin typeface="Arial"/>
                  </a:rPr>
                  <a:t> is just another positive number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bounds of two positive factors can be multiplied; equality needs both to attain their bounds simultaneously (here at </a:t>
                </a:r>
                <a:r>
                  <a:rPr lang="en-IN" sz="2400">
                    <a:solidFill>
                      <a:srgbClr val="111827"/>
                    </a:solidFill>
                    <a:latin typeface="Cambria Math" panose="02040503050406030204" pitchFamily="18" charset="0"/>
                  </a:rPr>
                  <a:t>$x=y=1$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sum of the first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terms of the series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14:m>
                  <m:oMath xmlns:m="http://schemas.openxmlformats.org/officeDocument/2006/math">
                    <m:r>
                      <a:rPr lang="en-IN" sz="2400" i="1">
                        <a:solidFill>
                          <a:srgbClr val="111827"/>
                        </a:solidFill>
                        <a:latin typeface="Cambria Math" panose="02040503050406030204" pitchFamily="18" charset="0"/>
                      </a:rPr>
                      <m:t>225</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54</m:t>
                    </m:r>
                  </m:oMath>
                </a14:m>
                <a:endParaRPr sz="2400">
                  <a:solidFill>
                    <a:srgbClr val="111827"/>
                  </a:solidFill>
                </a:endParaRPr>
              </a:p>
            </p:txBody>
          </p:sp>
        </mc:Choice>
        <mc:Fallback>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sum of the first </a:t>
                </a:r>
                <a:r>
                  <a:rPr lang="en-IN" sz="2400">
                    <a:solidFill>
                      <a:srgbClr val="111827"/>
                    </a:solidFill>
                    <a:latin typeface="Cambria Math" panose="02040503050406030204" pitchFamily="18" charset="0"/>
                  </a:rPr>
                  <a:t>$15$</a:t>
                </a:r>
                <a:r>
                  <a:rPr sz="2400" b="0">
                    <a:solidFill>
                      <a:srgbClr val="111827"/>
                    </a:solidFill>
                    <a:latin typeface="Arial"/>
                  </a:rPr>
                  <a:t> terms of the series </a:t>
                </a:r>
                <a:r>
                  <a:rPr lang="en-IN" sz="2400">
                    <a:solidFill>
                      <a:srgbClr val="111827"/>
                    </a:solidFill>
                    <a:latin typeface="Cambria Math" panose="02040503050406030204" pitchFamily="18" charset="0"/>
                  </a:rPr>
                  <a:t>$\left(\frac34\right)^3+\left(1\frac12\right)^3+\left(2\frac14\right)^3+3^3+\left(3\frac34\right)^3+\ldots$</a:t>
                </a:r>
                <a:r>
                  <a:rPr sz="2400" b="0">
                    <a:solidFill>
                      <a:srgbClr val="111827"/>
                    </a:solidFill>
                    <a:latin typeface="Arial"/>
                  </a:rPr>
                  <a:t> is equal to </a:t>
                </a:r>
                <a:r>
                  <a:rPr lang="en-IN" sz="2400">
                    <a:solidFill>
                      <a:srgbClr val="111827"/>
                    </a:solidFill>
                    <a:latin typeface="Cambria Math" panose="02040503050406030204" pitchFamily="18" charset="0"/>
                  </a:rPr>
                  <a:t>$225k$</a:t>
                </a:r>
                <a:r>
                  <a:rPr sz="2400" b="0">
                    <a:solidFill>
                      <a:srgbClr val="111827"/>
                    </a:solidFill>
                    <a:latin typeface="Arial"/>
                  </a:rPr>
                  <a:t>, then </a:t>
                </a:r>
                <a:r>
                  <a:rPr lang="en-IN" sz="2400">
                    <a:solidFill>
                      <a:srgbClr val="111827"/>
                    </a:solidFill>
                    <a:latin typeface="Cambria Math" panose="02040503050406030204" pitchFamily="18" charset="0"/>
                  </a:rPr>
                  <a:t>$k$</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a:t>
                </a:r>
                <a:r>
                  <a:rPr sz="2400" b="0">
                    <a:solidFill>
                      <a:srgbClr val="111827"/>
                    </a:solidFill>
                    <a:latin typeface="Arial"/>
                  </a:rPr>
                  <a:t>   (B) </a:t>
                </a:r>
                <a:r>
                  <a:rPr lang="en-IN" sz="2400">
                    <a:solidFill>
                      <a:srgbClr val="111827"/>
                    </a:solidFill>
                    <a:latin typeface="Cambria Math" panose="02040503050406030204" pitchFamily="18" charset="0"/>
                  </a:rPr>
                  <a:t>$27$</a:t>
                </a:r>
                <a:r>
                  <a:rPr sz="2400" b="0">
                    <a:solidFill>
                      <a:srgbClr val="111827"/>
                    </a:solidFill>
                    <a:latin typeface="Arial"/>
                  </a:rPr>
                  <a:t>   (C) </a:t>
                </a:r>
                <a:r>
                  <a:rPr lang="en-IN" sz="2400">
                    <a:solidFill>
                      <a:srgbClr val="111827"/>
                    </a:solidFill>
                    <a:latin typeface="Cambria Math" panose="02040503050406030204" pitchFamily="18" charset="0"/>
                  </a:rPr>
                  <a:t>$108$</a:t>
                </a:r>
                <a:r>
                  <a:rPr sz="2400" b="0">
                    <a:solidFill>
                      <a:srgbClr val="111827"/>
                    </a:solidFill>
                    <a:latin typeface="Arial"/>
                  </a:rPr>
                  <a:t>   (D) </a:t>
                </a:r>
                <a:r>
                  <a:rPr lang="en-IN" sz="2400">
                    <a:solidFill>
                      <a:srgbClr val="111827"/>
                    </a:solidFill>
                    <a:latin typeface="Cambria Math" panose="02040503050406030204" pitchFamily="18" charset="0"/>
                  </a:rPr>
                  <a:t>$54$</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39115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cubes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439115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cubes of the first </a:t>
                </a:r>
                <a:r>
                  <a:rPr lang="en-IN" sz="2400">
                    <a:solidFill>
                      <a:srgbClr val="111827"/>
                    </a:solidFill>
                    <a:latin typeface="Cambria Math" panose="02040503050406030204" pitchFamily="18" charset="0"/>
                  </a:rPr>
                  <a:t>$n$</a:t>
                </a:r>
                <a:r>
                  <a:rPr sz="2400" b="0">
                    <a:solidFill>
                      <a:srgbClr val="111827"/>
                    </a:solidFill>
                    <a:latin typeface="Arial"/>
                  </a:rPr>
                  <a:t>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bases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15</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equal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so the sum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27</m:t>
                        </m:r>
                      </m:num>
                      <m:den>
                        <m:r>
                          <a:rPr lang="en-IN" sz="2400" i="1">
                            <a:solidFill>
                              <a:srgbClr val="78350F"/>
                            </a:solidFill>
                            <a:latin typeface="Cambria Math" panose="02040503050406030204" pitchFamily="18" charset="0"/>
                          </a:rPr>
                          <m:t>64</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bases </a:t>
                </a:r>
                <a:r>
                  <a:rPr lang="en-IN" sz="2400">
                    <a:solidFill>
                      <a:srgbClr val="78350F"/>
                    </a:solidFill>
                    <a:latin typeface="Cambria Math" panose="02040503050406030204" pitchFamily="18" charset="0"/>
                  </a:rPr>
                  <a:t>$\frac34,\frac64,\frac94,\frac{12}4,\frac{15}4,\ldots$</a:t>
                </a:r>
                <a:r>
                  <a:rPr sz="2400" b="0">
                    <a:solidFill>
                      <a:srgbClr val="78350F"/>
                    </a:solidFill>
                    <a:latin typeface="Arial"/>
                  </a:rPr>
                  <a:t> equal </a:t>
                </a:r>
                <a:r>
                  <a:rPr lang="en-IN" sz="2400">
                    <a:solidFill>
                      <a:srgbClr val="78350F"/>
                    </a:solidFill>
                    <a:latin typeface="Cambria Math" panose="02040503050406030204" pitchFamily="18" charset="0"/>
                  </a:rPr>
                  <a:t>$\frac{3r}{4}$</a:t>
                </a:r>
                <a:r>
                  <a:rPr sz="2400" b="0">
                    <a:solidFill>
                      <a:srgbClr val="78350F"/>
                    </a:solidFill>
                    <a:latin typeface="Arial"/>
                  </a:rPr>
                  <a:t>, so the sum is </a:t>
                </a:r>
                <a:r>
                  <a:rPr lang="en-IN" sz="2400">
                    <a:solidFill>
                      <a:srgbClr val="78350F"/>
                    </a:solidFill>
                    <a:latin typeface="Cambria Math" panose="02040503050406030204" pitchFamily="18" charset="0"/>
                  </a:rPr>
                  <a:t>$\frac{27}{64}\sum r^3$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are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the </a:t>
                </a:r>
                <a14:m>
                  <m:oMath xmlns:m="http://schemas.openxmlformats.org/officeDocument/2006/math">
                    <m:sSup>
                      <m:e>
                        <m:r>
                          <a:rPr lang="en-IN" sz="2400" i="1">
                            <a:solidFill>
                              <a:srgbClr val="111827"/>
                            </a:solidFill>
                            <a:latin typeface="Cambria Math" panose="02040503050406030204" pitchFamily="18" charset="0"/>
                          </a:rPr>
                          <m:t>𝑟</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64</m:t>
                        </m:r>
                      </m:den>
                    </m:f>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terms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64</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e>
                    </m:nary>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terms are </a:t>
                </a:r>
                <a:r>
                  <a:rPr lang="en-IN" sz="2400">
                    <a:solidFill>
                      <a:srgbClr val="111827"/>
                    </a:solidFill>
                    <a:latin typeface="Cambria Math" panose="02040503050406030204" pitchFamily="18" charset="0"/>
                  </a:rPr>
                  <a:t>$\left(\frac{3\cdot1}{4}\right)^3,\left(\frac{3\cdot2}{4}\right)^3,\left(\frac{3\cdot3}{4}\right)^3,\ldots$</a:t>
                </a:r>
                <a:r>
                  <a:rPr sz="2400" b="0">
                    <a:solidFill>
                      <a:srgbClr val="111827"/>
                    </a:solidFill>
                    <a:latin typeface="Arial"/>
                  </a:rPr>
                  <a:t>, i.e. the </a:t>
                </a:r>
                <a:r>
                  <a:rPr lang="en-IN" sz="2400">
                    <a:solidFill>
                      <a:srgbClr val="111827"/>
                    </a:solidFill>
                    <a:latin typeface="Cambria Math" panose="02040503050406030204" pitchFamily="18" charset="0"/>
                  </a:rPr>
                  <a:t>$r^{\text{th}}$</a:t>
                </a:r>
                <a:r>
                  <a:rPr sz="2400" b="0">
                    <a:solidFill>
                      <a:srgbClr val="111827"/>
                    </a:solidFill>
                    <a:latin typeface="Arial"/>
                  </a:rPr>
                  <a:t> term is </a:t>
                </a:r>
                <a:r>
                  <a:rPr lang="en-IN" sz="2400">
                    <a:solidFill>
                      <a:srgbClr val="111827"/>
                    </a:solidFill>
                    <a:latin typeface="Cambria Math" panose="02040503050406030204" pitchFamily="18" charset="0"/>
                  </a:rPr>
                  <a:t>$\left(\frac{3r}{4}\right)^3=\frac{27}{64}r^3$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t>
                </a:r>
                <a:r>
                  <a:rPr lang="en-IN" sz="2400">
                    <a:solidFill>
                      <a:srgbClr val="111827"/>
                    </a:solidFill>
                    <a:latin typeface="Cambria Math" panose="02040503050406030204" pitchFamily="18" charset="0"/>
                  </a:rPr>
                  <a:t>$15$</a:t>
                </a:r>
                <a:r>
                  <a:rPr sz="2400" b="0">
                    <a:solidFill>
                      <a:srgbClr val="111827"/>
                    </a:solidFill>
                    <a:latin typeface="Arial"/>
                  </a:rPr>
                  <a:t> terms </a:t>
                </a:r>
                <a:r>
                  <a:rPr lang="en-IN" sz="2400">
                    <a:solidFill>
                      <a:srgbClr val="111827"/>
                    </a:solidFill>
                    <a:latin typeface="Cambria Math" panose="02040503050406030204" pitchFamily="18" charset="0"/>
                  </a:rPr>
                  <a:t>$=\frac{27}{64}\sum_{r=1}^{15}r^3$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$\sum_{r=1}^{15}r^3=\left(\frac{15\cdot16}{2}\right)^2=120^2=14400=64\times225$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64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225</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$=\frac{27}{64}\times64\times225=27\times225$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$225k$</a:t>
                </a:r>
                <a:r>
                  <a:rPr sz="2400" b="0">
                    <a:solidFill>
                      <a:srgbClr val="111827"/>
                    </a:solidFill>
                    <a:latin typeface="Arial"/>
                  </a:rPr>
                  <a:t>: </a:t>
                </a:r>
                <a:r>
                  <a:rPr lang="en-IN" sz="2400">
                    <a:solidFill>
                      <a:srgbClr val="111827"/>
                    </a:solidFill>
                    <a:latin typeface="Cambria Math" panose="02040503050406030204" pitchFamily="18" charset="0"/>
                  </a:rPr>
                  <a:t>$k=27$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27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$27$</a:t>
                </a:r>
                <a:endParaRPr sz="2800">
                  <a:solidFill>
                    <a:srgbClr val="15803D"/>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Cancel the squares first: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120</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64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225</m:t>
                        </m:r>
                      </m:den>
                    </m:f>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120</m:t>
                                </m:r>
                              </m:num>
                              <m:den>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den>
                            </m:f>
                          </m:e>
                        </m:d>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only </a:t>
                </a:r>
                <a14:m>
                  <m:oMath xmlns:m="http://schemas.openxmlformats.org/officeDocument/2006/math">
                    <m:r>
                      <a:rPr lang="en-IN" sz="2400" i="1">
                        <a:solidFill>
                          <a:srgbClr val="78350F"/>
                        </a:solidFill>
                        <a:latin typeface="Cambria Math" panose="02040503050406030204" pitchFamily="18" charset="0"/>
                      </a:rPr>
                      <m:t>27</m:t>
                    </m:r>
                  </m:oMath>
                </a14:m>
                <a:r>
                  <a:rPr sz="2400" b="0">
                    <a:solidFill>
                      <a:srgbClr val="78350F"/>
                    </a:solidFill>
                    <a:latin typeface="Arial"/>
                  </a:rPr>
                  <a:t> survives.</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Cancel the squares first: </a:t>
                </a:r>
                <a:r>
                  <a:rPr lang="en-IN" sz="2400">
                    <a:solidFill>
                      <a:srgbClr val="78350F"/>
                    </a:solidFill>
                    <a:latin typeface="Cambria Math" panose="02040503050406030204" pitchFamily="18" charset="0"/>
                  </a:rPr>
                  <a:t>$\frac{120^2}{64\cdot225}=\left(\frac{120}{8\cdot15}\right)^2=1$</a:t>
                </a:r>
                <a:r>
                  <a:rPr sz="2400" b="0">
                    <a:solidFill>
                      <a:srgbClr val="78350F"/>
                    </a:solidFill>
                    <a:latin typeface="Arial"/>
                  </a:rPr>
                  <a:t>, so only </a:t>
                </a:r>
                <a:r>
                  <a:rPr lang="en-IN" sz="2400">
                    <a:solidFill>
                      <a:srgbClr val="78350F"/>
                    </a:solidFill>
                    <a:latin typeface="Cambria Math" panose="02040503050406030204" pitchFamily="18" charset="0"/>
                  </a:rPr>
                  <a:t>$27$</a:t>
                </a:r>
                <a:r>
                  <a:rPr sz="2400" b="0">
                    <a:solidFill>
                      <a:srgbClr val="78350F"/>
                    </a:solidFill>
                    <a:latin typeface="Arial"/>
                  </a:rPr>
                  <a:t> survives.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64</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we need this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so the bracket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$=\frac{27}{64}\cdot120^2$</a:t>
                </a:r>
                <a:r>
                  <a:rPr sz="2400" b="0">
                    <a:solidFill>
                      <a:srgbClr val="111827"/>
                    </a:solidFill>
                    <a:latin typeface="Arial"/>
                  </a:rPr>
                  <a:t> and we need this </a:t>
                </a:r>
                <a:r>
                  <a:rPr lang="en-IN" sz="2400">
                    <a:solidFill>
                      <a:srgbClr val="111827"/>
                    </a:solidFill>
                    <a:latin typeface="Cambria Math" panose="02040503050406030204" pitchFamily="18" charset="0"/>
                  </a:rPr>
                  <a:t>$=225k$</a:t>
                </a:r>
                <a:r>
                  <a:rPr sz="2400" b="0">
                    <a:solidFill>
                      <a:srgbClr val="111827"/>
                    </a:solidFill>
                    <a:latin typeface="Arial"/>
                  </a:rPr>
                  <a:t>, so </a:t>
                </a:r>
                <a:r>
                  <a:rPr lang="en-IN" sz="2400">
                    <a:solidFill>
                      <a:srgbClr val="111827"/>
                    </a:solidFill>
                    <a:latin typeface="Cambria Math" panose="02040503050406030204" pitchFamily="18" charset="0"/>
                  </a:rPr>
                  <a:t>$k=\frac{27\cdot120^2}{64\cdot225}$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$64=8^2$</a:t>
                </a:r>
                <a:r>
                  <a:rPr sz="2400" b="0">
                    <a:solidFill>
                      <a:srgbClr val="111827"/>
                    </a:solidFill>
                    <a:latin typeface="Arial"/>
                  </a:rPr>
                  <a:t> and </a:t>
                </a:r>
                <a:r>
                  <a:rPr lang="en-IN" sz="2400">
                    <a:solidFill>
                      <a:srgbClr val="111827"/>
                    </a:solidFill>
                    <a:latin typeface="Cambria Math" panose="02040503050406030204" pitchFamily="18" charset="0"/>
                  </a:rPr>
                  <a:t>$225=15^2$</a:t>
                </a:r>
                <a:r>
                  <a:rPr sz="2400" b="0">
                    <a:solidFill>
                      <a:srgbClr val="111827"/>
                    </a:solidFill>
                    <a:latin typeface="Arial"/>
                  </a:rPr>
                  <a:t>: </a:t>
                </a:r>
                <a:r>
                  <a:rPr lang="en-IN" sz="2400">
                    <a:solidFill>
                      <a:srgbClr val="111827"/>
                    </a:solidFill>
                    <a:latin typeface="Cambria Math" panose="02040503050406030204" pitchFamily="18" charset="0"/>
                  </a:rPr>
                  <a:t>$k=27\left(\frac{120}{8\cdot15}\right)^2$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$8\cdot15=120$</a:t>
                </a:r>
                <a:r>
                  <a:rPr sz="2400" b="0">
                    <a:solidFill>
                      <a:srgbClr val="111827"/>
                    </a:solidFill>
                    <a:latin typeface="Arial"/>
                  </a:rPr>
                  <a:t>, so the bracket is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$k=27$</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27</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$27$</a:t>
                </a:r>
                <a:endParaRPr sz="2800">
                  <a:solidFill>
                    <a:srgbClr val="15803D"/>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e>
                    </m:nary>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𝑟</m:t>
                                </m:r>
                              </m:e>
                            </m:nary>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it is </a:t>
                </a:r>
                <a14:m>
                  <m:oMath xmlns:m="http://schemas.openxmlformats.org/officeDocument/2006/math">
                    <m:sSup>
                      <m:e>
                        <m:r>
                          <a:rPr lang="en-IN" sz="2400" i="1">
                            <a:solidFill>
                              <a:srgbClr val="111827"/>
                            </a:solidFill>
                            <a:latin typeface="Cambria Math" panose="02040503050406030204" pitchFamily="18" charset="0"/>
                          </a:rPr>
                          <m:t>120</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Spot the pattern in mixed numbers: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are equally spaced (common difference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the base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Constants come out of power sums: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$\sum_{r=1}^{n}r^3=\left(\sum_{r=1}^{n}r\right)^2=\left(\frac{n(n+1)}{2}\right)^2$</a:t>
                </a:r>
                <a:r>
                  <a:rPr sz="2400" b="0">
                    <a:solidFill>
                      <a:srgbClr val="111827"/>
                    </a:solidFill>
                    <a:latin typeface="Arial"/>
                  </a:rPr>
                  <a:t>; for </a:t>
                </a:r>
                <a:r>
                  <a:rPr lang="en-IN" sz="2400">
                    <a:solidFill>
                      <a:srgbClr val="111827"/>
                    </a:solidFill>
                    <a:latin typeface="Cambria Math" panose="02040503050406030204" pitchFamily="18" charset="0"/>
                  </a:rPr>
                  <a:t>$n=15$</a:t>
                </a:r>
                <a:r>
                  <a:rPr sz="2400" b="0">
                    <a:solidFill>
                      <a:srgbClr val="111827"/>
                    </a:solidFill>
                    <a:latin typeface="Arial"/>
                  </a:rPr>
                  <a:t> it is </a:t>
                </a:r>
                <a:r>
                  <a:rPr lang="en-IN" sz="2400">
                    <a:solidFill>
                      <a:srgbClr val="111827"/>
                    </a:solidFill>
                    <a:latin typeface="Cambria Math" panose="02040503050406030204" pitchFamily="18" charset="0"/>
                  </a:rPr>
                  <a:t>$120^2$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Spot the pattern in mixed numbers: </a:t>
                </a:r>
                <a:r>
                  <a:rPr lang="en-IN" sz="2400">
                    <a:solidFill>
                      <a:srgbClr val="111827"/>
                    </a:solidFill>
                    <a:latin typeface="Cambria Math" panose="02040503050406030204" pitchFamily="18" charset="0"/>
                  </a:rPr>
                  <a:t>$\frac34,1\frac12,2\frac14,3,3\frac34$</a:t>
                </a:r>
                <a:r>
                  <a:rPr sz="2400" b="0">
                    <a:solidFill>
                      <a:srgbClr val="111827"/>
                    </a:solidFill>
                    <a:latin typeface="Arial"/>
                  </a:rPr>
                  <a:t> are equally spaced (common difference </a:t>
                </a:r>
                <a:r>
                  <a:rPr lang="en-IN" sz="2400">
                    <a:solidFill>
                      <a:srgbClr val="111827"/>
                    </a:solidFill>
                    <a:latin typeface="Cambria Math" panose="02040503050406030204" pitchFamily="18" charset="0"/>
                  </a:rPr>
                  <a:t>$\frac34$</a:t>
                </a:r>
                <a:r>
                  <a:rPr sz="2400" b="0">
                    <a:solidFill>
                      <a:srgbClr val="111827"/>
                    </a:solidFill>
                    <a:latin typeface="Arial"/>
                  </a:rPr>
                  <a:t>), so the base is </a:t>
                </a:r>
                <a:r>
                  <a:rPr lang="en-IN" sz="2400">
                    <a:solidFill>
                      <a:srgbClr val="111827"/>
                    </a:solidFill>
                    <a:latin typeface="Cambria Math" panose="02040503050406030204" pitchFamily="18" charset="0"/>
                  </a:rPr>
                  <a:t>$\frac{3r}{4}$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Constants come out of power sums: </a:t>
                </a:r>
                <a:r>
                  <a:rPr lang="en-IN" sz="2400">
                    <a:solidFill>
                      <a:srgbClr val="111827"/>
                    </a:solidFill>
                    <a:latin typeface="Cambria Math" panose="02040503050406030204" pitchFamily="18" charset="0"/>
                  </a:rPr>
                  <a:t>$\sum(cr)^3=c^3\sum r^3$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product of three consecutive terms of a G.P. is </a:t>
                </a:r>
                <a14:m>
                  <m:oMath xmlns:m="http://schemas.openxmlformats.org/officeDocument/2006/math">
                    <m:r>
                      <a:rPr lang="en-IN" sz="2400" i="1">
                        <a:solidFill>
                          <a:srgbClr val="111827"/>
                        </a:solidFill>
                        <a:latin typeface="Cambria Math" panose="02040503050406030204" pitchFamily="18" charset="0"/>
                      </a:rPr>
                      <m:t>512</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is added to each of the first and the second of these terms, the three terms now form an A.P. Then the sum of the original three terms of the given G.P.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32</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product of three consecutive terms of a G.P. is </a:t>
                </a:r>
                <a:r>
                  <a:rPr lang="en-IN" sz="2400">
                    <a:solidFill>
                      <a:srgbClr val="111827"/>
                    </a:solidFill>
                    <a:latin typeface="Cambria Math" panose="02040503050406030204" pitchFamily="18" charset="0"/>
                  </a:rPr>
                  <a:t>$512$</a:t>
                </a:r>
                <a:r>
                  <a:rPr sz="2400" b="0">
                    <a:solidFill>
                      <a:srgbClr val="111827"/>
                    </a:solidFill>
                    <a:latin typeface="Arial"/>
                  </a:rPr>
                  <a:t>. If </a:t>
                </a:r>
                <a:r>
                  <a:rPr lang="en-IN" sz="2400">
                    <a:solidFill>
                      <a:srgbClr val="111827"/>
                    </a:solidFill>
                    <a:latin typeface="Cambria Math" panose="02040503050406030204" pitchFamily="18" charset="0"/>
                  </a:rPr>
                  <a:t>$4$</a:t>
                </a:r>
                <a:r>
                  <a:rPr sz="2400" b="0">
                    <a:solidFill>
                      <a:srgbClr val="111827"/>
                    </a:solidFill>
                    <a:latin typeface="Arial"/>
                  </a:rPr>
                  <a:t> is added to each of the first and the second of these terms, the three terms now form an A.P. Then the sum of the original three terms of the given G.P.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$24$</a:t>
                </a:r>
                <a:r>
                  <a:rPr sz="2400" b="0">
                    <a:solidFill>
                      <a:srgbClr val="111827"/>
                    </a:solidFill>
                    <a:latin typeface="Arial"/>
                  </a:rPr>
                  <a:t>   (B) </a:t>
                </a:r>
                <a:r>
                  <a:rPr lang="en-IN" sz="2400">
                    <a:solidFill>
                      <a:srgbClr val="111827"/>
                    </a:solidFill>
                    <a:latin typeface="Cambria Math" panose="02040503050406030204" pitchFamily="18" charset="0"/>
                  </a:rPr>
                  <a:t>$28$</a:t>
                </a:r>
                <a:r>
                  <a:rPr sz="2400" b="0">
                    <a:solidFill>
                      <a:srgbClr val="111827"/>
                    </a:solidFill>
                    <a:latin typeface="Arial"/>
                  </a:rPr>
                  <a:t>   (C) </a:t>
                </a:r>
                <a:r>
                  <a:rPr lang="en-IN" sz="2400">
                    <a:solidFill>
                      <a:srgbClr val="111827"/>
                    </a:solidFill>
                    <a:latin typeface="Cambria Math" panose="02040503050406030204" pitchFamily="18" charset="0"/>
                  </a:rPr>
                  <a:t>$36$</a:t>
                </a:r>
                <a:r>
                  <a:rPr sz="2400" b="0">
                    <a:solidFill>
                      <a:srgbClr val="111827"/>
                    </a:solidFill>
                    <a:latin typeface="Arial"/>
                  </a:rPr>
                  <a:t>   (D) </a:t>
                </a:r>
                <a:r>
                  <a:rPr lang="en-IN" sz="2400">
                    <a:solidFill>
                      <a:srgbClr val="111827"/>
                    </a:solidFill>
                    <a:latin typeface="Cambria Math" panose="02040503050406030204" pitchFamily="18" charset="0"/>
                  </a:rPr>
                  <a:t>$32$</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 and arithmetic progressions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G.P. terms as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𝑟</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𝑟</m:t>
                    </m:r>
                  </m:oMath>
                </a14:m>
                <a:r>
                  <a:rPr sz="2400" b="0">
                    <a:solidFill>
                      <a:srgbClr val="78350F"/>
                    </a:solidFill>
                    <a:latin typeface="Arial"/>
                  </a:rPr>
                  <a:t>; the product gives the middle term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at once.</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G.P. terms as </a:t>
                </a:r>
                <a:r>
                  <a:rPr lang="en-IN" sz="2400">
                    <a:solidFill>
                      <a:srgbClr val="78350F"/>
                    </a:solidFill>
                    <a:latin typeface="Cambria Math" panose="02040503050406030204" pitchFamily="18" charset="0"/>
                  </a:rPr>
                  <a:t>$\frac ar,a,ar$</a:t>
                </a:r>
                <a:r>
                  <a:rPr sz="2400" b="0">
                    <a:solidFill>
                      <a:srgbClr val="78350F"/>
                    </a:solidFill>
                    <a:latin typeface="Arial"/>
                  </a:rPr>
                  <a:t>; the product gives the middle term </a:t>
                </a:r>
                <a:r>
                  <a:rPr lang="en-IN" sz="2400">
                    <a:solidFill>
                      <a:srgbClr val="78350F"/>
                    </a:solidFill>
                    <a:latin typeface="Cambria Math" panose="02040503050406030204" pitchFamily="18" charset="0"/>
                  </a:rPr>
                  <a:t>$a=8$</a:t>
                </a:r>
                <a:r>
                  <a:rPr sz="2400" b="0">
                    <a:solidFill>
                      <a:srgbClr val="78350F"/>
                    </a:solidFill>
                    <a:latin typeface="Arial"/>
                  </a:rPr>
                  <a:t>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three consecutive terms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oMath>
                </a14:m>
                <a:r>
                  <a:rPr sz="2400" b="0">
                    <a:solidFill>
                      <a:srgbClr val="111827"/>
                    </a:solidFill>
                    <a:latin typeface="Arial"/>
                  </a:rPr>
                  <a:t>. Adding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to the first and second: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three consecutive terms be </a:t>
                </a:r>
                <a:r>
                  <a:rPr lang="en-IN" sz="2400">
                    <a:solidFill>
                      <a:srgbClr val="111827"/>
                    </a:solidFill>
                    <a:latin typeface="Cambria Math" panose="02040503050406030204" pitchFamily="18" charset="0"/>
                  </a:rPr>
                  <a:t>$\frac ar,\ a,\ ar$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a:t>
                </a:r>
                <a:r>
                  <a:rPr lang="en-IN" sz="2400">
                    <a:solidFill>
                      <a:srgbClr val="111827"/>
                    </a:solidFill>
                    <a:latin typeface="Cambria Math" panose="02040503050406030204" pitchFamily="18" charset="0"/>
                  </a:rPr>
                  <a:t>$=a^3=512$</a:t>
                </a:r>
                <a:r>
                  <a:rPr sz="2400" b="0">
                    <a:solidFill>
                      <a:srgbClr val="111827"/>
                    </a:solidFill>
                    <a:latin typeface="Arial"/>
                  </a:rPr>
                  <a:t>, so </a:t>
                </a:r>
                <a:r>
                  <a:rPr lang="en-IN" sz="2400">
                    <a:solidFill>
                      <a:srgbClr val="111827"/>
                    </a:solidFill>
                    <a:latin typeface="Cambria Math" panose="02040503050406030204" pitchFamily="18" charset="0"/>
                  </a:rPr>
                  <a:t>$a=8$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terms are </a:t>
                </a:r>
                <a:r>
                  <a:rPr lang="en-IN" sz="2400">
                    <a:solidFill>
                      <a:srgbClr val="111827"/>
                    </a:solidFill>
                    <a:latin typeface="Cambria Math" panose="02040503050406030204" pitchFamily="18" charset="0"/>
                  </a:rPr>
                  <a:t>$\frac8r,\ 8,\ 8r$</a:t>
                </a:r>
                <a:r>
                  <a:rPr sz="2400" b="0">
                    <a:solidFill>
                      <a:srgbClr val="111827"/>
                    </a:solidFill>
                    <a:latin typeface="Arial"/>
                  </a:rPr>
                  <a:t>. Adding </a:t>
                </a:r>
                <a:r>
                  <a:rPr lang="en-IN" sz="2400">
                    <a:solidFill>
                      <a:srgbClr val="111827"/>
                    </a:solidFill>
                    <a:latin typeface="Cambria Math" panose="02040503050406030204" pitchFamily="18" charset="0"/>
                  </a:rPr>
                  <a:t>$4$</a:t>
                </a:r>
                <a:r>
                  <a:rPr sz="2400" b="0">
                    <a:solidFill>
                      <a:srgbClr val="111827"/>
                    </a:solidFill>
                    <a:latin typeface="Arial"/>
                  </a:rPr>
                  <a:t> to the first and second: </a:t>
                </a:r>
                <a:r>
                  <a:rPr lang="en-IN" sz="2400">
                    <a:solidFill>
                      <a:srgbClr val="111827"/>
                    </a:solidFill>
                    <a:latin typeface="Cambria Math" panose="02040503050406030204" pitchFamily="18" charset="0"/>
                  </a:rPr>
                  <a:t>$\frac8r+4,\ 12,\ 8r$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in A.P., so their sum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PDF writes this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the same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original terms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in A.P., so their sum is </a:t>
                </a:r>
                <a:r>
                  <a:rPr lang="en-IN" sz="2400">
                    <a:solidFill>
                      <a:srgbClr val="111827"/>
                    </a:solidFill>
                    <a:latin typeface="Cambria Math" panose="02040503050406030204" pitchFamily="18" charset="0"/>
                  </a:rPr>
                  <a:t>$3\times12=36$</a:t>
                </a:r>
                <a:r>
                  <a:rPr sz="2400" b="0">
                    <a:solidFill>
                      <a:srgbClr val="111827"/>
                    </a:solidFill>
                    <a:latin typeface="Arial"/>
                  </a:rPr>
                  <a:t>: </a:t>
                </a:r>
                <a:r>
                  <a:rPr lang="en-IN" sz="2400">
                    <a:solidFill>
                      <a:srgbClr val="111827"/>
                    </a:solidFill>
                    <a:latin typeface="Cambria Math" panose="02040503050406030204" pitchFamily="18" charset="0"/>
                  </a:rPr>
                  <a:t>$\frac8r+4+12+8r=36$</a:t>
                </a:r>
                <a:r>
                  <a:rPr sz="2400" b="0">
                    <a:solidFill>
                      <a:srgbClr val="111827"/>
                    </a:solidFill>
                    <a:latin typeface="Arial"/>
                  </a:rPr>
                  <a:t>, i.e. </a:t>
                </a:r>
                <a:r>
                  <a:rPr lang="en-IN" sz="2400">
                    <a:solidFill>
                      <a:srgbClr val="111827"/>
                    </a:solidFill>
                    <a:latin typeface="Cambria Math" panose="02040503050406030204" pitchFamily="18" charset="0"/>
                  </a:rPr>
                  <a:t>$\frac8r+8r=20$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PDF writes this as </a:t>
                </a:r>
                <a:r>
                  <a:rPr lang="en-IN" sz="2400">
                    <a:solidFill>
                      <a:srgbClr val="111827"/>
                    </a:solidFill>
                    <a:latin typeface="Cambria Math" panose="02040503050406030204" pitchFamily="18" charset="0"/>
                  </a:rPr>
                  <a:t>$\frac8r+4+8r=24$</a:t>
                </a:r>
                <a:r>
                  <a:rPr sz="2400" b="0">
                    <a:solidFill>
                      <a:srgbClr val="111827"/>
                    </a:solidFill>
                    <a:latin typeface="Arial"/>
                  </a:rPr>
                  <a:t>, the same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original terms </a:t>
                </a:r>
                <a:r>
                  <a:rPr lang="en-IN" sz="2400">
                    <a:solidFill>
                      <a:srgbClr val="111827"/>
                    </a:solidFill>
                    <a:latin typeface="Cambria Math" panose="02040503050406030204" pitchFamily="18" charset="0"/>
                  </a:rPr>
                  <a:t>$=\frac8r+8+8r=20+8=28$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28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$28$</a:t>
                </a:r>
                <a:endParaRPr sz="2800">
                  <a:solidFill>
                    <a:srgbClr val="15803D"/>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for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explicitly and list the actual terms, then check the A.P.</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for </a:t>
                </a:r>
                <a:r>
                  <a:rPr lang="en-IN" sz="2400">
                    <a:solidFill>
                      <a:srgbClr val="78350F"/>
                    </a:solidFill>
                    <a:latin typeface="Cambria Math" panose="02040503050406030204" pitchFamily="18" charset="0"/>
                  </a:rPr>
                  <a:t>$r$</a:t>
                </a:r>
                <a:r>
                  <a:rPr sz="2400" b="0">
                    <a:solidFill>
                      <a:srgbClr val="78350F"/>
                    </a:solidFill>
                    <a:latin typeface="Arial"/>
                  </a:rPr>
                  <a:t> explicitly and list the actual terms, then check the A.P.</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𝑟</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G.P. is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(product </a:t>
                </a:r>
                <a14:m>
                  <m:oMath xmlns:m="http://schemas.openxmlformats.org/officeDocument/2006/math">
                    <m:r>
                      <a:rPr lang="en-IN" sz="2400" i="1">
                        <a:solidFill>
                          <a:srgbClr val="111827"/>
                        </a:solidFill>
                        <a:latin typeface="Cambria Math" panose="02040503050406030204" pitchFamily="18" charset="0"/>
                      </a:rPr>
                      <m:t>512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adding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to the first two terms: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an A.P. with common difference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Valid.</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$\frac8r+8r=20$</a:t>
                </a:r>
                <a:r>
                  <a:rPr sz="2400" b="0">
                    <a:solidFill>
                      <a:srgbClr val="111827"/>
                    </a:solidFill>
                    <a:latin typeface="Arial"/>
                  </a:rPr>
                  <a:t>: </a:t>
                </a:r>
                <a:r>
                  <a:rPr lang="en-IN" sz="2400">
                    <a:solidFill>
                      <a:srgbClr val="111827"/>
                    </a:solidFill>
                    <a:latin typeface="Cambria Math" panose="02040503050406030204" pitchFamily="18" charset="0"/>
                  </a:rPr>
                  <a:t>$8+8r^2=20r$</a:t>
                </a:r>
                <a:r>
                  <a:rPr sz="2400" b="0">
                    <a:solidFill>
                      <a:srgbClr val="111827"/>
                    </a:solidFill>
                    <a:latin typeface="Arial"/>
                  </a:rPr>
                  <a:t>, i.e. </a:t>
                </a:r>
                <a:r>
                  <a:rPr lang="en-IN" sz="2400">
                    <a:solidFill>
                      <a:srgbClr val="111827"/>
                    </a:solidFill>
                    <a:latin typeface="Cambria Math" panose="02040503050406030204" pitchFamily="18" charset="0"/>
                  </a:rPr>
                  <a:t>$2r^2-5r+2=0$</a:t>
                </a:r>
                <a:r>
                  <a:rPr sz="2400" b="0">
                    <a:solidFill>
                      <a:srgbClr val="111827"/>
                    </a:solidFill>
                    <a:latin typeface="Arial"/>
                  </a:rPr>
                  <a:t>, so </a:t>
                </a:r>
                <a:r>
                  <a:rPr lang="en-IN" sz="2400">
                    <a:solidFill>
                      <a:srgbClr val="111827"/>
                    </a:solidFill>
                    <a:latin typeface="Cambria Math" panose="02040503050406030204" pitchFamily="18" charset="0"/>
                  </a:rPr>
                  <a:t>$r=2$</a:t>
                </a:r>
                <a:r>
                  <a:rPr sz="2400" b="0">
                    <a:solidFill>
                      <a:srgbClr val="111827"/>
                    </a:solidFill>
                    <a:latin typeface="Arial"/>
                  </a:rPr>
                  <a:t> or </a:t>
                </a:r>
                <a:r>
                  <a:rPr lang="en-IN" sz="2400">
                    <a:solidFill>
                      <a:srgbClr val="111827"/>
                    </a:solidFill>
                    <a:latin typeface="Cambria Math" panose="02040503050406030204" pitchFamily="18" charset="0"/>
                  </a:rPr>
                  <a:t>$r=\frac12$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$r=2$</a:t>
                </a:r>
                <a:r>
                  <a:rPr sz="2400" b="0">
                    <a:solidFill>
                      <a:srgbClr val="111827"/>
                    </a:solidFill>
                    <a:latin typeface="Arial"/>
                  </a:rPr>
                  <a:t> the G.P. is </a:t>
                </a:r>
                <a:r>
                  <a:rPr lang="en-IN" sz="2400">
                    <a:solidFill>
                      <a:srgbClr val="111827"/>
                    </a:solidFill>
                    <a:latin typeface="Cambria Math" panose="02040503050406030204" pitchFamily="18" charset="0"/>
                  </a:rPr>
                  <a:t>$4,8,16$</a:t>
                </a:r>
                <a:r>
                  <a:rPr sz="2400" b="0">
                    <a:solidFill>
                      <a:srgbClr val="111827"/>
                    </a:solidFill>
                    <a:latin typeface="Arial"/>
                  </a:rPr>
                  <a:t> (product </a:t>
                </a:r>
                <a:r>
                  <a:rPr lang="en-IN" sz="2400">
                    <a:solidFill>
                      <a:srgbClr val="111827"/>
                    </a:solidFill>
                    <a:latin typeface="Cambria Math" panose="02040503050406030204" pitchFamily="18" charset="0"/>
                  </a:rPr>
                  <a:t>$512$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adding </a:t>
                </a:r>
                <a:r>
                  <a:rPr lang="en-IN" sz="2400">
                    <a:solidFill>
                      <a:srgbClr val="111827"/>
                    </a:solidFill>
                    <a:latin typeface="Cambria Math" panose="02040503050406030204" pitchFamily="18" charset="0"/>
                  </a:rPr>
                  <a:t>$4$</a:t>
                </a:r>
                <a:r>
                  <a:rPr sz="2400" b="0">
                    <a:solidFill>
                      <a:srgbClr val="111827"/>
                    </a:solidFill>
                    <a:latin typeface="Arial"/>
                  </a:rPr>
                  <a:t> to the first two terms: </a:t>
                </a:r>
                <a:r>
                  <a:rPr lang="en-IN" sz="2400">
                    <a:solidFill>
                      <a:srgbClr val="111827"/>
                    </a:solidFill>
                    <a:latin typeface="Cambria Math" panose="02040503050406030204" pitchFamily="18" charset="0"/>
                  </a:rPr>
                  <a:t>$8,12,16$</a:t>
                </a:r>
                <a:r>
                  <a:rPr sz="2400" b="0">
                    <a:solidFill>
                      <a:srgbClr val="111827"/>
                    </a:solidFill>
                    <a:latin typeface="Arial"/>
                  </a:rPr>
                  <a:t>, an A.P. with common difference </a:t>
                </a:r>
                <a:r>
                  <a:rPr lang="en-IN" sz="2400">
                    <a:solidFill>
                      <a:srgbClr val="111827"/>
                    </a:solidFill>
                    <a:latin typeface="Cambria Math" panose="02040503050406030204" pitchFamily="18" charset="0"/>
                  </a:rPr>
                  <a:t>$4$</a:t>
                </a:r>
                <a:r>
                  <a:rPr sz="2400" b="0">
                    <a:solidFill>
                      <a:srgbClr val="111827"/>
                    </a:solidFill>
                    <a:latin typeface="Arial"/>
                  </a:rPr>
                  <a:t>. Valid.</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G.P. is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modified list is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 A.P. with common difference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Also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both cases the sum is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$r=\frac12$</a:t>
                </a:r>
                <a:r>
                  <a:rPr sz="2400" b="0">
                    <a:solidFill>
                      <a:srgbClr val="111827"/>
                    </a:solidFill>
                    <a:latin typeface="Arial"/>
                  </a:rPr>
                  <a:t> the G.P. is </a:t>
                </a:r>
                <a:r>
                  <a:rPr lang="en-IN" sz="2400">
                    <a:solidFill>
                      <a:srgbClr val="111827"/>
                    </a:solidFill>
                    <a:latin typeface="Cambria Math" panose="02040503050406030204" pitchFamily="18" charset="0"/>
                  </a:rPr>
                  <a:t>$16,8,4$</a:t>
                </a:r>
                <a:r>
                  <a:rPr sz="2400" b="0">
                    <a:solidFill>
                      <a:srgbClr val="111827"/>
                    </a:solidFill>
                    <a:latin typeface="Arial"/>
                  </a:rPr>
                  <a:t>; the modified list is </a:t>
                </a:r>
                <a:r>
                  <a:rPr lang="en-IN" sz="2400">
                    <a:solidFill>
                      <a:srgbClr val="111827"/>
                    </a:solidFill>
                    <a:latin typeface="Cambria Math" panose="02040503050406030204" pitchFamily="18" charset="0"/>
                  </a:rPr>
                  <a:t>$20,12,4$</a:t>
                </a:r>
                <a:r>
                  <a:rPr sz="2400" b="0">
                    <a:solidFill>
                      <a:srgbClr val="111827"/>
                    </a:solidFill>
                    <a:latin typeface="Arial"/>
                  </a:rPr>
                  <a:t>, an A.P. with common difference </a:t>
                </a:r>
                <a:r>
                  <a:rPr lang="en-IN" sz="2400">
                    <a:solidFill>
                      <a:srgbClr val="111827"/>
                    </a:solidFill>
                    <a:latin typeface="Cambria Math" panose="02040503050406030204" pitchFamily="18" charset="0"/>
                  </a:rPr>
                  <a:t>$-8$</a:t>
                </a:r>
                <a:r>
                  <a:rPr sz="2400" b="0">
                    <a:solidFill>
                      <a:srgbClr val="111827"/>
                    </a:solidFill>
                    <a:latin typeface="Arial"/>
                  </a:rPr>
                  <a:t>. Also valid.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both cases the sum is </a:t>
                </a:r>
                <a:r>
                  <a:rPr lang="en-IN" sz="2400">
                    <a:solidFill>
                      <a:srgbClr val="111827"/>
                    </a:solidFill>
                    <a:latin typeface="Cambria Math" panose="02040503050406030204" pitchFamily="18" charset="0"/>
                  </a:rPr>
                  <a:t>$4+8+16=28$</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28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$28$</a:t>
                </a:r>
                <a:endParaRPr sz="2800">
                  <a:solidFill>
                    <a:srgbClr val="15803D"/>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consecutive terms of a G.P.: take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oMath>
                </a14:m>
                <a:r>
                  <a:rPr sz="2400" b="0">
                    <a:solidFill>
                      <a:srgbClr val="111827"/>
                    </a:solidFill>
                    <a:latin typeface="Arial"/>
                  </a:rPr>
                  <a:t>; their product is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the middle term is the cube root of the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terms in A.P. have sum equal to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(middle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is symmetric under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(reversing the G.P.), so both reciprocal ratios give the same sum,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consecutive terms of a G.P.: take </a:t>
                </a:r>
                <a:r>
                  <a:rPr lang="en-IN" sz="2400">
                    <a:solidFill>
                      <a:srgbClr val="111827"/>
                    </a:solidFill>
                    <a:latin typeface="Cambria Math" panose="02040503050406030204" pitchFamily="18" charset="0"/>
                  </a:rPr>
                  <a:t>$\frac ar,a,ar$</a:t>
                </a:r>
                <a:r>
                  <a:rPr sz="2400" b="0">
                    <a:solidFill>
                      <a:srgbClr val="111827"/>
                    </a:solidFill>
                    <a:latin typeface="Arial"/>
                  </a:rPr>
                  <a:t>; their product is </a:t>
                </a:r>
                <a:r>
                  <a:rPr lang="en-IN" sz="2400">
                    <a:solidFill>
                      <a:srgbClr val="111827"/>
                    </a:solidFill>
                    <a:latin typeface="Cambria Math" panose="02040503050406030204" pitchFamily="18" charset="0"/>
                  </a:rPr>
                  <a:t>$a^3$</a:t>
                </a:r>
                <a:r>
                  <a:rPr sz="2400" b="0">
                    <a:solidFill>
                      <a:srgbClr val="111827"/>
                    </a:solidFill>
                    <a:latin typeface="Arial"/>
                  </a:rPr>
                  <a:t>, the middle term is the cube root of the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terms in A.P. have sum equal to </a:t>
                </a:r>
                <a:r>
                  <a:rPr lang="en-IN" sz="2400">
                    <a:solidFill>
                      <a:srgbClr val="111827"/>
                    </a:solidFill>
                    <a:latin typeface="Cambria Math" panose="02040503050406030204" pitchFamily="18" charset="0"/>
                  </a:rPr>
                  <a:t>$3\times$</a:t>
                </a:r>
                <a:r>
                  <a:rPr sz="2400" b="0">
                    <a:solidFill>
                      <a:srgbClr val="111827"/>
                    </a:solidFill>
                    <a:latin typeface="Arial"/>
                  </a:rPr>
                  <a:t> (middle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is symmetric under </a:t>
                </a:r>
                <a:r>
                  <a:rPr lang="en-IN" sz="2400">
                    <a:solidFill>
                      <a:srgbClr val="111827"/>
                    </a:solidFill>
                    <a:latin typeface="Cambria Math" panose="02040503050406030204" pitchFamily="18" charset="0"/>
                  </a:rPr>
                  <a:t>$r\to\frac1r$</a:t>
                </a:r>
                <a:r>
                  <a:rPr sz="2400" b="0">
                    <a:solidFill>
                      <a:srgbClr val="111827"/>
                    </a:solidFill>
                    <a:latin typeface="Arial"/>
                  </a:rPr>
                  <a:t> (reversing the G.P.), so both reciprocal ratios give the same sum, </a:t>
                </a:r>
                <a:r>
                  <a:rPr lang="en-IN" sz="2400">
                    <a:solidFill>
                      <a:srgbClr val="111827"/>
                    </a:solidFill>
                    <a:latin typeface="Cambria Math" panose="02040503050406030204" pitchFamily="18" charset="0"/>
                  </a:rPr>
                  <a:t>$28$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 If </a:t>
                </a:r>
                <a14:m>
                  <m:oMath xmlns:m="http://schemas.openxmlformats.org/officeDocument/2006/math">
                    <m:sSubSup>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283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301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156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303</m:t>
                    </m:r>
                  </m:oMath>
                </a14:m>
                <a:endParaRPr sz="2400">
                  <a:solidFill>
                    <a:srgbClr val="111827"/>
                  </a:solidFill>
                </a:endParaRPr>
              </a:p>
            </p:txBody>
          </p:sp>
        </mc:Choice>
        <mc:Fallback>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$S_k=\frac{1+2+3+\ldots+k}{k}$</a:t>
                </a:r>
                <a:r>
                  <a:rPr sz="2400" b="0">
                    <a:solidFill>
                      <a:srgbClr val="111827"/>
                    </a:solidFill>
                    <a:latin typeface="Arial"/>
                  </a:rPr>
                  <a:t>. If </a:t>
                </a:r>
                <a:r>
                  <a:rPr lang="en-IN" sz="2400">
                    <a:solidFill>
                      <a:srgbClr val="111827"/>
                    </a:solidFill>
                    <a:latin typeface="Cambria Math" panose="02040503050406030204" pitchFamily="18" charset="0"/>
                  </a:rPr>
                  <a:t>$S_1^2+S_2^2+\ldots+S_{10}^2=\frac{5}{12}A$</a:t>
                </a:r>
                <a:r>
                  <a:rPr sz="2400" b="0">
                    <a:solidFill>
                      <a:srgbClr val="111827"/>
                    </a:solidFill>
                    <a:latin typeface="Arial"/>
                  </a:rPr>
                  <a:t>, then </a:t>
                </a:r>
                <a:r>
                  <a:rPr lang="en-IN" sz="2400">
                    <a:solidFill>
                      <a:srgbClr val="111827"/>
                    </a:solidFill>
                    <a:latin typeface="Cambria Math" panose="02040503050406030204" pitchFamily="18" charset="0"/>
                  </a:rPr>
                  <a:t>$A$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$283$</a:t>
                </a:r>
                <a:r>
                  <a:rPr sz="2400" b="0">
                    <a:solidFill>
                      <a:srgbClr val="111827"/>
                    </a:solidFill>
                    <a:latin typeface="Arial"/>
                  </a:rPr>
                  <a:t>   (B) </a:t>
                </a:r>
                <a:r>
                  <a:rPr lang="en-IN" sz="2400">
                    <a:solidFill>
                      <a:srgbClr val="111827"/>
                    </a:solidFill>
                    <a:latin typeface="Cambria Math" panose="02040503050406030204" pitchFamily="18" charset="0"/>
                  </a:rPr>
                  <a:t>$301$</a:t>
                </a:r>
                <a:r>
                  <a:rPr sz="2400" b="0">
                    <a:solidFill>
                      <a:srgbClr val="111827"/>
                    </a:solidFill>
                    <a:latin typeface="Arial"/>
                  </a:rPr>
                  <a:t>   (C) </a:t>
                </a:r>
                <a:r>
                  <a:rPr lang="en-IN" sz="2400">
                    <a:solidFill>
                      <a:srgbClr val="111827"/>
                    </a:solidFill>
                    <a:latin typeface="Cambria Math" panose="02040503050406030204" pitchFamily="18" charset="0"/>
                  </a:rPr>
                  <a:t>$156$</a:t>
                </a:r>
                <a:r>
                  <a:rPr sz="2400" b="0">
                    <a:solidFill>
                      <a:srgbClr val="111827"/>
                    </a:solidFill>
                    <a:latin typeface="Arial"/>
                  </a:rPr>
                  <a:t>   (D) </a:t>
                </a:r>
                <a:r>
                  <a:rPr lang="en-IN" sz="2400">
                    <a:solidFill>
                      <a:srgbClr val="111827"/>
                    </a:solidFill>
                    <a:latin typeface="Cambria Math" panose="02040503050406030204" pitchFamily="18" charset="0"/>
                  </a:rPr>
                  <a:t>$303$</a:t>
                </a:r>
                <a:endParaRPr sz="2400">
                  <a:solidFill>
                    <a:srgbClr val="111827"/>
                  </a:solidFill>
                </a:endParaRPr>
              </a:p>
            </p:txBody>
          </p:sp>
        </mc:Fallback>
      </mc:AlternateContent>
      <p:sp>
        <p:nvSpPr>
          <p:cNvPr id="5" name="Rectangle 4"/>
          <p:cNvSpPr/>
          <p:nvPr/>
        </p:nvSpPr>
        <p:spPr>
          <a:xfrm>
            <a:off x="731520" y="34279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squares of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makes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𝑘</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$1+2+\ldots+k=\frac{k(k+1)}2$</a:t>
                </a:r>
                <a:r>
                  <a:rPr sz="2400" b="0">
                    <a:solidFill>
                      <a:srgbClr val="78350F"/>
                    </a:solidFill>
                    <a:latin typeface="Arial"/>
                  </a:rPr>
                  <a:t> makes </a:t>
                </a:r>
                <a:r>
                  <a:rPr lang="en-IN" sz="2400">
                    <a:solidFill>
                      <a:srgbClr val="78350F"/>
                    </a:solidFill>
                    <a:latin typeface="Cambria Math" panose="02040503050406030204" pitchFamily="18" charset="0"/>
                  </a:rPr>
                  <a:t>$S_k=\frac{k+1}{2}$</a:t>
                </a:r>
                <a:r>
                  <a:rPr sz="2400" b="0">
                    <a:solidFill>
                      <a:srgbClr val="78350F"/>
                    </a:solidFill>
                    <a:latin typeface="Arial"/>
                  </a:rPr>
                  <a:t>, so </a:t>
                </a:r>
                <a:r>
                  <a:rPr lang="en-IN" sz="2400">
                    <a:solidFill>
                      <a:srgbClr val="78350F"/>
                    </a:solidFill>
                    <a:latin typeface="Cambria Math" panose="02040503050406030204" pitchFamily="18" charset="0"/>
                  </a:rPr>
                  <a:t>$\sum S_k^2=\frac14\sum(k+1)^2$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in general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sSubSup>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2</m:t>
                            </m:r>
                          </m:sup>
                        </m:sSub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11</m:t>
                            </m:r>
                          </m:sup>
                          <m:e>
                            <m:sSup>
                              <m:e>
                                <m:r>
                                  <a:rPr lang="en-IN" sz="2400" i="1">
                                    <a:solidFill>
                                      <a:srgbClr val="111827"/>
                                    </a:solidFill>
                                    <a:latin typeface="Cambria Math" panose="02040503050406030204" pitchFamily="18" charset="0"/>
                                  </a:rPr>
                                  <m:t>𝑗</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$S_1=1,\ S_2=\frac{1+2}{2},\ S_3=\frac{1+2+3}{3},\ldots$</a:t>
                </a:r>
                <a:r>
                  <a:rPr sz="2400" b="0">
                    <a:solidFill>
                      <a:srgbClr val="111827"/>
                    </a:solidFill>
                    <a:latin typeface="Arial"/>
                  </a:rPr>
                  <a:t>, so in general </a:t>
                </a:r>
                <a:r>
                  <a:rPr lang="en-IN" sz="2400">
                    <a:solidFill>
                      <a:srgbClr val="111827"/>
                    </a:solidFill>
                    <a:latin typeface="Cambria Math" panose="02040503050406030204" pitchFamily="18" charset="0"/>
                  </a:rPr>
                  <a:t>$S_k=\frac{k(k+1)}{2k}=\frac{k+1}{2}$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$S_k^2=\frac{(k+1)^2}{4}$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$\sum_{k=1}^{10}S_k^2=\frac14\sum_{k=1}^{10}(k+1)^2=\frac14\left[\sum_{j=1}^{11}j^2-1\right]$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11</m:t>
                        </m:r>
                      </m:sup>
                      <m:e>
                        <m:sSup>
                          <m:e>
                            <m:r>
                              <a:rPr lang="en-IN" sz="2400" i="1">
                                <a:solidFill>
                                  <a:srgbClr val="111827"/>
                                </a:solidFill>
                                <a:latin typeface="Cambria Math" panose="02040503050406030204" pitchFamily="18" charset="0"/>
                              </a:rPr>
                              <m:t>𝑗</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506</m:t>
                    </m:r>
                  </m:oMath>
                </a14:m>
                <a:r>
                  <a:rPr sz="2400" b="0">
                    <a:solidFill>
                      <a:srgbClr val="111827"/>
                    </a:solidFill>
                    <a:latin typeface="Arial"/>
                  </a:rPr>
                  <a:t>, so 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303</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$\sum_{j=1}^{11}j^2=\frac{11\cdot12\cdot23}{6}=506$</a:t>
                </a:r>
                <a:r>
                  <a:rPr sz="2400" b="0">
                    <a:solidFill>
                      <a:srgbClr val="111827"/>
                    </a:solidFill>
                    <a:latin typeface="Arial"/>
                  </a:rPr>
                  <a:t>, so the sum is </a:t>
                </a:r>
                <a:r>
                  <a:rPr lang="en-IN" sz="2400">
                    <a:solidFill>
                      <a:srgbClr val="111827"/>
                    </a:solidFill>
                    <a:latin typeface="Cambria Math" panose="02040503050406030204" pitchFamily="18" charset="0"/>
                  </a:rPr>
                  <a:t>$\frac14(506-1)=\frac{505}{4}$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$\frac{505}{4}=\frac{5\cdot303}{12}$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$\frac5{12}A$</a:t>
                </a:r>
                <a:r>
                  <a:rPr sz="2400" b="0">
                    <a:solidFill>
                      <a:srgbClr val="111827"/>
                    </a:solidFill>
                    <a:latin typeface="Arial"/>
                  </a:rPr>
                  <a:t>: </a:t>
                </a:r>
                <a:r>
                  <a:rPr lang="en-IN" sz="2400">
                    <a:solidFill>
                      <a:srgbClr val="111827"/>
                    </a:solidFill>
                    <a:latin typeface="Cambria Math" panose="02040503050406030204" pitchFamily="18" charset="0"/>
                  </a:rPr>
                  <a:t>$A=303$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303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$303$</a:t>
                </a:r>
                <a:endParaRPr sz="2800">
                  <a:solidFill>
                    <a:srgbClr val="15803D"/>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𝑘</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use three standard sums instead of shifting the index.</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r>
                  <a:rPr lang="en-IN" sz="2400">
                    <a:solidFill>
                      <a:srgbClr val="78350F"/>
                    </a:solidFill>
                    <a:latin typeface="Cambria Math" panose="02040503050406030204" pitchFamily="18" charset="0"/>
                  </a:rPr>
                  <a:t>$(k+1)^2=k^2+2k+1$</a:t>
                </a:r>
                <a:r>
                  <a:rPr sz="2400" b="0">
                    <a:solidFill>
                      <a:srgbClr val="78350F"/>
                    </a:solidFill>
                    <a:latin typeface="Arial"/>
                  </a:rPr>
                  <a:t> and use three standard sums instead of shifting the index.</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as the mean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den>
                    </m:f>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303</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$S_k=\frac{k+1}{2}$</a:t>
                </a:r>
                <a:r>
                  <a:rPr sz="2400" b="0">
                    <a:solidFill>
                      <a:srgbClr val="111827"/>
                    </a:solidFill>
                    <a:latin typeface="Arial"/>
                  </a:rPr>
                  <a:t> as the mean of </a:t>
                </a:r>
                <a:r>
                  <a:rPr lang="en-IN" sz="2400">
                    <a:solidFill>
                      <a:srgbClr val="111827"/>
                    </a:solidFill>
                    <a:latin typeface="Cambria Math" panose="02040503050406030204" pitchFamily="18" charset="0"/>
                  </a:rPr>
                  <a:t>$1,2,\ldots,k$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$\sum_{k=1}^{10}(k+1)^2=\sum k^2+2\sum k+\sum1=385+2(55)+10$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$=385+110+10=505$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$\sum S_k^2=\frac{505}{4}$</a:t>
                </a:r>
                <a:r>
                  <a:rPr sz="2400" b="0">
                    <a:solidFill>
                      <a:srgbClr val="111827"/>
                    </a:solidFill>
                    <a:latin typeface="Arial"/>
                  </a:rPr>
                  <a:t> and </a:t>
                </a:r>
                <a:r>
                  <a:rPr lang="en-IN" sz="2400">
                    <a:solidFill>
                      <a:srgbClr val="111827"/>
                    </a:solidFill>
                    <a:latin typeface="Cambria Math" panose="02040503050406030204" pitchFamily="18" charset="0"/>
                  </a:rPr>
                  <a:t>$\frac5{12}A=\frac{505}4$</a:t>
                </a:r>
                <a:r>
                  <a:rPr sz="2400" b="0">
                    <a:solidFill>
                      <a:srgbClr val="111827"/>
                    </a:solidFill>
                    <a:latin typeface="Arial"/>
                  </a:rPr>
                  <a:t> gives </a:t>
                </a:r>
                <a:r>
                  <a:rPr lang="en-IN" sz="2400">
                    <a:solidFill>
                      <a:srgbClr val="111827"/>
                    </a:solidFill>
                    <a:latin typeface="Cambria Math" panose="02040503050406030204" pitchFamily="18" charset="0"/>
                  </a:rPr>
                  <a:t>$A=\frac{505\times12}{4\times5}=303$</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303</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$303$</a:t>
                </a:r>
                <a:endParaRPr sz="2800">
                  <a:solidFill>
                    <a:srgbClr val="15803D"/>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mean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(middle of the list),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𝑗</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385</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506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index is shifted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limits move: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subtract the missing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term.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mean of </a:t>
                </a:r>
                <a:r>
                  <a:rPr lang="en-IN" sz="2400">
                    <a:solidFill>
                      <a:srgbClr val="111827"/>
                    </a:solidFill>
                    <a:latin typeface="Cambria Math" panose="02040503050406030204" pitchFamily="18" charset="0"/>
                  </a:rPr>
                  <a:t>$1,2,\ldots,k$</a:t>
                </a:r>
                <a:r>
                  <a:rPr sz="2400" b="0">
                    <a:solidFill>
                      <a:srgbClr val="111827"/>
                    </a:solidFill>
                    <a:latin typeface="Arial"/>
                  </a:rPr>
                  <a:t> is </a:t>
                </a:r>
                <a:r>
                  <a:rPr lang="en-IN" sz="2400">
                    <a:solidFill>
                      <a:srgbClr val="111827"/>
                    </a:solidFill>
                    <a:latin typeface="Cambria Math" panose="02040503050406030204" pitchFamily="18" charset="0"/>
                  </a:rPr>
                  <a:t>$\frac{k+1}2$</a:t>
                </a:r>
                <a:r>
                  <a:rPr sz="2400" b="0">
                    <a:solidFill>
                      <a:srgbClr val="111827"/>
                    </a:solidFill>
                    <a:latin typeface="Arial"/>
                  </a:rPr>
                  <a:t> (middle of the list), so </a:t>
                </a:r>
                <a:r>
                  <a:rPr lang="en-IN" sz="2400">
                    <a:solidFill>
                      <a:srgbClr val="111827"/>
                    </a:solidFill>
                    <a:latin typeface="Cambria Math" panose="02040503050406030204" pitchFamily="18" charset="0"/>
                  </a:rPr>
                  <a:t>$\frac{1+2+\ldots+k}{k}=\frac{k+1}{2}$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$\sum_{j=1}^{n}j^2=\frac{n(n+1)(2n+1)}6$</a:t>
                </a:r>
                <a:r>
                  <a:rPr sz="2400" b="0">
                    <a:solidFill>
                      <a:srgbClr val="111827"/>
                    </a:solidFill>
                    <a:latin typeface="Arial"/>
                  </a:rPr>
                  <a:t>: for </a:t>
                </a:r>
                <a:r>
                  <a:rPr lang="en-IN" sz="2400">
                    <a:solidFill>
                      <a:srgbClr val="111827"/>
                    </a:solidFill>
                    <a:latin typeface="Cambria Math" panose="02040503050406030204" pitchFamily="18" charset="0"/>
                  </a:rPr>
                  <a:t>$n=10$</a:t>
                </a:r>
                <a:r>
                  <a:rPr sz="2400" b="0">
                    <a:solidFill>
                      <a:srgbClr val="111827"/>
                    </a:solidFill>
                    <a:latin typeface="Arial"/>
                  </a:rPr>
                  <a:t> it is </a:t>
                </a:r>
                <a:r>
                  <a:rPr lang="en-IN" sz="2400">
                    <a:solidFill>
                      <a:srgbClr val="111827"/>
                    </a:solidFill>
                    <a:latin typeface="Cambria Math" panose="02040503050406030204" pitchFamily="18" charset="0"/>
                  </a:rPr>
                  <a:t>$385$</a:t>
                </a:r>
                <a:r>
                  <a:rPr sz="2400" b="0">
                    <a:solidFill>
                      <a:srgbClr val="111827"/>
                    </a:solidFill>
                    <a:latin typeface="Arial"/>
                  </a:rPr>
                  <a:t>, for </a:t>
                </a:r>
                <a:r>
                  <a:rPr lang="en-IN" sz="2400">
                    <a:solidFill>
                      <a:srgbClr val="111827"/>
                    </a:solidFill>
                    <a:latin typeface="Cambria Math" panose="02040503050406030204" pitchFamily="18" charset="0"/>
                  </a:rPr>
                  <a:t>$n=11$</a:t>
                </a:r>
                <a:r>
                  <a:rPr sz="2400" b="0">
                    <a:solidFill>
                      <a:srgbClr val="111827"/>
                    </a:solidFill>
                    <a:latin typeface="Arial"/>
                  </a:rPr>
                  <a:t> it is </a:t>
                </a:r>
                <a:r>
                  <a:rPr lang="en-IN" sz="2400">
                    <a:solidFill>
                      <a:srgbClr val="111827"/>
                    </a:solidFill>
                    <a:latin typeface="Cambria Math" panose="02040503050406030204" pitchFamily="18" charset="0"/>
                  </a:rPr>
                  <a:t>$506$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index is shifted (</a:t>
                </a:r>
                <a:r>
                  <a:rPr lang="en-IN" sz="2400">
                    <a:solidFill>
                      <a:srgbClr val="111827"/>
                    </a:solidFill>
                    <a:latin typeface="Cambria Math" panose="02040503050406030204" pitchFamily="18" charset="0"/>
                  </a:rPr>
                  <a:t>$j=k+1$</a:t>
                </a:r>
                <a:r>
                  <a:rPr sz="2400" b="0">
                    <a:solidFill>
                      <a:srgbClr val="111827"/>
                    </a:solidFill>
                    <a:latin typeface="Arial"/>
                  </a:rPr>
                  <a:t>) the limits move: </a:t>
                </a:r>
                <a:r>
                  <a:rPr lang="en-IN" sz="2400">
                    <a:solidFill>
                      <a:srgbClr val="111827"/>
                    </a:solidFill>
                    <a:latin typeface="Cambria Math" panose="02040503050406030204" pitchFamily="18" charset="0"/>
                  </a:rPr>
                  <a:t>$k=1..10\to j=2..11$</a:t>
                </a:r>
                <a:r>
                  <a:rPr sz="2400" b="0">
                    <a:solidFill>
                      <a:srgbClr val="111827"/>
                    </a:solidFill>
                    <a:latin typeface="Arial"/>
                  </a:rPr>
                  <a:t>; subtract the missing </a:t>
                </a:r>
                <a:r>
                  <a:rPr lang="en-IN" sz="2400">
                    <a:solidFill>
                      <a:srgbClr val="111827"/>
                    </a:solidFill>
                    <a:latin typeface="Cambria Math" panose="02040503050406030204" pitchFamily="18" charset="0"/>
                  </a:rPr>
                  <a:t>$j=1$</a:t>
                </a:r>
                <a:r>
                  <a:rPr sz="2400" b="0">
                    <a:solidFill>
                      <a:srgbClr val="111827"/>
                    </a:solidFill>
                    <a:latin typeface="Arial"/>
                  </a:rPr>
                  <a:t> term.</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be the </a:t>
                </a:r>
                <a14:m>
                  <m:oMath xmlns:m="http://schemas.openxmlformats.org/officeDocument/2006/math">
                    <m:sSup>
                      <m:e>
                        <m:r>
                          <a:rPr lang="en-IN" sz="2400" i="1">
                            <a:solidFill>
                              <a:srgbClr val="111827"/>
                            </a:solidFill>
                            <a:latin typeface="Cambria Math" panose="02040503050406030204" pitchFamily="18" charset="0"/>
                          </a:rPr>
                          <m:t>7</m:t>
                        </m:r>
                      </m:e>
                      <m:sup>
                        <m:r>
                          <m:rPr>
                            <m:nor/>
                          </m:rPr>
                          <a:rPr lang="en-IN" sz="2400" i="1">
                            <a:solidFill>
                              <a:srgbClr val="111827"/>
                            </a:solidFill>
                            <a:latin typeface="Cambria Math" panose="02040503050406030204" pitchFamily="18" charset="0"/>
                          </a:rPr>
                          <m:t>𝑡ℎ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13</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terms respectively of a non-constant A.P. If these are also the three consecutive terms of a G.P.,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13</m:t>
                        </m:r>
                      </m:den>
                    </m:f>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be the </a:t>
                </a:r>
                <a:r>
                  <a:rPr lang="en-IN" sz="2400">
                    <a:solidFill>
                      <a:srgbClr val="111827"/>
                    </a:solidFill>
                    <a:latin typeface="Cambria Math" panose="02040503050406030204" pitchFamily="18" charset="0"/>
                  </a:rPr>
                  <a:t>$7^{\text{th}},11^{\text{th}}$</a:t>
                </a:r>
                <a:r>
                  <a:rPr sz="2400" b="0">
                    <a:solidFill>
                      <a:srgbClr val="111827"/>
                    </a:solidFill>
                    <a:latin typeface="Arial"/>
                  </a:rPr>
                  <a:t> and </a:t>
                </a:r>
                <a:r>
                  <a:rPr lang="en-IN" sz="2400">
                    <a:solidFill>
                      <a:srgbClr val="111827"/>
                    </a:solidFill>
                    <a:latin typeface="Cambria Math" panose="02040503050406030204" pitchFamily="18" charset="0"/>
                  </a:rPr>
                  <a:t>$13^{\text{th}}$</a:t>
                </a:r>
                <a:r>
                  <a:rPr sz="2400" b="0">
                    <a:solidFill>
                      <a:srgbClr val="111827"/>
                    </a:solidFill>
                    <a:latin typeface="Arial"/>
                  </a:rPr>
                  <a:t> terms respectively of a non-constant A.P. If these are also the three consecutive terms of a G.P., then </a:t>
                </a:r>
                <a:r>
                  <a:rPr lang="en-IN" sz="2400">
                    <a:solidFill>
                      <a:srgbClr val="111827"/>
                    </a:solidFill>
                    <a:latin typeface="Cambria Math" panose="02040503050406030204" pitchFamily="18" charset="0"/>
                  </a:rPr>
                  <a:t>$\frac ac$</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$\frac7{13}$</a:t>
                </a:r>
                <a:r>
                  <a:rPr sz="2400" b="0">
                    <a:solidFill>
                      <a:srgbClr val="111827"/>
                    </a:solidFill>
                    <a:latin typeface="Arial"/>
                  </a:rPr>
                  <a:t>   (B) </a:t>
                </a:r>
                <a:r>
                  <a:rPr lang="en-IN" sz="2400">
                    <a:solidFill>
                      <a:srgbClr val="111827"/>
                    </a:solidFill>
                    <a:latin typeface="Cambria Math" panose="02040503050406030204" pitchFamily="18" charset="0"/>
                  </a:rPr>
                  <a:t>$2$</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$\frac12$</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 and arithmetic progressions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Three consecutive G.P. terms satisfy </a:t>
                </a:r>
                <a14:m>
                  <m:oMath xmlns:m="http://schemas.openxmlformats.org/officeDocument/2006/math">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oMath>
                </a14:m>
                <a:r>
                  <a:rPr sz="2400" b="0">
                    <a:solidFill>
                      <a:srgbClr val="78350F"/>
                    </a:solidFill>
                    <a:latin typeface="Arial"/>
                  </a:rPr>
                  <a:t>; write each term through the first term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and the first term cancels to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14</m:t>
                    </m:r>
                    <m:r>
                      <a:rPr lang="en-IN" sz="2400" i="1">
                        <a:solidFill>
                          <a:srgbClr val="78350F"/>
                        </a:solidFill>
                        <a:latin typeface="Cambria Math" panose="02040503050406030204" pitchFamily="18" charset="0"/>
                      </a:rPr>
                      <m:t>𝑑</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Three consecutive G.P. terms satisfy </a:t>
                </a:r>
                <a:r>
                  <a:rPr lang="en-IN" sz="2400">
                    <a:solidFill>
                      <a:srgbClr val="78350F"/>
                    </a:solidFill>
                    <a:latin typeface="Cambria Math" panose="02040503050406030204" pitchFamily="18" charset="0"/>
                  </a:rPr>
                  <a:t>$b^2=ac$</a:t>
                </a:r>
                <a:r>
                  <a:rPr sz="2400" b="0">
                    <a:solidFill>
                      <a:srgbClr val="78350F"/>
                    </a:solidFill>
                    <a:latin typeface="Arial"/>
                  </a:rPr>
                  <a:t>; write each term through the first term </a:t>
                </a:r>
                <a:r>
                  <a:rPr lang="en-IN" sz="2400">
                    <a:solidFill>
                      <a:srgbClr val="78350F"/>
                    </a:solidFill>
                    <a:latin typeface="Cambria Math" panose="02040503050406030204" pitchFamily="18" charset="0"/>
                  </a:rPr>
                  <a:t>$a_1$</a:t>
                </a:r>
                <a:r>
                  <a:rPr sz="2400" b="0">
                    <a:solidFill>
                      <a:srgbClr val="78350F"/>
                    </a:solidFill>
                    <a:latin typeface="Arial"/>
                  </a:rPr>
                  <a:t> and </a:t>
                </a:r>
                <a:r>
                  <a:rPr lang="en-IN" sz="2400">
                    <a:solidFill>
                      <a:srgbClr val="78350F"/>
                    </a:solidFill>
                    <a:latin typeface="Cambria Math" panose="02040503050406030204" pitchFamily="18" charset="0"/>
                  </a:rPr>
                  <a:t>$d$</a:t>
                </a:r>
                <a:r>
                  <a:rPr sz="2400" b="0">
                    <a:solidFill>
                      <a:srgbClr val="78350F"/>
                    </a:solidFill>
                    <a:latin typeface="Arial"/>
                  </a:rPr>
                  <a:t> and the first term cancels to </a:t>
                </a:r>
                <a:r>
                  <a:rPr lang="en-IN" sz="2400">
                    <a:solidFill>
                      <a:srgbClr val="78350F"/>
                    </a:solidFill>
                    <a:latin typeface="Cambria Math" panose="02040503050406030204" pitchFamily="18" charset="0"/>
                  </a:rPr>
                  <a:t>$a_1=-14d$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A.P. have first term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common difference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PDF calls the first term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13</m:t>
                        </m:r>
                      </m:sub>
                    </m:sSub>
                  </m:oMath>
                </a14:m>
                <a:r>
                  <a:rPr sz="2400" b="0">
                    <a:solidFill>
                      <a:srgbClr val="111827"/>
                    </a:solidFill>
                    <a:latin typeface="Arial"/>
                  </a:rPr>
                  <a:t> (G.P. condition):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𝑑</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A.P. have first term </a:t>
                </a:r>
                <a:r>
                  <a:rPr lang="en-IN" sz="2400">
                    <a:solidFill>
                      <a:srgbClr val="111827"/>
                    </a:solidFill>
                    <a:latin typeface="Cambria Math" panose="02040503050406030204" pitchFamily="18" charset="0"/>
                  </a:rPr>
                  <a:t>$A$</a:t>
                </a:r>
                <a:r>
                  <a:rPr sz="2400" b="0">
                    <a:solidFill>
                      <a:srgbClr val="111827"/>
                    </a:solidFill>
                    <a:latin typeface="Arial"/>
                  </a:rPr>
                  <a:t> and common difference </a:t>
                </a:r>
                <a:r>
                  <a:rPr lang="en-IN" sz="2400">
                    <a:solidFill>
                      <a:srgbClr val="111827"/>
                    </a:solidFill>
                    <a:latin typeface="Cambria Math" panose="02040503050406030204" pitchFamily="18" charset="0"/>
                  </a:rPr>
                  <a:t>$d\neq0$</a:t>
                </a:r>
                <a:r>
                  <a:rPr sz="2400" b="0">
                    <a:solidFill>
                      <a:srgbClr val="111827"/>
                    </a:solidFill>
                    <a:latin typeface="Arial"/>
                  </a:rPr>
                  <a:t> (the PDF calls the first term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$T_{11}^2=T_7\,T_{13}$</a:t>
                </a:r>
                <a:r>
                  <a:rPr sz="2400" b="0">
                    <a:solidFill>
                      <a:srgbClr val="111827"/>
                    </a:solidFill>
                    <a:latin typeface="Arial"/>
                  </a:rPr>
                  <a:t> (G.P. condition): </a:t>
                </a:r>
                <a:r>
                  <a:rPr lang="en-IN" sz="2400">
                    <a:solidFill>
                      <a:srgbClr val="111827"/>
                    </a:solidFill>
                    <a:latin typeface="Cambria Math" panose="02040503050406030204" pitchFamily="18" charset="0"/>
                  </a:rPr>
                  <a:t>$(A+10d)^2=(A+6d)(A+12d)$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$A^2+20Ad+100d^2=A^2+18Ad+72d^2$</a:t>
                </a:r>
                <a:r>
                  <a:rPr sz="2400" b="0">
                    <a:solidFill>
                      <a:srgbClr val="111827"/>
                    </a:solidFill>
                    <a:latin typeface="Arial"/>
                  </a:rPr>
                  <a:t>, so </a:t>
                </a:r>
                <a:r>
                  <a:rPr lang="en-IN" sz="2400">
                    <a:solidFill>
                      <a:srgbClr val="111827"/>
                    </a:solidFill>
                    <a:latin typeface="Cambria Math" panose="02040503050406030204" pitchFamily="18" charset="0"/>
                  </a:rPr>
                  <a:t>$2Ad+28d^2=0$</a:t>
                </a:r>
                <a:r>
                  <a:rPr sz="2400" b="0">
                    <a:solidFill>
                      <a:srgbClr val="111827"/>
                    </a:solidFill>
                    <a:latin typeface="Arial"/>
                  </a:rPr>
                  <a:t> and </a:t>
                </a:r>
                <a:r>
                  <a:rPr lang="en-IN" sz="2400">
                    <a:solidFill>
                      <a:srgbClr val="111827"/>
                    </a:solidFill>
                    <a:latin typeface="Cambria Math" panose="02040503050406030204" pitchFamily="18" charset="0"/>
                  </a:rPr>
                  <a:t>$A=-14d$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num>
                      <m:den>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13</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𝑑</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$T_7=A+6d=-8d$</a:t>
                </a:r>
                <a:r>
                  <a:rPr sz="2400" b="0">
                    <a:solidFill>
                      <a:srgbClr val="111827"/>
                    </a:solidFill>
                    <a:latin typeface="Arial"/>
                  </a:rPr>
                  <a:t> and </a:t>
                </a:r>
                <a:r>
                  <a:rPr lang="en-IN" sz="2400">
                    <a:solidFill>
                      <a:srgbClr val="111827"/>
                    </a:solidFill>
                    <a:latin typeface="Cambria Math" panose="02040503050406030204" pitchFamily="18" charset="0"/>
                  </a:rPr>
                  <a:t>$T_{13}=A+12d=-2d$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$\frac{a}{c}=\frac{T_7}{T_{13}}=\frac{-8d}{-2d}=4$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the middle term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11</m:t>
                        </m:r>
                      </m:sub>
                    </m:sSub>
                  </m:oMath>
                </a14:m>
                <a:r>
                  <a:rPr sz="2400" b="0">
                    <a:solidFill>
                      <a:srgbClr val="78350F"/>
                    </a:solidFill>
                    <a:latin typeface="Arial"/>
                  </a:rPr>
                  <a:t> as the base: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𝑑</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𝑑</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the middle term </a:t>
                </a:r>
                <a:r>
                  <a:rPr lang="en-IN" sz="2400">
                    <a:solidFill>
                      <a:srgbClr val="78350F"/>
                    </a:solidFill>
                    <a:latin typeface="Cambria Math" panose="02040503050406030204" pitchFamily="18" charset="0"/>
                  </a:rPr>
                  <a:t>$b=T_{11}$</a:t>
                </a:r>
                <a:r>
                  <a:rPr sz="2400" b="0">
                    <a:solidFill>
                      <a:srgbClr val="78350F"/>
                    </a:solidFill>
                    <a:latin typeface="Arial"/>
                  </a:rPr>
                  <a:t> as the base: </a:t>
                </a:r>
                <a:r>
                  <a:rPr lang="en-IN" sz="2400">
                    <a:solidFill>
                      <a:srgbClr val="78350F"/>
                    </a:solidFill>
                    <a:latin typeface="Cambria Math" panose="02040503050406030204" pitchFamily="18" charset="0"/>
                  </a:rPr>
                  <a:t>$a=b-4d$</a:t>
                </a:r>
                <a:r>
                  <a:rPr sz="2400" b="0">
                    <a:solidFill>
                      <a:srgbClr val="78350F"/>
                    </a:solidFill>
                    <a:latin typeface="Arial"/>
                  </a:rPr>
                  <a:t>, </a:t>
                </a:r>
                <a:r>
                  <a:rPr lang="en-IN" sz="2400">
                    <a:solidFill>
                      <a:srgbClr val="78350F"/>
                    </a:solidFill>
                    <a:latin typeface="Cambria Math" panose="02040503050406030204" pitchFamily="18" charset="0"/>
                  </a:rPr>
                  <a:t>$c=b+2d$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G.P. condition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Interpretation: the G.P. has common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$b=T_{11}$</a:t>
                </a:r>
                <a:r>
                  <a:rPr sz="2400" b="0">
                    <a:solidFill>
                      <a:srgbClr val="111827"/>
                    </a:solidFill>
                    <a:latin typeface="Arial"/>
                  </a:rPr>
                  <a:t>. Then </a:t>
                </a:r>
                <a:r>
                  <a:rPr lang="en-IN" sz="2400">
                    <a:solidFill>
                      <a:srgbClr val="111827"/>
                    </a:solidFill>
                    <a:latin typeface="Cambria Math" panose="02040503050406030204" pitchFamily="18" charset="0"/>
                  </a:rPr>
                  <a:t>$a=T_7=b-4d$</a:t>
                </a:r>
                <a:r>
                  <a:rPr sz="2400" b="0">
                    <a:solidFill>
                      <a:srgbClr val="111827"/>
                    </a:solidFill>
                    <a:latin typeface="Arial"/>
                  </a:rPr>
                  <a:t> and </a:t>
                </a:r>
                <a:r>
                  <a:rPr lang="en-IN" sz="2400">
                    <a:solidFill>
                      <a:srgbClr val="111827"/>
                    </a:solidFill>
                    <a:latin typeface="Cambria Math" panose="02040503050406030204" pitchFamily="18" charset="0"/>
                  </a:rPr>
                  <a:t>$c=T_{13}=b+2d$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G.P. condition </a:t>
                </a:r>
                <a:r>
                  <a:rPr lang="en-IN" sz="2400">
                    <a:solidFill>
                      <a:srgbClr val="111827"/>
                    </a:solidFill>
                    <a:latin typeface="Cambria Math" panose="02040503050406030204" pitchFamily="18" charset="0"/>
                  </a:rPr>
                  <a:t>$b^2=ac=(b-4d)(b+2d)=b^2-2bd-8d^2$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$-2bd-8d^2=0$</a:t>
                </a:r>
                <a:r>
                  <a:rPr sz="2400" b="0">
                    <a:solidFill>
                      <a:srgbClr val="111827"/>
                    </a:solidFill>
                    <a:latin typeface="Arial"/>
                  </a:rPr>
                  <a:t>; as </a:t>
                </a:r>
                <a:r>
                  <a:rPr lang="en-IN" sz="2400">
                    <a:solidFill>
                      <a:srgbClr val="111827"/>
                    </a:solidFill>
                    <a:latin typeface="Cambria Math" panose="02040503050406030204" pitchFamily="18" charset="0"/>
                  </a:rPr>
                  <a:t>$d\neq0$</a:t>
                </a:r>
                <a:r>
                  <a:rPr sz="2400" b="0">
                    <a:solidFill>
                      <a:srgbClr val="111827"/>
                    </a:solidFill>
                    <a:latin typeface="Arial"/>
                  </a:rPr>
                  <a:t>, </a:t>
                </a:r>
                <a:r>
                  <a:rPr lang="en-IN" sz="2400">
                    <a:solidFill>
                      <a:srgbClr val="111827"/>
                    </a:solidFill>
                    <a:latin typeface="Cambria Math" panose="02040503050406030204" pitchFamily="18" charset="0"/>
                  </a:rPr>
                  <a:t>$b=-4d$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$a=-8d$</a:t>
                </a:r>
                <a:r>
                  <a:rPr sz="2400" b="0">
                    <a:solidFill>
                      <a:srgbClr val="111827"/>
                    </a:solidFill>
                    <a:latin typeface="Arial"/>
                  </a:rPr>
                  <a:t>, </a:t>
                </a:r>
                <a:r>
                  <a:rPr lang="en-IN" sz="2400">
                    <a:solidFill>
                      <a:srgbClr val="111827"/>
                    </a:solidFill>
                    <a:latin typeface="Cambria Math" panose="02040503050406030204" pitchFamily="18" charset="0"/>
                  </a:rPr>
                  <a:t>$c=-2d$</a:t>
                </a:r>
                <a:r>
                  <a:rPr sz="2400" b="0">
                    <a:solidFill>
                      <a:srgbClr val="111827"/>
                    </a:solidFill>
                    <a:latin typeface="Arial"/>
                  </a:rPr>
                  <a:t> and </a:t>
                </a:r>
                <a:r>
                  <a:rPr lang="en-IN" sz="2400">
                    <a:solidFill>
                      <a:srgbClr val="111827"/>
                    </a:solidFill>
                    <a:latin typeface="Cambria Math" panose="02040503050406030204" pitchFamily="18" charset="0"/>
                  </a:rPr>
                  <a:t>$\frac ac=4$</a:t>
                </a:r>
                <a:r>
                  <a:rPr sz="2400" b="0">
                    <a:solidFill>
                      <a:srgbClr val="111827"/>
                    </a:solidFill>
                    <a:latin typeface="Arial"/>
                  </a:rPr>
                  <a:t>; the same answer.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Interpretation: the G.P. has common ratio </a:t>
                </a:r>
                <a:r>
                  <a:rPr lang="en-IN" sz="2400">
                    <a:solidFill>
                      <a:srgbClr val="111827"/>
                    </a:solidFill>
                    <a:latin typeface="Cambria Math" panose="02040503050406030204" pitchFamily="18" charset="0"/>
                  </a:rPr>
                  <a:t>$\frac ba=\frac12$</a:t>
                </a:r>
                <a:r>
                  <a:rPr sz="2400" b="0">
                    <a:solidFill>
                      <a:srgbClr val="111827"/>
                    </a:solidFill>
                    <a:latin typeface="Arial"/>
                  </a:rPr>
                  <a:t>, so </a:t>
                </a:r>
                <a:r>
                  <a:rPr lang="en-IN" sz="2400">
                    <a:solidFill>
                      <a:srgbClr val="111827"/>
                    </a:solidFill>
                    <a:latin typeface="Cambria Math" panose="02040503050406030204" pitchFamily="18" charset="0"/>
                  </a:rPr>
                  <a:t>$\frac ac=\left(\frac ab\right)^2=4$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in G.P. with ratio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Parametrising an A.P. around the middle given term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𝑑</m:t>
                    </m:r>
                  </m:oMath>
                </a14:m>
                <a:r>
                  <a:rPr sz="2400" b="0">
                    <a:solidFill>
                      <a:srgbClr val="111827"/>
                    </a:solidFill>
                    <a:latin typeface="Arial"/>
                  </a:rPr>
                  <a:t>) removes the unknown first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non-constant A.P. whose terms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𝑞</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are in G.P.: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𝑞</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 G.P. with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$a,b,c$</a:t>
                </a:r>
                <a:r>
                  <a:rPr sz="2400" b="0">
                    <a:solidFill>
                      <a:srgbClr val="111827"/>
                    </a:solidFill>
                    <a:latin typeface="Arial"/>
                  </a:rPr>
                  <a:t> are in G.P. with ratio </a:t>
                </a:r>
                <a:r>
                  <a:rPr lang="en-IN" sz="2400">
                    <a:solidFill>
                      <a:srgbClr val="111827"/>
                    </a:solidFill>
                    <a:latin typeface="Cambria Math" panose="02040503050406030204" pitchFamily="18" charset="0"/>
                  </a:rPr>
                  <a:t>$q$</a:t>
                </a:r>
                <a:r>
                  <a:rPr sz="2400" b="0">
                    <a:solidFill>
                      <a:srgbClr val="111827"/>
                    </a:solidFill>
                    <a:latin typeface="Arial"/>
                  </a:rPr>
                  <a:t> then </a:t>
                </a:r>
                <a:r>
                  <a:rPr lang="en-IN" sz="2400">
                    <a:solidFill>
                      <a:srgbClr val="111827"/>
                    </a:solidFill>
                    <a:latin typeface="Cambria Math" panose="02040503050406030204" pitchFamily="18" charset="0"/>
                  </a:rPr>
                  <a:t>$\frac ac=\frac1{q^2}$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Parametrising an A.P. around the middle given term (</a:t>
                </a:r>
                <a:r>
                  <a:rPr lang="en-IN" sz="2400">
                    <a:solidFill>
                      <a:srgbClr val="111827"/>
                    </a:solidFill>
                    <a:latin typeface="Cambria Math" panose="02040503050406030204" pitchFamily="18" charset="0"/>
                  </a:rPr>
                  <a:t>$b\pm kd$</a:t>
                </a:r>
                <a:r>
                  <a:rPr sz="2400" b="0">
                    <a:solidFill>
                      <a:srgbClr val="111827"/>
                    </a:solidFill>
                    <a:latin typeface="Arial"/>
                  </a:rPr>
                  <a:t>) removes the unknown first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non-constant A.P. whose terms </a:t>
                </a:r>
                <a:r>
                  <a:rPr lang="en-IN" sz="2400">
                    <a:solidFill>
                      <a:srgbClr val="111827"/>
                    </a:solidFill>
                    <a:latin typeface="Cambria Math" panose="02040503050406030204" pitchFamily="18" charset="0"/>
                  </a:rPr>
                  <a:t>$T_p,T_q,T_r$</a:t>
                </a:r>
                <a:r>
                  <a:rPr sz="2400" b="0">
                    <a:solidFill>
                      <a:srgbClr val="111827"/>
                    </a:solidFill>
                    <a:latin typeface="Arial"/>
                  </a:rPr>
                  <a:t> are in G.P.: </a:t>
                </a:r>
                <a:r>
                  <a:rPr lang="en-IN" sz="2400">
                    <a:solidFill>
                      <a:srgbClr val="111827"/>
                    </a:solidFill>
                    <a:latin typeface="Cambria Math" panose="02040503050406030204" pitchFamily="18" charset="0"/>
                  </a:rPr>
                  <a:t>$T_q=-\frac{(p-q)(r-q)}{p+r-2q}\,d$</a:t>
                </a:r>
                <a:r>
                  <a:rPr sz="2400" b="0">
                    <a:solidFill>
                      <a:srgbClr val="111827"/>
                    </a:solidFill>
                    <a:latin typeface="Arial"/>
                  </a:rPr>
                  <a:t>; here </a:t>
                </a:r>
                <a:r>
                  <a:rPr lang="en-IN" sz="2400">
                    <a:solidFill>
                      <a:srgbClr val="111827"/>
                    </a:solidFill>
                    <a:latin typeface="Cambria Math" panose="02040503050406030204" pitchFamily="18" charset="0"/>
                  </a:rPr>
                  <a:t>$p,q,r=7,11,13$</a:t>
                </a:r>
                <a:r>
                  <a:rPr sz="2400" b="0">
                    <a:solidFill>
                      <a:srgbClr val="111827"/>
                    </a:solidFill>
                    <a:latin typeface="Arial"/>
                  </a:rPr>
                  <a:t> gives </a:t>
                </a:r>
                <a:r>
                  <a:rPr lang="en-IN" sz="2400">
                    <a:solidFill>
                      <a:srgbClr val="111827"/>
                    </a:solidFill>
                    <a:latin typeface="Cambria Math" panose="02040503050406030204" pitchFamily="18" charset="0"/>
                  </a:rPr>
                  <a:t>$T_{11}=-4d$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$d=1$</a:t>
                </a:r>
                <a:r>
                  <a:rPr sz="2400" b="0">
                    <a:solidFill>
                      <a:srgbClr val="111827"/>
                    </a:solidFill>
                    <a:latin typeface="Arial"/>
                  </a:rPr>
                  <a:t>: </a:t>
                </a:r>
                <a:r>
                  <a:rPr lang="en-IN" sz="2400">
                    <a:solidFill>
                      <a:srgbClr val="111827"/>
                    </a:solidFill>
                    <a:latin typeface="Cambria Math" panose="02040503050406030204" pitchFamily="18" charset="0"/>
                  </a:rPr>
                  <a:t>$T_7=-8$</a:t>
                </a:r>
                <a:r>
                  <a:rPr sz="2400" b="0">
                    <a:solidFill>
                      <a:srgbClr val="111827"/>
                    </a:solidFill>
                    <a:latin typeface="Arial"/>
                  </a:rPr>
                  <a:t>, </a:t>
                </a:r>
                <a:r>
                  <a:rPr lang="en-IN" sz="2400">
                    <a:solidFill>
                      <a:srgbClr val="111827"/>
                    </a:solidFill>
                    <a:latin typeface="Cambria Math" panose="02040503050406030204" pitchFamily="18" charset="0"/>
                  </a:rPr>
                  <a:t>$T_{11}=-4$</a:t>
                </a:r>
                <a:r>
                  <a:rPr sz="2400" b="0">
                    <a:solidFill>
                      <a:srgbClr val="111827"/>
                    </a:solidFill>
                    <a:latin typeface="Arial"/>
                  </a:rPr>
                  <a:t>, </a:t>
                </a:r>
                <a:r>
                  <a:rPr lang="en-IN" sz="2400">
                    <a:solidFill>
                      <a:srgbClr val="111827"/>
                    </a:solidFill>
                    <a:latin typeface="Cambria Math" panose="02040503050406030204" pitchFamily="18" charset="0"/>
                  </a:rPr>
                  <a:t>$T_{13}=-2$</a:t>
                </a:r>
                <a:r>
                  <a:rPr sz="2400" b="0">
                    <a:solidFill>
                      <a:srgbClr val="111827"/>
                    </a:solidFill>
                    <a:latin typeface="Arial"/>
                  </a:rPr>
                  <a:t> is a G.P. with ratio </a:t>
                </a:r>
                <a:r>
                  <a:rPr lang="en-IN" sz="2400">
                    <a:solidFill>
                      <a:srgbClr val="111827"/>
                    </a:solidFill>
                    <a:latin typeface="Cambria Math" panose="02040503050406030204" pitchFamily="18" charset="0"/>
                  </a:rPr>
                  <a:t>$\frac12$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following series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e>
                        </m:d>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e>
                        </m:d>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e>
                        </m:d>
                      </m:num>
                      <m:den>
                        <m:r>
                          <a:rPr lang="en-IN" sz="2400" i="1">
                            <a:solidFill>
                              <a:srgbClr val="111827"/>
                            </a:solidFill>
                            <a:latin typeface="Cambria Math" panose="02040503050406030204" pitchFamily="18" charset="0"/>
                          </a:rPr>
                          <m:t>11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terms,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7510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7830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7820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7520</m:t>
                    </m:r>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following series </a:t>
                </a:r>
                <a:r>
                  <a:rPr lang="en-IN" sz="2400">
                    <a:solidFill>
                      <a:srgbClr val="111827"/>
                    </a:solidFill>
                    <a:latin typeface="Cambria Math" panose="02040503050406030204" pitchFamily="18" charset="0"/>
                  </a:rPr>
                  <a:t>$1+6+\frac{9\left(1^2+2^2+3^2\right)}{7}+\frac{12\left(1^2+2^2+3^2+4^2\right)}{9}+\frac{15\left(1^2+2^2+\ldots+5^2\right)}{11}+\ldots$</a:t>
                </a:r>
                <a:r>
                  <a:rPr sz="2400" b="0">
                    <a:solidFill>
                      <a:srgbClr val="111827"/>
                    </a:solidFill>
                    <a:latin typeface="Arial"/>
                  </a:rPr>
                  <a:t> up to </a:t>
                </a:r>
                <a:r>
                  <a:rPr lang="en-IN" sz="2400">
                    <a:solidFill>
                      <a:srgbClr val="111827"/>
                    </a:solidFill>
                    <a:latin typeface="Cambria Math" panose="02040503050406030204" pitchFamily="18" charset="0"/>
                  </a:rPr>
                  <a:t>$15$</a:t>
                </a:r>
                <a:r>
                  <a:rPr sz="2400" b="0">
                    <a:solidFill>
                      <a:srgbClr val="111827"/>
                    </a:solidFill>
                    <a:latin typeface="Arial"/>
                  </a:rPr>
                  <a:t> terms,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$7510$</a:t>
                </a:r>
                <a:r>
                  <a:rPr sz="2400" b="0">
                    <a:solidFill>
                      <a:srgbClr val="111827"/>
                    </a:solidFill>
                    <a:latin typeface="Arial"/>
                  </a:rPr>
                  <a:t>   (B) </a:t>
                </a:r>
                <a:r>
                  <a:rPr lang="en-IN" sz="2400">
                    <a:solidFill>
                      <a:srgbClr val="111827"/>
                    </a:solidFill>
                    <a:latin typeface="Cambria Math" panose="02040503050406030204" pitchFamily="18" charset="0"/>
                  </a:rPr>
                  <a:t>$7830$</a:t>
                </a:r>
                <a:r>
                  <a:rPr sz="2400" b="0">
                    <a:solidFill>
                      <a:srgbClr val="111827"/>
                    </a:solidFill>
                    <a:latin typeface="Arial"/>
                  </a:rPr>
                  <a:t>   (C) </a:t>
                </a:r>
                <a:r>
                  <a:rPr lang="en-IN" sz="2400">
                    <a:solidFill>
                      <a:srgbClr val="111827"/>
                    </a:solidFill>
                    <a:latin typeface="Cambria Math" panose="02040503050406030204" pitchFamily="18" charset="0"/>
                  </a:rPr>
                  <a:t>$7820$</a:t>
                </a:r>
                <a:r>
                  <a:rPr sz="2400" b="0">
                    <a:solidFill>
                      <a:srgbClr val="111827"/>
                    </a:solidFill>
                    <a:latin typeface="Arial"/>
                  </a:rPr>
                  <a:t>   (D) </a:t>
                </a:r>
                <a:r>
                  <a:rPr lang="en-IN" sz="2400">
                    <a:solidFill>
                      <a:srgbClr val="111827"/>
                    </a:solidFill>
                    <a:latin typeface="Cambria Math" panose="02040503050406030204" pitchFamily="18" charset="0"/>
                  </a:rPr>
                  <a:t>$7520$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9095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a series using sums of squares and cubes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9095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r>
                  <a:rPr lang="en-IN" sz="2400">
                    <a:solidFill>
                      <a:srgbClr val="111827"/>
                    </a:solidFill>
                    <a:latin typeface="Cambria Math" panose="02040503050406030204" pitchFamily="18" charset="0"/>
                  </a:rPr>
                  <a:t>$n$</a:t>
                </a:r>
                <a:r>
                  <a:rPr sz="2400" b="0">
                    <a:solidFill>
                      <a:srgbClr val="111827"/>
                    </a:solidFill>
                    <a:latin typeface="Arial"/>
                  </a:rPr>
                  <a:t> terms of a series using sums of squares and cubes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Reading the pattern,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collapses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Reading the pattern, </a:t>
                </a:r>
                <a:r>
                  <a:rPr lang="en-IN" sz="2400">
                    <a:solidFill>
                      <a:srgbClr val="78350F"/>
                    </a:solidFill>
                    <a:latin typeface="Cambria Math" panose="02040503050406030204" pitchFamily="18" charset="0"/>
                  </a:rPr>
                  <a:t>$T_n=\frac{3n\,(1^2+\cdots+n^2)}{2n+1}$</a:t>
                </a:r>
                <a:r>
                  <a:rPr sz="2400" b="0">
                    <a:solidFill>
                      <a:srgbClr val="78350F"/>
                    </a:solidFill>
                    <a:latin typeface="Arial"/>
                  </a:rPr>
                  <a:t> collapses to </a:t>
                </a:r>
                <a:r>
                  <a:rPr lang="en-IN" sz="2400">
                    <a:solidFill>
                      <a:srgbClr val="78350F"/>
                    </a:solidFill>
                    <a:latin typeface="Cambria Math" panose="02040503050406030204" pitchFamily="18" charset="0"/>
                  </a:rPr>
                  <a:t>$\frac12(n^3+n^2)$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𝑛</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d>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$n^{\text{th}}$</a:t>
                </a:r>
                <a:r>
                  <a:rPr sz="2400" b="0">
                    <a:solidFill>
                      <a:srgbClr val="111827"/>
                    </a:solidFill>
                    <a:latin typeface="Arial"/>
                  </a:rPr>
                  <a:t> term is </a:t>
                </a:r>
                <a:r>
                  <a:rPr lang="en-IN" sz="2400">
                    <a:solidFill>
                      <a:srgbClr val="111827"/>
                    </a:solidFill>
                    <a:latin typeface="Cambria Math" panose="02040503050406030204" pitchFamily="18" charset="0"/>
                  </a:rPr>
                  <a:t>$T_n=\frac{3n\left(1^2+2^2+\ldots+n^2\right)}{2n+1}$</a:t>
                </a:r>
                <a:r>
                  <a:rPr sz="2400" b="0">
                    <a:solidFill>
                      <a:srgbClr val="111827"/>
                    </a:solidFill>
                    <a:latin typeface="Arial"/>
                  </a:rPr>
                  <a:t> (check: </a:t>
                </a:r>
                <a:r>
                  <a:rPr lang="en-IN" sz="2400">
                    <a:solidFill>
                      <a:srgbClr val="111827"/>
                    </a:solidFill>
                    <a:latin typeface="Cambria Math" panose="02040503050406030204" pitchFamily="18" charset="0"/>
                  </a:rPr>
                  <a:t>$n=1$</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$n=2$</a:t>
                </a:r>
                <a:r>
                  <a:rPr sz="2400" b="0">
                    <a:solidFill>
                      <a:srgbClr val="111827"/>
                    </a:solidFill>
                    <a:latin typeface="Arial"/>
                  </a:rPr>
                  <a:t> gives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$n=3$</a:t>
                </a:r>
                <a:r>
                  <a:rPr sz="2400" b="0">
                    <a:solidFill>
                      <a:srgbClr val="111827"/>
                    </a:solidFill>
                    <a:latin typeface="Arial"/>
                  </a:rPr>
                  <a:t> gives </a:t>
                </a:r>
                <a:r>
                  <a:rPr lang="en-IN" sz="2400">
                    <a:solidFill>
                      <a:srgbClr val="111827"/>
                    </a:solidFill>
                    <a:latin typeface="Cambria Math" panose="02040503050406030204" pitchFamily="18" charset="0"/>
                  </a:rPr>
                  <a:t>$\frac{9\cdot14}{7}$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$T_n=\frac{3n\cdot n(n+1)(2n+1)}{6(2n+1)}$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$T_n=\frac12\left(n^3+n^2\right)$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1240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7820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$S_{15}=\sum_{n=1}^{15}T_n=\frac12\sum n^3+\frac12\sum 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$=\frac12\left(\frac{15\times16}{2}\right)^2+\frac12\times\frac{15\times16\times31}{6}$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$=\frac12(14400)+\frac12(1240)=7200+620=7820$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7820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$7820$</a:t>
                </a:r>
                <a:endParaRPr sz="2800">
                  <a:solidFill>
                    <a:srgbClr val="15803D"/>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sum the products of consecutive integers by the telescoping rule.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$n^2(n+1)=n(n+1)(n+2)-2n(n+1)$</a:t>
                </a:r>
                <a:r>
                  <a:rPr sz="2400" b="0">
                    <a:solidFill>
                      <a:srgbClr val="78350F"/>
                    </a:solidFill>
                    <a:latin typeface="Arial"/>
                  </a:rPr>
                  <a:t> and sum the products of consecutive integers by the telescoping rule.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𝑁</m:t>
                        </m:r>
                      </m:sup>
                      <m:e>
                        <m:r>
                          <a:rPr lang="en-IN" sz="2400" i="1">
                            <a:solidFill>
                              <a:srgbClr val="111827"/>
                            </a:solidFill>
                            <a:latin typeface="Cambria Math" panose="02040503050406030204" pitchFamily="18" charset="0"/>
                          </a:rPr>
                          <m:t>𝑛</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18360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𝑁</m:t>
                        </m:r>
                      </m:sup>
                      <m:e>
                        <m:r>
                          <a:rPr lang="en-IN" sz="2400" i="1">
                            <a:solidFill>
                              <a:srgbClr val="111827"/>
                            </a:solidFill>
                            <a:latin typeface="Cambria Math" panose="02040503050406030204" pitchFamily="18" charset="0"/>
                          </a:rPr>
                          <m:t>𝑛</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$T_n=\frac12n^2(n+1)$</a:t>
                </a:r>
                <a:r>
                  <a:rPr sz="2400" b="0">
                    <a:solidFill>
                      <a:srgbClr val="111827"/>
                    </a:solidFill>
                    <a:latin typeface="Arial"/>
                  </a:rPr>
                  <a:t> and </a:t>
                </a:r>
                <a:r>
                  <a:rPr lang="en-IN" sz="2400">
                    <a:solidFill>
                      <a:srgbClr val="111827"/>
                    </a:solidFill>
                    <a:latin typeface="Cambria Math" panose="02040503050406030204" pitchFamily="18" charset="0"/>
                  </a:rPr>
                  <a:t>$n^2(n+1)=n(n+1)(n+2)-2n(n+1)$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$\sum_{n=1}^{N}n(n+1)(n+2)=\frac{N(N+1)(N+2)(N+3)}{4}=\frac{15\cdot16\cdot17\cdot18}{4}=18360$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$\sum_{n=1}^{N}n(n+1)=\frac{N(N+1)(N+2)}{3}=\frac{15\cdot16\cdot17}{3}=1360$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18360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15640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7820</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n^2(n+1)=18360-2(1360)=15640$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$S_{15}=\frac12(15640)=7820$</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7820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$7820$</a:t>
                </a:r>
                <a:endParaRPr sz="2800">
                  <a:solidFill>
                    <a:srgbClr val="15803D"/>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the factor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denominator is designed to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Telescoping rule: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𝑁</m:t>
                        </m:r>
                      </m:sup>
                      <m:e>
                        <m:r>
                          <a:rPr lang="en-IN" sz="2400" i="1">
                            <a:solidFill>
                              <a:srgbClr val="111827"/>
                            </a:solidFill>
                            <a:latin typeface="Cambria Math" panose="02040503050406030204" pitchFamily="18" charset="0"/>
                          </a:rPr>
                          <m:t>𝑛</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Find a general term from the first few terms: here the multiplier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oMath>
                </a14:m>
                <a:r>
                  <a:rPr sz="2400" b="0">
                    <a:solidFill>
                      <a:srgbClr val="111827"/>
                    </a:solidFill>
                    <a:latin typeface="Arial"/>
                  </a:rPr>
                  <a:t> and the denominators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first term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1800</m:t>
                    </m:r>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ub>
                      <m:sup>
                        <m:r>
                          <a:rPr lang="en-IN" sz="2400" i="1">
                            <a:solidFill>
                              <a:srgbClr val="111827"/>
                            </a:solidFill>
                            <a:latin typeface="Cambria Math" panose="02040503050406030204" pitchFamily="18" charset="0"/>
                          </a:rPr>
                          <m:t>​</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$1^2+2^2+\ldots+n^2=\frac{n(n+1)(2n+1)}6$</a:t>
                </a:r>
                <a:r>
                  <a:rPr sz="2400" b="0">
                    <a:solidFill>
                      <a:srgbClr val="111827"/>
                    </a:solidFill>
                    <a:latin typeface="Arial"/>
                  </a:rPr>
                  <a:t>; the factor </a:t>
                </a:r>
                <a:r>
                  <a:rPr lang="en-IN" sz="2400">
                    <a:solidFill>
                      <a:srgbClr val="111827"/>
                    </a:solidFill>
                    <a:latin typeface="Cambria Math" panose="02040503050406030204" pitchFamily="18" charset="0"/>
                  </a:rPr>
                  <a:t>$(2n+1)$</a:t>
                </a:r>
                <a:r>
                  <a:rPr sz="2400" b="0">
                    <a:solidFill>
                      <a:srgbClr val="111827"/>
                    </a:solidFill>
                    <a:latin typeface="Arial"/>
                  </a:rPr>
                  <a:t> in the denominator is designed to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Telescoping rule: </a:t>
                </a:r>
                <a:r>
                  <a:rPr lang="en-IN" sz="2400">
                    <a:solidFill>
                      <a:srgbClr val="111827"/>
                    </a:solidFill>
                    <a:latin typeface="Cambria Math" panose="02040503050406030204" pitchFamily="18" charset="0"/>
                  </a:rPr>
                  <a:t>$\sum_{n=1}^{N}n(n+1)\cdots(n+k-1)=\frac{N(N+1)\cdots(N+k)}{k+1}$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Find a general term from the first few terms: here the multiplier </a:t>
                </a:r>
                <a:r>
                  <a:rPr lang="en-IN" sz="2400">
                    <a:solidFill>
                      <a:srgbClr val="111827"/>
                    </a:solidFill>
                    <a:latin typeface="Cambria Math" panose="02040503050406030204" pitchFamily="18" charset="0"/>
                  </a:rPr>
                  <a:t>$3,6,9,\ldots=3n$</a:t>
                </a:r>
                <a:r>
                  <a:rPr sz="2400" b="0">
                    <a:solidFill>
                      <a:srgbClr val="111827"/>
                    </a:solidFill>
                    <a:latin typeface="Arial"/>
                  </a:rPr>
                  <a:t> and the denominators </a:t>
                </a:r>
                <a:r>
                  <a:rPr lang="en-IN" sz="2400">
                    <a:solidFill>
                      <a:srgbClr val="111827"/>
                    </a:solidFill>
                    <a:latin typeface="Cambria Math" panose="02040503050406030204" pitchFamily="18" charset="0"/>
                  </a:rPr>
                  <a:t>$3,5,7,\ldots=2n+1$</a:t>
                </a:r>
                <a:r>
                  <a:rPr sz="2400" b="0">
                    <a:solidFill>
                      <a:srgbClr val="111827"/>
                    </a:solidFill>
                    <a:latin typeface="Arial"/>
                  </a:rPr>
                  <a:t> (the first term </a:t>
                </a:r>
                <a:r>
                  <a:rPr lang="en-IN" sz="2400">
                    <a:solidFill>
                      <a:srgbClr val="111827"/>
                    </a:solidFill>
                    <a:latin typeface="Cambria Math" panose="02040503050406030204" pitchFamily="18" charset="0"/>
                  </a:rPr>
                  <a:t>$1=\frac{3\cdot1}{3}$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$T_{15}=\frac12(3375+225)=1800$</a:t>
                </a:r>
                <a:r>
                  <a:rPr sz="2400" b="0">
                    <a:solidFill>
                      <a:srgbClr val="111827"/>
                    </a:solidFill>
                    <a:latin typeface="Arial"/>
                  </a:rPr>
                  <a:t> and </a:t>
                </a:r>
                <a:r>
                  <a:rPr lang="en-IN" sz="2400">
                    <a:solidFill>
                      <a:srgbClr val="111827"/>
                    </a:solidFill>
                    <a:latin typeface="Cambria Math" panose="02040503050406030204" pitchFamily="18" charset="0"/>
                  </a:rPr>
                  <a:t>$\sum_{n\le15}T_n=7820$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30</m:t>
                        </m:r>
                      </m:sub>
                    </m:sSub>
                  </m:oMath>
                </a14:m>
                <a:r>
                  <a:rPr sz="2400" b="0">
                    <a:solidFill>
                      <a:srgbClr val="111827"/>
                    </a:solidFill>
                    <a:latin typeface="Arial"/>
                  </a:rPr>
                  <a:t> be an A.P.,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30</m:t>
                        </m:r>
                      </m:sup>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e>
                    </m:nary>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sSub>
                          <m:e>
                            <m:r>
                              <a:rPr lang="en-IN" sz="2400" i="1">
                                <a:solidFill>
                                  <a:srgbClr val="111827"/>
                                </a:solidFill>
                                <a:latin typeface="Cambria Math" panose="02040503050406030204" pitchFamily="18" charset="0"/>
                              </a:rPr>
                              <m:t>𝑎</m:t>
                            </m:r>
                          </m:e>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b>
                        </m:sSub>
                      </m:e>
                    </m:nary>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47</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57</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$a_1,a_2,\ldots,a_{30}$</a:t>
                </a:r>
                <a:r>
                  <a:rPr sz="2400" b="0">
                    <a:solidFill>
                      <a:srgbClr val="111827"/>
                    </a:solidFill>
                    <a:latin typeface="Arial"/>
                  </a:rPr>
                  <a:t> be an A.P., </a:t>
                </a:r>
                <a:r>
                  <a:rPr lang="en-IN" sz="2400">
                    <a:solidFill>
                      <a:srgbClr val="111827"/>
                    </a:solidFill>
                    <a:latin typeface="Cambria Math" panose="02040503050406030204" pitchFamily="18" charset="0"/>
                  </a:rPr>
                  <a:t>$S=\sum_{i=1}^{30}a_i$</a:t>
                </a:r>
                <a:r>
                  <a:rPr sz="2400" b="0">
                    <a:solidFill>
                      <a:srgbClr val="111827"/>
                    </a:solidFill>
                    <a:latin typeface="Arial"/>
                  </a:rPr>
                  <a:t> and </a:t>
                </a:r>
                <a:r>
                  <a:rPr lang="en-IN" sz="2400">
                    <a:solidFill>
                      <a:srgbClr val="111827"/>
                    </a:solidFill>
                    <a:latin typeface="Cambria Math" panose="02040503050406030204" pitchFamily="18" charset="0"/>
                  </a:rPr>
                  <a:t>$T=\sum_{i=1}^{15}a_{(2i-1)}$</a:t>
                </a:r>
                <a:r>
                  <a:rPr sz="2400" b="0">
                    <a:solidFill>
                      <a:srgbClr val="111827"/>
                    </a:solidFill>
                    <a:latin typeface="Arial"/>
                  </a:rPr>
                  <a:t>. If </a:t>
                </a:r>
                <a:r>
                  <a:rPr lang="en-IN" sz="2400">
                    <a:solidFill>
                      <a:srgbClr val="111827"/>
                    </a:solidFill>
                    <a:latin typeface="Cambria Math" panose="02040503050406030204" pitchFamily="18" charset="0"/>
                  </a:rPr>
                  <a:t>$a_5=27$</a:t>
                </a:r>
                <a:r>
                  <a:rPr sz="2400" b="0">
                    <a:solidFill>
                      <a:srgbClr val="111827"/>
                    </a:solidFill>
                    <a:latin typeface="Arial"/>
                  </a:rPr>
                  <a:t> and </a:t>
                </a:r>
                <a:r>
                  <a:rPr lang="en-IN" sz="2400">
                    <a:solidFill>
                      <a:srgbClr val="111827"/>
                    </a:solidFill>
                    <a:latin typeface="Cambria Math" panose="02040503050406030204" pitchFamily="18" charset="0"/>
                  </a:rPr>
                  <a:t>$S-2T=75$</a:t>
                </a:r>
                <a:r>
                  <a:rPr sz="2400" b="0">
                    <a:solidFill>
                      <a:srgbClr val="111827"/>
                    </a:solidFill>
                    <a:latin typeface="Arial"/>
                  </a:rPr>
                  <a:t>, then </a:t>
                </a:r>
                <a:r>
                  <a:rPr lang="en-IN" sz="2400">
                    <a:solidFill>
                      <a:srgbClr val="111827"/>
                    </a:solidFill>
                    <a:latin typeface="Cambria Math" panose="02040503050406030204" pitchFamily="18" charset="0"/>
                  </a:rPr>
                  <a:t>$a_{10}$</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$42$</a:t>
                </a:r>
                <a:r>
                  <a:rPr sz="2400" b="0">
                    <a:solidFill>
                      <a:srgbClr val="111827"/>
                    </a:solidFill>
                    <a:latin typeface="Arial"/>
                  </a:rPr>
                  <a:t>   (B) </a:t>
                </a:r>
                <a:r>
                  <a:rPr lang="en-IN" sz="2400">
                    <a:solidFill>
                      <a:srgbClr val="111827"/>
                    </a:solidFill>
                    <a:latin typeface="Cambria Math" panose="02040503050406030204" pitchFamily="18" charset="0"/>
                  </a:rPr>
                  <a:t>$52$</a:t>
                </a:r>
                <a:r>
                  <a:rPr sz="2400" b="0">
                    <a:solidFill>
                      <a:srgbClr val="111827"/>
                    </a:solidFill>
                    <a:latin typeface="Arial"/>
                  </a:rPr>
                  <a:t>   (C) </a:t>
                </a:r>
                <a:r>
                  <a:rPr lang="en-IN" sz="2400">
                    <a:solidFill>
                      <a:srgbClr val="111827"/>
                    </a:solidFill>
                    <a:latin typeface="Cambria Math" panose="02040503050406030204" pitchFamily="18" charset="0"/>
                  </a:rPr>
                  <a:t>$47$</a:t>
                </a:r>
                <a:r>
                  <a:rPr sz="2400" b="0">
                    <a:solidFill>
                      <a:srgbClr val="111827"/>
                    </a:solidFill>
                    <a:latin typeface="Arial"/>
                  </a:rPr>
                  <a:t>   (D) </a:t>
                </a:r>
                <a:r>
                  <a:rPr lang="en-IN" sz="2400">
                    <a:solidFill>
                      <a:srgbClr val="111827"/>
                    </a:solidFill>
                    <a:latin typeface="Cambria Math" panose="02040503050406030204" pitchFamily="18" charset="0"/>
                  </a:rPr>
                  <a:t>$57$</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with the sum formula;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29</m:t>
                    </m:r>
                    <m:r>
                      <a:rPr lang="en-IN" sz="2400" i="1">
                        <a:solidFill>
                          <a:srgbClr val="78350F"/>
                        </a:solidFill>
                        <a:latin typeface="Cambria Math" panose="02040503050406030204" pitchFamily="18" charset="0"/>
                      </a:rPr>
                      <m:t>𝑑</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28</m:t>
                    </m:r>
                    <m:r>
                      <a:rPr lang="en-IN" sz="2400" i="1">
                        <a:solidFill>
                          <a:srgbClr val="78350F"/>
                        </a:solidFill>
                        <a:latin typeface="Cambria Math" panose="02040503050406030204" pitchFamily="18" charset="0"/>
                      </a:rPr>
                      <m:t>𝑑</m:t>
                    </m:r>
                  </m:oMath>
                </a14:m>
                <a:r>
                  <a:rPr sz="2400" b="0">
                    <a:solidFill>
                      <a:srgbClr val="78350F"/>
                    </a:solidFill>
                    <a:latin typeface="Arial"/>
                  </a:rPr>
                  <a:t> differ by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r>
                      <a:rPr lang="en-IN" sz="2400" i="1">
                        <a:solidFill>
                          <a:srgbClr val="78350F"/>
                        </a:solidFill>
                        <a:latin typeface="Cambria Math" panose="02040503050406030204" pitchFamily="18" charset="0"/>
                      </a:rPr>
                      <m:t>𝑑</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$S$</a:t>
                </a:r>
                <a:r>
                  <a:rPr sz="2400" b="0">
                    <a:solidFill>
                      <a:srgbClr val="78350F"/>
                    </a:solidFill>
                    <a:latin typeface="Arial"/>
                  </a:rPr>
                  <a:t> and </a:t>
                </a:r>
                <a:r>
                  <a:rPr lang="en-IN" sz="2400">
                    <a:solidFill>
                      <a:srgbClr val="78350F"/>
                    </a:solidFill>
                    <a:latin typeface="Cambria Math" panose="02040503050406030204" pitchFamily="18" charset="0"/>
                  </a:rPr>
                  <a:t>$T$</a:t>
                </a:r>
                <a:r>
                  <a:rPr sz="2400" b="0">
                    <a:solidFill>
                      <a:srgbClr val="78350F"/>
                    </a:solidFill>
                    <a:latin typeface="Arial"/>
                  </a:rPr>
                  <a:t> with the sum formula; </a:t>
                </a:r>
                <a:r>
                  <a:rPr lang="en-IN" sz="2400">
                    <a:solidFill>
                      <a:srgbClr val="78350F"/>
                    </a:solidFill>
                    <a:latin typeface="Cambria Math" panose="02040503050406030204" pitchFamily="18" charset="0"/>
                  </a:rPr>
                  <a:t>$2a+29d$</a:t>
                </a:r>
                <a:r>
                  <a:rPr sz="2400" b="0">
                    <a:solidFill>
                      <a:srgbClr val="78350F"/>
                    </a:solidFill>
                    <a:latin typeface="Arial"/>
                  </a:rPr>
                  <a:t> and </a:t>
                </a:r>
                <a:r>
                  <a:rPr lang="en-IN" sz="2400">
                    <a:solidFill>
                      <a:srgbClr val="78350F"/>
                    </a:solidFill>
                    <a:latin typeface="Cambria Math" panose="02040503050406030204" pitchFamily="18" charset="0"/>
                  </a:rPr>
                  <a:t>$2a+28d$</a:t>
                </a:r>
                <a:r>
                  <a:rPr sz="2400" b="0">
                    <a:solidFill>
                      <a:srgbClr val="78350F"/>
                    </a:solidFill>
                    <a:latin typeface="Arial"/>
                  </a:rPr>
                  <a:t> differ by </a:t>
                </a:r>
                <a:r>
                  <a:rPr lang="en-IN" sz="2400">
                    <a:solidFill>
                      <a:srgbClr val="78350F"/>
                    </a:solidFill>
                    <a:latin typeface="Cambria Math" panose="02040503050406030204" pitchFamily="18" charset="0"/>
                  </a:rPr>
                  <a:t>$d$</a:t>
                </a:r>
                <a:r>
                  <a:rPr sz="2400" b="0">
                    <a:solidFill>
                      <a:srgbClr val="78350F"/>
                    </a:solidFill>
                    <a:latin typeface="Arial"/>
                  </a:rPr>
                  <a:t>, so </a:t>
                </a:r>
                <a:r>
                  <a:rPr lang="en-IN" sz="2400">
                    <a:solidFill>
                      <a:srgbClr val="78350F"/>
                    </a:solidFill>
                    <a:latin typeface="Cambria Math" panose="02040503050406030204" pitchFamily="18" charset="0"/>
                  </a:rPr>
                  <a:t>$S-2T=15d$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29</m:t>
                        </m:r>
                      </m:sub>
                    </m:sSub>
                  </m:oMath>
                </a14:m>
                <a:r>
                  <a:rPr sz="2400" b="0">
                    <a:solidFill>
                      <a:srgbClr val="111827"/>
                    </a:solidFill>
                    <a:latin typeface="Arial"/>
                  </a:rPr>
                  <a:t> is an A.P. of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terms with first term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common difference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$S=\frac{30}{2}(2a+29d)=15(2a+29d)$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$T=a_1+a_3+\ldots+a_{29}$</a:t>
                </a:r>
                <a:r>
                  <a:rPr sz="2400" b="0">
                    <a:solidFill>
                      <a:srgbClr val="111827"/>
                    </a:solidFill>
                    <a:latin typeface="Arial"/>
                  </a:rPr>
                  <a:t> is an A.P. of </a:t>
                </a:r>
                <a:r>
                  <a:rPr lang="en-IN" sz="2400">
                    <a:solidFill>
                      <a:srgbClr val="111827"/>
                    </a:solidFill>
                    <a:latin typeface="Cambria Math" panose="02040503050406030204" pitchFamily="18" charset="0"/>
                  </a:rPr>
                  <a:t>$15$</a:t>
                </a:r>
                <a:r>
                  <a:rPr sz="2400" b="0">
                    <a:solidFill>
                      <a:srgbClr val="111827"/>
                    </a:solidFill>
                    <a:latin typeface="Arial"/>
                  </a:rPr>
                  <a:t> terms with first term </a:t>
                </a:r>
                <a:r>
                  <a:rPr lang="en-IN" sz="2400">
                    <a:solidFill>
                      <a:srgbClr val="111827"/>
                    </a:solidFill>
                    <a:latin typeface="Cambria Math" panose="02040503050406030204" pitchFamily="18" charset="0"/>
                  </a:rPr>
                  <a:t>$a$</a:t>
                </a:r>
                <a:r>
                  <a:rPr sz="2400" b="0">
                    <a:solidFill>
                      <a:srgbClr val="111827"/>
                    </a:solidFill>
                    <a:latin typeface="Arial"/>
                  </a:rPr>
                  <a:t> and common difference </a:t>
                </a:r>
                <a:r>
                  <a:rPr lang="en-IN" sz="2400">
                    <a:solidFill>
                      <a:srgbClr val="111827"/>
                    </a:solidFill>
                    <a:latin typeface="Cambria Math" panose="02040503050406030204" pitchFamily="18" charset="0"/>
                  </a:rPr>
                  <a:t>$2d$</a:t>
                </a:r>
                <a:r>
                  <a:rPr sz="2400" b="0">
                    <a:solidFill>
                      <a:srgbClr val="111827"/>
                    </a:solidFill>
                    <a:latin typeface="Arial"/>
                  </a:rPr>
                  <a:t>: </a:t>
                </a:r>
                <a:r>
                  <a:rPr lang="en-IN" sz="2400">
                    <a:solidFill>
                      <a:srgbClr val="111827"/>
                    </a:solidFill>
                    <a:latin typeface="Cambria Math" panose="02040503050406030204" pitchFamily="18" charset="0"/>
                  </a:rPr>
                  <a:t>$T=\frac{15}{2}\left(2a+14\times2d\right)$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$S-2T=15(2a+29d)-2\cdot\frac{15}{2}(2a+28d)=75$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$15(2a+29d)-15(2a+28d)=75$</a:t>
                </a:r>
                <a:r>
                  <a:rPr sz="2400" b="0">
                    <a:solidFill>
                      <a:srgbClr val="111827"/>
                    </a:solidFill>
                    <a:latin typeface="Arial"/>
                  </a:rPr>
                  <a:t>, so </a:t>
                </a:r>
                <a:r>
                  <a:rPr lang="en-IN" sz="2400">
                    <a:solidFill>
                      <a:srgbClr val="111827"/>
                    </a:solidFill>
                    <a:latin typeface="Cambria Math" panose="02040503050406030204" pitchFamily="18" charset="0"/>
                  </a:rPr>
                  <a:t>$15d=75$</a:t>
                </a:r>
                <a:r>
                  <a:rPr sz="2400" b="0">
                    <a:solidFill>
                      <a:srgbClr val="111827"/>
                    </a:solidFill>
                    <a:latin typeface="Arial"/>
                  </a:rPr>
                  <a:t> and </a:t>
                </a:r>
                <a:r>
                  <a:rPr lang="en-IN" sz="2400">
                    <a:solidFill>
                      <a:srgbClr val="111827"/>
                    </a:solidFill>
                    <a:latin typeface="Cambria Math" panose="02040503050406030204" pitchFamily="18" charset="0"/>
                  </a:rPr>
                  <a:t>$d=5$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$a_5=a+4d=27\Rightarrow a=27-20=7$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$a_{10}=a+9d=7+45=52$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52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$52$</a:t>
                </a:r>
                <a:endParaRPr sz="2800">
                  <a:solidFill>
                    <a:srgbClr val="15803D"/>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sum of an A.P. is (number of terms)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(middle term);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uses the odd-position terms, whose middle is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15</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sum of an A.P. is (number of terms) </a:t>
                </a:r>
                <a:r>
                  <a:rPr lang="en-IN" sz="2400">
                    <a:solidFill>
                      <a:srgbClr val="78350F"/>
                    </a:solidFill>
                    <a:latin typeface="Cambria Math" panose="02040503050406030204" pitchFamily="18" charset="0"/>
                  </a:rPr>
                  <a:t>$\times$</a:t>
                </a:r>
                <a:r>
                  <a:rPr sz="2400" b="0">
                    <a:solidFill>
                      <a:srgbClr val="78350F"/>
                    </a:solidFill>
                    <a:latin typeface="Arial"/>
                  </a:rPr>
                  <a:t> (middle term); </a:t>
                </a:r>
                <a:r>
                  <a:rPr lang="en-IN" sz="2400">
                    <a:solidFill>
                      <a:srgbClr val="78350F"/>
                    </a:solidFill>
                    <a:latin typeface="Cambria Math" panose="02040503050406030204" pitchFamily="18" charset="0"/>
                  </a:rPr>
                  <a:t>$T$</a:t>
                </a:r>
                <a:r>
                  <a:rPr sz="2400" b="0">
                    <a:solidFill>
                      <a:srgbClr val="78350F"/>
                    </a:solidFill>
                    <a:latin typeface="Arial"/>
                  </a:rPr>
                  <a:t> uses the odd-position terms, whose middle is </a:t>
                </a:r>
                <a:r>
                  <a:rPr lang="en-IN" sz="2400">
                    <a:solidFill>
                      <a:srgbClr val="78350F"/>
                    </a:solidFill>
                    <a:latin typeface="Cambria Math" panose="02040503050406030204" pitchFamily="18" charset="0"/>
                  </a:rPr>
                  <a:t>$a_{15}$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(pair first with last: every pair sums to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29</m:t>
                        </m:r>
                      </m:sub>
                    </m:sSub>
                  </m:oMath>
                </a14:m>
                <a:r>
                  <a:rPr sz="2400" b="0">
                    <a:solidFill>
                      <a:srgbClr val="111827"/>
                    </a:solidFill>
                    <a:latin typeface="Arial"/>
                  </a:rPr>
                  <a:t> is symmetric about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(its middle term), so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$S=a_1+\ldots+a_{30}=15(a_{15}+a_{16})$</a:t>
                </a:r>
                <a:r>
                  <a:rPr sz="2400" b="0">
                    <a:solidFill>
                      <a:srgbClr val="111827"/>
                    </a:solidFill>
                    <a:latin typeface="Arial"/>
                  </a:rPr>
                  <a:t> (pair first with last: every pair sums to </a:t>
                </a:r>
                <a:r>
                  <a:rPr lang="en-IN" sz="2400">
                    <a:solidFill>
                      <a:srgbClr val="111827"/>
                    </a:solidFill>
                    <a:latin typeface="Cambria Math" panose="02040503050406030204" pitchFamily="18" charset="0"/>
                  </a:rPr>
                  <a:t>$a_{15}+a_{16}$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$T=a_1+a_3+\ldots+a_{29}$</a:t>
                </a:r>
                <a:r>
                  <a:rPr sz="2400" b="0">
                    <a:solidFill>
                      <a:srgbClr val="111827"/>
                    </a:solidFill>
                    <a:latin typeface="Arial"/>
                  </a:rPr>
                  <a:t> is symmetric about </a:t>
                </a:r>
                <a:r>
                  <a:rPr lang="en-IN" sz="2400">
                    <a:solidFill>
                      <a:srgbClr val="111827"/>
                    </a:solidFill>
                    <a:latin typeface="Cambria Math" panose="02040503050406030204" pitchFamily="18" charset="0"/>
                  </a:rPr>
                  <a:t>$a_{15}$</a:t>
                </a:r>
                <a:r>
                  <a:rPr sz="2400" b="0">
                    <a:solidFill>
                      <a:srgbClr val="111827"/>
                    </a:solidFill>
                    <a:latin typeface="Arial"/>
                  </a:rPr>
                  <a:t> (its middle term), so </a:t>
                </a:r>
                <a:r>
                  <a:rPr lang="en-IN" sz="2400">
                    <a:solidFill>
                      <a:srgbClr val="111827"/>
                    </a:solidFill>
                    <a:latin typeface="Cambria Math" panose="02040503050406030204" pitchFamily="18" charset="0"/>
                  </a:rPr>
                  <a:t>$T=15\,a_{15}$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$S-2T=15(a_{15}+a_{16})-30a_{15}=15(a_{16}-a_{15})=15d$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$15d=75$</a:t>
                </a:r>
                <a:r>
                  <a:rPr sz="2400" b="0">
                    <a:solidFill>
                      <a:srgbClr val="111827"/>
                    </a:solidFill>
                    <a:latin typeface="Arial"/>
                  </a:rPr>
                  <a:t> gives </a:t>
                </a:r>
                <a:r>
                  <a:rPr lang="en-IN" sz="2400">
                    <a:solidFill>
                      <a:srgbClr val="111827"/>
                    </a:solidFill>
                    <a:latin typeface="Cambria Math" panose="02040503050406030204" pitchFamily="18" charset="0"/>
                  </a:rPr>
                  <a:t>$d=5$</a:t>
                </a:r>
                <a:r>
                  <a:rPr sz="2400" b="0">
                    <a:solidFill>
                      <a:srgbClr val="111827"/>
                    </a:solidFill>
                    <a:latin typeface="Arial"/>
                  </a:rPr>
                  <a:t>; </a:t>
                </a:r>
                <a:r>
                  <a:rPr lang="en-IN" sz="2400">
                    <a:solidFill>
                      <a:srgbClr val="111827"/>
                    </a:solidFill>
                    <a:latin typeface="Cambria Math" panose="02040503050406030204" pitchFamily="18" charset="0"/>
                  </a:rPr>
                  <a:t>$a_5=27$</a:t>
                </a:r>
                <a:r>
                  <a:rPr sz="2400" b="0">
                    <a:solidFill>
                      <a:srgbClr val="111827"/>
                    </a:solidFill>
                    <a:latin typeface="Arial"/>
                  </a:rPr>
                  <a:t> gives </a:t>
                </a:r>
                <a:r>
                  <a:rPr lang="en-IN" sz="2400">
                    <a:solidFill>
                      <a:srgbClr val="111827"/>
                    </a:solidFill>
                    <a:latin typeface="Cambria Math" panose="02040503050406030204" pitchFamily="18" charset="0"/>
                  </a:rPr>
                  <a:t>$a_{10}=a_5+5d=27+25=52$</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52</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$52$</a:t>
                </a:r>
                <a:endParaRPr sz="2800">
                  <a:solidFill>
                    <a:srgbClr val="15803D"/>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an odd number of terms, the sum is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middle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Terms at odd positions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 an A.P. with common difference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𝑑</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Shortcut: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with an odd number of terms, the sum is </a:t>
                </a:r>
                <a:r>
                  <a:rPr lang="en-IN" sz="2400">
                    <a:solidFill>
                      <a:srgbClr val="111827"/>
                    </a:solidFill>
                    <a:latin typeface="Cambria Math" panose="02040503050406030204" pitchFamily="18" charset="0"/>
                  </a:rPr>
                  <a:t>$n\times$</a:t>
                </a:r>
                <a:r>
                  <a:rPr sz="2400" b="0">
                    <a:solidFill>
                      <a:srgbClr val="111827"/>
                    </a:solidFill>
                    <a:latin typeface="Arial"/>
                  </a:rPr>
                  <a:t> the middle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Terms at odd positions </a:t>
                </a:r>
                <a:r>
                  <a:rPr lang="en-IN" sz="2400">
                    <a:solidFill>
                      <a:srgbClr val="111827"/>
                    </a:solidFill>
                    <a:latin typeface="Cambria Math" panose="02040503050406030204" pitchFamily="18" charset="0"/>
                  </a:rPr>
                  <a:t>$a_1,a_3,a_5,\ldots$</a:t>
                </a:r>
                <a:r>
                  <a:rPr sz="2400" b="0">
                    <a:solidFill>
                      <a:srgbClr val="111827"/>
                    </a:solidFill>
                    <a:latin typeface="Arial"/>
                  </a:rPr>
                  <a:t> form an A.P. with common difference </a:t>
                </a:r>
                <a:r>
                  <a:rPr lang="en-IN" sz="2400">
                    <a:solidFill>
                      <a:srgbClr val="111827"/>
                    </a:solidFill>
                    <a:latin typeface="Cambria Math" panose="02040503050406030204" pitchFamily="18" charset="0"/>
                  </a:rPr>
                  <a:t>$2d$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$\sum_{i=1}^{2n}a_i-2\sum_{i=1}^{n}a_{2i-1}=nd$</a:t>
                </a:r>
                <a:r>
                  <a:rPr sz="2400" b="0">
                    <a:solidFill>
                      <a:srgbClr val="111827"/>
                    </a:solidFill>
                    <a:latin typeface="Arial"/>
                  </a:rPr>
                  <a:t> (here </a:t>
                </a:r>
                <a:r>
                  <a:rPr lang="en-IN" sz="2400">
                    <a:solidFill>
                      <a:srgbClr val="111827"/>
                    </a:solidFill>
                    <a:latin typeface="Cambria Math" panose="02040503050406030204" pitchFamily="18" charset="0"/>
                  </a:rPr>
                  <a:t>$n=15$</a:t>
                </a:r>
                <a:r>
                  <a:rPr sz="2400" b="0">
                    <a:solidFill>
                      <a:srgbClr val="111827"/>
                    </a:solidFill>
                    <a:latin typeface="Arial"/>
                  </a:rPr>
                  <a:t>, </a:t>
                </a:r>
                <a:r>
                  <a:rPr lang="en-IN" sz="2400">
                    <a:solidFill>
                      <a:srgbClr val="111827"/>
                    </a:solidFill>
                    <a:latin typeface="Cambria Math" panose="02040503050406030204" pitchFamily="18" charset="0"/>
                  </a:rPr>
                  <a:t>$d=5$</a:t>
                </a:r>
                <a:r>
                  <a:rPr sz="2400" b="0">
                    <a:solidFill>
                      <a:srgbClr val="111827"/>
                    </a:solidFill>
                    <a:latin typeface="Arial"/>
                  </a:rPr>
                  <a:t> gives </a:t>
                </a:r>
                <a:r>
                  <a:rPr lang="en-IN" sz="2400">
                    <a:solidFill>
                      <a:srgbClr val="111827"/>
                    </a:solidFill>
                    <a:latin typeface="Cambria Math" panose="02040503050406030204" pitchFamily="18" charset="0"/>
                  </a:rPr>
                  <a:t>$75$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Shortcut: </a:t>
                </a:r>
                <a:r>
                  <a:rPr lang="en-IN" sz="2400">
                    <a:solidFill>
                      <a:srgbClr val="111827"/>
                    </a:solidFill>
                    <a:latin typeface="Cambria Math" panose="02040503050406030204" pitchFamily="18" charset="0"/>
                  </a:rPr>
                  <a:t>$a_{10}=a_5+5d$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be three distinct real numbers in G.P.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𝑏</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cannot be: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be three distinct real numbers in G.P. and </a:t>
                </a:r>
                <a:r>
                  <a:rPr lang="en-IN" sz="2400">
                    <a:solidFill>
                      <a:srgbClr val="111827"/>
                    </a:solidFill>
                    <a:latin typeface="Cambria Math" panose="02040503050406030204" pitchFamily="18" charset="0"/>
                  </a:rPr>
                  <a:t>$a+b+c=xb$</a:t>
                </a:r>
                <a:r>
                  <a:rPr sz="2400" b="0">
                    <a:solidFill>
                      <a:srgbClr val="111827"/>
                    </a:solidFill>
                    <a:latin typeface="Arial"/>
                  </a:rPr>
                  <a:t>, then </a:t>
                </a:r>
                <a:r>
                  <a:rPr lang="en-IN" sz="2400">
                    <a:solidFill>
                      <a:srgbClr val="111827"/>
                    </a:solidFill>
                    <a:latin typeface="Cambria Math" panose="02040503050406030204" pitchFamily="18" charset="0"/>
                  </a:rPr>
                  <a:t>$x$</a:t>
                </a:r>
                <a:r>
                  <a:rPr sz="2400" b="0">
                    <a:solidFill>
                      <a:srgbClr val="111827"/>
                    </a:solidFill>
                    <a:latin typeface="Arial"/>
                  </a:rPr>
                  <a:t> cannot be: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a:t>
                </a:r>
                <a:r>
                  <a:rPr sz="2400" b="0">
                    <a:solidFill>
                      <a:srgbClr val="111827"/>
                    </a:solidFill>
                    <a:latin typeface="Arial"/>
                  </a:rPr>
                  <a:t>   (B) </a:t>
                </a:r>
                <a:r>
                  <a:rPr lang="en-IN" sz="2400">
                    <a:solidFill>
                      <a:srgbClr val="111827"/>
                    </a:solidFill>
                    <a:latin typeface="Cambria Math" panose="02040503050406030204" pitchFamily="18" charset="0"/>
                  </a:rPr>
                  <a:t>$-3$</a:t>
                </a:r>
                <a:r>
                  <a:rPr sz="2400" b="0">
                    <a:solidFill>
                      <a:srgbClr val="111827"/>
                    </a:solidFill>
                    <a:latin typeface="Arial"/>
                  </a:rPr>
                  <a:t>   (C) </a:t>
                </a:r>
                <a:r>
                  <a:rPr lang="en-IN" sz="2400">
                    <a:solidFill>
                      <a:srgbClr val="111827"/>
                    </a:solidFill>
                    <a:latin typeface="Cambria Math" panose="02040503050406030204" pitchFamily="18" charset="0"/>
                  </a:rPr>
                  <a:t>$2$</a:t>
                </a:r>
                <a:r>
                  <a:rPr sz="2400" b="0">
                    <a:solidFill>
                      <a:srgbClr val="111827"/>
                    </a:solidFill>
                    <a:latin typeface="Arial"/>
                  </a:rPr>
                  <a:t>   (D) </a:t>
                </a:r>
                <a:r>
                  <a:rPr lang="en-IN" sz="2400">
                    <a:solidFill>
                      <a:srgbClr val="111827"/>
                    </a:solidFill>
                    <a:latin typeface="Cambria Math" panose="02040503050406030204" pitchFamily="18" charset="0"/>
                  </a:rPr>
                  <a:t>$-2$</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 progression, Real roots of a quadratic equation (discriminant)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𝑟</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𝑟</m:t>
                    </m:r>
                  </m:oMath>
                </a14:m>
                <a:r>
                  <a:rPr sz="2400" b="0">
                    <a:solidFill>
                      <a:srgbClr val="78350F"/>
                    </a:solidFill>
                    <a:latin typeface="Arial"/>
                  </a:rPr>
                  <a:t> we get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den>
                    </m:f>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𝑟</m:t>
                        </m:r>
                      </m:den>
                    </m:f>
                  </m:oMath>
                </a14:m>
                <a:r>
                  <a:rPr sz="2400" b="0">
                    <a:solidFill>
                      <a:srgbClr val="78350F"/>
                    </a:solidFill>
                    <a:latin typeface="Arial"/>
                  </a:rPr>
                  <a:t> never lies in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 real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$a=\frac br,c=br$</a:t>
                </a:r>
                <a:r>
                  <a:rPr sz="2400" b="0">
                    <a:solidFill>
                      <a:srgbClr val="78350F"/>
                    </a:solidFill>
                    <a:latin typeface="Arial"/>
                  </a:rPr>
                  <a:t> we get </a:t>
                </a:r>
                <a:r>
                  <a:rPr lang="en-IN" sz="2400">
                    <a:solidFill>
                      <a:srgbClr val="78350F"/>
                    </a:solidFill>
                    <a:latin typeface="Cambria Math" panose="02040503050406030204" pitchFamily="18" charset="0"/>
                  </a:rPr>
                  <a:t>$x=1+r+\frac1r$</a:t>
                </a:r>
                <a:r>
                  <a:rPr sz="2400" b="0">
                    <a:solidFill>
                      <a:srgbClr val="78350F"/>
                    </a:solidFill>
                    <a:latin typeface="Arial"/>
                  </a:rPr>
                  <a:t>, and </a:t>
                </a:r>
                <a:r>
                  <a:rPr lang="en-IN" sz="2400">
                    <a:solidFill>
                      <a:srgbClr val="78350F"/>
                    </a:solidFill>
                    <a:latin typeface="Cambria Math" panose="02040503050406030204" pitchFamily="18" charset="0"/>
                  </a:rPr>
                  <a:t>$r+\frac1r$</a:t>
                </a:r>
                <a:r>
                  <a:rPr sz="2400" b="0">
                    <a:solidFill>
                      <a:srgbClr val="78350F"/>
                    </a:solidFill>
                    <a:latin typeface="Arial"/>
                  </a:rPr>
                  <a:t> never lies in </a:t>
                </a:r>
                <a:r>
                  <a:rPr lang="en-IN" sz="2400">
                    <a:solidFill>
                      <a:srgbClr val="78350F"/>
                    </a:solidFill>
                    <a:latin typeface="Cambria Math" panose="02040503050406030204" pitchFamily="18" charset="0"/>
                  </a:rPr>
                  <a:t>$(-2,2)$</a:t>
                </a:r>
                <a:r>
                  <a:rPr sz="2400" b="0">
                    <a:solidFill>
                      <a:srgbClr val="78350F"/>
                    </a:solidFill>
                    <a:latin typeface="Arial"/>
                  </a:rPr>
                  <a:t> for real </a:t>
                </a:r>
                <a:r>
                  <a:rPr lang="en-IN" sz="2400">
                    <a:solidFill>
                      <a:srgbClr val="78350F"/>
                    </a:solidFill>
                    <a:latin typeface="Cambria Math" panose="02040503050406030204" pitchFamily="18" charset="0"/>
                  </a:rPr>
                  <a:t>$r$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𝑏</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common ratio be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and write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numbers are distinct,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which would make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$a+b+c=xb$</a:t>
                </a:r>
                <a:r>
                  <a:rPr sz="2400" b="0">
                    <a:solidFill>
                      <a:srgbClr val="111827"/>
                    </a:solidFill>
                    <a:latin typeface="Arial"/>
                  </a:rPr>
                  <a:t> gives </a:t>
                </a:r>
                <a:r>
                  <a:rPr lang="en-IN" sz="2400">
                    <a:solidFill>
                      <a:srgbClr val="111827"/>
                    </a:solidFill>
                    <a:latin typeface="Cambria Math" panose="02040503050406030204" pitchFamily="18" charset="0"/>
                  </a:rPr>
                  <a:t>$a+c=b(x-1)$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the common ratio be </a:t>
                </a:r>
                <a:r>
                  <a:rPr lang="en-IN" sz="2400">
                    <a:solidFill>
                      <a:srgbClr val="111827"/>
                    </a:solidFill>
                    <a:latin typeface="Cambria Math" panose="02040503050406030204" pitchFamily="18" charset="0"/>
                  </a:rPr>
                  <a:t>$r$</a:t>
                </a:r>
                <a:r>
                  <a:rPr sz="2400" b="0">
                    <a:solidFill>
                      <a:srgbClr val="111827"/>
                    </a:solidFill>
                    <a:latin typeface="Arial"/>
                  </a:rPr>
                  <a:t> and write </a:t>
                </a:r>
                <a:r>
                  <a:rPr lang="en-IN" sz="2400">
                    <a:solidFill>
                      <a:srgbClr val="111827"/>
                    </a:solidFill>
                    <a:latin typeface="Cambria Math" panose="02040503050406030204" pitchFamily="18" charset="0"/>
                  </a:rPr>
                  <a:t>$b=ar$</a:t>
                </a:r>
                <a:r>
                  <a:rPr sz="2400" b="0">
                    <a:solidFill>
                      <a:srgbClr val="111827"/>
                    </a:solidFill>
                    <a:latin typeface="Arial"/>
                  </a:rPr>
                  <a:t>, </a:t>
                </a:r>
                <a:r>
                  <a:rPr lang="en-IN" sz="2400">
                    <a:solidFill>
                      <a:srgbClr val="111827"/>
                    </a:solidFill>
                    <a:latin typeface="Cambria Math" panose="02040503050406030204" pitchFamily="18" charset="0"/>
                  </a:rPr>
                  <a:t>$c=ar^2$</a:t>
                </a:r>
                <a:r>
                  <a:rPr sz="2400" b="0">
                    <a:solidFill>
                      <a:srgbClr val="111827"/>
                    </a:solidFill>
                    <a:latin typeface="Arial"/>
                  </a:rPr>
                  <a:t>. Then </a:t>
                </a:r>
                <a:r>
                  <a:rPr lang="en-IN" sz="2400">
                    <a:solidFill>
                      <a:srgbClr val="111827"/>
                    </a:solidFill>
                    <a:latin typeface="Cambria Math" panose="02040503050406030204" pitchFamily="18" charset="0"/>
                  </a:rPr>
                  <a:t>$a+ar^2=ar(x-1)$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$a\neq0$</a:t>
                </a:r>
                <a:r>
                  <a:rPr sz="2400" b="0">
                    <a:solidFill>
                      <a:srgbClr val="111827"/>
                    </a:solidFill>
                    <a:latin typeface="Arial"/>
                  </a:rPr>
                  <a:t>: </a:t>
                </a:r>
                <a:r>
                  <a:rPr lang="en-IN" sz="2400">
                    <a:solidFill>
                      <a:srgbClr val="111827"/>
                    </a:solidFill>
                    <a:latin typeface="Cambria Math" panose="02040503050406030204" pitchFamily="18" charset="0"/>
                  </a:rPr>
                  <a:t>$r^2+(1-x)r+1=0$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numbers are distinct, so </a:t>
                </a:r>
                <a:r>
                  <a:rPr lang="en-IN" sz="2400">
                    <a:solidFill>
                      <a:srgbClr val="111827"/>
                    </a:solidFill>
                    <a:latin typeface="Cambria Math" panose="02040503050406030204" pitchFamily="18" charset="0"/>
                  </a:rPr>
                  <a:t>$r\neq1$</a:t>
                </a:r>
                <a:r>
                  <a:rPr sz="2400" b="0">
                    <a:solidFill>
                      <a:srgbClr val="111827"/>
                    </a:solidFill>
                    <a:latin typeface="Arial"/>
                  </a:rPr>
                  <a:t> (and </a:t>
                </a:r>
                <a:r>
                  <a:rPr lang="en-IN" sz="2400">
                    <a:solidFill>
                      <a:srgbClr val="111827"/>
                    </a:solidFill>
                    <a:latin typeface="Cambria Math" panose="02040503050406030204" pitchFamily="18" charset="0"/>
                  </a:rPr>
                  <a:t>$r\neq-1$</a:t>
                </a:r>
                <a:r>
                  <a:rPr sz="2400" b="0">
                    <a:solidFill>
                      <a:srgbClr val="111827"/>
                    </a:solidFill>
                    <a:latin typeface="Arial"/>
                  </a:rPr>
                  <a:t>, which would make </a:t>
                </a:r>
                <a:r>
                  <a:rPr lang="en-IN" sz="2400">
                    <a:solidFill>
                      <a:srgbClr val="111827"/>
                    </a:solidFill>
                    <a:latin typeface="Cambria Math" panose="02040503050406030204" pitchFamily="18" charset="0"/>
                  </a:rPr>
                  <a:t>$a=c$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is real, so the discriminant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only root is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only root is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both excluded, so in fact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cannot lie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options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lies there.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cannot be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real, so the discriminant </a:t>
                </a:r>
                <a:r>
                  <a:rPr lang="en-IN" sz="2400">
                    <a:solidFill>
                      <a:srgbClr val="111827"/>
                    </a:solidFill>
                    <a:latin typeface="Cambria Math" panose="02040503050406030204" pitchFamily="18" charset="0"/>
                  </a:rPr>
                  <a:t>$(1-x)^2-4\ge0$</a:t>
                </a:r>
                <a:r>
                  <a:rPr sz="2400" b="0">
                    <a:solidFill>
                      <a:srgbClr val="111827"/>
                    </a:solidFill>
                    <a:latin typeface="Arial"/>
                  </a:rPr>
                  <a:t>, i.e. </a:t>
                </a:r>
                <a:r>
                  <a:rPr lang="en-IN" sz="2400">
                    <a:solidFill>
                      <a:srgbClr val="111827"/>
                    </a:solidFill>
                    <a:latin typeface="Cambria Math" panose="02040503050406030204" pitchFamily="18" charset="0"/>
                  </a:rPr>
                  <a:t>$x^2-2x-3\ge0$</a:t>
                </a:r>
                <a:r>
                  <a:rPr sz="2400" b="0">
                    <a:solidFill>
                      <a:srgbClr val="111827"/>
                    </a:solidFill>
                    <a:latin typeface="Arial"/>
                  </a:rPr>
                  <a:t>, i.e. </a:t>
                </a:r>
                <a:r>
                  <a:rPr lang="en-IN" sz="2400">
                    <a:solidFill>
                      <a:srgbClr val="111827"/>
                    </a:solidFill>
                    <a:latin typeface="Cambria Math" panose="02040503050406030204" pitchFamily="18" charset="0"/>
                  </a:rPr>
                  <a:t>$x\le-1$</a:t>
                </a:r>
                <a:r>
                  <a:rPr sz="2400" b="0">
                    <a:solidFill>
                      <a:srgbClr val="111827"/>
                    </a:solidFill>
                    <a:latin typeface="Arial"/>
                  </a:rPr>
                  <a:t> or </a:t>
                </a:r>
                <a:r>
                  <a:rPr lang="en-IN" sz="2400">
                    <a:solidFill>
                      <a:srgbClr val="111827"/>
                    </a:solidFill>
                    <a:latin typeface="Cambria Math" panose="02040503050406030204" pitchFamily="18" charset="0"/>
                  </a:rPr>
                  <a:t>$x\ge3$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$x=3$</a:t>
                </a:r>
                <a:r>
                  <a:rPr sz="2400" b="0">
                    <a:solidFill>
                      <a:srgbClr val="111827"/>
                    </a:solidFill>
                    <a:latin typeface="Arial"/>
                  </a:rPr>
                  <a:t> the only root is </a:t>
                </a:r>
                <a:r>
                  <a:rPr lang="en-IN" sz="2400">
                    <a:solidFill>
                      <a:srgbClr val="111827"/>
                    </a:solidFill>
                    <a:latin typeface="Cambria Math" panose="02040503050406030204" pitchFamily="18" charset="0"/>
                  </a:rPr>
                  <a:t>$r=1$</a:t>
                </a:r>
                <a:r>
                  <a:rPr sz="2400" b="0">
                    <a:solidFill>
                      <a:srgbClr val="111827"/>
                    </a:solidFill>
                    <a:latin typeface="Arial"/>
                  </a:rPr>
                  <a:t> and at </a:t>
                </a:r>
                <a:r>
                  <a:rPr lang="en-IN" sz="2400">
                    <a:solidFill>
                      <a:srgbClr val="111827"/>
                    </a:solidFill>
                    <a:latin typeface="Cambria Math" panose="02040503050406030204" pitchFamily="18" charset="0"/>
                  </a:rPr>
                  <a:t>$x=-1$</a:t>
                </a:r>
                <a:r>
                  <a:rPr sz="2400" b="0">
                    <a:solidFill>
                      <a:srgbClr val="111827"/>
                    </a:solidFill>
                    <a:latin typeface="Arial"/>
                  </a:rPr>
                  <a:t> the only root is </a:t>
                </a:r>
                <a:r>
                  <a:rPr lang="en-IN" sz="2400">
                    <a:solidFill>
                      <a:srgbClr val="111827"/>
                    </a:solidFill>
                    <a:latin typeface="Cambria Math" panose="02040503050406030204" pitchFamily="18" charset="0"/>
                  </a:rPr>
                  <a:t>$r=-1$</a:t>
                </a:r>
                <a:r>
                  <a:rPr sz="2400" b="0">
                    <a:solidFill>
                      <a:srgbClr val="111827"/>
                    </a:solidFill>
                    <a:latin typeface="Arial"/>
                  </a:rPr>
                  <a:t>, both excluded, so in fact </a:t>
                </a:r>
                <a:r>
                  <a:rPr lang="en-IN" sz="2400">
                    <a:solidFill>
                      <a:srgbClr val="111827"/>
                    </a:solidFill>
                    <a:latin typeface="Cambria Math" panose="02040503050406030204" pitchFamily="18" charset="0"/>
                  </a:rPr>
                  <a:t>$x&lt;-1$</a:t>
                </a:r>
                <a:r>
                  <a:rPr sz="2400" b="0">
                    <a:solidFill>
                      <a:srgbClr val="111827"/>
                    </a:solidFill>
                    <a:latin typeface="Arial"/>
                  </a:rPr>
                  <a:t> or </a:t>
                </a:r>
                <a:r>
                  <a:rPr lang="en-IN" sz="2400">
                    <a:solidFill>
                      <a:srgbClr val="111827"/>
                    </a:solidFill>
                    <a:latin typeface="Cambria Math" panose="02040503050406030204" pitchFamily="18" charset="0"/>
                  </a:rPr>
                  <a:t>$x&gt;3$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a:t>
                </a:r>
                <a:r>
                  <a:rPr sz="2400" b="0">
                    <a:solidFill>
                      <a:srgbClr val="111827"/>
                    </a:solidFill>
                    <a:latin typeface="Arial"/>
                  </a:rPr>
                  <a:t> cannot lie in </a:t>
                </a:r>
                <a:r>
                  <a:rPr lang="en-IN" sz="2400">
                    <a:solidFill>
                      <a:srgbClr val="111827"/>
                    </a:solidFill>
                    <a:latin typeface="Cambria Math" panose="02040503050406030204" pitchFamily="18" charset="0"/>
                  </a:rPr>
                  <a:t>$[-1,3]$</a:t>
                </a:r>
                <a:r>
                  <a:rPr sz="2400" b="0">
                    <a:solidFill>
                      <a:srgbClr val="111827"/>
                    </a:solidFill>
                    <a:latin typeface="Arial"/>
                  </a:rPr>
                  <a:t>; of the options only </a:t>
                </a:r>
                <a:r>
                  <a:rPr lang="en-IN" sz="2400">
                    <a:solidFill>
                      <a:srgbClr val="111827"/>
                    </a:solidFill>
                    <a:latin typeface="Cambria Math" panose="02040503050406030204" pitchFamily="18" charset="0"/>
                  </a:rPr>
                  <a:t>$x=2$</a:t>
                </a:r>
                <a:r>
                  <a:rPr sz="2400" b="0">
                    <a:solidFill>
                      <a:srgbClr val="111827"/>
                    </a:solidFill>
                    <a:latin typeface="Arial"/>
                  </a:rPr>
                  <a:t> lies there. </a:t>
                </a:r>
                <a:r>
                  <a:rPr lang="en-IN" sz="2400">
                    <a:solidFill>
                      <a:srgbClr val="111827"/>
                    </a:solidFill>
                    <a:latin typeface="Cambria Math" panose="02040503050406030204" pitchFamily="18" charset="0"/>
                  </a:rPr>
                  <a:t>$x$</a:t>
                </a:r>
                <a:r>
                  <a:rPr sz="2400" b="0">
                    <a:solidFill>
                      <a:srgbClr val="111827"/>
                    </a:solidFill>
                    <a:latin typeface="Arial"/>
                  </a:rPr>
                  <a:t> cannot be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as the two roots of a quadratic with sum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and product </a:t>
                </a:r>
                <a14:m>
                  <m:oMath xmlns:m="http://schemas.openxmlformats.org/officeDocument/2006/math">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they are real and distinct only if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4</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$c$</a:t>
                </a:r>
                <a:r>
                  <a:rPr sz="2400" b="0">
                    <a:solidFill>
                      <a:srgbClr val="78350F"/>
                    </a:solidFill>
                    <a:latin typeface="Arial"/>
                  </a:rPr>
                  <a:t> as the two roots of a quadratic with sum </a:t>
                </a:r>
                <a:r>
                  <a:rPr lang="en-IN" sz="2400">
                    <a:solidFill>
                      <a:srgbClr val="78350F"/>
                    </a:solidFill>
                    <a:latin typeface="Cambria Math" panose="02040503050406030204" pitchFamily="18" charset="0"/>
                  </a:rPr>
                  <a:t>$(x-1)b$</a:t>
                </a:r>
                <a:r>
                  <a:rPr sz="2400" b="0">
                    <a:solidFill>
                      <a:srgbClr val="78350F"/>
                    </a:solidFill>
                    <a:latin typeface="Arial"/>
                  </a:rPr>
                  <a:t> and product </a:t>
                </a:r>
                <a:r>
                  <a:rPr lang="en-IN" sz="2400">
                    <a:solidFill>
                      <a:srgbClr val="78350F"/>
                    </a:solidFill>
                    <a:latin typeface="Cambria Math" panose="02040503050406030204" pitchFamily="18" charset="0"/>
                  </a:rPr>
                  <a:t>$b^2$</a:t>
                </a:r>
                <a:r>
                  <a:rPr sz="2400" b="0">
                    <a:solidFill>
                      <a:srgbClr val="78350F"/>
                    </a:solidFill>
                    <a:latin typeface="Arial"/>
                  </a:rPr>
                  <a:t>; they are real and distinct only if </a:t>
                </a:r>
                <a:r>
                  <a:rPr lang="en-IN" sz="2400">
                    <a:solidFill>
                      <a:srgbClr val="78350F"/>
                    </a:solidFill>
                    <a:latin typeface="Cambria Math" panose="02040503050406030204" pitchFamily="18" charset="0"/>
                  </a:rPr>
                  <a:t>$(x-1)^2&gt;4$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(G.P.).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the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the option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directly: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discriminant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would not be real.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impossible.</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$a+c=(x-1)b$</a:t>
                </a:r>
                <a:r>
                  <a:rPr sz="2400" b="0">
                    <a:solidFill>
                      <a:srgbClr val="111827"/>
                    </a:solidFill>
                    <a:latin typeface="Arial"/>
                  </a:rPr>
                  <a:t> and </a:t>
                </a:r>
                <a:r>
                  <a:rPr lang="en-IN" sz="2400">
                    <a:solidFill>
                      <a:srgbClr val="111827"/>
                    </a:solidFill>
                    <a:latin typeface="Cambria Math" panose="02040503050406030204" pitchFamily="18" charset="0"/>
                  </a:rPr>
                  <a:t>$ac=b^2$</a:t>
                </a:r>
                <a:r>
                  <a:rPr sz="2400" b="0">
                    <a:solidFill>
                      <a:srgbClr val="111827"/>
                    </a:solidFill>
                    <a:latin typeface="Arial"/>
                  </a:rPr>
                  <a:t> (G.P.). So </a:t>
                </a:r>
                <a:r>
                  <a:rPr lang="en-IN" sz="2400">
                    <a:solidFill>
                      <a:srgbClr val="111827"/>
                    </a:solidFill>
                    <a:latin typeface="Cambria Math" panose="02040503050406030204" pitchFamily="18" charset="0"/>
                  </a:rPr>
                  <a:t>$a,c$</a:t>
                </a:r>
                <a:r>
                  <a:rPr sz="2400" b="0">
                    <a:solidFill>
                      <a:srgbClr val="111827"/>
                    </a:solidFill>
                    <a:latin typeface="Arial"/>
                  </a:rPr>
                  <a:t> are the roots of </a:t>
                </a:r>
                <a:r>
                  <a:rPr lang="en-IN" sz="2400">
                    <a:solidFill>
                      <a:srgbClr val="111827"/>
                    </a:solidFill>
                    <a:latin typeface="Cambria Math" panose="02040503050406030204" pitchFamily="18" charset="0"/>
                  </a:rPr>
                  <a:t>$t^2-(x-1)b\,t+b^2=0$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the option </a:t>
                </a:r>
                <a:r>
                  <a:rPr lang="en-IN" sz="2400">
                    <a:solidFill>
                      <a:srgbClr val="111827"/>
                    </a:solidFill>
                    <a:latin typeface="Cambria Math" panose="02040503050406030204" pitchFamily="18" charset="0"/>
                  </a:rPr>
                  <a:t>$x=2$</a:t>
                </a:r>
                <a:r>
                  <a:rPr sz="2400" b="0">
                    <a:solidFill>
                      <a:srgbClr val="111827"/>
                    </a:solidFill>
                    <a:latin typeface="Arial"/>
                  </a:rPr>
                  <a:t> directly: </a:t>
                </a:r>
                <a:r>
                  <a:rPr lang="en-IN" sz="2400">
                    <a:solidFill>
                      <a:srgbClr val="111827"/>
                    </a:solidFill>
                    <a:latin typeface="Cambria Math" panose="02040503050406030204" pitchFamily="18" charset="0"/>
                  </a:rPr>
                  <a:t>$t^2-bt+b^2=0$</a:t>
                </a:r>
                <a:r>
                  <a:rPr sz="2400" b="0">
                    <a:solidFill>
                      <a:srgbClr val="111827"/>
                    </a:solidFill>
                    <a:latin typeface="Arial"/>
                  </a:rPr>
                  <a:t> has discriminant </a:t>
                </a:r>
                <a:r>
                  <a:rPr lang="en-IN" sz="2400">
                    <a:solidFill>
                      <a:srgbClr val="111827"/>
                    </a:solidFill>
                    <a:latin typeface="Cambria Math" panose="02040503050406030204" pitchFamily="18" charset="0"/>
                  </a:rPr>
                  <a:t>$b^2-4b^2=-3b^2&lt;0$</a:t>
                </a:r>
                <a:r>
                  <a:rPr sz="2400" b="0">
                    <a:solidFill>
                      <a:srgbClr val="111827"/>
                    </a:solidFill>
                    <a:latin typeface="Arial"/>
                  </a:rPr>
                  <a:t> for </a:t>
                </a:r>
                <a:r>
                  <a:rPr lang="en-IN" sz="2400">
                    <a:solidFill>
                      <a:srgbClr val="111827"/>
                    </a:solidFill>
                    <a:latin typeface="Cambria Math" panose="02040503050406030204" pitchFamily="18" charset="0"/>
                  </a:rPr>
                  <a:t>$b\neq0$</a:t>
                </a:r>
                <a:r>
                  <a:rPr sz="2400" b="0">
                    <a:solidFill>
                      <a:srgbClr val="111827"/>
                    </a:solidFill>
                    <a:latin typeface="Arial"/>
                  </a:rPr>
                  <a:t>, so </a:t>
                </a:r>
                <a:r>
                  <a:rPr lang="en-IN" sz="2400">
                    <a:solidFill>
                      <a:srgbClr val="111827"/>
                    </a:solidFill>
                    <a:latin typeface="Cambria Math" panose="02040503050406030204" pitchFamily="18" charset="0"/>
                  </a:rPr>
                  <a:t>$a,c$</a:t>
                </a:r>
                <a:r>
                  <a:rPr sz="2400" b="0">
                    <a:solidFill>
                      <a:srgbClr val="111827"/>
                    </a:solidFill>
                    <a:latin typeface="Arial"/>
                  </a:rPr>
                  <a:t> would not be real.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$x=2$</a:t>
                </a:r>
                <a:r>
                  <a:rPr sz="2400" b="0">
                    <a:solidFill>
                      <a:srgbClr val="111827"/>
                    </a:solidFill>
                    <a:latin typeface="Arial"/>
                  </a:rPr>
                  <a:t> is impossible.</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that the other options are possible: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discriminant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discriminant </a:t>
                </a: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discriminant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general real distinct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need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 The same answer,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that the other options are possible: </a:t>
                </a:r>
                <a:r>
                  <a:rPr lang="en-IN" sz="2400">
                    <a:solidFill>
                      <a:srgbClr val="111827"/>
                    </a:solidFill>
                    <a:latin typeface="Cambria Math" panose="02040503050406030204" pitchFamily="18" charset="0"/>
                  </a:rPr>
                  <a:t>$x=4$</a:t>
                </a:r>
                <a:r>
                  <a:rPr sz="2400" b="0">
                    <a:solidFill>
                      <a:srgbClr val="111827"/>
                    </a:solidFill>
                    <a:latin typeface="Arial"/>
                  </a:rPr>
                  <a:t> gives </a:t>
                </a:r>
                <a:r>
                  <a:rPr lang="en-IN" sz="2400">
                    <a:solidFill>
                      <a:srgbClr val="111827"/>
                    </a:solidFill>
                    <a:latin typeface="Cambria Math" panose="02040503050406030204" pitchFamily="18" charset="0"/>
                  </a:rPr>
                  <a:t>$t^2-3bt+b^2=0$</a:t>
                </a:r>
                <a:r>
                  <a:rPr sz="2400" b="0">
                    <a:solidFill>
                      <a:srgbClr val="111827"/>
                    </a:solidFill>
                    <a:latin typeface="Arial"/>
                  </a:rPr>
                  <a:t> with discriminant </a:t>
                </a:r>
                <a:r>
                  <a:rPr lang="en-IN" sz="2400">
                    <a:solidFill>
                      <a:srgbClr val="111827"/>
                    </a:solidFill>
                    <a:latin typeface="Cambria Math" panose="02040503050406030204" pitchFamily="18" charset="0"/>
                  </a:rPr>
                  <a:t>$5b^2&gt;0$</a:t>
                </a:r>
                <a:r>
                  <a:rPr sz="2400" b="0">
                    <a:solidFill>
                      <a:srgbClr val="111827"/>
                    </a:solidFill>
                    <a:latin typeface="Arial"/>
                  </a:rPr>
                  <a:t>;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$t^2+4bt+b^2$</a:t>
                </a:r>
                <a:r>
                  <a:rPr sz="2400" b="0">
                    <a:solidFill>
                      <a:srgbClr val="111827"/>
                    </a:solidFill>
                    <a:latin typeface="Arial"/>
                  </a:rPr>
                  <a:t>, discriminant </a:t>
                </a:r>
                <a:r>
                  <a:rPr lang="en-IN" sz="2400">
                    <a:solidFill>
                      <a:srgbClr val="111827"/>
                    </a:solidFill>
                    <a:latin typeface="Cambria Math" panose="02040503050406030204" pitchFamily="18" charset="0"/>
                  </a:rPr>
                  <a:t>$12b^2&gt;0$</a:t>
                </a:r>
                <a:r>
                  <a:rPr sz="2400" b="0">
                    <a:solidFill>
                      <a:srgbClr val="111827"/>
                    </a:solidFill>
                    <a:latin typeface="Arial"/>
                  </a:rPr>
                  <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$t^2+3bt+b^2$</a:t>
                </a:r>
                <a:r>
                  <a:rPr sz="2400" b="0">
                    <a:solidFill>
                      <a:srgbClr val="111827"/>
                    </a:solidFill>
                    <a:latin typeface="Arial"/>
                  </a:rPr>
                  <a:t>, discriminant </a:t>
                </a:r>
                <a:r>
                  <a:rPr lang="en-IN" sz="2400">
                    <a:solidFill>
                      <a:srgbClr val="111827"/>
                    </a:solidFill>
                    <a:latin typeface="Cambria Math" panose="02040503050406030204" pitchFamily="18" charset="0"/>
                  </a:rPr>
                  <a:t>$5b^2&gt;0$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general real distinct </a:t>
                </a:r>
                <a:r>
                  <a:rPr lang="en-IN" sz="2400">
                    <a:solidFill>
                      <a:srgbClr val="111827"/>
                    </a:solidFill>
                    <a:latin typeface="Cambria Math" panose="02040503050406030204" pitchFamily="18" charset="0"/>
                  </a:rPr>
                  <a:t>$a,c$</a:t>
                </a:r>
                <a:r>
                  <a:rPr sz="2400" b="0">
                    <a:solidFill>
                      <a:srgbClr val="111827"/>
                    </a:solidFill>
                    <a:latin typeface="Arial"/>
                  </a:rPr>
                  <a:t> need </a:t>
                </a:r>
                <a:r>
                  <a:rPr lang="en-IN" sz="2400">
                    <a:solidFill>
                      <a:srgbClr val="111827"/>
                    </a:solidFill>
                    <a:latin typeface="Cambria Math" panose="02040503050406030204" pitchFamily="18" charset="0"/>
                  </a:rPr>
                  <a:t>$(x-1)^2&gt;4$</a:t>
                </a:r>
                <a:r>
                  <a:rPr sz="2400" b="0">
                    <a:solidFill>
                      <a:srgbClr val="111827"/>
                    </a:solidFill>
                    <a:latin typeface="Arial"/>
                  </a:rPr>
                  <a:t>, i.e. </a:t>
                </a:r>
                <a:r>
                  <a:rPr lang="en-IN" sz="2400">
                    <a:solidFill>
                      <a:srgbClr val="111827"/>
                    </a:solidFill>
                    <a:latin typeface="Cambria Math" panose="02040503050406030204" pitchFamily="18" charset="0"/>
                  </a:rPr>
                  <a:t>$x&lt;-1$</a:t>
                </a:r>
                <a:r>
                  <a:rPr sz="2400" b="0">
                    <a:solidFill>
                      <a:srgbClr val="111827"/>
                    </a:solidFill>
                    <a:latin typeface="Arial"/>
                  </a:rPr>
                  <a:t> or </a:t>
                </a:r>
                <a:r>
                  <a:rPr lang="en-IN" sz="2400">
                    <a:solidFill>
                      <a:srgbClr val="111827"/>
                    </a:solidFill>
                    <a:latin typeface="Cambria Math" panose="02040503050406030204" pitchFamily="18" charset="0"/>
                  </a:rPr>
                  <a:t>$x&gt;3$</a:t>
                </a:r>
                <a:r>
                  <a:rPr sz="2400" b="0">
                    <a:solidFill>
                      <a:srgbClr val="111827"/>
                    </a:solidFill>
                    <a:latin typeface="Arial"/>
                  </a:rPr>
                  <a:t>. The same answer, </a:t>
                </a:r>
                <a:r>
                  <a:rPr lang="en-IN" sz="2400">
                    <a:solidFill>
                      <a:srgbClr val="111827"/>
                    </a:solidFill>
                    <a:latin typeface="Cambria Math" panose="02040503050406030204" pitchFamily="18" charset="0"/>
                  </a:rPr>
                  <a:t>$x\neq2$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G.P.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of a real G.P. lies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only for the degenerate ratios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given sum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and product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are real iff </a:t>
                </a: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oMath>
                </a14:m>
                <a:r>
                  <a:rPr sz="2400" b="0">
                    <a:solidFill>
                      <a:srgbClr val="111827"/>
                    </a:solidFill>
                    <a:latin typeface="Arial"/>
                  </a:rPr>
                  <a:t>: use it to bound parameters.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would need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impossible.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G.P. </a:t>
                </a:r>
                <a:r>
                  <a:rPr lang="en-IN" sz="2400">
                    <a:solidFill>
                      <a:srgbClr val="111827"/>
                    </a:solidFill>
                    <a:latin typeface="Cambria Math" panose="02040503050406030204" pitchFamily="18" charset="0"/>
                  </a:rPr>
                  <a:t>$\frac br,b,br$</a:t>
                </a:r>
                <a:r>
                  <a:rPr sz="2400" b="0">
                    <a:solidFill>
                      <a:srgbClr val="111827"/>
                    </a:solidFill>
                    <a:latin typeface="Arial"/>
                  </a:rPr>
                  <a:t>: </a:t>
                </a:r>
                <a:r>
                  <a:rPr lang="en-IN" sz="2400">
                    <a:solidFill>
                      <a:srgbClr val="111827"/>
                    </a:solidFill>
                    <a:latin typeface="Cambria Math" panose="02040503050406030204" pitchFamily="18" charset="0"/>
                  </a:rPr>
                  <a:t>$\frac{a+b+c}{b}=1+r+\frac1r$</a:t>
                </a:r>
                <a:r>
                  <a:rPr sz="2400" b="0">
                    <a:solidFill>
                      <a:srgbClr val="111827"/>
                    </a:solidFill>
                    <a:latin typeface="Arial"/>
                  </a:rPr>
                  <a:t>, and </a:t>
                </a:r>
                <a:r>
                  <a:rPr lang="en-IN" sz="2400">
                    <a:solidFill>
                      <a:srgbClr val="111827"/>
                    </a:solidFill>
                    <a:latin typeface="Cambria Math" panose="02040503050406030204" pitchFamily="18" charset="0"/>
                  </a:rPr>
                  <a:t>$r+\frac1r\ge2$</a:t>
                </a:r>
                <a:r>
                  <a:rPr sz="2400" b="0">
                    <a:solidFill>
                      <a:srgbClr val="111827"/>
                    </a:solidFill>
                    <a:latin typeface="Arial"/>
                  </a:rPr>
                  <a:t> if </a:t>
                </a:r>
                <a:r>
                  <a:rPr lang="en-IN" sz="2400">
                    <a:solidFill>
                      <a:srgbClr val="111827"/>
                    </a:solidFill>
                    <a:latin typeface="Cambria Math" panose="02040503050406030204" pitchFamily="18" charset="0"/>
                  </a:rPr>
                  <a:t>$r&gt;0$</a:t>
                </a:r>
                <a:r>
                  <a:rPr sz="2400" b="0">
                    <a:solidFill>
                      <a:srgbClr val="111827"/>
                    </a:solidFill>
                    <a:latin typeface="Arial"/>
                  </a:rPr>
                  <a:t>, </a:t>
                </a:r>
                <a:r>
                  <a:rPr lang="en-IN" sz="2400">
                    <a:solidFill>
                      <a:srgbClr val="111827"/>
                    </a:solidFill>
                    <a:latin typeface="Cambria Math" panose="02040503050406030204" pitchFamily="18" charset="0"/>
                  </a:rPr>
                  <a:t>$\le-2$</a:t>
                </a:r>
                <a:r>
                  <a:rPr sz="2400" b="0">
                    <a:solidFill>
                      <a:srgbClr val="111827"/>
                    </a:solidFill>
                    <a:latin typeface="Arial"/>
                  </a:rPr>
                  <a:t> if </a:t>
                </a:r>
                <a:r>
                  <a:rPr lang="en-IN" sz="2400">
                    <a:solidFill>
                      <a:srgbClr val="111827"/>
                    </a:solidFill>
                    <a:latin typeface="Cambria Math" panose="02040503050406030204" pitchFamily="18" charset="0"/>
                  </a:rPr>
                  <a:t>$r&lt;0$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ratio </a:t>
                </a:r>
                <a:r>
                  <a:rPr lang="en-IN" sz="2400">
                    <a:solidFill>
                      <a:srgbClr val="111827"/>
                    </a:solidFill>
                    <a:latin typeface="Cambria Math" panose="02040503050406030204" pitchFamily="18" charset="0"/>
                  </a:rPr>
                  <a:t>$\frac{a+b+c}{b}$</a:t>
                </a:r>
                <a:r>
                  <a:rPr sz="2400" b="0">
                    <a:solidFill>
                      <a:srgbClr val="111827"/>
                    </a:solidFill>
                    <a:latin typeface="Arial"/>
                  </a:rPr>
                  <a:t> of a real G.P. lies in </a:t>
                </a:r>
                <a:r>
                  <a:rPr lang="en-IN" sz="2400">
                    <a:solidFill>
                      <a:srgbClr val="111827"/>
                    </a:solidFill>
                    <a:latin typeface="Cambria Math" panose="02040503050406030204" pitchFamily="18" charset="0"/>
                  </a:rPr>
                  <a:t>$(-\infty,-1]\cup[3,\infty)$</a:t>
                </a:r>
                <a:r>
                  <a:rPr sz="2400" b="0">
                    <a:solidFill>
                      <a:srgbClr val="111827"/>
                    </a:solidFill>
                    <a:latin typeface="Arial"/>
                  </a:rPr>
                  <a:t>, with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 only for the degenerate ratios </a:t>
                </a:r>
                <a:r>
                  <a:rPr lang="en-IN" sz="2400">
                    <a:solidFill>
                      <a:srgbClr val="111827"/>
                    </a:solidFill>
                    <a:latin typeface="Cambria Math" panose="02040503050406030204" pitchFamily="18" charset="0"/>
                  </a:rPr>
                  <a:t>$r=1,-1$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a:t>
                </a:r>
                <a:r>
                  <a:rPr lang="en-IN" sz="2400">
                    <a:solidFill>
                      <a:srgbClr val="111827"/>
                    </a:solidFill>
                    <a:latin typeface="Cambria Math" panose="02040503050406030204" pitchFamily="18" charset="0"/>
                  </a:rPr>
                  <a:t>$(a,c)$</a:t>
                </a:r>
                <a:r>
                  <a:rPr sz="2400" b="0">
                    <a:solidFill>
                      <a:srgbClr val="111827"/>
                    </a:solidFill>
                    <a:latin typeface="Arial"/>
                  </a:rPr>
                  <a:t> with given sum </a:t>
                </a:r>
                <a:r>
                  <a:rPr lang="en-IN" sz="2400">
                    <a:solidFill>
                      <a:srgbClr val="111827"/>
                    </a:solidFill>
                    <a:latin typeface="Cambria Math" panose="02040503050406030204" pitchFamily="18" charset="0"/>
                  </a:rPr>
                  <a:t>$s$</a:t>
                </a:r>
                <a:r>
                  <a:rPr sz="2400" b="0">
                    <a:solidFill>
                      <a:srgbClr val="111827"/>
                    </a:solidFill>
                    <a:latin typeface="Arial"/>
                  </a:rPr>
                  <a:t> and product </a:t>
                </a:r>
                <a:r>
                  <a:rPr lang="en-IN" sz="2400">
                    <a:solidFill>
                      <a:srgbClr val="111827"/>
                    </a:solidFill>
                    <a:latin typeface="Cambria Math" panose="02040503050406030204" pitchFamily="18" charset="0"/>
                  </a:rPr>
                  <a:t>$p$</a:t>
                </a:r>
                <a:r>
                  <a:rPr sz="2400" b="0">
                    <a:solidFill>
                      <a:srgbClr val="111827"/>
                    </a:solidFill>
                    <a:latin typeface="Arial"/>
                  </a:rPr>
                  <a:t> are real iff </a:t>
                </a:r>
                <a:r>
                  <a:rPr lang="en-IN" sz="2400">
                    <a:solidFill>
                      <a:srgbClr val="111827"/>
                    </a:solidFill>
                    <a:latin typeface="Cambria Math" panose="02040503050406030204" pitchFamily="18" charset="0"/>
                  </a:rPr>
                  <a:t>$s^2\ge4p$</a:t>
                </a:r>
                <a:r>
                  <a:rPr sz="2400" b="0">
                    <a:solidFill>
                      <a:srgbClr val="111827"/>
                    </a:solidFill>
                    <a:latin typeface="Arial"/>
                  </a:rPr>
                  <a:t>: use it to bound parameters.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r>
                  <a:rPr lang="en-IN" sz="2400">
                    <a:solidFill>
                      <a:srgbClr val="111827"/>
                    </a:solidFill>
                    <a:latin typeface="Cambria Math" panose="02040503050406030204" pitchFamily="18" charset="0"/>
                  </a:rPr>
                  <a:t>$x=1+r+\frac1r=3$</a:t>
                </a:r>
                <a:r>
                  <a:rPr sz="2400" b="0">
                    <a:solidFill>
                      <a:srgbClr val="111827"/>
                    </a:solidFill>
                    <a:latin typeface="Arial"/>
                  </a:rPr>
                  <a:t> at </a:t>
                </a:r>
                <a:r>
                  <a:rPr lang="en-IN" sz="2400">
                    <a:solidFill>
                      <a:srgbClr val="111827"/>
                    </a:solidFill>
                    <a:latin typeface="Cambria Math" panose="02040503050406030204" pitchFamily="18" charset="0"/>
                  </a:rPr>
                  <a:t>$r=1$</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 at </a:t>
                </a:r>
                <a:r>
                  <a:rPr lang="en-IN" sz="2400">
                    <a:solidFill>
                      <a:srgbClr val="111827"/>
                    </a:solidFill>
                    <a:latin typeface="Cambria Math" panose="02040503050406030204" pitchFamily="18" charset="0"/>
                  </a:rPr>
                  <a:t>$r=-1$</a:t>
                </a:r>
                <a:r>
                  <a:rPr sz="2400" b="0">
                    <a:solidFill>
                      <a:srgbClr val="111827"/>
                    </a:solidFill>
                    <a:latin typeface="Arial"/>
                  </a:rPr>
                  <a:t>; </a:t>
                </a:r>
                <a:r>
                  <a:rPr lang="en-IN" sz="2400">
                    <a:solidFill>
                      <a:srgbClr val="111827"/>
                    </a:solidFill>
                    <a:latin typeface="Cambria Math" panose="02040503050406030204" pitchFamily="18" charset="0"/>
                  </a:rPr>
                  <a:t>$x=2$</a:t>
                </a:r>
                <a:r>
                  <a:rPr sz="2400" b="0">
                    <a:solidFill>
                      <a:srgbClr val="111827"/>
                    </a:solidFill>
                    <a:latin typeface="Arial"/>
                  </a:rPr>
                  <a:t> would need </a:t>
                </a:r>
                <a:r>
                  <a:rPr lang="en-IN" sz="2400">
                    <a:solidFill>
                      <a:srgbClr val="111827"/>
                    </a:solidFill>
                    <a:latin typeface="Cambria Math" panose="02040503050406030204" pitchFamily="18" charset="0"/>
                  </a:rPr>
                  <a:t>$r+\frac1r=1$</a:t>
                </a:r>
                <a:r>
                  <a:rPr sz="2400" b="0">
                    <a:solidFill>
                      <a:srgbClr val="111827"/>
                    </a:solidFill>
                    <a:latin typeface="Arial"/>
                  </a:rPr>
                  <a:t>, impossible.</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natural numbers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200</m:t>
                    </m:r>
                  </m:oMath>
                </a14:m>
                <a:r>
                  <a:rPr sz="2400" b="0">
                    <a:solidFill>
                      <a:srgbClr val="111827"/>
                    </a:solidFill>
                    <a:latin typeface="Arial"/>
                  </a:rPr>
                  <a:t> and H.C.F.</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3303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3121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3203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3221</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natural numbers </a:t>
                </a:r>
                <a:r>
                  <a:rPr lang="en-IN" sz="2400">
                    <a:solidFill>
                      <a:srgbClr val="111827"/>
                    </a:solidFill>
                    <a:latin typeface="Cambria Math" panose="02040503050406030204" pitchFamily="18" charset="0"/>
                  </a:rPr>
                  <a:t>$n$</a:t>
                </a:r>
                <a:r>
                  <a:rPr sz="2400" b="0">
                    <a:solidFill>
                      <a:srgbClr val="111827"/>
                    </a:solidFill>
                    <a:latin typeface="Arial"/>
                  </a:rPr>
                  <a:t> such that </a:t>
                </a:r>
                <a:r>
                  <a:rPr lang="en-IN" sz="2400">
                    <a:solidFill>
                      <a:srgbClr val="111827"/>
                    </a:solidFill>
                    <a:latin typeface="Cambria Math" panose="02040503050406030204" pitchFamily="18" charset="0"/>
                  </a:rPr>
                  <a:t>$100&lt;n&lt;200$</a:t>
                </a:r>
                <a:r>
                  <a:rPr sz="2400" b="0">
                    <a:solidFill>
                      <a:srgbClr val="111827"/>
                    </a:solidFill>
                    <a:latin typeface="Arial"/>
                  </a:rPr>
                  <a:t> and H.C.F.</a:t>
                </a:r>
                <a:r>
                  <a:rPr lang="en-IN" sz="2400">
                    <a:solidFill>
                      <a:srgbClr val="111827"/>
                    </a:solidFill>
                    <a:latin typeface="Cambria Math" panose="02040503050406030204" pitchFamily="18" charset="0"/>
                  </a:rPr>
                  <a:t>$(91,n)&gt;1$</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$3303$</a:t>
                </a:r>
                <a:r>
                  <a:rPr sz="2400" b="0">
                    <a:solidFill>
                      <a:srgbClr val="111827"/>
                    </a:solidFill>
                    <a:latin typeface="Arial"/>
                  </a:rPr>
                  <a:t>   (B) </a:t>
                </a:r>
                <a:r>
                  <a:rPr lang="en-IN" sz="2400">
                    <a:solidFill>
                      <a:srgbClr val="111827"/>
                    </a:solidFill>
                    <a:latin typeface="Cambria Math" panose="02040503050406030204" pitchFamily="18" charset="0"/>
                  </a:rPr>
                  <a:t>$3121$</a:t>
                </a:r>
                <a:r>
                  <a:rPr sz="2400" b="0">
                    <a:solidFill>
                      <a:srgbClr val="111827"/>
                    </a:solidFill>
                    <a:latin typeface="Arial"/>
                  </a:rPr>
                  <a:t>   (C) </a:t>
                </a:r>
                <a:r>
                  <a:rPr lang="en-IN" sz="2400">
                    <a:solidFill>
                      <a:srgbClr val="111827"/>
                    </a:solidFill>
                    <a:latin typeface="Cambria Math" panose="02040503050406030204" pitchFamily="18" charset="0"/>
                  </a:rPr>
                  <a:t>$3203$</a:t>
                </a:r>
                <a:r>
                  <a:rPr sz="2400" b="0">
                    <a:solidFill>
                      <a:srgbClr val="111827"/>
                    </a:solidFill>
                    <a:latin typeface="Arial"/>
                  </a:rPr>
                  <a:t>   (D) </a:t>
                </a:r>
                <a:r>
                  <a:rPr lang="en-IN" sz="2400">
                    <a:solidFill>
                      <a:srgbClr val="111827"/>
                    </a:solidFill>
                    <a:latin typeface="Cambria Math" panose="02040503050406030204" pitchFamily="18" charset="0"/>
                  </a:rPr>
                  <a:t>$3221$</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and HCF (inclusion-exclusion), Sum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91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H</m:t>
                    </m:r>
                    <m:r>
                      <m:rPr>
                        <m:sty m:val="p"/>
                      </m:rPr>
                      <a:rPr lang="en-IN" sz="2400">
                        <a:solidFill>
                          <a:srgbClr val="78350F"/>
                        </a:solidFill>
                        <a:latin typeface="Cambria Math" panose="02040503050406030204" pitchFamily="18" charset="0"/>
                      </a:rPr>
                      <m:t>C</m:t>
                    </m:r>
                    <m:r>
                      <m:rPr>
                        <m:sty m:val="p"/>
                      </m:rPr>
                      <a:rPr lang="en-IN" sz="2400">
                        <a:solidFill>
                          <a:srgbClr val="78350F"/>
                        </a:solidFill>
                        <a:latin typeface="Cambria Math" panose="02040503050406030204" pitchFamily="18" charset="0"/>
                      </a:rPr>
                      <m:t>F</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1</m:t>
                    </m:r>
                  </m:oMath>
                </a14:m>
                <a:r>
                  <a:rPr sz="2400" b="0">
                    <a:solidFill>
                      <a:srgbClr val="78350F"/>
                    </a:solidFill>
                    <a:latin typeface="Arial"/>
                  </a:rPr>
                  <a:t> exactly when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is divisible by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13</m:t>
                    </m:r>
                  </m:oMath>
                </a14:m>
                <a:r>
                  <a:rPr sz="2400" b="0">
                    <a:solidFill>
                      <a:srgbClr val="78350F"/>
                    </a:solidFill>
                    <a:latin typeface="Arial"/>
                  </a:rPr>
                  <a:t>; use inclusion-exclusion on the sums.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$91=7\times13$</a:t>
                </a:r>
                <a:r>
                  <a:rPr sz="2400" b="0">
                    <a:solidFill>
                      <a:srgbClr val="78350F"/>
                    </a:solidFill>
                    <a:latin typeface="Arial"/>
                  </a:rPr>
                  <a:t>, so </a:t>
                </a:r>
                <a:r>
                  <a:rPr lang="en-IN" sz="2400">
                    <a:solidFill>
                      <a:srgbClr val="78350F"/>
                    </a:solidFill>
                    <a:latin typeface="Cambria Math" panose="02040503050406030204" pitchFamily="18" charset="0"/>
                  </a:rPr>
                  <a:t>$\mathrm{HCF}(91,n)&gt;1$</a:t>
                </a:r>
                <a:r>
                  <a:rPr sz="2400" b="0">
                    <a:solidFill>
                      <a:srgbClr val="78350F"/>
                    </a:solidFill>
                    <a:latin typeface="Arial"/>
                  </a:rPr>
                  <a:t> exactly when </a:t>
                </a:r>
                <a:r>
                  <a:rPr lang="en-IN" sz="2400">
                    <a:solidFill>
                      <a:srgbClr val="78350F"/>
                    </a:solidFill>
                    <a:latin typeface="Cambria Math" panose="02040503050406030204" pitchFamily="18" charset="0"/>
                  </a:rPr>
                  <a:t>$n$</a:t>
                </a:r>
                <a:r>
                  <a:rPr sz="2400" b="0">
                    <a:solidFill>
                      <a:srgbClr val="78350F"/>
                    </a:solidFill>
                    <a:latin typeface="Arial"/>
                  </a:rPr>
                  <a:t> is divisible by </a:t>
                </a:r>
                <a:r>
                  <a:rPr lang="en-IN" sz="2400">
                    <a:solidFill>
                      <a:srgbClr val="78350F"/>
                    </a:solidFill>
                    <a:latin typeface="Cambria Math" panose="02040503050406030204" pitchFamily="18" charset="0"/>
                  </a:rPr>
                  <a:t>$7$</a:t>
                </a:r>
                <a:r>
                  <a:rPr sz="2400" b="0">
                    <a:solidFill>
                      <a:srgbClr val="78350F"/>
                    </a:solidFill>
                    <a:latin typeface="Arial"/>
                  </a:rPr>
                  <a:t> or </a:t>
                </a:r>
                <a:r>
                  <a:rPr lang="en-IN" sz="2400">
                    <a:solidFill>
                      <a:srgbClr val="78350F"/>
                    </a:solidFill>
                    <a:latin typeface="Cambria Math" panose="02040503050406030204" pitchFamily="18" charset="0"/>
                  </a:rPr>
                  <a:t>$13$</a:t>
                </a:r>
                <a:r>
                  <a:rPr sz="2400" b="0">
                    <a:solidFill>
                      <a:srgbClr val="78350F"/>
                    </a:solidFill>
                    <a:latin typeface="Arial"/>
                  </a:rPr>
                  <a:t>; use inclusion-exclusion on the sums.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H</m:t>
                    </m:r>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F</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or by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such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 (sum of multiples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 (sum of multiples of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of multiples of </a:t>
                </a:r>
                <a14:m>
                  <m:oMath xmlns:m="http://schemas.openxmlformats.org/officeDocument/2006/math">
                    <m:r>
                      <a:rPr lang="en-IN" sz="2400" i="1">
                        <a:solidFill>
                          <a:srgbClr val="111827"/>
                        </a:solidFill>
                        <a:latin typeface="Cambria Math" panose="02040503050406030204" pitchFamily="18" charset="0"/>
                      </a:rPr>
                      <m:t>91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terms), 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$91=13\times7$</a:t>
                </a:r>
                <a:r>
                  <a:rPr sz="2400" b="0">
                    <a:solidFill>
                      <a:srgbClr val="111827"/>
                    </a:solidFill>
                    <a:latin typeface="Arial"/>
                  </a:rPr>
                  <a:t>, so </a:t>
                </a:r>
                <a:r>
                  <a:rPr lang="en-IN" sz="2400">
                    <a:solidFill>
                      <a:srgbClr val="111827"/>
                    </a:solidFill>
                    <a:latin typeface="Cambria Math" panose="02040503050406030204" pitchFamily="18" charset="0"/>
                  </a:rPr>
                  <a:t>$\mathrm{HCF}(91,n)&gt;1$</a:t>
                </a:r>
                <a:r>
                  <a:rPr sz="2400" b="0">
                    <a:solidFill>
                      <a:srgbClr val="111827"/>
                    </a:solidFill>
                    <a:latin typeface="Arial"/>
                  </a:rPr>
                  <a:t> iff </a:t>
                </a:r>
                <a:r>
                  <a:rPr lang="en-IN" sz="2400">
                    <a:solidFill>
                      <a:srgbClr val="111827"/>
                    </a:solidFill>
                    <a:latin typeface="Cambria Math" panose="02040503050406030204" pitchFamily="18" charset="0"/>
                  </a:rPr>
                  <a:t>$n$</a:t>
                </a:r>
                <a:r>
                  <a:rPr sz="2400" b="0">
                    <a:solidFill>
                      <a:srgbClr val="111827"/>
                    </a:solidFill>
                    <a:latin typeface="Arial"/>
                  </a:rPr>
                  <a:t> is divisible by </a:t>
                </a:r>
                <a:r>
                  <a:rPr lang="en-IN" sz="2400">
                    <a:solidFill>
                      <a:srgbClr val="111827"/>
                    </a:solidFill>
                    <a:latin typeface="Cambria Math" panose="02040503050406030204" pitchFamily="18" charset="0"/>
                  </a:rPr>
                  <a:t>$7$</a:t>
                </a:r>
                <a:r>
                  <a:rPr sz="2400" b="0">
                    <a:solidFill>
                      <a:srgbClr val="111827"/>
                    </a:solidFill>
                    <a:latin typeface="Arial"/>
                  </a:rPr>
                  <a:t> or by </a:t>
                </a:r>
                <a:r>
                  <a:rPr lang="en-IN" sz="2400">
                    <a:solidFill>
                      <a:srgbClr val="111827"/>
                    </a:solidFill>
                    <a:latin typeface="Cambria Math" panose="02040503050406030204" pitchFamily="18" charset="0"/>
                  </a:rPr>
                  <a: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such </a:t>
                </a:r>
                <a:r>
                  <a:rPr lang="en-IN" sz="2400">
                    <a:solidFill>
                      <a:srgbClr val="111827"/>
                    </a:solidFill>
                    <a:latin typeface="Cambria Math" panose="02040503050406030204" pitchFamily="18" charset="0"/>
                  </a:rPr>
                  <a:t>$n$</a:t>
                </a:r>
                <a:r>
                  <a:rPr sz="2400" b="0">
                    <a:solidFill>
                      <a:srgbClr val="111827"/>
                    </a:solidFill>
                    <a:latin typeface="Arial"/>
                  </a:rPr>
                  <a:t> = (sum of multiples of </a:t>
                </a:r>
                <a:r>
                  <a:rPr lang="en-IN" sz="2400">
                    <a:solidFill>
                      <a:srgbClr val="111827"/>
                    </a:solidFill>
                    <a:latin typeface="Cambria Math" panose="02040503050406030204" pitchFamily="18" charset="0"/>
                  </a:rPr>
                  <a:t>$7$</a:t>
                </a:r>
                <a:r>
                  <a:rPr sz="2400" b="0">
                    <a:solidFill>
                      <a:srgbClr val="111827"/>
                    </a:solidFill>
                    <a:latin typeface="Arial"/>
                  </a:rPr>
                  <a:t>) + (sum of multiples of </a:t>
                </a:r>
                <a:r>
                  <a:rPr lang="en-IN" sz="2400">
                    <a:solidFill>
                      <a:srgbClr val="111827"/>
                    </a:solidFill>
                    <a:latin typeface="Cambria Math" panose="02040503050406030204" pitchFamily="18" charset="0"/>
                  </a:rPr>
                  <a:t>$13$</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(sum of multiples of </a:t>
                </a:r>
                <a:r>
                  <a:rPr lang="en-IN" sz="2400">
                    <a:solidFill>
                      <a:srgbClr val="111827"/>
                    </a:solidFill>
                    <a:latin typeface="Cambria Math" panose="02040503050406030204" pitchFamily="18" charset="0"/>
                  </a:rPr>
                  <a:t>$91$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$7$</a:t>
                </a:r>
                <a:r>
                  <a:rPr sz="2400" b="0">
                    <a:solidFill>
                      <a:srgbClr val="111827"/>
                    </a:solidFill>
                    <a:latin typeface="Arial"/>
                  </a:rPr>
                  <a:t> in </a:t>
                </a:r>
                <a:r>
                  <a:rPr lang="en-IN" sz="2400">
                    <a:solidFill>
                      <a:srgbClr val="111827"/>
                    </a:solidFill>
                    <a:latin typeface="Cambria Math" panose="02040503050406030204" pitchFamily="18" charset="0"/>
                  </a:rPr>
                  <a:t>$(100,200)$</a:t>
                </a:r>
                <a:r>
                  <a:rPr sz="2400" b="0">
                    <a:solidFill>
                      <a:srgbClr val="111827"/>
                    </a:solidFill>
                    <a:latin typeface="Arial"/>
                  </a:rPr>
                  <a:t>: </a:t>
                </a:r>
                <a:r>
                  <a:rPr lang="en-IN" sz="2400">
                    <a:solidFill>
                      <a:srgbClr val="111827"/>
                    </a:solidFill>
                    <a:latin typeface="Cambria Math" panose="02040503050406030204" pitchFamily="18" charset="0"/>
                  </a:rPr>
                  <a:t>$105,112,\ldots,196$</a:t>
                </a:r>
                <a:r>
                  <a:rPr sz="2400" b="0">
                    <a:solidFill>
                      <a:srgbClr val="111827"/>
                    </a:solidFill>
                    <a:latin typeface="Arial"/>
                  </a:rPr>
                  <a:t> (</a:t>
                </a:r>
                <a:r>
                  <a:rPr lang="en-IN" sz="2400">
                    <a:solidFill>
                      <a:srgbClr val="111827"/>
                    </a:solidFill>
                    <a:latin typeface="Cambria Math" panose="02040503050406030204" pitchFamily="18" charset="0"/>
                  </a:rPr>
                  <a:t>$14$</a:t>
                </a:r>
                <a:r>
                  <a:rPr sz="2400" b="0">
                    <a:solidFill>
                      <a:srgbClr val="111827"/>
                    </a:solidFill>
                    <a:latin typeface="Arial"/>
                  </a:rPr>
                  <a:t> terms), sum </a:t>
                </a:r>
                <a:r>
                  <a:rPr lang="en-IN" sz="2400">
                    <a:solidFill>
                      <a:srgbClr val="111827"/>
                    </a:solidFill>
                    <a:latin typeface="Cambria Math" panose="02040503050406030204" pitchFamily="18" charset="0"/>
                  </a:rPr>
                  <a:t>$=\frac{14}{2}(105+196)=2107$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terms), 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91</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182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3121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$13$</a:t>
                </a:r>
                <a:r>
                  <a:rPr sz="2400" b="0">
                    <a:solidFill>
                      <a:srgbClr val="111827"/>
                    </a:solidFill>
                    <a:latin typeface="Arial"/>
                  </a:rPr>
                  <a:t>: </a:t>
                </a:r>
                <a:r>
                  <a:rPr lang="en-IN" sz="2400">
                    <a:solidFill>
                      <a:srgbClr val="111827"/>
                    </a:solidFill>
                    <a:latin typeface="Cambria Math" panose="02040503050406030204" pitchFamily="18" charset="0"/>
                  </a:rPr>
                  <a:t>$104,117,\ldots,195$</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terms), sum </a:t>
                </a:r>
                <a:r>
                  <a:rPr lang="en-IN" sz="2400">
                    <a:solidFill>
                      <a:srgbClr val="111827"/>
                    </a:solidFill>
                    <a:latin typeface="Cambria Math" panose="02040503050406030204" pitchFamily="18" charset="0"/>
                  </a:rPr>
                  <a:t>$=\frac82(104+195)=1196$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$91$</a:t>
                </a:r>
                <a:r>
                  <a:rPr sz="2400" b="0">
                    <a:solidFill>
                      <a:srgbClr val="111827"/>
                    </a:solidFill>
                    <a:latin typeface="Arial"/>
                  </a:rPr>
                  <a:t>: only </a:t>
                </a:r>
                <a:r>
                  <a:rPr lang="en-IN" sz="2400">
                    <a:solidFill>
                      <a:srgbClr val="111827"/>
                    </a:solidFill>
                    <a:latin typeface="Cambria Math" panose="02040503050406030204" pitchFamily="18" charset="0"/>
                  </a:rPr>
                  <a:t>$182$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r>
                  <a:rPr lang="en-IN" sz="2400">
                    <a:solidFill>
                      <a:srgbClr val="111827"/>
                    </a:solidFill>
                    <a:latin typeface="Cambria Math" panose="02040503050406030204" pitchFamily="18" charset="0"/>
                  </a:rPr>
                  <a:t>$=2107+1196-182=3121$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3121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$3121$</a:t>
                </a:r>
                <a:endParaRPr sz="2800">
                  <a:solidFill>
                    <a:srgbClr val="15803D"/>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H</m:t>
                    </m:r>
                    <m:r>
                      <m:rPr>
                        <m:sty m:val="p"/>
                      </m:rPr>
                      <a:rPr lang="en-IN" sz="2400">
                        <a:solidFill>
                          <a:srgbClr val="111827"/>
                        </a:solidFill>
                        <a:latin typeface="Cambria Math" panose="02040503050406030204" pitchFamily="18" charset="0"/>
                      </a:rPr>
                      <m:t>C</m:t>
                    </m:r>
                    <m:r>
                      <m:rPr>
                        <m:sty m:val="p"/>
                      </m:rPr>
                      <a:rPr lang="en-IN" sz="2400">
                        <a:solidFill>
                          <a:srgbClr val="111827"/>
                        </a:solidFill>
                        <a:latin typeface="Cambria Math" panose="02040503050406030204" pitchFamily="18" charset="0"/>
                      </a:rPr>
                      <m:t>F</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 (distinct primes) iff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the union's sum is </a:t>
                </a:r>
                <a14:m>
                  <m:oMath xmlns:m="http://schemas.openxmlformats.org/officeDocument/2006/math">
                    <m:sSub>
                      <m:e>
                        <m:r>
                          <m:rPr>
                            <m:sty m:val="p"/>
                          </m:rPr>
                          <a:rPr lang="en-IN" sz="2400">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𝑞</m:t>
                        </m:r>
                      </m:sub>
                    </m:sSub>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Σ</m:t>
                        </m:r>
                      </m:e>
                      <m:sub>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 an A.P.: the count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𝐿</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for the open range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𝑈</m:t>
                    </m:r>
                  </m:oMath>
                </a14:m>
                <a:r>
                  <a:rPr sz="2400" b="0">
                    <a:solidFill>
                      <a:srgbClr val="111827"/>
                    </a:solidFill>
                    <a:latin typeface="Arial"/>
                  </a:rPr>
                  <a:t>, then use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𝑐𝑜𝑢𝑛𝑡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𝑓𝑖𝑟𝑠𝑡</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𝑙𝑎𝑠𝑡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counts </a:t>
                </a:r>
                <a14:m>
                  <m:oMath xmlns:m="http://schemas.openxmlformats.org/officeDocument/2006/math">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numbers in all, with average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3121</m:t>
                        </m:r>
                      </m:num>
                      <m:den>
                        <m:r>
                          <a:rPr lang="en-IN" sz="2400" i="1">
                            <a:solidFill>
                              <a:srgbClr val="111827"/>
                            </a:solidFill>
                            <a:latin typeface="Cambria Math" panose="02040503050406030204" pitchFamily="18" charset="0"/>
                          </a:rPr>
                          <m:t>21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148.6</m:t>
                    </m:r>
                  </m:oMath>
                </a14:m>
                <a:r>
                  <a:rPr sz="2400" b="0">
                    <a:solidFill>
                      <a:srgbClr val="111827"/>
                    </a:solidFill>
                    <a:latin typeface="Arial"/>
                  </a:rPr>
                  <a:t> near the midpoint </a:t>
                </a:r>
                <a14:m>
                  <m:oMath xmlns:m="http://schemas.openxmlformats.org/officeDocument/2006/math">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the ends: the range is open, so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200</m:t>
                    </m:r>
                  </m:oMath>
                </a14:m>
                <a:r>
                  <a:rPr sz="2400" b="0">
                    <a:solidFill>
                      <a:srgbClr val="111827"/>
                    </a:solidFill>
                    <a:latin typeface="Arial"/>
                  </a:rPr>
                  <a:t> are excluded (neither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13</m:t>
                    </m:r>
                  </m:oMath>
                </a14:m>
                <a:r>
                  <a:rPr sz="2400" b="0">
                    <a:solidFill>
                      <a:srgbClr val="111827"/>
                    </a:solidFill>
                    <a:latin typeface="Arial"/>
                  </a:rPr>
                  <a:t> anyway).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$\mathrm{HCF}(m,n)&gt;1$</a:t>
                </a:r>
                <a:r>
                  <a:rPr sz="2400" b="0">
                    <a:solidFill>
                      <a:srgbClr val="111827"/>
                    </a:solidFill>
                    <a:latin typeface="Arial"/>
                  </a:rPr>
                  <a:t> for </a:t>
                </a:r>
                <a:r>
                  <a:rPr lang="en-IN" sz="2400">
                    <a:solidFill>
                      <a:srgbClr val="111827"/>
                    </a:solidFill>
                    <a:latin typeface="Cambria Math" panose="02040503050406030204" pitchFamily="18" charset="0"/>
                  </a:rPr>
                  <a:t>$m=pq$</a:t>
                </a:r>
                <a:r>
                  <a:rPr sz="2400" b="0">
                    <a:solidFill>
                      <a:srgbClr val="111827"/>
                    </a:solidFill>
                    <a:latin typeface="Arial"/>
                  </a:rPr>
                  <a:t> (distinct primes) iff </a:t>
                </a:r>
                <a:r>
                  <a:rPr lang="en-IN" sz="2400">
                    <a:solidFill>
                      <a:srgbClr val="111827"/>
                    </a:solidFill>
                    <a:latin typeface="Cambria Math" panose="02040503050406030204" pitchFamily="18" charset="0"/>
                  </a:rPr>
                  <a:t>$p\mid n$</a:t>
                </a:r>
                <a:r>
                  <a:rPr sz="2400" b="0">
                    <a:solidFill>
                      <a:srgbClr val="111827"/>
                    </a:solidFill>
                    <a:latin typeface="Arial"/>
                  </a:rPr>
                  <a:t> or </a:t>
                </a:r>
                <a:r>
                  <a:rPr lang="en-IN" sz="2400">
                    <a:solidFill>
                      <a:srgbClr val="111827"/>
                    </a:solidFill>
                    <a:latin typeface="Cambria Math" panose="02040503050406030204" pitchFamily="18" charset="0"/>
                  </a:rPr>
                  <a:t>$q\mid n$</a:t>
                </a:r>
                <a:r>
                  <a:rPr sz="2400" b="0">
                    <a:solidFill>
                      <a:srgbClr val="111827"/>
                    </a:solidFill>
                    <a:latin typeface="Arial"/>
                  </a:rPr>
                  <a:t>; the union's sum is </a:t>
                </a:r>
                <a:r>
                  <a:rPr lang="en-IN" sz="2400">
                    <a:solidFill>
                      <a:srgbClr val="111827"/>
                    </a:solidFill>
                    <a:latin typeface="Cambria Math" panose="02040503050406030204" pitchFamily="18" charset="0"/>
                  </a:rPr>
                  <a:t>$\Sigma_p+\Sigma_q-\Sigma_{pq}$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$k$</a:t>
                </a:r>
                <a:r>
                  <a:rPr sz="2400" b="0">
                    <a:solidFill>
                      <a:srgbClr val="111827"/>
                    </a:solidFill>
                    <a:latin typeface="Arial"/>
                  </a:rPr>
                  <a:t> in </a:t>
                </a:r>
                <a:r>
                  <a:rPr lang="en-IN" sz="2400">
                    <a:solidFill>
                      <a:srgbClr val="111827"/>
                    </a:solidFill>
                    <a:latin typeface="Cambria Math" panose="02040503050406030204" pitchFamily="18" charset="0"/>
                  </a:rPr>
                  <a:t>$(L,U)$</a:t>
                </a:r>
                <a:r>
                  <a:rPr sz="2400" b="0">
                    <a:solidFill>
                      <a:srgbClr val="111827"/>
                    </a:solidFill>
                    <a:latin typeface="Arial"/>
                  </a:rPr>
                  <a:t> form an A.P.: the count is </a:t>
                </a:r>
                <a:r>
                  <a:rPr lang="en-IN" sz="2400">
                    <a:solidFill>
                      <a:srgbClr val="111827"/>
                    </a:solidFill>
                    <a:latin typeface="Cambria Math" panose="02040503050406030204" pitchFamily="18" charset="0"/>
                  </a:rPr>
                  <a:t>$\left\lfloor\frac{U-1}{k}\right\rfloor-\left\lfloor\frac{L}{k}\right\rfloor$</a:t>
                </a:r>
                <a:r>
                  <a:rPr sz="2400" b="0">
                    <a:solidFill>
                      <a:srgbClr val="111827"/>
                    </a:solidFill>
                    <a:latin typeface="Arial"/>
                  </a:rPr>
                  <a:t> for the open range </a:t>
                </a:r>
                <a:r>
                  <a:rPr lang="en-IN" sz="2400">
                    <a:solidFill>
                      <a:srgbClr val="111827"/>
                    </a:solidFill>
                    <a:latin typeface="Cambria Math" panose="02040503050406030204" pitchFamily="18" charset="0"/>
                  </a:rPr>
                  <a:t>$L&lt;n&lt;U$</a:t>
                </a:r>
                <a:r>
                  <a:rPr sz="2400" b="0">
                    <a:solidFill>
                      <a:srgbClr val="111827"/>
                    </a:solidFill>
                    <a:latin typeface="Arial"/>
                  </a:rPr>
                  <a:t>, then use </a:t>
                </a:r>
                <a:r>
                  <a:rPr lang="en-IN" sz="2400">
                    <a:solidFill>
                      <a:srgbClr val="111827"/>
                    </a:solidFill>
                    <a:latin typeface="Cambria Math" panose="02040503050406030204" pitchFamily="18" charset="0"/>
                  </a:rPr>
                  <a:t>$\frac{\text{count}}{2}(\text{first}+\text{last})$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counts </a:t>
                </a:r>
                <a:r>
                  <a:rPr lang="en-IN" sz="2400">
                    <a:solidFill>
                      <a:srgbClr val="111827"/>
                    </a:solidFill>
                    <a:latin typeface="Cambria Math" panose="02040503050406030204" pitchFamily="18" charset="0"/>
                  </a:rPr>
                  <a:t>$14,8,1$</a:t>
                </a:r>
                <a:r>
                  <a:rPr sz="2400" b="0">
                    <a:solidFill>
                      <a:srgbClr val="111827"/>
                    </a:solidFill>
                    <a:latin typeface="Arial"/>
                  </a:rPr>
                  <a:t>; </a:t>
                </a:r>
                <a:r>
                  <a:rPr lang="en-IN" sz="2400">
                    <a:solidFill>
                      <a:srgbClr val="111827"/>
                    </a:solidFill>
                    <a:latin typeface="Cambria Math" panose="02040503050406030204" pitchFamily="18" charset="0"/>
                  </a:rPr>
                  <a:t>$14+8-1=21$</a:t>
                </a:r>
                <a:r>
                  <a:rPr sz="2400" b="0">
                    <a:solidFill>
                      <a:srgbClr val="111827"/>
                    </a:solidFill>
                    <a:latin typeface="Arial"/>
                  </a:rPr>
                  <a:t> numbers in all, with average </a:t>
                </a:r>
                <a:r>
                  <a:rPr lang="en-IN" sz="2400">
                    <a:solidFill>
                      <a:srgbClr val="111827"/>
                    </a:solidFill>
                    <a:latin typeface="Cambria Math" panose="02040503050406030204" pitchFamily="18" charset="0"/>
                  </a:rPr>
                  <a:t>$\frac{3121}{21}\approx148.6$</a:t>
                </a:r>
                <a:r>
                  <a:rPr sz="2400" b="0">
                    <a:solidFill>
                      <a:srgbClr val="111827"/>
                    </a:solidFill>
                    <a:latin typeface="Arial"/>
                  </a:rPr>
                  <a:t> near the midpoint </a:t>
                </a:r>
                <a:r>
                  <a:rPr lang="en-IN" sz="2400">
                    <a:solidFill>
                      <a:srgbClr val="111827"/>
                    </a:solidFill>
                    <a:latin typeface="Cambria Math" panose="02040503050406030204" pitchFamily="18" charset="0"/>
                  </a:rPr>
                  <a:t>$150$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the ends: the range is open, so </a:t>
                </a:r>
                <a:r>
                  <a:rPr lang="en-IN" sz="2400">
                    <a:solidFill>
                      <a:srgbClr val="111827"/>
                    </a:solidFill>
                    <a:latin typeface="Cambria Math" panose="02040503050406030204" pitchFamily="18" charset="0"/>
                  </a:rPr>
                  <a:t>$100$</a:t>
                </a:r>
                <a:r>
                  <a:rPr sz="2400" b="0">
                    <a:solidFill>
                      <a:srgbClr val="111827"/>
                    </a:solidFill>
                    <a:latin typeface="Arial"/>
                  </a:rPr>
                  <a:t> and </a:t>
                </a:r>
                <a:r>
                  <a:rPr lang="en-IN" sz="2400">
                    <a:solidFill>
                      <a:srgbClr val="111827"/>
                    </a:solidFill>
                    <a:latin typeface="Cambria Math" panose="02040503050406030204" pitchFamily="18" charset="0"/>
                  </a:rPr>
                  <a:t>$200$</a:t>
                </a:r>
                <a:r>
                  <a:rPr sz="2400" b="0">
                    <a:solidFill>
                      <a:srgbClr val="111827"/>
                    </a:solidFill>
                    <a:latin typeface="Arial"/>
                  </a:rPr>
                  <a:t> are excluded (neither is a multiple of </a:t>
                </a:r>
                <a:r>
                  <a:rPr lang="en-IN" sz="2400">
                    <a:solidFill>
                      <a:srgbClr val="111827"/>
                    </a:solidFill>
                    <a:latin typeface="Cambria Math" panose="02040503050406030204" pitchFamily="18" charset="0"/>
                  </a:rPr>
                  <a:t>$7$</a:t>
                </a:r>
                <a:r>
                  <a:rPr sz="2400" b="0">
                    <a:solidFill>
                      <a:srgbClr val="111827"/>
                    </a:solidFill>
                    <a:latin typeface="Arial"/>
                  </a:rPr>
                  <a:t> or </a:t>
                </a:r>
                <a:r>
                  <a:rPr lang="en-IN" sz="2400">
                    <a:solidFill>
                      <a:srgbClr val="111827"/>
                    </a:solidFill>
                    <a:latin typeface="Cambria Math" panose="02040503050406030204" pitchFamily="18" charset="0"/>
                  </a:rPr>
                  <a:t>$13$</a:t>
                </a:r>
                <a:r>
                  <a:rPr sz="2400" b="0">
                    <a:solidFill>
                      <a:srgbClr val="111827"/>
                    </a:solidFill>
                    <a:latin typeface="Arial"/>
                  </a:rPr>
                  <a:t> anyway).</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5971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three distinct numbers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in G.P. and the equations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have a common root, then which one of the following statements is correct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are in A.P.</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are in G.P.</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are in A.P.</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are in G.P.</a:t>
                </a:r>
                <a:endParaRPr sz="2400">
                  <a:solidFill>
                    <a:srgbClr val="111827"/>
                  </a:solidFill>
                </a:endParaRPr>
              </a:p>
            </p:txBody>
          </p:sp>
        </mc:Choice>
        <mc:Fallback>
          <p:sp>
            <p:nvSpPr>
              <p:cNvPr id="4" name="Rounded Rectangle 3"/>
              <p:cNvSpPr/>
              <p:nvPr/>
            </p:nvSpPr>
            <p:spPr>
              <a:xfrm>
                <a:off x="731520" y="1280160"/>
                <a:ext cx="10725912" cy="35971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three distinct numbers </a:t>
                </a:r>
                <a:r>
                  <a:rPr lang="en-IN" sz="2400">
                    <a:solidFill>
                      <a:srgbClr val="111827"/>
                    </a:solidFill>
                    <a:latin typeface="Cambria Math" panose="02040503050406030204" pitchFamily="18" charset="0"/>
                  </a:rPr>
                  <a:t>$a,b,c$</a:t>
                </a:r>
                <a:r>
                  <a:rPr sz="2400" b="0">
                    <a:solidFill>
                      <a:srgbClr val="111827"/>
                    </a:solidFill>
                    <a:latin typeface="Arial"/>
                  </a:rPr>
                  <a:t> are in G.P. and the equations </a:t>
                </a:r>
                <a:r>
                  <a:rPr lang="en-IN" sz="2400">
                    <a:solidFill>
                      <a:srgbClr val="111827"/>
                    </a:solidFill>
                    <a:latin typeface="Cambria Math" panose="02040503050406030204" pitchFamily="18" charset="0"/>
                  </a:rPr>
                  <a:t>$ax^2+2bx+c=0$</a:t>
                </a:r>
                <a:r>
                  <a:rPr sz="2400" b="0">
                    <a:solidFill>
                      <a:srgbClr val="111827"/>
                    </a:solidFill>
                    <a:latin typeface="Arial"/>
                  </a:rPr>
                  <a:t> and </a:t>
                </a:r>
                <a:r>
                  <a:rPr lang="en-IN" sz="2400">
                    <a:solidFill>
                      <a:srgbClr val="111827"/>
                    </a:solidFill>
                    <a:latin typeface="Cambria Math" panose="02040503050406030204" pitchFamily="18" charset="0"/>
                  </a:rPr>
                  <a:t>$dx^2+2ex+f=0$</a:t>
                </a:r>
                <a:r>
                  <a:rPr sz="2400" b="0">
                    <a:solidFill>
                      <a:srgbClr val="111827"/>
                    </a:solidFill>
                    <a:latin typeface="Arial"/>
                  </a:rPr>
                  <a:t> have a common root, then which one of the following statements is correct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$d,e,f$</a:t>
                </a:r>
                <a:r>
                  <a:rPr sz="2400" b="0">
                    <a:solidFill>
                      <a:srgbClr val="111827"/>
                    </a:solidFill>
                    <a:latin typeface="Arial"/>
                  </a:rPr>
                  <a:t> are in A.P.</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 da,\frac eb,\frac fc$</a:t>
                </a:r>
                <a:r>
                  <a:rPr sz="2400" b="0">
                    <a:solidFill>
                      <a:srgbClr val="111827"/>
                    </a:solidFill>
                    <a:latin typeface="Arial"/>
                  </a:rPr>
                  <a:t> are in G.P.</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 da,\frac eb,\frac fc$</a:t>
                </a:r>
                <a:r>
                  <a:rPr sz="2400" b="0">
                    <a:solidFill>
                      <a:srgbClr val="111827"/>
                    </a:solidFill>
                    <a:latin typeface="Arial"/>
                  </a:rPr>
                  <a:t> are in A.P.</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$d,e,f$</a:t>
                </a:r>
                <a:r>
                  <a:rPr sz="2400" b="0">
                    <a:solidFill>
                      <a:srgbClr val="111827"/>
                    </a:solidFill>
                    <a:latin typeface="Arial"/>
                  </a:rPr>
                  <a:t> are in G.P.</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 progression, Common root of two quadratic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𝑐</m:t>
                    </m:r>
                  </m:oMath>
                </a14:m>
                <a:r>
                  <a:rPr sz="2400" b="0">
                    <a:solidFill>
                      <a:srgbClr val="78350F"/>
                    </a:solidFill>
                    <a:latin typeface="Arial"/>
                  </a:rPr>
                  <a:t> makes </a:t>
                </a:r>
                <a14:m>
                  <m:oMath xmlns:m="http://schemas.openxmlformats.org/officeDocument/2006/math">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a perfect square with the double root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𝑎</m:t>
                        </m:r>
                      </m:den>
                    </m:f>
                  </m:oMath>
                </a14:m>
                <a:r>
                  <a:rPr sz="2400" b="0">
                    <a:solidFill>
                      <a:srgbClr val="78350F"/>
                    </a:solidFill>
                    <a:latin typeface="Arial"/>
                  </a:rPr>
                  <a:t>; the common root must therefore be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𝑎</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$b^2=ac$</a:t>
                </a:r>
                <a:r>
                  <a:rPr sz="2400" b="0">
                    <a:solidFill>
                      <a:srgbClr val="78350F"/>
                    </a:solidFill>
                    <a:latin typeface="Arial"/>
                  </a:rPr>
                  <a:t> makes </a:t>
                </a:r>
                <a:r>
                  <a:rPr lang="en-IN" sz="2400">
                    <a:solidFill>
                      <a:srgbClr val="78350F"/>
                    </a:solidFill>
                    <a:latin typeface="Cambria Math" panose="02040503050406030204" pitchFamily="18" charset="0"/>
                  </a:rPr>
                  <a:t>$ax^2+2bx+c$</a:t>
                </a:r>
                <a:r>
                  <a:rPr sz="2400" b="0">
                    <a:solidFill>
                      <a:srgbClr val="78350F"/>
                    </a:solidFill>
                    <a:latin typeface="Arial"/>
                  </a:rPr>
                  <a:t> a perfect square with the double root </a:t>
                </a:r>
                <a:r>
                  <a:rPr lang="en-IN" sz="2400">
                    <a:solidFill>
                      <a:srgbClr val="78350F"/>
                    </a:solidFill>
                    <a:latin typeface="Cambria Math" panose="02040503050406030204" pitchFamily="18" charset="0"/>
                  </a:rPr>
                  <a:t>$-\frac ba$</a:t>
                </a:r>
                <a:r>
                  <a:rPr sz="2400" b="0">
                    <a:solidFill>
                      <a:srgbClr val="78350F"/>
                    </a:solidFill>
                    <a:latin typeface="Arial"/>
                  </a:rPr>
                  <a:t>; the common root must therefore be </a:t>
                </a:r>
                <a:r>
                  <a:rPr lang="en-IN" sz="2400">
                    <a:solidFill>
                      <a:srgbClr val="78350F"/>
                    </a:solidFill>
                    <a:latin typeface="Cambria Math" panose="02040503050406030204" pitchFamily="18" charset="0"/>
                  </a:rPr>
                  <a:t>$-\frac ba$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 G.P. gives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a:t>
                </a:r>
                <a:r>
                  <a:rPr sz="2400" b="0">
                    <a:solidFill>
                      <a:srgbClr val="111827"/>
                    </a:solidFill>
                    <a:latin typeface="Arial"/>
                  </a:rPr>
                  <a:t> in G.P. gives </a:t>
                </a:r>
                <a:r>
                  <a:rPr lang="en-IN" sz="2400">
                    <a:solidFill>
                      <a:srgbClr val="111827"/>
                    </a:solidFill>
                    <a:latin typeface="Cambria Math" panose="02040503050406030204" pitchFamily="18" charset="0"/>
                  </a:rPr>
                  <a:t>$b^2=ac$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discriminant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it has a repeated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(The PDF writes it as </a:t>
                </a:r>
                <a14:m>
                  <m:oMath xmlns:m="http://schemas.openxmlformats.org/officeDocument/2006/math">
                    <m:r>
                      <a:rPr lang="en-IN" sz="2400" i="1">
                        <a:solidFill>
                          <a:srgbClr val="111827"/>
                        </a:solidFill>
                        <a:latin typeface="Cambria Math" panose="02040503050406030204" pitchFamily="18" charset="0"/>
                      </a:rPr>
                      <m:t>𝑎</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e>
                            </m:rad>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root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e>
                    </m:rad>
                  </m:oMath>
                </a14:m>
                <a:r>
                  <a:rPr sz="2400" b="0">
                    <a:solidFill>
                      <a:srgbClr val="111827"/>
                    </a:solidFill>
                    <a:latin typeface="Arial"/>
                  </a:rPr>
                  <a:t>, which presumes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the only root of the first equation, so it must satisfy </a:t>
                </a:r>
                <a14:m>
                  <m:oMath xmlns:m="http://schemas.openxmlformats.org/officeDocument/2006/math">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in the first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$ax^2+2bx+c=0$</a:t>
                </a:r>
                <a:r>
                  <a:rPr sz="2400" b="0">
                    <a:solidFill>
                      <a:srgbClr val="111827"/>
                    </a:solidFill>
                    <a:latin typeface="Arial"/>
                  </a:rPr>
                  <a:t> has discriminant </a:t>
                </a:r>
                <a:r>
                  <a:rPr lang="en-IN" sz="2400">
                    <a:solidFill>
                      <a:srgbClr val="111827"/>
                    </a:solidFill>
                    <a:latin typeface="Cambria Math" panose="02040503050406030204" pitchFamily="18" charset="0"/>
                  </a:rPr>
                  <a:t>$4b^2-4ac=0$</a:t>
                </a:r>
                <a:r>
                  <a:rPr sz="2400" b="0">
                    <a:solidFill>
                      <a:srgbClr val="111827"/>
                    </a:solidFill>
                    <a:latin typeface="Arial"/>
                  </a:rPr>
                  <a:t>, so it has a repeated root </a:t>
                </a:r>
                <a:r>
                  <a:rPr lang="en-IN" sz="2400">
                    <a:solidFill>
                      <a:srgbClr val="111827"/>
                    </a:solidFill>
                    <a:latin typeface="Cambria Math" panose="02040503050406030204" pitchFamily="18" charset="0"/>
                  </a:rPr>
                  <a:t>$x=-\frac ba$</a:t>
                </a:r>
                <a:r>
                  <a:rPr sz="2400" b="0">
                    <a:solidFill>
                      <a:srgbClr val="111827"/>
                    </a:solidFill>
                    <a:latin typeface="Arial"/>
                  </a:rPr>
                  <a:t>. (The PDF writes it as </a:t>
                </a:r>
                <a:r>
                  <a:rPr lang="en-IN" sz="2400">
                    <a:solidFill>
                      <a:srgbClr val="111827"/>
                    </a:solidFill>
                    <a:latin typeface="Cambria Math" panose="02040503050406030204" pitchFamily="18" charset="0"/>
                  </a:rPr>
                  <a:t>$a\left(x+\sqrt{c/a}\right)^2$</a:t>
                </a:r>
                <a:r>
                  <a:rPr sz="2400" b="0">
                    <a:solidFill>
                      <a:srgbClr val="111827"/>
                    </a:solidFill>
                    <a:latin typeface="Arial"/>
                  </a:rPr>
                  <a:t> with root </a:t>
                </a:r>
                <a:r>
                  <a:rPr lang="en-IN" sz="2400">
                    <a:solidFill>
                      <a:srgbClr val="111827"/>
                    </a:solidFill>
                    <a:latin typeface="Cambria Math" panose="02040503050406030204" pitchFamily="18" charset="0"/>
                  </a:rPr>
                  <a:t>$-\sqrt{\frac ca}$</a:t>
                </a:r>
                <a:r>
                  <a:rPr sz="2400" b="0">
                    <a:solidFill>
                      <a:srgbClr val="111827"/>
                    </a:solidFill>
                    <a:latin typeface="Arial"/>
                  </a:rPr>
                  <a:t>, which presumes </a:t>
                </a:r>
                <a:r>
                  <a:rPr lang="en-IN" sz="2400">
                    <a:solidFill>
                      <a:srgbClr val="111827"/>
                    </a:solidFill>
                    <a:latin typeface="Cambria Math" panose="02040503050406030204" pitchFamily="18" charset="0"/>
                  </a:rPr>
                  <a:t>$b&gt;0$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the only root of the first equation, so it must satisfy </a:t>
                </a:r>
                <a:r>
                  <a:rPr lang="en-IN" sz="2400">
                    <a:solidFill>
                      <a:srgbClr val="111827"/>
                    </a:solidFill>
                    <a:latin typeface="Cambria Math" panose="02040503050406030204" pitchFamily="18" charset="0"/>
                  </a:rPr>
                  <a:t>$dx^2+2ex+f=0$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$x=-\frac ba$</a:t>
                </a:r>
                <a:r>
                  <a:rPr sz="2400" b="0">
                    <a:solidFill>
                      <a:srgbClr val="111827"/>
                    </a:solidFill>
                    <a:latin typeface="Arial"/>
                  </a:rPr>
                  <a:t>: </a:t>
                </a:r>
                <a:r>
                  <a:rPr lang="en-IN" sz="2400">
                    <a:solidFill>
                      <a:srgbClr val="111827"/>
                    </a:solidFill>
                    <a:latin typeface="Cambria Math" panose="02040503050406030204" pitchFamily="18" charset="0"/>
                  </a:rPr>
                  <a:t>$d\cdot\frac{b^2}{a^2}-2e\cdot\frac ba+f=0$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$b^2=ac$</a:t>
                </a:r>
                <a:r>
                  <a:rPr sz="2400" b="0">
                    <a:solidFill>
                      <a:srgbClr val="111827"/>
                    </a:solidFill>
                    <a:latin typeface="Arial"/>
                  </a:rPr>
                  <a:t> in the first term: </a:t>
                </a:r>
                <a:r>
                  <a:rPr lang="en-IN" sz="2400">
                    <a:solidFill>
                      <a:srgbClr val="111827"/>
                    </a:solidFill>
                    <a:latin typeface="Cambria Math" panose="02040503050406030204" pitchFamily="18" charset="0"/>
                  </a:rPr>
                  <a:t>$\frac{dc}{a}-\frac{2eb}{a}+f=0$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$\frac da-\frac{2eb}{ac}+\frac fc=0$</a:t>
                </a:r>
                <a:r>
                  <a:rPr sz="2400" b="0">
                    <a:solidFill>
                      <a:srgbClr val="111827"/>
                    </a:solidFill>
                    <a:latin typeface="Arial"/>
                  </a:rPr>
                  <a:t>, and </a:t>
                </a:r>
                <a:r>
                  <a:rPr lang="en-IN" sz="2400">
                    <a:solidFill>
                      <a:srgbClr val="111827"/>
                    </a:solidFill>
                    <a:latin typeface="Cambria Math" panose="02040503050406030204" pitchFamily="18" charset="0"/>
                  </a:rPr>
                  <a:t>$ac=b^2$</a:t>
                </a:r>
                <a:r>
                  <a:rPr sz="2400" b="0">
                    <a:solidFill>
                      <a:srgbClr val="111827"/>
                    </a:solidFill>
                    <a:latin typeface="Arial"/>
                  </a:rPr>
                  <a:t> gives </a:t>
                </a:r>
                <a:r>
                  <a:rPr lang="en-IN" sz="2400">
                    <a:solidFill>
                      <a:srgbClr val="111827"/>
                    </a:solidFill>
                    <a:latin typeface="Cambria Math" panose="02040503050406030204" pitchFamily="18" charset="0"/>
                  </a:rPr>
                  <a:t>$\frac da-\frac{2e}{b}+\frac fc=0$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are in A.P.,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 da+\frac fc=\frac{2e}{b}$</a:t>
                </a:r>
                <a:r>
                  <a:rPr sz="2400" b="0">
                    <a:solidFill>
                      <a:srgbClr val="111827"/>
                    </a:solidFill>
                    <a:latin typeface="Arial"/>
                  </a:rPr>
                  <a:t>, i.e. </a:t>
                </a:r>
                <a:r>
                  <a:rPr lang="en-IN" sz="2400">
                    <a:solidFill>
                      <a:srgbClr val="111827"/>
                    </a:solidFill>
                    <a:latin typeface="Cambria Math" panose="02040503050406030204" pitchFamily="18" charset="0"/>
                  </a:rPr>
                  <a:t>$\frac da,\frac eb,\frac fc$</a:t>
                </a:r>
                <a:r>
                  <a:rPr sz="2400" b="0">
                    <a:solidFill>
                      <a:srgbClr val="111827"/>
                    </a:solidFill>
                    <a:latin typeface="Arial"/>
                  </a:rPr>
                  <a:t> are in A.P.,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𝑑</m:t>
                        </m:r>
                      </m:num>
                      <m:den>
                        <m:r>
                          <a:rPr lang="en-IN" sz="2800" i="1">
                            <a:solidFill>
                              <a:srgbClr val="15803D"/>
                            </a:solidFill>
                            <a:latin typeface="Cambria Math" panose="02040503050406030204" pitchFamily="18" charset="0"/>
                          </a:rPr>
                          <m:t>𝑎</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𝑒</m:t>
                        </m:r>
                      </m:num>
                      <m:den>
                        <m:r>
                          <a:rPr lang="en-IN" sz="2800" i="1">
                            <a:solidFill>
                              <a:srgbClr val="15803D"/>
                            </a:solidFill>
                            <a:latin typeface="Cambria Math" panose="02040503050406030204" pitchFamily="18" charset="0"/>
                          </a:rPr>
                          <m:t>𝑏</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𝑓</m:t>
                        </m:r>
                      </m:num>
                      <m:den>
                        <m:r>
                          <a:rPr lang="en-IN" sz="2800" i="1">
                            <a:solidFill>
                              <a:srgbClr val="15803D"/>
                            </a:solidFill>
                            <a:latin typeface="Cambria Math" panose="02040503050406030204" pitchFamily="18" charset="0"/>
                          </a:rPr>
                          <m:t>𝑐</m:t>
                        </m:r>
                      </m:den>
                    </m:f>
                  </m:oMath>
                </a14:m>
                <a:r>
                  <a:rPr sz="2800" b="1">
                    <a:solidFill>
                      <a:srgbClr val="15803D"/>
                    </a:solidFill>
                    <a:latin typeface="Arial"/>
                  </a:rPr>
                  <a:t> are in A.P.</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 da,\frac eb,\frac fc$</a:t>
                </a:r>
                <a:r>
                  <a:rPr sz="2800" b="1">
                    <a:solidFill>
                      <a:srgbClr val="15803D"/>
                    </a:solidFill>
                    <a:latin typeface="Arial"/>
                  </a:rPr>
                  <a:t> are in A.P.</a:t>
                </a:r>
                <a:endParaRPr sz="2800">
                  <a:solidFill>
                    <a:srgbClr val="15803D"/>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Parametrise the G.P. by its ratio: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first equation is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with root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(valid for any sign of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Parametrise the G.P. by its ratio: </a:t>
                </a:r>
                <a:r>
                  <a:rPr lang="en-IN" sz="2400">
                    <a:solidFill>
                      <a:srgbClr val="78350F"/>
                    </a:solidFill>
                    <a:latin typeface="Cambria Math" panose="02040503050406030204" pitchFamily="18" charset="0"/>
                  </a:rPr>
                  <a:t>$(a,b,c)=(a,ar,ar^2)$</a:t>
                </a:r>
                <a:r>
                  <a:rPr sz="2400" b="0">
                    <a:solidFill>
                      <a:srgbClr val="78350F"/>
                    </a:solidFill>
                    <a:latin typeface="Arial"/>
                  </a:rPr>
                  <a:t>, so the first equation is </a:t>
                </a:r>
                <a:r>
                  <a:rPr lang="en-IN" sz="2400">
                    <a:solidFill>
                      <a:srgbClr val="78350F"/>
                    </a:solidFill>
                    <a:latin typeface="Cambria Math" panose="02040503050406030204" pitchFamily="18" charset="0"/>
                  </a:rPr>
                  <a:t>$a(x+r)^2=0$</a:t>
                </a:r>
                <a:r>
                  <a:rPr sz="2400" b="0">
                    <a:solidFill>
                      <a:srgbClr val="78350F"/>
                    </a:solidFill>
                    <a:latin typeface="Arial"/>
                  </a:rPr>
                  <a:t> with root </a:t>
                </a:r>
                <a:r>
                  <a:rPr lang="en-IN" sz="2400">
                    <a:solidFill>
                      <a:srgbClr val="78350F"/>
                    </a:solidFill>
                    <a:latin typeface="Cambria Math" panose="02040503050406030204" pitchFamily="18" charset="0"/>
                  </a:rPr>
                  <a:t>$-r$</a:t>
                </a:r>
                <a:r>
                  <a:rPr sz="2400" b="0">
                    <a:solidFill>
                      <a:srgbClr val="78350F"/>
                    </a:solidFill>
                    <a:latin typeface="Arial"/>
                  </a:rPr>
                  <a:t> (valid for any sign of </a:t>
                </a:r>
                <a:r>
                  <a:rPr lang="en-IN" sz="2400">
                    <a:solidFill>
                      <a:srgbClr val="78350F"/>
                    </a:solidFill>
                    <a:latin typeface="Cambria Math" panose="02040503050406030204" pitchFamily="18" charset="0"/>
                  </a:rPr>
                  <a:t>$r$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(distinct numbers).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the only root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must satisfy </a:t>
                </a:r>
                <a14:m>
                  <m:oMath xmlns:m="http://schemas.openxmlformats.org/officeDocument/2006/math">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$b=ar$</a:t>
                </a:r>
                <a:r>
                  <a:rPr sz="2400" b="0">
                    <a:solidFill>
                      <a:srgbClr val="111827"/>
                    </a:solidFill>
                    <a:latin typeface="Arial"/>
                  </a:rPr>
                  <a:t>, </a:t>
                </a:r>
                <a:r>
                  <a:rPr lang="en-IN" sz="2400">
                    <a:solidFill>
                      <a:srgbClr val="111827"/>
                    </a:solidFill>
                    <a:latin typeface="Cambria Math" panose="02040503050406030204" pitchFamily="18" charset="0"/>
                  </a:rPr>
                  <a:t>$c=ar^2$</a:t>
                </a:r>
                <a:r>
                  <a:rPr sz="2400" b="0">
                    <a:solidFill>
                      <a:srgbClr val="111827"/>
                    </a:solidFill>
                    <a:latin typeface="Arial"/>
                  </a:rPr>
                  <a:t> with </a:t>
                </a:r>
                <a:r>
                  <a:rPr lang="en-IN" sz="2400">
                    <a:solidFill>
                      <a:srgbClr val="111827"/>
                    </a:solidFill>
                    <a:latin typeface="Cambria Math" panose="02040503050406030204" pitchFamily="18" charset="0"/>
                  </a:rPr>
                  <a:t>$a\neq0$</a:t>
                </a:r>
                <a:r>
                  <a:rPr sz="2400" b="0">
                    <a:solidFill>
                      <a:srgbClr val="111827"/>
                    </a:solidFill>
                    <a:latin typeface="Arial"/>
                  </a:rPr>
                  <a:t>, </a:t>
                </a:r>
                <a:r>
                  <a:rPr lang="en-IN" sz="2400">
                    <a:solidFill>
                      <a:srgbClr val="111827"/>
                    </a:solidFill>
                    <a:latin typeface="Cambria Math" panose="02040503050406030204" pitchFamily="18" charset="0"/>
                  </a:rPr>
                  <a:t>$r\neq1$</a:t>
                </a:r>
                <a:r>
                  <a:rPr sz="2400" b="0">
                    <a:solidFill>
                      <a:srgbClr val="111827"/>
                    </a:solidFill>
                    <a:latin typeface="Arial"/>
                  </a:rPr>
                  <a:t> (distinct numbers).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$ax^2+2arx+ar^2=a(x+r)^2$</a:t>
                </a:r>
                <a:r>
                  <a:rPr sz="2400" b="0">
                    <a:solidFill>
                      <a:srgbClr val="111827"/>
                    </a:solidFill>
                    <a:latin typeface="Arial"/>
                  </a:rPr>
                  <a:t>, so the only root is </a:t>
                </a:r>
                <a:r>
                  <a:rPr lang="en-IN" sz="2400">
                    <a:solidFill>
                      <a:srgbClr val="111827"/>
                    </a:solidFill>
                    <a:latin typeface="Cambria Math" panose="02040503050406030204" pitchFamily="18" charset="0"/>
                  </a:rPr>
                  <a:t>$x=-r$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must satisfy </a:t>
                </a:r>
                <a:r>
                  <a:rPr lang="en-IN" sz="2400">
                    <a:solidFill>
                      <a:srgbClr val="111827"/>
                    </a:solidFill>
                    <a:latin typeface="Cambria Math" panose="02040503050406030204" pitchFamily="18" charset="0"/>
                  </a:rPr>
                  <a:t>$dx^2+2ex+f=0$</a:t>
                </a:r>
                <a:r>
                  <a:rPr sz="2400" b="0">
                    <a:solidFill>
                      <a:srgbClr val="111827"/>
                    </a:solidFill>
                    <a:latin typeface="Arial"/>
                  </a:rPr>
                  <a:t>: </a:t>
                </a:r>
                <a:r>
                  <a:rPr lang="en-IN" sz="2400">
                    <a:solidFill>
                      <a:srgbClr val="111827"/>
                    </a:solidFill>
                    <a:latin typeface="Cambria Math" panose="02040503050406030204" pitchFamily="18" charset="0"/>
                  </a:rPr>
                  <a:t>$dr^2-2er+f=0$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$\frac da,\frac eb,\frac fc=\frac da,\frac e{ar},\frac f{ar^2}=\frac1{ar^2}\left(dr^2,\ er,\ f\right)$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in A.P. iff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which is exactly the relation </a:t>
                </a:r>
                <a14:m>
                  <m:oMath xmlns:m="http://schemas.openxmlformats.org/officeDocument/2006/math">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found above.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are in A.P.; the same answer,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 A.P. with difference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These are in A.P. iff </a:t>
                </a:r>
                <a:r>
                  <a:rPr lang="en-IN" sz="2400">
                    <a:solidFill>
                      <a:srgbClr val="111827"/>
                    </a:solidFill>
                    <a:latin typeface="Cambria Math" panose="02040503050406030204" pitchFamily="18" charset="0"/>
                  </a:rPr>
                  <a:t>$2er=dr^2+f$</a:t>
                </a:r>
                <a:r>
                  <a:rPr sz="2400" b="0">
                    <a:solidFill>
                      <a:srgbClr val="111827"/>
                    </a:solidFill>
                    <a:latin typeface="Arial"/>
                  </a:rPr>
                  <a:t>, which is exactly the relation </a:t>
                </a:r>
                <a:r>
                  <a:rPr lang="en-IN" sz="2400">
                    <a:solidFill>
                      <a:srgbClr val="111827"/>
                    </a:solidFill>
                    <a:latin typeface="Cambria Math" panose="02040503050406030204" pitchFamily="18" charset="0"/>
                  </a:rPr>
                  <a:t>$dr^2-2er+f=0$</a:t>
                </a:r>
                <a:r>
                  <a:rPr sz="2400" b="0">
                    <a:solidFill>
                      <a:srgbClr val="111827"/>
                    </a:solidFill>
                    <a:latin typeface="Arial"/>
                  </a:rPr>
                  <a:t> found above.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 da,\frac eb,\frac fc$</a:t>
                </a:r>
                <a:r>
                  <a:rPr sz="2400" b="0">
                    <a:solidFill>
                      <a:srgbClr val="111827"/>
                    </a:solidFill>
                    <a:latin typeface="Arial"/>
                  </a:rPr>
                  <a:t> are in A.P.; the same answer,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a:t>
                </a:r>
                <a:r>
                  <a:rPr lang="en-IN" sz="2400">
                    <a:solidFill>
                      <a:srgbClr val="111827"/>
                    </a:solidFill>
                    <a:latin typeface="Cambria Math" panose="02040503050406030204" pitchFamily="18" charset="0"/>
                  </a:rPr>
                  <a:t>$a=1,r=2$</a:t>
                </a:r>
                <a:r>
                  <a:rPr sz="2400" b="0">
                    <a:solidFill>
                      <a:srgbClr val="111827"/>
                    </a:solidFill>
                    <a:latin typeface="Arial"/>
                  </a:rPr>
                  <a:t> (</a:t>
                </a:r>
                <a:r>
                  <a:rPr lang="en-IN" sz="2400">
                    <a:solidFill>
                      <a:srgbClr val="111827"/>
                    </a:solidFill>
                    <a:latin typeface="Cambria Math" panose="02040503050406030204" pitchFamily="18" charset="0"/>
                  </a:rPr>
                  <a:t>$1,2,4$</a:t>
                </a:r>
                <a:r>
                  <a:rPr sz="2400" b="0">
                    <a:solidFill>
                      <a:srgbClr val="111827"/>
                    </a:solidFill>
                    <a:latin typeface="Arial"/>
                  </a:rPr>
                  <a:t>); take </a:t>
                </a:r>
                <a:r>
                  <a:rPr lang="en-IN" sz="2400">
                    <a:solidFill>
                      <a:srgbClr val="111827"/>
                    </a:solidFill>
                    <a:latin typeface="Cambria Math" panose="02040503050406030204" pitchFamily="18" charset="0"/>
                  </a:rPr>
                  <a:t>$d=1$</a:t>
                </a:r>
                <a:r>
                  <a:rPr sz="2400" b="0">
                    <a:solidFill>
                      <a:srgbClr val="111827"/>
                    </a:solidFill>
                    <a:latin typeface="Arial"/>
                  </a:rPr>
                  <a:t>, </a:t>
                </a:r>
                <a:r>
                  <a:rPr lang="en-IN" sz="2400">
                    <a:solidFill>
                      <a:srgbClr val="111827"/>
                    </a:solidFill>
                    <a:latin typeface="Cambria Math" panose="02040503050406030204" pitchFamily="18" charset="0"/>
                  </a:rPr>
                  <a:t>$e=\frac32$</a:t>
                </a:r>
                <a:r>
                  <a:rPr sz="2400" b="0">
                    <a:solidFill>
                      <a:srgbClr val="111827"/>
                    </a:solidFill>
                    <a:latin typeface="Arial"/>
                  </a:rPr>
                  <a:t>, </a:t>
                </a:r>
                <a:r>
                  <a:rPr lang="en-IN" sz="2400">
                    <a:solidFill>
                      <a:srgbClr val="111827"/>
                    </a:solidFill>
                    <a:latin typeface="Cambria Math" panose="02040503050406030204" pitchFamily="18" charset="0"/>
                  </a:rPr>
                  <a:t>$f=2$</a:t>
                </a:r>
                <a:r>
                  <a:rPr sz="2400" b="0">
                    <a:solidFill>
                      <a:srgbClr val="111827"/>
                    </a:solidFill>
                    <a:latin typeface="Arial"/>
                  </a:rPr>
                  <a:t> (so </a:t>
                </a:r>
                <a:r>
                  <a:rPr lang="en-IN" sz="2400">
                    <a:solidFill>
                      <a:srgbClr val="111827"/>
                    </a:solidFill>
                    <a:latin typeface="Cambria Math" panose="02040503050406030204" pitchFamily="18" charset="0"/>
                  </a:rPr>
                  <a:t>$4-6+2=0$</a:t>
                </a:r>
                <a:r>
                  <a:rPr sz="2400" b="0">
                    <a:solidFill>
                      <a:srgbClr val="111827"/>
                    </a:solidFill>
                    <a:latin typeface="Arial"/>
                  </a:rPr>
                  <a:t>): </a:t>
                </a:r>
                <a:r>
                  <a:rPr lang="en-IN" sz="2400">
                    <a:solidFill>
                      <a:srgbClr val="111827"/>
                    </a:solidFill>
                    <a:latin typeface="Cambria Math" panose="02040503050406030204" pitchFamily="18" charset="0"/>
                  </a:rPr>
                  <a:t>$\frac da,\frac eb,\frac fc=1,\frac34,\frac12$</a:t>
                </a:r>
                <a:r>
                  <a:rPr sz="2400" b="0">
                    <a:solidFill>
                      <a:srgbClr val="111827"/>
                    </a:solidFill>
                    <a:latin typeface="Arial"/>
                  </a:rPr>
                  <a:t>, an A.P. with difference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𝑑</m:t>
                        </m:r>
                      </m:num>
                      <m:den>
                        <m:r>
                          <a:rPr lang="en-IN" sz="2800" i="1">
                            <a:solidFill>
                              <a:srgbClr val="15803D"/>
                            </a:solidFill>
                            <a:latin typeface="Cambria Math" panose="02040503050406030204" pitchFamily="18" charset="0"/>
                          </a:rPr>
                          <m:t>𝑎</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𝑒</m:t>
                        </m:r>
                      </m:num>
                      <m:den>
                        <m:r>
                          <a:rPr lang="en-IN" sz="2800" i="1">
                            <a:solidFill>
                              <a:srgbClr val="15803D"/>
                            </a:solidFill>
                            <a:latin typeface="Cambria Math" panose="02040503050406030204" pitchFamily="18" charset="0"/>
                          </a:rPr>
                          <m:t>𝑏</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𝑓</m:t>
                        </m:r>
                      </m:num>
                      <m:den>
                        <m:r>
                          <a:rPr lang="en-IN" sz="2800" i="1">
                            <a:solidFill>
                              <a:srgbClr val="15803D"/>
                            </a:solidFill>
                            <a:latin typeface="Cambria Math" panose="02040503050406030204" pitchFamily="18" charset="0"/>
                          </a:rPr>
                          <m:t>𝑐</m:t>
                        </m:r>
                      </m:den>
                    </m:f>
                  </m:oMath>
                </a14:m>
                <a:r>
                  <a:rPr sz="2800" b="1">
                    <a:solidFill>
                      <a:srgbClr val="15803D"/>
                    </a:solidFill>
                    <a:latin typeface="Arial"/>
                  </a:rPr>
                  <a:t> are in A.P.</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 da,\frac eb,\frac fc$</a:t>
                </a:r>
                <a:r>
                  <a:rPr sz="2800" b="1">
                    <a:solidFill>
                      <a:srgbClr val="15803D"/>
                    </a:solidFill>
                    <a:latin typeface="Arial"/>
                  </a:rPr>
                  <a:t> are in A.P.</a:t>
                </a:r>
                <a:endParaRPr sz="2800">
                  <a:solidFill>
                    <a:srgbClr val="15803D"/>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 G.P. of coefficients means a repeated root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common root of two quadratics, one of which has a repeated root, is that repeated root: substitute it into the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Parametrising a G.P. by its ratio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handles all signs and avoids square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for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 and any </a:t>
                </a:r>
                <a14:m>
                  <m:oMath xmlns:m="http://schemas.openxmlformats.org/officeDocument/2006/math">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oMath>
                </a14:m>
                <a:r>
                  <a:rPr sz="2400" b="0">
                    <a:solidFill>
                      <a:srgbClr val="111827"/>
                    </a:solidFill>
                    <a:latin typeface="Arial"/>
                  </a:rPr>
                  <a:t> sharing a root,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$ax^2+2bx+c$</a:t>
                </a:r>
                <a:r>
                  <a:rPr sz="2400" b="0">
                    <a:solidFill>
                      <a:srgbClr val="111827"/>
                    </a:solidFill>
                    <a:latin typeface="Arial"/>
                  </a:rPr>
                  <a:t> with </a:t>
                </a:r>
                <a:r>
                  <a:rPr lang="en-IN" sz="2400">
                    <a:solidFill>
                      <a:srgbClr val="111827"/>
                    </a:solidFill>
                    <a:latin typeface="Cambria Math" panose="02040503050406030204" pitchFamily="18" charset="0"/>
                  </a:rPr>
                  <a:t>$b^2=ac$</a:t>
                </a:r>
                <a:r>
                  <a:rPr sz="2400" b="0">
                    <a:solidFill>
                      <a:srgbClr val="111827"/>
                    </a:solidFill>
                    <a:latin typeface="Arial"/>
                  </a:rPr>
                  <a:t> is </a:t>
                </a:r>
                <a:r>
                  <a:rPr lang="en-IN" sz="2400">
                    <a:solidFill>
                      <a:srgbClr val="111827"/>
                    </a:solidFill>
                    <a:latin typeface="Cambria Math" panose="02040503050406030204" pitchFamily="18" charset="0"/>
                  </a:rPr>
                  <a:t>$a\left(x+\frac ba\right)^2$</a:t>
                </a:r>
                <a:r>
                  <a:rPr sz="2400" b="0">
                    <a:solidFill>
                      <a:srgbClr val="111827"/>
                    </a:solidFill>
                    <a:latin typeface="Arial"/>
                  </a:rPr>
                  <a:t>: a G.P. of coefficients means a repeated root </a:t>
                </a:r>
                <a:r>
                  <a:rPr lang="en-IN" sz="2400">
                    <a:solidFill>
                      <a:srgbClr val="111827"/>
                    </a:solidFill>
                    <a:latin typeface="Cambria Math" panose="02040503050406030204" pitchFamily="18" charset="0"/>
                  </a:rPr>
                  <a:t>$-\frac ba$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common root of two quadratics, one of which has a repeated root, is that repeated root: substitute it into the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Parametrising a G.P. by its ratio (</a:t>
                </a:r>
                <a:r>
                  <a:rPr lang="en-IN" sz="2400">
                    <a:solidFill>
                      <a:srgbClr val="111827"/>
                    </a:solidFill>
                    <a:latin typeface="Cambria Math" panose="02040503050406030204" pitchFamily="18" charset="0"/>
                  </a:rPr>
                  <a:t>$a,ar,ar^2$</a:t>
                </a:r>
                <a:r>
                  <a:rPr sz="2400" b="0">
                    <a:solidFill>
                      <a:srgbClr val="111827"/>
                    </a:solidFill>
                    <a:latin typeface="Arial"/>
                  </a:rPr>
                  <a:t>) handles all signs and avoids square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for </a:t>
                </a:r>
                <a:r>
                  <a:rPr lang="en-IN" sz="2400">
                    <a:solidFill>
                      <a:srgbClr val="111827"/>
                    </a:solidFill>
                    <a:latin typeface="Cambria Math" panose="02040503050406030204" pitchFamily="18" charset="0"/>
                  </a:rPr>
                  <a:t>$ax^2+2bx+c$</a:t>
                </a:r>
                <a:r>
                  <a:rPr sz="2400" b="0">
                    <a:solidFill>
                      <a:srgbClr val="111827"/>
                    </a:solidFill>
                    <a:latin typeface="Arial"/>
                  </a:rPr>
                  <a:t> with </a:t>
                </a:r>
                <a:r>
                  <a:rPr lang="en-IN" sz="2400">
                    <a:solidFill>
                      <a:srgbClr val="111827"/>
                    </a:solidFill>
                    <a:latin typeface="Cambria Math" panose="02040503050406030204" pitchFamily="18" charset="0"/>
                  </a:rPr>
                  <a:t>$b^2=ac$</a:t>
                </a:r>
                <a:r>
                  <a:rPr sz="2400" b="0">
                    <a:solidFill>
                      <a:srgbClr val="111827"/>
                    </a:solidFill>
                    <a:latin typeface="Arial"/>
                  </a:rPr>
                  <a:t> and any </a:t>
                </a:r>
                <a:r>
                  <a:rPr lang="en-IN" sz="2400">
                    <a:solidFill>
                      <a:srgbClr val="111827"/>
                    </a:solidFill>
                    <a:latin typeface="Cambria Math" panose="02040503050406030204" pitchFamily="18" charset="0"/>
                  </a:rPr>
                  <a:t>$dx^2+2ex+f$</a:t>
                </a:r>
                <a:r>
                  <a:rPr sz="2400" b="0">
                    <a:solidFill>
                      <a:srgbClr val="111827"/>
                    </a:solidFill>
                    <a:latin typeface="Arial"/>
                  </a:rPr>
                  <a:t> sharing a root, </a:t>
                </a:r>
                <a:r>
                  <a:rPr lang="en-IN" sz="2400">
                    <a:solidFill>
                      <a:srgbClr val="111827"/>
                    </a:solidFill>
                    <a:latin typeface="Cambria Math" panose="02040503050406030204" pitchFamily="18" charset="0"/>
                  </a:rPr>
                  <a:t>$\frac da-\frac{2e}b+\frac fc=0$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sum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a non constant A.P.,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𝐴</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 constant. If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is the common difference of this A.P., then the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sum of the first </a:t>
                </a:r>
                <a:r>
                  <a:rPr lang="en-IN" sz="2400">
                    <a:solidFill>
                      <a:srgbClr val="111827"/>
                    </a:solidFill>
                    <a:latin typeface="Cambria Math" panose="02040503050406030204" pitchFamily="18" charset="0"/>
                  </a:rPr>
                  <a:t>$n$</a:t>
                </a:r>
                <a:r>
                  <a:rPr sz="2400" b="0">
                    <a:solidFill>
                      <a:srgbClr val="111827"/>
                    </a:solidFill>
                    <a:latin typeface="Arial"/>
                  </a:rPr>
                  <a:t> terms of a non constant A.P., </a:t>
                </a:r>
                <a:r>
                  <a:rPr lang="en-IN" sz="2400">
                    <a:solidFill>
                      <a:srgbClr val="111827"/>
                    </a:solidFill>
                    <a:latin typeface="Cambria Math" panose="02040503050406030204" pitchFamily="18" charset="0"/>
                  </a:rPr>
                  <a:t>$a_1,a_2,a_3,\ldots$</a:t>
                </a:r>
                <a:r>
                  <a:rPr sz="2400" b="0">
                    <a:solidFill>
                      <a:srgbClr val="111827"/>
                    </a:solidFill>
                    <a:latin typeface="Arial"/>
                  </a:rPr>
                  <a:t> be </a:t>
                </a:r>
                <a:r>
                  <a:rPr lang="en-IN" sz="2400">
                    <a:solidFill>
                      <a:srgbClr val="111827"/>
                    </a:solidFill>
                    <a:latin typeface="Cambria Math" panose="02040503050406030204" pitchFamily="18" charset="0"/>
                  </a:rPr>
                  <a:t>$50n+\frac{n(n-7)}{2}A$</a:t>
                </a:r>
                <a:r>
                  <a:rPr sz="2400" b="0">
                    <a:solidFill>
                      <a:srgbClr val="111827"/>
                    </a:solidFill>
                    <a:latin typeface="Arial"/>
                  </a:rPr>
                  <a:t>, where </a:t>
                </a:r>
                <a:r>
                  <a:rPr lang="en-IN" sz="2400">
                    <a:solidFill>
                      <a:srgbClr val="111827"/>
                    </a:solidFill>
                    <a:latin typeface="Cambria Math" panose="02040503050406030204" pitchFamily="18" charset="0"/>
                  </a:rPr>
                  <a:t>$A$</a:t>
                </a:r>
                <a:r>
                  <a:rPr sz="2400" b="0">
                    <a:solidFill>
                      <a:srgbClr val="111827"/>
                    </a:solidFill>
                    <a:latin typeface="Arial"/>
                  </a:rPr>
                  <a:t> is a constant. If </a:t>
                </a:r>
                <a:r>
                  <a:rPr lang="en-IN" sz="2400">
                    <a:solidFill>
                      <a:srgbClr val="111827"/>
                    </a:solidFill>
                    <a:latin typeface="Cambria Math" panose="02040503050406030204" pitchFamily="18" charset="0"/>
                  </a:rPr>
                  <a:t>$d$</a:t>
                </a:r>
                <a:r>
                  <a:rPr sz="2400" b="0">
                    <a:solidFill>
                      <a:srgbClr val="111827"/>
                    </a:solidFill>
                    <a:latin typeface="Arial"/>
                  </a:rPr>
                  <a:t> is the common difference of this A.P., then the ordered pair </a:t>
                </a:r>
                <a:r>
                  <a:rPr lang="en-IN" sz="2400">
                    <a:solidFill>
                      <a:srgbClr val="111827"/>
                    </a:solidFill>
                    <a:latin typeface="Cambria Math" panose="02040503050406030204" pitchFamily="18" charset="0"/>
                  </a:rPr>
                  <a:t>$(d,a_{50})$</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$(50,50+46A)$</a:t>
                </a:r>
                <a:r>
                  <a:rPr sz="2400" b="0">
                    <a:solidFill>
                      <a:srgbClr val="111827"/>
                    </a:solidFill>
                    <a:latin typeface="Arial"/>
                  </a:rPr>
                  <a:t>   (B) </a:t>
                </a:r>
                <a:r>
                  <a:rPr lang="en-IN" sz="2400">
                    <a:solidFill>
                      <a:srgbClr val="111827"/>
                    </a:solidFill>
                    <a:latin typeface="Cambria Math" panose="02040503050406030204" pitchFamily="18" charset="0"/>
                  </a:rPr>
                  <a:t>$(A,50+45A)$</a:t>
                </a:r>
                <a:r>
                  <a:rPr sz="2400" b="0">
                    <a:solidFill>
                      <a:srgbClr val="111827"/>
                    </a:solidFill>
                    <a:latin typeface="Arial"/>
                  </a:rPr>
                  <a:t>   (C) </a:t>
                </a:r>
                <a:r>
                  <a:rPr lang="en-IN" sz="2400">
                    <a:solidFill>
                      <a:srgbClr val="111827"/>
                    </a:solidFill>
                    <a:latin typeface="Cambria Math" panose="02040503050406030204" pitchFamily="18" charset="0"/>
                  </a:rPr>
                  <a:t>$(A,50+46A)$</a:t>
                </a:r>
                <a:r>
                  <a:rPr sz="2400" b="0">
                    <a:solidFill>
                      <a:srgbClr val="111827"/>
                    </a:solidFill>
                    <a:latin typeface="Arial"/>
                  </a:rPr>
                  <a:t>   (D) </a:t>
                </a:r>
                <a:r>
                  <a:rPr lang="en-IN" sz="2400">
                    <a:solidFill>
                      <a:srgbClr val="111827"/>
                    </a:solidFill>
                    <a:latin typeface="Cambria Math" panose="02040503050406030204" pitchFamily="18" charset="0"/>
                  </a:rPr>
                  <a:t>$(50,50+45A)$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an arithmetic progression and its common difference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r>
                  <a:rPr lang="en-IN" sz="2400">
                    <a:solidFill>
                      <a:srgbClr val="111827"/>
                    </a:solidFill>
                    <a:latin typeface="Cambria Math" panose="02040503050406030204" pitchFamily="18" charset="0"/>
                  </a:rPr>
                  <a:t>$n$</a:t>
                </a:r>
                <a:r>
                  <a:rPr sz="2400" b="0">
                    <a:solidFill>
                      <a:srgbClr val="111827"/>
                    </a:solidFill>
                    <a:latin typeface="Arial"/>
                  </a:rPr>
                  <a:t> terms of an arithmetic progression and its common difference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num>
                      <m:den>
                        <m:r>
                          <a:rPr lang="en-IN" sz="2400" i="1">
                            <a:solidFill>
                              <a:srgbClr val="78350F"/>
                            </a:solidFill>
                            <a:latin typeface="Cambria Math" panose="02040503050406030204" pitchFamily="18" charset="0"/>
                          </a:rPr>
                          <m:t>2</m:t>
                        </m:r>
                      </m:den>
                    </m:f>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num>
                          <m:den>
                            <m:r>
                              <a:rPr lang="en-IN" sz="2400" i="1">
                                <a:solidFill>
                                  <a:srgbClr val="78350F"/>
                                </a:solidFill>
                                <a:latin typeface="Cambria Math" panose="02040503050406030204" pitchFamily="18" charset="0"/>
                              </a:rPr>
                              <m:t>2</m:t>
                            </m:r>
                          </m:den>
                        </m:f>
                      </m:e>
                    </m:d>
                    <m:r>
                      <a:rPr lang="en-IN" sz="2400" i="1">
                        <a:solidFill>
                          <a:srgbClr val="78350F"/>
                        </a:solidFill>
                        <a:latin typeface="Cambria Math" panose="02040503050406030204" pitchFamily="18" charset="0"/>
                      </a:rPr>
                      <m:t>𝑛</m:t>
                    </m:r>
                  </m:oMath>
                </a14:m>
                <a:r>
                  <a:rPr sz="2400" b="0">
                    <a:solidFill>
                      <a:srgbClr val="78350F"/>
                    </a:solidFill>
                    <a:latin typeface="Arial"/>
                  </a:rPr>
                  <a:t>, so the </a:t>
                </a:r>
                <a14:m>
                  <m:oMath xmlns:m="http://schemas.openxmlformats.org/officeDocument/2006/math">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coefficient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$S_n=\frac d2n^2+\left(a-\frac d2\right)n$</a:t>
                </a:r>
                <a:r>
                  <a:rPr sz="2400" b="0">
                    <a:solidFill>
                      <a:srgbClr val="78350F"/>
                    </a:solidFill>
                    <a:latin typeface="Arial"/>
                  </a:rPr>
                  <a:t>, so the </a:t>
                </a:r>
                <a:r>
                  <a:rPr lang="en-IN" sz="2400">
                    <a:solidFill>
                      <a:srgbClr val="78350F"/>
                    </a:solidFill>
                    <a:latin typeface="Cambria Math" panose="02040503050406030204" pitchFamily="18" charset="0"/>
                  </a:rPr>
                  <a:t>$n^2$</a:t>
                </a:r>
                <a:r>
                  <a:rPr sz="2400" b="0">
                    <a:solidFill>
                      <a:srgbClr val="78350F"/>
                    </a:solidFill>
                    <a:latin typeface="Arial"/>
                  </a:rPr>
                  <a:t> coefficient is </a:t>
                </a:r>
                <a:r>
                  <a:rPr lang="en-IN" sz="2400">
                    <a:solidFill>
                      <a:srgbClr val="78350F"/>
                    </a:solidFill>
                    <a:latin typeface="Cambria Math" panose="02040503050406030204" pitchFamily="18" charset="0"/>
                  </a:rPr>
                  <a:t>$\frac d2$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e>
                    </m:d>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A.P.,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e>
                    </m:d>
                    <m:r>
                      <a:rPr lang="en-IN" sz="2400" i="1">
                        <a:solidFill>
                          <a:srgbClr val="111827"/>
                        </a:solidFill>
                        <a:latin typeface="Cambria Math" panose="02040503050406030204" pitchFamily="18" charset="0"/>
                      </a:rPr>
                      <m:t>𝑛</m:t>
                    </m:r>
                  </m:oMath>
                </a14:m>
                <a:r>
                  <a:rPr sz="2400" b="0">
                    <a:solidFill>
                      <a:srgbClr val="111827"/>
                    </a:solidFill>
                    <a:latin typeface="Arial"/>
                  </a:rPr>
                  <a:t>, so comparing the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coefficient: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coefficient: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$S_n=50n+\frac{A}{2}n^2-\frac{7A}{2}n=\frac A2n^2+\left(50-\frac{7A}{2}\right)n$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 A.P., </a:t>
                </a:r>
                <a:r>
                  <a:rPr lang="en-IN" sz="2400">
                    <a:solidFill>
                      <a:srgbClr val="111827"/>
                    </a:solidFill>
                    <a:latin typeface="Cambria Math" panose="02040503050406030204" pitchFamily="18" charset="0"/>
                  </a:rPr>
                  <a:t>$S_n=\frac d2n^2+\left(a_1-\frac d2\right)n$</a:t>
                </a:r>
                <a:r>
                  <a:rPr sz="2400" b="0">
                    <a:solidFill>
                      <a:srgbClr val="111827"/>
                    </a:solidFill>
                    <a:latin typeface="Arial"/>
                  </a:rPr>
                  <a:t>, so comparing the </a:t>
                </a:r>
                <a:r>
                  <a:rPr lang="en-IN" sz="2400">
                    <a:solidFill>
                      <a:srgbClr val="111827"/>
                    </a:solidFill>
                    <a:latin typeface="Cambria Math" panose="02040503050406030204" pitchFamily="18" charset="0"/>
                  </a:rPr>
                  <a:t>$n^2$</a:t>
                </a:r>
                <a:r>
                  <a:rPr sz="2400" b="0">
                    <a:solidFill>
                      <a:srgbClr val="111827"/>
                    </a:solidFill>
                    <a:latin typeface="Arial"/>
                  </a:rPr>
                  <a:t> coefficient: </a:t>
                </a:r>
                <a:r>
                  <a:rPr lang="en-IN" sz="2400">
                    <a:solidFill>
                      <a:srgbClr val="111827"/>
                    </a:solidFill>
                    <a:latin typeface="Cambria Math" panose="02040503050406030204" pitchFamily="18" charset="0"/>
                  </a:rPr>
                  <a:t>$\frac d2=\frac A2$</a:t>
                </a:r>
                <a:r>
                  <a:rPr sz="2400" b="0">
                    <a:solidFill>
                      <a:srgbClr val="111827"/>
                    </a:solidFill>
                    <a:latin typeface="Arial"/>
                  </a:rPr>
                  <a:t>, giving </a:t>
                </a:r>
                <a:r>
                  <a:rPr lang="en-IN" sz="2400">
                    <a:solidFill>
                      <a:srgbClr val="111827"/>
                    </a:solidFill>
                    <a:latin typeface="Cambria Math" panose="02040503050406030204" pitchFamily="18" charset="0"/>
                  </a:rPr>
                  <a:t>$d=A$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the </a:t>
                </a:r>
                <a:r>
                  <a:rPr lang="en-IN" sz="2400">
                    <a:solidFill>
                      <a:srgbClr val="111827"/>
                    </a:solidFill>
                    <a:latin typeface="Cambria Math" panose="02040503050406030204" pitchFamily="18" charset="0"/>
                  </a:rPr>
                  <a:t>$n$</a:t>
                </a:r>
                <a:r>
                  <a:rPr sz="2400" b="0">
                    <a:solidFill>
                      <a:srgbClr val="111827"/>
                    </a:solidFill>
                    <a:latin typeface="Arial"/>
                  </a:rPr>
                  <a:t> coefficient: </a:t>
                </a:r>
                <a:r>
                  <a:rPr lang="en-IN" sz="2400">
                    <a:solidFill>
                      <a:srgbClr val="111827"/>
                    </a:solidFill>
                    <a:latin typeface="Cambria Math" panose="02040503050406030204" pitchFamily="18" charset="0"/>
                  </a:rPr>
                  <a:t>$a_1-\frac A2=50-\frac{7A}2$</a:t>
                </a:r>
                <a:r>
                  <a:rPr sz="2400" b="0">
                    <a:solidFill>
                      <a:srgbClr val="111827"/>
                    </a:solidFill>
                    <a:latin typeface="Arial"/>
                  </a:rPr>
                  <a:t>, so </a:t>
                </a:r>
                <a:r>
                  <a:rPr lang="en-IN" sz="2400">
                    <a:solidFill>
                      <a:srgbClr val="111827"/>
                    </a:solidFill>
                    <a:latin typeface="Cambria Math" panose="02040503050406030204" pitchFamily="18" charset="0"/>
                  </a:rPr>
                  <a:t>$a_1=50-3A$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$a_{50}=a_1+49d=(50-3A)+49A$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$a_{50}=50+46A$</a:t>
                </a:r>
                <a:r>
                  <a:rPr sz="2400" b="0">
                    <a:solidFill>
                      <a:srgbClr val="111827"/>
                    </a:solidFill>
                    <a:latin typeface="Arial"/>
                  </a:rPr>
                  <a:t>, so </a:t>
                </a:r>
                <a:r>
                  <a:rPr lang="en-IN" sz="2400">
                    <a:solidFill>
                      <a:srgbClr val="111827"/>
                    </a:solidFill>
                    <a:latin typeface="Cambria Math" panose="02040503050406030204" pitchFamily="18" charset="0"/>
                  </a:rPr>
                  <a:t>$(d,a_{50})=(A,50+46A)$</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46</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$(A,50+46A)$</a:t>
                </a:r>
                <a:endParaRPr sz="2800">
                  <a:solidFill>
                    <a:srgbClr val="15803D"/>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$a_n=S_n-S_{n-1}$</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linear function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slope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m:t>
                    </m:r>
                    <m:r>
                      <a:rPr lang="en-IN" sz="2400" i="1">
                        <a:solidFill>
                          <a:srgbClr val="111827"/>
                        </a:solidFill>
                        <a:latin typeface="Cambria Math" panose="02040503050406030204" pitchFamily="18" charset="0"/>
                      </a:rPr>
                      <m:t>𝐴</m:t>
                    </m:r>
                  </m:oMath>
                </a14:m>
                <a:r>
                  <a:rPr sz="2400" b="0">
                    <a:solidFill>
                      <a:srgbClr val="111827"/>
                    </a:solidFill>
                    <a:latin typeface="Arial"/>
                  </a:rPr>
                  <a:t>; the same answer.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(Non-constant requires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$a_n=S_n-S_{n-1}=50+\frac A2\left[n(n-7)-(n-1)(n-8)\right]$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$n(n-7)-(n-1)(n-8)=n^2-7n-(n^2-9n+8)=2n-8$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$a_n=50+A(n-4)$</a:t>
                </a:r>
                <a:r>
                  <a:rPr sz="2400" b="0">
                    <a:solidFill>
                      <a:srgbClr val="111827"/>
                    </a:solidFill>
                    <a:latin typeface="Arial"/>
                  </a:rPr>
                  <a:t>, a linear function of </a:t>
                </a:r>
                <a:r>
                  <a:rPr lang="en-IN" sz="2400">
                    <a:solidFill>
                      <a:srgbClr val="111827"/>
                    </a:solidFill>
                    <a:latin typeface="Cambria Math" panose="02040503050406030204" pitchFamily="18" charset="0"/>
                  </a:rPr>
                  <a:t>$n$</a:t>
                </a:r>
                <a:r>
                  <a:rPr sz="2400" b="0">
                    <a:solidFill>
                      <a:srgbClr val="111827"/>
                    </a:solidFill>
                    <a:latin typeface="Arial"/>
                  </a:rPr>
                  <a:t> with slope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$a_{50}=50+46A$</a:t>
                </a:r>
                <a:r>
                  <a:rPr sz="2400" b="0">
                    <a:solidFill>
                      <a:srgbClr val="111827"/>
                    </a:solidFill>
                    <a:latin typeface="Arial"/>
                  </a:rPr>
                  <a:t>; the same answer.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(Non-constant requires </a:t>
                </a:r>
                <a:r>
                  <a:rPr lang="en-IN" sz="2400">
                    <a:solidFill>
                      <a:srgbClr val="111827"/>
                    </a:solidFill>
                    <a:latin typeface="Cambria Math" panose="02040503050406030204" pitchFamily="18" charset="0"/>
                  </a:rPr>
                  <a:t>$A\neq0$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46</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$(A,50+46A)$</a:t>
                </a:r>
                <a:endParaRPr sz="2800">
                  <a:solidFill>
                    <a:srgbClr val="15803D"/>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𝑛</m:t>
                    </m:r>
                  </m:oMath>
                </a14:m>
                <a:r>
                  <a:rPr sz="2400" b="0">
                    <a:solidFill>
                      <a:srgbClr val="111827"/>
                    </a:solidFill>
                    <a:latin typeface="Arial"/>
                  </a:rPr>
                  <a:t> then the sequence is an A.P.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 constant term in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would break this (except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always gives the general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$S_n=pn^2+qn$</a:t>
                </a:r>
                <a:r>
                  <a:rPr sz="2400" b="0">
                    <a:solidFill>
                      <a:srgbClr val="111827"/>
                    </a:solidFill>
                    <a:latin typeface="Arial"/>
                  </a:rPr>
                  <a:t> then the sequence is an A.P. with </a:t>
                </a:r>
                <a:r>
                  <a:rPr lang="en-IN" sz="2400">
                    <a:solidFill>
                      <a:srgbClr val="111827"/>
                    </a:solidFill>
                    <a:latin typeface="Cambria Math" panose="02040503050406030204" pitchFamily="18" charset="0"/>
                  </a:rPr>
                  <a:t>$d=2p$</a:t>
                </a:r>
                <a:r>
                  <a:rPr sz="2400" b="0">
                    <a:solidFill>
                      <a:srgbClr val="111827"/>
                    </a:solidFill>
                    <a:latin typeface="Arial"/>
                  </a:rPr>
                  <a:t> and </a:t>
                </a:r>
                <a:r>
                  <a:rPr lang="en-IN" sz="2400">
                    <a:solidFill>
                      <a:srgbClr val="111827"/>
                    </a:solidFill>
                    <a:latin typeface="Cambria Math" panose="02040503050406030204" pitchFamily="18" charset="0"/>
                  </a:rPr>
                  <a:t>$a_1=p+q$</a:t>
                </a:r>
                <a:r>
                  <a:rPr sz="2400" b="0">
                    <a:solidFill>
                      <a:srgbClr val="111827"/>
                    </a:solidFill>
                    <a:latin typeface="Arial"/>
                  </a:rPr>
                  <a:t>; a constant term in </a:t>
                </a:r>
                <a:r>
                  <a:rPr lang="en-IN" sz="2400">
                    <a:solidFill>
                      <a:srgbClr val="111827"/>
                    </a:solidFill>
                    <a:latin typeface="Cambria Math" panose="02040503050406030204" pitchFamily="18" charset="0"/>
                  </a:rPr>
                  <a:t>$S_n$</a:t>
                </a:r>
                <a:r>
                  <a:rPr sz="2400" b="0">
                    <a:solidFill>
                      <a:srgbClr val="111827"/>
                    </a:solidFill>
                    <a:latin typeface="Arial"/>
                  </a:rPr>
                  <a:t> would break this (except </a:t>
                </a:r>
                <a:r>
                  <a:rPr lang="en-IN" sz="2400">
                    <a:solidFill>
                      <a:srgbClr val="111827"/>
                    </a:solidFill>
                    <a:latin typeface="Cambria Math" panose="02040503050406030204" pitchFamily="18" charset="0"/>
                  </a:rPr>
                  <a:t>$S_0=0$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$a_n=S_n-S_{n-1}$</a:t>
                </a:r>
                <a:r>
                  <a:rPr sz="2400" b="0">
                    <a:solidFill>
                      <a:srgbClr val="111827"/>
                    </a:solidFill>
                    <a:latin typeface="Arial"/>
                  </a:rPr>
                  <a:t> for </a:t>
                </a:r>
                <a:r>
                  <a:rPr lang="en-IN" sz="2400">
                    <a:solidFill>
                      <a:srgbClr val="111827"/>
                    </a:solidFill>
                    <a:latin typeface="Cambria Math" panose="02040503050406030204" pitchFamily="18" charset="0"/>
                  </a:rPr>
                  <a:t>$n\ge2$</a:t>
                </a:r>
                <a:r>
                  <a:rPr sz="2400" b="0">
                    <a:solidFill>
                      <a:srgbClr val="111827"/>
                    </a:solidFill>
                    <a:latin typeface="Arial"/>
                  </a:rPr>
                  <a:t> and </a:t>
                </a:r>
                <a:r>
                  <a:rPr lang="en-IN" sz="2400">
                    <a:solidFill>
                      <a:srgbClr val="111827"/>
                    </a:solidFill>
                    <a:latin typeface="Cambria Math" panose="02040503050406030204" pitchFamily="18" charset="0"/>
                  </a:rPr>
                  <a:t>$a_1=S_1$</a:t>
                </a:r>
                <a:r>
                  <a:rPr sz="2400" b="0">
                    <a:solidFill>
                      <a:srgbClr val="111827"/>
                    </a:solidFill>
                    <a:latin typeface="Arial"/>
                  </a:rPr>
                  <a:t> always gives the general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r>
                  <a:rPr lang="en-IN" sz="2400">
                    <a:solidFill>
                      <a:srgbClr val="111827"/>
                    </a:solidFill>
                    <a:latin typeface="Cambria Math" panose="02040503050406030204" pitchFamily="18" charset="0"/>
                  </a:rPr>
                  <a:t>$p=\frac A2$</a:t>
                </a:r>
                <a:r>
                  <a:rPr sz="2400" b="0">
                    <a:solidFill>
                      <a:srgbClr val="111827"/>
                    </a:solidFill>
                    <a:latin typeface="Arial"/>
                  </a:rPr>
                  <a:t>, </a:t>
                </a:r>
                <a:r>
                  <a:rPr lang="en-IN" sz="2400">
                    <a:solidFill>
                      <a:srgbClr val="111827"/>
                    </a:solidFill>
                    <a:latin typeface="Cambria Math" panose="02040503050406030204" pitchFamily="18" charset="0"/>
                  </a:rPr>
                  <a:t>$q=50-\frac{7A}2$</a:t>
                </a:r>
                <a:r>
                  <a:rPr sz="2400" b="0">
                    <a:solidFill>
                      <a:srgbClr val="111827"/>
                    </a:solidFill>
                    <a:latin typeface="Arial"/>
                  </a:rPr>
                  <a:t>, so </a:t>
                </a:r>
                <a:r>
                  <a:rPr lang="en-IN" sz="2400">
                    <a:solidFill>
                      <a:srgbClr val="111827"/>
                    </a:solidFill>
                    <a:latin typeface="Cambria Math" panose="02040503050406030204" pitchFamily="18" charset="0"/>
                  </a:rPr>
                  <a:t>$d=A$</a:t>
                </a:r>
                <a:r>
                  <a:rPr sz="2400" b="0">
                    <a:solidFill>
                      <a:srgbClr val="111827"/>
                    </a:solidFill>
                    <a:latin typeface="Arial"/>
                  </a:rPr>
                  <a:t> and </a:t>
                </a:r>
                <a:r>
                  <a:rPr lang="en-IN" sz="2400">
                    <a:solidFill>
                      <a:srgbClr val="111827"/>
                    </a:solidFill>
                    <a:latin typeface="Cambria Math" panose="02040503050406030204" pitchFamily="18" charset="0"/>
                  </a:rPr>
                  <a:t>$a_1=p+q=50-3A$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9309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Some identical balls are arranged in rows to form an equilateral triangle. The first row consists of one ball, the second row consists of two balls and so on. If </a:t>
                </a:r>
                <a14:m>
                  <m:oMath xmlns:m="http://schemas.openxmlformats.org/officeDocument/2006/math">
                    <m:r>
                      <a:rPr lang="en-IN" sz="2400" i="1">
                        <a:solidFill>
                          <a:srgbClr val="111827"/>
                        </a:solidFill>
                        <a:latin typeface="Cambria Math" panose="02040503050406030204" pitchFamily="18" charset="0"/>
                      </a:rPr>
                      <m:t>99</m:t>
                    </m:r>
                  </m:oMath>
                </a14:m>
                <a:r>
                  <a:rPr sz="2400" b="0">
                    <a:solidFill>
                      <a:srgbClr val="111827"/>
                    </a:solidFill>
                    <a:latin typeface="Arial"/>
                  </a:rPr>
                  <a:t> more identical balls are added to the total number of balls used in forming the equilateral triangle, then all these balls can be arranged in a square whose each side contains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balls less than the number of balls each side of the triangle contains. Then the number of balls used to form the equilateral triangle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157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225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262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190</m:t>
                    </m:r>
                  </m:oMath>
                </a14:m>
                <a:endParaRPr sz="2400">
                  <a:solidFill>
                    <a:srgbClr val="111827"/>
                  </a:solidFill>
                </a:endParaRPr>
              </a:p>
            </p:txBody>
          </p:sp>
        </mc:Choice>
        <mc:Fallback>
          <p:sp>
            <p:nvSpPr>
              <p:cNvPr id="4" name="Rounded Rectangle 3"/>
              <p:cNvSpPr/>
              <p:nvPr/>
            </p:nvSpPr>
            <p:spPr>
              <a:xfrm>
                <a:off x="731520" y="1280160"/>
                <a:ext cx="10725912" cy="39309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Some identical balls are arranged in rows to form an equilateral triangle. The first row consists of one ball, the second row consists of two balls and so on. If </a:t>
                </a:r>
                <a:r>
                  <a:rPr lang="en-IN" sz="2400">
                    <a:solidFill>
                      <a:srgbClr val="111827"/>
                    </a:solidFill>
                    <a:latin typeface="Cambria Math" panose="02040503050406030204" pitchFamily="18" charset="0"/>
                  </a:rPr>
                  <a:t>$99$</a:t>
                </a:r>
                <a:r>
                  <a:rPr sz="2400" b="0">
                    <a:solidFill>
                      <a:srgbClr val="111827"/>
                    </a:solidFill>
                    <a:latin typeface="Arial"/>
                  </a:rPr>
                  <a:t> more identical balls are added to the total number of balls used in forming the equilateral triangle, then all these balls can be arranged in a square whose each side contains exactly </a:t>
                </a:r>
                <a:r>
                  <a:rPr lang="en-IN" sz="2400">
                    <a:solidFill>
                      <a:srgbClr val="111827"/>
                    </a:solidFill>
                    <a:latin typeface="Cambria Math" panose="02040503050406030204" pitchFamily="18" charset="0"/>
                  </a:rPr>
                  <a:t>$2$</a:t>
                </a:r>
                <a:r>
                  <a:rPr sz="2400" b="0">
                    <a:solidFill>
                      <a:srgbClr val="111827"/>
                    </a:solidFill>
                    <a:latin typeface="Arial"/>
                  </a:rPr>
                  <a:t> balls less than the number of balls each side of the triangle contains. Then the number of balls used to form the equilateral triangle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$157$</a:t>
                </a:r>
                <a:r>
                  <a:rPr sz="2400" b="0">
                    <a:solidFill>
                      <a:srgbClr val="111827"/>
                    </a:solidFill>
                    <a:latin typeface="Arial"/>
                  </a:rPr>
                  <a:t>   (B) </a:t>
                </a:r>
                <a:r>
                  <a:rPr lang="en-IN" sz="2400">
                    <a:solidFill>
                      <a:srgbClr val="111827"/>
                    </a:solidFill>
                    <a:latin typeface="Cambria Math" panose="02040503050406030204" pitchFamily="18" charset="0"/>
                  </a:rPr>
                  <a:t>$225$</a:t>
                </a:r>
                <a:r>
                  <a:rPr sz="2400" b="0">
                    <a:solidFill>
                      <a:srgbClr val="111827"/>
                    </a:solidFill>
                    <a:latin typeface="Arial"/>
                  </a:rPr>
                  <a:t>   (C) </a:t>
                </a:r>
                <a:r>
                  <a:rPr lang="en-IN" sz="2400">
                    <a:solidFill>
                      <a:srgbClr val="111827"/>
                    </a:solidFill>
                    <a:latin typeface="Cambria Math" panose="02040503050406030204" pitchFamily="18" charset="0"/>
                  </a:rPr>
                  <a:t>$262$</a:t>
                </a:r>
                <a:r>
                  <a:rPr sz="2400" b="0">
                    <a:solidFill>
                      <a:srgbClr val="111827"/>
                    </a:solidFill>
                    <a:latin typeface="Arial"/>
                  </a:rPr>
                  <a:t>   (D) </a:t>
                </a:r>
                <a:r>
                  <a:rPr lang="en-IN" sz="2400">
                    <a:solidFill>
                      <a:srgbClr val="111827"/>
                    </a:solidFill>
                    <a:latin typeface="Cambria Math" panose="02040503050406030204" pitchFamily="18" charset="0"/>
                  </a:rPr>
                  <a:t>$190$</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Triangular numbers (sum of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natural numbers),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Triangular numbers (sum of first </a:t>
                </a:r>
                <a:r>
                  <a:rPr lang="en-IN" sz="2400">
                    <a:solidFill>
                      <a:srgbClr val="111827"/>
                    </a:solidFill>
                    <a:latin typeface="Cambria Math" panose="02040503050406030204" pitchFamily="18" charset="0"/>
                  </a:rPr>
                  <a:t>$n$</a:t>
                </a:r>
                <a:r>
                  <a:rPr sz="2400" b="0">
                    <a:solidFill>
                      <a:srgbClr val="111827"/>
                    </a:solidFill>
                    <a:latin typeface="Arial"/>
                  </a:rPr>
                  <a:t> natural numbers),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triangle with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balls on a side holds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balls, giving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99</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triangle with </a:t>
                </a:r>
                <a:r>
                  <a:rPr lang="en-IN" sz="2400">
                    <a:solidFill>
                      <a:srgbClr val="78350F"/>
                    </a:solidFill>
                    <a:latin typeface="Cambria Math" panose="02040503050406030204" pitchFamily="18" charset="0"/>
                  </a:rPr>
                  <a:t>$n$</a:t>
                </a:r>
                <a:r>
                  <a:rPr sz="2400" b="0">
                    <a:solidFill>
                      <a:srgbClr val="78350F"/>
                    </a:solidFill>
                    <a:latin typeface="Arial"/>
                  </a:rPr>
                  <a:t> balls on a side holds </a:t>
                </a:r>
                <a:r>
                  <a:rPr lang="en-IN" sz="2400">
                    <a:solidFill>
                      <a:srgbClr val="78350F"/>
                    </a:solidFill>
                    <a:latin typeface="Cambria Math" panose="02040503050406030204" pitchFamily="18" charset="0"/>
                  </a:rPr>
                  <a:t>$\frac{n(n+1)}2$</a:t>
                </a:r>
                <a:r>
                  <a:rPr sz="2400" b="0">
                    <a:solidFill>
                      <a:srgbClr val="78350F"/>
                    </a:solidFill>
                    <a:latin typeface="Arial"/>
                  </a:rPr>
                  <a:t> balls, giving </a:t>
                </a:r>
                <a:r>
                  <a:rPr lang="en-IN" sz="2400">
                    <a:solidFill>
                      <a:srgbClr val="78350F"/>
                    </a:solidFill>
                    <a:latin typeface="Cambria Math" panose="02040503050406030204" pitchFamily="18" charset="0"/>
                  </a:rPr>
                  <a:t>$\frac{n(n+1)}2+99=(n-2)^2$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each side of the triangle have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balls. Balls in the triangle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each side of the triangle have </a:t>
                </a:r>
                <a:r>
                  <a:rPr lang="en-IN" sz="2400">
                    <a:solidFill>
                      <a:srgbClr val="111827"/>
                    </a:solidFill>
                    <a:latin typeface="Cambria Math" panose="02040503050406030204" pitchFamily="18" charset="0"/>
                  </a:rPr>
                  <a:t>$n$</a:t>
                </a:r>
                <a:r>
                  <a:rPr sz="2400" b="0">
                    <a:solidFill>
                      <a:srgbClr val="111827"/>
                    </a:solidFill>
                    <a:latin typeface="Arial"/>
                  </a:rPr>
                  <a:t> balls. Balls in the triangle </a:t>
                </a:r>
                <a:r>
                  <a:rPr lang="en-IN" sz="2400">
                    <a:solidFill>
                      <a:srgbClr val="111827"/>
                    </a:solidFill>
                    <a:latin typeface="Cambria Math" panose="02040503050406030204" pitchFamily="18" charset="0"/>
                  </a:rPr>
                  <a:t>$=1+2+\ldots+n=\frac{n(n+1)}2$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square has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balls on each side, so it holds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balls.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(reject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Balls in the triangle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square has </a:t>
                </a:r>
                <a:r>
                  <a:rPr lang="en-IN" sz="2400">
                    <a:solidFill>
                      <a:srgbClr val="111827"/>
                    </a:solidFill>
                    <a:latin typeface="Cambria Math" panose="02040503050406030204" pitchFamily="18" charset="0"/>
                  </a:rPr>
                  <a:t>$n-2$</a:t>
                </a:r>
                <a:r>
                  <a:rPr sz="2400" b="0">
                    <a:solidFill>
                      <a:srgbClr val="111827"/>
                    </a:solidFill>
                    <a:latin typeface="Arial"/>
                  </a:rPr>
                  <a:t> balls on each side, so it holds </a:t>
                </a:r>
                <a:r>
                  <a:rPr lang="en-IN" sz="2400">
                    <a:solidFill>
                      <a:srgbClr val="111827"/>
                    </a:solidFill>
                    <a:latin typeface="Cambria Math" panose="02040503050406030204" pitchFamily="18" charset="0"/>
                  </a:rPr>
                  <a:t>$(n-2)^2$</a:t>
                </a:r>
                <a:r>
                  <a:rPr sz="2400" b="0">
                    <a:solidFill>
                      <a:srgbClr val="111827"/>
                    </a:solidFill>
                    <a:latin typeface="Arial"/>
                  </a:rPr>
                  <a:t> balls.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$\frac{n(n+1)}2+99=(n-2)^2$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$n^2+n+198=2n^2-8n+8$</a:t>
                </a:r>
                <a:r>
                  <a:rPr sz="2400" b="0">
                    <a:solidFill>
                      <a:srgbClr val="111827"/>
                    </a:solidFill>
                    <a:latin typeface="Arial"/>
                  </a:rPr>
                  <a:t>, so </a:t>
                </a:r>
                <a:r>
                  <a:rPr lang="en-IN" sz="2400">
                    <a:solidFill>
                      <a:srgbClr val="111827"/>
                    </a:solidFill>
                    <a:latin typeface="Cambria Math" panose="02040503050406030204" pitchFamily="18" charset="0"/>
                  </a:rPr>
                  <a:t>$n^2-9n-190=0$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$n^2-19n+10n-190=0\Rightarrow(n-19)(n+10)=0$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$n=19$</a:t>
                </a:r>
                <a:r>
                  <a:rPr sz="2400" b="0">
                    <a:solidFill>
                      <a:srgbClr val="111827"/>
                    </a:solidFill>
                    <a:latin typeface="Arial"/>
                  </a:rPr>
                  <a:t> (reject </a:t>
                </a:r>
                <a:r>
                  <a:rPr lang="en-IN" sz="2400">
                    <a:solidFill>
                      <a:srgbClr val="111827"/>
                    </a:solidFill>
                    <a:latin typeface="Cambria Math" panose="02040503050406030204" pitchFamily="18" charset="0"/>
                  </a:rPr>
                  <a:t>$n=-10$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Balls in the triangle </a:t>
                </a:r>
                <a:r>
                  <a:rPr lang="en-IN" sz="2400">
                    <a:solidFill>
                      <a:srgbClr val="111827"/>
                    </a:solidFill>
                    <a:latin typeface="Cambria Math" panose="02040503050406030204" pitchFamily="18" charset="0"/>
                  </a:rPr>
                  <a:t>$=\frac{19\times20}{2}=190$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190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$190$</a:t>
                </a:r>
                <a:endParaRPr sz="2800">
                  <a:solidFill>
                    <a:srgbClr val="15803D"/>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options: the number of balls must be a triangular number, and only </a:t>
                </a:r>
                <a14:m>
                  <m:oMath xmlns:m="http://schemas.openxmlformats.org/officeDocument/2006/math">
                    <m:r>
                      <a:rPr lang="en-IN" sz="2400" i="1">
                        <a:solidFill>
                          <a:srgbClr val="78350F"/>
                        </a:solidFill>
                        <a:latin typeface="Cambria Math" panose="02040503050406030204" pitchFamily="18" charset="0"/>
                      </a:rPr>
                      <m:t>190</m:t>
                    </m:r>
                  </m:oMath>
                </a14:m>
                <a:r>
                  <a:rPr sz="2400" b="0">
                    <a:solidFill>
                      <a:srgbClr val="78350F"/>
                    </a:solidFill>
                    <a:latin typeface="Arial"/>
                  </a:rPr>
                  <a:t> is one.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options: the number of balls must be a triangular number, and only </a:t>
                </a:r>
                <a:r>
                  <a:rPr lang="en-IN" sz="2400">
                    <a:solidFill>
                      <a:srgbClr val="78350F"/>
                    </a:solidFill>
                    <a:latin typeface="Cambria Math" panose="02040503050406030204" pitchFamily="18" charset="0"/>
                  </a:rPr>
                  <a:t>$190$</a:t>
                </a:r>
                <a:r>
                  <a:rPr sz="2400" b="0">
                    <a:solidFill>
                      <a:srgbClr val="78350F"/>
                    </a:solidFill>
                    <a:latin typeface="Arial"/>
                  </a:rPr>
                  <a:t> is one.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triangle number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 perfect square.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1257</m:t>
                    </m:r>
                  </m:oMath>
                </a14:m>
                <a:r>
                  <a:rPr sz="2400" b="0">
                    <a:solidFill>
                      <a:srgbClr val="111827"/>
                    </a:solidFill>
                    <a:latin typeface="Arial"/>
                  </a:rPr>
                  <a:t>, between </a:t>
                </a:r>
                <a14:m>
                  <m:oMath xmlns:m="http://schemas.openxmlformats.org/officeDocument/2006/math">
                    <m:sSup>
                      <m:e>
                        <m:r>
                          <a:rPr lang="en-IN" sz="2400" i="1">
                            <a:solidFill>
                              <a:srgbClr val="111827"/>
                            </a:solidFill>
                            <a:latin typeface="Cambria Math" panose="02040503050406030204" pitchFamily="18" charset="0"/>
                          </a:rPr>
                          <m:t>35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1225</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36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oMath>
                </a14:m>
                <a:r>
                  <a:rPr sz="2400" b="0">
                    <a:solidFill>
                      <a:srgbClr val="111827"/>
                    </a:solidFill>
                    <a:latin typeface="Arial"/>
                  </a:rPr>
                  <a:t>; not a square.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1801</m:t>
                    </m:r>
                  </m:oMath>
                </a14:m>
                <a:r>
                  <a:rPr sz="2400" b="0">
                    <a:solidFill>
                      <a:srgbClr val="111827"/>
                    </a:solidFill>
                    <a:latin typeface="Arial"/>
                  </a:rPr>
                  <a:t>, between </a:t>
                </a:r>
                <a14:m>
                  <m:oMath xmlns:m="http://schemas.openxmlformats.org/officeDocument/2006/math">
                    <m:sSup>
                      <m:e>
                        <m:r>
                          <a:rPr lang="en-IN" sz="2400" i="1">
                            <a:solidFill>
                              <a:srgbClr val="111827"/>
                            </a:solidFill>
                            <a:latin typeface="Cambria Math" panose="02040503050406030204" pitchFamily="18" charset="0"/>
                          </a:rPr>
                          <m:t>42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1764</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43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1849</m:t>
                    </m:r>
                  </m:oMath>
                </a14:m>
                <a:r>
                  <a:rPr sz="2400" b="0">
                    <a:solidFill>
                      <a:srgbClr val="111827"/>
                    </a:solidFill>
                    <a:latin typeface="Arial"/>
                  </a:rPr>
                  <a:t>; not a square.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triangle number </a:t>
                </a:r>
                <a:r>
                  <a:rPr lang="en-IN" sz="2400">
                    <a:solidFill>
                      <a:srgbClr val="111827"/>
                    </a:solidFill>
                    <a:latin typeface="Cambria Math" panose="02040503050406030204" pitchFamily="18" charset="0"/>
                  </a:rPr>
                  <a:t>$T=\frac{n(n+1)}{2}$</a:t>
                </a:r>
                <a:r>
                  <a:rPr sz="2400" b="0">
                    <a:solidFill>
                      <a:srgbClr val="111827"/>
                    </a:solidFill>
                    <a:latin typeface="Arial"/>
                  </a:rPr>
                  <a:t> satisfies </a:t>
                </a:r>
                <a:r>
                  <a:rPr lang="en-IN" sz="2400">
                    <a:solidFill>
                      <a:srgbClr val="111827"/>
                    </a:solidFill>
                    <a:latin typeface="Cambria Math" panose="02040503050406030204" pitchFamily="18" charset="0"/>
                  </a:rPr>
                  <a:t>$8T+1=(2n+1)^2$</a:t>
                </a:r>
                <a:r>
                  <a:rPr sz="2400" b="0">
                    <a:solidFill>
                      <a:srgbClr val="111827"/>
                    </a:solidFill>
                    <a:latin typeface="Arial"/>
                  </a:rPr>
                  <a:t>, a perfect square.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$157$</a:t>
                </a:r>
                <a:r>
                  <a:rPr sz="2400" b="0">
                    <a:solidFill>
                      <a:srgbClr val="111827"/>
                    </a:solidFill>
                    <a:latin typeface="Arial"/>
                  </a:rPr>
                  <a:t>: </a:t>
                </a:r>
                <a:r>
                  <a:rPr lang="en-IN" sz="2400">
                    <a:solidFill>
                      <a:srgbClr val="111827"/>
                    </a:solidFill>
                    <a:latin typeface="Cambria Math" panose="02040503050406030204" pitchFamily="18" charset="0"/>
                  </a:rPr>
                  <a:t>$8T+1=1257$</a:t>
                </a:r>
                <a:r>
                  <a:rPr sz="2400" b="0">
                    <a:solidFill>
                      <a:srgbClr val="111827"/>
                    </a:solidFill>
                    <a:latin typeface="Arial"/>
                  </a:rPr>
                  <a:t>, between </a:t>
                </a:r>
                <a:r>
                  <a:rPr lang="en-IN" sz="2400">
                    <a:solidFill>
                      <a:srgbClr val="111827"/>
                    </a:solidFill>
                    <a:latin typeface="Cambria Math" panose="02040503050406030204" pitchFamily="18" charset="0"/>
                  </a:rPr>
                  <a:t>$35^2=1225$</a:t>
                </a:r>
                <a:r>
                  <a:rPr sz="2400" b="0">
                    <a:solidFill>
                      <a:srgbClr val="111827"/>
                    </a:solidFill>
                    <a:latin typeface="Arial"/>
                  </a:rPr>
                  <a:t> and </a:t>
                </a:r>
                <a:r>
                  <a:rPr lang="en-IN" sz="2400">
                    <a:solidFill>
                      <a:srgbClr val="111827"/>
                    </a:solidFill>
                    <a:latin typeface="Cambria Math" panose="02040503050406030204" pitchFamily="18" charset="0"/>
                  </a:rPr>
                  <a:t>$36^2=1296$</a:t>
                </a:r>
                <a:r>
                  <a:rPr sz="2400" b="0">
                    <a:solidFill>
                      <a:srgbClr val="111827"/>
                    </a:solidFill>
                    <a:latin typeface="Arial"/>
                  </a:rPr>
                  <a:t>; not a square.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$225$</a:t>
                </a:r>
                <a:r>
                  <a:rPr sz="2400" b="0">
                    <a:solidFill>
                      <a:srgbClr val="111827"/>
                    </a:solidFill>
                    <a:latin typeface="Arial"/>
                  </a:rPr>
                  <a:t>: </a:t>
                </a:r>
                <a:r>
                  <a:rPr lang="en-IN" sz="2400">
                    <a:solidFill>
                      <a:srgbClr val="111827"/>
                    </a:solidFill>
                    <a:latin typeface="Cambria Math" panose="02040503050406030204" pitchFamily="18" charset="0"/>
                  </a:rPr>
                  <a:t>$1801$</a:t>
                </a:r>
                <a:r>
                  <a:rPr sz="2400" b="0">
                    <a:solidFill>
                      <a:srgbClr val="111827"/>
                    </a:solidFill>
                    <a:latin typeface="Arial"/>
                  </a:rPr>
                  <a:t>, between </a:t>
                </a:r>
                <a:r>
                  <a:rPr lang="en-IN" sz="2400">
                    <a:solidFill>
                      <a:srgbClr val="111827"/>
                    </a:solidFill>
                    <a:latin typeface="Cambria Math" panose="02040503050406030204" pitchFamily="18" charset="0"/>
                  </a:rPr>
                  <a:t>$42^2=1764$</a:t>
                </a:r>
                <a:r>
                  <a:rPr sz="2400" b="0">
                    <a:solidFill>
                      <a:srgbClr val="111827"/>
                    </a:solidFill>
                    <a:latin typeface="Arial"/>
                  </a:rPr>
                  <a:t> and </a:t>
                </a:r>
                <a:r>
                  <a:rPr lang="en-IN" sz="2400">
                    <a:solidFill>
                      <a:srgbClr val="111827"/>
                    </a:solidFill>
                    <a:latin typeface="Cambria Math" panose="02040503050406030204" pitchFamily="18" charset="0"/>
                  </a:rPr>
                  <a:t>$43^2=1849$</a:t>
                </a:r>
                <a:r>
                  <a:rPr sz="2400" b="0">
                    <a:solidFill>
                      <a:srgbClr val="111827"/>
                    </a:solidFill>
                    <a:latin typeface="Arial"/>
                  </a:rPr>
                  <a:t>; not a square.</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262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2097</m:t>
                    </m:r>
                  </m:oMath>
                </a14:m>
                <a:r>
                  <a:rPr sz="2400" b="0">
                    <a:solidFill>
                      <a:srgbClr val="111827"/>
                    </a:solidFill>
                    <a:latin typeface="Arial"/>
                  </a:rPr>
                  <a:t>, between </a:t>
                </a:r>
                <a14:m>
                  <m:oMath xmlns:m="http://schemas.openxmlformats.org/officeDocument/2006/math">
                    <m:sSup>
                      <m:e>
                        <m:r>
                          <a:rPr lang="en-IN" sz="2400" i="1">
                            <a:solidFill>
                              <a:srgbClr val="111827"/>
                            </a:solidFill>
                            <a:latin typeface="Cambria Math" panose="02040503050406030204" pitchFamily="18" charset="0"/>
                          </a:rPr>
                          <m:t>45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2025</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46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2116</m:t>
                    </m:r>
                  </m:oMath>
                </a14:m>
                <a:r>
                  <a:rPr sz="2400" b="0">
                    <a:solidFill>
                      <a:srgbClr val="111827"/>
                    </a:solidFill>
                    <a:latin typeface="Arial"/>
                  </a:rPr>
                  <a:t>; not a square.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190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1521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39</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second condition: </a:t>
                </a:r>
                <a14:m>
                  <m:oMath xmlns:m="http://schemas.openxmlformats.org/officeDocument/2006/math">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17</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The same answer, </a:t>
                </a:r>
                <a14:m>
                  <m:oMath xmlns:m="http://schemas.openxmlformats.org/officeDocument/2006/math">
                    <m:r>
                      <a:rPr lang="en-IN" sz="2400" i="1">
                        <a:solidFill>
                          <a:srgbClr val="111827"/>
                        </a:solidFill>
                        <a:latin typeface="Cambria Math" panose="02040503050406030204" pitchFamily="18" charset="0"/>
                      </a:rPr>
                      <m:t>190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$262$</a:t>
                </a:r>
                <a:r>
                  <a:rPr sz="2400" b="0">
                    <a:solidFill>
                      <a:srgbClr val="111827"/>
                    </a:solidFill>
                    <a:latin typeface="Arial"/>
                  </a:rPr>
                  <a:t>: </a:t>
                </a:r>
                <a:r>
                  <a:rPr lang="en-IN" sz="2400">
                    <a:solidFill>
                      <a:srgbClr val="111827"/>
                    </a:solidFill>
                    <a:latin typeface="Cambria Math" panose="02040503050406030204" pitchFamily="18" charset="0"/>
                  </a:rPr>
                  <a:t>$2097$</a:t>
                </a:r>
                <a:r>
                  <a:rPr sz="2400" b="0">
                    <a:solidFill>
                      <a:srgbClr val="111827"/>
                    </a:solidFill>
                    <a:latin typeface="Arial"/>
                  </a:rPr>
                  <a:t>, between </a:t>
                </a:r>
                <a:r>
                  <a:rPr lang="en-IN" sz="2400">
                    <a:solidFill>
                      <a:srgbClr val="111827"/>
                    </a:solidFill>
                    <a:latin typeface="Cambria Math" panose="02040503050406030204" pitchFamily="18" charset="0"/>
                  </a:rPr>
                  <a:t>$45^2=2025$</a:t>
                </a:r>
                <a:r>
                  <a:rPr sz="2400" b="0">
                    <a:solidFill>
                      <a:srgbClr val="111827"/>
                    </a:solidFill>
                    <a:latin typeface="Arial"/>
                  </a:rPr>
                  <a:t> and </a:t>
                </a:r>
                <a:r>
                  <a:rPr lang="en-IN" sz="2400">
                    <a:solidFill>
                      <a:srgbClr val="111827"/>
                    </a:solidFill>
                    <a:latin typeface="Cambria Math" panose="02040503050406030204" pitchFamily="18" charset="0"/>
                  </a:rPr>
                  <a:t>$46^2=2116$</a:t>
                </a:r>
                <a:r>
                  <a:rPr sz="2400" b="0">
                    <a:solidFill>
                      <a:srgbClr val="111827"/>
                    </a:solidFill>
                    <a:latin typeface="Arial"/>
                  </a:rPr>
                  <a:t>; not a square.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$190$</a:t>
                </a:r>
                <a:r>
                  <a:rPr sz="2400" b="0">
                    <a:solidFill>
                      <a:srgbClr val="111827"/>
                    </a:solidFill>
                    <a:latin typeface="Arial"/>
                  </a:rPr>
                  <a:t>: </a:t>
                </a:r>
                <a:r>
                  <a:rPr lang="en-IN" sz="2400">
                    <a:solidFill>
                      <a:srgbClr val="111827"/>
                    </a:solidFill>
                    <a:latin typeface="Cambria Math" panose="02040503050406030204" pitchFamily="18" charset="0"/>
                  </a:rPr>
                  <a:t>$8T+1=1521=39^2$</a:t>
                </a:r>
                <a:r>
                  <a:rPr sz="2400" b="0">
                    <a:solidFill>
                      <a:srgbClr val="111827"/>
                    </a:solidFill>
                    <a:latin typeface="Arial"/>
                  </a:rPr>
                  <a:t>, so </a:t>
                </a:r>
                <a:r>
                  <a:rPr lang="en-IN" sz="2400">
                    <a:solidFill>
                      <a:srgbClr val="111827"/>
                    </a:solidFill>
                    <a:latin typeface="Cambria Math" panose="02040503050406030204" pitchFamily="18" charset="0"/>
                  </a:rPr>
                  <a:t>$n=19$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second condition: </a:t>
                </a:r>
                <a:r>
                  <a:rPr lang="en-IN" sz="2400">
                    <a:solidFill>
                      <a:srgbClr val="111827"/>
                    </a:solidFill>
                    <a:latin typeface="Cambria Math" panose="02040503050406030204" pitchFamily="18" charset="0"/>
                  </a:rPr>
                  <a:t>$190+99=289=17^2$</a:t>
                </a:r>
                <a:r>
                  <a:rPr sz="2400" b="0">
                    <a:solidFill>
                      <a:srgbClr val="111827"/>
                    </a:solidFill>
                    <a:latin typeface="Arial"/>
                  </a:rPr>
                  <a:t> and </a:t>
                </a:r>
                <a:r>
                  <a:rPr lang="en-IN" sz="2400">
                    <a:solidFill>
                      <a:srgbClr val="111827"/>
                    </a:solidFill>
                    <a:latin typeface="Cambria Math" panose="02040503050406030204" pitchFamily="18" charset="0"/>
                  </a:rPr>
                  <a:t>$n-2=17$</a:t>
                </a:r>
                <a:r>
                  <a:rPr sz="2400" b="0">
                    <a:solidFill>
                      <a:srgbClr val="111827"/>
                    </a:solidFill>
                    <a:latin typeface="Arial"/>
                  </a:rPr>
                  <a:t>. The same answer, </a:t>
                </a:r>
                <a:r>
                  <a:rPr lang="en-IN" sz="2400">
                    <a:solidFill>
                      <a:srgbClr val="111827"/>
                    </a:solidFill>
                    <a:latin typeface="Cambria Math" panose="02040503050406030204" pitchFamily="18" charset="0"/>
                  </a:rPr>
                  <a:t>$190$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190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$190$</a:t>
                </a:r>
                <a:endParaRPr sz="2800">
                  <a:solidFill>
                    <a:srgbClr val="15803D"/>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positive integer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triangular iff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perfect square;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 triangular number plus a constant equal to a perfect square leads to a quadratic in the side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always reject the negative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geometric condition at the end: the square side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is positive.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positive integer </a:t>
                </a:r>
                <a:r>
                  <a:rPr lang="en-IN" sz="2400">
                    <a:solidFill>
                      <a:srgbClr val="111827"/>
                    </a:solidFill>
                    <a:latin typeface="Cambria Math" panose="02040503050406030204" pitchFamily="18" charset="0"/>
                  </a:rPr>
                  <a:t>$T$</a:t>
                </a:r>
                <a:r>
                  <a:rPr sz="2400" b="0">
                    <a:solidFill>
                      <a:srgbClr val="111827"/>
                    </a:solidFill>
                    <a:latin typeface="Arial"/>
                  </a:rPr>
                  <a:t> is triangular iff </a:t>
                </a:r>
                <a:r>
                  <a:rPr lang="en-IN" sz="2400">
                    <a:solidFill>
                      <a:srgbClr val="111827"/>
                    </a:solidFill>
                    <a:latin typeface="Cambria Math" panose="02040503050406030204" pitchFamily="18" charset="0"/>
                  </a:rPr>
                  <a:t>$8T+1$</a:t>
                </a:r>
                <a:r>
                  <a:rPr sz="2400" b="0">
                    <a:solidFill>
                      <a:srgbClr val="111827"/>
                    </a:solidFill>
                    <a:latin typeface="Arial"/>
                  </a:rPr>
                  <a:t> is a perfect square; then </a:t>
                </a:r>
                <a:r>
                  <a:rPr lang="en-IN" sz="2400">
                    <a:solidFill>
                      <a:srgbClr val="111827"/>
                    </a:solidFill>
                    <a:latin typeface="Cambria Math" panose="02040503050406030204" pitchFamily="18" charset="0"/>
                  </a:rPr>
                  <a:t>$n=\frac{\sqrt{8T+1}-1}{2}$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 triangular number plus a constant equal to a perfect square leads to a quadratic in the side </a:t>
                </a:r>
                <a:r>
                  <a:rPr lang="en-IN" sz="2400">
                    <a:solidFill>
                      <a:srgbClr val="111827"/>
                    </a:solidFill>
                    <a:latin typeface="Cambria Math" panose="02040503050406030204" pitchFamily="18" charset="0"/>
                  </a:rPr>
                  <a:t>$n$</a:t>
                </a:r>
                <a:r>
                  <a:rPr sz="2400" b="0">
                    <a:solidFill>
                      <a:srgbClr val="111827"/>
                    </a:solidFill>
                    <a:latin typeface="Arial"/>
                  </a:rPr>
                  <a:t>; always reject the negative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geometric condition at the end: the square side </a:t>
                </a:r>
                <a:r>
                  <a:rPr lang="en-IN" sz="2400">
                    <a:solidFill>
                      <a:srgbClr val="111827"/>
                    </a:solidFill>
                    <a:latin typeface="Cambria Math" panose="02040503050406030204" pitchFamily="18" charset="0"/>
                  </a:rPr>
                  <a:t>$n-2=17$</a:t>
                </a:r>
                <a:r>
                  <a:rPr sz="2400" b="0">
                    <a:solidFill>
                      <a:srgbClr val="111827"/>
                    </a:solidFill>
                    <a:latin typeface="Arial"/>
                  </a:rPr>
                  <a:t> is positive.</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num>
                      <m:den>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up to </a:t>
                </a:r>
                <a14:m>
                  <m:oMath xmlns:m="http://schemas.openxmlformats.org/officeDocument/2006/math">
                    <m:sSup>
                      <m:e>
                        <m:r>
                          <a:rPr lang="en-IN" sz="2400" i="1">
                            <a:solidFill>
                              <a:srgbClr val="111827"/>
                            </a:solidFill>
                            <a:latin typeface="Cambria Math" panose="02040503050406030204" pitchFamily="18" charset="0"/>
                          </a:rPr>
                          <m:t>10</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620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600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680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660</m:t>
                    </m:r>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t>
                </a:r>
                <a:r>
                  <a:rPr lang="en-IN" sz="2400">
                    <a:solidFill>
                      <a:srgbClr val="111827"/>
                    </a:solidFill>
                    <a:latin typeface="Cambria Math" panose="02040503050406030204" pitchFamily="18" charset="0"/>
                  </a:rPr>
                  <a:t>$\frac{3\cdot1^3}{1^2}+\frac{5\cdot(1^3+2^3)}{1^2+2^2}+\frac{7\cdot(1^3+2^3+3^3)}{1^2+2^2+3^2}+\ldots$</a:t>
                </a:r>
                <a:r>
                  <a:rPr sz="2400" b="0">
                    <a:solidFill>
                      <a:srgbClr val="111827"/>
                    </a:solidFill>
                    <a:latin typeface="Arial"/>
                  </a:rPr>
                  <a:t> up to </a:t>
                </a:r>
                <a:r>
                  <a:rPr lang="en-IN" sz="2400">
                    <a:solidFill>
                      <a:srgbClr val="111827"/>
                    </a:solidFill>
                    <a:latin typeface="Cambria Math" panose="02040503050406030204" pitchFamily="18" charset="0"/>
                  </a:rPr>
                  <a:t>$10^{\text{th}}$</a:t>
                </a:r>
                <a:r>
                  <a:rPr sz="2400" b="0">
                    <a:solidFill>
                      <a:srgbClr val="111827"/>
                    </a:solidFill>
                    <a:latin typeface="Arial"/>
                  </a:rPr>
                  <a:t> term,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$620$</a:t>
                </a:r>
                <a:r>
                  <a:rPr sz="2400" b="0">
                    <a:solidFill>
                      <a:srgbClr val="111827"/>
                    </a:solidFill>
                    <a:latin typeface="Arial"/>
                  </a:rPr>
                  <a:t>   (B) </a:t>
                </a:r>
                <a:r>
                  <a:rPr lang="en-IN" sz="2400">
                    <a:solidFill>
                      <a:srgbClr val="111827"/>
                    </a:solidFill>
                    <a:latin typeface="Cambria Math" panose="02040503050406030204" pitchFamily="18" charset="0"/>
                  </a:rPr>
                  <a:t>$600$</a:t>
                </a:r>
                <a:r>
                  <a:rPr sz="2400" b="0">
                    <a:solidFill>
                      <a:srgbClr val="111827"/>
                    </a:solidFill>
                    <a:latin typeface="Arial"/>
                  </a:rPr>
                  <a:t>   (C) </a:t>
                </a:r>
                <a:r>
                  <a:rPr lang="en-IN" sz="2400">
                    <a:solidFill>
                      <a:srgbClr val="111827"/>
                    </a:solidFill>
                    <a:latin typeface="Cambria Math" panose="02040503050406030204" pitchFamily="18" charset="0"/>
                  </a:rPr>
                  <a:t>$680$</a:t>
                </a:r>
                <a:r>
                  <a:rPr sz="2400" b="0">
                    <a:solidFill>
                      <a:srgbClr val="111827"/>
                    </a:solidFill>
                    <a:latin typeface="Arial"/>
                  </a:rPr>
                  <a:t>   (D) </a:t>
                </a:r>
                <a:r>
                  <a:rPr lang="en-IN" sz="2400">
                    <a:solidFill>
                      <a:srgbClr val="111827"/>
                    </a:solidFill>
                    <a:latin typeface="Cambria Math" panose="02040503050406030204" pitchFamily="18" charset="0"/>
                  </a:rPr>
                  <a:t>$660$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9095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a series using sums of powers of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9095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r>
                  <a:rPr lang="en-IN" sz="2400">
                    <a:solidFill>
                      <a:srgbClr val="111827"/>
                    </a:solidFill>
                    <a:latin typeface="Cambria Math" panose="02040503050406030204" pitchFamily="18" charset="0"/>
                  </a:rPr>
                  <a:t>$n$</a:t>
                </a:r>
                <a:r>
                  <a:rPr sz="2400" b="0">
                    <a:solidFill>
                      <a:srgbClr val="111827"/>
                    </a:solidFill>
                    <a:latin typeface="Arial"/>
                  </a:rPr>
                  <a:t> terms of a series using sums of powers of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𝑟</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𝑘</m:t>
                            </m:r>
                          </m:e>
                          <m:sup>
                            <m:r>
                              <a:rPr lang="en-IN" sz="2400" i="1">
                                <a:solidFill>
                                  <a:srgbClr val="78350F"/>
                                </a:solidFill>
                                <a:latin typeface="Cambria Math" panose="02040503050406030204" pitchFamily="18" charset="0"/>
                              </a:rPr>
                              <m:t>3</m:t>
                            </m:r>
                          </m:sup>
                        </m:sSup>
                      </m:num>
                      <m:den>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𝑘</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simplifies, with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𝑘</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$T_r=(2r+1)\frac{\sum k^3}{\sum k^2}$</a:t>
                </a:r>
                <a:r>
                  <a:rPr sz="2400" b="0">
                    <a:solidFill>
                      <a:srgbClr val="78350F"/>
                    </a:solidFill>
                    <a:latin typeface="Arial"/>
                  </a:rPr>
                  <a:t> simplifies, with </a:t>
                </a:r>
                <a:r>
                  <a:rPr lang="en-IN" sz="2400">
                    <a:solidFill>
                      <a:srgbClr val="78350F"/>
                    </a:solidFill>
                    <a:latin typeface="Cambria Math" panose="02040503050406030204" pitchFamily="18" charset="0"/>
                  </a:rPr>
                  <a:t>$\sum k^2=\frac{r(r+1)(2r+1)}{6}$</a:t>
                </a:r>
                <a:r>
                  <a:rPr sz="2400" b="0">
                    <a:solidFill>
                      <a:srgbClr val="78350F"/>
                    </a:solidFill>
                    <a:latin typeface="Arial"/>
                  </a:rPr>
                  <a:t>, to </a:t>
                </a:r>
                <a:r>
                  <a:rPr lang="en-IN" sz="2400">
                    <a:solidFill>
                      <a:srgbClr val="78350F"/>
                    </a:solidFill>
                    <a:latin typeface="Cambria Math" panose="02040503050406030204" pitchFamily="18" charset="0"/>
                  </a:rPr>
                  <a:t>$\frac{3r(r+1)}{2}$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𝑟</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is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r>
                          <m:rPr>
                            <m:sty m:val="p"/>
                          </m:rPr>
                          <a:rPr lang="en-IN" sz="2400">
                            <a:solidFill>
                              <a:srgbClr val="111827"/>
                            </a:solidFill>
                            <a:latin typeface="Cambria Math" panose="02040503050406030204" pitchFamily="18" charset="0"/>
                          </a:rPr>
                          <m:t>(</m:t>
                        </m:r>
                      </m:e>
                    </m:nary>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$r^{\text{th}}$</a:t>
                </a:r>
                <a:r>
                  <a:rPr sz="2400" b="0">
                    <a:solidFill>
                      <a:srgbClr val="111827"/>
                    </a:solidFill>
                    <a:latin typeface="Arial"/>
                  </a:rPr>
                  <a:t> term is </a:t>
                </a:r>
                <a:r>
                  <a:rPr lang="en-IN" sz="2400">
                    <a:solidFill>
                      <a:srgbClr val="111827"/>
                    </a:solidFill>
                    <a:latin typeface="Cambria Math" panose="02040503050406030204" pitchFamily="18" charset="0"/>
                  </a:rPr>
                  <a:t>$T_r=\frac{(2r+1)(1^3+2^3+\ldots+r^3)}{1^2+2^2+\ldots+r^2}$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$T_r=(2r+1)\cdot\frac{\left[\frac{r(r+1)}2\right]^2}{\frac{r(r+1)(2r+1)}6}$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$T_r=\frac{3r(r+1)}{2}$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$S=\sum_{r=1}^{10}T_r=\frac32\sum_{r=1}^{10}(r^2+r)$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$=\frac32\left[\frac{10\cdot11\cdot21}{6}+\frac{10\cdot11}{2}\right]$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$=\frac32\left[385+55\right]=\frac32\times440$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$=\frac32\times5\times11\times8=660$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660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$660$</a:t>
                </a:r>
                <a:endParaRPr sz="2800">
                  <a:solidFill>
                    <a:srgbClr val="15803D"/>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14:m>
                  <m:oMath xmlns:m="http://schemas.openxmlformats.org/officeDocument/2006/math">
                    <m:sSub>
                      <m:e>
                        <m:r>
                          <a:rPr lang="en-IN" sz="2400" i="1">
                            <a:solidFill>
                              <a:srgbClr val="78350F"/>
                            </a:solidFill>
                            <a:latin typeface="Cambria Math" panose="02040503050406030204" pitchFamily="18" charset="0"/>
                          </a:rPr>
                          <m:t>𝑇</m:t>
                        </m:r>
                      </m:e>
                      <m:sub>
                        <m:r>
                          <a:rPr lang="en-IN" sz="2400" i="1">
                            <a:solidFill>
                              <a:srgbClr val="78350F"/>
                            </a:solidFill>
                            <a:latin typeface="Cambria Math" panose="02040503050406030204" pitchFamily="18" charset="0"/>
                          </a:rPr>
                          <m:t>𝑟</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e>
                    </m:d>
                  </m:oMath>
                </a14:m>
                <a:r>
                  <a:rPr sz="2400" b="0">
                    <a:solidFill>
                      <a:srgbClr val="78350F"/>
                    </a:solidFill>
                    <a:latin typeface="Arial"/>
                  </a:rPr>
                  <a:t> and sum with the hockey-stick identity.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r>
                  <a:rPr lang="en-IN" sz="2400">
                    <a:solidFill>
                      <a:srgbClr val="78350F"/>
                    </a:solidFill>
                    <a:latin typeface="Cambria Math" panose="02040503050406030204" pitchFamily="18" charset="0"/>
                  </a:rPr>
                  <a:t>$T_r=3\binom{r+1}{2}$</a:t>
                </a:r>
                <a:r>
                  <a:rPr sz="2400" b="0">
                    <a:solidFill>
                      <a:srgbClr val="78350F"/>
                    </a:solidFill>
                    <a:latin typeface="Arial"/>
                  </a:rPr>
                  <a:t> and sum with the hockey-stick identity.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10</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$T_r=\frac{3r(r+1)}{2}=3\binom{r+1}{2}$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r>
                  <a:rPr lang="en-IN" sz="2400">
                    <a:solidFill>
                      <a:srgbClr val="111827"/>
                    </a:solidFill>
                    <a:latin typeface="Cambria Math" panose="02040503050406030204" pitchFamily="18" charset="0"/>
                  </a:rPr>
                  <a:t>$\sum_{r=1}^{10}\binom{r+1}{2}=\binom{12}{3}$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$\binom{12}{3}=220$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$S=3\times220=660$</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660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$660$</a:t>
                </a:r>
                <a:endParaRPr sz="2800">
                  <a:solidFill>
                    <a:srgbClr val="15803D"/>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num>
                      <m:den>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so a factor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multiplying it cancels.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the sum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triangular numbers is the tetrahedral number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$\frac{1^3+\ldots+r^3}{1^2+\ldots+r^2}=\frac{3r(r+1)}{2(2r+1)}$</a:t>
                </a:r>
                <a:r>
                  <a:rPr sz="2400" b="0">
                    <a:solidFill>
                      <a:srgbClr val="111827"/>
                    </a:solidFill>
                    <a:latin typeface="Arial"/>
                  </a:rPr>
                  <a:t>, so a factor </a:t>
                </a:r>
                <a:r>
                  <a:rPr lang="en-IN" sz="2400">
                    <a:solidFill>
                      <a:srgbClr val="111827"/>
                    </a:solidFill>
                    <a:latin typeface="Cambria Math" panose="02040503050406030204" pitchFamily="18" charset="0"/>
                  </a:rPr>
                  <a:t>$(2r+1)$</a:t>
                </a:r>
                <a:r>
                  <a:rPr sz="2400" b="0">
                    <a:solidFill>
                      <a:srgbClr val="111827"/>
                    </a:solidFill>
                    <a:latin typeface="Arial"/>
                  </a:rPr>
                  <a:t> multiplying it cancels.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Hockey stick: </a:t>
                </a:r>
                <a:r>
                  <a:rPr lang="en-IN" sz="2400">
                    <a:solidFill>
                      <a:srgbClr val="111827"/>
                    </a:solidFill>
                    <a:latin typeface="Cambria Math" panose="02040503050406030204" pitchFamily="18" charset="0"/>
                  </a:rPr>
                  <a:t>$\sum_{r=1}^{n}\binom{r+1}{2}=\binom{n+2}{3}$</a:t>
                </a:r>
                <a:r>
                  <a:rPr sz="2400" b="0">
                    <a:solidFill>
                      <a:srgbClr val="111827"/>
                    </a:solidFill>
                    <a:latin typeface="Arial"/>
                  </a:rPr>
                  <a:t>; the sum of the first </a:t>
                </a:r>
                <a:r>
                  <a:rPr lang="en-IN" sz="2400">
                    <a:solidFill>
                      <a:srgbClr val="111827"/>
                    </a:solidFill>
                    <a:latin typeface="Cambria Math" panose="02040503050406030204" pitchFamily="18" charset="0"/>
                  </a:rPr>
                  <a:t>$n$</a:t>
                </a:r>
                <a:r>
                  <a:rPr sz="2400" b="0">
                    <a:solidFill>
                      <a:srgbClr val="111827"/>
                    </a:solidFill>
                    <a:latin typeface="Arial"/>
                  </a:rPr>
                  <a:t> triangular numbers is the tetrahedral number </a:t>
                </a:r>
                <a:r>
                  <a:rPr lang="en-IN" sz="2400">
                    <a:solidFill>
                      <a:srgbClr val="111827"/>
                    </a:solidFill>
                    <a:latin typeface="Cambria Math" panose="02040503050406030204" pitchFamily="18" charset="0"/>
                  </a:rPr>
                  <a:t>$\frac{n(n+1)(n+2)}{6}$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a:t>
                </a:r>
                <a:r>
                  <a:rPr lang="en-IN" sz="2400">
                    <a:solidFill>
                      <a:srgbClr val="111827"/>
                    </a:solidFill>
                    <a:latin typeface="Cambria Math" panose="02040503050406030204" pitchFamily="18" charset="0"/>
                  </a:rPr>
                  <a:t>$n=10$</a:t>
                </a:r>
                <a:r>
                  <a:rPr sz="2400" b="0">
                    <a:solidFill>
                      <a:srgbClr val="111827"/>
                    </a:solidFill>
                    <a:latin typeface="Arial"/>
                  </a:rPr>
                  <a:t> gives </a:t>
                </a:r>
                <a:r>
                  <a:rPr lang="en-IN" sz="2400">
                    <a:solidFill>
                      <a:srgbClr val="111827"/>
                    </a:solidFill>
                    <a:latin typeface="Cambria Math" panose="02040503050406030204" pitchFamily="18" charset="0"/>
                  </a:rPr>
                  <a:t>$\frac{10\cdot11\cdot12}6=220$</a:t>
                </a:r>
                <a:r>
                  <a:rPr sz="2400" b="0">
                    <a:solidFill>
                      <a:srgbClr val="111827"/>
                    </a:solidFill>
                    <a:latin typeface="Arial"/>
                  </a:rPr>
                  <a:t> and </a:t>
                </a:r>
                <a:r>
                  <a:rPr lang="en-IN" sz="2400">
                    <a:solidFill>
                      <a:srgbClr val="111827"/>
                    </a:solidFill>
                    <a:latin typeface="Cambria Math" panose="02040503050406030204" pitchFamily="18" charset="0"/>
                  </a:rPr>
                  <a:t>$S=3\cdot220=660$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1860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620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1240</m:t>
                    </m:r>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a:t>
                </a:r>
                <a:r>
                  <a:rPr lang="en-IN" sz="2400">
                    <a:solidFill>
                      <a:srgbClr val="111827"/>
                    </a:solidFill>
                    <a:latin typeface="Cambria Math" panose="02040503050406030204" pitchFamily="18" charset="0"/>
                  </a:rPr>
                  <a:t>$1+\frac{1^3+2^3}{1+2}+\frac{1^3+2^3+3^3}{1+2+3}+\ldots+\frac{1^3+2^3+3^3+\ldots+15^3}{1+2+3+\ldots+15}-\frac12(1+2+3+\ldots+15)$</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$1860$</a:t>
                </a:r>
                <a:r>
                  <a:rPr sz="2400" b="0">
                    <a:solidFill>
                      <a:srgbClr val="111827"/>
                    </a:solidFill>
                    <a:latin typeface="Arial"/>
                  </a:rPr>
                  <a:t>   (B) </a:t>
                </a:r>
                <a:r>
                  <a:rPr lang="en-IN" sz="2400">
                    <a:solidFill>
                      <a:srgbClr val="111827"/>
                    </a:solidFill>
                    <a:latin typeface="Cambria Math" panose="02040503050406030204" pitchFamily="18" charset="0"/>
                  </a:rPr>
                  <a:t>$620$</a:t>
                </a:r>
                <a:r>
                  <a:rPr sz="2400" b="0">
                    <a:solidFill>
                      <a:srgbClr val="111827"/>
                    </a:solidFill>
                    <a:latin typeface="Arial"/>
                  </a:rPr>
                  <a:t>   (C) </a:t>
                </a:r>
                <a:r>
                  <a:rPr lang="en-IN" sz="2400">
                    <a:solidFill>
                      <a:srgbClr val="111827"/>
                    </a:solidFill>
                    <a:latin typeface="Cambria Math" panose="02040503050406030204" pitchFamily="18" charset="0"/>
                  </a:rPr>
                  <a:t>$660$</a:t>
                </a:r>
                <a:r>
                  <a:rPr sz="2400" b="0">
                    <a:solidFill>
                      <a:srgbClr val="111827"/>
                    </a:solidFill>
                    <a:latin typeface="Arial"/>
                  </a:rPr>
                  <a:t>   (D) </a:t>
                </a:r>
                <a:r>
                  <a:rPr lang="en-IN" sz="2400">
                    <a:solidFill>
                      <a:srgbClr val="111827"/>
                    </a:solidFill>
                    <a:latin typeface="Cambria Math" panose="02040503050406030204" pitchFamily="18" charset="0"/>
                  </a:rPr>
                  <a:t>$1240$</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9095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terms of a series using sums of powers of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9095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Sum of </a:t>
                </a:r>
                <a:r>
                  <a:rPr lang="en-IN" sz="2400">
                    <a:solidFill>
                      <a:srgbClr val="111827"/>
                    </a:solidFill>
                    <a:latin typeface="Cambria Math" panose="02040503050406030204" pitchFamily="18" charset="0"/>
                  </a:rPr>
                  <a:t>$n$</a:t>
                </a:r>
                <a:r>
                  <a:rPr sz="2400" b="0">
                    <a:solidFill>
                      <a:srgbClr val="111827"/>
                    </a:solidFill>
                    <a:latin typeface="Arial"/>
                  </a:rPr>
                  <a:t> terms of a series using sums of powers of natural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1</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3</m:t>
                            </m:r>
                          </m:sup>
                        </m:sSup>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 triangular number.</a:t>
                </a:r>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$\frac{1^3+\cdots+n^3}{1+\cdots+n}=\frac{n(n+1)}2$</a:t>
                </a:r>
                <a:r>
                  <a:rPr sz="2400" b="0">
                    <a:solidFill>
                      <a:srgbClr val="78350F"/>
                    </a:solidFill>
                    <a:latin typeface="Arial"/>
                  </a:rPr>
                  <a:t>, a triangular number.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r>
                              <a:rPr lang="en-IN" sz="2400" i="1">
                                <a:solidFill>
                                  <a:srgbClr val="111827"/>
                                </a:solidFill>
                                <a:latin typeface="Cambria Math" panose="02040503050406030204" pitchFamily="18" charset="0"/>
                              </a:rPr>
                              <m:t>𝑛</m:t>
                            </m:r>
                          </m:e>
                        </m:nary>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$S=1+\frac{1^3+2^3}{1+2}+\frac{1^3+2^3+3^3}{1+2+3}+\ldots$</a:t>
                </a:r>
                <a:r>
                  <a:rPr sz="2400" b="0">
                    <a:solidFill>
                      <a:srgbClr val="111827"/>
                    </a:solidFill>
                    <a:latin typeface="Arial"/>
                  </a:rPr>
                  <a:t> up to </a:t>
                </a:r>
                <a:r>
                  <a:rPr lang="en-IN" sz="2400">
                    <a:solidFill>
                      <a:srgbClr val="111827"/>
                    </a:solidFill>
                    <a:latin typeface="Cambria Math" panose="02040503050406030204" pitchFamily="18" charset="0"/>
                  </a:rPr>
                  <a:t>$15$</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$T_n=\frac{1^3+2^3+\ldots+n^3}{1+2+\ldots+n}=\frac{\frac{n^2(n+1)^2}{4}}{\frac{n(n+1)}2}=\frac{n(n+1)}{2}$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$S=\frac12\left(\sum_{n=1}^{15}n^2+\sum_{n=1}^{15}n\right)$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quantity is </a:t>
                </a:r>
                <a14:m>
                  <m:oMath xmlns:m="http://schemas.openxmlformats.org/officeDocument/2006/math">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$=\frac12\left(\frac{15\cdot16\cdot31}6+\frac{15\cdot16}2\right)=\frac12(1240+120)=680$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quantity is </a:t>
                </a:r>
                <a:r>
                  <a:rPr lang="en-IN" sz="2400">
                    <a:solidFill>
                      <a:srgbClr val="111827"/>
                    </a:solidFill>
                    <a:latin typeface="Cambria Math" panose="02040503050406030204" pitchFamily="18" charset="0"/>
                  </a:rPr>
                  <a:t>$680-\frac12\cdot\frac{15\cdot16}{2}=680-60$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$=620$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620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$620$</a:t>
                </a:r>
                <a:endParaRPr sz="2800">
                  <a:solidFill>
                    <a:srgbClr val="15803D"/>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terms are triangular numbers, and the sum of the first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triangular numbers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3</m:t>
                            </m:r>
                          </m:den>
                        </m:f>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terms are triangular numbers, and the sum of the first </a:t>
                </a:r>
                <a:r>
                  <a:rPr lang="en-IN" sz="2400">
                    <a:solidFill>
                      <a:srgbClr val="78350F"/>
                    </a:solidFill>
                    <a:latin typeface="Cambria Math" panose="02040503050406030204" pitchFamily="18" charset="0"/>
                  </a:rPr>
                  <a:t>$n$</a:t>
                </a:r>
                <a:r>
                  <a:rPr sz="2400" b="0">
                    <a:solidFill>
                      <a:srgbClr val="78350F"/>
                    </a:solidFill>
                    <a:latin typeface="Arial"/>
                  </a:rPr>
                  <a:t> triangular numbers is </a:t>
                </a:r>
                <a:r>
                  <a:rPr lang="en-IN" sz="2400">
                    <a:solidFill>
                      <a:srgbClr val="78350F"/>
                    </a:solidFill>
                    <a:latin typeface="Cambria Math" panose="02040503050406030204" pitchFamily="18" charset="0"/>
                  </a:rPr>
                  <a:t>$\binom{n+2}{3}$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15</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620</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$T_n=\frac{n(n+1)}{2}=\binom{n+1}{2}$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$\sum_{n=1}^{15}\binom{n+1}{2}=\binom{17}{3}=\frac{17\cdot16\cdot15}{6}=680$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$\frac12(1+2+\ldots+15)=\frac12\cdot120=60$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$680-60=620$</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620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$620$</a:t>
                </a:r>
                <a:endParaRPr sz="2800">
                  <a:solidFill>
                    <a:srgbClr val="15803D"/>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first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triangular numbers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PDF's intermediate values: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1240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$\frac{\sum k^3}{\sum k}=\frac{n(n+1)}2$</a:t>
                </a:r>
                <a:r>
                  <a:rPr sz="2400" b="0">
                    <a:solidFill>
                      <a:srgbClr val="111827"/>
                    </a:solidFill>
                    <a:latin typeface="Arial"/>
                  </a:rPr>
                  <a:t> because </a:t>
                </a:r>
                <a:r>
                  <a:rPr lang="en-IN" sz="2400">
                    <a:solidFill>
                      <a:srgbClr val="111827"/>
                    </a:solidFill>
                    <a:latin typeface="Cambria Math" panose="02040503050406030204" pitchFamily="18" charset="0"/>
                  </a:rPr>
                  <a:t>$\sum k^3=(\sum 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first </a:t>
                </a:r>
                <a:r>
                  <a:rPr lang="en-IN" sz="2400">
                    <a:solidFill>
                      <a:srgbClr val="111827"/>
                    </a:solidFill>
                    <a:latin typeface="Cambria Math" panose="02040503050406030204" pitchFamily="18" charset="0"/>
                  </a:rPr>
                  <a:t>$n$</a:t>
                </a:r>
                <a:r>
                  <a:rPr sz="2400" b="0">
                    <a:solidFill>
                      <a:srgbClr val="111827"/>
                    </a:solidFill>
                    <a:latin typeface="Arial"/>
                  </a:rPr>
                  <a:t> triangular numbers is </a:t>
                </a:r>
                <a:r>
                  <a:rPr lang="en-IN" sz="2400">
                    <a:solidFill>
                      <a:srgbClr val="111827"/>
                    </a:solidFill>
                    <a:latin typeface="Cambria Math" panose="02040503050406030204" pitchFamily="18" charset="0"/>
                  </a:rPr>
                  <a:t>$\frac{n(n+1)(n+2)}6$</a:t>
                </a:r>
                <a:r>
                  <a:rPr sz="2400" b="0">
                    <a:solidFill>
                      <a:srgbClr val="111827"/>
                    </a:solidFill>
                    <a:latin typeface="Arial"/>
                  </a:rPr>
                  <a:t>; </a:t>
                </a:r>
                <a:r>
                  <a:rPr lang="en-IN" sz="2400">
                    <a:solidFill>
                      <a:srgbClr val="111827"/>
                    </a:solidFill>
                    <a:latin typeface="Cambria Math" panose="02040503050406030204" pitchFamily="18" charset="0"/>
                  </a:rPr>
                  <a:t>$n=15$</a:t>
                </a:r>
                <a:r>
                  <a:rPr sz="2400" b="0">
                    <a:solidFill>
                      <a:srgbClr val="111827"/>
                    </a:solidFill>
                    <a:latin typeface="Arial"/>
                  </a:rPr>
                  <a:t> gives </a:t>
                </a:r>
                <a:r>
                  <a:rPr lang="en-IN" sz="2400">
                    <a:solidFill>
                      <a:srgbClr val="111827"/>
                    </a:solidFill>
                    <a:latin typeface="Cambria Math" panose="02040503050406030204" pitchFamily="18" charset="0"/>
                  </a:rPr>
                  <a:t>$680$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PDF's intermediate values: </a:t>
                </a:r>
                <a:r>
                  <a:rPr lang="en-IN" sz="2400">
                    <a:solidFill>
                      <a:srgbClr val="111827"/>
                    </a:solidFill>
                    <a:latin typeface="Cambria Math" panose="02040503050406030204" pitchFamily="18" charset="0"/>
                  </a:rPr>
                  <a:t>$\sum n^2=1240$</a:t>
                </a:r>
                <a:r>
                  <a:rPr sz="2400" b="0">
                    <a:solidFill>
                      <a:srgbClr val="111827"/>
                    </a:solidFill>
                    <a:latin typeface="Arial"/>
                  </a:rPr>
                  <a:t>, </a:t>
                </a:r>
                <a:r>
                  <a:rPr lang="en-IN" sz="2400">
                    <a:solidFill>
                      <a:srgbClr val="111827"/>
                    </a:solidFill>
                    <a:latin typeface="Cambria Math" panose="02040503050406030204" pitchFamily="18" charset="0"/>
                  </a:rPr>
                  <a:t>$\sum n=120$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be in G.P. with common ratio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𝑐</m:t>
                    </m:r>
                  </m:oMath>
                </a14:m>
                <a:r>
                  <a:rPr sz="2400" b="0">
                    <a:solidFill>
                      <a:srgbClr val="111827"/>
                    </a:solidFill>
                    <a:latin typeface="Arial"/>
                  </a:rPr>
                  <a:t> are the first three terms of an A.P., then the </a:t>
                </a:r>
                <a14:m>
                  <m:oMath xmlns:m="http://schemas.openxmlformats.org/officeDocument/2006/math">
                    <m:sSup>
                      <m:e>
                        <m:r>
                          <a:rPr lang="en-IN" sz="2400" i="1">
                            <a:solidFill>
                              <a:srgbClr val="111827"/>
                            </a:solidFill>
                            <a:latin typeface="Cambria Math" panose="02040503050406030204" pitchFamily="18" charset="0"/>
                          </a:rPr>
                          <m:t>4</m:t>
                        </m:r>
                      </m:e>
                      <m:sup>
                        <m:r>
                          <m:rPr>
                            <m:nor/>
                          </m:rPr>
                          <a:rPr lang="en-IN" sz="2400" i="1">
                            <a:solidFill>
                              <a:srgbClr val="111827"/>
                            </a:solidFill>
                            <a:latin typeface="Cambria Math" panose="02040503050406030204" pitchFamily="18" charset="0"/>
                          </a:rPr>
                          <m:t>𝑡ℎ</m:t>
                        </m:r>
                      </m:sup>
                    </m:sSup>
                  </m:oMath>
                </a14:m>
                <a:r>
                  <a:rPr sz="2400" b="0">
                    <a:solidFill>
                      <a:srgbClr val="111827"/>
                    </a:solidFill>
                    <a:latin typeface="Arial"/>
                  </a:rPr>
                  <a:t> term of this A.P.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𝑎</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𝑎</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be in G.P. with common ratio </a:t>
                </a:r>
                <a:r>
                  <a:rPr lang="en-IN" sz="2400">
                    <a:solidFill>
                      <a:srgbClr val="111827"/>
                    </a:solidFill>
                    <a:latin typeface="Cambria Math" panose="02040503050406030204" pitchFamily="18" charset="0"/>
                  </a:rPr>
                  <a:t>$r$</a:t>
                </a:r>
                <a:r>
                  <a:rPr sz="2400" b="0">
                    <a:solidFill>
                      <a:srgbClr val="111827"/>
                    </a:solidFill>
                    <a:latin typeface="Arial"/>
                  </a:rPr>
                  <a:t>, where </a:t>
                </a:r>
                <a:r>
                  <a:rPr lang="en-IN" sz="2400">
                    <a:solidFill>
                      <a:srgbClr val="111827"/>
                    </a:solidFill>
                    <a:latin typeface="Cambria Math" panose="02040503050406030204" pitchFamily="18" charset="0"/>
                  </a:rPr>
                  <a:t>$a\neq0$</a:t>
                </a:r>
                <a:r>
                  <a:rPr sz="2400" b="0">
                    <a:solidFill>
                      <a:srgbClr val="111827"/>
                    </a:solidFill>
                    <a:latin typeface="Arial"/>
                  </a:rPr>
                  <a:t> and </a:t>
                </a:r>
                <a:r>
                  <a:rPr lang="en-IN" sz="2400">
                    <a:solidFill>
                      <a:srgbClr val="111827"/>
                    </a:solidFill>
                    <a:latin typeface="Cambria Math" panose="02040503050406030204" pitchFamily="18" charset="0"/>
                  </a:rPr>
                  <a:t>$0&lt;r\le\frac12$</a:t>
                </a:r>
                <a:r>
                  <a:rPr sz="2400" b="0">
                    <a:solidFill>
                      <a:srgbClr val="111827"/>
                    </a:solidFill>
                    <a:latin typeface="Arial"/>
                  </a:rPr>
                  <a:t>. If </a:t>
                </a:r>
                <a:r>
                  <a:rPr lang="en-IN" sz="2400">
                    <a:solidFill>
                      <a:srgbClr val="111827"/>
                    </a:solidFill>
                    <a:latin typeface="Cambria Math" panose="02040503050406030204" pitchFamily="18" charset="0"/>
                  </a:rPr>
                  <a:t>$3a,7b$</a:t>
                </a:r>
                <a:r>
                  <a:rPr sz="2400" b="0">
                    <a:solidFill>
                      <a:srgbClr val="111827"/>
                    </a:solidFill>
                    <a:latin typeface="Arial"/>
                  </a:rPr>
                  <a:t> and </a:t>
                </a:r>
                <a:r>
                  <a:rPr lang="en-IN" sz="2400">
                    <a:solidFill>
                      <a:srgbClr val="111827"/>
                    </a:solidFill>
                    <a:latin typeface="Cambria Math" panose="02040503050406030204" pitchFamily="18" charset="0"/>
                  </a:rPr>
                  <a:t>$15c$</a:t>
                </a:r>
                <a:r>
                  <a:rPr sz="2400" b="0">
                    <a:solidFill>
                      <a:srgbClr val="111827"/>
                    </a:solidFill>
                    <a:latin typeface="Arial"/>
                  </a:rPr>
                  <a:t> are the first three terms of an A.P., then the </a:t>
                </a:r>
                <a:r>
                  <a:rPr lang="en-IN" sz="2400">
                    <a:solidFill>
                      <a:srgbClr val="111827"/>
                    </a:solidFill>
                    <a:latin typeface="Cambria Math" panose="02040503050406030204" pitchFamily="18" charset="0"/>
                  </a:rPr>
                  <a:t>$4^{\text{th}}$</a:t>
                </a:r>
                <a:r>
                  <a:rPr sz="2400" b="0">
                    <a:solidFill>
                      <a:srgbClr val="111827"/>
                    </a:solidFill>
                    <a:latin typeface="Arial"/>
                  </a:rPr>
                  <a:t> term of this A.P.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$\frac23a$</a:t>
                </a:r>
                <a:r>
                  <a:rPr sz="2400" b="0">
                    <a:solidFill>
                      <a:srgbClr val="111827"/>
                    </a:solidFill>
                    <a:latin typeface="Arial"/>
                  </a:rPr>
                  <a:t>   (B) </a:t>
                </a:r>
                <a:r>
                  <a:rPr lang="en-IN" sz="2400">
                    <a:solidFill>
                      <a:srgbClr val="111827"/>
                    </a:solidFill>
                    <a:latin typeface="Cambria Math" panose="02040503050406030204" pitchFamily="18" charset="0"/>
                  </a:rPr>
                  <a:t>$a$</a:t>
                </a:r>
                <a:r>
                  <a:rPr sz="2400" b="0">
                    <a:solidFill>
                      <a:srgbClr val="111827"/>
                    </a:solidFill>
                    <a:latin typeface="Arial"/>
                  </a:rPr>
                  <a:t>   (C) </a:t>
                </a:r>
                <a:r>
                  <a:rPr lang="en-IN" sz="2400">
                    <a:solidFill>
                      <a:srgbClr val="111827"/>
                    </a:solidFill>
                    <a:latin typeface="Cambria Math" panose="02040503050406030204" pitchFamily="18" charset="0"/>
                  </a:rPr>
                  <a:t>$\frac73a$</a:t>
                </a:r>
                <a:r>
                  <a:rPr sz="2400" b="0">
                    <a:solidFill>
                      <a:srgbClr val="111827"/>
                    </a:solidFill>
                    <a:latin typeface="Arial"/>
                  </a:rPr>
                  <a:t>   (D) </a:t>
                </a:r>
                <a:r>
                  <a:rPr lang="en-IN" sz="2400">
                    <a:solidFill>
                      <a:srgbClr val="111827"/>
                    </a:solidFill>
                    <a:latin typeface="Cambria Math" panose="02040503050406030204" pitchFamily="18" charset="0"/>
                  </a:rPr>
                  <a:t>$5a$</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Geometric and arithmetic progressions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Writing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𝑟</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 A.P. condition </a:t>
                </a:r>
                <a14:m>
                  <m:oMath xmlns:m="http://schemas.openxmlformats.org/officeDocument/2006/math">
                    <m:r>
                      <a:rPr lang="en-IN" sz="2400" i="1">
                        <a:solidFill>
                          <a:srgbClr val="78350F"/>
                        </a:solidFill>
                        <a:latin typeface="Cambria Math" panose="02040503050406030204" pitchFamily="18" charset="0"/>
                      </a:rPr>
                      <m:t>14</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r>
                      <a:rPr lang="en-IN" sz="2400" i="1">
                        <a:solidFill>
                          <a:srgbClr val="78350F"/>
                        </a:solidFill>
                        <a:latin typeface="Cambria Math" panose="02040503050406030204" pitchFamily="18" charset="0"/>
                      </a:rPr>
                      <m:t>𝑐</m:t>
                    </m:r>
                  </m:oMath>
                </a14:m>
                <a:r>
                  <a:rPr sz="2400" b="0">
                    <a:solidFill>
                      <a:srgbClr val="78350F"/>
                    </a:solidFill>
                    <a:latin typeface="Arial"/>
                  </a:rPr>
                  <a:t> is a quadratic in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whose root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is excluded by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Writing </a:t>
                </a:r>
                <a:r>
                  <a:rPr lang="en-IN" sz="2400">
                    <a:solidFill>
                      <a:srgbClr val="78350F"/>
                    </a:solidFill>
                    <a:latin typeface="Cambria Math" panose="02040503050406030204" pitchFamily="18" charset="0"/>
                  </a:rPr>
                  <a:t>$b=ar$</a:t>
                </a:r>
                <a:r>
                  <a:rPr sz="2400" b="0">
                    <a:solidFill>
                      <a:srgbClr val="78350F"/>
                    </a:solidFill>
                    <a:latin typeface="Arial"/>
                  </a:rPr>
                  <a:t>, </a:t>
                </a:r>
                <a:r>
                  <a:rPr lang="en-IN" sz="2400">
                    <a:solidFill>
                      <a:srgbClr val="78350F"/>
                    </a:solidFill>
                    <a:latin typeface="Cambria Math" panose="02040503050406030204" pitchFamily="18" charset="0"/>
                  </a:rPr>
                  <a:t>$c=ar^2$</a:t>
                </a:r>
                <a:r>
                  <a:rPr sz="2400" b="0">
                    <a:solidFill>
                      <a:srgbClr val="78350F"/>
                    </a:solidFill>
                    <a:latin typeface="Arial"/>
                  </a:rPr>
                  <a:t>, the A.P. condition </a:t>
                </a:r>
                <a:r>
                  <a:rPr lang="en-IN" sz="2400">
                    <a:solidFill>
                      <a:srgbClr val="78350F"/>
                    </a:solidFill>
                    <a:latin typeface="Cambria Math" panose="02040503050406030204" pitchFamily="18" charset="0"/>
                  </a:rPr>
                  <a:t>$14b=3a+15c$</a:t>
                </a:r>
                <a:r>
                  <a:rPr sz="2400" b="0">
                    <a:solidFill>
                      <a:srgbClr val="78350F"/>
                    </a:solidFill>
                    <a:latin typeface="Arial"/>
                  </a:rPr>
                  <a:t> is a quadratic in </a:t>
                </a:r>
                <a:r>
                  <a:rPr lang="en-IN" sz="2400">
                    <a:solidFill>
                      <a:srgbClr val="78350F"/>
                    </a:solidFill>
                    <a:latin typeface="Cambria Math" panose="02040503050406030204" pitchFamily="18" charset="0"/>
                  </a:rPr>
                  <a:t>$r$</a:t>
                </a:r>
                <a:r>
                  <a:rPr sz="2400" b="0">
                    <a:solidFill>
                      <a:srgbClr val="78350F"/>
                    </a:solidFill>
                    <a:latin typeface="Arial"/>
                  </a:rPr>
                  <a:t> whose root </a:t>
                </a:r>
                <a:r>
                  <a:rPr lang="en-IN" sz="2400">
                    <a:solidFill>
                      <a:srgbClr val="78350F"/>
                    </a:solidFill>
                    <a:latin typeface="Cambria Math" panose="02040503050406030204" pitchFamily="18" charset="0"/>
                  </a:rPr>
                  <a:t>$\frac35$</a:t>
                </a:r>
                <a:r>
                  <a:rPr sz="2400" b="0">
                    <a:solidFill>
                      <a:srgbClr val="78350F"/>
                    </a:solidFill>
                    <a:latin typeface="Arial"/>
                  </a:rPr>
                  <a:t> is excluded by </a:t>
                </a:r>
                <a:r>
                  <a:rPr lang="en-IN" sz="2400">
                    <a:solidFill>
                      <a:srgbClr val="78350F"/>
                    </a:solidFill>
                    <a:latin typeface="Cambria Math" panose="02040503050406030204" pitchFamily="18" charset="0"/>
                  </a:rPr>
                  <a:t>$r\le\frac12$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A.P. is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Middle term condition: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$b=ar$</a:t>
                </a:r>
                <a:r>
                  <a:rPr sz="2400" b="0">
                    <a:solidFill>
                      <a:srgbClr val="111827"/>
                    </a:solidFill>
                    <a:latin typeface="Arial"/>
                  </a:rPr>
                  <a:t> and </a:t>
                </a:r>
                <a:r>
                  <a:rPr lang="en-IN" sz="2400">
                    <a:solidFill>
                      <a:srgbClr val="111827"/>
                    </a:solidFill>
                    <a:latin typeface="Cambria Math" panose="02040503050406030204" pitchFamily="18" charset="0"/>
                  </a:rPr>
                  <a:t>$c=ar^2$</a:t>
                </a:r>
                <a:r>
                  <a:rPr sz="2400" b="0">
                    <a:solidFill>
                      <a:srgbClr val="111827"/>
                    </a:solidFill>
                    <a:latin typeface="Arial"/>
                  </a:rPr>
                  <a:t>. The A.P. is </a:t>
                </a:r>
                <a:r>
                  <a:rPr lang="en-IN" sz="2400">
                    <a:solidFill>
                      <a:srgbClr val="111827"/>
                    </a:solidFill>
                    <a:latin typeface="Cambria Math" panose="02040503050406030204" pitchFamily="18" charset="0"/>
                  </a:rPr>
                  <a:t>$3a,\ 7ar,\ 15ar^2,\ldots$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Middle term condition: </a:t>
                </a:r>
                <a:r>
                  <a:rPr lang="en-IN" sz="2400">
                    <a:solidFill>
                      <a:srgbClr val="111827"/>
                    </a:solidFill>
                    <a:latin typeface="Cambria Math" panose="02040503050406030204" pitchFamily="18" charset="0"/>
                  </a:rPr>
                  <a:t>$2(7ar)=3a+15ar^2$</a:t>
                </a:r>
                <a:r>
                  <a:rPr sz="2400" b="0">
                    <a:solidFill>
                      <a:srgbClr val="111827"/>
                    </a:solidFill>
                    <a:latin typeface="Arial"/>
                  </a:rPr>
                  <a:t>, i.e. </a:t>
                </a:r>
                <a:r>
                  <a:rPr lang="en-IN" sz="2400">
                    <a:solidFill>
                      <a:srgbClr val="111827"/>
                    </a:solidFill>
                    <a:latin typeface="Cambria Math" panose="02040503050406030204" pitchFamily="18" charset="0"/>
                  </a:rPr>
                  <a:t>$14ar=3a+15ar^2$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$15r^2-14r+3=0$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rejected,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Fourth term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$r=\frac13$</a:t>
                </a:r>
                <a:r>
                  <a:rPr sz="2400" b="0">
                    <a:solidFill>
                      <a:srgbClr val="111827"/>
                    </a:solidFill>
                    <a:latin typeface="Arial"/>
                  </a:rPr>
                  <a:t> or </a:t>
                </a:r>
                <a:r>
                  <a:rPr lang="en-IN" sz="2400">
                    <a:solidFill>
                      <a:srgbClr val="111827"/>
                    </a:solidFill>
                    <a:latin typeface="Cambria Math" panose="02040503050406030204" pitchFamily="18" charset="0"/>
                  </a:rPr>
                  <a:t>$r=\frac35$</a:t>
                </a:r>
                <a:r>
                  <a:rPr sz="2400" b="0">
                    <a:solidFill>
                      <a:srgbClr val="111827"/>
                    </a:solidFill>
                    <a:latin typeface="Arial"/>
                  </a:rPr>
                  <a:t>; </a:t>
                </a:r>
                <a:r>
                  <a:rPr lang="en-IN" sz="2400">
                    <a:solidFill>
                      <a:srgbClr val="111827"/>
                    </a:solidFill>
                    <a:latin typeface="Cambria Math" panose="02040503050406030204" pitchFamily="18" charset="0"/>
                  </a:rPr>
                  <a:t>$r=\frac35&gt;\frac12$</a:t>
                </a:r>
                <a:r>
                  <a:rPr sz="2400" b="0">
                    <a:solidFill>
                      <a:srgbClr val="111827"/>
                    </a:solidFill>
                    <a:latin typeface="Arial"/>
                  </a:rPr>
                  <a:t> is rejected, so </a:t>
                </a:r>
                <a:r>
                  <a:rPr lang="en-IN" sz="2400">
                    <a:solidFill>
                      <a:srgbClr val="111827"/>
                    </a:solidFill>
                    <a:latin typeface="Cambria Math" panose="02040503050406030204" pitchFamily="18" charset="0"/>
                  </a:rPr>
                  <a:t>$r=\frac13$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Fourth term </a:t>
                </a:r>
                <a:r>
                  <a:rPr lang="en-IN" sz="2400">
                    <a:solidFill>
                      <a:srgbClr val="111827"/>
                    </a:solidFill>
                    <a:latin typeface="Cambria Math" panose="02040503050406030204" pitchFamily="18" charset="0"/>
                  </a:rPr>
                  <a:t>$=15ar^2+d$</a:t>
                </a:r>
                <a:r>
                  <a:rPr sz="2400" b="0">
                    <a:solidFill>
                      <a:srgbClr val="111827"/>
                    </a:solidFill>
                    <a:latin typeface="Arial"/>
                  </a:rPr>
                  <a:t> with </a:t>
                </a:r>
                <a:r>
                  <a:rPr lang="en-IN" sz="2400">
                    <a:solidFill>
                      <a:srgbClr val="111827"/>
                    </a:solidFill>
                    <a:latin typeface="Cambria Math" panose="02040503050406030204" pitchFamily="18" charset="0"/>
                  </a:rPr>
                  <a:t>$d=7ar-3a$</a:t>
                </a:r>
                <a:r>
                  <a:rPr sz="2400" b="0">
                    <a:solidFill>
                      <a:srgbClr val="111827"/>
                    </a:solidFill>
                    <a:latin typeface="Arial"/>
                  </a:rPr>
                  <a:t>, i.e. </a:t>
                </a:r>
                <a:r>
                  <a:rPr lang="en-IN" sz="2400">
                    <a:solidFill>
                      <a:srgbClr val="111827"/>
                    </a:solidFill>
                    <a:latin typeface="Cambria Math" panose="02040503050406030204" pitchFamily="18" charset="0"/>
                  </a:rPr>
                  <a:t>$15ar^2+7ar-3a=a(15r^2+7r-3)$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$=a\left(\frac{15}9+\frac73-3\right)=a\left(\frac53+\frac73-3\right)=a$</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𝑎</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$a$</a:t>
                </a:r>
                <a:endParaRPr sz="2800">
                  <a:solidFill>
                    <a:srgbClr val="15803D"/>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 of three terms: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middle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first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last. In an A.P. the fourth term is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the explicit terms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(common difference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Constraints on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stated in the problem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are there to reject one root of the quadratic; always apply them.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 of three terms: </a:t>
                </a:r>
                <a:r>
                  <a:rPr lang="en-IN" sz="2400">
                    <a:solidFill>
                      <a:srgbClr val="111827"/>
                    </a:solidFill>
                    <a:latin typeface="Cambria Math" panose="02040503050406030204" pitchFamily="18" charset="0"/>
                  </a:rPr>
                  <a:t>$2\times$</a:t>
                </a:r>
                <a:r>
                  <a:rPr sz="2400" b="0">
                    <a:solidFill>
                      <a:srgbClr val="111827"/>
                    </a:solidFill>
                    <a:latin typeface="Arial"/>
                  </a:rPr>
                  <a:t> middle </a:t>
                </a:r>
                <a:r>
                  <a:rPr lang="en-IN" sz="2400">
                    <a:solidFill>
                      <a:srgbClr val="111827"/>
                    </a:solidFill>
                    <a:latin typeface="Cambria Math" panose="02040503050406030204" pitchFamily="18" charset="0"/>
                  </a:rPr>
                  <a:t>$=$</a:t>
                </a:r>
                <a:r>
                  <a:rPr sz="2400" b="0">
                    <a:solidFill>
                      <a:srgbClr val="111827"/>
                    </a:solidFill>
                    <a:latin typeface="Arial"/>
                  </a:rPr>
                  <a:t> first </a:t>
                </a:r>
                <a:r>
                  <a:rPr lang="en-IN" sz="2400">
                    <a:solidFill>
                      <a:srgbClr val="111827"/>
                    </a:solidFill>
                    <a:latin typeface="Cambria Math" panose="02040503050406030204" pitchFamily="18" charset="0"/>
                  </a:rPr>
                  <a:t>$+$</a:t>
                </a:r>
                <a:r>
                  <a:rPr sz="2400" b="0">
                    <a:solidFill>
                      <a:srgbClr val="111827"/>
                    </a:solidFill>
                    <a:latin typeface="Arial"/>
                  </a:rPr>
                  <a:t> last. In an A.P. the fourth term is </a:t>
                </a:r>
                <a:r>
                  <a:rPr lang="en-IN" sz="2400">
                    <a:solidFill>
                      <a:srgbClr val="111827"/>
                    </a:solidFill>
                    <a:latin typeface="Cambria Math" panose="02040503050406030204" pitchFamily="18" charset="0"/>
                  </a:rPr>
                  <a:t>$2t_3-t_2$</a:t>
                </a:r>
                <a:r>
                  <a:rPr sz="2400" b="0">
                    <a:solidFill>
                      <a:srgbClr val="111827"/>
                    </a:solidFill>
                    <a:latin typeface="Arial"/>
                  </a:rPr>
                  <a:t>; check: </a:t>
                </a:r>
                <a:r>
                  <a:rPr lang="en-IN" sz="2400">
                    <a:solidFill>
                      <a:srgbClr val="111827"/>
                    </a:solidFill>
                    <a:latin typeface="Cambria Math" panose="02040503050406030204" pitchFamily="18" charset="0"/>
                  </a:rPr>
                  <a:t>$2\cdot\frac{5a}3-\frac{7a}3=a$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$r=\frac13$</a:t>
                </a:r>
                <a:r>
                  <a:rPr sz="2400" b="0">
                    <a:solidFill>
                      <a:srgbClr val="111827"/>
                    </a:solidFill>
                    <a:latin typeface="Arial"/>
                  </a:rPr>
                  <a:t> gives the explicit terms </a:t>
                </a:r>
                <a:r>
                  <a:rPr lang="en-IN" sz="2400">
                    <a:solidFill>
                      <a:srgbClr val="111827"/>
                    </a:solidFill>
                    <a:latin typeface="Cambria Math" panose="02040503050406030204" pitchFamily="18" charset="0"/>
                  </a:rPr>
                  <a:t>$3a,\frac{7a}{3},\frac{5a}3,a$</a:t>
                </a:r>
                <a:r>
                  <a:rPr sz="2400" b="0">
                    <a:solidFill>
                      <a:srgbClr val="111827"/>
                    </a:solidFill>
                    <a:latin typeface="Arial"/>
                  </a:rPr>
                  <a:t> (common difference </a:t>
                </a:r>
                <a:r>
                  <a:rPr lang="en-IN" sz="2400">
                    <a:solidFill>
                      <a:srgbClr val="111827"/>
                    </a:solidFill>
                    <a:latin typeface="Cambria Math" panose="02040503050406030204" pitchFamily="18" charset="0"/>
                  </a:rPr>
                  <a:t>$-\frac{2a}3$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Constraints on </a:t>
                </a:r>
                <a:r>
                  <a:rPr lang="en-IN" sz="2400">
                    <a:solidFill>
                      <a:srgbClr val="111827"/>
                    </a:solidFill>
                    <a:latin typeface="Cambria Math" panose="02040503050406030204" pitchFamily="18" charset="0"/>
                  </a:rPr>
                  <a:t>$r$</a:t>
                </a:r>
                <a:r>
                  <a:rPr sz="2400" b="0">
                    <a:solidFill>
                      <a:srgbClr val="111827"/>
                    </a:solidFill>
                    <a:latin typeface="Arial"/>
                  </a:rPr>
                  <a:t> stated in the problem (</a:t>
                </a:r>
                <a:r>
                  <a:rPr lang="en-IN" sz="2400">
                    <a:solidFill>
                      <a:srgbClr val="111827"/>
                    </a:solidFill>
                    <a:latin typeface="Cambria Math" panose="02040503050406030204" pitchFamily="18" charset="0"/>
                  </a:rPr>
                  <a:t>$0&lt;r\le\frac12$</a:t>
                </a:r>
                <a:r>
                  <a:rPr sz="2400" b="0">
                    <a:solidFill>
                      <a:srgbClr val="111827"/>
                    </a:solidFill>
                    <a:latin typeface="Arial"/>
                  </a:rPr>
                  <a:t>) are there to reject one root of the quadratic; always apply them.</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an A.P.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the common difference of this A.P., which maximises the product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$a_1,a_2,a_3,\ldots$</a:t>
                </a:r>
                <a:r>
                  <a:rPr sz="2400" b="0">
                    <a:solidFill>
                      <a:srgbClr val="111827"/>
                    </a:solidFill>
                    <a:latin typeface="Arial"/>
                  </a:rPr>
                  <a:t> be an A.P. with </a:t>
                </a:r>
                <a:r>
                  <a:rPr lang="en-IN" sz="2400">
                    <a:solidFill>
                      <a:srgbClr val="111827"/>
                    </a:solidFill>
                    <a:latin typeface="Cambria Math" panose="02040503050406030204" pitchFamily="18" charset="0"/>
                  </a:rPr>
                  <a:t>$a_6=2$</a:t>
                </a:r>
                <a:r>
                  <a:rPr sz="2400" b="0">
                    <a:solidFill>
                      <a:srgbClr val="111827"/>
                    </a:solidFill>
                    <a:latin typeface="Arial"/>
                  </a:rPr>
                  <a:t>. Then the common difference of this A.P., which maximises the product </a:t>
                </a:r>
                <a:r>
                  <a:rPr lang="en-IN" sz="2400">
                    <a:solidFill>
                      <a:srgbClr val="111827"/>
                    </a:solidFill>
                    <a:latin typeface="Cambria Math" panose="02040503050406030204" pitchFamily="18" charset="0"/>
                  </a:rPr>
                  <a:t>$a_1a_4a_5$</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$\frac23$</a:t>
                </a:r>
                <a:r>
                  <a:rPr sz="2400" b="0">
                    <a:solidFill>
                      <a:srgbClr val="111827"/>
                    </a:solidFill>
                    <a:latin typeface="Arial"/>
                  </a:rPr>
                  <a:t>   (B) </a:t>
                </a:r>
                <a:r>
                  <a:rPr lang="en-IN" sz="2400">
                    <a:solidFill>
                      <a:srgbClr val="111827"/>
                    </a:solidFill>
                    <a:latin typeface="Cambria Math" panose="02040503050406030204" pitchFamily="18" charset="0"/>
                  </a:rPr>
                  <a:t>$\frac85$</a:t>
                </a:r>
                <a:r>
                  <a:rPr sz="2400" b="0">
                    <a:solidFill>
                      <a:srgbClr val="111827"/>
                    </a:solidFill>
                    <a:latin typeface="Arial"/>
                  </a:rPr>
                  <a:t>   (C) </a:t>
                </a:r>
                <a:r>
                  <a:rPr lang="en-IN" sz="2400">
                    <a:solidFill>
                      <a:srgbClr val="111827"/>
                    </a:solidFill>
                    <a:latin typeface="Cambria Math" panose="02040503050406030204" pitchFamily="18" charset="0"/>
                  </a:rPr>
                  <a:t>$\frac32$</a:t>
                </a:r>
                <a:r>
                  <a:rPr sz="2400" b="0">
                    <a:solidFill>
                      <a:srgbClr val="111827"/>
                    </a:solidFill>
                    <a:latin typeface="Arial"/>
                  </a:rPr>
                  <a:t>   (D) </a:t>
                </a:r>
                <a:r>
                  <a:rPr lang="en-IN" sz="2400">
                    <a:solidFill>
                      <a:srgbClr val="111827"/>
                    </a:solidFill>
                    <a:latin typeface="Cambria Math" panose="02040503050406030204" pitchFamily="18" charset="0"/>
                  </a:rPr>
                  <a:t>$\frac65$</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Arithmetic progression, Maxima and minima of a cubic polynomial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6</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fixed,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𝑑</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4</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𝑑</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5</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oMath>
                </a14:m>
                <a:r>
                  <a:rPr sz="2400" b="0">
                    <a:solidFill>
                      <a:srgbClr val="78350F"/>
                    </a:solidFill>
                    <a:latin typeface="Arial"/>
                  </a:rPr>
                  <a:t>, so the product is a cubic in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whose local maximum (not minimum) is at the larger critical point.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$a_6=2$</a:t>
                </a:r>
                <a:r>
                  <a:rPr sz="2400" b="0">
                    <a:solidFill>
                      <a:srgbClr val="78350F"/>
                    </a:solidFill>
                    <a:latin typeface="Arial"/>
                  </a:rPr>
                  <a:t> fixed, </a:t>
                </a:r>
                <a:r>
                  <a:rPr lang="en-IN" sz="2400">
                    <a:solidFill>
                      <a:srgbClr val="78350F"/>
                    </a:solidFill>
                    <a:latin typeface="Cambria Math" panose="02040503050406030204" pitchFamily="18" charset="0"/>
                  </a:rPr>
                  <a:t>$a_1=2-5d$</a:t>
                </a:r>
                <a:r>
                  <a:rPr sz="2400" b="0">
                    <a:solidFill>
                      <a:srgbClr val="78350F"/>
                    </a:solidFill>
                    <a:latin typeface="Arial"/>
                  </a:rPr>
                  <a:t>, </a:t>
                </a:r>
                <a:r>
                  <a:rPr lang="en-IN" sz="2400">
                    <a:solidFill>
                      <a:srgbClr val="78350F"/>
                    </a:solidFill>
                    <a:latin typeface="Cambria Math" panose="02040503050406030204" pitchFamily="18" charset="0"/>
                  </a:rPr>
                  <a:t>$a_4=2-2d$</a:t>
                </a:r>
                <a:r>
                  <a:rPr sz="2400" b="0">
                    <a:solidFill>
                      <a:srgbClr val="78350F"/>
                    </a:solidFill>
                    <a:latin typeface="Arial"/>
                  </a:rPr>
                  <a:t>, </a:t>
                </a:r>
                <a:r>
                  <a:rPr lang="en-IN" sz="2400">
                    <a:solidFill>
                      <a:srgbClr val="78350F"/>
                    </a:solidFill>
                    <a:latin typeface="Cambria Math" panose="02040503050406030204" pitchFamily="18" charset="0"/>
                  </a:rPr>
                  <a:t>$a_5=2-d$</a:t>
                </a:r>
                <a:r>
                  <a:rPr sz="2400" b="0">
                    <a:solidFill>
                      <a:srgbClr val="78350F"/>
                    </a:solidFill>
                    <a:latin typeface="Arial"/>
                  </a:rPr>
                  <a:t>, so the product is a cubic in </a:t>
                </a:r>
                <a:r>
                  <a:rPr lang="en-IN" sz="2400">
                    <a:solidFill>
                      <a:srgbClr val="78350F"/>
                    </a:solidFill>
                    <a:latin typeface="Cambria Math" panose="02040503050406030204" pitchFamily="18" charset="0"/>
                  </a:rPr>
                  <a:t>$d$</a:t>
                </a:r>
                <a:r>
                  <a:rPr sz="2400" b="0">
                    <a:solidFill>
                      <a:srgbClr val="78350F"/>
                    </a:solidFill>
                    <a:latin typeface="Arial"/>
                  </a:rPr>
                  <a:t> whose local maximum (not minimum) is at the larger critical point.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$a_6=a+5d=2$</a:t>
                </a:r>
                <a:r>
                  <a:rPr sz="2400" b="0">
                    <a:solidFill>
                      <a:srgbClr val="111827"/>
                    </a:solidFill>
                    <a:latin typeface="Arial"/>
                  </a:rPr>
                  <a:t>, so </a:t>
                </a:r>
                <a:r>
                  <a:rPr lang="en-IN" sz="2400">
                    <a:solidFill>
                      <a:srgbClr val="111827"/>
                    </a:solidFill>
                    <a:latin typeface="Cambria Math" panose="02040503050406030204" pitchFamily="18" charset="0"/>
                  </a:rPr>
                  <a:t>$a_1=2-5d$</a:t>
                </a:r>
                <a:r>
                  <a:rPr sz="2400" b="0">
                    <a:solidFill>
                      <a:srgbClr val="111827"/>
                    </a:solidFill>
                    <a:latin typeface="Arial"/>
                  </a:rPr>
                  <a:t>, </a:t>
                </a:r>
                <a:r>
                  <a:rPr lang="en-IN" sz="2400">
                    <a:solidFill>
                      <a:srgbClr val="111827"/>
                    </a:solidFill>
                    <a:latin typeface="Cambria Math" panose="02040503050406030204" pitchFamily="18" charset="0"/>
                  </a:rPr>
                  <a:t>$a_4=2-2d$</a:t>
                </a:r>
                <a:r>
                  <a:rPr sz="2400" b="0">
                    <a:solidFill>
                      <a:srgbClr val="111827"/>
                    </a:solidFill>
                    <a:latin typeface="Arial"/>
                  </a:rPr>
                  <a:t>, </a:t>
                </a:r>
                <a:r>
                  <a:rPr lang="en-IN" sz="2400">
                    <a:solidFill>
                      <a:srgbClr val="111827"/>
                    </a:solidFill>
                    <a:latin typeface="Cambria Math" panose="02040503050406030204" pitchFamily="18" charset="0"/>
                  </a:rPr>
                  <a:t>$a_5=2-d$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$A=a_1a_4a_5=(2-5d)(2-2d)(2-d)=(2-5d)(4-6d+2d^2)$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$\frac{dA}{dd}=(2-5d)(-6+4d)+(4-6d+2d^2)(-5)=0$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$15d^2-34d+16=0$</a:t>
                </a:r>
                <a:r>
                  <a:rPr sz="2400" b="0">
                    <a:solidFill>
                      <a:srgbClr val="111827"/>
                    </a:solidFill>
                    <a:latin typeface="Arial"/>
                  </a:rPr>
                  <a:t>, so </a:t>
                </a:r>
                <a:r>
                  <a:rPr lang="en-IN" sz="2400">
                    <a:solidFill>
                      <a:srgbClr val="111827"/>
                    </a:solidFill>
                    <a:latin typeface="Cambria Math" panose="02040503050406030204" pitchFamily="18" charset="0"/>
                  </a:rPr>
                  <a:t>$(5d-8)(3d-2)=0$</a:t>
                </a:r>
                <a:r>
                  <a:rPr sz="2400" b="0">
                    <a:solidFill>
                      <a:srgbClr val="111827"/>
                    </a:solidFill>
                    <a:latin typeface="Arial"/>
                  </a:rPr>
                  <a:t> and </a:t>
                </a:r>
                <a:r>
                  <a:rPr lang="en-IN" sz="2400">
                    <a:solidFill>
                      <a:srgbClr val="111827"/>
                    </a:solidFill>
                    <a:latin typeface="Cambria Math" panose="02040503050406030204" pitchFamily="18" charset="0"/>
                  </a:rPr>
                  <a:t>$d=\frac85$</a:t>
                </a:r>
                <a:r>
                  <a:rPr sz="2400" b="0">
                    <a:solidFill>
                      <a:srgbClr val="111827"/>
                    </a:solidFill>
                    <a:latin typeface="Arial"/>
                  </a:rPr>
                  <a:t> or </a:t>
                </a:r>
                <a:r>
                  <a:rPr lang="en-IN" sz="2400">
                    <a:solidFill>
                      <a:srgbClr val="111827"/>
                    </a:solidFill>
                    <a:latin typeface="Cambria Math" panose="02040503050406030204" pitchFamily="18" charset="0"/>
                  </a:rPr>
                  <a:t>$d=\frac23$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a local minimum (the PDF wrongly writes </a:t>
                </a:r>
                <a14:m>
                  <m:oMath xmlns:m="http://schemas.openxmlformats.org/officeDocument/2006/math">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 local maximum,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common difference at which the product is maximised (local maximum) is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$A=-10d^3+34d^2-32d+8$</a:t>
                </a:r>
                <a:r>
                  <a:rPr sz="2400" b="0">
                    <a:solidFill>
                      <a:srgbClr val="111827"/>
                    </a:solidFill>
                    <a:latin typeface="Arial"/>
                  </a:rPr>
                  <a:t>, so </a:t>
                </a:r>
                <a:r>
                  <a:rPr lang="en-IN" sz="2400">
                    <a:solidFill>
                      <a:srgbClr val="111827"/>
                    </a:solidFill>
                    <a:latin typeface="Cambria Math" panose="02040503050406030204" pitchFamily="18" charset="0"/>
                  </a:rPr>
                  <a:t>$\frac{d^2A}{dd^2}=-60d+68$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$d=\frac23$</a:t>
                </a:r>
                <a:r>
                  <a:rPr sz="2400" b="0">
                    <a:solidFill>
                      <a:srgbClr val="111827"/>
                    </a:solidFill>
                    <a:latin typeface="Arial"/>
                  </a:rPr>
                  <a:t>: </a:t>
                </a:r>
                <a:r>
                  <a:rPr lang="en-IN" sz="2400">
                    <a:solidFill>
                      <a:srgbClr val="111827"/>
                    </a:solidFill>
                    <a:latin typeface="Cambria Math" panose="02040503050406030204" pitchFamily="18" charset="0"/>
                  </a:rPr>
                  <a:t>$\frac{d^2A}{dd^2}=-40+68=28&gt;0$</a:t>
                </a:r>
                <a:r>
                  <a:rPr sz="2400" b="0">
                    <a:solidFill>
                      <a:srgbClr val="111827"/>
                    </a:solidFill>
                    <a:latin typeface="Arial"/>
                  </a:rPr>
                  <a:t>, so </a:t>
                </a:r>
                <a:r>
                  <a:rPr lang="en-IN" sz="2400">
                    <a:solidFill>
                      <a:srgbClr val="111827"/>
                    </a:solidFill>
                    <a:latin typeface="Cambria Math" panose="02040503050406030204" pitchFamily="18" charset="0"/>
                  </a:rPr>
                  <a:t>$d=\frac23$</a:t>
                </a:r>
                <a:r>
                  <a:rPr sz="2400" b="0">
                    <a:solidFill>
                      <a:srgbClr val="111827"/>
                    </a:solidFill>
                    <a:latin typeface="Arial"/>
                  </a:rPr>
                  <a:t> is a local minimum (the PDF wrongly writes </a:t>
                </a:r>
                <a:r>
                  <a:rPr lang="en-IN" sz="2400">
                    <a:solidFill>
                      <a:srgbClr val="111827"/>
                    </a:solidFill>
                    <a:latin typeface="Cambria Math" panose="02040503050406030204" pitchFamily="18" charset="0"/>
                  </a:rPr>
                  <a:t>$&lt;0$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$d=\frac85$</a:t>
                </a:r>
                <a:r>
                  <a:rPr sz="2400" b="0">
                    <a:solidFill>
                      <a:srgbClr val="111827"/>
                    </a:solidFill>
                    <a:latin typeface="Arial"/>
                  </a:rPr>
                  <a:t>: </a:t>
                </a:r>
                <a:r>
                  <a:rPr lang="en-IN" sz="2400">
                    <a:solidFill>
                      <a:srgbClr val="111827"/>
                    </a:solidFill>
                    <a:latin typeface="Cambria Math" panose="02040503050406030204" pitchFamily="18" charset="0"/>
                  </a:rPr>
                  <a:t>$\frac{d^2A}{dd^2}=-96+68=-28&lt;0$</a:t>
                </a:r>
                <a:r>
                  <a:rPr sz="2400" b="0">
                    <a:solidFill>
                      <a:srgbClr val="111827"/>
                    </a:solidFill>
                    <a:latin typeface="Arial"/>
                  </a:rPr>
                  <a:t>, a local maximum, with </a:t>
                </a:r>
                <a:r>
                  <a:rPr lang="en-IN" sz="2400">
                    <a:solidFill>
                      <a:srgbClr val="111827"/>
                    </a:solidFill>
                    <a:latin typeface="Cambria Math" panose="02040503050406030204" pitchFamily="18" charset="0"/>
                  </a:rPr>
                  <a:t>$A=\frac{72}{25}$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common difference at which the product is maximised (local maximum) is </a:t>
                </a:r>
                <a:r>
                  <a:rPr lang="en-IN" sz="2400">
                    <a:solidFill>
                      <a:srgbClr val="111827"/>
                    </a:solidFill>
                    <a:latin typeface="Cambria Math" panose="02040503050406030204" pitchFamily="18" charset="0"/>
                  </a:rPr>
                  <a:t>$d=\frac85$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$\frac85$</a:t>
                </a:r>
                <a:endParaRPr sz="2800">
                  <a:solidFill>
                    <a:srgbClr val="15803D"/>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read the sign chart; compare values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at the critical points.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a:t>
                </a:r>
                <a:r>
                  <a:rPr lang="en-IN" sz="2400">
                    <a:solidFill>
                      <a:srgbClr val="78350F"/>
                    </a:solidFill>
                    <a:latin typeface="Cambria Math" panose="02040503050406030204" pitchFamily="18" charset="0"/>
                  </a:rPr>
                  <a:t>$A'(d)=-2(5d-8)(3d-2)$</a:t>
                </a:r>
                <a:r>
                  <a:rPr sz="2400" b="0">
                    <a:solidFill>
                      <a:srgbClr val="78350F"/>
                    </a:solidFill>
                    <a:latin typeface="Arial"/>
                  </a:rPr>
                  <a:t> and read the sign chart; compare values of </a:t>
                </a:r>
                <a:r>
                  <a:rPr lang="en-IN" sz="2400">
                    <a:solidFill>
                      <a:srgbClr val="78350F"/>
                    </a:solidFill>
                    <a:latin typeface="Cambria Math" panose="02040503050406030204" pitchFamily="18" charset="0"/>
                  </a:rPr>
                  <a:t>$A$</a:t>
                </a:r>
                <a:r>
                  <a:rPr sz="2400" b="0">
                    <a:solidFill>
                      <a:srgbClr val="78350F"/>
                    </a:solidFill>
                    <a:latin typeface="Arial"/>
                  </a:rPr>
                  <a:t> at the critical points.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both factors negative, product positive,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 increasing).</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$A(d)=-10d^3+34d^2-32d+8$</a:t>
                </a:r>
                <a:r>
                  <a:rPr sz="2400" b="0">
                    <a:solidFill>
                      <a:srgbClr val="111827"/>
                    </a:solidFill>
                    <a:latin typeface="Arial"/>
                  </a:rPr>
                  <a:t> and </a:t>
                </a:r>
                <a:r>
                  <a:rPr lang="en-IN" sz="2400">
                    <a:solidFill>
                      <a:srgbClr val="111827"/>
                    </a:solidFill>
                    <a:latin typeface="Cambria Math" panose="02040503050406030204" pitchFamily="18" charset="0"/>
                  </a:rPr>
                  <a:t>$A'(d)=-30d^2+68d-32=-2(15d^2-34d+16)=-2(5d-8)(3d-2)$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$d&lt;\frac23$</a:t>
                </a:r>
                <a:r>
                  <a:rPr sz="2400" b="0">
                    <a:solidFill>
                      <a:srgbClr val="111827"/>
                    </a:solidFill>
                    <a:latin typeface="Arial"/>
                  </a:rPr>
                  <a:t>: both factors negative, product positive, </a:t>
                </a:r>
                <a:r>
                  <a:rPr lang="en-IN" sz="2400">
                    <a:solidFill>
                      <a:srgbClr val="111827"/>
                    </a:solidFill>
                    <a:latin typeface="Cambria Math" panose="02040503050406030204" pitchFamily="18" charset="0"/>
                  </a:rPr>
                  <a:t>$A'&lt;0$</a:t>
                </a:r>
                <a:r>
                  <a:rPr sz="2400" b="0">
                    <a:solidFill>
                      <a:srgbClr val="111827"/>
                    </a:solidFill>
                    <a:latin typeface="Arial"/>
                  </a:rPr>
                  <a:t> (A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$\frac23&lt;d&lt;\frac85$</a:t>
                </a:r>
                <a:r>
                  <a:rPr sz="2400" b="0">
                    <a:solidFill>
                      <a:srgbClr val="111827"/>
                    </a:solidFill>
                    <a:latin typeface="Arial"/>
                  </a:rPr>
                  <a:t>: </a:t>
                </a:r>
                <a:r>
                  <a:rPr lang="en-IN" sz="2400">
                    <a:solidFill>
                      <a:srgbClr val="111827"/>
                    </a:solidFill>
                    <a:latin typeface="Cambria Math" panose="02040503050406030204" pitchFamily="18" charset="0"/>
                  </a:rPr>
                  <a:t>$5d-8&lt;0$</a:t>
                </a:r>
                <a:r>
                  <a:rPr sz="2400" b="0">
                    <a:solidFill>
                      <a:srgbClr val="111827"/>
                    </a:solidFill>
                    <a:latin typeface="Arial"/>
                  </a:rPr>
                  <a:t> and </a:t>
                </a:r>
                <a:r>
                  <a:rPr lang="en-IN" sz="2400">
                    <a:solidFill>
                      <a:srgbClr val="111827"/>
                    </a:solidFill>
                    <a:latin typeface="Cambria Math" panose="02040503050406030204" pitchFamily="18" charset="0"/>
                  </a:rPr>
                  <a:t>$3d-2&gt;0$</a:t>
                </a:r>
                <a:r>
                  <a:rPr sz="2400" b="0">
                    <a:solidFill>
                      <a:srgbClr val="111827"/>
                    </a:solidFill>
                    <a:latin typeface="Arial"/>
                  </a:rPr>
                  <a:t>, so </a:t>
                </a:r>
                <a:r>
                  <a:rPr lang="en-IN" sz="2400">
                    <a:solidFill>
                      <a:srgbClr val="111827"/>
                    </a:solidFill>
                    <a:latin typeface="Cambria Math" panose="02040503050406030204" pitchFamily="18" charset="0"/>
                  </a:rPr>
                  <a:t>$A'&gt;0$</a:t>
                </a:r>
                <a:r>
                  <a:rPr sz="2400" b="0">
                    <a:solidFill>
                      <a:srgbClr val="111827"/>
                    </a:solidFill>
                    <a:latin typeface="Arial"/>
                  </a:rPr>
                  <a:t> (A increasing).</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both positive,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falls, rises, then falls: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a local minimum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The answer is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$d&gt;\frac85$</a:t>
                </a:r>
                <a:r>
                  <a:rPr sz="2400" b="0">
                    <a:solidFill>
                      <a:srgbClr val="111827"/>
                    </a:solidFill>
                    <a:latin typeface="Arial"/>
                  </a:rPr>
                  <a:t>: both positive, </a:t>
                </a:r>
                <a:r>
                  <a:rPr lang="en-IN" sz="2400">
                    <a:solidFill>
                      <a:srgbClr val="111827"/>
                    </a:solidFill>
                    <a:latin typeface="Cambria Math" panose="02040503050406030204" pitchFamily="18" charset="0"/>
                  </a:rPr>
                  <a:t>$A'&lt;0$</a:t>
                </a:r>
                <a:r>
                  <a:rPr sz="2400" b="0">
                    <a:solidFill>
                      <a:srgbClr val="111827"/>
                    </a:solidFill>
                    <a:latin typeface="Arial"/>
                  </a:rPr>
                  <a:t> (A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a:t>
                </a:r>
                <a:r>
                  <a:rPr sz="2400" b="0">
                    <a:solidFill>
                      <a:srgbClr val="111827"/>
                    </a:solidFill>
                    <a:latin typeface="Arial"/>
                  </a:rPr>
                  <a:t> falls, rises, then falls: </a:t>
                </a:r>
                <a:r>
                  <a:rPr lang="en-IN" sz="2400">
                    <a:solidFill>
                      <a:srgbClr val="111827"/>
                    </a:solidFill>
                    <a:latin typeface="Cambria Math" panose="02040503050406030204" pitchFamily="18" charset="0"/>
                  </a:rPr>
                  <a:t>$d=\frac23$</a:t>
                </a:r>
                <a:r>
                  <a:rPr sz="2400" b="0">
                    <a:solidFill>
                      <a:srgbClr val="111827"/>
                    </a:solidFill>
                    <a:latin typeface="Arial"/>
                  </a:rPr>
                  <a:t> is a local minimum and </a:t>
                </a:r>
                <a:r>
                  <a:rPr lang="en-IN" sz="2400">
                    <a:solidFill>
                      <a:srgbClr val="111827"/>
                    </a:solidFill>
                    <a:latin typeface="Cambria Math" panose="02040503050406030204" pitchFamily="18" charset="0"/>
                  </a:rPr>
                  <a:t>$d=\frac85$</a:t>
                </a:r>
                <a:r>
                  <a:rPr sz="2400" b="0">
                    <a:solidFill>
                      <a:srgbClr val="111827"/>
                    </a:solidFill>
                    <a:latin typeface="Arial"/>
                  </a:rPr>
                  <a:t> a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a:t>
                </a:r>
                <a:r>
                  <a:rPr lang="en-IN" sz="2400">
                    <a:solidFill>
                      <a:srgbClr val="111827"/>
                    </a:solidFill>
                    <a:latin typeface="Cambria Math" panose="02040503050406030204" pitchFamily="18" charset="0"/>
                  </a:rPr>
                  <a:t>$A\left(\frac85\right)=(-6)(-1.2)(0.4)=2.88$</a:t>
                </a:r>
                <a:r>
                  <a:rPr sz="2400" b="0">
                    <a:solidFill>
                      <a:srgbClr val="111827"/>
                    </a:solidFill>
                    <a:latin typeface="Arial"/>
                  </a:rPr>
                  <a:t> and </a:t>
                </a:r>
                <a:r>
                  <a:rPr lang="en-IN" sz="2400">
                    <a:solidFill>
                      <a:srgbClr val="111827"/>
                    </a:solidFill>
                    <a:latin typeface="Cambria Math" panose="02040503050406030204" pitchFamily="18" charset="0"/>
                  </a:rPr>
                  <a:t>$A\left(\frac23\right)=\left(-\frac43\right)\left(\frac23\right)\left(\frac43\right)=-\frac{32}{27}$</a:t>
                </a:r>
                <a:r>
                  <a:rPr sz="2400" b="0">
                    <a:solidFill>
                      <a:srgbClr val="111827"/>
                    </a:solidFill>
                    <a:latin typeface="Arial"/>
                  </a:rPr>
                  <a:t>. The answer is </a:t>
                </a:r>
                <a:r>
                  <a:rPr lang="en-IN" sz="2400">
                    <a:solidFill>
                      <a:srgbClr val="111827"/>
                    </a:solidFill>
                    <a:latin typeface="Cambria Math" panose="02040503050406030204" pitchFamily="18" charset="0"/>
                  </a:rPr>
                  <a:t>$d=\frac85$</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$\frac85$</a:t>
                </a:r>
                <a:endParaRPr sz="2800">
                  <a:solidFill>
                    <a:srgbClr val="15803D"/>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cubic with negative leading coefficient rises to a local maximum after a local minimum when read left to right: the larger critical point is the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Fixing one term of an A.P.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lets every other term be written as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critical points (second derivative or sign chart): a critical point is not automatically the extremum asked for.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of three terms of an A.P. is unbounded as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'maximises' can only mean a local maximum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cubic with negative leading coefficient rises to a local maximum after a local minimum when read left to right: the larger critical point is the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Fixing one term of an A.P. (</a:t>
                </a:r>
                <a:r>
                  <a:rPr lang="en-IN" sz="2400">
                    <a:solidFill>
                      <a:srgbClr val="111827"/>
                    </a:solidFill>
                    <a:latin typeface="Cambria Math" panose="02040503050406030204" pitchFamily="18" charset="0"/>
                  </a:rPr>
                  <a:t>$a_6=2$</a:t>
                </a:r>
                <a:r>
                  <a:rPr sz="2400" b="0">
                    <a:solidFill>
                      <a:srgbClr val="111827"/>
                    </a:solidFill>
                    <a:latin typeface="Arial"/>
                  </a:rPr>
                  <a:t>) lets every other term be written as </a:t>
                </a:r>
                <a:r>
                  <a:rPr lang="en-IN" sz="2400">
                    <a:solidFill>
                      <a:srgbClr val="111827"/>
                    </a:solidFill>
                    <a:latin typeface="Cambria Math" panose="02040503050406030204" pitchFamily="18" charset="0"/>
                  </a:rPr>
                  <a:t>$2+(k-6)d$</a:t>
                </a:r>
                <a:r>
                  <a:rPr sz="2400" b="0">
                    <a:solidFill>
                      <a:srgbClr val="111827"/>
                    </a:solidFill>
                    <a:latin typeface="Arial"/>
                  </a:rPr>
                  <a:t>: </a:t>
                </a:r>
                <a:r>
                  <a:rPr lang="en-IN" sz="2400">
                    <a:solidFill>
                      <a:srgbClr val="111827"/>
                    </a:solidFill>
                    <a:latin typeface="Cambria Math" panose="02040503050406030204" pitchFamily="18" charset="0"/>
                  </a:rPr>
                  <a:t>$a_1=2-5d$</a:t>
                </a:r>
                <a:r>
                  <a:rPr sz="2400" b="0">
                    <a:solidFill>
                      <a:srgbClr val="111827"/>
                    </a:solidFill>
                    <a:latin typeface="Arial"/>
                  </a:rPr>
                  <a:t>, </a:t>
                </a:r>
                <a:r>
                  <a:rPr lang="en-IN" sz="2400">
                    <a:solidFill>
                      <a:srgbClr val="111827"/>
                    </a:solidFill>
                    <a:latin typeface="Cambria Math" panose="02040503050406030204" pitchFamily="18" charset="0"/>
                  </a:rPr>
                  <a:t>$a_4=2-2d$</a:t>
                </a:r>
                <a:r>
                  <a:rPr sz="2400" b="0">
                    <a:solidFill>
                      <a:srgbClr val="111827"/>
                    </a:solidFill>
                    <a:latin typeface="Arial"/>
                  </a:rPr>
                  <a:t>, </a:t>
                </a:r>
                <a:r>
                  <a:rPr lang="en-IN" sz="2400">
                    <a:solidFill>
                      <a:srgbClr val="111827"/>
                    </a:solidFill>
                    <a:latin typeface="Cambria Math" panose="02040503050406030204" pitchFamily="18" charset="0"/>
                  </a:rPr>
                  <a:t>$a_5=2-d$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critical points (second derivative or sign chart): a critical point is not automatically the extremum asked for.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of three terms of an A.P. is unbounded as </a:t>
                </a:r>
                <a:r>
                  <a:rPr lang="en-IN" sz="2400">
                    <a:solidFill>
                      <a:srgbClr val="111827"/>
                    </a:solidFill>
                    <a:latin typeface="Cambria Math" panose="02040503050406030204" pitchFamily="18" charset="0"/>
                  </a:rPr>
                  <a:t>$d\to-\infty$</a:t>
                </a:r>
                <a:r>
                  <a:rPr sz="2400" b="0">
                    <a:solidFill>
                      <a:srgbClr val="111827"/>
                    </a:solidFill>
                    <a:latin typeface="Arial"/>
                  </a:rPr>
                  <a:t>, so 'maximises' can only mean a local maximum here.</a:t>
                </a:r>
                <a:endParaRPr sz="2400">
                  <a:solidFill>
                    <a:srgbClr val="111827"/>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1.80</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5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14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 question</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QB 01 Algebra 02</a:t>
                      </a:r>
                    </a:p>
                  </a:txBody>
                  <a:tcPr anchor="ctr" marL="137160" marR="137160">
                    <a:solidFill>
                      <a:srgbClr val="E0ECFF"/>
                    </a:solidFill>
                  </a:tcPr>
                </a:tc>
                <a:tc>
                  <a:txBody>
                    <a:bodyPr/>
                    <a:lstStyle/>
                    <a:p>
                      <a:pPr algn="ctr"/>
                      <a:r>
                        <a:rPr sz="2600" b="1">
                          <a:solidFill>
                            <a:srgbClr val="0B1F3A"/>
                          </a:solidFill>
                          <a:latin typeface="Arial"/>
                        </a:rPr>
                        <a:t>1.80</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