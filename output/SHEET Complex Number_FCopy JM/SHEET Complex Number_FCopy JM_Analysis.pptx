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  <p:sldId id="478" r:id="rId230"/>
    <p:sldId id="479" r:id="rId231"/>
    <p:sldId id="480" r:id="rId232"/>
    <p:sldId id="481" r:id="rId233"/>
    <p:sldId id="482" r:id="rId234"/>
    <p:sldId id="483" r:id="rId235"/>
    <p:sldId id="484" r:id="rId236"/>
    <p:sldId id="485" r:id="rId237"/>
    <p:sldId id="486" r:id="rId238"/>
    <p:sldId id="487" r:id="rId239"/>
    <p:sldId id="488" r:id="rId240"/>
    <p:sldId id="489" r:id="rId241"/>
    <p:sldId id="490" r:id="rId242"/>
    <p:sldId id="491" r:id="rId243"/>
    <p:sldId id="492" r:id="rId244"/>
    <p:sldId id="493" r:id="rId245"/>
    <p:sldId id="494" r:id="rId246"/>
    <p:sldId id="495" r:id="rId247"/>
    <p:sldId id="496" r:id="rId248"/>
    <p:sldId id="497" r:id="rId249"/>
    <p:sldId id="498" r:id="rId250"/>
    <p:sldId id="499" r:id="rId251"/>
    <p:sldId id="500" r:id="rId252"/>
    <p:sldId id="501" r:id="rId253"/>
    <p:sldId id="502" r:id="rId254"/>
    <p:sldId id="503" r:id="rId255"/>
    <p:sldId id="504" r:id="rId256"/>
    <p:sldId id="505" r:id="rId257"/>
    <p:sldId id="506" r:id="rId258"/>
    <p:sldId id="507" r:id="rId259"/>
    <p:sldId id="508" r:id="rId260"/>
    <p:sldId id="509" r:id="rId261"/>
    <p:sldId id="510" r:id="rId262"/>
    <p:sldId id="511" r:id="rId263"/>
    <p:sldId id="512" r:id="rId264"/>
    <p:sldId id="513" r:id="rId265"/>
    <p:sldId id="514" r:id="rId266"/>
    <p:sldId id="515" r:id="rId267"/>
    <p:sldId id="516" r:id="rId268"/>
    <p:sldId id="517" r:id="rId269"/>
    <p:sldId id="518" r:id="rId270"/>
    <p:sldId id="519" r:id="rId271"/>
    <p:sldId id="520" r:id="rId272"/>
    <p:sldId id="521" r:id="rId273"/>
    <p:sldId id="522" r:id="rId274"/>
    <p:sldId id="523" r:id="rId275"/>
    <p:sldId id="524" r:id="rId276"/>
    <p:sldId id="525" r:id="rId277"/>
    <p:sldId id="526" r:id="rId278"/>
    <p:sldId id="527" r:id="rId279"/>
    <p:sldId id="528" r:id="rId280"/>
    <p:sldId id="529" r:id="rId281"/>
    <p:sldId id="530" r:id="rId282"/>
    <p:sldId id="531" r:id="rId283"/>
    <p:sldId id="532" r:id="rId284"/>
    <p:sldId id="533" r:id="rId285"/>
    <p:sldId id="534" r:id="rId286"/>
    <p:sldId id="535" r:id="rId287"/>
    <p:sldId id="536" r:id="rId288"/>
    <p:sldId id="537" r:id="rId289"/>
    <p:sldId id="538" r:id="rId290"/>
    <p:sldId id="539" r:id="rId291"/>
    <p:sldId id="540" r:id="rId292"/>
    <p:sldId id="541" r:id="rId293"/>
    <p:sldId id="542" r:id="rId294"/>
    <p:sldId id="543" r:id="rId295"/>
    <p:sldId id="544" r:id="rId296"/>
    <p:sldId id="545" r:id="rId29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Relationship Id="rId228" Type="http://schemas.openxmlformats.org/officeDocument/2006/relationships/slide" Target="slides/slide221.xml"/><Relationship Id="rId229" Type="http://schemas.openxmlformats.org/officeDocument/2006/relationships/slide" Target="slides/slide222.xml"/><Relationship Id="rId230" Type="http://schemas.openxmlformats.org/officeDocument/2006/relationships/slide" Target="slides/slide223.xml"/><Relationship Id="rId231" Type="http://schemas.openxmlformats.org/officeDocument/2006/relationships/slide" Target="slides/slide224.xml"/><Relationship Id="rId232" Type="http://schemas.openxmlformats.org/officeDocument/2006/relationships/slide" Target="slides/slide225.xml"/><Relationship Id="rId233" Type="http://schemas.openxmlformats.org/officeDocument/2006/relationships/slide" Target="slides/slide226.xml"/><Relationship Id="rId234" Type="http://schemas.openxmlformats.org/officeDocument/2006/relationships/slide" Target="slides/slide227.xml"/><Relationship Id="rId235" Type="http://schemas.openxmlformats.org/officeDocument/2006/relationships/slide" Target="slides/slide228.xml"/><Relationship Id="rId236" Type="http://schemas.openxmlformats.org/officeDocument/2006/relationships/slide" Target="slides/slide229.xml"/><Relationship Id="rId237" Type="http://schemas.openxmlformats.org/officeDocument/2006/relationships/slide" Target="slides/slide230.xml"/><Relationship Id="rId238" Type="http://schemas.openxmlformats.org/officeDocument/2006/relationships/slide" Target="slides/slide231.xml"/><Relationship Id="rId239" Type="http://schemas.openxmlformats.org/officeDocument/2006/relationships/slide" Target="slides/slide232.xml"/><Relationship Id="rId240" Type="http://schemas.openxmlformats.org/officeDocument/2006/relationships/slide" Target="slides/slide233.xml"/><Relationship Id="rId241" Type="http://schemas.openxmlformats.org/officeDocument/2006/relationships/slide" Target="slides/slide234.xml"/><Relationship Id="rId242" Type="http://schemas.openxmlformats.org/officeDocument/2006/relationships/slide" Target="slides/slide235.xml"/><Relationship Id="rId243" Type="http://schemas.openxmlformats.org/officeDocument/2006/relationships/slide" Target="slides/slide236.xml"/><Relationship Id="rId244" Type="http://schemas.openxmlformats.org/officeDocument/2006/relationships/slide" Target="slides/slide237.xml"/><Relationship Id="rId245" Type="http://schemas.openxmlformats.org/officeDocument/2006/relationships/slide" Target="slides/slide238.xml"/><Relationship Id="rId246" Type="http://schemas.openxmlformats.org/officeDocument/2006/relationships/slide" Target="slides/slide239.xml"/><Relationship Id="rId247" Type="http://schemas.openxmlformats.org/officeDocument/2006/relationships/slide" Target="slides/slide240.xml"/><Relationship Id="rId248" Type="http://schemas.openxmlformats.org/officeDocument/2006/relationships/slide" Target="slides/slide241.xml"/><Relationship Id="rId249" Type="http://schemas.openxmlformats.org/officeDocument/2006/relationships/slide" Target="slides/slide242.xml"/><Relationship Id="rId250" Type="http://schemas.openxmlformats.org/officeDocument/2006/relationships/slide" Target="slides/slide243.xml"/><Relationship Id="rId251" Type="http://schemas.openxmlformats.org/officeDocument/2006/relationships/slide" Target="slides/slide244.xml"/><Relationship Id="rId252" Type="http://schemas.openxmlformats.org/officeDocument/2006/relationships/slide" Target="slides/slide245.xml"/><Relationship Id="rId253" Type="http://schemas.openxmlformats.org/officeDocument/2006/relationships/slide" Target="slides/slide246.xml"/><Relationship Id="rId254" Type="http://schemas.openxmlformats.org/officeDocument/2006/relationships/slide" Target="slides/slide247.xml"/><Relationship Id="rId255" Type="http://schemas.openxmlformats.org/officeDocument/2006/relationships/slide" Target="slides/slide248.xml"/><Relationship Id="rId256" Type="http://schemas.openxmlformats.org/officeDocument/2006/relationships/slide" Target="slides/slide249.xml"/><Relationship Id="rId257" Type="http://schemas.openxmlformats.org/officeDocument/2006/relationships/slide" Target="slides/slide250.xml"/><Relationship Id="rId258" Type="http://schemas.openxmlformats.org/officeDocument/2006/relationships/slide" Target="slides/slide251.xml"/><Relationship Id="rId259" Type="http://schemas.openxmlformats.org/officeDocument/2006/relationships/slide" Target="slides/slide252.xml"/><Relationship Id="rId260" Type="http://schemas.openxmlformats.org/officeDocument/2006/relationships/slide" Target="slides/slide253.xml"/><Relationship Id="rId261" Type="http://schemas.openxmlformats.org/officeDocument/2006/relationships/slide" Target="slides/slide254.xml"/><Relationship Id="rId262" Type="http://schemas.openxmlformats.org/officeDocument/2006/relationships/slide" Target="slides/slide255.xml"/><Relationship Id="rId263" Type="http://schemas.openxmlformats.org/officeDocument/2006/relationships/slide" Target="slides/slide256.xml"/><Relationship Id="rId264" Type="http://schemas.openxmlformats.org/officeDocument/2006/relationships/slide" Target="slides/slide257.xml"/><Relationship Id="rId265" Type="http://schemas.openxmlformats.org/officeDocument/2006/relationships/slide" Target="slides/slide258.xml"/><Relationship Id="rId266" Type="http://schemas.openxmlformats.org/officeDocument/2006/relationships/slide" Target="slides/slide259.xml"/><Relationship Id="rId267" Type="http://schemas.openxmlformats.org/officeDocument/2006/relationships/slide" Target="slides/slide260.xml"/><Relationship Id="rId268" Type="http://schemas.openxmlformats.org/officeDocument/2006/relationships/slide" Target="slides/slide261.xml"/><Relationship Id="rId269" Type="http://schemas.openxmlformats.org/officeDocument/2006/relationships/slide" Target="slides/slide262.xml"/><Relationship Id="rId270" Type="http://schemas.openxmlformats.org/officeDocument/2006/relationships/slide" Target="slides/slide263.xml"/><Relationship Id="rId271" Type="http://schemas.openxmlformats.org/officeDocument/2006/relationships/slide" Target="slides/slide264.xml"/><Relationship Id="rId272" Type="http://schemas.openxmlformats.org/officeDocument/2006/relationships/slide" Target="slides/slide265.xml"/><Relationship Id="rId273" Type="http://schemas.openxmlformats.org/officeDocument/2006/relationships/slide" Target="slides/slide266.xml"/><Relationship Id="rId274" Type="http://schemas.openxmlformats.org/officeDocument/2006/relationships/slide" Target="slides/slide267.xml"/><Relationship Id="rId275" Type="http://schemas.openxmlformats.org/officeDocument/2006/relationships/slide" Target="slides/slide268.xml"/><Relationship Id="rId276" Type="http://schemas.openxmlformats.org/officeDocument/2006/relationships/slide" Target="slides/slide269.xml"/><Relationship Id="rId277" Type="http://schemas.openxmlformats.org/officeDocument/2006/relationships/slide" Target="slides/slide270.xml"/><Relationship Id="rId278" Type="http://schemas.openxmlformats.org/officeDocument/2006/relationships/slide" Target="slides/slide271.xml"/><Relationship Id="rId279" Type="http://schemas.openxmlformats.org/officeDocument/2006/relationships/slide" Target="slides/slide272.xml"/><Relationship Id="rId280" Type="http://schemas.openxmlformats.org/officeDocument/2006/relationships/slide" Target="slides/slide273.xml"/><Relationship Id="rId281" Type="http://schemas.openxmlformats.org/officeDocument/2006/relationships/slide" Target="slides/slide274.xml"/><Relationship Id="rId282" Type="http://schemas.openxmlformats.org/officeDocument/2006/relationships/slide" Target="slides/slide275.xml"/><Relationship Id="rId283" Type="http://schemas.openxmlformats.org/officeDocument/2006/relationships/slide" Target="slides/slide276.xml"/><Relationship Id="rId284" Type="http://schemas.openxmlformats.org/officeDocument/2006/relationships/slide" Target="slides/slide277.xml"/><Relationship Id="rId285" Type="http://schemas.openxmlformats.org/officeDocument/2006/relationships/slide" Target="slides/slide278.xml"/><Relationship Id="rId286" Type="http://schemas.openxmlformats.org/officeDocument/2006/relationships/slide" Target="slides/slide279.xml"/><Relationship Id="rId287" Type="http://schemas.openxmlformats.org/officeDocument/2006/relationships/slide" Target="slides/slide280.xml"/><Relationship Id="rId288" Type="http://schemas.openxmlformats.org/officeDocument/2006/relationships/slide" Target="slides/slide281.xml"/><Relationship Id="rId289" Type="http://schemas.openxmlformats.org/officeDocument/2006/relationships/slide" Target="slides/slide282.xml"/><Relationship Id="rId290" Type="http://schemas.openxmlformats.org/officeDocument/2006/relationships/slide" Target="slides/slide283.xml"/><Relationship Id="rId291" Type="http://schemas.openxmlformats.org/officeDocument/2006/relationships/slide" Target="slides/slide284.xml"/><Relationship Id="rId292" Type="http://schemas.openxmlformats.org/officeDocument/2006/relationships/slide" Target="slides/slide285.xml"/><Relationship Id="rId293" Type="http://schemas.openxmlformats.org/officeDocument/2006/relationships/slide" Target="slides/slide286.xml"/><Relationship Id="rId294" Type="http://schemas.openxmlformats.org/officeDocument/2006/relationships/slide" Target="slides/slide287.xml"/><Relationship Id="rId295" Type="http://schemas.openxmlformats.org/officeDocument/2006/relationships/slide" Target="slides/slide288.xml"/><Relationship Id="rId296" Type="http://schemas.openxmlformats.org/officeDocument/2006/relationships/slide" Target="slides/slide289.xml"/><Relationship Id="rId297" Type="http://schemas.openxmlformats.org/officeDocument/2006/relationships/slide" Target="slides/slide29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Sheet1!$A$2:$A$51</c:f>
              <c:strCache>
                <c:ptCount val="5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  <c:pt idx="24">
                  <c:v>Q25</c:v>
                </c:pt>
                <c:pt idx="25">
                  <c:v>Q26</c:v>
                </c:pt>
                <c:pt idx="26">
                  <c:v>Q27</c:v>
                </c:pt>
                <c:pt idx="27">
                  <c:v>Q28</c:v>
                </c:pt>
                <c:pt idx="28">
                  <c:v>Q29</c:v>
                </c:pt>
                <c:pt idx="29">
                  <c:v>Q30</c:v>
                </c:pt>
                <c:pt idx="30">
                  <c:v>Q31</c:v>
                </c:pt>
                <c:pt idx="31">
                  <c:v>Q32</c:v>
                </c:pt>
                <c:pt idx="32">
                  <c:v>Q33</c:v>
                </c:pt>
                <c:pt idx="33">
                  <c:v>Q34</c:v>
                </c:pt>
                <c:pt idx="34">
                  <c:v>Q35</c:v>
                </c:pt>
                <c:pt idx="35">
                  <c:v>Q36</c:v>
                </c:pt>
                <c:pt idx="36">
                  <c:v>Q37</c:v>
                </c:pt>
                <c:pt idx="37">
                  <c:v>Q38</c:v>
                </c:pt>
                <c:pt idx="38">
                  <c:v>Q39</c:v>
                </c:pt>
                <c:pt idx="39">
                  <c:v>Q40</c:v>
                </c:pt>
                <c:pt idx="40">
                  <c:v>Q41</c:v>
                </c:pt>
                <c:pt idx="41">
                  <c:v>Q42</c:v>
                </c:pt>
                <c:pt idx="42">
                  <c:v>Q43</c:v>
                </c:pt>
                <c:pt idx="43">
                  <c:v>Q44</c:v>
                </c:pt>
                <c:pt idx="44">
                  <c:v>Q45</c:v>
                </c:pt>
                <c:pt idx="45">
                  <c:v>Q46</c:v>
                </c:pt>
                <c:pt idx="46">
                  <c:v>Q47</c:v>
                </c:pt>
                <c:pt idx="47">
                  <c:v>Q48</c:v>
                </c:pt>
                <c:pt idx="48">
                  <c:v>Q49</c:v>
                </c:pt>
                <c:pt idx="49">
                  <c:v>Q50</c:v>
                </c:pt>
              </c:strCache>
            </c: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2.0</c:v>
                </c:pt>
                <c:pt idx="1">
                  <c:v>2.0</c:v>
                </c:pt>
                <c:pt idx="2">
                  <c:v>1.0</c:v>
                </c:pt>
                <c:pt idx="3">
                  <c:v>1.0</c:v>
                </c:pt>
                <c:pt idx="4">
                  <c:v>2.0</c:v>
                </c:pt>
                <c:pt idx="5">
                  <c:v>2.0</c:v>
                </c:pt>
                <c:pt idx="6">
                  <c:v>1.0</c:v>
                </c:pt>
                <c:pt idx="7">
                  <c:v>1.0</c:v>
                </c:pt>
                <c:pt idx="8">
                  <c:v>1.0</c:v>
                </c:pt>
                <c:pt idx="9">
                  <c:v>2.0</c:v>
                </c:pt>
                <c:pt idx="10">
                  <c:v>3.0</c:v>
                </c:pt>
                <c:pt idx="11">
                  <c:v>3.0</c:v>
                </c:pt>
                <c:pt idx="12">
                  <c:v>2.0</c:v>
                </c:pt>
                <c:pt idx="13">
                  <c:v>2.0</c:v>
                </c:pt>
                <c:pt idx="14">
                  <c:v>2.0</c:v>
                </c:pt>
                <c:pt idx="15">
                  <c:v>2.0</c:v>
                </c:pt>
                <c:pt idx="16">
                  <c:v>1.0</c:v>
                </c:pt>
                <c:pt idx="17">
                  <c:v>2.0</c:v>
                </c:pt>
                <c:pt idx="18">
                  <c:v>2.0</c:v>
                </c:pt>
                <c:pt idx="19">
                  <c:v>2.0</c:v>
                </c:pt>
                <c:pt idx="20">
                  <c:v>3.0</c:v>
                </c:pt>
                <c:pt idx="21">
                  <c:v>2.0</c:v>
                </c:pt>
                <c:pt idx="22">
                  <c:v>3.0</c:v>
                </c:pt>
                <c:pt idx="23">
                  <c:v>3.0</c:v>
                </c:pt>
                <c:pt idx="24">
                  <c:v>3.0</c:v>
                </c:pt>
                <c:pt idx="25">
                  <c:v>1.0</c:v>
                </c:pt>
                <c:pt idx="26">
                  <c:v>2.0</c:v>
                </c:pt>
                <c:pt idx="27">
                  <c:v>2.0</c:v>
                </c:pt>
                <c:pt idx="28">
                  <c:v>1.0</c:v>
                </c:pt>
                <c:pt idx="29">
                  <c:v>2.0</c:v>
                </c:pt>
                <c:pt idx="30">
                  <c:v>2.0</c:v>
                </c:pt>
                <c:pt idx="31">
                  <c:v>3.0</c:v>
                </c:pt>
                <c:pt idx="32">
                  <c:v>1.0</c:v>
                </c:pt>
                <c:pt idx="33">
                  <c:v>2.0</c:v>
                </c:pt>
                <c:pt idx="34">
                  <c:v>3.0</c:v>
                </c:pt>
                <c:pt idx="35">
                  <c:v>2.0</c:v>
                </c:pt>
                <c:pt idx="36">
                  <c:v>2.0</c:v>
                </c:pt>
                <c:pt idx="37">
                  <c:v>3.0</c:v>
                </c:pt>
                <c:pt idx="38">
                  <c:v>3.0</c:v>
                </c:pt>
                <c:pt idx="39">
                  <c:v>2.0</c:v>
                </c:pt>
                <c:pt idx="40">
                  <c:v>2.0</c:v>
                </c:pt>
                <c:pt idx="41">
                  <c:v>2.0</c:v>
                </c:pt>
                <c:pt idx="42">
                  <c:v>2.0</c:v>
                </c:pt>
                <c:pt idx="43">
                  <c:v>3.0</c:v>
                </c:pt>
                <c:pt idx="44">
                  <c:v>2.0</c:v>
                </c:pt>
                <c:pt idx="45">
                  <c:v>2.0</c:v>
                </c:pt>
                <c:pt idx="46">
                  <c:v>2.0</c:v>
                </c:pt>
                <c:pt idx="47">
                  <c:v>2.0</c:v>
                </c:pt>
                <c:pt idx="48">
                  <c:v>3.0</c:v>
                </c:pt>
                <c:pt idx="4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4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solution begins with $(1+\sqrt3 i)^{200}$ although the question has $(1-\sqrt3 i)^{200}$, and so gets $p=-1,\ q=\sqrt3$. The correct values are $p=-1,\ q=-\sqrt3$ (the sign of $q$ flips). The two roots $2\pm\sqrt3$ are only interchanged, so the answer (B)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goes from $y_1y_2=-x_1^2$ straight to 'opposite signs'. That needs $x_1\neq0$ (otherwise $y_1y_2=0$ and one number would be $0$). Added this step; the answer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own last lines show that for $a=-b$ there are infinitely many solutions (the hyperbola $x^2-y^2-x=1$), yet the key is $0$. The answer $0$ is correct only for $a\neq\pm b$ (generic $a,b$). Kept the key (D) and made the restriction explicit. The question as printed does not exclude $a=-b$, so it is not fully well posed.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applies the diameter-circle identity $|z-z_1|^2+|z-z_2|^2=|z_1-z_2|^2$, which holds only when $2\lambda=|\alpha-\beta|^2$; that assumption is not given. Its answer 2 is right, but the working is not justified (the answer is independent of $\lambda$). Replaced by the general identity.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stops after writing the line $2x-y+2=0$; it does not explain why the centre is $(1,2)$ rather than $(1,0)$, does not compute the chord $AB$ and never reaches $30(AB)^2=24$. Added the missing steps; the answer 24 agrees with the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PDF has no usable solution for this question; the solution was written by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says '$\omega,\omega^2$ are the roots of the first equation' without verifying it, and never factors the cubic or tests its third root $-1$ (needed to rule out a third common root). Added both checks; the answer $2$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One line of the PDF's expansion has a typo: it writes $24\alpha^5$ instead of $\binom75=21$ (the next line uses $21$ correctly). Corrected the coefficient; the final values $A=43,B=43,C=42$ and the answer $5$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Typo in the PDF: in the expansion of $|z_1-2z_2|^2$ its first term is printed as $|z_2|^2$; it should be $|z_1|^2$ (the next lines use the right quantity). Corrected; the answer (C)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Complex Number (Exercise J-M)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Sheet JM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single-correct)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roots of the equation: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$\left(1-\sqrt3 i\right)^{200}=2^{199}(p+iq)$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$i=\sqrt{-1}$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$p+q+q^2$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$p-q+q^2$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roots of the equation: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$x^2+4x+1=0$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$x^2+4x-1=0$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Powers of complex numbers (De Moivre's theorem), Quadratic equation from its roots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polar form so that the 200th power only needs the exponent reduced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$1-\sqrt3 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polar form so that the 200th power only needs the exponent reduced modulo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200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200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199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$1-\sqrt3 i=2\left(\frac12-\frac{\sqrt3}{2}i\right)=2\left(\cos\frac{\pi}{3}-i\sin\frac{\pi}{3}\right)=2e^{-i\pi/3}$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$\left(1-\sqrt3 i\right)^{200}=2^{200}\left(\cos\frac{200\pi}{3}-i\sin\frac{200\pi}{3}\right)$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$\frac{200\pi}{3}=66\pi+\frac{2\pi}{3}$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$\cos\frac{200\pi}{3}=-\frac12$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$\sin\frac{200\pi}{3}=\frac{\sqrt3}{2}$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$\left(1-\sqrt3 i\right)^{200}=2^{200}\left(-\frac12-\frac{\sqrt3}{2}i\right)=2^{199}\left(-1-\sqrt3 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$2^{199}(p+iq)$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$p+q+q^2=-1-\sqrt3+3=2-\sqrt3$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$p-q+q^2=-1+\sqrt3+3=2+\sqrt3$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$=(2-\sqrt3)(2+\sqrt3)=1$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$x^2-4x+1=0$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power reduces through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$1-\sqrt3 i=-2\omega$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$\omega=e^{2\pi i/3}$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power reduces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$\omega^3=1$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$\omega=\frac{-1+\sqrt3 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$1-\sqrt3 i=-2\omega$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$\left(1-\sqrt3 i\right)^{200}=2^{200}\omega^{200}$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$(-2)^{200}=2^{200}$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$200=3\cdot66+2$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$\omega^{200}=\omega^2=\frac{-1-\sqrt3 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199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matter: 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sum 4 and product 1,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$\left(1-\sqrt3 i\right)^{200}=2^{199}\left(-1-\sqrt3 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matter: 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$p+q^2\pm q=2\pm\sqrt3$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sum 4 and product 1,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$x^2-4x+1=0$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 only in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their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their product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$1+\sqrt3 i=-2\omega^2$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$1-\sqrt3 i=-2\omega$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$\omega=e^{2\pi 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$(1\pm\sqrt3 i)^n=(-2)^n\omega^{\pm 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 \bmod 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$\left(1+\sqrt3 i\right)^n+\left(1-\sqrt3 i\right)^n=2^{n+1}\cos\frac{n\pi}{3}$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$(-2+2\sqrt3i)+(-2-2\sqrt3 i)=-4=2^3\cos\frac{2\pi}{3}$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$p+q^2\pm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 only in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their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$2(p+q^2)$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their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$(p+q^2)^2-q^2$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42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den>
                                </m:f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den>
                                </m:f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42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$\left(\frac{1+\sin\frac{2\pi}{9}+i\cos\frac{2\pi}{9}}{1+\sin\frac{2\pi}{9}-i\cos\frac{2\pi}{9}}\right)^3$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$-\frac12\left(\sqrt3-i\right)$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$-\frac12\left(1-i\sqrt3\right)$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$\frac12\left(1-i\sqrt3\right)$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$\frac12\left(\sqrt3+i\right)$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Modulus, conjugate and polar form of a complex number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cube is just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$|z|=1$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$\bar z=\frac1z$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$\frac{1+z}{1+\bar z}=z$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cube is just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denominator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$z=\sin\frac{2\pi}{9}+i\cos\frac{2\pi}{9}$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z=\frac1z$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denominator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required value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$\frac{1+z}{1+\bar z}=\frac{1+z}{1+\frac1z}=z$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required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$z=i\left(\cos\frac{2\pi}{9}-i\sin\frac{2\pi}{9}\right)$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$i\cos\theta+\sin\theta=i(\cos\theta-i\sin\theta)$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$z^3=i^3\left(\cos\frac{2\pi}{3}-i\sin\frac{2\pi}{3}\right)=-i\left(-\frac12-i\frac{\sqrt3}{2}\right)$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 i2+\frac{\sqrt3}{2}i^2=-\frac{\sqrt3}{2}+\frac i2=-\frac12\left(\sqrt3-i\right)$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$-\frac12\left(\sqrt3-i\right)$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number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the half-angle factorisation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number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$e^{i\varphi}$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the half-angle factorisation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$1+e^{i\varphi}=2\cos\frac\varphi2\,e^{i\varphi/2}$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$\sin\frac{2\pi}{9}+i\cos\frac{2\pi}{9}=e^{i\varphi}$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$\varphi=\frac\pi2-\frac{2\pi}{9}=\frac{5\pi}{18}$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$1+e^{i\varphi}=2\cos\frac\varphi2\,e^{i\varphi/2}$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$1+e^{-i\varphi}=2\cos\frac\varphi2\,e^{-i\varphi/2}$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Dividing, the ratio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common real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Cube: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Dividing, the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$e^{i\varphi}$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common real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$2\cos\frac\varphi2\ne0$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Cube: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$e^{3i\varphi}=e^{5i\pi/6}=\cos150^\circ+i\sin150^\circ=-\frac{\sqrt3}{2}+\frac i2=-\frac12\left(\sqrt3-i\right)$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$-\frac12\left(\sqrt3-i\right)$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φ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φ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swapping sine and cosine reflects the angle about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standard half-angle factorisations.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$\frac{1+z}{1+\bar z}=z$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$\frac{1+e^{i\varphi}}{1+e^{-i\varphi}}=e^{i\varphi}$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$\cos\frac\varphi2\ne0$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$\sin\theta+i\cos\theta=ie^{-i\theta}=e^{i(\pi/2-\theta)}$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swapping sine and cosine reflects the angle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$1+e^{i\varphi}=2\cos\frac\varphi2\,e^{i\varphi/2}$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$1-e^{i\varphi}=-2i\sin\frac\varphi2\,e^{i\varphi/2}$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standard half-angle factorisations.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a: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straight line with the sum of its intercepts on the coordinate axes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hyperbola with eccentricity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straight line with the sum of its intercepts on the coordinate axes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hyperbola with the length of the transverse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$z_1=2+3i$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$z_2=3+4i$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$S=\left\{z\in\mathbb{C}:|z-z_1|^2-|z-z_2|^2=|z_1-z_2|^2\right\}$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a: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straight line with the sum of its intercepts on the coordinate axes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$-18$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hyperbola with eccentricity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straight line with the sum of its intercepts on the coordinate axes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hyperbola with the length of the transverse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 of a complex number (straight line)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squares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 in the difference, so the locus is a straight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squares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 in the difference, so the locus is a straight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$|z-z_1|^2=(x-2)^2+(y-3)^2$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$|z-z_2|^2=(x-3)^2+(y-4)^2$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$|z_1-z_2|^2=1^2+1^2=2$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$\left[(x-2)^2+(y-3)^2\right]-\left[(x-3)^2+(y-4)^2\right]=1+1$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straight line, so the hyperbola options (B), (D) are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Intercepts: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-axis; their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$(-4x-6y+13)-(-6x-8y+25)=2x+2y-12$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$2x+2y-12=2$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straight line, so the hyperbola options (B), (D) are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Intercepts: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-axis; their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straight line with the sum of its intercepts on the coordinate axes equal to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straight line with the sum of its intercepts on the coordinate axes equal to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locus and the locus is perpendicular to the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line is fixed without any expansion.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locus and the locus is perpendicular to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$z_1z_2$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line is fixed without any expansion.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cancel, so the locus is a line; it is perpendicular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difference of squared distances changes only along that direction).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equation.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cancel, so the locus is a line; it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difference of squared distances changes only along that direction).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$|z_2-z_1|^2-0=|z_1-z_2|^2$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$z_2=3+4i$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equation.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direction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locus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intercepts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direction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locus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intercepts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straight line with the sum of its intercepts on the coordinate axes equal to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straight line with the sum of its intercepts on the coordinate axes equal to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a straight line perpendicular to the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quadratic terms cancel);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perpendicular bisector.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contrast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circle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 (Pythagoras / Thales);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$|z-a|^2-|z-b|^2=k$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a straight line perpendicular to the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quadratic terms cancel);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perpendicular bisector.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$k=|a-b|^2$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$k=-|a-b|^2$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contrast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$|z-a|^2+|z-b|^2=|a-b|^2$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 (Pythagoras / Thales);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$|z-a|=k|z-b|$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complex number such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centre: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complex number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$\left|\frac{z-2i}{z+i}\right|=2$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$z\neq-i$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centre: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 of a complex number (circle of Apollonius)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constant ratio of distances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circle; square the modulus and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constant ratio of distances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$\ne1$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circle; square the modulus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$|w|^2=w\bar 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$\left|\frac{z-2i}{z+i}\right|=2\Rightarrow|z-2i|^2=4|z+i|^2$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$(z-2i)(\bar z+2i)=4(z+i)(\bar z-i)$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$z\bar z+4+2i(z-\bar z)=4\left(z\bar z+1+i(\bar z-z)\right)$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$3z\bar z-6i(z-\bar z)=0$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$z\bar z-2i(z-\bar z)=0$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$z-\bar z=2iy$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$x^2+y^2-2i(2iy)=0$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$x^2+y^2+4y=0\Rightarrow x^2+(y+2)^2=4$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$(0,-2)$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ends of a diameter of an Apollonius circle divide the segment joining the two fixed points internally and externally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ends of a diameter of an Apollonius circle divide the segment joining the two fixed points internally and externally in the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$2:1$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Fixed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locus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Internal point: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Fixed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locus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$PA=2PB$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Internal 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$P_1=\frac{1\cdot A+2\cdot B}{3}=\frac{2i-2i}{3}=0$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External point: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lies beyond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diameter: centre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agrees with the given radius.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External 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$P_2=2B-A=-2i-2i=-4i$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lies beyond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$P_2A=2P_2B$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$P_1P_2$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$\frac{0-4i}{2}=-2i$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$\frac{4}{2}=2$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agrees with the given radius.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$(0,-2)$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diameter ends divide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and externally; centre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locus is the perpendicular bisector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check: the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circle must enclose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exclude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confirm this.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$|z-a|=k|z-b|$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diameter ends divide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and externally;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$\frac{a-k^2b}{1-k^2}$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$\frac{k|a-b|}{|1-k^2|}$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$\frac{2i+4i}{-3}=-2i$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$\frac{2\cdot3}{3}=2$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locus is the perpendicular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check: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$\frac{|z-A|}{|z-B|}$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circle must enclose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exclude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$|{-i}-(-2i)|=1&lt;2$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$|2i-(-2i)|=4&gt;2$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confirm this.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1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two non-zero complex numbers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are possible?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 and C   (B) B and D   (C) A and B   (D) A and C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1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two non-zero complex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$\mathrm{Re}(z_1z_2)=0$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$\mathrm{Re}(z_1+z_2)=0$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are possible?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$\mathrm{Im}(z_1)&gt;0$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$\mathrm{Im}(z_2)&gt;0$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$\mathrm{Im}(z_1)&lt;0$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$\mathrm{Im}(z_2)&gt;0$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$\mathrm{Im}(z_1)&gt;0$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$\mathrm{Im}(z_2)&lt;0$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$\mathrm{Im}(z_1)&lt;0$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$\mathrm{Im}(z_2)&lt;0$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 and C   (B) B and D   (C) A and B   (D) A and C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Real and imaginary parts of complex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conditions give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imaginary parts have opposite signs.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conditions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$y_1y_2=-x_1^2&lt;0$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imaginary parts have opposite signs.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$z_1=x_1+iy_1$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$z_2=x_2+iy_2$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$\mathrm{Re}(z_1z_2)=0$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$x_1x_2-y_1y_2=0$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$\mathrm{Re}(z_1+z_2)=0$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$x_1+x_2=0$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(ii),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substituting in (i):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(i)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excluded.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opposite signs.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B and C are possible while A and D are impossible; option (A) 'B and C'. (Example: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(ii),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$x_2=-x_1$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substituting in (i):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$-x_1^2-y_1y_2=0$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$y_1y_2=-x_1^2$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(i)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$y_1y_2=0$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excluded.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$y_1y_2=-x_1^2&lt;0$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$\mathrm{Im}(z_1)$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$\mathrm{Im}(z_2)$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opposite signs.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B and C are possible while A and D are impossible; option (A) 'B and C'. (Example: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$z_1=1+i$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$z_2=-1-i$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B and C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Polar form: the argument condition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sign pattern of the cosines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cannot both hold when the imaginary parts have the same sign.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Polar form: the argument condition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$\mathrm{Re}(z_1z_2)=0$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sign pattern of the cosines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$\mathrm{Re}(z_1+z_2)=0$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cannot both hold when the imaginary parts have the same sign.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both imaginary parts are positive: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both angles lie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contradiction.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$z_k=r_ke^{i\theta_k}$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$\mathrm{Re}(z_1z_2)=0\Rightarrow\cos(\theta_1+\theta_2)=0\Rightarrow\theta_1+\theta_2=\frac\pi2$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$\frac{3\pi}{2}\pmod{2\pi}$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both imaginary parts are positive: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$\theta_1,\theta_2\in(0,\pi)$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$\theta_1+\theta_2\in(0,2\pi)$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$\theta_1+\theta_2=\frac\pi2$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both angles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$\cos\theta_1,\cos\theta_2&gt;0$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$\mathrm{Re}(z_1+z_2)=r_1\cos\theta_1+r_2\cos\theta_2&gt;0$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contradiction.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each angle exceeds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each is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both cosines are negative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contradiction. So A is impossible; D is the mirror image.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Opposite signs are realised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B and C are possible: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$\theta_1+\theta_2=\frac{3\pi}{2}$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each angle exceeds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each is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both cosines are negative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$\mathrm{Re}(z_1+z_2)&lt;0$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contradiction. So A is impossible; D is the mirror image.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Opposite signs are realised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$z_1=1+i,\ z_2=-1-i$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$z_1z_2=-2i$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$z_1+z_2=0$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B and C are possible: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B and C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product is purely imaginary exactly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numbers are mirror images in the imaginary axis, up to height);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test of such 'possible?' options: use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the product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purely imaginary when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$\mathrm{Re}(z_1z_2)=x_1x_2-y_1y_2$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product is purely imaginary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 z_1+\arg z_2\equiv\frac\pi2\pmod\pi$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$\mathrm{Re}(z_1+z_2)=0$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$x_2=-x_1$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numbers are mirror images in the imaginary axis, up to height);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$y_1y_2=-x_1^2\le0$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test of such 'possible?' options: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$z_2=-z_1$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the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$-z_1^2$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purely imaginary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curve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the locus of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curve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curves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curve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curve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curves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$z\in\mathbb{C}$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$C_1:|z|=4$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the locus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$z+\frac1z$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Locus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circle (ellipse), Intersection of a circle and an ellipse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$z+\frac1z$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circle (ellipse), Intersection of a circle and an ellipse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traces an ellipse with semi-axes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compare them with the circle's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$|z|=4$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$z+\frac1z$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traces an ellipse with semi-axes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$\frac{17}{4}$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$\frac{15}{4}$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compare them with the circle's radius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605272"/>
                <a:ext cx="10725912" cy="106984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605272"/>
                <a:ext cx="10725912" cy="106984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$z=4(\cos\theta+i\sin\theta)$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$\frac1z=\frac14(\cos\theta-i\sin\theta)$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$z+\frac1z=\frac{17}{4}\cos\theta+i\,\frac{15}{4}\sin\theta$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$\frac{x^2}{(17/4)^2}+\frac{y^2}{(15/4)^2}=1$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semi-axis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(ellipse outside the circle there) and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(ellipse inside the circle there).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curves cross; by symmetry about both axes there is one crossing in each quadrant,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of intersection: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semi-axis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$\frac{17}{4}&gt;4$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(ellipse outside the circle there) and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$\frac{15}{4}&lt;4$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(ellipse inside the circle there).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curves cross; by symmetry about both axes there is one crossing in each quadrant,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of intersection: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the curves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intersect at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points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the curves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intersect at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points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intersections as the 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intersections as the solutions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$\theta\in[0,2\pi)$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$|w|^2=16$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$w=z+\frac1z$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$w=\frac{17}{4}\cos\theta+i\frac{15}{4}\sin\theta$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$|w|^2=\frac{289}{16}\cos^2\theta+\frac{225}{16}\sin^2\theta=\frac{225}{16}+4\cos^2\theta$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$|w|^2=16$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$4\cos^2\theta=\frac{31}{16}$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$\cos^2\theta=\frac{31}{64}$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with two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four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one-to-one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are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intersection points,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$\cos\theta=\pm\frac{\sqrt{31}}{8}$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with two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four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$\theta\mapsto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one-to-one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are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intersection points,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the curves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intersect at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points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the curves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intersect at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points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ellipse with semi-axes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direction)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(imaginary direction), foci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degenerates to the segment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confocal ellipse with foci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centred at the centre of an ellipse meets it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$z\mapsto z+\frac1z$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ellipse with semi-axes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$r+\frac1r$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direction)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$\left|r-\frac1r\right|$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(imaginary direction), foci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degenerates to the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$z-\frac1z$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confocal ellipse with foci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centred at the centre of an ellipse meets it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$b&lt;R&lt;a$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$b&lt;4&lt;a$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$3.75&lt;4&lt;4.25$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numerical type)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num>
                      <m:den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$z_1=\frac{1+i\bar z}{\bar z(1-z)+\frac1z}$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$\frac{12}{\pi}\arg(z_1)$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Argument of a complex number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rationalise carefully; the quotient simplifies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$z=1+i$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rationalise carefully; the quotient simplifies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$-1+i$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z=1-i$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$\frac1z=\frac{1-i}{2}$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$1+i\bar z=1+i(1-i)=1+i-i^2=2+i$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z(1-z)=(1-i)(-i)=-i+i^2=-1-i$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$-1-i+\frac{1-i}{2}=\frac{-2-2i+1-i}{2}=\frac{-1-3i}{2}$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numerator and denominator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conjugate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second quadrant,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$z_1=\frac{2+i}{\frac{-1-3i}{2}}=\frac{4+2i}{-1-3i}$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$-1+3i$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conjugate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$-1-3i$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$z_1=\frac{(4+2i)(-1+3i)}{10}=\frac{-4+12i-2i-6}{10}=-1+i$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second quadrant,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 z_1=\frac{3\pi}{4}$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$\frac{12}{\pi}\arg(z_1)=\frac{12}{\pi}\cdot\frac{3\pi}{4}=9$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replace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simplify the expression before substituting.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$z\bar z=|z|^2=2$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replace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$\bar 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$\frac2z$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simplify the expression before substituting.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z=\frac2z$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$1+i\bar z=1+\frac{2i}{z}=\frac{z+2i}{z}$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z(1-z)+\frac1z=\frac{2(1-z)+1}{z}=\frac{3-2z}{z}$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$z_1=\frac{z+2i}{3-2z}=\frac{1+3i}{1-2i}=\frac{(1+3i)(1+2i)}{5}=\frac{-5+5i}{5}=-1+i$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 z_1=\frac{3\pi}{4}$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$\frac{12}{\pi}\arg z_1=9$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a mixed expression becomes a rational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here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angle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fix the quadrant by the signs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quoting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$\frac{|z|^2}{z}$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a mixed expression becomes a rational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$\arg\frac{a}{b}=\arg a-\arg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$\tan^{-1}3+\tan^{-1}2=\frac{3\pi}{4}$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$\tan(\cdot)=\frac{3+2}{1-6}=-1$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angle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$\left(\frac\pi2,\pi\right)$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$a+ib$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fix the quadrant by the signs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quoting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Q08 – Q10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single-correct)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2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complex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2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complex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$z=\frac{i-1}{\cos\frac\pi3+i\sin\frac\pi3}$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$\cos\frac\pi{12}-i\sin\frac\pi{12}$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$\sqrt2i\left(\cos\frac{5\pi}{12}-i\sin\frac{5\pi}{12}\right)$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$\sqrt2\left(\cos\frac{5\pi}{12}+i\sin\frac{5\pi}{12}\right)$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$\sqrt2\left(\cos\frac{\pi}{12}+i\sin\frac{\pi}{12}\right)$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9137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Polar form and division of complex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Write numerator and denominator in exponential form and subtract the arguments.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modulus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argument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(second quadrant):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$i-1=-1+i$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modulus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argument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(second quadrant):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$i-1=\sqrt2e^{i3\pi/4}$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$\cos\frac\pi3+i\sin\frac\pi3=e^{i\pi/3}$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$z=\frac{\sqrt2e^{i3\pi/4}}{e^{i\pi/3}}=\sqrt2e^{i\left(\frac{3\pi}{4}-\frac{\pi}{3}\right)}=\sqrt2e^{i5\pi/12}$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$z=\sqrt2\left(\cos\frac{5\pi}{12}+i\sin\frac{5\pi}{12}\right)$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$\sqrt2\left(\cos\frac{5\pi}{12}+i\sin\frac{5\pi}{12}\right)$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algebraically (multiply by the conjugate of the denominator) and match the result with the exact values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algebraically (multiply by the conjugate of the denominator) and match the result with the exact values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$\cos75^\circ$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$\sin75^\circ$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$\frac{1}{\cos\frac\pi3+i\sin\frac\pi3}=\frac12-\frac{\sqrt3}{2}i$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$z=(i-1)\left(\frac12-\frac{\sqrt3}{2}i\right)=\frac{(i-1)(1-\sqrt3 i)}{2}$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$(i-1)(1-\sqrt3 i)=i-\sqrt3 i^2-1+\sqrt3 i=(\sqrt3-1)+(1+\sqrt3)i$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$z=\frac{\sqrt3-1}{2}+\frac{\sqrt3+1}{2}i$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match the real and imaginary parts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option (C) holds.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$\cos\frac{5\pi}{12}=\frac{\sqrt6-\sqrt2}{4}$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$\sin\frac{5\pi}{12}=\frac{\sqrt6+\sqrt2}{4}$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$\sqrt2\cos\frac{5\pi}{12}=\frac{\sqrt3-1}{2}$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$\sqrt2\sin\frac{5\pi}{12}=\frac{\sqrt3+1}{2}$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match the real and imaginary parts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option (C) holds.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$\sqrt2\left(\cos\frac{5\pi}{12}+i\sin\frac{5\pi}{12}\right)$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subtracts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argument and divides moduli: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forms: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 can be pruned by modulus first: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rejects (A), which has modulus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subtracts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argument and divides moduli: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$\frac{r_1e^{i\theta_1}}{r_2e^{i\theta_2}}=\frac{r_1}{r_2}e^{i(\theta_1-\theta_2)}$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forms: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$1+i=\sqrt2e^{i\pi/4}$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$i-1=\sqrt2e^{i3\pi/4}$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$1-i=\sqrt2e^{-i\pi/4}$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$\cos75^\circ=\frac{\sqrt6-\sqrt2}{4}$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$\sin75^\circ=\frac{\sqrt6+\sqrt2}{4}$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 can be pruned by modulus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rejects (A), which has modulus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centre and radius of the circle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respectively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centre and radius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$\left|\frac{z-2}{z-3}\right|=2$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respectively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$3(\alpha+\beta+\gamma)$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 in the complex plane (circle of Apollonius)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Cross-multiply, expand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the centre and radius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Cross-multiply, expand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$z\bar 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the centre and radius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$z\bar z+\bar az+a\bar z+c=0$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$\left|\frac{z-2}{z-3}\right|=2\Rightarrow(z-2)(\bar z-2)=4(z-3)(\bar z-3)$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$z\bar z-2z-2\bar z+4=4z\bar z-12z-12\bar z+36$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$3z\bar z-10z-10\bar z+32=0$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$z\bar z-\frac{10}{3}z-\frac{10}{3}\bar z+\frac{32}{3}=0$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$z\bar z+\bar az+a\bar z+c=0$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$a=-\frac{10}{3}$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$c=\frac{32}{3}$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$=-a=\left(\frac{10}{3},0\right)$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$\alpha=\frac{10}{3}$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$\gamma=\sqrt{|a|^2-c}=\sqrt{\frac{100}{9}-\frac{32}{3}}=\sqrt{\frac49}=\frac23$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$3(\alpha+\beta+\gamma)=3\left(\frac{10}{3}+0+\frac23\right)=12$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ends of the diameter are the internal and external points dividing the segment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ends of the diameter are the internal and external points dividing the segment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$2:1$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Fixed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locus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Internal point: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External point: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Fixed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$PA=2PB$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Internal 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$\frac{1\cdot2+2\cdot3}{3}=\frac83$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External 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$2\cdot3-2=4$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are the ends of a diameter on the real axis: centre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are the ends of a diameter on the real axis: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$\frac{8/3+4}{2}=\frac{10}{3}$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$\frac{4-8/3}{2}=\frac23$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$3\left(\frac{10}{3}+0+\frac23\right)=12$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the centre and the diameter lie on the real axis, so the diameter-end method (internal and external division) is the quickest.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check: the ratio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circle must enclose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exclude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spans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real axis, as found.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$z\bar z+\bar az+a\bar z+c=0$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$\sqrt{|a|^2-c}$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$|a|^2\ge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$|z-a|=k|z-b|$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the centre and the diameter lie on the real axis, so the diameter-end method (internal and external division) is the quickest.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check: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$\left|\frac{z-2}{z-3}\right|$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circle must enclose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exclude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spans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$\frac83&lt;3&lt;4$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real axis, as found.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real numbers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complex number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unit modulus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 possible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integer function,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real numbers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complex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$\frac{1+ai}{b+i}$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unit modulus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$a+ib$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$|z-1|=|2z|$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 possible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$\frac{1+[a]}{4b}$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integer function,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Modulus of a complex number and locus, Greatest integer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Unit modulus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circle and test both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Unit modulus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$a^2=b^2$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$b=-a$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circle and test both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28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$\left|\frac{1+ai}{b+i}\right|=1\Rightarrow|1+ai|=|b+i|\Rightarrow a^2+1=b^2+1\Rightarrow a=\pm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$a+ib$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$|z-1|=2|z|$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$(a-1)^2+b^2=4(a^2+b^2)$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$(a-1)^2+a^2=8a^2$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$1-2a=6a^2$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$6a^2+2a-1=0$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$a=\frac{-2\pm\sqrt{28}}{12}=\frac{-1\pm\sqrt7}{6}$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possible values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none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 option matches, so the question was dropped (key: Drop).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$a=\frac{\sqrt7-1}{6}\approx0.27$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$b=\frac{1-\sqrt7}{6}$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$\frac{1+[a]}{4b}=\frac{6}{4(1-\sqrt7)}=-\frac{1+\sqrt7}{4}\approx-0.91$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$a=\frac{-1-\sqrt7}{6}\approx-0.61$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$1+[a]=0$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possible values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$-\frac{1+\sqrt7}{4}$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none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$\frac12,-\frac12,1,-1$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 option matches, so the question was dropped (key: Drop).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None of the options (the question was dropped)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an Apollonius circle and intersect it with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lie.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$|z-1|=2|z|$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an Apollonius circle and intersect it with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which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$a+ib$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lie.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circle with centre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$|z-1|=2|z-0|$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$\frac{1-4\cdot0}{1-4}=-\frac13$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$\frac{2\cdot1}{3}=\frac23$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$\left(x+\frac13\right)^2+y^2=\frac49$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$|1+ai|=|b+i|$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quadratic, now seen as line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circle).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values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no option.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$2x^2+\frac23x+\frac19-\frac49=0$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$6x^2+2x-1=0$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quadratic, now seen as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circle).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$a=\frac{-1\pm\sqrt7}{6}$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$\frac{1+[a]}{4b}$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$-\frac{1+\sqrt7}{4}$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no option.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None of the options (the question was dropped)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Estimate surds to settle floors: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constants this is just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test every root of the quadratic: here the two roots give different floors and so different values of the expression.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Estimate surds to settle floors: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$2.6&lt;\sqrt7&lt;2.7$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$\frac{\sqrt7-1}{6}\in(0.26,0.29)$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$\frac{-1-\sqrt7}{6}\in(-0.62,-0.60)$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$\left|\frac{u+ia}{v+ib}\right|=1\iff u^2+a^2=v^2+b^2$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$u=v=1$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constants this is just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$a=\pm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test every root of the quadratic: here the two roots give different floors and so different values of the expression.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numerical type)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</m:acc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$\alpha=8-14i$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$A=\left\{z\in\mathbb{C}:\frac{\alpha z-\bar\alpha\bar z}{z^2-(\bar z)^2-112i}=1\right\}$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$B=\{z\in\mathbb{C}:|z+3i|=4\}$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$\sum_{z\in A\cap B}(\mathrm{Re}\,z-\mathrm{Im}\,z)$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 of complex numbers (lines and circles)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factorises into two lines.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 z-\bar\alpha\bar z=2i\,\mathrm{Im}(\alpha z)$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$z^2-\bar z^2=4ixy$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factorises into two lines.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ba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denominator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z=(8-14i)(x+iy)=(8x+14y)+i(-14x+8y)$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z-\bar\alpha\bar z=\alpha z-\overline{\alpha z}=2i\,\mathrm{Im}(\alpha z)=2i(-14x+8y)$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$z-\bar z=2iy$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$z+\bar z=2x$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$z^2-\bar z^2=4ixy$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denominator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$i(4xy-112)$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$\frac{2i(-14x+8y)}{i(4xy-112)}=1\Rightarrow-28x+16y=4xy-112\Rightarrow xy+7x-4y-28=0$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$(x-4)(y+7)=0$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points keep the denominator non-zero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$x^2+(y+3)^2=16$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$16+(y+3)^2=16\Rightarrow y=-3$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$x^2+16=16\Rightarrow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$-7i$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points keep the denominator non-zero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$4xy-112=-160$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B=\{4-3i,\,-7i\}$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$\sum(\mathrm{Re}\,z-\mathrm{Im}\,z)=(4-(-3))+(0-(-7))=7+7=14$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Move everything to one side: the condition says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completing the square turns it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Move everything to one side: the condition says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$\mathrm{Im}(z^2-\alpha z)=56$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completing the square turns it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$\mathrm{Im}\left[(z-\tfrac\alpha2)^2\right]=0$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ba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α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z-\bar\alpha\bar z=z^2-\bar z^2-112i\iff(z^2-\alpha z)-\overline{(z^2-\alpha z)}=112i\iff2i\,\mathrm{Im}(z^2-\alpha z)=112i$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$\mathrm{Im}(z^2-\alpha z)=56$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$z^2-\alpha z=\left(z-\frac\alpha2\right)^2-\frac{\alpha^2}{4}$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$\alpha^2=64-196-224i=-132-224i$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$\mathrm{Im}\frac{\alpha^2}{4}=-56$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$\mathrm{Im}\left[\left(z-\frac\alpha2\right)^2\right]-(-56)=56$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$\mathrm{Im}\left[\left(z-(4-7i)\right)^2\right]=0$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is real exactly when the number is real or purely imaginary: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purely imaginary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is real exactly when the number is real or purely imaginary: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$z-(4-7i)$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purely imaginary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$x^2+(y+3)^2=16$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$-7i$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$(4+3)+(0+7)=14$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conditions 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reduce to a single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degenerate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two perpendicular lines through 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Completing the square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locates the centre of a conic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$w-\bar w=2i\,\mathrm{Im}\,w$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$z^2-\bar z^2=4i\,\mathrm{Re}z\,\mathrm{Im}z$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conditions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$\frac{w-\bar w}{\cdot}$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reduce to a single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$\mathrm{Im}(w^2)=0\iff w\in\mathbb{R}\cup i\mathbb{R}$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degenerate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$2uv=0$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two perpendicular lines through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Completing the square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$z^2-\alpha z=(z-\frac\alpha2)^2-\frac{\alpha^2}{4}$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locates the centre of a conic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$xy+px+qy+r=0$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$(-q,-p)$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$(4,-7)$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Q12 – Q22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single-correct)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non-zero real numbers. Then the number of elements in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𝑎𝑛𝑑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non-zero real numbers. Then the number of elements in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$X=\left\{z\in\mathbb{C}:\mathrm{Re}(az^2+bz)=a\ \text{and}\ \mathrm{Re}(bz^2+az)=b\right\}$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Real part of expressions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Real part of expressions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condition is linear in the two real quantities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solve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system and treat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condition is linear in the two real quantities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$x^2-y^2$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solve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system and treat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$b=-a$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$\mathrm{Re}(az^2+bz)=a\Rightarrow az^2+bz+a\bar z^2+b\bar z=2a\Rightarrow a(z^2+\bar z^2)+b(z+\bar z)=2a$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$\mathrm{Re}(bz^2+az)=b\Rightarrow b(z^2+\bar z^2)+a(z+\bar z)=2b$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$(1)\times b-(2)\times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$(b^2-a^2)(z+\bar z)=0$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$a^2\neq 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$z+\bar 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impossible.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(allowed, since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assumed), (1) and (2) both reduce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two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then an infinite set. The key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therefore holds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$(1)\times a-(2)\times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$(a^2-b^2)(z^2+\bar z^2)=2(a^2-b^2)$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$z^2+\bar z^2=2$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$z+\bar 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$z^2+\bar z^2=(z+\bar z)^2-2z\bar z=-2|z|^2$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$-2|z|^2=2$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impossible.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$X=\emptyset$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$a\neq\pm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(allowed, since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assumed), (1) and (2) both reduce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$\mathrm{Re}(z^2-z)=1$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$x^2-y^2-x=1$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two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then an infinite set. The key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therefore holds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$a\neq\pm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(the official key, valid when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(the official key, valid when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$a\neq\pm b$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two conditions become a linear system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$u=x^2-y^2=\mathrm{Re}(z^2)$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$x=\mathrm{Re}(z)$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two conditions become a linear system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$(u,x)$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determinant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Cramer's rule: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$\mathrm{Re}(az^2+bz)=au+bx$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$\mathrm{Re}(bz^2+az)=bu+ax$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$u=x^2-y^2$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$au+bx=a$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$bu+ax=b$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$a^2-b^2\neq0$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$a\neq\pm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Cramer's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$u=\frac{a\cdot a-b\cdot b}{a^2-b^2}=1$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$x=\frac{a\cdot b-b\cdot a}{a^2-b^2}=0$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 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determinant vanishes and both equations coincide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giving the hyperbola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infinitely many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 for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$X=\emptyset$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determinant vanishes and both equations coincide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$u-x=1$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giving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$x^2-y^2-x=1$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infinitely many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(the official key, valid when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(the official key, valid when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$a\neq\pm b$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conditions on real parts of several polynomials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linear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use Cramer's rule.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zero determinant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signals a special case that must be examined separately; it can change a finite or empty answer into a one-dimensional family.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Impossibility 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cannot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$\mathrm{Re}(z^2)=x^2-y^2$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conditions on real parts of several polynomials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$(1,\,x,\,x^2-y^2,\,\dots)$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use Cramer's rule.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zero determinant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$b=\pm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signals a special case that must be examined separately; it can change a finite or empty answer into a one-dimensional family.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Impossibility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$\mathrm{Re}(z^2)=x^2-y^2\ge-y^2$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$\mathrm{Re}(z^2)\le0$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cannot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$z=\alpha+i\beta$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$|z+2|=z+4(1+i)$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$x^2+7x+12=0$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$x^2+2x-3=0$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$x^2+x-12=0$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$x^2+3x-4=0$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Modulus and equality of complex numbers, Quadratic equation from sum and product of roots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modulus is real, so the imaginary part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vanish; that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modulus is real, so the imaginary part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$z+4(1+i)$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vanish; that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imaginary parts: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real parts: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$|z+2|=\sqrt{(\alpha+2)^2+\beta^2}$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$z+4(1+i)=(\alpha+4)+i(\beta+4)$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imaginary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real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$\sqrt{(\alpha+2)^2+16}=\alpha+4$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extraneous root).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with these roots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$\alpha^2+4\alpha+4+16=\alpha^2+8\alpha+16$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$\alpha+4=5&gt;0$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extraneous root).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with these roots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$x^2-(-3-4)x+(-3)(-4)=0$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$x^2+7x+12=0$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$x^2+7x+12=0$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Call the common real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immediately and a single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remains.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Call the common real value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$t=|z+2|$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$z=t-4-4i$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immediately and a single equation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remains.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$t=|z+2|\ge0$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$z+4+4i=t$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$z=(t-4)-4i$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$\alpha=t-4$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$|z+2|=|(t-2)-4i|=\sqrt{(t-2)^2+16}=t$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$(t-2)^2+16=t^2\Rightarrow-4t+20=0\Rightarrow t=5$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$x^2+7x+12=0$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$x^2+7x+12=0$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real number or a modulus equals a complex expression, that expression must be real (and non-negative for a modulus): equate imaginary parts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Introduce the common real value as a new unknown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explicitly in one step.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can create extraneous roots: always re-check the sign condition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real number or a modulus equals a complex expression, that expression must be real (and non-negative for a modulus): equate imaginary parts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Introduce the common real value as a new unknown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$t=|z+2|$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explicitly in one step.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can create extraneous roots: always re-check the sign condition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$\alpha+4=5&gt;0$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$r_1,r_2$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$x^2-(r_1+r_2)x+r_1r_2=0$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𝑖𝑠 𝑝𝑢𝑟𝑒𝑙𝑦 𝑖𝑚𝑎𝑔𝑖𝑛𝑎𝑟𝑦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sum of the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$A=\left\{\theta\in(0,2\pi):\frac{1+2i\sin\theta}{1-i\sin\theta}\ \text{is purely imaginary}\right\}$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sum of the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$3\pi$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Purely imaginary complex number, Trigonometric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Rationalise the denominator; the real part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must be zero.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Rationalise the denominator; the real part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$\frac{1-2\sin^2\theta}{1+\sin^2\theta}$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must be zero.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Purely imaginary means real part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imaginary part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imaginary part is non-zero.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$\frac{1+2i\sin\theta}{1-i\sin\theta}=\frac{(1+2i\sin\theta)(1+i\sin\theta)}{1+\sin^2\theta}=\frac{1-2\sin^2\theta+3i\sin\theta}{1+\sin^2\theta}$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Purely imaginary means real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imaginary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$\frac{1-2\sin^2\theta}{1+\sin^2\theta}=0$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$\sin\theta=\pm\frac1{\sqrt2}\ne0$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imaginary part is non-zero.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$\theta\in(0,2\pi)$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$\theta=\frac\pi4,\frac{3\pi}{4},\frac{5\pi}{4},\frac{7\pi}{4}$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$=\frac{\pi+3\pi+5\pi+7\pi}{4}=\frac{16\pi}{4}=4\pi$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condition depends only on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solutions pair up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count the solutions and add the pairs.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condition depends only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solutions pair up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$\theta\leftrightarrow2\pi-\theta$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count the solutions and add the pairs.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part zero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four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part zero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$1-2\sin^2\theta=\cos2\theta=0$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$2\theta\in(0,4\pi)$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$2\theta=\frac\pi2,\frac{3\pi}{2},\frac{5\pi}{2},\frac{7\pi}{2}$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four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unchanged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this map has no fixed point in the solution set, so the four solutions form two pairs, each pair summing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unchanged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$\theta\mapsto2\pi-\theta$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this map has no fixed point in the solution set, so the four solutions form two pairs, each pair summing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$=2\pi+2\pi=4\pi$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real part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imaginary part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'purely imaginary' also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trigonometric condition depends on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only, its roots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in pairs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sum of all roots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four roots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arithmetic progression: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$\frac{1+ia}{1-ib}=\frac{(1+ia)(1+ib)}{1+b^2}$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real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$\frac{1-ab}{1+b^2}$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imaginary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$\frac{a+b}{1+b^2}$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'purely imaginary' also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trigonometric condition depends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only, its roots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in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$\theta,\ 2\pi-\theta$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$\theta,\ \pi\mp\theta$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sum of all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$0&lt;c&lt;1$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four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$\frac\pi4+\frac{k\pi}{2}$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$k=0,1,2,3$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arithmetic progression: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$=4\cdot\frac{\pi/4+7\pi/4}{2}=4\pi$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complex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complex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$\frac{2z-3i}{2z+i}$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$y^4+y^2-y$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Purely imaginary complex number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Purely imaginary means real part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finishes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Purely imaginary means real part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this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$4x^2+4y^2-4y-3=0$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finishes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imaginary, so its real part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the conjugate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$\frac{2z-3i}{2z+i}=\frac{2x+i(2y-3)}{2x+i(2y+1)}$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imaginary, so its real part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the conjugate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$2x-i(2y+1)$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$\mathrm{Re}=\frac{4x^2+(2y-3)(2y+1)}{4x^2+(2y+1)^2}$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$4x^2+(2y-3)(2y+1)=0\Rightarrow4x^2+4y^2+2y-6y-3=0\Rightarrow4x^2+4y^2-4y-3=0$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$x+y^2=0\Rightarrow x=-y^2$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$4y^4+4y^2-4y-3=0$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$4(y^4+y^2-y)=3$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$y^4+y^2-y=\frac34$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$\frac34$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purely imaginary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circle with diameter joining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 right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$\frac{2z-3i}{2z+i}=\frac{z-\frac{3i}{2}}{z+\frac i2}$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purely imaginary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circle with diameter joining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$\frac{3i}{2}$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 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 right angle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purely imaginary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segment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subtends a right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diameter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$\frac{z-\frac{3i}{2}}{z+\frac i2}$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purely imaginary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$\arg=\pm\frac\pi2$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segment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 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subtends a right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$\left\{-\frac i2,\frac{3i}{2}\right\}$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$x^2+\left(y-\frac12\right)^2=1$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$x^2+y^2-y-\frac34=0$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$x^2=y^4$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$y^4+y^2-y=\frac34$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$\frac34$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circle with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real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of modulus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perpendicular bisector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argument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an arc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angle subtended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real part is the dot product of the two vectors.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$\frac{z-a}{z-b}$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circle with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$z\ne 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of modulus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$1\iff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perpendicular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$\frac{z-a}{z-b}$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argument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an arc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angle subtended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$\mathrm{Re}\frac{p+iq}{r+is}=\frac{pr+qs}{r^2+s^2}$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real part is the dot product of the two vectors.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𝑖𝑠 𝑎 𝑟𝑒𝑎𝑙 𝑛𝑢𝑚𝑏𝑒𝑟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is NOT correct: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$S=\left\{z=x+iy:\frac{2z-3i}{4z+2i}\ \text{is a real number}\right\}$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is NOT correct: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$y+x^2+y^2\neq-\frac14$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$(x,y)=\left(0,-\frac12\right)$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$y\in\left(-\infty,-\frac12\right)\cup\left(-\frac12,\infty\right)$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Real-valued expression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locus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Real-valued expression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locus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ratio is real only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the single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(where the denominator vanishes) removed.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ratio is real only on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the single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$z=-\frac 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(where the denominator vanishes) removed.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the conjugate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imaginary part of the numerator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$\frac{2z-3i}{4z+2i}=\frac{2x+(2y-3)i}{4x+(4y+2)i}$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the conjugate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$4x-(4y+2)i$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imaginary part of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$-2x(4y+2)+(2y-3)4x=-16x$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must be non-zero: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(B) is true; (D) is true; (C) names the excluded point, so it is NOT correct: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$\iff-16x=0\iff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must be non-zero: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$4z+2i\neq0$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$z\ne-\frac 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$y\ne-\frac12$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$S=\left\{(0,y):y\neq-\frac12\right\}$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$y+x^2+y^2=\left(y+\frac12\right)^2-\frac14\neq-\frac14$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(B) is true; (D) is true; (C) names the excluded point, so it is NOT correct: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$(x,y)=\left(0,-\frac12\right)$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first: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ratio is real iff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real,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purely imaginary.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first: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$\frac{2z-3i}{2z+i}=1-\frac{4i}{2z+i}$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ratio is real iff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$\frac{4i}{2z+i}$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real, iff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$2z+i$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purely imaginary.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real iff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real, iff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real,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$\frac{2z-3i}{4z+2i}=\frac12\cdot\frac{2z-3i}{2z+i}=\frac12\left(1-\frac{4i}{2z+i}\right)$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real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$\frac{4i}{2z+i}$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real,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$\frac{2z+i}{i}$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real,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$2z+i\in i\mathbb{R}$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$\mathrm{Re}(2z)=0$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excluded.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(C) is the incorrect statement.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$2z+i=2iy+i$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excluded.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$S=\{(0,y):y\ne-\frac12\}$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(C) is the incorrect statement.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$(x,y)=\left(0,-\frac12\right)$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real/imaginary behaviour is that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real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vertical line - this is the line through the pole in the direction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'Is real' problems exclude the pole of the expression: always remove the point where the denominator is zero.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$\frac{az+b}{cz+d}=\frac ac+\frac{bc-ad}{c(cz+d)}$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real/imaginary behaviour is that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$\frac{bc-ad}{cz+d}$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$\frac{k}{w}$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real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$\frac{4i}{2z+i}$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$2z+i\in i\mathbb{R}$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vertical line - this is the line through the pole in the direction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'Is real' problems exclude the pole of the expression: always remove the point where the denominator is zero.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066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obtained by the rotation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the origin through a right angle in the anticlockwise direction,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obtained by the rotation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the origin through a right angle in the clockwise direction. Then the principal argument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066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obtained by the rotation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$z_1=5+4i$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the origin through a right angle in the anticlockwise direction,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obtained by the rotation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$z_2=3+5i$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the origin through a right angle in the clockwise direction. Then the principal argument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$w_1-w_2$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$-\pi+\tan^{-1}\frac89$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$\pi-\tan^{-1}\frac{33}{5}$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$-\pi+\tan^{-1}\frac{33}{5}$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$\pi-\tan^{-1}\frac89$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915407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Rotation and principal argument of a complex number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An anticlockwise right-angle rotation multiplies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clockwise one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An anticlockwise right-angle rotation multiplies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clockwise one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Anticlockwise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multiplication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Clockwise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multiplication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Anticlockwise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multiplication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$w_1=iz_1=i(5+4i)=-4+5i$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Clockwise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multiplication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$w_2=-iz_2=-i(3+5i)=5-3i$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second quadrant, so the principal argument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$w_1-w_2=(-4-5)+(5+3)i=-9+8i$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$-9+8i$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second quadrant, so the principal argument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$\pi-\tan^{-1}\frac89$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$\pi-\tan^{-1}\frac89$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answer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$w_1-w_2=iz_1-(-iz_2)=i(z_1+z_2)$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answer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$\frac\pi2+\arg(z_1+z_2)$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$w_1-w_2=iz_1+iz_2=i(z_1+z_2)=i(8+9i)=-9+8i$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$\arg(w_1-w_2)=\frac\pi2+\arg(8+9i)=\frac\pi2+\tan^{-1}\frac98$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$\tan^{-1}\frac98+\tan^{-1}\frac89=\frac\pi2$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$\pi-\tan^{-1}\frac89$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$\pi-\tan^{-1}\frac89$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Rotation about the origin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anticlockwise: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converts between forms like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Quadrant check eliminates options: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second quadrant, so the principal argument lies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options (A) and (C) are negative angles.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Rotation about the origin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anticlockwise: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$z\mapsto e^{i\theta}z$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$\times(-i)$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$\times(-1)$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$\arg(iu)=\arg u+\frac\pi2$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$\tan^{-1}x+\tan^{-1}\frac1x=\frac\pi2$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converts between forms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$\frac\pi2+\tan^{-1}\frac98$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$\pi-\tan^{-1}\frac89$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Quadrant check eliminates options: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$-9+8i$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second quadrant, so the principal argument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$\left(\frac\pi2,\pi\right)$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options (A) and (C) are negative angles.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62025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among the two statements: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(S1):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all the real numbers.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(S2):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all the real numbers.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(S1)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both are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only (S2)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are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62025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$a\in\mathbb{C}$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$A=\{z\in\mathbb{C}:\mathrm{Re}(a+\bar z)&gt;\mathrm{Im}(\bar a+z)\}$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$B=\{z\in\mathbb{C}:\mathrm{Re}(a+\bar z)&lt;\mathrm{Im}(\bar a+z)\}$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among the two statements: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$\mathrm{Re}(a),\mathrm{Im}(a)&gt;0$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all the real numbers.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$\mathrm{Re}(a),\mathrm{Im}(a)&lt;0$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all the real numbers.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(S1)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both are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only (S2)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are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Real and imaginary parts of complex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each inequality becomes a linear inequality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has only a half-line of solutions.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real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each inequality becomes a linear inequality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has only a half-line of solutions.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fails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$a=x_1+iy_1$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$\mathrm{Re}(a+\bar z)=x_1+x$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$\mathrm{Im}(\bar a+z)=-y_1+y$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$x_1+x&gt;-y_1+y$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$x&gt;-(x_1+y_1)$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fails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$x\le-(x_1+y_1)$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Counter-example for (S1):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parts positive),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 So (S1)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fails for large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Counter-example for (S2):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parts negative),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 So (S2)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statements are false: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Counter-example for (S1):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$a=2+10i$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parts positive),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$-10&gt;-10$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 So (S1)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$x_1+x&lt;-y_1+y$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$x&lt;-(x_1+y_1)$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fails for large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Counter-example for (S2):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$a=-2-10i$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parts negative),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$10&lt;10$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 So (S2)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statements are false: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both are false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non-constant linear inequality in a real variable always has a half-line solution set, so a claim that it holds for 'all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can only be true if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 is 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shift the threshold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never make the inequality hold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$\mathrm{Re}(\bar w)=\mathrm{Re}\,w$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$\mathrm{Im}(\bar w)=-\mathrm{Im}\,w$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$\mathrm{Re}(a+\bar z)-\mathrm{Im}(\bar a+z)=x+(x_1+y_1)$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non-constant linear inequality in a real variable always has a half-line solution set, so a claim that it holds for 'all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can only be true if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 is 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$\mathrm{Im}\,a$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shift the threshold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$-(x_1+y_1)$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never make the inequality hold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in the complex plane with centre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complex number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outside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collinear, then the smaller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in the complex plane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$z_0=\frac12(1+3i)$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$z_1=1+i$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complex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outside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$|z_1-z_0||z_2-z_0|=1$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$z_0,z_1$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collinear, then the smaller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$|z_2|^2$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Distance and collinearity in the complex plane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product condition fixes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collinearity gives two points on the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one on each side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product condition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$|z_2-z_0|=\sqrt2$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collinearity gives two points on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$z_0z_1$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one on each side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indeed outside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angle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$z_1-z_0=1+i-\frac12-\frac{3i}{2}=\frac{1-i}{2}$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$|z_1-z_0|=\frac{1}{\sqrt2}$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$|z_1-z_0||z_2-z_0|=1\Rightarrow|z_2-z_0|=\sqrt2&gt;1$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indeed outside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smaller value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$z_2=z_0\pm\sqrt2\cdot\frac{1-i}{\sqrt2}=z_0\pm(1-i)$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$z_2=\left(\frac32,\frac12\right)$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$\left(-\frac12,\frac52\right)$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$|z_2|^2=\frac94+\frac14=\frac52$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$\frac14+\frac{25}{4}=\frac{26}{4}=\frac{13}{2}$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smaller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$\frac52$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Inversion in the circle: collinear points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Inversion in the circle: collinear points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$|z_1-z_0||z_2-z_0|=r^2$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$z_2-z_0=\pm\frac{z_1-z_0}{|z_1-z_0|^2}$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real multiple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modulus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$z_2-z_0$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real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$z_1-z_0$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modulus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$\frac1{|z_1-z_0|}$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$z_2-z_0=\pm\frac{z_1-z_0}{|z_1-z_0|^2}$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$|z_1-z_0|^2=\frac12$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$z_1-z_0=\frac{1-i}{2}$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$z_2-z_0=\pm\frac{(1-i)/2}{1/2}=\pm(1-i)$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smaller value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$z_2=\frac{1+3i}{2}\pm(1-i)=\frac{3+i}{2}$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$\frac{-1+5i}{2}$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$|z_2|^2=\frac{10}{4}=\frac52$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$\frac{26}{4}=\frac{13}{2}$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smaller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$\frac52$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Inversion in 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bar>
                          <m:barPr>
                            <m:pos m:val="top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ba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keeps the point on the ray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 on the opposite ray is its reflection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satisfy the product condition.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point is inside the circle its inverse is outside and vice versa; points on the circle are fixed.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problem with a product of distances equal to a constant and collinearity usually has two answers (one per side of the centre) - check both and choose as asked.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Inversion in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$|z-c|=r$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$z\mapsto c+\frac{r^2}{\overline{z-c}}$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keeps the point on the ray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$|z-c||z'-c|=r^2$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 on the opposite ray is its reflection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satisfy the product condition.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point is inside the circle its inverse is outside and vice versa; points on the circle are fixed.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problem with a product of distances equal to a constant and collinearity usually has two answers (one per side of the centre) - check both and choose as asked.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$x^2-\sqrt2x+2=0$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$\alpha^{14}+\beta^{14}$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$-128\sqrt2$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Complex roots of a quadratic and De Moivre's theorem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roots are conjugates of modulus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argument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roots are conjugates of modulus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argument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$\pm\frac\pi3$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$\alpha^{14}+\beta^{14}=2\cdot2^7\cos\frac{14\pi}{3}$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$x=\frac{\sqrt2\pm\sqrt{2-8}}{2}=\frac{\sqrt2\pm\sqrt6\,i}{2}$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$|\alpha|=\sqrt{\frac{2+6}{4}}=\sqrt2$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$\tan(\arg\alpha)=\sqrt3$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$\alpha=\sqrt2e^{i\pi/3}$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$\beta=\sqrt2e^{-i\pi/3}$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$\alpha^{14}=2^7e^{i14\pi/3}=128e^{i2\pi/3}$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$\frac{14\pi}{3}=4\pi+\frac{2\pi}{3}$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$\beta^{14}=128e^{-i2\pi/3}$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$\alpha^{14}+\beta^{14}=128\cdot2\cos\frac{2\pi}{3}=256\cdot\left(-\frac12\right)=-128$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$-128$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Square once: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7th power uses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Square once: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$\alpha^2,\beta^2$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roots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$t^2+2t+4=0$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$2\omega$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$2\omega^2$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7th power uses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$\omega^3=1$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$\alpha^2+\beta^2=2-4=-2$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$\alpha^2\beta^2=4$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$t^2+2t+4=0$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$t=-1\pm\sqrt3i=2\omega,\ 2\omega^2$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$\alpha^{14}=u^7=2^7\omega^7=128\omega$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$\beta^{14}=128\omega^2$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$\omega^7=\omega$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$\alpha^{14}+\beta^{14}=128(\omega+\omega^2)=-128$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$-128$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modulus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argument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a quadratic's roots changes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few squarings often land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roots, i.e. cube roots of unity times a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$x^2-px+q=0$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$p^2&lt;4q$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modulus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argument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$\pm\cos^{-1}\frac{p}{2\sqrt 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$\cos^{-1}\frac12=\frac\pi3$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$\alpha^n+\beta^n=2q^{n/2}\cos(n\theta)$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a quadratic's roots changes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$(p^2-2q,\,q^2)$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few squarings often land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$\pm1\pm\sqrt3i$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roots, i.e. cube roots of unity times a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$2\cdot2^7\cos\frac{14\pi}{3}=256\cos\frac{2\pi}{3}=-128$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$S=\left\{z\in\mathbb{C}:\bar z=i\left(z^2+\mathrm{Re}(\bar z)\right)\right\}$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$\sum_{z\in S}|z|^2$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318255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Equations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318255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Equations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equation into real and imaginary parts: the real part factorises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two cases.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equation into real and imaginary parts: the real part factorises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$x(2y+1)=0$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two cases.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parts: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Imaginary parts: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$\mathrm{Re}(\bar z)=x$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$z^2=x^2-y^2+2ixy$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$x-iy=i\left(x^2-y^2+x+2ixy\right)=-2xy+i\left(x^2-y^2+x\right)$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$x=-2xy\Rightarrow x(2y+1)=0$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Imaginary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$-y=x^2-y^2+x$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(ii)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(ii)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four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(ii)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$-y=-y^2$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(ii)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$\frac12=x^2-\frac14+x$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$x^2+x-\frac34=0$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$(2x-1)(2x+3)=0$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$z=\frac12-\frac 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$-\frac32-\frac 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$|z|^2=0,\ 1,\ \frac12,\ 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four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$\sum|z|^2=0+1+\frac12+\frac52=4$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equations mixing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split into two real equations; look for a factorised one to branch.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the case split is exhaustive and verify each solution by substitution, 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obtainable by Vieta here (the system is not a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alone), so list the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equations mixing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split into two real equations; look for a factorised one to branch.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the case split is exhaustive and verify each solution by substitution,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$i(i^2+0)=-i$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$\sum|z|^2=\sum(x^2+y^2)$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obtainable by Vieta here (the system is not a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alone), so list the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‾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acc>
                                  <m:accPr>
                                    <m:chr m:val="‾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acc>
                                  <m:accPr>
                                    <m:chr m:val="‾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$\left\{\mathrm{Re}\left(\frac{z-\bar z+z\bar z}{2-3z+5\bar z}\right):z\in\mathbb{C},\ \mathrm{Re}(z)=3\right\}$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$24(\beta-\alpha)$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061968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Range of a real part of a rational expression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061968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Range of a real part of a rational expression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real part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range is read off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$\mathrm{Re}\,z=3$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real part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$\frac18\left(\frac{10}{1+y^2}-1\right)$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range is read off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$1+y^2\ge1$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numerator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part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$z=3+iy$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z=3-iy$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$z-\bar z=2iy$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$z\bar z=9+y^2$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$9+y^2+2iy$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$2-3(3+iy)+5(3-iy)=8-8iy=8(1-iy)$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$\frac{(9+y^2)+2iy}{8(1-iy)}=\frac{\left[(9+y^2)+2iy\right](1+iy)}{8(1+y^2)}$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$=\frac{(9+y^2)-2y^2}{8(1+y^2)}=\frac{9-y^2}{8(1+y^2)}=\frac18\left[\frac{10}{1+y^2}-1\right]$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$1+y^2\in[1,\infty)\Rightarrow\frac1{1+y^2}\in(0,1]\Rightarrow\frac{10}{1+y^2}-1\in(-1,9]$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$\left(-\frac18,\frac98\right]$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$24(\beta-\alpha)=24\cdot\frac{10}{8}=30$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range follows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$y=\tan\varphi$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$\frac1{1+y^2}=\cos^2\varphi$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range follows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$\cos2\varphi$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$y=\tan\varphi$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$\varphi\in\left(-\frac\pi2,\frac\pi2\right)$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$\frac{9-y^2}{8(1+y^2)}=\frac{9\cos^2\varphi-\sin^2\varphi}{8}=\frac{10\cos^2\varphi-1}{8}$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$10\cos^2\varphi=5+5\cos2\varphi$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$\frac{4+5\cos2\varphi}{8}$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attained,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$2\varphi\in(-\pi,\pi)$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$\cos2\varphi\in(-1,1]$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attained,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$\left(\frac{4-5}{8},\frac{4+5}{8}\right]=\left(-\frac18,\frac98\right]$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$24\cdot\frac{10}{8}=30$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expressions: 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denominator; the range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endpoint is attained only if the underlying parameter value exists: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excluded (note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rational functions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trigonometric ranges.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$\mathrm{Re}\frac{p+iq}{r(1-iy)}=\frac{p+qy}{r(1+y^2)}$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expressions: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$(1+iy)$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denominator;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$\frac{c-y^2}{1+y^2}=\frac{c+1}{1+y^2}-1$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$(-1,c]$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endpoint is attained only if the underlying parameter value exists: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excluded (note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$y=\tan\varphi$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$\frac{1}{1+y^2}$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rational functions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trigonometric ranges.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Q23 – Q25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numerical type)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radius of 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$\alpha,\beta,z\in\mathbb{C}$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$\sqrt{\lambda-1}$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radius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$|z-\alpha|^2+|z-\beta|^2=2\lambda$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$|\alpha-\beta|$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 in the complex plane, Apollonius theorem (sum of squared distances)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radius is read off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$c=\frac{\alpha+\beta}{2}$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$|z-\alpha|^2+|z-\beta|^2=2|z-c|^2+\frac12|\alpha-\beta|^2$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radius is read off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 squares of the moduli, the cross terms cancel: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equation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$c=\frac{\alpha+\beta}{2}$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$z-\alpha=(z-c)+\frac{\beta-\alpha}{2}$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$z-\beta=(z-c)-\frac{\beta-\alpha}{2}$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 squares of the moduli, the cross terms cancel: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$|z-\alpha|^2+|z-\beta|^2=2|z-c|^2+\frac12|\alpha-\beta|^2$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$2|z-c|^2+\frac12|\alpha-\beta|^2=2\lambda$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$|z-c|^2=\lambda-\frac14|\alpha-\beta|^2$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circle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𝑟𝑎𝑑𝑖𝑢𝑠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radius is given as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 value is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$(\text{radius})^2=\lambda-\frac14|\alpha-\beta|^2$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radius is given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$\sqrt{\lambda-1}$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$\lambda-\frac14|\alpha-\beta|^2=\lambda-1$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$|\alpha-\beta|^2=4$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$|\alpha-\beta|=2$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 value is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Choose coordinates in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real and symmetric about the origin; then the circle's radius is immediate.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Choose coordinates in which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$\alpha=-d$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$\beta=d$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real and symmetric about the origin; then the circle's radius is immediate.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Translate and rotate so that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(distances and radii do not change).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(cross terms cancel),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Translate and rotate so that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$\alpha=-d,\ \beta=d$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$d=\frac{|\alpha-\beta|}{2}$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(distances and radii do not change).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$|z+d|^2+|z-d|^2=2|z|^2+2d^2=2\lambda$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(cross terms cancel),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$|z|^2=\lambda-d^2$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$^2=\lambda-d^2=\lambda-1$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$|\alpha-\beta|=2d=2$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Apollonius / parallelogram identity: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centred at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radius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circle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setting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Apollonius / parallelogram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$|z-a|^2+|z-b|^2=2\left|z-\frac{a+b}{2}\right|^2+\frac12|a-b|^2$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$|z-a|^2+|z-b|^2=k$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centred at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radius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$^2=\frac k2-\frac{|a-b|^2}{4}$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$k\ge\frac{|a-b|^2}{2}$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$k=|a-b|^2$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circle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$r^2=\lambda-\frac{|\alpha-\beta|^2}{4}$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$r^2=\lambda-1$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$|\alpha-\beta|=2$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$S=\left\{z\in\mathbb{C}-\{i,2i\}:\frac{z^2+8iz-15}{z^2-3iz-2}\in\mathbb{R}\right\}$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$\alpha-\frac{13}{11}i\in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$\alpha\in\mathbb{R}-\{0\}$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$242\alpha^2$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364484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Real-valued rational expression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364484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Real-valued rational expression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the denominator from the numerator: the fraction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top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purely imaginary.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the denominator from the numerator: the fraction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$1+\frac{11iz-13}{z^2-3iz-2}$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$z=\alpha-\frac{13}{11}i$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top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$11i\alpha$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purely imaginary.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the denominator non-zero.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minus 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purely imaginary and non-zero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$z^2-3iz-2=(z-i)(z-2i)$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$z\ne i,2i$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the denominator non-zero.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minus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$=11iz-13$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$\frac{z^2+8iz-15}{z^2-3iz-2}=1+\frac{11iz-13}{z^2-3iz-2}$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$z=\alpha-\frac{13}{11}i$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$11iz=11i\alpha+13$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$11iz-13=11i\alpha$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purely imaginary and non-zero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fraction to be real,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real,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purely imaginary: its real part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fraction to be real,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$\frac{11i\alpha}{z^2-3iz-2}$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real,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$z^2-3iz-2$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purely imaginary: its real part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$z^2-3iz-2=(x^2-y^2+3y-2)+i(\cdots)$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$x^2-y^2+3y-2=0$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$x^2=y^2-3y+2=(y-1)(y-2)$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$y=-\frac{13}{11}$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$\alpha^2=\left(-\frac{13}{11}-1\right)\left(-\frac{13}{11}-2\right)=\frac{24}{11}\cdot\frac{35}{11}=\frac{840}{121}$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$242\alpha^2=2\cdot840=1680$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1680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test whether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real, split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simple: here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linear expression that becomes purely imaginary on the given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quotient of a purely imaginary non-zero number needs the denominator to be purely imaginary (real part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this gives the rectangular hyperbola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always factor first to see the excluded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test whether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$\frac{N}{D}$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real, split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ND=1+\frac{N-D}{D}$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simple: here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$11iz-13$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linear expression that becomes purely imaginary on the given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quotient of a purely imaginary non-zero number needs the denominator to be purely imaginary (real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this gives the rectangular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$x^2-\left(y-\frac32\right)^2=-\frac14$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$z^2-3iz-2=(z-i)(z-2i)$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$z^2+8iz-15=(z+3i)(z+5i)$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always factor first to see the excluded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 touching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If the curve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$w=z\bar z+k_1z+k_2iz+\lambda(1+i)$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$k_1,k_2\in\mathbb{R}$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$\mathrm{Re}(w)=0$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 touching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If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$\mathrm{Im}(w)=0$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$30(AB)^2$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8887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Circle and line from real and imaginary parts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Chord length of a circle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8887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Circle and line from real and imaginary parts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Chord length of a circle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chord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$\mathrm{Re}(w)=0$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circle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$x^2+y^2+k_1x-k_2y+\lambda=0$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$\mathrm{Im}(w)=0$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$k_2x+k_1y+\lambda=0$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chord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$2\sqrt{r^2-d^2}$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centre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𝑟𝑎𝑑𝑖𝑢𝑠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(centre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lying in the first quadrant: the centre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put part of the circle below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$\mathrm{Re}(w)=x^2+y^2+k_1x-k_2y+\lambda=0$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$\mathrm{Re}(k_2iz)=-k_2y$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$\left(-\frac{k_1}{2},\frac{k_2}{2}\right)$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$(\text{radius})^2=\frac{k_1^2+k_2^2}{4}-\lambda=1$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(centre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lying in the first quadrant: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put part of the circle below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$-\frac{k_1}{2}=1$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$\frac{k_2}{2}=2$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$k_1=-2$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$k_2=4$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this line: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$\frac{4+16}{4}-\lambda=1\Rightarrow5-\lambda=1\Rightarrow\lambda=4$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$\mathrm{Im}(w)=k_1y+k_2x+\lambda=0$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$-2y+4x+4=0$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this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$d=\frac{|2-2+2|}{\sqrt5}=\frac{2}{\sqrt5}$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$AB^2=4(r^2-d^2)=4\left(1-\frac45\right)=\frac45$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$30(AB)^2=30\cdot\frac45=24$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explicitly by substituting the line into the circle.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explicitly by substituting the line into the circle.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line: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$x^2+y^2-2x-4y+4=0$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$k_1=-2,\ k_2=4,\ \lambda=4$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$x^2+(2x+2)^2-2x-4(2x+2)+4=5x^2-2x=0$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 where the circle touches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 where the circle touches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$B=\left(\frac25,\frac{14}{5}\right)$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$AB^2=\left(\frac25\right)^2+\left(\frac45\right)^2=\frac{20}{25}=\frac45$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$30(AB)^2=24$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expressions: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line; their intersection is found as a chord: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multiplying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swaps the roles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 touching both axes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touching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other choice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leaves the quadrant.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$w=z\bar z+az+b\bar z+c$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expressions: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$\mathrm{Re}\,w=0$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$\mathrm{Im}\,w=0$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line; their intersection is found as a chord: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$AB=2\sqrt{r^2-d^2}$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$\mathrm{Re}(k_2iz)=-k_2y$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$\mathrm{Im}(k_2iz)=k_2x$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swaps the roles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 touching both axes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touching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other choice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leaves the quadrant.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Q26 – Q33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single-correct)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$S=\{z\in\mathbb{C}:|z-i|=|z+i|=|z-1|\}$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Perpendicular bisector loci in the complex plane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Equal distances from two points give a perpendicular bisector; two such lines meet in one point.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equidistant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lies on their perpendicular bisector, the real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equidistant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lies on the perpendicular bisector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$|z-i|=|z+i|$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equidistant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$-i=(0,-1)$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lies on their perpendicular bisector, the real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$|z-i|=|z-1|$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equidistant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lies on the perpendicular bisector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only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candidate.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candidate.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$|0-i|=|0+i|=|0-1|=1$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A point equidistant from three non-collinear points is their circumcentre, which exists and is unique.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equidistant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three points are not collinear (two are on the imaginary axis,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off it).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They all lie on the unit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circumcentre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 is the only such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$|z-i|=|z+i|=|z-1|$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equidistant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three points are not collinear (two are on the imaginary axis,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off it).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They all lie on the unit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circumcentre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 is the only such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equidistant from three non-collinear points: exactly one (the circumcentre); from three collinear points: none unless the points coincide; from two points: the perpendicular bisector.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three given points visibly lie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circumcentre - spot it from the moduli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reading works in the complex plane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any three distinct non-collinear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equidistant from three non-collinear points: exactly one (the circumcentre); from three collinear points: none unless the points coincide; from two points: the perpendicular bisector.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three given points visibly lie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$|z-c|=R$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circumcentre - spot it from the moduli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$|i|=|-i|=|1|=1$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reading works in the complex plane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$|z-a|=|z-b|=|z-c'|$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any three distinct non-collinear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$z=\frac12-2i$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$|z+1|=\alpha z+\beta(1+i)$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$i=\sqrt{-1}$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Modulus and equality of complex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modulus is real, so the imaginary part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vanish.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modulus is real, so the imaginary part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 z+\beta(1+i)$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vanish.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is real, so the imaginary part is zero: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parts: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$|z+1|=\left|\frac32-2i\right|=\sqrt{\frac94+4}=\frac52$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z+\beta(1+i)=\left(\frac\alpha2+\beta\right)+i(-2\alpha+\beta)$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is real, so the imaginary part is zero: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$-2\alpha+\beta=0$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$\frac\alpha2+\beta=\frac52\Rightarrow\frac\alpha2+2\alpha=\frac52\Rightarrow\alpha=1$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modulus (a non-negative real) equals a complex expression, equate imaginary parts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first: it often gives a linear relation between the unknowns.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comes from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triangle with sides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scaled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unknowns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multiplying complex numbers give two real equations (real and imaginary parts),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linear system.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modulus (a non-negative real) equals a complex expression, equate imaginary parts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first: it often gives a linear relation between the unknowns.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$|a+ib|=\sqrt{a^2+b^2}$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$\left|\frac32-2i\right|=\frac52$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comes from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triangle with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$\frac32,2,\frac52$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scaled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unknowns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multiplying complex numbers give two real equations (real and imaginary parts),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linear system.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be the modulus and amplitude of the complex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be the modulus and amplitude of the complex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$z=2-i\left(2\tan\frac{5\pi}{8}\right)$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$(r,\theta)$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$\left(2\sec\frac{11\pi}{8},\frac{11\pi}{8}\right)$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$\left(2\sec\frac{3\pi}{8},\frac{5\pi}{8}\right)$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$\left(2\sec\frac{3\pi}{8},\frac{3\pi}{8}\right)$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$\left(2\sec\frac{5\pi}{8},\frac{3\pi}{8}\right)$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Modulus and amplitude of a complex number, Trigonometric ratios of angles in the second quadrant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negative, so the imaginary part is positive: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in the first quadrant.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$\tan\frac{5\pi}{8}$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negative, so the imaginary part is positive: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$z=2+2\tan\frac{3\pi}{8}\,i$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in the first quadrant.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$\tan\frac{5\pi}{8}=\tan\left(\pi-\frac{3\pi}{8}\right)=-\tan\frac{3\pi}{8}$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real part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imaginary part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first quadrant.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(positive,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Equivalently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first quadrant,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$z=2-i\left(-2\tan\frac{3\pi}{8}\right)=2+2\tan\frac{3\pi}{8}\,i$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real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imaginary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first quadrant.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$r=\sqrt{4+4\tan^2\frac{3\pi}{8}}=2\sec\frac{3\pi}{8}$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(positive,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$\frac{3\pi}{8}&lt;\frac\pi2$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$r=\left|2\sec\frac{5\pi}{8}\right|=2\sec\frac{3\pi}{8}$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$\tan\theta=\frac{2\tan(3\pi/8)}{2}=\tan\frac{3\pi}{8}$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first quadrant,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$\theta=\frac{3\pi}{8}$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$(r,\theta)=\left(2\sec\frac{3\pi}{8},\frac{3\pi}{8}\right)$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$\left(2\sec\frac{3\pi}{8},\ \frac{3\pi}{8}\right)$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absorb the negative sign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rotation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$z=2\sec\varphi\,e^{-i\varphi}$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$\varphi=\frac{5\pi}{8}$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absorb the negative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$\sec\varphi$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rotation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e>
                        </m:d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$z=2\left(1-i\tan\frac{5\pi}{8}\right)=2\sec\frac{5\pi}{8}\left(\cos\frac{5\pi}{8}-i\sin\frac{5\pi}{8}\right)=2\sec\frac{5\pi}{8}\,e^{-i5\pi/8}$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$\sec\frac{5\pi}{8}&lt;0$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$2\sec\frac{5\pi}{8}=-2\sec\frac{3\pi}{8}=2\sec\frac{3\pi}{8}\,e^{i\pi}$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$z=2\sec\frac{3\pi}{8}\,e^{i\left(\pi-\frac{5\pi}{8}\right)}=2\sec\frac{3\pi}{8}\,e^{i3\pi/8}$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$r=2\sec\frac{3\pi}{8}$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$\theta=\frac{3\pi}{8}$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$\left(2\sec\frac{3\pi}{8},\ \frac{3\pi}{8}\right)$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other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 reduce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the modulus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Modulus is never negative: if the factored form has a negative real multiplier, rotate the argument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Amplitude must be the principal value: check the quadrant from the signs of the real and imaginary parts (here both positive,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$1+i\tan\varphi=\sec\varphi\,e^{i\varphi}$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$\varphi\in\left(-\frac\pi2,\frac\pi2\right)$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other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 reduce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$\tan(\pi-\varphi)=-\tan\varphi$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the modulus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Modulus is never negative: if the factored form has a negative real multiplier, rotate the argument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Amplitude must be the principal value: check the quadrant from the signs of the real and imaginary parts (here both positive,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satisfies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satisfies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$z^2+i\bar 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$|z^2|$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318255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Modulus properties in equations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318255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Modulus properties in equations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moduli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moduli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$z^2=-i\bar 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$|z|^2=|z|$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$z\neq0$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$|z|=1$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moduli: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$z^2+i\bar z=0\Rightarrow z^2=-i\bar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moduli: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$|z|^2=|-i||\bar z|=|z|$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$|z|\left(|z|-1\right)=0$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$|z^2|=|z|^2=1$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$e^{3i\theta}=-i$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$\theta=-\frac\pi6$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in Cartesian form: split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real and imaginary parts and solve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in Cartesian form: 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$z^2+i\bar z=0$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real and imaginary parts and solve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Imaginary part: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part: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$z^2+i\bar z=(x^2-y^2+y)+i(2xy+x)=0$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Imaginary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$x(2y+1)=0$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$x^2-\frac14-\frac12=0\Rightarrow x^2=\frac34$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$z=\pm\frac{\sqrt3}{2}-\frac 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$|z^2|=|z|^2=\frac34+\frac14=1$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of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moduli to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found at once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non-zero solutions are the cube roots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links the conjugate to the modulus.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$z^m=c\,\bar z^{\,n}$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moduli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$|z|^{m-n}=|c|$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found at once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$|z|^{2-1}=1$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$z^2=-i\bar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$z^3=-i|z|^2=-i$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non-zero solutions are the cube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$i,\ e^{-i\pi/6},\ e^{i7\pi/6}$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$|z^2|=|z|^2$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$z\bar z=|z|^2$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links the conjugate to the modulus.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complex number, then the number of common roots of the equations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1985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complex number, then the number of common roots of the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$z^{1985}+z^{100}+1=0$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$z^3+2z^2+2z+1=0$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Cube roots of unity, Roots of polynomial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test the three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first equation 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$z^3+2z^2+2z+1=(z+1)(z^2+z+1)$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test the three roots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$-1,\omega,\omega^2$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first equation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$\omega^3=1$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roots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1985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root of the first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1985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$z^3+2z^2+2z+1=(z+1)(z^2+z+1)$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$-1,\ \omega,\ 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$(-1)^{1985}+(-1)^{100}+1=-1+1+1=1\neq0$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root of the first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$1985=3\cdot661+2$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$100=3\cdot33+1$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$\omega^{1985}+\omega^{100}+1=\omega^2+\omega+1=0$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1985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3970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two common roots,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$\left(\omega^2\right)^{1985}=\omega^{3970}=\omega$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$3970=3\cdot1323+1$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$\left(\omega^2\right)^{100}=\omega^{200}=\omega^2$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$200=3\cdot66+2$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$\omega+\omega^2+1=0$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two common roots,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the first polynomial modulo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common roots are the roots of the gcd.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the first polynomial modulo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$z^2+z+1$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$z^3\equiv1$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modulo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common roots are the roots of the gcd.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Modulo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1985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polynomial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first polynomial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divide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gcd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two roots are the common roots: the number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$z^3+2z^2+2z+1=(z+1)(z^2+z+1)$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Modulo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$z^2+z+1$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$z^3\equiv1$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$z^{1985}\equiv z^{2}$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$z^{100}\equiv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 z^2+z+1\equiv0$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$z^2+z+1$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first polynomial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divide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gcd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$z^2+z+1$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two roots are the common roots: the number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primitive cube root of unity,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one fact answers many 'common roots' questions).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roots of two polynomials = roots of their gcd; factor the smaller polynomial and test each of its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primitive cube root of unity,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$\omega^a+\omega^b+1=0$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$\{a\bmod3,\ b\bmod3\}=\{1,2\}$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$1985\equiv2$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$z^2+z+1$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$z^a+z^b+1$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$\{a,b\}\equiv\{1,2\}\pmod3$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one fact answers many 'common roots' questions).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roots of two polynomials = roots of their gcd; factor the smaller polynomial and test each of its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complex numbers such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b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complex numbers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$z_1+z_2=5$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$z_1^3+z_2^3=20+15i$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$\left|z_1^4+z_2^4\right|$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$15\sqrt{15}$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Symmetric functions of two complex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find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build the fourth power sum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$z_1^3+z_2^3=(z_1+z_2)^3-3z_1z_2(z_1+z_2)$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$z_1z_2$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build the fourth power sum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$z_1+z_2$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$z_1z_2$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$z_1^3+z_2^3=(z_1+z_2)^3-3z_1z_2(z_1+z_2)=125-15z_1z_2$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$20+15i=125-15z_1z_2\Rightarrow15z_1z_2=105-15i\Rightarrow z_1z_2=7-i$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$z_1^2+z_2^2=(z_1+z_2)^2-2z_1z_2=25-2(7-i)=11+2i$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$z_1^4+z_2^4=\left(z_1^2+z_2^2\right)^2-2(z_1z_2)^2=(11+2i)^2-2(7-i)^2$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5184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5625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$(11+2i)^2=121-4+44i=117+44i$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$(7-i)^2=49-1-14i=48-14i$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$z_1^4+z_2^4=117+44i-96+28i=21+72i$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$|21+72i|=\sqrt{441+5184}=\sqrt{5625}=75$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themselves: they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discriminant is a perfect square.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$z_1,z_2$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themselves: they are the roots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$t^2-5t+(7-i)=0$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discriminant is a perfect square.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(found as before),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Discriminant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$z_1+z_2=5$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$z_1z_2=7-i$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(found as before),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$z_{1,2}$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$t^2-5t+7-i=0$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$=25-4(7-i)=-3+4i=(1+2i)^2$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$t=\frac{5\pm(1+2i)}{2}=3+i$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modulus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$(3+i)^3+(2-i)^3=(18+26i)+(2-11i)=20+15i$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$(3+i)^4=(8+6i)^2=28+96i$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$(2-i)^4=(3-4i)^2=-7-24i$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$21+72i$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modulus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Newton's identities hold for complex numbers: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discriminant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perfect square because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Gaussian integers;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found by solving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Newton's identities hold for complex numbers: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$p_n=e_1p_{n-1}-e_2p_{n-2}$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$e_1=z_1+z_2$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$e_2=z_1z_2$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$p_2=11+2i$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$p_3=20+15i$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$p_4=21+72i$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$a^3+b^3=(a+b)^3-3ab(a+b)$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$a^4+b^4=(a^2+b^2)^2-2(ab)^2$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$e_1^2-4e_2=-3+4i=(1+2i)^2$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perfect square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Gaussian integers;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$\sqrt{a+bi}$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found by solving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$(p+qi)^2=a+bi$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𝑎𝑛𝑑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$S=\left\{z\in\mathbb{C}:|z-1|=1\ \text{and}\ (\sqrt2-1)(z+\bar z)-i(z-\bar z)=2\sqrt2\right\}$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$z_1,z_2\in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$|z_1|=\max_{z\in S}|z|$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$|z_2|=\min_{z\in S}|z|$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$\left|\sqrt2z_1-z_2\right|^2$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Intersection of a line and a circle in the complex plane, Maximum and minimum modulus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intersection of a circle and a line, i.e. two points; find them and compare their moduli.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intersection of a circle and a line, i.e. two points; find them and compare their moduli.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root; the product of the roots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other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$(\sqrt2-1)(z+\bar z)-i(z-\bar z)=2\sqrt2\Rightarrow(\sqrt2-1)(2x)-i(2iy)=2\sqrt2$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$(\sqrt2-1)x+y=\sqrt2$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$y=\sqrt2-(\sqrt2-1)x=\sqrt2(1-x)+x$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$(x-1)^2+2(1-x)^2+x^2+2\sqrt2x(1-x)=1$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$3(x-1)^2+x^2+2\sqrt2x(1-x)=1$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$(4-2\sqrt2)x^2+(2\sqrt2-6)x+2=0$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root; the product of the roots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$\frac{2}{4-2\sqrt2}=\frac{1}{2-\sqrt2}$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other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$x=\frac{1}{2-\sqrt2}=\frac{2+\sqrt2}{2}$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(maximum modulus)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(minimum modulus).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writes the real part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$x=1\Rightarrow 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$x=\frac{2+\sqrt2}{2}\Rightarrow y=\sqrt2-\frac1{\sqrt2}=\frac1{\sqrt2}$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$|z|^2=\frac{6+4\sqrt2}{4}+\frac12=2+\sqrt2&gt;2$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$z_1=\frac{2+\sqrt2}{2}+\frac{1}{\sqrt2}i$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(maximum modulus)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$z_2=1+i$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(minimum modulus).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$\sqrt2z_1=(\sqrt2+1)+i$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writes the real part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$\frac{1}{\sqrt2-1}=\sqrt2+1$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$\sqrt2z_1-z_2=(\sqrt2+1)+i-(1+i)=\sqrt2$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$\left|\sqrt2z_1-z_2\right|^2=2$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circle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line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two obvious solutions.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circle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$z=1+e^{i\varphi}$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line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$(\sqrt2-1)\cos\varphi+\sin\varphi=1$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two obvious solutions.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 line meets a circle in at most two points, so these are all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$z=1+e^{i\varphi}$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$x=1+\cos\varphi$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$(\sqrt2-1)x+y=\sqrt2$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$(\sqrt2-1)\cos\varphi+\sin\varphi=1$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$\frac{\sqrt2-1}{\sqrt2}+\frac1{\sqrt2}=1$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 line meets a circle in at most two points, so these are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(maximum)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(minimum)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square of the modulus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$|z|=|1+e^{i\varphi}|=2\cos\frac\varphi2$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$2\cos\frac\pi8\approx1.85$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(maximum)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$2\cos\frac\pi4=\sqrt2$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(minimum)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$z_1=1+e^{i\pi/4}$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$z_2=1+i$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$\sqrt2z_1=\sqrt2+\sqrt2e^{i\pi/4}=\sqrt2+(1+i)$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$\sqrt2z_1-z_2=\sqrt2$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square of the modulus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parametrised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standard trigonometric equation with at most two solutions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circle through the origin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modulus is simple: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φ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quadratic from line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circle has a visible root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get the other root from the product (or sum) of roots instead of the quadratic formula.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$|z-c|=r$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parametrised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$z=c+re^{i\varphi}$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$px+qy=k$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$p\cos\varphi+q\sin\varphi=k'$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standard trigonometric equation with at most two solutions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circle through the origin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$|c|=r$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modulus is simple: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$|1+e^{i\varphi}|=2\left|\cos\frac\varphi2\right|$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quadratic from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circle has a visible root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get the other root from the product (or sum) of roots instead of the quadratic formula.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complex number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minimum value of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complex number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$|z|\geq1$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$\left|z+\frac12(3+4i)\right|$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279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Minimum distance from a point to a region in the complex plane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fixed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already lies in the region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distance can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fixed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$-\frac12(3+4i)$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already lies in the region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$|z|\ge1$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distance can be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lies in the allowed region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$\left|z+\frac12(3+4i)\right|=PQ$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$Q=-\frac12(3+4i)=\left(-\frac32,-2\right)$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$|Q|=\frac12\sqrt{9+16}=\frac52&gt;1$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lies in the allowed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 modulus cannot be negative, so the minimum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(attained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coincides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among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question has no correct option and was given as a Bonus. (For the region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minimum would be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 modulus cannot be negative, so the minimum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(attained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coincides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among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$3,\ \frac52,\ 2,\ 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question has no correct option and was given as a Bonus. (For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minimum would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$\frac52-1=\frac32$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No option is correct (Bonus): the minimum is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No option is correct (Bonus): the minimum is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Min/max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a region: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region the minimum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the disc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the exterior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locate the fixed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relative to the region: that decides everything.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region is the exterior of the unit circle,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inside the region.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no option matches your computed answer, re-read the question for a reversed inequality before choosing - but report what is actually computed.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Min/max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a region: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region the minimum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the disc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$|z|\le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$|a|&gt;r$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$=|a|-r$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$=|a|+r$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the exterior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$|z|\ge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$|a|&lt;r$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$=r-|a|$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locate the fixed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relative to the region: that decides everything.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$|a|=\frac52&gt;1$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region is the exterior of the unit circle,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inside the region.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no option matches your computed answer, re-read the question for a reversed inequality before choosing - but report what is actually computed.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Q34 – Q39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numerical type)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$(1+\alpha)^7=A+B\alpha+C\alpha^2$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$A,B,C\geq0$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$5(3A-2B-C)$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Cube roots of unity, Binomial expansion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primitive cube root of unity, so expand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reduce the powers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primitive cube root of unity, so expand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$(1+\alpha)^7$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reduce the powers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$\alpha^3=1$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non-real cube root of unity: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Reduce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$\alpha^2+\alpha+1=0$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non-real cube root of unity: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$(1+\alpha)^7=1+7\alpha+21\alpha^2+35\alpha^3+35\alpha^4+21\alpha^5+7\alpha^6+\alpha^7$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$\alpha^3=\alpha^6=1$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$\alpha^4=\alpha^7=\alpha$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$\alpha^5=\alpha^2$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 term: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$1+35+7=43$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$7+35+1=43$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$21+21=42$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$(1+\alpha)^7=43+43\alpha+42\alpha^2$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$3A-2B-C=129-86-42=1$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$5(3A-2B-C)=5$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shrink the power first,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express the result in the required form.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$1+\alpha=-\alpha^2$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shrink the power first,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$1+\alpha+\alpha^2=0$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express the result in the required form.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one representation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works;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$1+\alpha=-\alpha^2$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$(1+\alpha)^7=-\alpha^{14}=-\alpha^2$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$14\equiv2\pmod3$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$-\alpha^2=1+\alpha$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one representation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$(A,B,C)=(1,1,0)$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$1+\alpha+\alpha^2=0$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$(A,B,C)=(1+k,\,1+k,\,k)$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works;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$(43,43,42)$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$3A-2B-C=3(1+k)-2(1+k)-k=1$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$5(3A-2B-C)=5$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representation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unique: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shifted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quantity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shift-invariant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why the answer is well defined.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coefficients: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(they add up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$1+\omega=-\omega^2$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$1+\omega^2=-\omega$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$(1+\omega)^n=(-1)^n\omega^{2n}$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representation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$A+B\omega+C\omega^2$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unique: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shifted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$(k,k,k)$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quantity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$3A-2B-C$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shift-invariant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$3-2-1=0$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why the answer is well defined.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$\sum_{k\equiv r\,(\mathrm{mod}\,3)}\binom7k$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coefficients: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$43,\ 43,\ 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(they add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$2^7=128$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complex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acc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circles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complex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$\frac1{\bar\alpha}$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$|z-z_0|^2=4$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$|z-z_0|^2=16$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$z_0=1+i$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$100|\alpha|^2$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 and inversion in the complex plane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cross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appears in both circle equations (scaled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eliminate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cross 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$\alpha\bar z_0+\bar\alpha z_0$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appears in both circle equations (scaled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$|\alpha|^2$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eliminate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acc>
                                  <m:accPr>
                                    <m:chr m:val="‾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α</m:t>
                                    </m:r>
                                  </m:e>
                                </m:acc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acc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Substituting in (ii):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$|\alpha-z_0|^2=4$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$(\alpha-z_0)(\bar\alpha-\bar z_0)=4$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$|\alpha|^2-\alpha\bar z_0-\bar\alpha z_0+|z_0|^2=4$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$|z_0|^2=2$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$|\alpha|^2-(\alpha\bar z_0+\bar\alpha z_0)=2$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$\left|\frac1{\bar\alpha}-z_0\right|^2=16$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$\frac{|1-\bar\alpha z_0|^2}{|\alpha|^2}=16$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$(1-\bar\alpha z_0)(1-\alpha\bar z_0)=16|\alpha|^2$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$1-(\alpha\bar z_0+\bar\alpha z_0)+|\alpha|^2|z_0|^2=16|\alpha|^2$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$1-(\alpha\bar z_0+\bar\alpha z_0)+2|\alpha|^2=16|\alpha|^2$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$\alpha\bar z_0+\bar\alpha z_0=|\alpha|^2-2$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Substituting in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$1-|\alpha|^2+2+2|\alpha|^2=16|\alpha|^2$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Remark: this is the value the key expects, but the data are inconsistent -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complex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both circles.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$3+|\alpha|^2=16|\alpha|^2\Rightarrow15|\alpha|^2=3\Rightarrow|\alpha|^2=\frac15$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$100|\alpha|^2=20$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Remark: this is the value the key expects, but the data are inconsistent -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$|\alpha-z_0|=2$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$|z_0|=\sqrt2$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$|\alpha|\ge2-\sqrt2\approx0.59$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$|\alpha|^2=\frac15$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$|\alpha|\approx0.45$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complex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both circles.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polar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point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acc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same direction, and the angle enters both equations only through one cosine, which is eliminated.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polar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$\alpha=re^{i\theta}$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$\frac1{\bar\alpha}=\frac1re^{i\theta}$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same direction, and the angle enters both equations only through one cosine, which is eliminated.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acc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acc>
                                  <m:accPr>
                                    <m:chr m:val="‾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α</m:t>
                                    </m:r>
                                  </m:e>
                                </m:acc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$\alpha=re^{i\theta}$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$z_0=\sqrt2e^{i\pi/4}$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$c=\cos\left(\theta-\frac\pi4\right)$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$|\alpha-z_0|^2=r^2-2\sqrt2rc+2=4$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$2\sqrt2c=\frac{r^2-2}{r}$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$\frac1{\bar\alpha}=\frac1re^{i\theta}$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$\left|\frac1{\bar\alpha}-z_0\right|^2=\frac1{r^2}-\frac{2\sqrt2c}{r}+2=16$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$2\sqrt2c=\frac{r^2-2}{r}$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$\frac1{r^2}-\frac{r^2-2}{r^2}=14$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$\frac{3-r^2}{r^2}=14$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$3-r^2=14r^2\Rightarrow r^2=\frac15$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$100|\alpha|^2=20$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point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acc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inverse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unit circle: same ray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modulus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cross term is the original divided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two conditions share one awkward quantity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eliminate it between them instead of solving for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collapses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general form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radii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$|z-z_0|^2=|z|^2-2\,\mathrm{Re}(z\bar z_0)+|z_0|^2$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$\frac1{\bar\alpha}$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inverse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unit circle: same ray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modulus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$\frac1{|\alpha|}$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cross term is the original divided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two conditions share one awkward quantity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$\mathrm{Re}(\alpha\bar z_0)$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eliminate it between them instead of solving for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$|z_0|^2=2$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collapses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$3+|\alpha|^2=16|\alpha|^2$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general form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$1-(|\alpha|^2-d_1+|z_0|^2)+|z_0|^2|\alpha|^2=d_2|\alpha|^2$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radii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$d_1,d_2$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$\mathrm{Im}(\alpha)&gt;\mathrm{Im}(\beta)$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$\alpha^6+\alpha^4+\beta^4-5\alpha^2$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Complex roots of a quadratic and reduction of powers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only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remains and it is symmetric.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$5x^2+12$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$x^2+2=x$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$\alpha^4+\beta^4$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remains and it is symmetric.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expression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$x^4+4x^2+4=x^2$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$x^4=-3x^2-4$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$x^6=x^2\cdot x^4=-3x^4-4x^2=-3(-3x^2-4)-4x^2=5x^2+12$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$\alpha^6-5\alpha^2=12$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expression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$12+\alpha^4+\beta^4$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condition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needed: the result holds for either root.)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$\alpha^2+\beta^2=1-4=-3$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$\alpha^4+\beta^4=(-3\alpha^2-4)+(-3\beta^2-4)=-3(\alpha^2+\beta^2)-8=9-8=1$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$=12+1=13$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$\mathrm{Im}\,\alpha&gt;\mathrm{Im}\,\beta$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needed: the result holds for either root.)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every power to a linear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every power to a linear polynomial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$x^2=x-2$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$\alpha+\beta=1$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$x^3=x^2-2x=-x-2$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$x^4=-x^2-2x=-3x+2$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$x^6=(x^3)^2=(x+2)^2=x^2+4x+4=5x+2$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$\alpha^6-5\alpha^2=(5\alpha+2)-5(\alpha-2)=12$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$\alpha^4+\beta^4=(-3\alpha+2)+(-3\beta+2)=-3(\alpha+\beta)+4=1$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$=12+1=13$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power of a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to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(division by the quadratic); symmetric expressions then need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sums satisfy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asymmetric piece like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may be a constant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for either root, so the ordering condition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a red herring.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power of a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$x^2=px-q$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to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(division by the quadratic); symmetric expressions then need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sums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$p_n=p_{n-1}-2p_{n-2}$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$p_0=2,\ p_1=1,\ p_2=-3,\ p_3=-5,\ p_4=1$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$\alpha^4+\beta^4=1$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asymmetric piece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$\alpha^6-5\alpha^2$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may be a constant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for either root, so the ordering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$\mathrm{Im}\,\alpha&gt;\mathrm{Im}\,\beta$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a red herring.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integers not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natural number such that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99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$x^2-\sqrt6x+3=0$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$\mathrm{Im}(\alpha)&gt;\mathrm{Im}(\beta)$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integers not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natural number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$\frac{\alpha^{99}}{\beta}+\alpha^{98}=3^n(a+ib)$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$i=\sqrt{-1}$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Polar form and powers of complex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$\alpha^{98}\left(\frac\alpha\beta+1\right)$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$\alpha=\sqrt3e^{i\pi/4}$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$\beta=\sqrt3e^{-i\pi/4}$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modulus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 with positive imaginary part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99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98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$x=\frac{\sqrt6\pm i\sqrt6}{2}=\frac{\sqrt6}{2}(1\pm 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modulus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$\frac{\sqrt6}{2}\sqrt2=\sqrt3$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$\alpha=\sqrt3e^{i\pi/4}$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$\beta=\sqrt3e^{-i\pi/4}$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 with positive imaginary part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$\frac{\alpha^{99}}{\beta}+\alpha^{98}=\alpha^{98}\left(\frac\alpha\beta+1\right)=\frac{\alpha^{98}(\alpha+\beta)}{\beta}$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$\alpha^{98}=3^{49}e^{i98\pi/4}$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$\frac1\beta=\frac1{\sqrt3}e^{i\pi/4}$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99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99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(neither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$3^{49}\cdot\frac{\sqrt6}{\sqrt3}\,e^{i\frac{99\pi}{4}}=3^{49}\sqrt2\,e^{i\frac{99\pi}{4}}$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$\frac{99\pi}{4}=24\pi+\frac{3\pi}{4}$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$e^{i99\pi/4}=\cos\frac{3\pi}{4}+i\sin\frac{3\pi}{4}=\frac{-1+i}{\sqrt2}$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$3^{49}(-1+i)$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(neither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$n+a+b=49-1+1=49$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trigonometry.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$\alpha\beta=3$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$\alpha^2=3i$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$\frac\alpha\beta=i$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$\alpha^{98}=(3i)^{49}$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trigonometry.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99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value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$\alpha=\sqrt3e^{i\pi/4}\Rightarrow\alpha^2=3e^{i\pi/2}=3i$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$\frac\alpha\beta=\frac{\alpha^2}{\alpha\beta}=\frac{3i}{3}=i$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$\frac{\alpha^{99}}{\beta}+\alpha^{98}=\alpha^{98}\left(\frac\alpha\beta+1\right)=(3i)^{49}(1+i)$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$i^{49}=i$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$49\equiv1\pmod4$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$3^{49}\,i(1+i)=3^{49}(i-1)$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$n+a+b=49$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quadratic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complex conjugate roots: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 unit complex number;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cycle with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Reduce the exponent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evaluating.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Uniqueness: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unique form,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largest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dividing both parts.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$x^2-px+q$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complex conjugate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$\frac\alpha\beta=\frac{\alpha^2}{q}$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 unit complex number;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$\frac\alpha\beta=i$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cycle with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$i^{49}=i$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Reduce the exponent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modulo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modulo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evaluating.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Uniqueness: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$3^n(a+ib)$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$3\nmid 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unique form,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largest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dividing both parts.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8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number of solutions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arg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distance of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8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number of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$|1-i|^x=2^x$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$\beta=\left(\frac{|z|}{\arg(z)}\right)$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$z=\frac\pi4(1+i)^4\left[\frac{1-\sqrt\pi i}{\sqrt\pi+i}+\frac{\sqrt\pi-i}{1+\sqrt\pi i}\right]$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$i=\sqrt{-1}$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distance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$4x-3y=7$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76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Modulus and argument of complex numbers, Distance of a point from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the bracket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the bracket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$-2i$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$(1+i)^4$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$z=2\pi 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$|z|=2\pi$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$\arg z=\frac\pi2$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one solution,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Bracket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(common denominator).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Denominator: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Bracket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$|1-i|=\sqrt2$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$(\sqrt2)^x=2^x\Rightarrow2^{x/2}=2^x\Rightarrow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one solution,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Bracket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$=\frac{(1-\sqrt\pi i)(1+\sqrt\pi i)+(\sqrt\pi-i)(\sqrt\pi+i)}{(\sqrt\pi+i)(1+\sqrt\pi i)}$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(common denominator).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$(1+\pi)+(\pi+1)=2(1+\pi)$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$\sqrt\pi+\pi i+i+\sqrt\pi i^2=i(1+\pi)$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Bracket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$=\frac{2(1+\pi)}{i(1+\pi)}=\frac2i=-2i$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$(1+i)^4=\left((1+i)^2\right)^2=(2i)^2=-4$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$z=\frac\pi4\cdot(-4)\cdot(-2i)=2\pi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 z=\frac\pi2$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$\beta=\frac{2\pi}{\pi/2}=4$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$4x-3y-7=0$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$\frac{|4-12-7|}{\sqrt{16+9}}=\frac{15}{5}=3$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Spot the factorisations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each fraction is simply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Spot the factorisations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$1-\sqrt\pi i=-i(\sqrt\pi+i)$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$\sqrt\pi-i=-i(1+\sqrt\pi 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each fraction is simply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first fraction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second fraction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$-i(\sqrt\pi+i)=-\sqrt\pi i+1=1-\sqrt\pi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first fraction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$-i(1+\sqrt\pi i)=-i+\sqrt\pi=\sqrt\pi-i$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second fraction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$z=\frac\pi4(-4)(-2i)=2\pi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$\beta=\frac{2\pi}{\pi/2}=4$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$4x-3y-7=0$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$\frac{15}{5}=3$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look for a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rationalising.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principal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$\frac{1-ai}{a+i}=-i$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$1-ai=-i(a+i)$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$\frac{a-i}{1+ai}=-i$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look for a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rationalising.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$(1+i)^2=2i$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$(1+i)^4=-4$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$(1+i)^8=16$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principal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$\arg(ki)=\frac\pi2$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$\frac{|ax_0+by_0+c|}{\sqrt{a^2+b^2}}$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$c^x=d^x$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$c\ne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maximum and minimum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$P=\{z\in\mathbb{C}:|z+2-3i|\le1\}$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$Q=\left\{z\in\mathbb{C}:z(1+i)+\bar z(1-i)\le-8\right\}$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$P\cap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$|z-3+2i|$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maximum and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$|z_1|^2+2|z_2|^2=\alpha+\beta\sqrt2$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Regions in the complex plane, Maximum and minimum distance from a point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line through the disc's centre perpendicular to the cutting line, so both extreme points are easy to place.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$|z-3+2i|$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distance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$T=3-2i$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line through the disc's centre perpendicular to the cutting line, so both extreme points are easy to place.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disc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(boundary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which is perpendicular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distance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part of the disc on the centre's side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larger cap).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disc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$c=(-2,3)$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$z(1+i)+\bar z(1-i)=2\,\mathrm{Re}\left[(1+i)z\right]=2(x-y)\le-8$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$x-y+4\le0$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(boundary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$L_2:x-y+4=0$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$|z-3+2i|$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$T=(3,-2)$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which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$x-y+4=-1\le0$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$P\cap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part of the disc on the centre's side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larger cap).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Maximum: the farthest point of the disc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beyond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Minimum: the nearest point of the disc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cut off. The nearest point of the cap is then on the chord: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inside the disc.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Maximum: the farthest point of the disc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beyond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$z_1=\left(-2-\frac1{\sqrt2},\,3+\frac1{\sqrt2}\right)$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$x-y+4=-2.4&lt;0$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Minimum: the nearest point of the disc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$\left(-2+\frac1{\sqrt2},3-\frac1{\sqrt2}\right)$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$x-y+4=0.41&gt;0$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cut off. The nearest point of the cap is then on the chord: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$L_1\cap 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$L_1\perp 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$z_2=\left(-\frac32,\frac52\right)$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inside the disc.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$|z_1|^2=\left(2+\frac1{\sqrt2}\right)^2+\left(3+\frac1{\sqrt2}\right)^2=\frac92+2\sqrt2+\frac{19}{2}+3\sqrt2=14+5\sqrt2$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$|z_2|^2=\frac94+\frac{25}{4}=\frac{17}{2}$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$2|z_2|^2=17$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$|z_1|^2+2|z_2|^2=31+5\sqrt2$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Locate the extremes with vector formulas: farthest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nearest point of the chord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Locate the extremes with vector formulas: farthest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$=c+\frac{c-T}{|c-T|}r$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nearest point of the chord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foot of the perpendicular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farthest point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$T=(3,-2)$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$c=(-2,3)$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$c-T=(-5,5)$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$|c-T|=5\sqrt2$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farthest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$c+\frac{(-5,5)}{5\sqrt2}=\left(-2-\frac1{\sqrt2},3+\frac1{\sqrt2}\right)=z_1$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$T-\frac{3-(-2)+4}{2}(1,-1)=(3,-2)-\frac92(1,-1)=\left(-\frac32,\frac52\right)=z_2$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lies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satisfies the boundary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the minimum because the unconstrained nearest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cut off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$\frac{1}{\sqrt2}&lt;1$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satisfies the boundary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the minimum because the unconstrained nearest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cut off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$|z_1|^2=14+5\sqrt2$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$2|z_2|^2=17$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$31+5\sqrt2$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Extreme distances from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disc (centre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a half-plane cuts off the nearest point, the minimum moves to the chord (perpendicular foot if it lies inside the disc, otherwise a chord end).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 general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real linear form, so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half-plane.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Perpendicular lines through the same point make the 'foot of the perpendicular' coincide with an intersection point - check for such coincidences before computing.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Extreme distances from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disc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$|T-c|\pm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a half-plane cuts off the nearest point, the minimum moves to the chord (perpendicular foot if it lies inside the disc, otherwise a chord end).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$z(1+i)+\bar z(1-i)=2\mathrm{Re}[(1+i)z]=2(x-y)$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pz+p\bar z=2\mathrm{Re}(\bar pz)$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real linear form,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pz+p\bar z\le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half-plane.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Perpendicular lines through the same point make the 'foot of the perpendicular' coincide with an intersection point - check for such coincidences before computing.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Q40 – Q48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single-correct)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sum and the product of all the non-zero solutions of 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sum and the product of all the non-zero solutions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$(\bar z)^2+|z|=0$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$z\in\mathbb{C}$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$4(\alpha^2+\beta^2)$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Equation involving </a:t>
                </a:r>
                <a14:m>
                  <m:oMath xmlns:m="http://schemas.openxmlformats.org/officeDocument/2006/math"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Equation involving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Separate real and imaginary parts: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leaves two cases,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Separate real and imaginary parts: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leaves two cases, 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$z=\pm 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Imaginary part: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non-zero solutions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z^2=x^2-y^2-2ixy$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$x^2-y^2-2ixy+\sqrt{x^2+y^2}=0$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Imaginary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$-2xy=0$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$-y^2+|y|=0$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$|y|(1-|y|)=0$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non-zero solutions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excluded.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Non-zero solutions: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$x^2+|x|=0$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excluded.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Non-zero solutions: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$\alpha=i+(-i)=0$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$\beta=i\cdot(-i)=1$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$4(\alpha^2+\beta^2)=4(0+1)=4$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moduli of </a:t>
                </a:r>
                <a14:m>
                  <m:oMath xmlns:m="http://schemas.openxmlformats.org/officeDocument/2006/math"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 non-zero solution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moduli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$\bar z^2=-|z|$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$|z|^2=|z|$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 non-zero solution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$|z|=1$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$\bar z^2=-1$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taking moduli,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 The 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$(\bar z)^2=-|z|$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taking moduli,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z^2=-1$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z=\pm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$z=\mp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$(\bar z)^2=-1$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 The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$i,-i$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$4(\alpha^2+\beta^2)=4$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negative real right side, so </a:t>
                </a:r>
                <a14:m>
                  <m:oMath xmlns:m="http://schemas.openxmlformats.org/officeDocument/2006/math"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 negative real number: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imaginary; the modulus equation then fixes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 equations: take moduli first; then the equation reduces to a root-of-unity problem.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and product of the non-zero roots here use only the list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a polynomial's coefficients).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z^{\,2}=-|z|$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negative real right side,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z^{\,2}$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 negative real number: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imaginary; the modulus equation then fixes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$z^n=r|z|^m$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 equations: take moduli first; then the equation reduces to a root-of-unity problem.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and product of the non-zero roots here use only the list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$\{i,-i\}$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a polynomial's coefficients).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(in sq. units) of the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(in sq. units)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$S=\left\{z\in\mathbb{C}:|z-1|\le2;\ (z+\bar z)+i(z-\bar z)\le2,\ \mathrm{Im}(z)\ge0\right\}$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$\frac{17\pi}{8}$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$\frac{3\pi}{2}$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Regions in the complex plane, Area of a sector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lines pass through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disc,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sector; read its angle from the two lines.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lines pass through the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disc,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sector; read its angle from the two lines.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disc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boundary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$|z-1|\le2$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disc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$(z+\bar z)+i(z-\bar z)=2x+i(2iy)=2x-2y\le2$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boundary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$\mathrm{Im}(z)\ge0$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Measure the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intersection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sector of 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Measure the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$x-1\le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$\cos\varphi\le\sin\varphi$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$\varphi\in\left[\frac\pi4,\frac{5\pi}{4}\right]$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intersection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$\varphi\in\left[\frac\pi4,\pi\right]$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sector of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$=\frac12r^2\theta=\frac12\cdot2^2\cdot\frac{3\pi}{4}=\frac{3\pi}{2}$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$\frac{3\pi}{2}$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Start from the upper half-disc (area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subtract the sector cut off by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Start from the upper half-disc (area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subtract the sector cut off by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Upper half-disc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part of it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(below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the sector between the directions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centre: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what remains: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Upper half-disc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$\frac12\pi\cdot2^2=2\pi$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part of it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(below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the sector between the directions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$\frac12\cdot4\cdot\frac\pi4=\frac\pi2$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what remains: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$2\pi-\frac\pi2=\frac{3\pi}{2}$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$\frac{3\pi}{2}$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through the centre of a disc divides it into two equal halves; two lines through the centre cut out a sector,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read from the line slopes.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generally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 linear forms: they give half-planes.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each boundary line against the centre first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 passes through the centre).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through the centre of a disc divides it into two equal halves; two lines through the centre cut out a sector,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$\mathrm{Area}=\frac12r^2\theta$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read from the line slopes.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$(z+\bar z)+i(z-\bar z)=2(x-y)$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$p\bar z+\bar pz=2\mathrm{Re}(\bar pz)$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 linear forms: they give half-planes.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each boundary line against the centre first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 passes through the centre).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0961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2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Consider the following two statements.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Statement I: For any two non-zero complex numbers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e>
                                <m: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e>
                                <m: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Statement II: If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are three distinct complex numbers and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are three positive real numbers such that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.\nBetween the above two statements: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(A) Statement I is correct but Statement II is incorrect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(B) Statement I is incorrect but Statement II is correct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(C) Both Statement I and Statement II are incorrect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(D) Both Statement I and Statement II are correct</a:t>
                </a:r>
                <a:endParaRPr sz="22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0961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2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Consider the following two statements.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Statement I: For any two non-zero complex numbers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$z_1,z_2$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$\left(|z_1|+|z_2|\right)\left|\frac{z_1}{|z_1|}+\frac{z_2}{|z_2|}\right|\le2\left(|z_1|+|z_2|\right)$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Statement II: If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are three distinct complex numbers and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are three positive real numbers such that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$\frac{a}{|y-z|}=\frac{b}{|z-x|}=\frac{c}{|x-y|}$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$\frac{a^2}{y-z}+\frac{b^2}{z-x}+\frac{c^2}{x-y}=1$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.\nBetween the above two statements: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(A) Statement I is correct but Statement II is incorrect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(B) Statement I is incorrect but Statement II is correct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(C) Both Statement I and Statement II are incorrect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(D) Both Statement I and Statement II are correct</a:t>
                </a:r>
                <a:endParaRPr sz="22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Triangle inequality and modulus of complex numbers, Conjugate and cyclic sums of complex fractions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Statement I is the triangle inequality for two unit vectors; Statement II sums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ba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Statement I is the triangle inequality for two unit vectors; Statement II sums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$\frac{a^2}{y-z}=k^2\,\overline{(y-z)}$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(triangle inequality).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$\left|\frac{z_1}{|z_1|}+\frac{z_2}{|z_2|}\right|\le\left|\frac{z_1}{|z_1|}\right|+\left|\frac{z_2}{|z_2|}\right|=1+1=2$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(triangle inequality).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Statement I: it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II: let the common ratio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bar>
                          <m:barPr>
                            <m:pos m:val="top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ba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similarly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Statement II is incorrect: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$|z_1|+|z_2|&gt;0$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Statement I: it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II: let the common ratio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$a=k|y-z|$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$b=k|z-x|$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$c=k|x-y|$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$\frac{a^2}{y-z}=\frac{k^2|y-z|^2}{y-z}=\frac{k^2(y-z)\overline{(y-z)}}{y-z}=k^2(\bar y-\bar 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$\frac{b^2}{z-x}=k^2(\bar z-\bar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$\frac{c^2}{x-y}=k^2(\bar x-\bar 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$k^2\left[(\bar y-\bar z)+(\bar z-\bar x)+(\bar x-\bar y)\right]=0\neq1$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Statement II is incorrect: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Statement I is correct but Statement II is incorrect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Check Statement I with the parallelogram law and refute Statement II by one numerical example.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unit vectors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Statement I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II: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unit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$u_1,u_2$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$|u_1+u_2|^2+|u_1-u_2|^2=2+2=4$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$|u_1+u_2|^2=4-|u_1-u_2|^2\le4$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$|u_1+u_2|\le2$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$|z_1|+|z_2|$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Statement I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II: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$x=0,\ y=1,\ z=i$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$a=|y-z|=\sqrt2$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$b=|z-x|=1$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$c=|x-y|=1$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single counter-example shows Statement II is false; I is true: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$\frac{a^2}{y-z}+\frac{b^2}{z-x}+\frac{c^2}{x-y}=\frac{2}{1-i}+\frac1i+\frac1{-1}=(1+i)-i-1=0\neq1$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single counter-example shows Statement II is false; I is true: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Statement I is correct but Statement II is incorrect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Cyclic sums of differences vanish: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After rewriting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sums collapse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this is why a claimed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suspect.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iff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 in the same direction; for unit vectors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statement claims an identity for all inputs, one numerical counter-example (with easy numbers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settles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Cyclic sums of differences vanish: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$(y-z)+(z-x)+(x-y)=0$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After rewriting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$\frac{|w|^2}{w}=\bar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sums collapse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this is why a claimed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suspect.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$|u_1+u_2|\le|u_1|+|u_2|$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$u_1,u_2$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 in the same direction; for unit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$|u_1+u_2|=2\left|\cos\frac{\theta}{2}\right|\le2$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statement claims an identity for all inputs, one numerical counter-example (with easy numbers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settles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area of the region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$S_1=\{z\in\mathbb{C}:|z|\le5\}$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$S_2=\left\{z\in\mathbb{C}:\mathrm{Im}\left(\frac{z+1-\sqrt3i}{1-\sqrt3i}\right)\ge0\right\}$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$S_3=\{z\in\mathbb{C}:\mathrm{Re}(z)\ge0\}$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$S_1\cap S_2\cap 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$\frac{125\pi}{24}$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$\frac{125\pi}{4}$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$\frac{125\pi}{12}$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$\frac{125\pi}{6}$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5328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Regions in the complex plane, Area of a sector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half-plane bounded by a line through the origin, so the region is a sector of the disc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half-plane bounded by a line through the origin, so the region is a sector of the disc of radius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imaginary part has numerator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line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passes through the origin).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$x^2+y^2\le25$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$\frac{z+1-\sqrt3i}{1-\sqrt3i}=\frac{\left[(x+1)+i(y-\sqrt3)\right](1+\sqrt3i)}{4}$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imaginary part has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$\sqrt3(x+1)+(y-\sqrt3)=\sqrt3x+y$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$\sqrt3x+y\ge0$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line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passes through the origin).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polar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intersection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a quarter disc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a sector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polar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$\varphi\in\left[-\frac\pi2,\frac\pi2\right]$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$\sqrt3x+y\ge0$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$\varphi\in\left[-\frac\pi3,\frac{2\pi}{3}\right]$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intersection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$\varphi\in\left[-\frac\pi3,\frac\pi2\right]$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$=\frac12\cdot5^2\cdot\frac{5\pi}{6}=\frac{125\pi}{12}$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a quarter disc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a sector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$\frac{125\pi}{12}$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Start from the half-disc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subtract the wedge cut off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Start from the half-disc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$\frac{25\pi}{2}$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subtract the wedge cut off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$\sqrt3x+y&lt;0$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half-disc of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part with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the directions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wedge of 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$S_1\cap 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half-disc of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$\frac12\pi\cdot25=\frac{25\pi}{2}$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$\sqrt3x+y&lt;0$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the directions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$\varphi=-\frac\pi2$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$\varphi=-\frac\pi3$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wedge of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$\frac12\cdot25\cdot\frac\pi6=\frac{25\pi}{12}$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$=\frac{25\pi}{2}-\frac{25\pi}{12}=\frac{150\pi-25\pi}{12}=\frac{125\pi}{12}$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$\frac{125\pi}{12}$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half-plane to the left of the directed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direction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real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passes through the origin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region of a disc bounded by lines through the centre is a sector: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angles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 on pieces: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$\mathrm{Im}\frac{z-a}{b}\ge0$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half-plane to the left of the directed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real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passes through the origin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$a=-1+\sqrt3i=-b$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region of a disc bounded by lines through the centre is a sector: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$=\frac12r^2\theta$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angles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$y=-\sqrt3x$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 on pieces: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$\frac{25\pi}{4}+\frac{25\pi}{6}=\frac{75\pi+50\pi}{12}=\frac{125\pi}{12}$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67004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two distinct complex numbers such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acc>
                                  <m:accPr>
                                    <m:chr m:val="‾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same circle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of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either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of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either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of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67004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two distinct complex numbers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$\left|\frac{z_1-2z_2}{\frac12-z_1\bar z_2}\right|=2$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same circle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Modulus identity for two complex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Square both sides; the cross terms cancel and the equation factorises as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Square both sides; the cross terms cancel and the equation factorises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$\left(|z_1|^2-1\right)\left(1-4|z_2|^2\right)=0$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$|z_1-2z_2|=2\left|\frac12-z_1\bar z_2\right|=|1-2z_1\bar z_2|$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$|z_1-2z_2|^2=|z_1|^2-2z_1\bar z_2-2\bar z_1z_2+4|z_2|^2$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$|1-2z_1\bar z_2|^2=1-2\bar z_1z_2-2z_1\bar z_2+4|z_1|^2|z_2|^2$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Equate; the cross terms cancel: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either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of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Equate; the cross terms cancel: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$|z_1|^2+4|z_2|^2=1+4|z_1|^2|z_2|^2$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$|z_1|^2-1+4|z_2|^2-4|z_1|^2|z_2|^2=0\Rightarrow\left(|z_1|^2-1\right)\left(1-4|z_2|^2\right)=0$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$|z_2|=\frac12$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either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lies on a circle of radius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lies on a circle of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either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lies on a circle of radius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lies on a circle of radius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identity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identity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$\left|1-a\bar b\right|^2-|a-b|^2=(1-|a|^2)(1-|b|^2)$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$a=z_1$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$b=2z_2$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says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cross terms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condition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$|z_1-2z_2|=|1-2z_1\bar z_2|$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$|a-b|=|1-a\bar 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$|1-a\bar b|^2-|a-b|^2=1+|a|^2|b|^2-|a|^2-|b|^2=(1-|a|^2)(1-|b|^2)$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cross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$\pm2\mathrm{Re}(a\bar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$(1-|z_1|^2)(1-4|z_2|^2)=0$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$|z_2|=\frac12$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either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lies on a circle of radius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lies on a circle of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either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lies on a circle of radius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lies on a circle of radius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complex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Consequences: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Blaschke / disc-automorphism inequality).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Rescale to fit the identity: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$|1-a\bar b|^2-|a-b|^2=(1-|a|^2)(1-|b|^2)$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complex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$\frac{25}{36}-\frac1{36}=\frac23=\frac34\cdot\frac89$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Consequences: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$|a-b|=|1-a\bar 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$|a|,|b|&lt;1$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$|a-b|&lt;|1-a\bar 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Blaschke / disc-automorphism inequality).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Rescale to fit the identity: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$|z_2|=\frac12$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complex number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complex number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$|z+2|=1$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$\mathrm{Im}\left(\frac{z+1}{z+2}\right)=\frac15$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$\left|\mathrm{Re}(z+2)\right|$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$\frac{2\sqrt6}{5}$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$\frac{24}{5}$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$\frac{1+\sqrt6}{5}$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$\frac{\sqrt6}{5}$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9115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Unit circle parametrisation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9115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Unit circle parametrisation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its imaginary part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$z+2=e^{i\theta}$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$\frac{z+1}{z+2}=1-e^{-i\theta}$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its imaginary part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$|z+2|=1$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$z+2=e^{i\theta}$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$\frac{z+1}{z+2}=\frac{e^{i\theta}-1}{e^{i\theta}}=1-e^{-i\theta}=1-\cos\theta+i\sin\theta$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$\mathrm{Im}=\sin\theta=\frac15$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$\mathrm{Re}(z+2)=\cos\theta$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$\cos^2\theta=1-\frac1{25}=\frac{24}{25}$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$|\cos\theta|=\frac{2\sqrt6}{5}$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$\frac{2\sqrt6}{5}$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the unit circle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ba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its imaginary part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the unit circle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$\frac1w=\bar 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$\frac{z+1}{z+2}=1-\overline{(z+2)}$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its imaginary part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$\mathrm{Im}(z+2)$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$w=z+2$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$|w|=1$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w=\frac1w$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$\frac{z+1}{z+2}=\frac{w-1}{w}=1-\frac1w=1-\bar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$\mathrm{Im}(1-\bar w)=-\mathrm{Im}(\bar w)=\mathrm{Im}\,w=\frac15$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$|\mathrm{Re}\,w|=\sqrt{1-\mathrm{Im}^2w}=\sqrt{1-\frac1{25}}=\frac{2\sqrt6}{5}$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$\frac{2\sqrt6}{5}$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unit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knowing one part gives the other up to sign - that is why the question asks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Shifted unit circles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 and express every given quantity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$|w|=1$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$\frac1w=\bar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$\frac{w-1}{w}=1-\bar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$\mathrm{Im}\frac{w-1}{w}=\mathrm{Im}\,w$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$\mathrm{Re}\frac{w-1}{w}=1-\mathrm{Re}\,w$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unit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$(\mathrm{Re}\,w)^2+(\mathrm{Im}\,w)^2=1$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knowing one part gives the other up to sign - that is why the question asks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$|\mathrm{Re}|$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Shifted unit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$|z+2|=1$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$w=z+2$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 and express every given quantity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$R=\{(a,b):a+5b=42,\ a,b\in\mathbb{N}\}$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$\sum_{n=1}^{m}\left(1-i^{n!}\right)=x+iy$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$i=\sqrt{-1}$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$m+x+y$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Number of positive integer solutions of a linear equation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Number of positive integer solutions of a linear equation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contribute to the sum.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$i^{n!}=1$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$n\ge4$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$4\mid n!$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$n=1,2,3$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contribute to the sum.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$a=42-5b&gt;0\Rightarrow b\le8$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$(a,b)=(37,1),(32,2),(27,3),(22,4),(17,5),(12,6),(7,7),(2,8)$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$4\mid n!$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$i^{n!}=1$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$1-i^{n!}=0$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$1-i^{1}=1-i$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$1-i^{2}=1+1=2$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$1-i^{6}=1-(-1)=2$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$\sum_{n=1}^{8}\left(1-i^{n!}\right)=(1-i)+2+2+0=5-i$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$m+x+y=8+5-1=12$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factorial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a few initial terms of such a sum survive. Likewise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positive 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sepChr m:val=""/>
                        <m:endChr m:val="⌋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sepChr m:val=""/>
                        <m:endChr m:val="⌋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list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depends only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factorial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$i^{n!}=1$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a few initial terms of such a sum survive. 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$\omega^{n!}=1$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positive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$a+5b=N$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$\left\lfloor\frac{N-1}{5}\right\rfloor=\left\lfloor\frac{41}{5}\right\rfloor=8$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list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$a\equiv2\pmod5$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$2,7,\dots,37$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depends only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$k\bmod4$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$1,i,-1,-i$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$k\equiv0,1,2,3$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possible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imaginary,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possible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$\theta\in[-\pi,2\pi]$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$\frac{1+i\cos\theta}{1-2i\cos\theta}$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imaginary,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$4\pi$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Purely imaginary complex number, Trigonometric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Rationalise: the real part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vanishes when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Rationalise: the real part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$\frac{1-2\cos^2\theta}{1+4\cos^2\theta}$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vanishes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$\cos^2\theta=\frac12$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Purely imaginary: real part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imaginary part is non-zero).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$\frac{1+i\cos\theta}{1-2i\cos\theta}=\frac{(1+i\cos\theta)(1+2i\cos\theta)}{1+4\cos^2\theta}=\frac{1-2\cos^2\theta+3i\cos\theta}{1+4\cos^2\theta}$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Purely imaginary: real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$\cos\theta=\pm\frac1{\sqrt2}\neq0$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imaginary part is non-zero).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$\cos\theta=\pm\frac{1}{\sqrt2}$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$\theta\in[-\pi,2\pi]$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$\theta=\pm\frac\pi4,\ \pm\frac{3\pi}{4},\ \frac{5\pi}{4},\ \frac{7\pi}{4}$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$=\left(-\frac\pi4+\frac\pi4\right)+\left(-\frac{3\pi}{4}+\frac{3\pi}{4}\right)+\frac{5\pi}{4}+\frac{7\pi}{4}=3\pi$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condition depends on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even, so roots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 in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only the roots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remain.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condition depends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even, so roots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$[-\pi,\pi]$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 in pairs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only the roots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$(\pi,2\pi]$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remain.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unchanged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solutions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in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(there are four, none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solutions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unchanged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$\theta\mapsto-\theta$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solutions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$[-\pi,\pi]$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in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(there are four, none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$(\pi,2\pi]$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$\theta=\frac{5\pi}{4}$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$=\frac{5\pi}{4}+\frac{7\pi}{4}=3\pi$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real part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imaginary part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real part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conditions in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solution set is symmetric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sums over symmetric intervals cancel in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list the ones inside the given interval carefully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six).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$\frac{1+ia}{1-ib}$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real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$\frac{1-ab}{1+b^2}$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imaginary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$\frac{a+b}{1+b^2}$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real part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$\frac{1-2\cos^2\theta}{1+4\cos^2\theta}$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conditions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solution set is symmetric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$\theta\to-\theta$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$\theta\to\pi-\theta$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sums over symmetric intervals cancel in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$\theta=\frac\pi4+\frac{k\pi}{2}$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list the ones inside the given interval carefully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$[-\pi,2\pi]$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six).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complex number such that the real part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zero. Then, the maximum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complex number such that the real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$\frac{z-2i}{z+2i}$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zero. Then, the maximum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$|z-(6+8i)|$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Purely imaginary quotient (circle locus), Maximum distance from a point to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Real part zero means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den>
                            </m:f>
                          </m:e>
                        </m:d>
                      </m:e>
                    </m:ba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simplifies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use distance to centre plus radius.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Real part zero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$\frac{z-2i}{z+2i}+\overline{\left(\frac{z-2i}{z+2i}\right)}=0$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simplifies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$|z|=2$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use distance to centre plus radius.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$\mathrm{Re}\left(\frac{z-2i}{z+2i}\right)=0\Rightarrow\frac{z-2i}{z+2i}+\frac{\bar z+2i}{\bar z-2i}=0$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$(z-2i)(\bar z-2i)+(\bar z+2i)(z+2i)=0$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$z\bar z-2iz-2i\bar z-4+z\bar z+2i\bar z+2iz-4=0\Rightarrow2|z|^2-8=0$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circle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from 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 circle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(attained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allowed):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from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$6+8i$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$|z-(6+8i)|$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$10+2=12$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(attained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$z=-\frac{6+8i}{5}$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allowed):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purely imaginary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the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subtended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right angle: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on the circle with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purely imaginary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$\frac{z-a}{z-b}$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the angle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subtended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right angle: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on the circle with diameter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$2i,-2i$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 (real part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exactly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(Thales).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diameter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$\frac{z-2i}{z+2i}$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 (real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$\angle(2i,z,-2i)=90^\circ$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(Thales).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diameter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Farthest point of this circle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along the line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the centre, at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Farthest point of this circle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$P=6+8i$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along the line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the centre,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$|P|+2=10+2=12$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(Thales);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an external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circle (centre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maximum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minimum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that the extremal point is not one of the excluded points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here): the maximiser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$\mathrm{Re}\frac{z-a}{z-b}=0\iff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(Thales);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$\mathrm{Im}\frac{z-a}{z-b}=0\iff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an external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circle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$|PC|+r$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$|PC|-r$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that the extremal point is not one of the excluded points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here): the maximiser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$-\frac{6+8i}{5}$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Q49 – Q50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numerical type)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solutions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$x_1,x_2,x_3,x_4$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$4x^4+8x^3-17x^2-12x+9=0$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$\left(4+x_1^2\right)\left(4+x_2^2\right)\left(4+x_3^2\right)\left(4+x_4^2\right)=\frac{125}{16}m$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Roots of a polynomial and symmetric products, Modulus of complex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product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$4+x^2=(x-2i)(x+2i)$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product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$\frac{P(2i)P(-2i)}{16}=\frac{|P(2i)|^2}{16}$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the signs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absorbed).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$P(x)=4x^4+8x^3-17x^2-12x+9=4(x-x_1)(x-x_2)(x-x_3)(x-x_4)$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$P(2i)=4\prod(2i-x_k)$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$P(2i)=4(16)+8(-8i)-17(-4)-12(2i)+9=64-64i+68-24i+9=141-88i$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$4+x_k^2=(x_k-2i)(x_k+2i)$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$\prod(4+x_k^2)=\frac{P(2i)}{4}\cdot\frac{P(-2i)}{4}$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the signs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absorbed).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real coefficients,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ba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valid whether the roots are real or not.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19881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27625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27625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27625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27625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real coefficients,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$P(-2i)=\overline{P(2i)}$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$\prod(4+x_k^2)=\frac{|P(2i)|^2}{16}$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valid whether the roots are real or not.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$|141-88i|^2=141^2+88^2=19881+7744=27625$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$\prod(4+x_k^2)=\frac{27625}{16}$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$\frac{125}{16}m=\frac{27625}{16}\Rightarrow m=\frac{27625}{125}=221$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221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Factorise the quartic: it has four rational roots, so the product can be computed directly.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roots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product of the constants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root: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27625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27625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$P(x)=(2x-3)(x+3)(2x-1)(x+1)$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$\frac32,\ -3,\ \frac12,\ 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product of the constants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$-3\cdot3\cdot(-1)\cdot1=9$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root: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$\frac{25}{4},\ 13,\ \frac{17}{4},\ 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$=\frac{25}{4}\cdot13\cdot\frac{17}{4}\cdot5=\frac{425}{16}\cdot65=\frac{27625}{16}$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$\frac{125}{16}m=\frac{27625}{16}$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221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real-coefficient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leading coefficient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true for all roots, real or complex.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 check: the roots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27625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real-coefficient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leading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$\prod(x_k^2+a^2)=\frac{P(ia)P(-ia)}{a_n^2}=\frac{|P(ia)|^2}{a_n^2}$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true for all roots, real or complex.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$\prod(x_k-t)=(-1)^n\frac{P(t)}{a_n}$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$\prod(x_k^2-t^2)=\frac{P(t)P(-t)}{a_n^2}$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 check: the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$\frac32,-3,\frac12,-1$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$\frac{25}{4}\cdot13\cdot\frac{17}{4}\cdot5=\frac{27625}{16}$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$\frac{|141-88i|^2}{16}$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square of the modulus of the elements in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square of the modulus of the elements in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$\{z=a+ib:\ a,b\in\mathbb{Z},\ z\in\mathbb{C},\ |z-1|\le1,\ |z-5|\le|z-5i|\}$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Lattice points in a region of the complex plane, Modulus of a complex number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five lattice points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test the second condition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on each.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five lattice points lie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$|z-1|\le1$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test the second condition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$a\ge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on each.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five points: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 All five qualify.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$|z-1|\le1$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$(a-1)^2+b^2\le1$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$(a,b)=(1,0),(0,0),(2,0),(1,1),(1,-1)$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$|z-5|\le|z-5i|$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$(a-5)^2+b^2\le a^2+(b-5)^2\Rightarrow-10a+25\le-10b+25\Rightarrow a\ge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five 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 All five qualify.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$0,\ 1,\ 4,\ 2,\ 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$=0+1+4+2+2=9$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closed half-plane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side of the perpendicular bisector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bisector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half-plane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Lattice points in a disc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an integer centre: the centre and its four neighbours (axis steps only, since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such small counts do not draw: list the candidate lattice points and test every condition on each.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$|z-p|\le|z-q|$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closed half-plane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side of the perpendicular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$q=5i$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bisector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half-plane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$a\ge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Lattice points in a disc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an integer centre: the centre and its four neighbours (axis steps only,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such small counts do not draw: list the candidate lattice points and test every condition on each.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(6/10)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(7/10)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(8/10)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(9/10)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(10/10)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2.06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9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29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12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50 questions, 200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Complex Number JM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2.06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