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B6D7A8"/>
              </a:solidFill>
              <a:ln w="9525">
                <a:solidFill>
                  <a:srgbClr val="111827"/>
                </a:solidFill>
              </a:ln>
            </c:spPr>
          </c:dPt>
          <c:dPt>
            <c:idx val="2"/>
            <c:spPr>
              <a:solidFill>
                <a:srgbClr val="B6D7A8"/>
              </a:solidFill>
              <a:ln w="9525">
                <a:solidFill>
                  <a:srgbClr val="111827"/>
                </a:solidFill>
              </a:ln>
            </c:spPr>
          </c:dPt>
          <c:dPt>
            <c:idx val="3"/>
            <c:spPr>
              <a:solidFill>
                <a:srgbClr val="B6D7A8"/>
              </a:solidFill>
              <a:ln w="9525">
                <a:solidFill>
                  <a:srgbClr val="111827"/>
                </a:solidFill>
              </a:ln>
            </c:spPr>
          </c:dPt>
          <c:dPt>
            <c:idx val="4"/>
            <c:spPr>
              <a:solidFill>
                <a:srgbClr val="B6D7A8"/>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B6D7A8"/>
              </a:solidFill>
              <a:ln w="9525">
                <a:solidFill>
                  <a:srgbClr val="111827"/>
                </a:solidFill>
              </a:ln>
            </c:spPr>
          </c:dPt>
          <c:dPt>
            <c:idx val="12"/>
            <c:spPr>
              <a:solidFill>
                <a:srgbClr val="FFD966"/>
              </a:solidFill>
              <a:ln w="9525">
                <a:solidFill>
                  <a:srgbClr val="111827"/>
                </a:solidFill>
              </a:ln>
            </c:spPr>
          </c:dPt>
          <c:dPt>
            <c:idx val="13"/>
            <c:spPr>
              <a:solidFill>
                <a:srgbClr val="FFD966"/>
              </a:solidFill>
              <a:ln w="9525">
                <a:solidFill>
                  <a:srgbClr val="111827"/>
                </a:solidFill>
              </a:ln>
            </c:spPr>
          </c:dPt>
          <c:dPt>
            <c:idx val="14"/>
            <c:spPr>
              <a:solidFill>
                <a:srgbClr val="B6D7A8"/>
              </a:solidFill>
              <a:ln w="9525">
                <a:solidFill>
                  <a:srgbClr val="111827"/>
                </a:solidFill>
              </a:ln>
            </c:spPr>
          </c:dPt>
          <c:dPt>
            <c:idx val="15"/>
            <c:spPr>
              <a:solidFill>
                <a:srgbClr val="B6D7A8"/>
              </a:solidFill>
              <a:ln w="9525">
                <a:solidFill>
                  <a:srgbClr val="111827"/>
                </a:solidFill>
              </a:ln>
            </c:spPr>
          </c:dPt>
          <c:dPt>
            <c:idx val="16"/>
            <c:spPr>
              <a:solidFill>
                <a:srgbClr val="B6D7A8"/>
              </a:solidFill>
              <a:ln w="9525">
                <a:solidFill>
                  <a:srgbClr val="111827"/>
                </a:solidFill>
              </a:ln>
            </c:spPr>
          </c:dPt>
          <c:dPt>
            <c:idx val="17"/>
            <c:spPr>
              <a:solidFill>
                <a:srgbClr val="B6D7A8"/>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dPt>
            <c:idx val="20"/>
            <c:spPr>
              <a:solidFill>
                <a:srgbClr val="FFD966"/>
              </a:solidFill>
              <a:ln w="9525">
                <a:solidFill>
                  <a:srgbClr val="111827"/>
                </a:solidFill>
              </a:ln>
            </c:spPr>
          </c:dPt>
          <c:dPt>
            <c:idx val="21"/>
            <c:spPr>
              <a:solidFill>
                <a:srgbClr val="FFD966"/>
              </a:solidFill>
              <a:ln w="9525">
                <a:solidFill>
                  <a:srgbClr val="111827"/>
                </a:solidFill>
              </a:ln>
            </c:spPr>
          </c:dPt>
          <c:dPt>
            <c:idx val="22"/>
            <c:spPr>
              <a:solidFill>
                <a:srgbClr val="FFD966"/>
              </a:solidFill>
              <a:ln w="9525">
                <a:solidFill>
                  <a:srgbClr val="111827"/>
                </a:solidFill>
              </a:ln>
            </c:spPr>
          </c:dPt>
          <c:dPt>
            <c:idx val="23"/>
            <c:spPr>
              <a:solidFill>
                <a:srgbClr val="B6D7A8"/>
              </a:solidFill>
              <a:ln w="9525">
                <a:solidFill>
                  <a:srgbClr val="111827"/>
                </a:solidFill>
              </a:ln>
            </c:spPr>
          </c:dPt>
          <c:dPt>
            <c:idx val="24"/>
            <c:spPr>
              <a:solidFill>
                <a:srgbClr val="FFD966"/>
              </a:solidFill>
              <a:ln w="9525">
                <a:solidFill>
                  <a:srgbClr val="111827"/>
                </a:solidFill>
              </a:ln>
            </c:spPr>
          </c:dPt>
          <c:dPt>
            <c:idx val="25"/>
            <c:spPr>
              <a:solidFill>
                <a:srgbClr val="B6D7A8"/>
              </a:solidFill>
              <a:ln w="9525">
                <a:solidFill>
                  <a:srgbClr val="111827"/>
                </a:solidFill>
              </a:ln>
            </c:spPr>
          </c:dPt>
          <c:dPt>
            <c:idx val="26"/>
            <c:spPr>
              <a:solidFill>
                <a:srgbClr val="FFD966"/>
              </a:solidFill>
              <a:ln w="9525">
                <a:solidFill>
                  <a:srgbClr val="111827"/>
                </a:solidFill>
              </a:ln>
            </c:spPr>
          </c:dPt>
          <c:dPt>
            <c:idx val="27"/>
            <c:spPr>
              <a:solidFill>
                <a:srgbClr val="B6D7A8"/>
              </a:solidFill>
              <a:ln w="9525">
                <a:solidFill>
                  <a:srgbClr val="111827"/>
                </a:solidFill>
              </a:ln>
            </c:spPr>
          </c:dPt>
          <c:dPt>
            <c:idx val="28"/>
            <c:spPr>
              <a:solidFill>
                <a:srgbClr val="B6D7A8"/>
              </a:solidFill>
              <a:ln w="9525">
                <a:solidFill>
                  <a:srgbClr val="111827"/>
                </a:solidFill>
              </a:ln>
            </c:spPr>
          </c:dPt>
          <c:dPt>
            <c:idx val="29"/>
            <c:spPr>
              <a:solidFill>
                <a:srgbClr val="B6D7A8"/>
              </a:solidFill>
              <a:ln w="9525">
                <a:solidFill>
                  <a:srgbClr val="111827"/>
                </a:solidFill>
              </a:ln>
            </c:spPr>
          </c:dPt>
          <c:dPt>
            <c:idx val="30"/>
            <c:spPr>
              <a:solidFill>
                <a:srgbClr val="FFD966"/>
              </a:solidFill>
              <a:ln w="9525">
                <a:solidFill>
                  <a:srgbClr val="111827"/>
                </a:solidFill>
              </a:ln>
            </c:spPr>
          </c:dPt>
          <c:dPt>
            <c:idx val="31"/>
            <c:spPr>
              <a:solidFill>
                <a:srgbClr val="FFD966"/>
              </a:solidFill>
              <a:ln w="9525">
                <a:solidFill>
                  <a:srgbClr val="111827"/>
                </a:solidFill>
              </a:ln>
            </c:spPr>
          </c:dPt>
          <c:dPt>
            <c:idx val="32"/>
            <c:spPr>
              <a:solidFill>
                <a:srgbClr val="FFD966"/>
              </a:solidFill>
              <a:ln w="9525">
                <a:solidFill>
                  <a:srgbClr val="111827"/>
                </a:solidFill>
              </a:ln>
            </c:spPr>
          </c:dPt>
          <c:dPt>
            <c:idx val="33"/>
            <c:spPr>
              <a:solidFill>
                <a:srgbClr val="B6D7A8"/>
              </a:solidFill>
              <a:ln w="9525">
                <a:solidFill>
                  <a:srgbClr val="111827"/>
                </a:solidFill>
              </a:ln>
            </c:spPr>
          </c:dPt>
          <c:dPt>
            <c:idx val="34"/>
            <c:spPr>
              <a:solidFill>
                <a:srgbClr val="E88080"/>
              </a:solidFill>
              <a:ln w="9525">
                <a:solidFill>
                  <a:srgbClr val="111827"/>
                </a:solidFill>
              </a:ln>
            </c:spPr>
          </c:dPt>
          <c:dPt>
            <c:idx val="35"/>
            <c:spPr>
              <a:solidFill>
                <a:srgbClr val="FFD966"/>
              </a:solidFill>
              <a:ln w="9525">
                <a:solidFill>
                  <a:srgbClr val="111827"/>
                </a:solidFill>
              </a:ln>
            </c:spPr>
          </c:dPt>
          <c:dPt>
            <c:idx val="36"/>
            <c:spPr>
              <a:solidFill>
                <a:srgbClr val="FFD966"/>
              </a:solidFill>
              <a:ln w="9525">
                <a:solidFill>
                  <a:srgbClr val="111827"/>
                </a:solidFill>
              </a:ln>
            </c:spPr>
          </c:dPt>
          <c:dPt>
            <c:idx val="37"/>
            <c:spPr>
              <a:solidFill>
                <a:srgbClr val="F6B26B"/>
              </a:solidFill>
              <a:ln w="9525">
                <a:solidFill>
                  <a:srgbClr val="111827"/>
                </a:solidFill>
              </a:ln>
            </c:spPr>
          </c:dPt>
          <c:dPt>
            <c:idx val="38"/>
            <c:spPr>
              <a:solidFill>
                <a:srgbClr val="F6B26B"/>
              </a:solidFill>
              <a:ln w="9525">
                <a:solidFill>
                  <a:srgbClr val="111827"/>
                </a:solidFill>
              </a:ln>
            </c:spPr>
          </c:dPt>
          <c:dPt>
            <c:idx val="39"/>
            <c:spPr>
              <a:solidFill>
                <a:srgbClr val="FFD966"/>
              </a:solidFill>
              <a:ln w="9525">
                <a:solidFill>
                  <a:srgbClr val="111827"/>
                </a:solidFill>
              </a:ln>
            </c:spPr>
          </c:dPt>
          <c:dPt>
            <c:idx val="40"/>
            <c:spPr>
              <a:solidFill>
                <a:srgbClr val="B6D7A8"/>
              </a:solidFill>
              <a:ln w="9525">
                <a:solidFill>
                  <a:srgbClr val="111827"/>
                </a:solidFill>
              </a:ln>
            </c:spPr>
          </c:dPt>
          <c:dPt>
            <c:idx val="41"/>
            <c:spPr>
              <a:solidFill>
                <a:srgbClr val="B6D7A8"/>
              </a:solidFill>
              <a:ln w="9525">
                <a:solidFill>
                  <a:srgbClr val="111827"/>
                </a:solidFill>
              </a:ln>
            </c:spPr>
          </c:dPt>
          <c:dPt>
            <c:idx val="42"/>
            <c:spPr>
              <a:solidFill>
                <a:srgbClr val="FFD966"/>
              </a:solidFill>
              <a:ln w="9525">
                <a:solidFill>
                  <a:srgbClr val="111827"/>
                </a:solidFill>
              </a:ln>
            </c:spPr>
          </c:dPt>
          <c:dPt>
            <c:idx val="43"/>
            <c:spPr>
              <a:solidFill>
                <a:srgbClr val="FFD966"/>
              </a:solidFill>
              <a:ln w="9525">
                <a:solidFill>
                  <a:srgbClr val="111827"/>
                </a:solidFill>
              </a:ln>
            </c:spPr>
          </c:dPt>
          <c:dPt>
            <c:idx val="44"/>
            <c:spPr>
              <a:solidFill>
                <a:srgbClr val="F6B26B"/>
              </a:solidFill>
              <a:ln w="9525">
                <a:solidFill>
                  <a:srgbClr val="111827"/>
                </a:solidFill>
              </a:ln>
            </c:spPr>
          </c:dPt>
          <c:dPt>
            <c:idx val="45"/>
            <c:spPr>
              <a:solidFill>
                <a:srgbClr val="F6B26B"/>
              </a:solidFill>
              <a:ln w="9525">
                <a:solidFill>
                  <a:srgbClr val="111827"/>
                </a:solidFill>
              </a:ln>
            </c:spPr>
          </c:dPt>
          <c:dPt>
            <c:idx val="46"/>
            <c:spPr>
              <a:solidFill>
                <a:srgbClr val="FFD966"/>
              </a:solidFill>
              <a:ln w="9525">
                <a:solidFill>
                  <a:srgbClr val="111827"/>
                </a:solidFill>
              </a:ln>
            </c:spPr>
          </c:dPt>
          <c:dPt>
            <c:idx val="47"/>
            <c:spPr>
              <a:solidFill>
                <a:srgbClr val="FFD966"/>
              </a:solidFill>
              <a:ln w="9525">
                <a:solidFill>
                  <a:srgbClr val="111827"/>
                </a:solidFill>
              </a:ln>
            </c:spPr>
          </c:dPt>
          <c:dPt>
            <c:idx val="48"/>
            <c:spPr>
              <a:solidFill>
                <a:srgbClr val="B6D7A8"/>
              </a:solidFill>
              <a:ln w="9525">
                <a:solidFill>
                  <a:srgbClr val="111827"/>
                </a:solidFill>
              </a:ln>
            </c:spPr>
          </c:dPt>
          <c:dPt>
            <c:idx val="49"/>
            <c:spPr>
              <a:solidFill>
                <a:srgbClr val="FFD966"/>
              </a:solidFill>
              <a:ln w="9525">
                <a:solidFill>
                  <a:srgbClr val="111827"/>
                </a:solidFill>
              </a:ln>
            </c:spPr>
          </c:dPt>
          <c:dPt>
            <c:idx val="50"/>
            <c:spPr>
              <a:solidFill>
                <a:srgbClr val="FFD966"/>
              </a:solidFill>
              <a:ln w="9525">
                <a:solidFill>
                  <a:srgbClr val="111827"/>
                </a:solidFill>
              </a:ln>
            </c:spPr>
          </c:dPt>
          <c:dPt>
            <c:idx val="51"/>
            <c:spPr>
              <a:solidFill>
                <a:srgbClr val="F6B26B"/>
              </a:solidFill>
              <a:ln w="9525">
                <a:solidFill>
                  <a:srgbClr val="111827"/>
                </a:solidFill>
              </a:ln>
            </c:spPr>
          </c:dPt>
          <c:dPt>
            <c:idx val="52"/>
            <c:spPr>
              <a:solidFill>
                <a:srgbClr val="FFD966"/>
              </a:solidFill>
              <a:ln w="9525">
                <a:solidFill>
                  <a:srgbClr val="111827"/>
                </a:solidFill>
              </a:ln>
            </c:spPr>
          </c:dPt>
          <c:dPt>
            <c:idx val="53"/>
            <c:spPr>
              <a:solidFill>
                <a:srgbClr val="F6B26B"/>
              </a:solidFill>
              <a:ln w="9525">
                <a:solidFill>
                  <a:srgbClr val="111827"/>
                </a:solidFill>
              </a:ln>
            </c:spPr>
          </c:dPt>
          <c:dPt>
            <c:idx val="54"/>
            <c:spPr>
              <a:solidFill>
                <a:srgbClr val="FFD966"/>
              </a:solidFill>
              <a:ln w="9525">
                <a:solidFill>
                  <a:srgbClr val="111827"/>
                </a:solidFill>
              </a:ln>
            </c:spPr>
          </c:dPt>
          <c:dPt>
            <c:idx val="55"/>
            <c:spPr>
              <a:solidFill>
                <a:srgbClr val="FFD966"/>
              </a:solidFill>
              <a:ln w="9525">
                <a:solidFill>
                  <a:srgbClr val="111827"/>
                </a:solidFill>
              </a:ln>
            </c:spPr>
          </c:dPt>
          <c:dPt>
            <c:idx val="56"/>
            <c:spPr>
              <a:solidFill>
                <a:srgbClr val="FFD966"/>
              </a:solidFill>
              <a:ln w="9525">
                <a:solidFill>
                  <a:srgbClr val="111827"/>
                </a:solidFill>
              </a:ln>
            </c:spPr>
          </c:dPt>
          <c:dPt>
            <c:idx val="57"/>
            <c:spPr>
              <a:solidFill>
                <a:srgbClr val="F6B26B"/>
              </a:solidFill>
              <a:ln w="9525">
                <a:solidFill>
                  <a:srgbClr val="111827"/>
                </a:solidFill>
              </a:ln>
            </c:spPr>
          </c:dPt>
          <c:cat>
            <c:strRef>
              <c:f>Sheet1!$A$2:$A$59</c:f>
              <c:strCache>
                <c:ptCount val="58"/>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pt idx="51">
                  <c:v>Q52</c:v>
                </c:pt>
                <c:pt idx="52">
                  <c:v>Q53</c:v>
                </c:pt>
                <c:pt idx="53">
                  <c:v>Q54</c:v>
                </c:pt>
                <c:pt idx="54">
                  <c:v>Q55</c:v>
                </c:pt>
                <c:pt idx="55">
                  <c:v>Q56</c:v>
                </c:pt>
                <c:pt idx="56">
                  <c:v>Q57</c:v>
                </c:pt>
                <c:pt idx="57">
                  <c:v>Q58</c:v>
                </c:pt>
              </c:strCache>
            </c:strRef>
          </c:cat>
          <c:val>
            <c:numRef>
              <c:f>Sheet1!$B$2:$B$59</c:f>
              <c:numCache>
                <c:formatCode>General</c:formatCode>
                <c:ptCount val="58"/>
                <c:pt idx="0">
                  <c:v>1.0</c:v>
                </c:pt>
                <c:pt idx="1">
                  <c:v>1.0</c:v>
                </c:pt>
                <c:pt idx="2">
                  <c:v>1.0</c:v>
                </c:pt>
                <c:pt idx="3">
                  <c:v>1.0</c:v>
                </c:pt>
                <c:pt idx="4">
                  <c:v>1.0</c:v>
                </c:pt>
                <c:pt idx="5">
                  <c:v>1.0</c:v>
                </c:pt>
                <c:pt idx="6">
                  <c:v>2.0</c:v>
                </c:pt>
                <c:pt idx="7">
                  <c:v>2.0</c:v>
                </c:pt>
                <c:pt idx="8">
                  <c:v>2.0</c:v>
                </c:pt>
                <c:pt idx="9">
                  <c:v>2.0</c:v>
                </c:pt>
                <c:pt idx="10">
                  <c:v>2.0</c:v>
                </c:pt>
                <c:pt idx="11">
                  <c:v>1.0</c:v>
                </c:pt>
                <c:pt idx="12">
                  <c:v>2.0</c:v>
                </c:pt>
                <c:pt idx="13">
                  <c:v>2.0</c:v>
                </c:pt>
                <c:pt idx="14">
                  <c:v>1.0</c:v>
                </c:pt>
                <c:pt idx="15">
                  <c:v>1.0</c:v>
                </c:pt>
                <c:pt idx="16">
                  <c:v>1.0</c:v>
                </c:pt>
                <c:pt idx="17">
                  <c:v>1.0</c:v>
                </c:pt>
                <c:pt idx="18">
                  <c:v>2.0</c:v>
                </c:pt>
                <c:pt idx="19">
                  <c:v>2.0</c:v>
                </c:pt>
                <c:pt idx="20">
                  <c:v>2.0</c:v>
                </c:pt>
                <c:pt idx="21">
                  <c:v>2.0</c:v>
                </c:pt>
                <c:pt idx="22">
                  <c:v>2.0</c:v>
                </c:pt>
                <c:pt idx="23">
                  <c:v>1.0</c:v>
                </c:pt>
                <c:pt idx="24">
                  <c:v>2.0</c:v>
                </c:pt>
                <c:pt idx="25">
                  <c:v>1.0</c:v>
                </c:pt>
                <c:pt idx="26">
                  <c:v>2.0</c:v>
                </c:pt>
                <c:pt idx="27">
                  <c:v>1.0</c:v>
                </c:pt>
                <c:pt idx="28">
                  <c:v>1.0</c:v>
                </c:pt>
                <c:pt idx="29">
                  <c:v>1.0</c:v>
                </c:pt>
                <c:pt idx="30">
                  <c:v>2.0</c:v>
                </c:pt>
                <c:pt idx="31">
                  <c:v>2.0</c:v>
                </c:pt>
                <c:pt idx="32">
                  <c:v>2.0</c:v>
                </c:pt>
                <c:pt idx="33">
                  <c:v>1.0</c:v>
                </c:pt>
                <c:pt idx="34">
                  <c:v>4.0</c:v>
                </c:pt>
                <c:pt idx="35">
                  <c:v>2.0</c:v>
                </c:pt>
                <c:pt idx="36">
                  <c:v>2.0</c:v>
                </c:pt>
                <c:pt idx="37">
                  <c:v>3.0</c:v>
                </c:pt>
                <c:pt idx="38">
                  <c:v>3.0</c:v>
                </c:pt>
                <c:pt idx="39">
                  <c:v>2.0</c:v>
                </c:pt>
                <c:pt idx="40">
                  <c:v>1.0</c:v>
                </c:pt>
                <c:pt idx="41">
                  <c:v>1.0</c:v>
                </c:pt>
                <c:pt idx="42">
                  <c:v>2.0</c:v>
                </c:pt>
                <c:pt idx="43">
                  <c:v>2.0</c:v>
                </c:pt>
                <c:pt idx="44">
                  <c:v>3.0</c:v>
                </c:pt>
                <c:pt idx="45">
                  <c:v>3.0</c:v>
                </c:pt>
                <c:pt idx="46">
                  <c:v>2.0</c:v>
                </c:pt>
                <c:pt idx="47">
                  <c:v>2.0</c:v>
                </c:pt>
                <c:pt idx="48">
                  <c:v>1.0</c:v>
                </c:pt>
                <c:pt idx="49">
                  <c:v>2.0</c:v>
                </c:pt>
                <c:pt idx="50">
                  <c:v>2.0</c:v>
                </c:pt>
                <c:pt idx="51">
                  <c:v>3.0</c:v>
                </c:pt>
                <c:pt idx="52">
                  <c:v>2.0</c:v>
                </c:pt>
                <c:pt idx="53">
                  <c:v>3.0</c:v>
                </c:pt>
                <c:pt idx="54">
                  <c:v>2.0</c:v>
                </c:pt>
                <c:pt idx="55">
                  <c:v>2.0</c:v>
                </c:pt>
                <c:pt idx="56">
                  <c:v>2.0</c:v>
                </c:pt>
                <c:pt idx="57">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list of prefixes omits the prefix 355 (25 numbers): it lists 7, 5, 37, 357, 3537, 3535 which sum to only 1411 with the number itself, yet prints 1436. Added the prefix 355 (25 numbers), giving 1435 numbers above it and rank 1436, which matches the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correctly gives 50400 (840 x 60), but its answer line prints 504000, an extra zero. The correct answer is 50400 (confirmed by brute force); the key looks like a typo.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answers 1260 by gluing one block abc or cba (7C1 x 2 x 6!/(2!2!2!)). That counts every number once per A.P. triple it contains, so numbers with two or three triples are counted several times, and the answer 1260 is wrong. The correct count of numbers having at least one A.P. triple is 944 (inclusion-exclusion; confirmed by brute force over all 1680 strings). If constant triples such as aaa were also admitted as 'A.P.' the count would be 1208; the question intends distinct a, b, c with common difference not zero.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ends with 8C1 x 4C2 = 48, which contradicts its own key (B) 16 and is wrong: choosing a first vertex counts every triangle three times (once per vertex). The correct count is 48/3 = 16 (confirmed by brute force over all 56 triples).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Permutations &amp; Combinations (Exercise J-M) — Paper Analysis</a:t>
            </a:r>
            <a:endParaRPr sz="4000">
              <a:solidFill>
                <a:srgbClr val="FFFFFF"/>
              </a:solidFill>
            </a:endParaRPr>
          </a:p>
          <a:p>
            <a:pPr algn="ctr"/>
            <a:r>
              <a:rPr sz="2200">
                <a:solidFill>
                  <a:srgbClr val="FFFFFF"/>
                </a:solidFill>
                <a:latin typeface="Arial"/>
              </a:rPr>
              <a:t>JEE Main previous-year questions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integers, greater than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that can be formed, using the digits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without repetition,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220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integers, greater than </a:t>
                </a:r>
                <a:r>
                  <a:rPr lang="en-IN" sz="2400">
                    <a:solidFill>
                      <a:srgbClr val="111827"/>
                    </a:solidFill>
                    <a:latin typeface="Cambria Math" panose="02040503050406030204" pitchFamily="18" charset="0"/>
                  </a:rPr>
                  <a:t>$7000$</a:t>
                </a:r>
                <a:r>
                  <a:rPr sz="2400" b="0">
                    <a:solidFill>
                      <a:srgbClr val="111827"/>
                    </a:solidFill>
                    <a:latin typeface="Arial"/>
                  </a:rPr>
                  <a:t> that can be formed, using the digits </a:t>
                </a:r>
                <a:r>
                  <a:rPr lang="en-IN" sz="2400">
                    <a:solidFill>
                      <a:srgbClr val="111827"/>
                    </a:solidFill>
                    <a:latin typeface="Cambria Math" panose="02040503050406030204" pitchFamily="18" charset="0"/>
                  </a:rPr>
                  <a:t>$3,5,6,7,8$</a:t>
                </a:r>
                <a:r>
                  <a:rPr sz="2400" b="0">
                    <a:solidFill>
                      <a:srgbClr val="111827"/>
                    </a:solidFill>
                    <a:latin typeface="Arial"/>
                  </a:rPr>
                  <a:t> without repetition,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$220$</a:t>
                </a:r>
                <a:r>
                  <a:rPr sz="2400" b="0">
                    <a:solidFill>
                      <a:srgbClr val="111827"/>
                    </a:solidFill>
                    <a:latin typeface="Arial"/>
                  </a:rPr>
                  <a:t>   (B) </a:t>
                </a:r>
                <a:r>
                  <a:rPr lang="en-IN" sz="2400">
                    <a:solidFill>
                      <a:srgbClr val="111827"/>
                    </a:solidFill>
                    <a:latin typeface="Cambria Math" panose="02040503050406030204" pitchFamily="18" charset="0"/>
                  </a:rPr>
                  <a:t>$168$</a:t>
                </a:r>
                <a:r>
                  <a:rPr sz="2400" b="0">
                    <a:solidFill>
                      <a:srgbClr val="111827"/>
                    </a:solidFill>
                    <a:latin typeface="Arial"/>
                  </a:rPr>
                  <a:t>   (C) </a:t>
                </a:r>
                <a:r>
                  <a:rPr lang="en-IN" sz="2400">
                    <a:solidFill>
                      <a:srgbClr val="111827"/>
                    </a:solidFill>
                    <a:latin typeface="Cambria Math" panose="02040503050406030204" pitchFamily="18" charset="0"/>
                  </a:rPr>
                  <a:t>$48$</a:t>
                </a:r>
                <a:r>
                  <a:rPr sz="2400" b="0">
                    <a:solidFill>
                      <a:srgbClr val="111827"/>
                    </a:solidFill>
                    <a:latin typeface="Arial"/>
                  </a:rPr>
                  <a:t>   (D) </a:t>
                </a:r>
                <a:r>
                  <a:rPr lang="en-IN" sz="2400">
                    <a:solidFill>
                      <a:srgbClr val="111827"/>
                    </a:solidFill>
                    <a:latin typeface="Cambria Math" panose="02040503050406030204" pitchFamily="18" charset="0"/>
                  </a:rPr>
                  <a:t>$120$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digits without repetition (numbers above a given value)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above </a:t>
                </a:r>
                <a14:m>
                  <m:oMath xmlns:m="http://schemas.openxmlformats.org/officeDocument/2006/math">
                    <m:r>
                      <a:rPr lang="en-IN" sz="2400" i="1">
                        <a:solidFill>
                          <a:srgbClr val="78350F"/>
                        </a:solidFill>
                        <a:latin typeface="Cambria Math" panose="02040503050406030204" pitchFamily="18" charset="0"/>
                      </a:rPr>
                      <m:t>7000</m:t>
                    </m:r>
                  </m:oMath>
                </a14:m>
                <a:r>
                  <a:rPr sz="2400" b="0">
                    <a:solidFill>
                      <a:srgbClr val="78350F"/>
                    </a:solidFill>
                    <a:latin typeface="Arial"/>
                  </a:rPr>
                  <a:t> is either a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-digit one with leading digit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or any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-digit one.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above </a:t>
                </a:r>
                <a:r>
                  <a:rPr lang="en-IN" sz="2400">
                    <a:solidFill>
                      <a:srgbClr val="78350F"/>
                    </a:solidFill>
                    <a:latin typeface="Cambria Math" panose="02040503050406030204" pitchFamily="18" charset="0"/>
                  </a:rPr>
                  <a:t>$7000$</a:t>
                </a:r>
                <a:r>
                  <a:rPr sz="2400" b="0">
                    <a:solidFill>
                      <a:srgbClr val="78350F"/>
                    </a:solidFill>
                    <a:latin typeface="Arial"/>
                  </a:rPr>
                  <a:t> is either a </a:t>
                </a:r>
                <a:r>
                  <a:rPr lang="en-IN" sz="2400">
                    <a:solidFill>
                      <a:srgbClr val="78350F"/>
                    </a:solidFill>
                    <a:latin typeface="Cambria Math" panose="02040503050406030204" pitchFamily="18" charset="0"/>
                  </a:rPr>
                  <a:t>$4$</a:t>
                </a:r>
                <a:r>
                  <a:rPr sz="2400" b="0">
                    <a:solidFill>
                      <a:srgbClr val="78350F"/>
                    </a:solidFill>
                    <a:latin typeface="Arial"/>
                  </a:rPr>
                  <a:t>-digit one with leading digit </a:t>
                </a:r>
                <a:r>
                  <a:rPr lang="en-IN" sz="2400">
                    <a:solidFill>
                      <a:srgbClr val="78350F"/>
                    </a:solidFill>
                    <a:latin typeface="Cambria Math" panose="02040503050406030204" pitchFamily="18" charset="0"/>
                  </a:rPr>
                  <a:t>$7$</a:t>
                </a:r>
                <a:r>
                  <a:rPr sz="2400" b="0">
                    <a:solidFill>
                      <a:srgbClr val="78350F"/>
                    </a:solidFill>
                    <a:latin typeface="Arial"/>
                  </a:rPr>
                  <a:t> or </a:t>
                </a:r>
                <a:r>
                  <a:rPr lang="en-IN" sz="2400">
                    <a:solidFill>
                      <a:srgbClr val="78350F"/>
                    </a:solidFill>
                    <a:latin typeface="Cambria Math" panose="02040503050406030204" pitchFamily="18" charset="0"/>
                  </a:rPr>
                  <a:t>$8$</a:t>
                </a:r>
                <a:r>
                  <a:rPr sz="2400" b="0">
                    <a:solidFill>
                      <a:srgbClr val="78350F"/>
                    </a:solidFill>
                    <a:latin typeface="Arial"/>
                  </a:rPr>
                  <a:t>, or any </a:t>
                </a:r>
                <a:r>
                  <a:rPr lang="en-IN" sz="2400">
                    <a:solidFill>
                      <a:srgbClr val="78350F"/>
                    </a:solidFill>
                    <a:latin typeface="Cambria Math" panose="02040503050406030204" pitchFamily="18" charset="0"/>
                  </a:rPr>
                  <a:t>$5$</a:t>
                </a:r>
                <a:r>
                  <a:rPr sz="2400" b="0">
                    <a:solidFill>
                      <a:srgbClr val="78350F"/>
                    </a:solidFill>
                    <a:latin typeface="Arial"/>
                  </a:rPr>
                  <a:t>-digit 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Four-digit numbers greater than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must start with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choices for the first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three places are filled from the other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without repetition: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Four-digit numbers greater than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Four-digit numbers greater than </a:t>
                </a:r>
                <a:r>
                  <a:rPr lang="en-IN" sz="2400">
                    <a:solidFill>
                      <a:srgbClr val="111827"/>
                    </a:solidFill>
                    <a:latin typeface="Cambria Math" panose="02040503050406030204" pitchFamily="18" charset="0"/>
                  </a:rPr>
                  <a:t>$7000$</a:t>
                </a:r>
                <a:r>
                  <a:rPr sz="2400" b="0">
                    <a:solidFill>
                      <a:srgbClr val="111827"/>
                    </a:solidFill>
                    <a:latin typeface="Arial"/>
                  </a:rPr>
                  <a:t> must start with </a:t>
                </a:r>
                <a:r>
                  <a:rPr lang="en-IN" sz="2400">
                    <a:solidFill>
                      <a:srgbClr val="111827"/>
                    </a:solidFill>
                    <a:latin typeface="Cambria Math" panose="02040503050406030204" pitchFamily="18" charset="0"/>
                  </a:rPr>
                  <a:t>$7$</a:t>
                </a:r>
                <a:r>
                  <a:rPr sz="2400" b="0">
                    <a:solidFill>
                      <a:srgbClr val="111827"/>
                    </a:solidFill>
                    <a:latin typeface="Arial"/>
                  </a:rPr>
                  <a:t> or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choices for the first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three places are filled from the other </a:t>
                </a:r>
                <a:r>
                  <a:rPr lang="en-IN" sz="2400">
                    <a:solidFill>
                      <a:srgbClr val="111827"/>
                    </a:solidFill>
                    <a:latin typeface="Cambria Math" panose="02040503050406030204" pitchFamily="18" charset="0"/>
                  </a:rPr>
                  <a:t>$4$</a:t>
                </a:r>
                <a:r>
                  <a:rPr sz="2400" b="0">
                    <a:solidFill>
                      <a:srgbClr val="111827"/>
                    </a:solidFill>
                    <a:latin typeface="Arial"/>
                  </a:rPr>
                  <a:t> digits without repetition: </a:t>
                </a:r>
                <a:r>
                  <a:rPr lang="en-IN" sz="2400">
                    <a:solidFill>
                      <a:srgbClr val="111827"/>
                    </a:solidFill>
                    <a:latin typeface="Cambria Math" panose="02040503050406030204" pitchFamily="18" charset="0"/>
                  </a:rPr>
                  <a:t>$4\times3\times2$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Four-digit numbers greater than </a:t>
                </a:r>
                <a:r>
                  <a:rPr lang="en-IN" sz="2400">
                    <a:solidFill>
                      <a:srgbClr val="111827"/>
                    </a:solidFill>
                    <a:latin typeface="Cambria Math" panose="02040503050406030204" pitchFamily="18" charset="0"/>
                  </a:rPr>
                  <a:t>$7000$</a:t>
                </a:r>
                <a:r>
                  <a:rPr sz="2400" b="0">
                    <a:solidFill>
                      <a:srgbClr val="111827"/>
                    </a:solidFill>
                    <a:latin typeface="Arial"/>
                  </a:rPr>
                  <a:t>: </a:t>
                </a:r>
                <a:r>
                  <a:rPr lang="en-IN" sz="2400">
                    <a:solidFill>
                      <a:srgbClr val="111827"/>
                    </a:solidFill>
                    <a:latin typeface="Cambria Math" panose="02040503050406030204" pitchFamily="18" charset="0"/>
                  </a:rPr>
                  <a:t>$2\times4\times3\times2=48$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Five-digit numbers (all exceed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greater than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Five-digit numbers (all exceed </a:t>
                </a:r>
                <a:r>
                  <a:rPr lang="en-IN" sz="2400">
                    <a:solidFill>
                      <a:srgbClr val="111827"/>
                    </a:solidFill>
                    <a:latin typeface="Cambria Math" panose="02040503050406030204" pitchFamily="18" charset="0"/>
                  </a:rPr>
                  <a:t>$7000$</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greater than </a:t>
                </a:r>
                <a:r>
                  <a:rPr lang="en-IN" sz="2400">
                    <a:solidFill>
                      <a:srgbClr val="111827"/>
                    </a:solidFill>
                    <a:latin typeface="Cambria Math" panose="02040503050406030204" pitchFamily="18" charset="0"/>
                  </a:rPr>
                  <a:t>$7000$</a:t>
                </a:r>
                <a:r>
                  <a:rPr sz="2400" b="0">
                    <a:solidFill>
                      <a:srgbClr val="111827"/>
                    </a:solidFill>
                    <a:latin typeface="Arial"/>
                  </a:rPr>
                  <a:t> is </a:t>
                </a:r>
                <a:r>
                  <a:rPr lang="en-IN" sz="2400">
                    <a:solidFill>
                      <a:srgbClr val="111827"/>
                    </a:solidFill>
                    <a:latin typeface="Cambria Math" panose="02040503050406030204" pitchFamily="18" charset="0"/>
                  </a:rPr>
                  <a:t>$120+48=168$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168</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all numbers with 4 or 5 distinct digits and subtract the 4-digit ones that are at most </a:t>
                </a:r>
                <a14:m>
                  <m:oMath xmlns:m="http://schemas.openxmlformats.org/officeDocument/2006/math">
                    <m:r>
                      <a:rPr lang="en-IN" sz="2400" i="1">
                        <a:solidFill>
                          <a:srgbClr val="78350F"/>
                        </a:solidFill>
                        <a:latin typeface="Cambria Math" panose="02040503050406030204" pitchFamily="18" charset="0"/>
                      </a:rPr>
                      <m:t>7000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all numbers with 4 or 5 distinct digits and subtract the 4-digit ones that are at most </a:t>
                </a:r>
                <a:r>
                  <a:rPr lang="en-IN" sz="2400">
                    <a:solidFill>
                      <a:srgbClr val="78350F"/>
                    </a:solidFill>
                    <a:latin typeface="Cambria Math" panose="02040503050406030204" pitchFamily="18" charset="0"/>
                  </a:rPr>
                  <a:t>$7000$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numbers with distinct digits from the five digits: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all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-digit ones: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number is below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when its first digit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(no number equals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not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t>
                </a:r>
                <a:r>
                  <a:rPr lang="en-IN" sz="2400">
                    <a:solidFill>
                      <a:srgbClr val="111827"/>
                    </a:solidFill>
                    <a:latin typeface="Cambria Math" panose="02040503050406030204" pitchFamily="18" charset="0"/>
                  </a:rPr>
                  <a:t>$4$</a:t>
                </a:r>
                <a:r>
                  <a:rPr sz="2400" b="0">
                    <a:solidFill>
                      <a:srgbClr val="111827"/>
                    </a:solidFill>
                    <a:latin typeface="Arial"/>
                  </a:rPr>
                  <a:t>-digit numbers with distinct digits from the five digits: </a:t>
                </a:r>
                <a:r>
                  <a:rPr lang="en-IN" sz="2400">
                    <a:solidFill>
                      <a:srgbClr val="111827"/>
                    </a:solidFill>
                    <a:latin typeface="Cambria Math" panose="02040503050406030204" pitchFamily="18" charset="0"/>
                  </a:rPr>
                  <a:t>${}^5P_4=120$</a:t>
                </a:r>
                <a:r>
                  <a:rPr sz="2400" b="0">
                    <a:solidFill>
                      <a:srgbClr val="111827"/>
                    </a:solidFill>
                    <a:latin typeface="Arial"/>
                  </a:rPr>
                  <a:t>; all </a:t>
                </a:r>
                <a:r>
                  <a:rPr lang="en-IN" sz="2400">
                    <a:solidFill>
                      <a:srgbClr val="111827"/>
                    </a:solidFill>
                    <a:latin typeface="Cambria Math" panose="02040503050406030204" pitchFamily="18" charset="0"/>
                  </a:rPr>
                  <a:t>$5$</a:t>
                </a:r>
                <a:r>
                  <a:rPr sz="2400" b="0">
                    <a:solidFill>
                      <a:srgbClr val="111827"/>
                    </a:solidFill>
                    <a:latin typeface="Arial"/>
                  </a:rPr>
                  <a:t>-digit ones: </a:t>
                </a:r>
                <a:r>
                  <a:rPr lang="en-IN" sz="2400">
                    <a:solidFill>
                      <a:srgbClr val="111827"/>
                    </a:solidFill>
                    <a:latin typeface="Cambria Math" panose="02040503050406030204" pitchFamily="18" charset="0"/>
                  </a:rPr>
                  <a:t>$5!=120$</a:t>
                </a:r>
                <a:r>
                  <a:rPr sz="2400" b="0">
                    <a:solidFill>
                      <a:srgbClr val="111827"/>
                    </a:solidFill>
                    <a:latin typeface="Arial"/>
                  </a:rPr>
                  <a:t>; total </a:t>
                </a:r>
                <a:r>
                  <a:rPr lang="en-IN" sz="2400">
                    <a:solidFill>
                      <a:srgbClr val="111827"/>
                    </a:solidFill>
                    <a:latin typeface="Cambria Math" panose="02040503050406030204" pitchFamily="18" charset="0"/>
                  </a:rPr>
                  <a:t>$240$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-digit number is below </a:t>
                </a:r>
                <a:r>
                  <a:rPr lang="en-IN" sz="2400">
                    <a:solidFill>
                      <a:srgbClr val="111827"/>
                    </a:solidFill>
                    <a:latin typeface="Cambria Math" panose="02040503050406030204" pitchFamily="18" charset="0"/>
                  </a:rPr>
                  <a:t>$7000$</a:t>
                </a:r>
                <a:r>
                  <a:rPr sz="2400" b="0">
                    <a:solidFill>
                      <a:srgbClr val="111827"/>
                    </a:solidFill>
                    <a:latin typeface="Arial"/>
                  </a:rPr>
                  <a:t> when its first digit is </a:t>
                </a:r>
                <a:r>
                  <a:rPr lang="en-IN" sz="2400">
                    <a:solidFill>
                      <a:srgbClr val="111827"/>
                    </a:solidFill>
                    <a:latin typeface="Cambria Math" panose="02040503050406030204" pitchFamily="18" charset="0"/>
                  </a:rPr>
                  <a:t>$3,5$</a:t>
                </a:r>
                <a:r>
                  <a:rPr sz="2400" b="0">
                    <a:solidFill>
                      <a:srgbClr val="111827"/>
                    </a:solidFill>
                    <a:latin typeface="Arial"/>
                  </a:rPr>
                  <a:t> or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$3\times4\times3\times2=72$</a:t>
                </a:r>
                <a:r>
                  <a:rPr sz="2400" b="0">
                    <a:solidFill>
                      <a:srgbClr val="111827"/>
                    </a:solidFill>
                    <a:latin typeface="Arial"/>
                  </a:rPr>
                  <a:t> (no number equals </a:t>
                </a:r>
                <a:r>
                  <a:rPr lang="en-IN" sz="2400">
                    <a:solidFill>
                      <a:srgbClr val="111827"/>
                    </a:solidFill>
                    <a:latin typeface="Cambria Math" panose="02040503050406030204" pitchFamily="18" charset="0"/>
                  </a:rPr>
                  <a:t>$7000$</a:t>
                </a:r>
                <a:r>
                  <a:rPr sz="2400" b="0">
                    <a:solidFill>
                      <a:srgbClr val="111827"/>
                    </a:solidFill>
                    <a:latin typeface="Arial"/>
                  </a:rPr>
                  <a:t> since </a:t>
                </a:r>
                <a:r>
                  <a:rPr lang="en-IN" sz="2400">
                    <a:solidFill>
                      <a:srgbClr val="111827"/>
                    </a:solidFill>
                    <a:latin typeface="Cambria Math" panose="02040503050406030204" pitchFamily="18" charset="0"/>
                  </a:rPr>
                  <a:t>$0$</a:t>
                </a:r>
                <a:r>
                  <a:rPr sz="2400" b="0">
                    <a:solidFill>
                      <a:srgbClr val="111827"/>
                    </a:solidFill>
                    <a:latin typeface="Arial"/>
                  </a:rPr>
                  <a:t> is not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r>
                  <a:rPr lang="en-IN" sz="2400">
                    <a:solidFill>
                      <a:srgbClr val="111827"/>
                    </a:solidFill>
                    <a:latin typeface="Cambria Math" panose="02040503050406030204" pitchFamily="18" charset="0"/>
                  </a:rPr>
                  <a:t>$=240-72=168$</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168</a:t>
            </a:r>
            <a:endParaRPr sz="2800">
              <a:solidFill>
                <a:srgbClr val="15803D"/>
              </a:solidFil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'Greater than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counts: sum over leading-digit choices, or complement from the total; check whether longer numbers also qualify.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chosen without repetition: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places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digits give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 leading-digit restriction multiplies the remaining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by the allowed first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lengths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give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 digit strings; </a:t>
                </a:r>
                <a14:m>
                  <m:oMath xmlns:m="http://schemas.openxmlformats.org/officeDocument/2006/math">
                    <m:r>
                      <a:rPr lang="en-IN" sz="2400" i="1">
                        <a:solidFill>
                          <a:srgbClr val="111827"/>
                        </a:solidFill>
                        <a:latin typeface="Cambria Math" panose="02040503050406030204" pitchFamily="18" charset="0"/>
                      </a:rPr>
                      <m:t>168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of them exceed </a:t>
                </a:r>
                <a14:m>
                  <m:oMath xmlns:m="http://schemas.openxmlformats.org/officeDocument/2006/math">
                    <m:r>
                      <a:rPr lang="en-IN" sz="2400" i="1">
                        <a:solidFill>
                          <a:srgbClr val="111827"/>
                        </a:solidFill>
                        <a:latin typeface="Cambria Math" panose="02040503050406030204" pitchFamily="18" charset="0"/>
                      </a:rPr>
                      <m:t>7000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'Greater than </a:t>
                </a:r>
                <a:r>
                  <a:rPr lang="en-IN" sz="2400">
                    <a:solidFill>
                      <a:srgbClr val="111827"/>
                    </a:solidFill>
                    <a:latin typeface="Cambria Math" panose="02040503050406030204" pitchFamily="18" charset="0"/>
                  </a:rPr>
                  <a:t>$N$</a:t>
                </a:r>
                <a:r>
                  <a:rPr sz="2400" b="0">
                    <a:solidFill>
                      <a:srgbClr val="111827"/>
                    </a:solidFill>
                    <a:latin typeface="Arial"/>
                  </a:rPr>
                  <a:t>' counts: sum over leading-digit choices, or complement from the total; check whether longer numbers also qualify.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chosen without repetition: </a:t>
                </a:r>
                <a:r>
                  <a:rPr lang="en-IN" sz="2400">
                    <a:solidFill>
                      <a:srgbClr val="111827"/>
                    </a:solidFill>
                    <a:latin typeface="Cambria Math" panose="02040503050406030204" pitchFamily="18" charset="0"/>
                  </a:rPr>
                  <a:t>$r$</a:t>
                </a:r>
                <a:r>
                  <a:rPr sz="2400" b="0">
                    <a:solidFill>
                      <a:srgbClr val="111827"/>
                    </a:solidFill>
                    <a:latin typeface="Arial"/>
                  </a:rPr>
                  <a:t> places from </a:t>
                </a:r>
                <a:r>
                  <a:rPr lang="en-IN" sz="2400">
                    <a:solidFill>
                      <a:srgbClr val="111827"/>
                    </a:solidFill>
                    <a:latin typeface="Cambria Math" panose="02040503050406030204" pitchFamily="18" charset="0"/>
                  </a:rPr>
                  <a:t>$n$</a:t>
                </a:r>
                <a:r>
                  <a:rPr sz="2400" b="0">
                    <a:solidFill>
                      <a:srgbClr val="111827"/>
                    </a:solidFill>
                    <a:latin typeface="Arial"/>
                  </a:rPr>
                  <a:t> digits give </a:t>
                </a:r>
                <a:r>
                  <a:rPr lang="en-IN" sz="2400">
                    <a:solidFill>
                      <a:srgbClr val="111827"/>
                    </a:solidFill>
                    <a:latin typeface="Cambria Math" panose="02040503050406030204" pitchFamily="18" charset="0"/>
                  </a:rPr>
                  <a:t>${}^nP_r$</a:t>
                </a:r>
                <a:r>
                  <a:rPr sz="2400" b="0">
                    <a:solidFill>
                      <a:srgbClr val="111827"/>
                    </a:solidFill>
                    <a:latin typeface="Arial"/>
                  </a:rPr>
                  <a:t>; a leading-digit restriction multiplies the remaining </a:t>
                </a:r>
                <a:r>
                  <a:rPr lang="en-IN" sz="2400">
                    <a:solidFill>
                      <a:srgbClr val="111827"/>
                    </a:solidFill>
                    <a:latin typeface="Cambria Math" panose="02040503050406030204" pitchFamily="18" charset="0"/>
                  </a:rPr>
                  <a:t>${}^{n-1}P_{r-1}$</a:t>
                </a:r>
                <a:r>
                  <a:rPr sz="2400" b="0">
                    <a:solidFill>
                      <a:srgbClr val="111827"/>
                    </a:solidFill>
                    <a:latin typeface="Arial"/>
                  </a:rPr>
                  <a:t> by the allowed first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lengths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give </a:t>
                </a:r>
                <a:r>
                  <a:rPr lang="en-IN" sz="2400">
                    <a:solidFill>
                      <a:srgbClr val="111827"/>
                    </a:solidFill>
                    <a:latin typeface="Cambria Math" panose="02040503050406030204" pitchFamily="18" charset="0"/>
                  </a:rPr>
                  <a:t>${}^5P_4+{}^5P_5=240$</a:t>
                </a:r>
                <a:r>
                  <a:rPr sz="2400" b="0">
                    <a:solidFill>
                      <a:srgbClr val="111827"/>
                    </a:solidFill>
                    <a:latin typeface="Arial"/>
                  </a:rPr>
                  <a:t> digit strings; </a:t>
                </a:r>
                <a:r>
                  <a:rPr lang="en-IN" sz="2400">
                    <a:solidFill>
                      <a:srgbClr val="111827"/>
                    </a:solidFill>
                    <a:latin typeface="Cambria Math" panose="02040503050406030204" pitchFamily="18" charset="0"/>
                  </a:rPr>
                  <a:t>$168/240=7/10$</a:t>
                </a:r>
                <a:r>
                  <a:rPr sz="2400" b="0">
                    <a:solidFill>
                      <a:srgbClr val="111827"/>
                    </a:solidFill>
                    <a:latin typeface="Arial"/>
                  </a:rPr>
                  <a:t> of them exceed </a:t>
                </a:r>
                <a:r>
                  <a:rPr lang="en-IN" sz="2400">
                    <a:solidFill>
                      <a:srgbClr val="111827"/>
                    </a:solidFill>
                    <a:latin typeface="Cambria Math" panose="02040503050406030204" pitchFamily="18" charset="0"/>
                  </a:rPr>
                  <a:t>$7000$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numbers, strictly between </a:t>
                </a:r>
                <a14:m>
                  <m:oMath xmlns:m="http://schemas.openxmlformats.org/officeDocument/2006/math">
                    <m:r>
                      <a:rPr lang="en-IN" sz="2400" i="1">
                        <a:solidFill>
                          <a:srgbClr val="111827"/>
                        </a:solidFill>
                        <a:latin typeface="Cambria Math" panose="02040503050406030204" pitchFamily="18" charset="0"/>
                      </a:rPr>
                      <m:t>5000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 that can be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without repetition,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numbers, strictly between </a:t>
                </a:r>
                <a:r>
                  <a:rPr lang="en-IN" sz="2400">
                    <a:solidFill>
                      <a:srgbClr val="111827"/>
                    </a:solidFill>
                    <a:latin typeface="Cambria Math" panose="02040503050406030204" pitchFamily="18" charset="0"/>
                  </a:rPr>
                  <a:t>$5000$</a:t>
                </a:r>
                <a:r>
                  <a:rPr sz="2400" b="0">
                    <a:solidFill>
                      <a:srgbClr val="111827"/>
                    </a:solidFill>
                    <a:latin typeface="Arial"/>
                  </a:rPr>
                  <a:t> and </a:t>
                </a:r>
                <a:r>
                  <a:rPr lang="en-IN" sz="2400">
                    <a:solidFill>
                      <a:srgbClr val="111827"/>
                    </a:solidFill>
                    <a:latin typeface="Cambria Math" panose="02040503050406030204" pitchFamily="18" charset="0"/>
                  </a:rPr>
                  <a:t>$10000$</a:t>
                </a:r>
                <a:r>
                  <a:rPr sz="2400" b="0">
                    <a:solidFill>
                      <a:srgbClr val="111827"/>
                    </a:solidFill>
                    <a:latin typeface="Arial"/>
                  </a:rPr>
                  <a:t> that can be formed using the digits </a:t>
                </a:r>
                <a:r>
                  <a:rPr lang="en-IN" sz="2400">
                    <a:solidFill>
                      <a:srgbClr val="111827"/>
                    </a:solidFill>
                    <a:latin typeface="Cambria Math" panose="02040503050406030204" pitchFamily="18" charset="0"/>
                  </a:rPr>
                  <a:t>$1,3,5,7,9$</a:t>
                </a:r>
                <a:r>
                  <a:rPr sz="2400" b="0">
                    <a:solidFill>
                      <a:srgbClr val="111827"/>
                    </a:solidFill>
                    <a:latin typeface="Arial"/>
                  </a:rPr>
                  <a:t> without repetition,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$72$</a:t>
                </a:r>
                <a:r>
                  <a:rPr sz="2400" b="0">
                    <a:solidFill>
                      <a:srgbClr val="111827"/>
                    </a:solidFill>
                    <a:latin typeface="Arial"/>
                  </a:rPr>
                  <a:t>   (B) </a:t>
                </a:r>
                <a:r>
                  <a:rPr lang="en-IN" sz="2400">
                    <a:solidFill>
                      <a:srgbClr val="111827"/>
                    </a:solidFill>
                    <a:latin typeface="Cambria Math" panose="02040503050406030204" pitchFamily="18" charset="0"/>
                  </a:rPr>
                  <a:t>$12$</a:t>
                </a:r>
                <a:r>
                  <a:rPr sz="2400" b="0">
                    <a:solidFill>
                      <a:srgbClr val="111827"/>
                    </a:solidFill>
                    <a:latin typeface="Arial"/>
                  </a:rPr>
                  <a:t>   (C) </a:t>
                </a:r>
                <a:r>
                  <a:rPr lang="en-IN" sz="2400">
                    <a:solidFill>
                      <a:srgbClr val="111827"/>
                    </a:solidFill>
                    <a:latin typeface="Cambria Math" panose="02040503050406030204" pitchFamily="18" charset="0"/>
                  </a:rPr>
                  <a:t>$6$</a:t>
                </a:r>
                <a:r>
                  <a:rPr sz="2400" b="0">
                    <a:solidFill>
                      <a:srgbClr val="111827"/>
                    </a:solidFill>
                    <a:latin typeface="Arial"/>
                  </a:rPr>
                  <a:t>   (D) </a:t>
                </a:r>
                <a:r>
                  <a:rPr lang="en-IN" sz="2400">
                    <a:solidFill>
                      <a:srgbClr val="111827"/>
                    </a:solidFill>
                    <a:latin typeface="Cambria Math" panose="02040503050406030204" pitchFamily="18" charset="0"/>
                  </a:rPr>
                  <a:t>$120$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digits without repetition (numbers in a given range)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Numbers between </a:t>
                </a:r>
                <a14:m>
                  <m:oMath xmlns:m="http://schemas.openxmlformats.org/officeDocument/2006/math">
                    <m:r>
                      <a:rPr lang="en-IN" sz="2400" i="1">
                        <a:solidFill>
                          <a:srgbClr val="78350F"/>
                        </a:solidFill>
                        <a:latin typeface="Cambria Math" panose="02040503050406030204" pitchFamily="18" charset="0"/>
                      </a:rPr>
                      <m:t>5000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10000</m:t>
                    </m:r>
                  </m:oMath>
                </a14:m>
                <a:r>
                  <a:rPr sz="2400" b="0">
                    <a:solidFill>
                      <a:srgbClr val="78350F"/>
                    </a:solidFill>
                    <a:latin typeface="Arial"/>
                  </a:rPr>
                  <a:t> are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-digit with thousands digit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so only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may lead.</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Numbers between </a:t>
                </a:r>
                <a:r>
                  <a:rPr lang="en-IN" sz="2400">
                    <a:solidFill>
                      <a:srgbClr val="78350F"/>
                    </a:solidFill>
                    <a:latin typeface="Cambria Math" panose="02040503050406030204" pitchFamily="18" charset="0"/>
                  </a:rPr>
                  <a:t>$5000$</a:t>
                </a:r>
                <a:r>
                  <a:rPr sz="2400" b="0">
                    <a:solidFill>
                      <a:srgbClr val="78350F"/>
                    </a:solidFill>
                    <a:latin typeface="Arial"/>
                  </a:rPr>
                  <a:t> and </a:t>
                </a:r>
                <a:r>
                  <a:rPr lang="en-IN" sz="2400">
                    <a:solidFill>
                      <a:srgbClr val="78350F"/>
                    </a:solidFill>
                    <a:latin typeface="Cambria Math" panose="02040503050406030204" pitchFamily="18" charset="0"/>
                  </a:rPr>
                  <a:t>$10000$</a:t>
                </a:r>
                <a:r>
                  <a:rPr sz="2400" b="0">
                    <a:solidFill>
                      <a:srgbClr val="78350F"/>
                    </a:solidFill>
                    <a:latin typeface="Arial"/>
                  </a:rPr>
                  <a:t> are </a:t>
                </a:r>
                <a:r>
                  <a:rPr lang="en-IN" sz="2400">
                    <a:solidFill>
                      <a:srgbClr val="78350F"/>
                    </a:solidFill>
                    <a:latin typeface="Cambria Math" panose="02040503050406030204" pitchFamily="18" charset="0"/>
                  </a:rPr>
                  <a:t>$4$</a:t>
                </a:r>
                <a:r>
                  <a:rPr sz="2400" b="0">
                    <a:solidFill>
                      <a:srgbClr val="78350F"/>
                    </a:solidFill>
                    <a:latin typeface="Arial"/>
                  </a:rPr>
                  <a:t>-digit with thousands digit </a:t>
                </a:r>
                <a:r>
                  <a:rPr lang="en-IN" sz="2400">
                    <a:solidFill>
                      <a:srgbClr val="78350F"/>
                    </a:solidFill>
                    <a:latin typeface="Cambria Math" panose="02040503050406030204" pitchFamily="18" charset="0"/>
                  </a:rPr>
                  <a:t>$\ge5$</a:t>
                </a:r>
                <a:r>
                  <a:rPr sz="2400" b="0">
                    <a:solidFill>
                      <a:srgbClr val="78350F"/>
                    </a:solidFill>
                    <a:latin typeface="Arial"/>
                  </a:rPr>
                  <a:t>, so only </a:t>
                </a:r>
                <a:r>
                  <a:rPr lang="en-IN" sz="2400">
                    <a:solidFill>
                      <a:srgbClr val="78350F"/>
                    </a:solidFill>
                    <a:latin typeface="Cambria Math" panose="02040503050406030204" pitchFamily="18" charset="0"/>
                  </a:rPr>
                  <a:t>$5,7,9$</a:t>
                </a:r>
                <a:r>
                  <a:rPr sz="2400" b="0">
                    <a:solidFill>
                      <a:srgbClr val="78350F"/>
                    </a:solidFill>
                    <a:latin typeface="Arial"/>
                  </a:rPr>
                  <a:t> may lead.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strictly between </a:t>
                </a:r>
                <a14:m>
                  <m:oMath xmlns:m="http://schemas.openxmlformats.org/officeDocument/2006/math">
                    <m:r>
                      <a:rPr lang="en-IN" sz="2400" i="1">
                        <a:solidFill>
                          <a:srgbClr val="111827"/>
                        </a:solidFill>
                        <a:latin typeface="Cambria Math" panose="02040503050406030204" pitchFamily="18" charset="0"/>
                      </a:rPr>
                      <m:t>5000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so the thousands digit must be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three places are filled from the other four digits without repetition: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strictly between </a:t>
                </a:r>
                <a:r>
                  <a:rPr lang="en-IN" sz="2400">
                    <a:solidFill>
                      <a:srgbClr val="111827"/>
                    </a:solidFill>
                    <a:latin typeface="Cambria Math" panose="02040503050406030204" pitchFamily="18" charset="0"/>
                  </a:rPr>
                  <a:t>$5000$</a:t>
                </a:r>
                <a:r>
                  <a:rPr sz="2400" b="0">
                    <a:solidFill>
                      <a:srgbClr val="111827"/>
                    </a:solidFill>
                    <a:latin typeface="Arial"/>
                  </a:rPr>
                  <a:t> and </a:t>
                </a:r>
                <a:r>
                  <a:rPr lang="en-IN" sz="2400">
                    <a:solidFill>
                      <a:srgbClr val="111827"/>
                    </a:solidFill>
                    <a:latin typeface="Cambria Math" panose="02040503050406030204" pitchFamily="18" charset="0"/>
                  </a:rPr>
                  <a:t>$10000$</a:t>
                </a:r>
                <a:r>
                  <a:rPr sz="2400" b="0">
                    <a:solidFill>
                      <a:srgbClr val="111827"/>
                    </a:solidFill>
                    <a:latin typeface="Arial"/>
                  </a:rPr>
                  <a:t> has </a:t>
                </a:r>
                <a:r>
                  <a:rPr lang="en-IN" sz="2400">
                    <a:solidFill>
                      <a:srgbClr val="111827"/>
                    </a:solidFill>
                    <a:latin typeface="Cambria Math" panose="02040503050406030204" pitchFamily="18" charset="0"/>
                  </a:rPr>
                  <a:t>$4$</a:t>
                </a:r>
                <a:r>
                  <a:rPr sz="2400" b="0">
                    <a:solidFill>
                      <a:srgbClr val="111827"/>
                    </a:solidFill>
                    <a:latin typeface="Arial"/>
                  </a:rPr>
                  <a:t> digits, so the thousands digit must be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or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three places are filled from the other four digits without repetition: </a:t>
                </a:r>
                <a:r>
                  <a:rPr lang="en-IN" sz="2400">
                    <a:solidFill>
                      <a:srgbClr val="111827"/>
                    </a:solidFill>
                    <a:latin typeface="Cambria Math" panose="02040503050406030204" pitchFamily="18" charset="0"/>
                  </a:rPr>
                  <a:t>$4\times3\times2$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numbers </a:t>
                </a:r>
                <a:r>
                  <a:rPr lang="en-IN" sz="2400">
                    <a:solidFill>
                      <a:srgbClr val="111827"/>
                    </a:solidFill>
                    <a:latin typeface="Cambria Math" panose="02040503050406030204" pitchFamily="18" charset="0"/>
                  </a:rPr>
                  <a:t>$=3\times4\times3\times2=72$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72</a:t>
            </a:r>
            <a:endParaRPr sz="2800">
              <a:solidFill>
                <a:srgbClr val="15803D"/>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symmetry, each of the five digits is equally often the leading digit among all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-digit arrangements.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symmetry, each of the five digits is equally often the leading digit among all </a:t>
                </a:r>
                <a:r>
                  <a:rPr lang="en-IN" sz="2400">
                    <a:solidFill>
                      <a:srgbClr val="78350F"/>
                    </a:solidFill>
                    <a:latin typeface="Cambria Math" panose="02040503050406030204" pitchFamily="18" charset="0"/>
                  </a:rPr>
                  <a:t>$4$</a:t>
                </a:r>
                <a:r>
                  <a:rPr sz="2400" b="0">
                    <a:solidFill>
                      <a:srgbClr val="78350F"/>
                    </a:solidFill>
                    <a:latin typeface="Arial"/>
                  </a:rPr>
                  <a:t>-digit arrangements.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numbers with distinct digits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each of the five digits leads exactly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Leading digits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give numbers above </a:t>
                </a:r>
                <a14:m>
                  <m:oMath xmlns:m="http://schemas.openxmlformats.org/officeDocument/2006/math">
                    <m:r>
                      <a:rPr lang="en-IN" sz="2400" i="1">
                        <a:solidFill>
                          <a:srgbClr val="111827"/>
                        </a:solidFill>
                        <a:latin typeface="Cambria Math" panose="02040503050406030204" pitchFamily="18" charset="0"/>
                      </a:rPr>
                      <m:t>5000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5000</m:t>
                    </m:r>
                  </m:oMath>
                </a14:m>
                <a:r>
                  <a:rPr sz="2400" b="0">
                    <a:solidFill>
                      <a:srgbClr val="111827"/>
                    </a:solidFill>
                    <a:latin typeface="Arial"/>
                  </a:rPr>
                  <a:t> itself cannot be formed).</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r>
                  <a:rPr lang="en-IN" sz="2400">
                    <a:solidFill>
                      <a:srgbClr val="111827"/>
                    </a:solidFill>
                    <a:latin typeface="Cambria Math" panose="02040503050406030204" pitchFamily="18" charset="0"/>
                  </a:rPr>
                  <a:t>$4$</a:t>
                </a:r>
                <a:r>
                  <a:rPr sz="2400" b="0">
                    <a:solidFill>
                      <a:srgbClr val="111827"/>
                    </a:solidFill>
                    <a:latin typeface="Arial"/>
                  </a:rPr>
                  <a:t>-digit numbers with distinct digits from </a:t>
                </a:r>
                <a:r>
                  <a:rPr lang="en-IN" sz="2400">
                    <a:solidFill>
                      <a:srgbClr val="111827"/>
                    </a:solidFill>
                    <a:latin typeface="Cambria Math" panose="02040503050406030204" pitchFamily="18" charset="0"/>
                  </a:rPr>
                  <a:t>$\{1,3,5,7,9\}$</a:t>
                </a:r>
                <a:r>
                  <a:rPr sz="2400" b="0">
                    <a:solidFill>
                      <a:srgbClr val="111827"/>
                    </a:solidFill>
                    <a:latin typeface="Arial"/>
                  </a:rPr>
                  <a:t>: </a:t>
                </a:r>
                <a:r>
                  <a:rPr lang="en-IN" sz="2400">
                    <a:solidFill>
                      <a:srgbClr val="111827"/>
                    </a:solidFill>
                    <a:latin typeface="Cambria Math" panose="02040503050406030204" pitchFamily="18" charset="0"/>
                  </a:rPr>
                  <a:t>${}^5P_4=120$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each of the five digits leads exactly </a:t>
                </a:r>
                <a:r>
                  <a:rPr lang="en-IN" sz="2400">
                    <a:solidFill>
                      <a:srgbClr val="111827"/>
                    </a:solidFill>
                    <a:latin typeface="Cambria Math" panose="02040503050406030204" pitchFamily="18" charset="0"/>
                  </a:rPr>
                  <a:t>$120/5=24$</a:t>
                </a:r>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Leading digits </a:t>
                </a:r>
                <a:r>
                  <a:rPr lang="en-IN" sz="2400">
                    <a:solidFill>
                      <a:srgbClr val="111827"/>
                    </a:solidFill>
                    <a:latin typeface="Cambria Math" panose="02040503050406030204" pitchFamily="18" charset="0"/>
                  </a:rPr>
                  <a:t>$5,7,9$</a:t>
                </a:r>
                <a:r>
                  <a:rPr sz="2400" b="0">
                    <a:solidFill>
                      <a:srgbClr val="111827"/>
                    </a:solidFill>
                    <a:latin typeface="Arial"/>
                  </a:rPr>
                  <a:t> give numbers above </a:t>
                </a:r>
                <a:r>
                  <a:rPr lang="en-IN" sz="2400">
                    <a:solidFill>
                      <a:srgbClr val="111827"/>
                    </a:solidFill>
                    <a:latin typeface="Cambria Math" panose="02040503050406030204" pitchFamily="18" charset="0"/>
                  </a:rPr>
                  <a:t>$5000$</a:t>
                </a:r>
                <a:r>
                  <a:rPr sz="2400" b="0">
                    <a:solidFill>
                      <a:srgbClr val="111827"/>
                    </a:solidFill>
                    <a:latin typeface="Arial"/>
                  </a:rPr>
                  <a:t>: </a:t>
                </a:r>
                <a:r>
                  <a:rPr lang="en-IN" sz="2400">
                    <a:solidFill>
                      <a:srgbClr val="111827"/>
                    </a:solidFill>
                    <a:latin typeface="Cambria Math" panose="02040503050406030204" pitchFamily="18" charset="0"/>
                  </a:rPr>
                  <a:t>$3\times24=72$</a:t>
                </a:r>
                <a:r>
                  <a:rPr sz="2400" b="0">
                    <a:solidFill>
                      <a:srgbClr val="111827"/>
                    </a:solidFill>
                    <a:latin typeface="Arial"/>
                  </a:rPr>
                  <a:t> (and </a:t>
                </a:r>
                <a:r>
                  <a:rPr lang="en-IN" sz="2400">
                    <a:solidFill>
                      <a:srgbClr val="111827"/>
                    </a:solidFill>
                    <a:latin typeface="Cambria Math" panose="02040503050406030204" pitchFamily="18" charset="0"/>
                  </a:rPr>
                  <a:t>$5000$</a:t>
                </a:r>
                <a:r>
                  <a:rPr sz="2400" b="0">
                    <a:solidFill>
                      <a:srgbClr val="111827"/>
                    </a:solidFill>
                    <a:latin typeface="Arial"/>
                  </a:rPr>
                  <a:t> itself cannot be formed).</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72</a:t>
            </a:r>
            <a:endParaRPr sz="2800">
              <a:solidFill>
                <a:srgbClr val="15803D"/>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Equal-footing symmetry: in all arrangements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out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digits, each digit leads exactly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of the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range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 by the leading digit in the allowed block of digits and multiply by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endpoints: </a:t>
                </a:r>
                <a14:m>
                  <m:oMath xmlns:m="http://schemas.openxmlformats.org/officeDocument/2006/math">
                    <m:r>
                      <a:rPr lang="en-IN" sz="2400" i="1">
                        <a:solidFill>
                          <a:srgbClr val="111827"/>
                        </a:solidFill>
                        <a:latin typeface="Cambria Math" panose="02040503050406030204" pitchFamily="18" charset="0"/>
                      </a:rPr>
                      <m:t>5000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 cannot be formed here, so 'strictly between' changes nothing.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Equal-footing symmetry: in all arrangements of </a:t>
                </a:r>
                <a:r>
                  <a:rPr lang="en-IN" sz="2400">
                    <a:solidFill>
                      <a:srgbClr val="111827"/>
                    </a:solidFill>
                    <a:latin typeface="Cambria Math" panose="02040503050406030204" pitchFamily="18" charset="0"/>
                  </a:rPr>
                  <a:t>$r$</a:t>
                </a:r>
                <a:r>
                  <a:rPr sz="2400" b="0">
                    <a:solidFill>
                      <a:srgbClr val="111827"/>
                    </a:solidFill>
                    <a:latin typeface="Arial"/>
                  </a:rPr>
                  <a:t> out of </a:t>
                </a:r>
                <a:r>
                  <a:rPr lang="en-IN" sz="2400">
                    <a:solidFill>
                      <a:srgbClr val="111827"/>
                    </a:solidFill>
                    <a:latin typeface="Cambria Math" panose="02040503050406030204" pitchFamily="18" charset="0"/>
                  </a:rPr>
                  <a:t>$n$</a:t>
                </a:r>
                <a:r>
                  <a:rPr sz="2400" b="0">
                    <a:solidFill>
                      <a:srgbClr val="111827"/>
                    </a:solidFill>
                    <a:latin typeface="Arial"/>
                  </a:rPr>
                  <a:t> distinct digits, each digit leads exactly </a:t>
                </a:r>
                <a:r>
                  <a:rPr lang="en-IN" sz="2400">
                    <a:solidFill>
                      <a:srgbClr val="111827"/>
                    </a:solidFill>
                    <a:latin typeface="Cambria Math" panose="02040503050406030204" pitchFamily="18" charset="0"/>
                  </a:rPr>
                  <a:t>$\frac{1}{n}$</a:t>
                </a:r>
                <a:r>
                  <a:rPr sz="2400" b="0">
                    <a:solidFill>
                      <a:srgbClr val="111827"/>
                    </a:solidFill>
                    <a:latin typeface="Arial"/>
                  </a:rPr>
                  <a:t> of the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range such as </a:t>
                </a:r>
                <a:r>
                  <a:rPr lang="en-IN" sz="2400">
                    <a:solidFill>
                      <a:srgbClr val="111827"/>
                    </a:solidFill>
                    <a:latin typeface="Cambria Math" panose="02040503050406030204" pitchFamily="18" charset="0"/>
                  </a:rPr>
                  <a:t>$(a,b)$</a:t>
                </a:r>
                <a:r>
                  <a:rPr sz="2400" b="0">
                    <a:solidFill>
                      <a:srgbClr val="111827"/>
                    </a:solidFill>
                    <a:latin typeface="Arial"/>
                  </a:rPr>
                  <a:t>, count by the leading digit in the allowed block of digits and multiply by </a:t>
                </a:r>
                <a:r>
                  <a:rPr lang="en-IN" sz="2400">
                    <a:solidFill>
                      <a:srgbClr val="111827"/>
                    </a:solidFill>
                    <a:latin typeface="Cambria Math" panose="02040503050406030204" pitchFamily="18" charset="0"/>
                  </a:rPr>
                  <a:t>${}^{n-1}P_{r-1}$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endpoints: </a:t>
                </a:r>
                <a:r>
                  <a:rPr lang="en-IN" sz="2400">
                    <a:solidFill>
                      <a:srgbClr val="111827"/>
                    </a:solidFill>
                    <a:latin typeface="Cambria Math" panose="02040503050406030204" pitchFamily="18" charset="0"/>
                  </a:rPr>
                  <a:t>$5000$</a:t>
                </a:r>
                <a:r>
                  <a:rPr sz="2400" b="0">
                    <a:solidFill>
                      <a:srgbClr val="111827"/>
                    </a:solidFill>
                    <a:latin typeface="Arial"/>
                  </a:rPr>
                  <a:t> and </a:t>
                </a:r>
                <a:r>
                  <a:rPr lang="en-IN" sz="2400">
                    <a:solidFill>
                      <a:srgbClr val="111827"/>
                    </a:solidFill>
                    <a:latin typeface="Cambria Math" panose="02040503050406030204" pitchFamily="18" charset="0"/>
                  </a:rPr>
                  <a:t>$10000$</a:t>
                </a:r>
                <a:r>
                  <a:rPr sz="2400" b="0">
                    <a:solidFill>
                      <a:srgbClr val="111827"/>
                    </a:solidFill>
                    <a:latin typeface="Arial"/>
                  </a:rPr>
                  <a:t> cannot be formed here, so 'strictly between' changes nothing.</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letters of the word OUGHT are written in all possible ways and these words are arranged in a dictionary, in a series. Then the serial number of the word TOUGH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79</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letters of the word OUGHT are written in all possible ways and these words are arranged in a dictionary, in a series. Then the serial number of the word TOUGH is: [JEE(Main) Jan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$89$</a:t>
                </a:r>
                <a:r>
                  <a:rPr sz="2400" b="0">
                    <a:solidFill>
                      <a:srgbClr val="111827"/>
                    </a:solidFill>
                    <a:latin typeface="Arial"/>
                  </a:rPr>
                  <a:t>   (B) </a:t>
                </a:r>
                <a:r>
                  <a:rPr lang="en-IN" sz="2400">
                    <a:solidFill>
                      <a:srgbClr val="111827"/>
                    </a:solidFill>
                    <a:latin typeface="Cambria Math" panose="02040503050406030204" pitchFamily="18" charset="0"/>
                  </a:rPr>
                  <a:t>$79$</a:t>
                </a:r>
                <a:r>
                  <a:rPr sz="2400" b="0">
                    <a:solidFill>
                      <a:srgbClr val="111827"/>
                    </a:solidFill>
                    <a:latin typeface="Arial"/>
                  </a:rPr>
                  <a:t>   (C) </a:t>
                </a:r>
                <a:r>
                  <a:rPr lang="en-IN" sz="2400">
                    <a:solidFill>
                      <a:srgbClr val="111827"/>
                    </a:solidFill>
                    <a:latin typeface="Cambria Math" panose="02040503050406030204" pitchFamily="18" charset="0"/>
                  </a:rPr>
                  <a:t>$86$</a:t>
                </a:r>
                <a:r>
                  <a:rPr sz="2400" b="0">
                    <a:solidFill>
                      <a:srgbClr val="111827"/>
                    </a:solidFill>
                    <a:latin typeface="Arial"/>
                  </a:rPr>
                  <a:t>   (D) </a:t>
                </a:r>
                <a:r>
                  <a:rPr lang="en-IN" sz="2400">
                    <a:solidFill>
                      <a:srgbClr val="111827"/>
                    </a:solidFill>
                    <a:latin typeface="Cambria Math" panose="02040503050406030204" pitchFamily="18" charset="0"/>
                  </a:rPr>
                  <a:t>$84$</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number of words before it: for each position count the unused smaller letters times the factorial of the places left.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r>
                  <a:rPr lang="en-IN" sz="2400">
                    <a:solidFill>
                      <a:srgbClr val="78350F"/>
                    </a:solidFill>
                    <a:latin typeface="Cambria Math" panose="02040503050406030204" pitchFamily="18" charset="0"/>
                  </a:rPr>
                  <a:t>$=1+$</a:t>
                </a:r>
                <a:r>
                  <a:rPr sz="2400" b="0">
                    <a:solidFill>
                      <a:srgbClr val="78350F"/>
                    </a:solidFill>
                    <a:latin typeface="Arial"/>
                  </a:rPr>
                  <a:t> the number of words before it: for each position count the unused smaller letters times the factorial of the places left.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starting with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starting with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starting with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r>
                  <a:rPr lang="en-IN" sz="2400">
                    <a:solidFill>
                      <a:srgbClr val="111827"/>
                    </a:solidFill>
                    <a:latin typeface="Cambria Math" panose="02040503050406030204" pitchFamily="18" charset="0"/>
                  </a:rPr>
                  <a:t>$G,H,O,T,U$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starting with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starting with </a:t>
                </a:r>
                <a:r>
                  <a:rPr lang="en-IN" sz="2400">
                    <a:solidFill>
                      <a:srgbClr val="111827"/>
                    </a:solidFill>
                    <a:latin typeface="Cambria Math" panose="02040503050406030204" pitchFamily="18" charset="0"/>
                  </a:rPr>
                  <a:t>$O$</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$TG$</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 starting with </a:t>
                </a:r>
                <a:r>
                  <a:rPr lang="en-IN" sz="2400">
                    <a:solidFill>
                      <a:srgbClr val="111827"/>
                    </a:solidFill>
                    <a:latin typeface="Cambria Math" panose="02040503050406030204" pitchFamily="18" charset="0"/>
                  </a:rPr>
                  <a:t>$TH$</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starting with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Next word is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oMath>
                </a14:m>
                <a:r>
                  <a:rPr sz="2400" b="0">
                    <a:solidFill>
                      <a:srgbClr val="111827"/>
                    </a:solidFill>
                    <a:latin typeface="Arial"/>
                  </a:rPr>
                  <a:t> itself: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of TOUGH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$TOG$</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starting with </a:t>
                </a:r>
                <a:r>
                  <a:rPr lang="en-IN" sz="2400">
                    <a:solidFill>
                      <a:srgbClr val="111827"/>
                    </a:solidFill>
                    <a:latin typeface="Cambria Math" panose="02040503050406030204" pitchFamily="18" charset="0"/>
                  </a:rPr>
                  <a:t>$TOH$</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Next word is </a:t>
                </a:r>
                <a:r>
                  <a:rPr lang="en-IN" sz="2400">
                    <a:solidFill>
                      <a:srgbClr val="111827"/>
                    </a:solidFill>
                    <a:latin typeface="Cambria Math" panose="02040503050406030204" pitchFamily="18" charset="0"/>
                  </a:rPr>
                  <a:t>$TOUGH$</a:t>
                </a:r>
                <a:r>
                  <a:rPr sz="2400" b="0">
                    <a:solidFill>
                      <a:srgbClr val="111827"/>
                    </a:solidFill>
                    <a:latin typeface="Arial"/>
                  </a:rPr>
                  <a:t> itself: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of TOUGH </a:t>
                </a:r>
                <a:r>
                  <a:rPr lang="en-IN" sz="2400">
                    <a:solidFill>
                      <a:srgbClr val="111827"/>
                    </a:solidFill>
                    <a:latin typeface="Cambria Math" panose="02040503050406030204" pitchFamily="18" charset="0"/>
                  </a:rPr>
                  <a:t>$=24+24+24+6+6+2+2+1=89$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89</a:t>
            </a:r>
            <a:endParaRPr sz="2800">
              <a:solidFill>
                <a:srgbClr val="15803D"/>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factorial number system: 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𝑠𝑚𝑎𝑙𝑙𝑒𝑟 𝑢𝑛𝑢𝑠𝑒𝑑 𝑙𝑒𝑡𝑡𝑒𝑟𝑠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𝑝𝑙𝑎𝑐𝑒𝑠 𝑙𝑒𝑓𝑡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factorial number system: Rank </a:t>
                </a:r>
                <a:r>
                  <a:rPr lang="en-IN" sz="2400">
                    <a:solidFill>
                      <a:srgbClr val="78350F"/>
                    </a:solidFill>
                    <a:latin typeface="Cambria Math" panose="02040503050406030204" pitchFamily="18" charset="0"/>
                  </a:rPr>
                  <a:t>$-1=\sum(\text{smaller unused letters})\cdot(\text{places left})!$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Positions of TOUGH: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Sorted letters: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𝑈</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smaller letters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places left: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letter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unused letters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smaller than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Positions of TOUGH: </a:t>
                </a:r>
                <a:r>
                  <a:rPr lang="en-IN" sz="2400">
                    <a:solidFill>
                      <a:srgbClr val="111827"/>
                    </a:solidFill>
                    <a:latin typeface="Cambria Math" panose="02040503050406030204" pitchFamily="18" charset="0"/>
                  </a:rPr>
                  <a:t>$T,O,U,G,H$</a:t>
                </a:r>
                <a:r>
                  <a:rPr sz="2400" b="0">
                    <a:solidFill>
                      <a:srgbClr val="111827"/>
                    </a:solidFill>
                    <a:latin typeface="Arial"/>
                  </a:rPr>
                  <a:t>. Sorted letters: </a:t>
                </a:r>
                <a:r>
                  <a:rPr lang="en-IN" sz="2400">
                    <a:solidFill>
                      <a:srgbClr val="111827"/>
                    </a:solidFill>
                    <a:latin typeface="Cambria Math" panose="02040503050406030204" pitchFamily="18" charset="0"/>
                  </a:rPr>
                  <a:t>$G&lt;H&lt;O&lt;T&lt;U$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smaller letters </a:t>
                </a:r>
                <a:r>
                  <a:rPr lang="en-IN" sz="2400">
                    <a:solidFill>
                      <a:srgbClr val="111827"/>
                    </a:solidFill>
                    <a:latin typeface="Cambria Math" panose="02040503050406030204" pitchFamily="18" charset="0"/>
                  </a:rPr>
                  <a:t>$(G,H,O)$</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places left: </a:t>
                </a:r>
                <a:r>
                  <a:rPr lang="en-IN" sz="2400">
                    <a:solidFill>
                      <a:srgbClr val="111827"/>
                    </a:solidFill>
                    <a:latin typeface="Cambria Math" panose="02040503050406030204" pitchFamily="18" charset="0"/>
                  </a:rPr>
                  <a:t>$3\times4!=72$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letter </a:t>
                </a:r>
                <a:r>
                  <a:rPr lang="en-IN" sz="2400">
                    <a:solidFill>
                      <a:srgbClr val="111827"/>
                    </a:solidFill>
                    <a:latin typeface="Cambria Math" panose="02040503050406030204" pitchFamily="18" charset="0"/>
                  </a:rPr>
                  <a:t>$O$</a:t>
                </a:r>
                <a:r>
                  <a:rPr sz="2400" b="0">
                    <a:solidFill>
                      <a:srgbClr val="111827"/>
                    </a:solidFill>
                    <a:latin typeface="Arial"/>
                  </a:rPr>
                  <a:t>: unused letters </a:t>
                </a:r>
                <a:r>
                  <a:rPr lang="en-IN" sz="2400">
                    <a:solidFill>
                      <a:srgbClr val="111827"/>
                    </a:solidFill>
                    <a:latin typeface="Cambria Math" panose="02040503050406030204" pitchFamily="18" charset="0"/>
                  </a:rPr>
                  <a:t>$G,H,O,U$</a:t>
                </a:r>
                <a:r>
                  <a:rPr sz="2400" b="0">
                    <a:solidFill>
                      <a:srgbClr val="111827"/>
                    </a:solidFill>
                    <a:latin typeface="Arial"/>
                  </a:rPr>
                  <a:t>; smaller than </a:t>
                </a:r>
                <a:r>
                  <a:rPr lang="en-IN" sz="2400">
                    <a:solidFill>
                      <a:srgbClr val="111827"/>
                    </a:solidFill>
                    <a:latin typeface="Cambria Math" panose="02040503050406030204" pitchFamily="18" charset="0"/>
                  </a:rPr>
                  <a:t>$O$</a:t>
                </a:r>
                <a:r>
                  <a:rPr sz="2400" b="0">
                    <a:solidFill>
                      <a:srgbClr val="111827"/>
                    </a:solidFill>
                    <a:latin typeface="Arial"/>
                  </a:rPr>
                  <a:t>: </a:t>
                </a:r>
                <a:r>
                  <a:rPr lang="en-IN" sz="2400">
                    <a:solidFill>
                      <a:srgbClr val="111827"/>
                    </a:solidFill>
                    <a:latin typeface="Cambria Math" panose="02040503050406030204" pitchFamily="18" charset="0"/>
                  </a:rPr>
                  <a:t>$G,H$</a:t>
                </a:r>
                <a:r>
                  <a:rPr sz="2400" b="0">
                    <a:solidFill>
                      <a:srgbClr val="111827"/>
                    </a:solidFill>
                    <a:latin typeface="Arial"/>
                  </a:rPr>
                  <a:t>: </a:t>
                </a:r>
                <a:r>
                  <a:rPr lang="en-IN" sz="2400">
                    <a:solidFill>
                      <a:srgbClr val="111827"/>
                    </a:solidFill>
                    <a:latin typeface="Cambria Math" panose="02040503050406030204" pitchFamily="18" charset="0"/>
                  </a:rPr>
                  <a:t>$2\times3!=12$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Third letter </a:t>
                </a:r>
                <a14:m>
                  <m:oMath xmlns:m="http://schemas.openxmlformats.org/officeDocument/2006/math">
                    <m:r>
                      <a:rPr lang="en-IN" sz="2400" i="1">
                        <a:solidFill>
                          <a:srgbClr val="111827"/>
                        </a:solidFill>
                        <a:latin typeface="Cambria Math" panose="02040503050406030204" pitchFamily="18" charset="0"/>
                      </a:rPr>
                      <m:t>𝑈</m:t>
                    </m:r>
                  </m:oMath>
                </a14:m>
                <a:r>
                  <a:rPr sz="2400" b="0">
                    <a:solidFill>
                      <a:srgbClr val="111827"/>
                    </a:solidFill>
                    <a:latin typeface="Arial"/>
                  </a:rPr>
                  <a:t>: unused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smaller: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letter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unused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smaller: none: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Fifth letter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oMath>
                </a14:m>
                <a:r>
                  <a:rPr sz="2400" b="0">
                    <a:solidFill>
                      <a:srgbClr val="111827"/>
                    </a:solidFill>
                    <a:latin typeface="Arial"/>
                  </a:rPr>
                  <a:t>, so the rank is </a:t>
                </a:r>
                <a14:m>
                  <m:oMath xmlns:m="http://schemas.openxmlformats.org/officeDocument/2006/math">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Third letter </a:t>
                </a:r>
                <a:r>
                  <a:rPr lang="en-IN" sz="2400">
                    <a:solidFill>
                      <a:srgbClr val="111827"/>
                    </a:solidFill>
                    <a:latin typeface="Cambria Math" panose="02040503050406030204" pitchFamily="18" charset="0"/>
                  </a:rPr>
                  <a:t>$U$</a:t>
                </a:r>
                <a:r>
                  <a:rPr sz="2400" b="0">
                    <a:solidFill>
                      <a:srgbClr val="111827"/>
                    </a:solidFill>
                    <a:latin typeface="Arial"/>
                  </a:rPr>
                  <a:t>: unused </a:t>
                </a:r>
                <a:r>
                  <a:rPr lang="en-IN" sz="2400">
                    <a:solidFill>
                      <a:srgbClr val="111827"/>
                    </a:solidFill>
                    <a:latin typeface="Cambria Math" panose="02040503050406030204" pitchFamily="18" charset="0"/>
                  </a:rPr>
                  <a:t>$G,H,U$</a:t>
                </a:r>
                <a:r>
                  <a:rPr sz="2400" b="0">
                    <a:solidFill>
                      <a:srgbClr val="111827"/>
                    </a:solidFill>
                    <a:latin typeface="Arial"/>
                  </a:rPr>
                  <a:t>; smaller: </a:t>
                </a:r>
                <a:r>
                  <a:rPr lang="en-IN" sz="2400">
                    <a:solidFill>
                      <a:srgbClr val="111827"/>
                    </a:solidFill>
                    <a:latin typeface="Cambria Math" panose="02040503050406030204" pitchFamily="18" charset="0"/>
                  </a:rPr>
                  <a:t>$G,H$</a:t>
                </a:r>
                <a:r>
                  <a:rPr sz="2400" b="0">
                    <a:solidFill>
                      <a:srgbClr val="111827"/>
                    </a:solidFill>
                    <a:latin typeface="Arial"/>
                  </a:rPr>
                  <a:t>: </a:t>
                </a:r>
                <a:r>
                  <a:rPr lang="en-IN" sz="2400">
                    <a:solidFill>
                      <a:srgbClr val="111827"/>
                    </a:solidFill>
                    <a:latin typeface="Cambria Math" panose="02040503050406030204" pitchFamily="18" charset="0"/>
                  </a:rPr>
                  <a:t>$2\times2!=4$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letter </a:t>
                </a:r>
                <a:r>
                  <a:rPr lang="en-IN" sz="2400">
                    <a:solidFill>
                      <a:srgbClr val="111827"/>
                    </a:solidFill>
                    <a:latin typeface="Cambria Math" panose="02040503050406030204" pitchFamily="18" charset="0"/>
                  </a:rPr>
                  <a:t>$G$</a:t>
                </a:r>
                <a:r>
                  <a:rPr sz="2400" b="0">
                    <a:solidFill>
                      <a:srgbClr val="111827"/>
                    </a:solidFill>
                    <a:latin typeface="Arial"/>
                  </a:rPr>
                  <a:t>: unused </a:t>
                </a:r>
                <a:r>
                  <a:rPr lang="en-IN" sz="2400">
                    <a:solidFill>
                      <a:srgbClr val="111827"/>
                    </a:solidFill>
                    <a:latin typeface="Cambria Math" panose="02040503050406030204" pitchFamily="18" charset="0"/>
                  </a:rPr>
                  <a:t>$G,H$</a:t>
                </a:r>
                <a:r>
                  <a:rPr sz="2400" b="0">
                    <a:solidFill>
                      <a:srgbClr val="111827"/>
                    </a:solidFill>
                    <a:latin typeface="Arial"/>
                  </a:rPr>
                  <a:t>; smaller: none: </a:t>
                </a:r>
                <a:r>
                  <a:rPr lang="en-IN" sz="2400">
                    <a:solidFill>
                      <a:srgbClr val="111827"/>
                    </a:solidFill>
                    <a:latin typeface="Cambria Math" panose="02040503050406030204" pitchFamily="18" charset="0"/>
                  </a:rPr>
                  <a:t>$0$</a:t>
                </a:r>
                <a:r>
                  <a:rPr sz="2400" b="0">
                    <a:solidFill>
                      <a:srgbClr val="111827"/>
                    </a:solidFill>
                    <a:latin typeface="Arial"/>
                  </a:rPr>
                  <a:t>. Fifth letter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it </a:t>
                </a:r>
                <a:r>
                  <a:rPr lang="en-IN" sz="2400">
                    <a:solidFill>
                      <a:srgbClr val="111827"/>
                    </a:solidFill>
                    <a:latin typeface="Cambria Math" panose="02040503050406030204" pitchFamily="18" charset="0"/>
                  </a:rPr>
                  <a:t>$=72+12+4=88$</a:t>
                </a:r>
                <a:r>
                  <a:rPr sz="2400" b="0">
                    <a:solidFill>
                      <a:srgbClr val="111827"/>
                    </a:solidFill>
                    <a:latin typeface="Arial"/>
                  </a:rPr>
                  <a:t>, so the rank is </a:t>
                </a:r>
                <a:r>
                  <a:rPr lang="en-IN" sz="2400">
                    <a:solidFill>
                      <a:srgbClr val="111827"/>
                    </a:solidFill>
                    <a:latin typeface="Cambria Math" panose="02040503050406030204" pitchFamily="18" charset="0"/>
                  </a:rPr>
                  <a:t>$89$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89</a:t>
            </a:r>
            <a:endParaRPr sz="2800">
              <a:solidFill>
                <a:srgbClr val="15803D"/>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of a word of distinct letters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e>
                    </m:nary>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the number of unused letters smaller than the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-th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repeated letters, divide each block count by the factorials of the repeated letters left over.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 problem (find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word): divide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successively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read off the letter indices.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of a word of distinct letters </a:t>
                </a:r>
                <a:r>
                  <a:rPr lang="en-IN" sz="2400">
                    <a:solidFill>
                      <a:srgbClr val="111827"/>
                    </a:solidFill>
                    <a:latin typeface="Cambria Math" panose="02040503050406030204" pitchFamily="18" charset="0"/>
                  </a:rPr>
                  <a:t>$=1+\sum_i c_i\,(n-i)!$</a:t>
                </a:r>
                <a:r>
                  <a:rPr sz="2400" b="0">
                    <a:solidFill>
                      <a:srgbClr val="111827"/>
                    </a:solidFill>
                    <a:latin typeface="Arial"/>
                  </a:rPr>
                  <a:t>, where </a:t>
                </a:r>
                <a:r>
                  <a:rPr lang="en-IN" sz="2400">
                    <a:solidFill>
                      <a:srgbClr val="111827"/>
                    </a:solidFill>
                    <a:latin typeface="Cambria Math" panose="02040503050406030204" pitchFamily="18" charset="0"/>
                  </a:rPr>
                  <a:t>$c_i$</a:t>
                </a:r>
                <a:r>
                  <a:rPr sz="2400" b="0">
                    <a:solidFill>
                      <a:srgbClr val="111827"/>
                    </a:solidFill>
                    <a:latin typeface="Arial"/>
                  </a:rPr>
                  <a:t> is the number of unused letters smaller than the </a:t>
                </a:r>
                <a:r>
                  <a:rPr lang="en-IN" sz="2400">
                    <a:solidFill>
                      <a:srgbClr val="111827"/>
                    </a:solidFill>
                    <a:latin typeface="Cambria Math" panose="02040503050406030204" pitchFamily="18" charset="0"/>
                  </a:rPr>
                  <a:t>$i$</a:t>
                </a:r>
                <a:r>
                  <a:rPr sz="2400" b="0">
                    <a:solidFill>
                      <a:srgbClr val="111827"/>
                    </a:solidFill>
                    <a:latin typeface="Arial"/>
                  </a:rPr>
                  <a:t>-th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repeated letters, divide each block count by the factorials of the repeated letters left over.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 problem (find the </a:t>
                </a:r>
                <a:r>
                  <a:rPr lang="en-IN" sz="2400">
                    <a:solidFill>
                      <a:srgbClr val="111827"/>
                    </a:solidFill>
                    <a:latin typeface="Cambria Math" panose="02040503050406030204" pitchFamily="18" charset="0"/>
                  </a:rPr>
                  <a:t>$k$</a:t>
                </a:r>
                <a:r>
                  <a:rPr sz="2400" b="0">
                    <a:solidFill>
                      <a:srgbClr val="111827"/>
                    </a:solidFill>
                    <a:latin typeface="Arial"/>
                  </a:rPr>
                  <a:t>-th word): divide </a:t>
                </a:r>
                <a:r>
                  <a:rPr lang="en-IN" sz="2400">
                    <a:solidFill>
                      <a:srgbClr val="111827"/>
                    </a:solidFill>
                    <a:latin typeface="Cambria Math" panose="02040503050406030204" pitchFamily="18" charset="0"/>
                  </a:rPr>
                  <a:t>$k-1$</a:t>
                </a:r>
                <a:r>
                  <a:rPr sz="2400" b="0">
                    <a:solidFill>
                      <a:srgbClr val="111827"/>
                    </a:solidFill>
                    <a:latin typeface="Arial"/>
                  </a:rPr>
                  <a:t> successively by </a:t>
                </a:r>
                <a:r>
                  <a:rPr lang="en-IN" sz="2400">
                    <a:solidFill>
                      <a:srgbClr val="111827"/>
                    </a:solidFill>
                    <a:latin typeface="Cambria Math" panose="02040503050406030204" pitchFamily="18" charset="0"/>
                  </a:rPr>
                  <a:t>$(n-1)!,(n-2)!,\dots$</a:t>
                </a:r>
                <a:r>
                  <a:rPr sz="2400" b="0">
                    <a:solidFill>
                      <a:srgbClr val="111827"/>
                    </a:solidFill>
                    <a:latin typeface="Arial"/>
                  </a:rPr>
                  <a:t> to read off the letter indices.</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 – Q16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is equal to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${}^{2n+1}P_{n-1}:{}^{2n-1}P_{n}=11:21$</a:t>
                </a:r>
                <a:r>
                  <a:rPr sz="2400" b="0">
                    <a:solidFill>
                      <a:srgbClr val="111827"/>
                    </a:solidFill>
                    <a:latin typeface="Arial"/>
                  </a:rPr>
                  <a:t>, then </a:t>
                </a:r>
                <a:r>
                  <a:rPr lang="en-IN" sz="2400">
                    <a:solidFill>
                      <a:srgbClr val="111827"/>
                    </a:solidFill>
                    <a:latin typeface="Cambria Math" panose="02040503050406030204" pitchFamily="18" charset="0"/>
                  </a:rPr>
                  <a:t>$n^2+n+15$</a:t>
                </a:r>
                <a:r>
                  <a:rPr sz="2400" b="0">
                    <a:solidFill>
                      <a:srgbClr val="111827"/>
                    </a:solidFill>
                    <a:latin typeface="Arial"/>
                  </a:rPr>
                  <a:t> is equal to ______. [JEE(Main) Jan 2023]</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Permutations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formula and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Permutations </a:t>
                </a:r>
                <a:r>
                  <a:rPr lang="en-IN" sz="2400">
                    <a:solidFill>
                      <a:srgbClr val="111827"/>
                    </a:solidFill>
                    <a:latin typeface="Cambria Math" panose="02040503050406030204" pitchFamily="18" charset="0"/>
                  </a:rPr>
                  <a:t>${}^nP_r$</a:t>
                </a:r>
                <a:r>
                  <a:rPr sz="2400" b="0">
                    <a:solidFill>
                      <a:srgbClr val="111827"/>
                    </a:solidFill>
                    <a:latin typeface="Arial"/>
                  </a:rPr>
                  <a:t>: formula and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for both terms; most factorials cancel and leave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${}^nP_r=\frac{n!}{(n-r)!}$</a:t>
                </a:r>
                <a:r>
                  <a:rPr sz="2400" b="0">
                    <a:solidFill>
                      <a:srgbClr val="78350F"/>
                    </a:solidFill>
                    <a:latin typeface="Arial"/>
                  </a:rPr>
                  <a:t> for both terms; most factorials cancel and leave </a:t>
                </a:r>
                <a:r>
                  <a:rPr lang="en-IN" sz="2400">
                    <a:solidFill>
                      <a:srgbClr val="78350F"/>
                    </a:solidFill>
                    <a:latin typeface="Cambria Math" panose="02040503050406030204" pitchFamily="18" charset="0"/>
                  </a:rPr>
                  <a:t>$\frac{2(2n+1)}{(n+1)(n+2)}$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${}^{2n+1}P_{n-1}=\frac{(2n+1)!}{(n+2)!}$</a:t>
                </a:r>
                <a:r>
                  <a:rPr sz="2400" b="0">
                    <a:solidFill>
                      <a:srgbClr val="111827"/>
                    </a:solidFill>
                    <a:latin typeface="Arial"/>
                  </a:rPr>
                  <a:t> and </a:t>
                </a:r>
                <a:r>
                  <a:rPr lang="en-IN" sz="2400">
                    <a:solidFill>
                      <a:srgbClr val="111827"/>
                    </a:solidFill>
                    <a:latin typeface="Cambria Math" panose="02040503050406030204" pitchFamily="18" charset="0"/>
                  </a:rPr>
                  <a:t>${}^{2n-1}P_{n}=\frac{(2n-1)!}{(n-1)!}$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r>
                  <a:rPr lang="en-IN" sz="2400">
                    <a:solidFill>
                      <a:srgbClr val="111827"/>
                    </a:solidFill>
                    <a:latin typeface="Cambria Math" panose="02040503050406030204" pitchFamily="18" charset="0"/>
                  </a:rPr>
                  <a:t>$\frac{(2n+1)!\,(n-1)!}{(n+2)!\,(2n-1)!}=\frac{11}{21}$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r>
                  <a:rPr lang="en-IN" sz="2400">
                    <a:solidFill>
                      <a:srgbClr val="111827"/>
                    </a:solidFill>
                    <a:latin typeface="Cambria Math" panose="02040503050406030204" pitchFamily="18" charset="0"/>
                  </a:rPr>
                  <a:t>$\frac{(2n+1)(2n)}{(n+2)(n+1)n}=\frac{11}{21}$</a:t>
                </a:r>
                <a:r>
                  <a:rPr sz="2400" b="0">
                    <a:solidFill>
                      <a:srgbClr val="111827"/>
                    </a:solidFill>
                    <a:latin typeface="Arial"/>
                  </a:rPr>
                  <a:t>, i.e. </a:t>
                </a:r>
                <a:r>
                  <a:rPr lang="en-IN" sz="2400">
                    <a:solidFill>
                      <a:srgbClr val="111827"/>
                    </a:solidFill>
                    <a:latin typeface="Cambria Math" panose="02040503050406030204" pitchFamily="18" charset="0"/>
                  </a:rPr>
                  <a:t>$\frac{2(2n+1)}{(n+1)(n+2)}=\frac{11}{21}$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Equivalently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42</m:t>
                        </m:r>
                      </m:den>
                    </m:f>
                  </m:oMath>
                </a14:m>
                <a:r>
                  <a:rPr sz="2400" b="0">
                    <a:solidFill>
                      <a:srgbClr val="111827"/>
                    </a:solidFill>
                    <a:latin typeface="Arial"/>
                  </a:rPr>
                  <a:t>; cross-multiplying gives </a:t>
                </a:r>
                <a14:m>
                  <m:oMath xmlns:m="http://schemas.openxmlformats.org/officeDocument/2006/math">
                    <m:r>
                      <a:rPr lang="en-IN" sz="2400" i="1">
                        <a:solidFill>
                          <a:srgbClr val="111827"/>
                        </a:solidFill>
                        <a:latin typeface="Cambria Math" panose="02040503050406030204" pitchFamily="18" charset="0"/>
                      </a:rPr>
                      <m:t>11</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other root is negative).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Equivalently </a:t>
                </a:r>
                <a:r>
                  <a:rPr lang="en-IN" sz="2400">
                    <a:solidFill>
                      <a:srgbClr val="111827"/>
                    </a:solidFill>
                    <a:latin typeface="Cambria Math" panose="02040503050406030204" pitchFamily="18" charset="0"/>
                  </a:rPr>
                  <a:t>$\frac{2n+1}{(n+1)(n+2)}=\frac{11}{42}$</a:t>
                </a:r>
                <a:r>
                  <a:rPr sz="2400" b="0">
                    <a:solidFill>
                      <a:srgbClr val="111827"/>
                    </a:solidFill>
                    <a:latin typeface="Arial"/>
                  </a:rPr>
                  <a:t>; cross-multiplying gives </a:t>
                </a:r>
                <a:r>
                  <a:rPr lang="en-IN" sz="2400">
                    <a:solidFill>
                      <a:srgbClr val="111827"/>
                    </a:solidFill>
                    <a:latin typeface="Cambria Math" panose="02040503050406030204" pitchFamily="18" charset="0"/>
                  </a:rPr>
                  <a:t>$11n^2-51n-20=0$</a:t>
                </a:r>
                <a:r>
                  <a:rPr sz="2400" b="0">
                    <a:solidFill>
                      <a:srgbClr val="111827"/>
                    </a:solidFill>
                    <a:latin typeface="Arial"/>
                  </a:rPr>
                  <a:t>, so </a:t>
                </a:r>
                <a:r>
                  <a:rPr lang="en-IN" sz="2400">
                    <a:solidFill>
                      <a:srgbClr val="111827"/>
                    </a:solidFill>
                    <a:latin typeface="Cambria Math" panose="02040503050406030204" pitchFamily="18" charset="0"/>
                  </a:rPr>
                  <a:t>$n=5$</a:t>
                </a:r>
                <a:r>
                  <a:rPr sz="2400" b="0">
                    <a:solidFill>
                      <a:srgbClr val="111827"/>
                    </a:solidFill>
                    <a:latin typeface="Arial"/>
                  </a:rPr>
                  <a:t> (the other root is negative).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$n^2+n+15=25+5+15=45$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45</a:t>
            </a:r>
            <a:endParaRPr sz="2800">
              <a:solidFill>
                <a:srgbClr val="15803D"/>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21</m:t>
                        </m:r>
                      </m:den>
                    </m:f>
                  </m:oMath>
                </a14:m>
                <a:r>
                  <a:rPr sz="2400" b="0">
                    <a:solidFill>
                      <a:srgbClr val="78350F"/>
                    </a:solidFill>
                    <a:latin typeface="Arial"/>
                  </a:rPr>
                  <a:t>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22</m:t>
                        </m:r>
                      </m:num>
                      <m:den>
                        <m:r>
                          <a:rPr lang="en-IN" sz="2400" i="1">
                            <a:solidFill>
                              <a:srgbClr val="78350F"/>
                            </a:solidFill>
                            <a:latin typeface="Cambria Math" panose="02040503050406030204" pitchFamily="18" charset="0"/>
                          </a:rPr>
                          <m:t>42</m:t>
                        </m:r>
                      </m:den>
                    </m:f>
                  </m:oMath>
                </a14:m>
                <a:r>
                  <a:rPr sz="2400" b="0">
                    <a:solidFill>
                      <a:srgbClr val="78350F"/>
                    </a:solidFill>
                    <a:latin typeface="Arial"/>
                  </a:rPr>
                  <a:t> and match numerator and denominator, then prove uniqueness by monotonicity.</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a:t>
                </a:r>
                <a:r>
                  <a:rPr lang="en-IN" sz="2400">
                    <a:solidFill>
                      <a:srgbClr val="78350F"/>
                    </a:solidFill>
                    <a:latin typeface="Cambria Math" panose="02040503050406030204" pitchFamily="18" charset="0"/>
                  </a:rPr>
                  <a:t>$\frac{11}{21}$</a:t>
                </a:r>
                <a:r>
                  <a:rPr sz="2400" b="0">
                    <a:solidFill>
                      <a:srgbClr val="78350F"/>
                    </a:solidFill>
                    <a:latin typeface="Arial"/>
                  </a:rPr>
                  <a:t> to </a:t>
                </a:r>
                <a:r>
                  <a:rPr lang="en-IN" sz="2400">
                    <a:solidFill>
                      <a:srgbClr val="78350F"/>
                    </a:solidFill>
                    <a:latin typeface="Cambria Math" panose="02040503050406030204" pitchFamily="18" charset="0"/>
                  </a:rPr>
                  <a:t>$\frac{22}{42}$</a:t>
                </a:r>
                <a:r>
                  <a:rPr sz="2400" b="0">
                    <a:solidFill>
                      <a:srgbClr val="78350F"/>
                    </a:solidFill>
                    <a:latin typeface="Arial"/>
                  </a:rPr>
                  <a:t> and match numerator and denominator, then prove uniqueness by monotonicity.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reduced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42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matching: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also holds,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works.</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reduced ratio, </a:t>
                </a:r>
                <a:r>
                  <a:rPr lang="en-IN" sz="2400">
                    <a:solidFill>
                      <a:srgbClr val="111827"/>
                    </a:solidFill>
                    <a:latin typeface="Cambria Math" panose="02040503050406030204" pitchFamily="18" charset="0"/>
                  </a:rPr>
                  <a:t>$\frac{2(2n+1)}{(n+1)(n+2)}=\frac{11}{21}=\frac{22}{42}$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matching: </a:t>
                </a:r>
                <a:r>
                  <a:rPr lang="en-IN" sz="2400">
                    <a:solidFill>
                      <a:srgbClr val="111827"/>
                    </a:solidFill>
                    <a:latin typeface="Cambria Math" panose="02040503050406030204" pitchFamily="18" charset="0"/>
                  </a:rPr>
                  <a:t>$2(2n+1)=22\Rightarrow n=5$</a:t>
                </a:r>
                <a:r>
                  <a:rPr sz="2400" b="0">
                    <a:solidFill>
                      <a:srgbClr val="111827"/>
                    </a:solidFill>
                    <a:latin typeface="Arial"/>
                  </a:rPr>
                  <a:t> and </a:t>
                </a:r>
                <a:r>
                  <a:rPr lang="en-IN" sz="2400">
                    <a:solidFill>
                      <a:srgbClr val="111827"/>
                    </a:solidFill>
                    <a:latin typeface="Cambria Math" panose="02040503050406030204" pitchFamily="18" charset="0"/>
                  </a:rPr>
                  <a:t>$(n+1)(n+2)=6\cdot7=42$</a:t>
                </a:r>
                <a:r>
                  <a:rPr sz="2400" b="0">
                    <a:solidFill>
                      <a:srgbClr val="111827"/>
                    </a:solidFill>
                    <a:latin typeface="Arial"/>
                  </a:rPr>
                  <a:t> also holds, so </a:t>
                </a:r>
                <a:r>
                  <a:rPr lang="en-IN" sz="2400">
                    <a:solidFill>
                      <a:srgbClr val="111827"/>
                    </a:solidFill>
                    <a:latin typeface="Cambria Math" panose="02040503050406030204" pitchFamily="18" charset="0"/>
                  </a:rPr>
                  <a:t>$n=5$</a:t>
                </a:r>
                <a:r>
                  <a:rPr sz="2400" b="0">
                    <a:solidFill>
                      <a:srgbClr val="111827"/>
                    </a:solidFill>
                    <a:latin typeface="Arial"/>
                  </a:rPr>
                  <a:t> works.</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Uniqueness: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strictly decreasing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no other positive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Uniqueness: </a:t>
                </a:r>
                <a:r>
                  <a:rPr lang="en-IN" sz="2400">
                    <a:solidFill>
                      <a:srgbClr val="111827"/>
                    </a:solidFill>
                    <a:latin typeface="Cambria Math" panose="02040503050406030204" pitchFamily="18" charset="0"/>
                  </a:rPr>
                  <a:t>$R(n)=\frac{2(2n+1)}{(n+1)(n+2)}$</a:t>
                </a:r>
                <a:r>
                  <a:rPr sz="2400" b="0">
                    <a:solidFill>
                      <a:srgbClr val="111827"/>
                    </a:solidFill>
                    <a:latin typeface="Arial"/>
                  </a:rPr>
                  <a:t> is strictly decreasing for </a:t>
                </a:r>
                <a:r>
                  <a:rPr lang="en-IN" sz="2400">
                    <a:solidFill>
                      <a:srgbClr val="111827"/>
                    </a:solidFill>
                    <a:latin typeface="Cambria Math" panose="02040503050406030204" pitchFamily="18" charset="0"/>
                  </a:rPr>
                  <a:t>$n\ge1$</a:t>
                </a:r>
                <a:r>
                  <a:rPr sz="2400" b="0">
                    <a:solidFill>
                      <a:srgbClr val="111827"/>
                    </a:solidFill>
                    <a:latin typeface="Arial"/>
                  </a:rPr>
                  <a:t> (</a:t>
                </a:r>
                <a:r>
                  <a:rPr lang="en-IN" sz="2400">
                    <a:solidFill>
                      <a:srgbClr val="111827"/>
                    </a:solidFill>
                    <a:latin typeface="Cambria Math" panose="02040503050406030204" pitchFamily="18" charset="0"/>
                  </a:rPr>
                  <a:t>$R(1)=1,R(2)=\frac56,R(3)=\frac{7}{10},\dots$</a:t>
                </a:r>
                <a:r>
                  <a:rPr sz="2400" b="0">
                    <a:solidFill>
                      <a:srgbClr val="111827"/>
                    </a:solidFill>
                    <a:latin typeface="Arial"/>
                  </a:rPr>
                  <a:t>), so no other positive </a:t>
                </a:r>
                <a:r>
                  <a:rPr lang="en-IN" sz="2400">
                    <a:solidFill>
                      <a:srgbClr val="111827"/>
                    </a:solidFill>
                    <a:latin typeface="Cambria Math" panose="02040503050406030204" pitchFamily="18" charset="0"/>
                  </a:rPr>
                  <a:t>$n$</a:t>
                </a:r>
                <a:r>
                  <a:rPr sz="2400" b="0">
                    <a:solidFill>
                      <a:srgbClr val="111827"/>
                    </a:solidFill>
                    <a:latin typeface="Arial"/>
                  </a:rPr>
                  <a:t> gives </a:t>
                </a:r>
                <a:r>
                  <a:rPr lang="en-IN" sz="2400">
                    <a:solidFill>
                      <a:srgbClr val="111827"/>
                    </a:solidFill>
                    <a:latin typeface="Cambria Math" panose="02040503050406030204" pitchFamily="18" charset="0"/>
                  </a:rPr>
                  <a:t>$\frac{11}{21}$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$n=5$</a:t>
                </a:r>
                <a:r>
                  <a:rPr sz="2400" b="0">
                    <a:solidFill>
                      <a:srgbClr val="111827"/>
                    </a:solidFill>
                    <a:latin typeface="Arial"/>
                  </a:rPr>
                  <a:t> and </a:t>
                </a:r>
                <a:r>
                  <a:rPr lang="en-IN" sz="2400">
                    <a:solidFill>
                      <a:srgbClr val="111827"/>
                    </a:solidFill>
                    <a:latin typeface="Cambria Math" panose="02040503050406030204" pitchFamily="18" charset="0"/>
                  </a:rPr>
                  <a:t>$n^2+n+15=45$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45</a:t>
            </a:r>
            <a:endParaRPr sz="2800">
              <a:solidFill>
                <a:srgbClr val="15803D"/>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requires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integers);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force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ratio of permutations or combinations equals a simple fraction, reduce to a rational function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test the integer that matches both numerator and denominator.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Useful: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${}^nP_r=\frac{n!}{(n-r)!}$</a:t>
                </a:r>
                <a:r>
                  <a:rPr sz="2400" b="0">
                    <a:solidFill>
                      <a:srgbClr val="111827"/>
                    </a:solidFill>
                    <a:latin typeface="Arial"/>
                  </a:rPr>
                  <a:t> requires </a:t>
                </a:r>
                <a:r>
                  <a:rPr lang="en-IN" sz="2400">
                    <a:solidFill>
                      <a:srgbClr val="111827"/>
                    </a:solidFill>
                    <a:latin typeface="Cambria Math" panose="02040503050406030204" pitchFamily="18" charset="0"/>
                  </a:rPr>
                  <a:t>$0\le r\le n$</a:t>
                </a:r>
                <a:r>
                  <a:rPr sz="2400" b="0">
                    <a:solidFill>
                      <a:srgbClr val="111827"/>
                    </a:solidFill>
                    <a:latin typeface="Arial"/>
                  </a:rPr>
                  <a:t> (</a:t>
                </a:r>
                <a:r>
                  <a:rPr lang="en-IN" sz="2400">
                    <a:solidFill>
                      <a:srgbClr val="111827"/>
                    </a:solidFill>
                    <a:latin typeface="Cambria Math" panose="02040503050406030204" pitchFamily="18" charset="0"/>
                  </a:rPr>
                  <a:t>$n,r$</a:t>
                </a:r>
                <a:r>
                  <a:rPr sz="2400" b="0">
                    <a:solidFill>
                      <a:srgbClr val="111827"/>
                    </a:solidFill>
                    <a:latin typeface="Arial"/>
                  </a:rPr>
                  <a:t> integers); here </a:t>
                </a:r>
                <a:r>
                  <a:rPr lang="en-IN" sz="2400">
                    <a:solidFill>
                      <a:srgbClr val="111827"/>
                    </a:solidFill>
                    <a:latin typeface="Cambria Math" panose="02040503050406030204" pitchFamily="18" charset="0"/>
                  </a:rPr>
                  <a:t>$n-1\ge0$</a:t>
                </a:r>
                <a:r>
                  <a:rPr sz="2400" b="0">
                    <a:solidFill>
                      <a:srgbClr val="111827"/>
                    </a:solidFill>
                    <a:latin typeface="Arial"/>
                  </a:rPr>
                  <a:t> and </a:t>
                </a:r>
                <a:r>
                  <a:rPr lang="en-IN" sz="2400">
                    <a:solidFill>
                      <a:srgbClr val="111827"/>
                    </a:solidFill>
                    <a:latin typeface="Cambria Math" panose="02040503050406030204" pitchFamily="18" charset="0"/>
                  </a:rPr>
                  <a:t>$2n-1\ge n$</a:t>
                </a:r>
                <a:r>
                  <a:rPr sz="2400" b="0">
                    <a:solidFill>
                      <a:srgbClr val="111827"/>
                    </a:solidFill>
                    <a:latin typeface="Arial"/>
                  </a:rPr>
                  <a:t> force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ratio of permutations or combinations equals a simple fraction, reduce to a rational function of </a:t>
                </a:r>
                <a:r>
                  <a:rPr lang="en-IN" sz="2400">
                    <a:solidFill>
                      <a:srgbClr val="111827"/>
                    </a:solidFill>
                    <a:latin typeface="Cambria Math" panose="02040503050406030204" pitchFamily="18" charset="0"/>
                  </a:rPr>
                  <a:t>$n$</a:t>
                </a:r>
                <a:r>
                  <a:rPr sz="2400" b="0">
                    <a:solidFill>
                      <a:srgbClr val="111827"/>
                    </a:solidFill>
                    <a:latin typeface="Arial"/>
                  </a:rPr>
                  <a:t> and test the integer that matches both numerator and denominator.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Useful: </a:t>
                </a:r>
                <a:r>
                  <a:rPr lang="en-IN" sz="2400">
                    <a:solidFill>
                      <a:srgbClr val="111827"/>
                    </a:solidFill>
                    <a:latin typeface="Cambria Math" panose="02040503050406030204" pitchFamily="18" charset="0"/>
                  </a:rPr>
                  <a:t>${}^{n}P_r={}^{n-1}P_r+r\,{}^{n-1}P_{r-1}$</a:t>
                </a:r>
                <a:r>
                  <a:rPr sz="2400" b="0">
                    <a:solidFill>
                      <a:srgbClr val="111827"/>
                    </a:solidFill>
                    <a:latin typeface="Arial"/>
                  </a:rPr>
                  <a:t> and </a:t>
                </a:r>
                <a:r>
                  <a:rPr lang="en-IN" sz="2400">
                    <a:solidFill>
                      <a:srgbClr val="111827"/>
                    </a:solidFill>
                    <a:latin typeface="Cambria Math" panose="02040503050406030204" pitchFamily="18" charset="0"/>
                  </a:rPr>
                  <a:t>${}^nC_r+{}^nC_{r-1}={}^{n+1}C_r$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digit numbers, that can be formed using all the digits of the number </a:t>
                </a:r>
                <a14:m>
                  <m:oMath xmlns:m="http://schemas.openxmlformats.org/officeDocument/2006/math">
                    <m:r>
                      <a:rPr lang="en-IN" sz="2400" i="1">
                        <a:solidFill>
                          <a:srgbClr val="111827"/>
                        </a:solidFill>
                        <a:latin typeface="Cambria Math" panose="02040503050406030204" pitchFamily="18" charset="0"/>
                      </a:rPr>
                      <m:t>123412341</m:t>
                    </m:r>
                  </m:oMath>
                </a14:m>
                <a:r>
                  <a:rPr sz="2400" b="0">
                    <a:solidFill>
                      <a:srgbClr val="111827"/>
                    </a:solidFill>
                    <a:latin typeface="Arial"/>
                  </a:rPr>
                  <a:t> so that the even digits occupy only even places, is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$9$</a:t>
                </a:r>
                <a:r>
                  <a:rPr sz="2400" b="0">
                    <a:solidFill>
                      <a:srgbClr val="111827"/>
                    </a:solidFill>
                    <a:latin typeface="Arial"/>
                  </a:rPr>
                  <a:t> digit numbers, that can be formed using all the digits of the number </a:t>
                </a:r>
                <a:r>
                  <a:rPr lang="en-IN" sz="2400">
                    <a:solidFill>
                      <a:srgbClr val="111827"/>
                    </a:solidFill>
                    <a:latin typeface="Cambria Math" panose="02040503050406030204" pitchFamily="18" charset="0"/>
                  </a:rPr>
                  <a:t>$123412341$</a:t>
                </a:r>
                <a:r>
                  <a:rPr sz="2400" b="0">
                    <a:solidFill>
                      <a:srgbClr val="111827"/>
                    </a:solidFill>
                    <a:latin typeface="Arial"/>
                  </a:rPr>
                  <a:t> so that the even digits occupy only even places, is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identical objects with position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even digits must take exactly 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even places, so even and odd digits are arranged independently.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$4$</a:t>
                </a:r>
                <a:r>
                  <a:rPr sz="2400" b="0">
                    <a:solidFill>
                      <a:srgbClr val="78350F"/>
                    </a:solidFill>
                    <a:latin typeface="Arial"/>
                  </a:rPr>
                  <a:t> even digits must take exactly the </a:t>
                </a:r>
                <a:r>
                  <a:rPr lang="en-IN" sz="2400">
                    <a:solidFill>
                      <a:srgbClr val="78350F"/>
                    </a:solidFill>
                    <a:latin typeface="Cambria Math" panose="02040503050406030204" pitchFamily="18" charset="0"/>
                  </a:rPr>
                  <a:t>$4$</a:t>
                </a:r>
                <a:r>
                  <a:rPr sz="2400" b="0">
                    <a:solidFill>
                      <a:srgbClr val="78350F"/>
                    </a:solidFill>
                    <a:latin typeface="Arial"/>
                  </a:rPr>
                  <a:t> even places, so even and odd digits are arranged independently.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digits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even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odd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-digit number has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even places (2nd, 4th, 6th, 8th)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odd places; the four even digits must occupy the four even places.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digits in the four even places: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digits are </a:t>
                </a:r>
                <a:r>
                  <a:rPr lang="en-IN" sz="2400">
                    <a:solidFill>
                      <a:srgbClr val="111827"/>
                    </a:solidFill>
                    <a:latin typeface="Cambria Math" panose="02040503050406030204" pitchFamily="18" charset="0"/>
                  </a:rPr>
                  <a:t>$1,1,1,2,2,3,3,4,4$</a:t>
                </a:r>
                <a:r>
                  <a:rPr sz="2400" b="0">
                    <a:solidFill>
                      <a:srgbClr val="111827"/>
                    </a:solidFill>
                    <a:latin typeface="Arial"/>
                  </a:rPr>
                  <a:t>: even digits </a:t>
                </a:r>
                <a:r>
                  <a:rPr lang="en-IN" sz="2400">
                    <a:solidFill>
                      <a:srgbClr val="111827"/>
                    </a:solidFill>
                    <a:latin typeface="Cambria Math" panose="02040503050406030204" pitchFamily="18" charset="0"/>
                  </a:rPr>
                  <a:t>$2,2,4,4$</a:t>
                </a:r>
                <a:r>
                  <a:rPr sz="2400" b="0">
                    <a:solidFill>
                      <a:srgbClr val="111827"/>
                    </a:solidFill>
                    <a:latin typeface="Arial"/>
                  </a:rPr>
                  <a:t> and odd digits </a:t>
                </a:r>
                <a:r>
                  <a:rPr lang="en-IN" sz="2400">
                    <a:solidFill>
                      <a:srgbClr val="111827"/>
                    </a:solidFill>
                    <a:latin typeface="Cambria Math" panose="02040503050406030204" pitchFamily="18" charset="0"/>
                  </a:rPr>
                  <a:t>$1,1,1,3,3$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-digit number has </a:t>
                </a:r>
                <a:r>
                  <a:rPr lang="en-IN" sz="2400">
                    <a:solidFill>
                      <a:srgbClr val="111827"/>
                    </a:solidFill>
                    <a:latin typeface="Cambria Math" panose="02040503050406030204" pitchFamily="18" charset="0"/>
                  </a:rPr>
                  <a:t>$4$</a:t>
                </a:r>
                <a:r>
                  <a:rPr sz="2400" b="0">
                    <a:solidFill>
                      <a:srgbClr val="111827"/>
                    </a:solidFill>
                    <a:latin typeface="Arial"/>
                  </a:rPr>
                  <a:t> even places (2nd, 4th, 6th, 8th) and </a:t>
                </a:r>
                <a:r>
                  <a:rPr lang="en-IN" sz="2400">
                    <a:solidFill>
                      <a:srgbClr val="111827"/>
                    </a:solidFill>
                    <a:latin typeface="Cambria Math" panose="02040503050406030204" pitchFamily="18" charset="0"/>
                  </a:rPr>
                  <a:t>$5$</a:t>
                </a:r>
                <a:r>
                  <a:rPr sz="2400" b="0">
                    <a:solidFill>
                      <a:srgbClr val="111827"/>
                    </a:solidFill>
                    <a:latin typeface="Arial"/>
                  </a:rPr>
                  <a:t> odd places; the four even digits must occupy the four even places.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digits in the four even places: </a:t>
                </a:r>
                <a:r>
                  <a:rPr lang="en-IN" sz="2400">
                    <a:solidFill>
                      <a:srgbClr val="111827"/>
                    </a:solidFill>
                    <a:latin typeface="Cambria Math" panose="02040503050406030204" pitchFamily="18" charset="0"/>
                  </a:rPr>
                  <a:t>$\frac{4!}{2!\,2!}=6$</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Odd digits in the five odd places: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Odd digits in the five odd places: </a:t>
                </a:r>
                <a:r>
                  <a:rPr lang="en-IN" sz="2400">
                    <a:solidFill>
                      <a:srgbClr val="111827"/>
                    </a:solidFill>
                    <a:latin typeface="Cambria Math" panose="02040503050406030204" pitchFamily="18" charset="0"/>
                  </a:rPr>
                  <a:t>$\frac{5!}{3!\,2!}=10$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numbers </a:t>
                </a:r>
                <a:r>
                  <a:rPr lang="en-IN" sz="2400">
                    <a:solidFill>
                      <a:srgbClr val="111827"/>
                    </a:solidFill>
                    <a:latin typeface="Cambria Math" panose="02040503050406030204" pitchFamily="18" charset="0"/>
                  </a:rPr>
                  <a:t>$=6\times10=60$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60</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group of objects is confined to a set of positions of equal size, arrange the groups separately and multiply.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a multiset with repeats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total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unrestricted arrangements here would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7560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the restricted ones use just one of the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choices of places for the even digits.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group of objects is confined to a set of positions of equal size, arrange the groups separately and multiply.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a multiset with repeats </a:t>
                </a:r>
                <a:r>
                  <a:rPr lang="en-IN" sz="2400">
                    <a:solidFill>
                      <a:srgbClr val="111827"/>
                    </a:solidFill>
                    <a:latin typeface="Cambria Math" panose="02040503050406030204" pitchFamily="18" charset="0"/>
                  </a:rPr>
                  <a:t>$n_1,n_2,\dots$</a:t>
                </a:r>
                <a:r>
                  <a:rPr sz="2400" b="0">
                    <a:solidFill>
                      <a:srgbClr val="111827"/>
                    </a:solidFill>
                    <a:latin typeface="Arial"/>
                  </a:rPr>
                  <a:t> of total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$\frac{n!}{n_1!\,n_2!\cdots}$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unrestricted arrangements here would be </a:t>
                </a:r>
                <a:r>
                  <a:rPr lang="en-IN" sz="2400">
                    <a:solidFill>
                      <a:srgbClr val="111827"/>
                    </a:solidFill>
                    <a:latin typeface="Cambria Math" panose="02040503050406030204" pitchFamily="18" charset="0"/>
                  </a:rPr>
                  <a:t>$\frac{9!}{3!\,2!\,2!\,2!}=7560=\binom94\cdot6\cdot10$</a:t>
                </a:r>
                <a:r>
                  <a:rPr sz="2400" b="0">
                    <a:solidFill>
                      <a:srgbClr val="111827"/>
                    </a:solidFill>
                    <a:latin typeface="Arial"/>
                  </a:rPr>
                  <a:t>; the restricted ones use just one of the </a:t>
                </a:r>
                <a:r>
                  <a:rPr lang="en-IN" sz="2400">
                    <a:solidFill>
                      <a:srgbClr val="111827"/>
                    </a:solidFill>
                    <a:latin typeface="Cambria Math" panose="02040503050406030204" pitchFamily="18" charset="0"/>
                  </a:rPr>
                  <a:t>$\binom94=126$</a:t>
                </a:r>
                <a:r>
                  <a:rPr sz="2400" b="0">
                    <a:solidFill>
                      <a:srgbClr val="111827"/>
                    </a:solidFill>
                    <a:latin typeface="Arial"/>
                  </a:rPr>
                  <a:t> choices of places for the even digits.</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boy needs to select five courses from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available courses, out of which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courses are language courses. If he can choose at most two language courses, then the number of ways he can choose five courses is ______. [JEE(Main) Jan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boy needs to select five courses from </a:t>
                </a:r>
                <a:r>
                  <a:rPr lang="en-IN" sz="2400">
                    <a:solidFill>
                      <a:srgbClr val="111827"/>
                    </a:solidFill>
                    <a:latin typeface="Cambria Math" panose="02040503050406030204" pitchFamily="18" charset="0"/>
                  </a:rPr>
                  <a:t>$12$</a:t>
                </a:r>
                <a:r>
                  <a:rPr sz="2400" b="0">
                    <a:solidFill>
                      <a:srgbClr val="111827"/>
                    </a:solidFill>
                    <a:latin typeface="Arial"/>
                  </a:rPr>
                  <a:t> available courses, out of which </a:t>
                </a:r>
                <a:r>
                  <a:rPr lang="en-IN" sz="2400">
                    <a:solidFill>
                      <a:srgbClr val="111827"/>
                    </a:solidFill>
                    <a:latin typeface="Cambria Math" panose="02040503050406030204" pitchFamily="18" charset="0"/>
                  </a:rPr>
                  <a:t>$5$</a:t>
                </a:r>
                <a:r>
                  <a:rPr sz="2400" b="0">
                    <a:solidFill>
                      <a:srgbClr val="111827"/>
                    </a:solidFill>
                    <a:latin typeface="Arial"/>
                  </a:rPr>
                  <a:t> courses are language courses. If he can choose at most two language courses, then the number of ways he can choose five courses is ______. [JEE(Main) Jan 2023]</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with a restriction on a type (at most / at least)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most two' means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language courses; pick those from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and the rest from the other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most two' means </a:t>
                </a:r>
                <a:r>
                  <a:rPr lang="en-IN" sz="2400">
                    <a:solidFill>
                      <a:srgbClr val="78350F"/>
                    </a:solidFill>
                    <a:latin typeface="Cambria Math" panose="02040503050406030204" pitchFamily="18" charset="0"/>
                  </a:rPr>
                  <a:t>$2,1$</a:t>
                </a:r>
                <a:r>
                  <a:rPr sz="2400" b="0">
                    <a:solidFill>
                      <a:srgbClr val="78350F"/>
                    </a:solidFill>
                    <a:latin typeface="Arial"/>
                  </a:rPr>
                  <a:t> or </a:t>
                </a:r>
                <a:r>
                  <a:rPr lang="en-IN" sz="2400">
                    <a:solidFill>
                      <a:srgbClr val="78350F"/>
                    </a:solidFill>
                    <a:latin typeface="Cambria Math" panose="02040503050406030204" pitchFamily="18" charset="0"/>
                  </a:rPr>
                  <a:t>$0$</a:t>
                </a:r>
                <a:r>
                  <a:rPr sz="2400" b="0">
                    <a:solidFill>
                      <a:srgbClr val="78350F"/>
                    </a:solidFill>
                    <a:latin typeface="Arial"/>
                  </a:rPr>
                  <a:t> language courses; pick those from </a:t>
                </a:r>
                <a:r>
                  <a:rPr lang="en-IN" sz="2400">
                    <a:solidFill>
                      <a:srgbClr val="78350F"/>
                    </a:solidFill>
                    <a:latin typeface="Cambria Math" panose="02040503050406030204" pitchFamily="18" charset="0"/>
                  </a:rPr>
                  <a:t>$5$</a:t>
                </a:r>
                <a:r>
                  <a:rPr sz="2400" b="0">
                    <a:solidFill>
                      <a:srgbClr val="78350F"/>
                    </a:solidFill>
                    <a:latin typeface="Arial"/>
                  </a:rPr>
                  <a:t> and the rest from the other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language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non-language courses; exactly five courses are chosen.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language courses: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language course: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language course: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$5$</a:t>
                </a:r>
                <a:r>
                  <a:rPr sz="2400" b="0">
                    <a:solidFill>
                      <a:srgbClr val="111827"/>
                    </a:solidFill>
                    <a:latin typeface="Arial"/>
                  </a:rPr>
                  <a:t> language and </a:t>
                </a:r>
                <a:r>
                  <a:rPr lang="en-IN" sz="2400">
                    <a:solidFill>
                      <a:srgbClr val="111827"/>
                    </a:solidFill>
                    <a:latin typeface="Cambria Math" panose="02040503050406030204" pitchFamily="18" charset="0"/>
                  </a:rPr>
                  <a:t>$7$</a:t>
                </a:r>
                <a:r>
                  <a:rPr sz="2400" b="0">
                    <a:solidFill>
                      <a:srgbClr val="111827"/>
                    </a:solidFill>
                    <a:latin typeface="Arial"/>
                  </a:rPr>
                  <a:t> non-language courses; exactly five courses are chosen.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language courses: </a:t>
                </a:r>
                <a:r>
                  <a:rPr lang="en-IN" sz="2400">
                    <a:solidFill>
                      <a:srgbClr val="111827"/>
                    </a:solidFill>
                    <a:latin typeface="Cambria Math" panose="02040503050406030204" pitchFamily="18" charset="0"/>
                  </a:rPr>
                  <a:t>${}^5C_2\times{}^7C_3=10\times35=350$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language course: </a:t>
                </a:r>
                <a:r>
                  <a:rPr lang="en-IN" sz="2400">
                    <a:solidFill>
                      <a:srgbClr val="111827"/>
                    </a:solidFill>
                    <a:latin typeface="Cambria Math" panose="02040503050406030204" pitchFamily="18" charset="0"/>
                  </a:rPr>
                  <a:t>${}^5C_1\times{}^7C_4=5\times35=175$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language course: </a:t>
                </a:r>
                <a:r>
                  <a:rPr lang="en-IN" sz="2400">
                    <a:solidFill>
                      <a:srgbClr val="111827"/>
                    </a:solidFill>
                    <a:latin typeface="Cambria Math" panose="02040503050406030204" pitchFamily="18" charset="0"/>
                  </a:rPr>
                  <a:t>${}^7C_5=21$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$=350+175+21=546$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546</a:t>
            </a:r>
            <a:endParaRPr sz="2800">
              <a:solidFill>
                <a:srgbClr val="15803D"/>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subtract the selections with at least three language courses from the total.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selections of five from twelve: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Selections with at least three language courses: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language: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246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selections of five from twelve: </a:t>
                </a:r>
                <a:r>
                  <a:rPr lang="en-IN" sz="2400">
                    <a:solidFill>
                      <a:srgbClr val="111827"/>
                    </a:solidFill>
                    <a:latin typeface="Cambria Math" panose="02040503050406030204" pitchFamily="18" charset="0"/>
                  </a:rPr>
                  <a:t>${}^{12}C_5=792$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Selections with at least three language courses: </a:t>
                </a:r>
                <a:r>
                  <a:rPr lang="en-IN" sz="2400">
                    <a:solidFill>
                      <a:srgbClr val="111827"/>
                    </a:solidFill>
                    <a:latin typeface="Cambria Math" panose="02040503050406030204" pitchFamily="18" charset="0"/>
                  </a:rPr>
                  <a:t>$3$</a:t>
                </a:r>
                <a:r>
                  <a:rPr sz="2400" b="0">
                    <a:solidFill>
                      <a:srgbClr val="111827"/>
                    </a:solidFill>
                    <a:latin typeface="Arial"/>
                  </a:rPr>
                  <a:t> language: </a:t>
                </a:r>
                <a:r>
                  <a:rPr lang="en-IN" sz="2400">
                    <a:solidFill>
                      <a:srgbClr val="111827"/>
                    </a:solidFill>
                    <a:latin typeface="Cambria Math" panose="02040503050406030204" pitchFamily="18" charset="0"/>
                  </a:rPr>
                  <a:t>${}^5C_3\,{}^7C_2=10\times21=210$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${}^5C_4\,{}^7C_1=35$</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${}^5C_5=1$</a:t>
                </a:r>
                <a:r>
                  <a:rPr sz="2400" b="0">
                    <a:solidFill>
                      <a:srgbClr val="111827"/>
                    </a:solidFill>
                    <a:latin typeface="Arial"/>
                  </a:rPr>
                  <a:t>; total </a:t>
                </a:r>
                <a:r>
                  <a:rPr lang="en-IN" sz="2400">
                    <a:solidFill>
                      <a:srgbClr val="111827"/>
                    </a:solidFill>
                    <a:latin typeface="Cambria Math" panose="02040503050406030204" pitchFamily="18" charset="0"/>
                  </a:rPr>
                  <a:t>$246$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$=792-246=546$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546</a:t>
            </a:r>
            <a:endParaRPr sz="2800">
              <a:solidFill>
                <a:srgbClr val="15803D"/>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most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with a small complement ('at least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can be done as total minus complement; choose whichever has fewer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here the cases for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language courses sum to </a:t>
                </a:r>
                <a14:m>
                  <m:oMath xmlns:m="http://schemas.openxmlformats.org/officeDocument/2006/math">
                    <m:r>
                      <a:rPr lang="en-IN" sz="2400" i="1">
                        <a:solidFill>
                          <a:srgbClr val="111827"/>
                        </a:solidFill>
                        <a:latin typeface="Cambria Math" panose="02040503050406030204" pitchFamily="18" charset="0"/>
                      </a:rPr>
                      <m:t>792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 from two groups: multiply the binomials for each group, then add over the cases.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most </a:t>
                </a:r>
                <a:r>
                  <a:rPr lang="en-IN" sz="2400">
                    <a:solidFill>
                      <a:srgbClr val="111827"/>
                    </a:solidFill>
                    <a:latin typeface="Cambria Math" panose="02040503050406030204" pitchFamily="18" charset="0"/>
                  </a:rPr>
                  <a:t>$k$</a:t>
                </a:r>
                <a:r>
                  <a:rPr sz="2400" b="0">
                    <a:solidFill>
                      <a:srgbClr val="111827"/>
                    </a:solidFill>
                    <a:latin typeface="Arial"/>
                  </a:rPr>
                  <a:t>' with a small complement ('at least </a:t>
                </a:r>
                <a:r>
                  <a:rPr lang="en-IN" sz="2400">
                    <a:solidFill>
                      <a:srgbClr val="111827"/>
                    </a:solidFill>
                    <a:latin typeface="Cambria Math" panose="02040503050406030204" pitchFamily="18" charset="0"/>
                  </a:rPr>
                  <a:t>$k+1$</a:t>
                </a:r>
                <a:r>
                  <a:rPr sz="2400" b="0">
                    <a:solidFill>
                      <a:srgbClr val="111827"/>
                    </a:solidFill>
                    <a:latin typeface="Arial"/>
                  </a:rPr>
                  <a:t>') can be done as total minus complement; choose whichever has fewer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$\sum_k\binom{a}{k}\binom{b}{r-k}=\binom{a+b}{r}$</a:t>
                </a:r>
                <a:r>
                  <a:rPr sz="2400" b="0">
                    <a:solidFill>
                      <a:srgbClr val="111827"/>
                    </a:solidFill>
                    <a:latin typeface="Arial"/>
                  </a:rPr>
                  <a:t>; here the cases for </a:t>
                </a:r>
                <a:r>
                  <a:rPr lang="en-IN" sz="2400">
                    <a:solidFill>
                      <a:srgbClr val="111827"/>
                    </a:solidFill>
                    <a:latin typeface="Cambria Math" panose="02040503050406030204" pitchFamily="18" charset="0"/>
                  </a:rPr>
                  <a:t>$0$</a:t>
                </a:r>
                <a:r>
                  <a:rPr sz="2400" b="0">
                    <a:solidFill>
                      <a:srgbClr val="111827"/>
                    </a:solidFill>
                    <a:latin typeface="Arial"/>
                  </a:rPr>
                  <a:t> to </a:t>
                </a:r>
                <a:r>
                  <a:rPr lang="en-IN" sz="2400">
                    <a:solidFill>
                      <a:srgbClr val="111827"/>
                    </a:solidFill>
                    <a:latin typeface="Cambria Math" panose="02040503050406030204" pitchFamily="18" charset="0"/>
                  </a:rPr>
                  <a:t>$5$</a:t>
                </a:r>
                <a:r>
                  <a:rPr sz="2400" b="0">
                    <a:solidFill>
                      <a:srgbClr val="111827"/>
                    </a:solidFill>
                    <a:latin typeface="Arial"/>
                  </a:rPr>
                  <a:t> language courses sum to </a:t>
                </a:r>
                <a:r>
                  <a:rPr lang="en-IN" sz="2400">
                    <a:solidFill>
                      <a:srgbClr val="111827"/>
                    </a:solidFill>
                    <a:latin typeface="Cambria Math" panose="02040503050406030204" pitchFamily="18" charset="0"/>
                  </a:rPr>
                  <a:t>$792$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 from two groups: multiply the binomials for each group, then add over the cases.</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be distinct integers where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Then, the number of ways of choosing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be distinct integers where </a:t>
                </a:r>
                <a:r>
                  <a:rPr lang="en-IN" sz="2400">
                    <a:solidFill>
                      <a:srgbClr val="111827"/>
                    </a:solidFill>
                    <a:latin typeface="Cambria Math" panose="02040503050406030204" pitchFamily="18" charset="0"/>
                  </a:rPr>
                  <a:t>$1\le x\le25$</a:t>
                </a:r>
                <a:r>
                  <a:rPr sz="2400" b="0">
                    <a:solidFill>
                      <a:srgbClr val="111827"/>
                    </a:solidFill>
                    <a:latin typeface="Arial"/>
                  </a:rPr>
                  <a:t> and </a:t>
                </a:r>
                <a:r>
                  <a:rPr lang="en-IN" sz="2400">
                    <a:solidFill>
                      <a:srgbClr val="111827"/>
                    </a:solidFill>
                    <a:latin typeface="Cambria Math" panose="02040503050406030204" pitchFamily="18" charset="0"/>
                  </a:rPr>
                  <a:t>$1\le y\le25$</a:t>
                </a:r>
                <a:r>
                  <a:rPr sz="2400" b="0">
                    <a:solidFill>
                      <a:srgbClr val="111827"/>
                    </a:solidFill>
                    <a:latin typeface="Arial"/>
                  </a:rPr>
                  <a:t>. Then, the number of ways of choosing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such that </a:t>
                </a:r>
                <a:r>
                  <a:rPr lang="en-IN" sz="2400">
                    <a:solidFill>
                      <a:srgbClr val="111827"/>
                    </a:solidFill>
                    <a:latin typeface="Cambria Math" panose="02040503050406030204" pitchFamily="18" charset="0"/>
                  </a:rPr>
                  <a:t>$x+y$</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by residue classes (divisibility)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the numbers by remainder mod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pairs remainder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the numbers by remainder mod </a:t>
                </a:r>
                <a:r>
                  <a:rPr lang="en-IN" sz="2400">
                    <a:solidFill>
                      <a:srgbClr val="78350F"/>
                    </a:solidFill>
                    <a:latin typeface="Cambria Math" panose="02040503050406030204" pitchFamily="18" charset="0"/>
                  </a:rPr>
                  <a:t>$5$</a:t>
                </a:r>
                <a:r>
                  <a:rPr sz="2400" b="0">
                    <a:solidFill>
                      <a:srgbClr val="78350F"/>
                    </a:solidFill>
                    <a:latin typeface="Arial"/>
                  </a:rPr>
                  <a:t>: </a:t>
                </a:r>
                <a:r>
                  <a:rPr lang="en-IN" sz="2400">
                    <a:solidFill>
                      <a:srgbClr val="78350F"/>
                    </a:solidFill>
                    <a:latin typeface="Cambria Math" panose="02040503050406030204" pitchFamily="18" charset="0"/>
                  </a:rPr>
                  <a:t>$x+y\equiv0$</a:t>
                </a:r>
                <a:r>
                  <a:rPr sz="2400" b="0">
                    <a:solidFill>
                      <a:srgbClr val="78350F"/>
                    </a:solidFill>
                    <a:latin typeface="Arial"/>
                  </a:rPr>
                  <a:t> pairs remainder </a:t>
                </a:r>
                <a:r>
                  <a:rPr lang="en-IN" sz="2400">
                    <a:solidFill>
                      <a:srgbClr val="78350F"/>
                    </a:solidFill>
                    <a:latin typeface="Cambria Math" panose="02040503050406030204" pitchFamily="18" charset="0"/>
                  </a:rPr>
                  <a:t>$r$</a:t>
                </a:r>
                <a:r>
                  <a:rPr sz="2400" b="0">
                    <a:solidFill>
                      <a:srgbClr val="78350F"/>
                    </a:solidFill>
                    <a:latin typeface="Arial"/>
                  </a:rPr>
                  <a:t> with </a:t>
                </a:r>
                <a:r>
                  <a:rPr lang="en-IN" sz="2400">
                    <a:solidFill>
                      <a:srgbClr val="78350F"/>
                    </a:solidFill>
                    <a:latin typeface="Cambria Math" panose="02040503050406030204" pitchFamily="18" charset="0"/>
                  </a:rPr>
                  <a:t>$5-r$</a:t>
                </a:r>
                <a:r>
                  <a:rPr sz="2400" b="0">
                    <a:solidFill>
                      <a:srgbClr val="78350F"/>
                    </a:solidFill>
                    <a:latin typeface="Arial"/>
                  </a:rPr>
                  <a:t>, and </a:t>
                </a:r>
                <a:r>
                  <a:rPr lang="en-IN" sz="2400">
                    <a:solidFill>
                      <a:srgbClr val="78350F"/>
                    </a:solidFill>
                    <a:latin typeface="Cambria Math" panose="02040503050406030204" pitchFamily="18" charset="0"/>
                  </a:rPr>
                  <a:t>$0$</a:t>
                </a:r>
                <a:r>
                  <a:rPr sz="2400" b="0">
                    <a:solidFill>
                      <a:srgbClr val="78350F"/>
                    </a:solidFill>
                    <a:latin typeface="Arial"/>
                  </a:rPr>
                  <a:t> with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into five groups by remainder on division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each group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numbers (remainders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group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group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group: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t>
                </a:r>
                <a:r>
                  <a:rPr lang="en-IN" sz="2400">
                    <a:solidFill>
                      <a:srgbClr val="111827"/>
                    </a:solidFill>
                    <a:latin typeface="Cambria Math" panose="02040503050406030204" pitchFamily="18" charset="0"/>
                  </a:rPr>
                  <a:t>$1,\dots,25$</a:t>
                </a:r>
                <a:r>
                  <a:rPr sz="2400" b="0">
                    <a:solidFill>
                      <a:srgbClr val="111827"/>
                    </a:solidFill>
                    <a:latin typeface="Arial"/>
                  </a:rPr>
                  <a:t> into five groups by remainder on division by </a:t>
                </a:r>
                <a:r>
                  <a:rPr lang="en-IN" sz="2400">
                    <a:solidFill>
                      <a:srgbClr val="111827"/>
                    </a:solidFill>
                    <a:latin typeface="Cambria Math" panose="02040503050406030204" pitchFamily="18" charset="0"/>
                  </a:rPr>
                  <a:t>$5$</a:t>
                </a:r>
                <a:r>
                  <a:rPr sz="2400" b="0">
                    <a:solidFill>
                      <a:srgbClr val="111827"/>
                    </a:solidFill>
                    <a:latin typeface="Arial"/>
                  </a:rPr>
                  <a:t>; each group has </a:t>
                </a:r>
                <a:r>
                  <a:rPr lang="en-IN" sz="2400">
                    <a:solidFill>
                      <a:srgbClr val="111827"/>
                    </a:solidFill>
                    <a:latin typeface="Cambria Math" panose="02040503050406030204" pitchFamily="18" charset="0"/>
                  </a:rPr>
                  <a:t>$5$</a:t>
                </a:r>
                <a:r>
                  <a:rPr sz="2400" b="0">
                    <a:solidFill>
                      <a:srgbClr val="111827"/>
                    </a:solidFill>
                    <a:latin typeface="Arial"/>
                  </a:rPr>
                  <a:t> numbers (remainders </a:t>
                </a:r>
                <a:r>
                  <a:rPr lang="en-IN" sz="2400">
                    <a:solidFill>
                      <a:srgbClr val="111827"/>
                    </a:solidFill>
                    <a:latin typeface="Cambria Math" panose="02040503050406030204" pitchFamily="18" charset="0"/>
                  </a:rPr>
                  <a:t>$1,2,3,4,0$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a:t>
                </a:r>
                <a:r>
                  <a:rPr sz="2400" b="0">
                    <a:solidFill>
                      <a:srgbClr val="111827"/>
                    </a:solidFill>
                    <a:latin typeface="Arial"/>
                  </a:rPr>
                  <a:t> is divisible by </a:t>
                </a:r>
                <a:r>
                  <a:rPr lang="en-IN" sz="2400">
                    <a:solidFill>
                      <a:srgbClr val="111827"/>
                    </a:solidFill>
                    <a:latin typeface="Cambria Math" panose="02040503050406030204" pitchFamily="18" charset="0"/>
                  </a:rPr>
                  <a:t>$5$</a:t>
                </a:r>
                <a:r>
                  <a:rPr sz="2400" b="0">
                    <a:solidFill>
                      <a:srgbClr val="111827"/>
                    </a:solidFill>
                    <a:latin typeface="Arial"/>
                  </a:rPr>
                  <a:t> when </a:t>
                </a:r>
                <a:r>
                  <a:rPr lang="en-IN" sz="2400">
                    <a:solidFill>
                      <a:srgbClr val="111827"/>
                    </a:solidFill>
                    <a:latin typeface="Cambria Math" panose="02040503050406030204" pitchFamily="18" charset="0"/>
                  </a:rPr>
                  <a:t>$x\in$</a:t>
                </a:r>
                <a:r>
                  <a:rPr sz="2400" b="0">
                    <a:solidFill>
                      <a:srgbClr val="111827"/>
                    </a:solidFill>
                    <a:latin typeface="Arial"/>
                  </a:rPr>
                  <a:t> remainder-</a:t>
                </a:r>
                <a:r>
                  <a:rPr lang="en-IN" sz="2400">
                    <a:solidFill>
                      <a:srgbClr val="111827"/>
                    </a:solidFill>
                    <a:latin typeface="Cambria Math" panose="02040503050406030204" pitchFamily="18" charset="0"/>
                  </a:rPr>
                  <a:t>$1$</a:t>
                </a:r>
                <a:r>
                  <a:rPr sz="2400" b="0">
                    <a:solidFill>
                      <a:srgbClr val="111827"/>
                    </a:solidFill>
                    <a:latin typeface="Arial"/>
                  </a:rPr>
                  <a:t> group and </a:t>
                </a:r>
                <a:r>
                  <a:rPr lang="en-IN" sz="2400">
                    <a:solidFill>
                      <a:srgbClr val="111827"/>
                    </a:solidFill>
                    <a:latin typeface="Cambria Math" panose="02040503050406030204" pitchFamily="18" charset="0"/>
                  </a:rPr>
                  <a:t>$y\in$</a:t>
                </a:r>
                <a:r>
                  <a:rPr sz="2400" b="0">
                    <a:solidFill>
                      <a:srgbClr val="111827"/>
                    </a:solidFill>
                    <a:latin typeface="Arial"/>
                  </a:rPr>
                  <a:t> remainder-</a:t>
                </a:r>
                <a:r>
                  <a:rPr lang="en-IN" sz="2400">
                    <a:solidFill>
                      <a:srgbClr val="111827"/>
                    </a:solidFill>
                    <a:latin typeface="Cambria Math" panose="02040503050406030204" pitchFamily="18" charset="0"/>
                  </a:rPr>
                  <a:t>$4$</a:t>
                </a:r>
                <a:r>
                  <a:rPr sz="2400" b="0">
                    <a:solidFill>
                      <a:srgbClr val="111827"/>
                    </a:solidFill>
                    <a:latin typeface="Arial"/>
                  </a:rPr>
                  <a:t> group: </a:t>
                </a:r>
                <a:r>
                  <a:rPr lang="en-IN" sz="2400">
                    <a:solidFill>
                      <a:srgbClr val="111827"/>
                    </a:solidFill>
                    <a:latin typeface="Cambria Math" panose="02040503050406030204" pitchFamily="18" charset="0"/>
                  </a:rPr>
                  <a:t>${}^5C_1\times{}^5C_1=25$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$x\in$</a:t>
                </a:r>
                <a:r>
                  <a:rPr sz="2400" b="0">
                    <a:solidFill>
                      <a:srgbClr val="111827"/>
                    </a:solidFill>
                    <a:latin typeface="Arial"/>
                  </a:rPr>
                  <a:t> remainder-</a:t>
                </a:r>
                <a:r>
                  <a:rPr lang="en-IN" sz="2400">
                    <a:solidFill>
                      <a:srgbClr val="111827"/>
                    </a:solidFill>
                    <a:latin typeface="Cambria Math" panose="02040503050406030204" pitchFamily="18" charset="0"/>
                  </a:rPr>
                  <a:t>$2$</a:t>
                </a:r>
                <a:r>
                  <a:rPr sz="2400" b="0">
                    <a:solidFill>
                      <a:srgbClr val="111827"/>
                    </a:solidFill>
                    <a:latin typeface="Arial"/>
                  </a:rPr>
                  <a:t> group and </a:t>
                </a:r>
                <a:r>
                  <a:rPr lang="en-IN" sz="2400">
                    <a:solidFill>
                      <a:srgbClr val="111827"/>
                    </a:solidFill>
                    <a:latin typeface="Cambria Math" panose="02040503050406030204" pitchFamily="18" charset="0"/>
                  </a:rPr>
                  <a:t>$y\in$</a:t>
                </a:r>
                <a:r>
                  <a:rPr sz="2400" b="0">
                    <a:solidFill>
                      <a:srgbClr val="111827"/>
                    </a:solidFill>
                    <a:latin typeface="Arial"/>
                  </a:rPr>
                  <a:t> remainder-</a:t>
                </a:r>
                <a:r>
                  <a:rPr lang="en-IN" sz="2400">
                    <a:solidFill>
                      <a:srgbClr val="111827"/>
                    </a:solidFill>
                    <a:latin typeface="Cambria Math" panose="02040503050406030204" pitchFamily="18" charset="0"/>
                  </a:rPr>
                  <a:t>$3$</a:t>
                </a:r>
                <a:r>
                  <a:rPr sz="2400" b="0">
                    <a:solidFill>
                      <a:srgbClr val="111827"/>
                    </a:solidFill>
                    <a:latin typeface="Arial"/>
                  </a:rPr>
                  <a:t> group: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group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group: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from the remainder-</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group (distinct):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choices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$x\in$</a:t>
                </a:r>
                <a:r>
                  <a:rPr sz="2400" b="0">
                    <a:solidFill>
                      <a:srgbClr val="111827"/>
                    </a:solidFill>
                    <a:latin typeface="Arial"/>
                  </a:rPr>
                  <a:t> remainder-</a:t>
                </a:r>
                <a:r>
                  <a:rPr lang="en-IN" sz="2400">
                    <a:solidFill>
                      <a:srgbClr val="111827"/>
                    </a:solidFill>
                    <a:latin typeface="Cambria Math" panose="02040503050406030204" pitchFamily="18" charset="0"/>
                  </a:rPr>
                  <a:t>$3$</a:t>
                </a:r>
                <a:r>
                  <a:rPr sz="2400" b="0">
                    <a:solidFill>
                      <a:srgbClr val="111827"/>
                    </a:solidFill>
                    <a:latin typeface="Arial"/>
                  </a:rPr>
                  <a:t> group and </a:t>
                </a:r>
                <a:r>
                  <a:rPr lang="en-IN" sz="2400">
                    <a:solidFill>
                      <a:srgbClr val="111827"/>
                    </a:solidFill>
                    <a:latin typeface="Cambria Math" panose="02040503050406030204" pitchFamily="18" charset="0"/>
                  </a:rPr>
                  <a:t>$y\in$</a:t>
                </a:r>
                <a:r>
                  <a:rPr sz="2400" b="0">
                    <a:solidFill>
                      <a:srgbClr val="111827"/>
                    </a:solidFill>
                    <a:latin typeface="Arial"/>
                  </a:rPr>
                  <a:t> remainder-</a:t>
                </a:r>
                <a:r>
                  <a:rPr lang="en-IN" sz="2400">
                    <a:solidFill>
                      <a:srgbClr val="111827"/>
                    </a:solidFill>
                    <a:latin typeface="Cambria Math" panose="02040503050406030204" pitchFamily="18" charset="0"/>
                  </a:rPr>
                  <a:t>$2$</a:t>
                </a:r>
                <a:r>
                  <a:rPr sz="2400" b="0">
                    <a:solidFill>
                      <a:srgbClr val="111827"/>
                    </a:solidFill>
                    <a:latin typeface="Arial"/>
                  </a:rPr>
                  <a:t> group: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$x\in$</a:t>
                </a:r>
                <a:r>
                  <a:rPr sz="2400" b="0">
                    <a:solidFill>
                      <a:srgbClr val="111827"/>
                    </a:solidFill>
                    <a:latin typeface="Arial"/>
                  </a:rPr>
                  <a:t> remainder-</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$y\in$</a:t>
                </a:r>
                <a:r>
                  <a:rPr sz="2400" b="0">
                    <a:solidFill>
                      <a:srgbClr val="111827"/>
                    </a:solidFill>
                    <a:latin typeface="Arial"/>
                  </a:rPr>
                  <a:t> remainder-</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from the remainder-</a:t>
                </a:r>
                <a:r>
                  <a:rPr lang="en-IN" sz="2400">
                    <a:solidFill>
                      <a:srgbClr val="111827"/>
                    </a:solidFill>
                    <a:latin typeface="Cambria Math" panose="02040503050406030204" pitchFamily="18" charset="0"/>
                  </a:rPr>
                  <a:t>$0$</a:t>
                </a:r>
                <a:r>
                  <a:rPr sz="2400" b="0">
                    <a:solidFill>
                      <a:srgbClr val="111827"/>
                    </a:solidFill>
                    <a:latin typeface="Arial"/>
                  </a:rPr>
                  <a:t> group (distinct): </a:t>
                </a:r>
                <a:r>
                  <a:rPr lang="en-IN" sz="2400">
                    <a:solidFill>
                      <a:srgbClr val="111827"/>
                    </a:solidFill>
                    <a:latin typeface="Cambria Math" panose="02040503050406030204" pitchFamily="18" charset="0"/>
                  </a:rPr>
                  <a:t>${}^5C_2\times2=20$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choices of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$=25\times4+20=120$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120</a:t>
            </a:r>
            <a:endParaRPr sz="2800">
              <a:solidFill>
                <a:srgbClr val="15803D"/>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first and count the admissible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for it.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r>
                  <a:rPr lang="en-IN" sz="2400">
                    <a:solidFill>
                      <a:srgbClr val="78350F"/>
                    </a:solidFill>
                    <a:latin typeface="Cambria Math" panose="02040503050406030204" pitchFamily="18" charset="0"/>
                  </a:rPr>
                  <a:t>$x$</a:t>
                </a:r>
                <a:r>
                  <a:rPr sz="2400" b="0">
                    <a:solidFill>
                      <a:srgbClr val="78350F"/>
                    </a:solidFill>
                    <a:latin typeface="Arial"/>
                  </a:rPr>
                  <a:t> first and count the admissible </a:t>
                </a:r>
                <a:r>
                  <a:rPr lang="en-IN" sz="2400">
                    <a:solidFill>
                      <a:srgbClr val="78350F"/>
                    </a:solidFill>
                    <a:latin typeface="Cambria Math" panose="02040503050406030204" pitchFamily="18" charset="0"/>
                  </a:rPr>
                  <a:t>$y$</a:t>
                </a:r>
                <a:r>
                  <a:rPr sz="2400" b="0">
                    <a:solidFill>
                      <a:srgbClr val="78350F"/>
                    </a:solidFill>
                    <a:latin typeface="Arial"/>
                  </a:rPr>
                  <a:t> for 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given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must have 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each remainder class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such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other than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choices, giving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not a multiple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such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comes from the complementary class, which never contains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choices, giving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given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must have remainder </a:t>
                </a:r>
                <a:r>
                  <a:rPr lang="en-IN" sz="2400">
                    <a:solidFill>
                      <a:srgbClr val="111827"/>
                    </a:solidFill>
                    <a:latin typeface="Cambria Math" panose="02040503050406030204" pitchFamily="18" charset="0"/>
                  </a:rPr>
                  <a:t>$-x\pmod5$</a:t>
                </a:r>
                <a:r>
                  <a:rPr sz="2400" b="0">
                    <a:solidFill>
                      <a:srgbClr val="111827"/>
                    </a:solidFill>
                    <a:latin typeface="Arial"/>
                  </a:rPr>
                  <a:t>; each remainder class has </a:t>
                </a:r>
                <a:r>
                  <a:rPr lang="en-IN" sz="2400">
                    <a:solidFill>
                      <a:srgbClr val="111827"/>
                    </a:solidFill>
                    <a:latin typeface="Cambria Math" panose="02040503050406030204" pitchFamily="18" charset="0"/>
                  </a:rPr>
                  <a:t>$5$</a:t>
                </a:r>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a:t>
                </a:r>
                <a:r>
                  <a:rPr sz="2400" b="0">
                    <a:solidFill>
                      <a:srgbClr val="111827"/>
                    </a:solidFill>
                    <a:latin typeface="Arial"/>
                  </a:rPr>
                  <a:t> is a multiple of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such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is a multiple of </a:t>
                </a:r>
                <a:r>
                  <a:rPr lang="en-IN" sz="2400">
                    <a:solidFill>
                      <a:srgbClr val="111827"/>
                    </a:solidFill>
                    <a:latin typeface="Cambria Math" panose="02040503050406030204" pitchFamily="18" charset="0"/>
                  </a:rPr>
                  <a:t>$5$</a:t>
                </a:r>
                <a:r>
                  <a:rPr sz="2400" b="0">
                    <a:solidFill>
                      <a:srgbClr val="111827"/>
                    </a:solidFill>
                    <a:latin typeface="Arial"/>
                  </a:rPr>
                  <a:t> other than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choices, giving </a:t>
                </a:r>
                <a:r>
                  <a:rPr lang="en-IN" sz="2400">
                    <a:solidFill>
                      <a:srgbClr val="111827"/>
                    </a:solidFill>
                    <a:latin typeface="Cambria Math" panose="02040503050406030204" pitchFamily="18" charset="0"/>
                  </a:rPr>
                  <a:t>$5\times4=20$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a:t>
                </a:r>
                <a:r>
                  <a:rPr sz="2400" b="0">
                    <a:solidFill>
                      <a:srgbClr val="111827"/>
                    </a:solidFill>
                    <a:latin typeface="Arial"/>
                  </a:rPr>
                  <a:t> is not a multiple of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 such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comes from the complementary class, which never contains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choices, giving </a:t>
                </a:r>
                <a:r>
                  <a:rPr lang="en-IN" sz="2400">
                    <a:solidFill>
                      <a:srgbClr val="111827"/>
                    </a:solidFill>
                    <a:latin typeface="Cambria Math" panose="02040503050406030204" pitchFamily="18" charset="0"/>
                  </a:rPr>
                  <a:t>$20\times5=100$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r>
                  <a:rPr lang="en-IN" sz="2400">
                    <a:solidFill>
                      <a:srgbClr val="111827"/>
                    </a:solidFill>
                    <a:latin typeface="Cambria Math" panose="02040503050406030204" pitchFamily="18" charset="0"/>
                  </a:rPr>
                  <a:t>$=20+100=120$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120</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divisibility of a sum (or product) by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work with residues mod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pairs with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versus unordered: this answer </a:t>
                </a:r>
                <a14:m>
                  <m:oMath xmlns:m="http://schemas.openxmlformats.org/officeDocument/2006/math">
                    <m:r>
                      <a:rPr lang="en-IN" sz="2400" i="1">
                        <a:solidFill>
                          <a:srgbClr val="111827"/>
                        </a:solidFill>
                        <a:latin typeface="Cambria Math" panose="02040503050406030204" pitchFamily="18" charset="0"/>
                      </a:rPr>
                      <m:t>120</m:t>
                    </m:r>
                  </m:oMath>
                </a14:m>
                <a:r>
                  <a:rPr sz="2400" b="0">
                    <a:solidFill>
                      <a:srgbClr val="111827"/>
                    </a:solidFill>
                    <a:latin typeface="Arial"/>
                  </a:rPr>
                  <a:t> counts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ordered; the unordered pairs number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Equal-class pair (here remainder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choose two distinct members,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double if order matters.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divisibility of a sum (or product) by </a:t>
                </a:r>
                <a:r>
                  <a:rPr lang="en-IN" sz="2400">
                    <a:solidFill>
                      <a:srgbClr val="111827"/>
                    </a:solidFill>
                    <a:latin typeface="Cambria Math" panose="02040503050406030204" pitchFamily="18" charset="0"/>
                  </a:rPr>
                  <a:t>$m$</a:t>
                </a:r>
                <a:r>
                  <a:rPr sz="2400" b="0">
                    <a:solidFill>
                      <a:srgbClr val="111827"/>
                    </a:solidFill>
                    <a:latin typeface="Arial"/>
                  </a:rPr>
                  <a:t>, work with residues mod </a:t>
                </a:r>
                <a:r>
                  <a:rPr lang="en-IN" sz="2400">
                    <a:solidFill>
                      <a:srgbClr val="111827"/>
                    </a:solidFill>
                    <a:latin typeface="Cambria Math" panose="02040503050406030204" pitchFamily="18" charset="0"/>
                  </a:rPr>
                  <a:t>$m$</a:t>
                </a:r>
                <a:r>
                  <a:rPr sz="2400" b="0">
                    <a:solidFill>
                      <a:srgbClr val="111827"/>
                    </a:solidFill>
                    <a:latin typeface="Arial"/>
                  </a:rPr>
                  <a:t>: pairs with </a:t>
                </a:r>
                <a:r>
                  <a:rPr lang="en-IN" sz="2400">
                    <a:solidFill>
                      <a:srgbClr val="111827"/>
                    </a:solidFill>
                    <a:latin typeface="Cambria Math" panose="02040503050406030204" pitchFamily="18" charset="0"/>
                  </a:rPr>
                  <a:t>$r_1+r_2\equiv0\pmod 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versus unordered: this answer </a:t>
                </a:r>
                <a:r>
                  <a:rPr lang="en-IN" sz="2400">
                    <a:solidFill>
                      <a:srgbClr val="111827"/>
                    </a:solidFill>
                    <a:latin typeface="Cambria Math" panose="02040503050406030204" pitchFamily="18" charset="0"/>
                  </a:rPr>
                  <a:t>$120$</a:t>
                </a:r>
                <a:r>
                  <a:rPr sz="2400" b="0">
                    <a:solidFill>
                      <a:srgbClr val="111827"/>
                    </a:solidFill>
                    <a:latin typeface="Arial"/>
                  </a:rPr>
                  <a:t> counts </a:t>
                </a:r>
                <a:r>
                  <a:rPr lang="en-IN" sz="2400">
                    <a:solidFill>
                      <a:srgbClr val="111827"/>
                    </a:solidFill>
                    <a:latin typeface="Cambria Math" panose="02040503050406030204" pitchFamily="18" charset="0"/>
                  </a:rPr>
                  <a:t>$(x,y)$</a:t>
                </a:r>
                <a:r>
                  <a:rPr sz="2400" b="0">
                    <a:solidFill>
                      <a:srgbClr val="111827"/>
                    </a:solidFill>
                    <a:latin typeface="Arial"/>
                  </a:rPr>
                  <a:t> as ordered; the unordered pairs number </a:t>
                </a:r>
                <a:r>
                  <a:rPr lang="en-IN" sz="2400">
                    <a:solidFill>
                      <a:srgbClr val="111827"/>
                    </a:solidFill>
                    <a:latin typeface="Cambria Math" panose="02040503050406030204" pitchFamily="18" charset="0"/>
                  </a:rPr>
                  <a:t>$60$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Equal-class pair (here remainder </a:t>
                </a:r>
                <a:r>
                  <a:rPr lang="en-IN" sz="2400">
                    <a:solidFill>
                      <a:srgbClr val="111827"/>
                    </a:solidFill>
                    <a:latin typeface="Cambria Math" panose="02040503050406030204" pitchFamily="18" charset="0"/>
                  </a:rPr>
                  <a:t>$0$</a:t>
                </a:r>
                <a:r>
                  <a:rPr sz="2400" b="0">
                    <a:solidFill>
                      <a:srgbClr val="111827"/>
                    </a:solidFill>
                    <a:latin typeface="Arial"/>
                  </a:rPr>
                  <a:t>): choose two distinct members, </a:t>
                </a:r>
                <a:r>
                  <a:rPr lang="en-IN" sz="2400">
                    <a:solidFill>
                      <a:srgbClr val="111827"/>
                    </a:solidFill>
                    <a:latin typeface="Cambria Math" panose="02040503050406030204" pitchFamily="18" charset="0"/>
                  </a:rPr>
                  <a:t>${}^nC_2$</a:t>
                </a:r>
                <a:r>
                  <a:rPr sz="2400" b="0">
                    <a:solidFill>
                      <a:srgbClr val="111827"/>
                    </a:solidFill>
                    <a:latin typeface="Arial"/>
                  </a:rPr>
                  <a:t>, and double if order matters.</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Anil's mother wants to give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whole fruits to Anil from a basket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red apples,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white apples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oranges. If in the selected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fruits,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oranges, at least one red apple and at least one white apple must be given, then the number of ways Anil's mother can offer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fruits to Anil is ______. [JEE(Main) Jan 2023]</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Anil's mother wants to give </a:t>
                </a:r>
                <a:r>
                  <a:rPr lang="en-IN" sz="2400">
                    <a:solidFill>
                      <a:srgbClr val="111827"/>
                    </a:solidFill>
                    <a:latin typeface="Cambria Math" panose="02040503050406030204" pitchFamily="18" charset="0"/>
                  </a:rPr>
                  <a:t>$5$</a:t>
                </a:r>
                <a:r>
                  <a:rPr sz="2400" b="0">
                    <a:solidFill>
                      <a:srgbClr val="111827"/>
                    </a:solidFill>
                    <a:latin typeface="Arial"/>
                  </a:rPr>
                  <a:t> whole fruits to Anil from a basket of </a:t>
                </a:r>
                <a:r>
                  <a:rPr lang="en-IN" sz="2400">
                    <a:solidFill>
                      <a:srgbClr val="111827"/>
                    </a:solidFill>
                    <a:latin typeface="Cambria Math" panose="02040503050406030204" pitchFamily="18" charset="0"/>
                  </a:rPr>
                  <a:t>$7$</a:t>
                </a:r>
                <a:r>
                  <a:rPr sz="2400" b="0">
                    <a:solidFill>
                      <a:srgbClr val="111827"/>
                    </a:solidFill>
                    <a:latin typeface="Arial"/>
                  </a:rPr>
                  <a:t> red apples, </a:t>
                </a:r>
                <a:r>
                  <a:rPr lang="en-IN" sz="2400">
                    <a:solidFill>
                      <a:srgbClr val="111827"/>
                    </a:solidFill>
                    <a:latin typeface="Cambria Math" panose="02040503050406030204" pitchFamily="18" charset="0"/>
                  </a:rPr>
                  <a:t>$5$</a:t>
                </a:r>
                <a:r>
                  <a:rPr sz="2400" b="0">
                    <a:solidFill>
                      <a:srgbClr val="111827"/>
                    </a:solidFill>
                    <a:latin typeface="Arial"/>
                  </a:rPr>
                  <a:t> white apples and </a:t>
                </a:r>
                <a:r>
                  <a:rPr lang="en-IN" sz="2400">
                    <a:solidFill>
                      <a:srgbClr val="111827"/>
                    </a:solidFill>
                    <a:latin typeface="Cambria Math" panose="02040503050406030204" pitchFamily="18" charset="0"/>
                  </a:rPr>
                  <a:t>$8$</a:t>
                </a:r>
                <a:r>
                  <a:rPr sz="2400" b="0">
                    <a:solidFill>
                      <a:srgbClr val="111827"/>
                    </a:solidFill>
                    <a:latin typeface="Arial"/>
                  </a:rPr>
                  <a:t> oranges. If in the selected </a:t>
                </a:r>
                <a:r>
                  <a:rPr lang="en-IN" sz="2400">
                    <a:solidFill>
                      <a:srgbClr val="111827"/>
                    </a:solidFill>
                    <a:latin typeface="Cambria Math" panose="02040503050406030204" pitchFamily="18" charset="0"/>
                  </a:rPr>
                  <a:t>$5$</a:t>
                </a:r>
                <a:r>
                  <a:rPr sz="2400" b="0">
                    <a:solidFill>
                      <a:srgbClr val="111827"/>
                    </a:solidFill>
                    <a:latin typeface="Arial"/>
                  </a:rPr>
                  <a:t> fruits, at least </a:t>
                </a:r>
                <a:r>
                  <a:rPr lang="en-IN" sz="2400">
                    <a:solidFill>
                      <a:srgbClr val="111827"/>
                    </a:solidFill>
                    <a:latin typeface="Cambria Math" panose="02040503050406030204" pitchFamily="18" charset="0"/>
                  </a:rPr>
                  <a:t>$2$</a:t>
                </a:r>
                <a:r>
                  <a:rPr sz="2400" b="0">
                    <a:solidFill>
                      <a:srgbClr val="111827"/>
                    </a:solidFill>
                    <a:latin typeface="Arial"/>
                  </a:rPr>
                  <a:t> oranges, at least one red apple and at least one white apple must be given, then the number of ways Anil's mother can offer </a:t>
                </a:r>
                <a:r>
                  <a:rPr lang="en-IN" sz="2400">
                    <a:solidFill>
                      <a:srgbClr val="111827"/>
                    </a:solidFill>
                    <a:latin typeface="Cambria Math" panose="02040503050406030204" pitchFamily="18" charset="0"/>
                  </a:rPr>
                  <a:t>$5$</a:t>
                </a:r>
                <a:r>
                  <a:rPr sz="2400" b="0">
                    <a:solidFill>
                      <a:srgbClr val="111827"/>
                    </a:solidFill>
                    <a:latin typeface="Arial"/>
                  </a:rPr>
                  <a:t> fruits to Anil is ______. [JEE(Main) Jan 2023]</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with minimum-count conditions on several types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minimums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already using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fruits, the fifth fruit decides the three possible patterns.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minimums </a:t>
                </a:r>
                <a:r>
                  <a:rPr lang="en-IN" sz="2400">
                    <a:solidFill>
                      <a:srgbClr val="78350F"/>
                    </a:solidFill>
                    <a:latin typeface="Cambria Math" panose="02040503050406030204" pitchFamily="18" charset="0"/>
                  </a:rPr>
                  <a:t>$(1,1,2)$</a:t>
                </a:r>
                <a:r>
                  <a:rPr sz="2400" b="0">
                    <a:solidFill>
                      <a:srgbClr val="78350F"/>
                    </a:solidFill>
                    <a:latin typeface="Arial"/>
                  </a:rPr>
                  <a:t> already using </a:t>
                </a:r>
                <a:r>
                  <a:rPr lang="en-IN" sz="2400">
                    <a:solidFill>
                      <a:srgbClr val="78350F"/>
                    </a:solidFill>
                    <a:latin typeface="Cambria Math" panose="02040503050406030204" pitchFamily="18" charset="0"/>
                  </a:rPr>
                  <a:t>$4$</a:t>
                </a:r>
                <a:r>
                  <a:rPr sz="2400" b="0">
                    <a:solidFill>
                      <a:srgbClr val="78350F"/>
                    </a:solidFill>
                    <a:latin typeface="Arial"/>
                  </a:rPr>
                  <a:t> fruits, the fifth fruit decides the three possible patterns.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numbers of red, white and orange fruits be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only possibilities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numbers of red, white and orange fruits be </a:t>
                </a:r>
                <a:r>
                  <a:rPr lang="en-IN" sz="2400">
                    <a:solidFill>
                      <a:srgbClr val="111827"/>
                    </a:solidFill>
                    <a:latin typeface="Cambria Math" panose="02040503050406030204" pitchFamily="18" charset="0"/>
                  </a:rPr>
                  <a:t>$x,y,z$</a:t>
                </a:r>
                <a:r>
                  <a:rPr sz="2400" b="0">
                    <a:solidFill>
                      <a:srgbClr val="111827"/>
                    </a:solidFill>
                    <a:latin typeface="Arial"/>
                  </a:rPr>
                  <a:t> with </a:t>
                </a:r>
                <a:r>
                  <a:rPr lang="en-IN" sz="2400">
                    <a:solidFill>
                      <a:srgbClr val="111827"/>
                    </a:solidFill>
                    <a:latin typeface="Cambria Math" panose="02040503050406030204" pitchFamily="18" charset="0"/>
                  </a:rPr>
                  <a:t>$x+y+z=5$</a:t>
                </a:r>
                <a:r>
                  <a:rPr sz="2400" b="0">
                    <a:solidFill>
                      <a:srgbClr val="111827"/>
                    </a:solidFill>
                    <a:latin typeface="Arial"/>
                  </a:rPr>
                  <a:t>, </a:t>
                </a:r>
                <a:r>
                  <a:rPr lang="en-IN" sz="2400">
                    <a:solidFill>
                      <a:srgbClr val="111827"/>
                    </a:solidFill>
                    <a:latin typeface="Cambria Math" panose="02040503050406030204" pitchFamily="18" charset="0"/>
                  </a:rPr>
                  <a:t>$x\ge1,\ y\ge1,\ z\ge2$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only possibilities are </a:t>
                </a:r>
                <a:r>
                  <a:rPr lang="en-IN" sz="2400">
                    <a:solidFill>
                      <a:srgbClr val="111827"/>
                    </a:solidFill>
                    <a:latin typeface="Cambria Math" panose="02040503050406030204" pitchFamily="18" charset="0"/>
                  </a:rPr>
                  <a:t>$(x,y,z)=(2,1,2),\ (1,2,2),\ (1,1,3)$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$(2,1,2)$</a:t>
                </a:r>
                <a:r>
                  <a:rPr sz="2400" b="0">
                    <a:solidFill>
                      <a:srgbClr val="111827"/>
                    </a:solidFill>
                    <a:latin typeface="Arial"/>
                  </a:rPr>
                  <a:t>: </a:t>
                </a:r>
                <a:r>
                  <a:rPr lang="en-IN" sz="2400">
                    <a:solidFill>
                      <a:srgbClr val="111827"/>
                    </a:solidFill>
                    <a:latin typeface="Cambria Math" panose="02040503050406030204" pitchFamily="18" charset="0"/>
                  </a:rPr>
                  <a:t>${}^7C_2\cdot{}^5C_1\cdot{}^8C_2=21\times5\times28=2940$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$(1,2,2)$</a:t>
                </a:r>
                <a:r>
                  <a:rPr sz="2400" b="0">
                    <a:solidFill>
                      <a:srgbClr val="111827"/>
                    </a:solidFill>
                    <a:latin typeface="Arial"/>
                  </a:rPr>
                  <a:t>: </a:t>
                </a:r>
                <a:r>
                  <a:rPr lang="en-IN" sz="2400">
                    <a:solidFill>
                      <a:srgbClr val="111827"/>
                    </a:solidFill>
                    <a:latin typeface="Cambria Math" panose="02040503050406030204" pitchFamily="18" charset="0"/>
                  </a:rPr>
                  <a:t>${}^7C_1\cdot{}^5C_2\cdot{}^8C_2=7\times10\times28=1960$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$(1,1,3)$</a:t>
                </a:r>
                <a:r>
                  <a:rPr sz="2400" b="0">
                    <a:solidFill>
                      <a:srgbClr val="111827"/>
                    </a:solidFill>
                    <a:latin typeface="Arial"/>
                  </a:rPr>
                  <a:t>: </a:t>
                </a:r>
                <a:r>
                  <a:rPr lang="en-IN" sz="2400">
                    <a:solidFill>
                      <a:srgbClr val="111827"/>
                    </a:solidFill>
                    <a:latin typeface="Cambria Math" panose="02040503050406030204" pitchFamily="18" charset="0"/>
                  </a:rPr>
                  <a:t>${}^7C_1\cdot{}^5C_1\cdot{}^8C_3=7\times5\times56=1960$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$=2940+1960+1960=6860$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6860</a:t>
            </a:r>
            <a:endParaRPr sz="2800">
              <a:solidFill>
                <a:srgbClr val="15803D"/>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Inclusion-exclusion on the three violated conditions (fewer than two oranges, no red, no white).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pick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fruits: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most one orange: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4752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no red: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no white: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(no red, at most one orange):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(no white):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(only oranges):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pick </a:t>
                </a:r>
                <a:r>
                  <a:rPr lang="en-IN" sz="2400">
                    <a:solidFill>
                      <a:srgbClr val="111827"/>
                    </a:solidFill>
                    <a:latin typeface="Cambria Math" panose="02040503050406030204" pitchFamily="18" charset="0"/>
                  </a:rPr>
                  <a:t>$5$</a:t>
                </a:r>
                <a:r>
                  <a:rPr sz="2400" b="0">
                    <a:solidFill>
                      <a:srgbClr val="111827"/>
                    </a:solidFill>
                    <a:latin typeface="Arial"/>
                  </a:rPr>
                  <a:t> of the </a:t>
                </a:r>
                <a:r>
                  <a:rPr lang="en-IN" sz="2400">
                    <a:solidFill>
                      <a:srgbClr val="111827"/>
                    </a:solidFill>
                    <a:latin typeface="Cambria Math" panose="02040503050406030204" pitchFamily="18" charset="0"/>
                  </a:rPr>
                  <a:t>$20$</a:t>
                </a:r>
                <a:r>
                  <a:rPr sz="2400" b="0">
                    <a:solidFill>
                      <a:srgbClr val="111827"/>
                    </a:solidFill>
                    <a:latin typeface="Arial"/>
                  </a:rPr>
                  <a:t> fruits: </a:t>
                </a:r>
                <a:r>
                  <a:rPr lang="en-IN" sz="2400">
                    <a:solidFill>
                      <a:srgbClr val="111827"/>
                    </a:solidFill>
                    <a:latin typeface="Cambria Math" panose="02040503050406030204" pitchFamily="18" charset="0"/>
                  </a:rPr>
                  <a:t>${}^{20}C_5=15504$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most one orange: </a:t>
                </a:r>
                <a:r>
                  <a:rPr lang="en-IN" sz="2400">
                    <a:solidFill>
                      <a:srgbClr val="111827"/>
                    </a:solidFill>
                    <a:latin typeface="Cambria Math" panose="02040503050406030204" pitchFamily="18" charset="0"/>
                  </a:rPr>
                  <a:t>${}^{12}C_5+8\cdot{}^{12}C_4=792+3960=4752$</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no red: </a:t>
                </a:r>
                <a:r>
                  <a:rPr lang="en-IN" sz="2400">
                    <a:solidFill>
                      <a:srgbClr val="111827"/>
                    </a:solidFill>
                    <a:latin typeface="Cambria Math" panose="02040503050406030204" pitchFamily="18" charset="0"/>
                  </a:rPr>
                  <a:t>${}^{13}C_5=1287$</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no white: </a:t>
                </a:r>
                <a:r>
                  <a:rPr lang="en-IN" sz="2400">
                    <a:solidFill>
                      <a:srgbClr val="111827"/>
                    </a:solidFill>
                    <a:latin typeface="Cambria Math" panose="02040503050406030204" pitchFamily="18" charset="0"/>
                  </a:rPr>
                  <a:t>${}^{15}C_5=3003$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(no red, at most one orange): </a:t>
                </a:r>
                <a:r>
                  <a:rPr lang="en-IN" sz="2400">
                    <a:solidFill>
                      <a:srgbClr val="111827"/>
                    </a:solidFill>
                    <a:latin typeface="Cambria Math" panose="02040503050406030204" pitchFamily="18" charset="0"/>
                  </a:rPr>
                  <a:t>${}^5C_5+8\cdot{}^5C_4=41$</a:t>
                </a:r>
                <a:r>
                  <a:rPr sz="2400" b="0">
                    <a:solidFill>
                      <a:srgbClr val="111827"/>
                    </a:solidFill>
                    <a:latin typeface="Arial"/>
                  </a:rPr>
                  <a:t>. </a:t>
                </a:r>
                <a:r>
                  <a:rPr lang="en-IN" sz="2400">
                    <a:solidFill>
                      <a:srgbClr val="111827"/>
                    </a:solidFill>
                    <a:latin typeface="Cambria Math" panose="02040503050406030204" pitchFamily="18" charset="0"/>
                  </a:rPr>
                  <a:t>$A\cap C$</a:t>
                </a:r>
                <a:r>
                  <a:rPr sz="2400" b="0">
                    <a:solidFill>
                      <a:srgbClr val="111827"/>
                    </a:solidFill>
                    <a:latin typeface="Arial"/>
                  </a:rPr>
                  <a:t> (no white): </a:t>
                </a:r>
                <a:r>
                  <a:rPr lang="en-IN" sz="2400">
                    <a:solidFill>
                      <a:srgbClr val="111827"/>
                    </a:solidFill>
                    <a:latin typeface="Cambria Math" panose="02040503050406030204" pitchFamily="18" charset="0"/>
                  </a:rPr>
                  <a:t>${}^7C_5+8\cdot{}^7C_4=301$</a:t>
                </a:r>
                <a:r>
                  <a:rPr sz="2400" b="0">
                    <a:solidFill>
                      <a:srgbClr val="111827"/>
                    </a:solidFill>
                    <a:latin typeface="Arial"/>
                  </a:rPr>
                  <a:t>. </a:t>
                </a:r>
                <a:r>
                  <a:rPr lang="en-IN" sz="2400">
                    <a:solidFill>
                      <a:srgbClr val="111827"/>
                    </a:solidFill>
                    <a:latin typeface="Cambria Math" panose="02040503050406030204" pitchFamily="18" charset="0"/>
                  </a:rPr>
                  <a:t>$B\cap C$</a:t>
                </a:r>
                <a:r>
                  <a:rPr sz="2400" b="0">
                    <a:solidFill>
                      <a:srgbClr val="111827"/>
                    </a:solidFill>
                    <a:latin typeface="Arial"/>
                  </a:rPr>
                  <a:t> (only oranges): </a:t>
                </a:r>
                <a:r>
                  <a:rPr lang="en-IN" sz="2400">
                    <a:solidFill>
                      <a:srgbClr val="111827"/>
                    </a:solidFill>
                    <a:latin typeface="Cambria Math" panose="02040503050406030204" pitchFamily="18" charset="0"/>
                  </a:rPr>
                  <a:t>${}^8C_5=56$</a:t>
                </a:r>
                <a:r>
                  <a:rPr sz="2400" b="0">
                    <a:solidFill>
                      <a:srgbClr val="111827"/>
                    </a:solidFill>
                    <a:latin typeface="Arial"/>
                  </a:rPr>
                  <a:t>. </a:t>
                </a:r>
                <a:r>
                  <a:rPr lang="en-IN" sz="2400">
                    <a:solidFill>
                      <a:srgbClr val="111827"/>
                    </a:solidFill>
                    <a:latin typeface="Cambria Math" panose="02040503050406030204" pitchFamily="18" charset="0"/>
                  </a:rPr>
                  <a:t>$A\cap B\cap 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15504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$|A\cup B\cup C|=4752+1287+3003-41-301-56=8644$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a:t>
                </a:r>
                <a:r>
                  <a:rPr lang="en-IN" sz="2400">
                    <a:solidFill>
                      <a:srgbClr val="111827"/>
                    </a:solidFill>
                    <a:latin typeface="Cambria Math" panose="02040503050406030204" pitchFamily="18" charset="0"/>
                  </a:rPr>
                  <a:t>$=15504-8644=6860$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6860</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conditions on several types, list the compositions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that satisfy all minimums (a bounded integer-solution problem), then multiply binomials.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is the check: total minus the union of the violated conditions; useful when there are many types.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fruits (even of the same kind) mean each case is a product of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terms, not a count of compositions alone.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$\ge$</a:t>
                </a:r>
                <a:r>
                  <a:rPr sz="2400" b="0">
                    <a:solidFill>
                      <a:srgbClr val="111827"/>
                    </a:solidFill>
                    <a:latin typeface="Arial"/>
                  </a:rPr>
                  <a:t>' conditions on several types, list the compositions of </a:t>
                </a:r>
                <a:r>
                  <a:rPr lang="en-IN" sz="2400">
                    <a:solidFill>
                      <a:srgbClr val="111827"/>
                    </a:solidFill>
                    <a:latin typeface="Cambria Math" panose="02040503050406030204" pitchFamily="18" charset="0"/>
                  </a:rPr>
                  <a:t>$r$</a:t>
                </a:r>
                <a:r>
                  <a:rPr sz="2400" b="0">
                    <a:solidFill>
                      <a:srgbClr val="111827"/>
                    </a:solidFill>
                    <a:latin typeface="Arial"/>
                  </a:rPr>
                  <a:t> that satisfy all minimums (a bounded integer-solution problem), then multiply binomials.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is the check: total minus the union of the violated conditions; useful when there are many types.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fruits (even of the same kind) mean each case is a product of </a:t>
                </a:r>
                <a:r>
                  <a:rPr lang="en-IN" sz="2400">
                    <a:solidFill>
                      <a:srgbClr val="111827"/>
                    </a:solidFill>
                    <a:latin typeface="Cambria Math" panose="02040503050406030204" pitchFamily="18" charset="0"/>
                  </a:rPr>
                  <a:t>${}^nC_k$</a:t>
                </a:r>
                <a:r>
                  <a:rPr sz="2400" b="0">
                    <a:solidFill>
                      <a:srgbClr val="111827"/>
                    </a:solidFill>
                    <a:latin typeface="Arial"/>
                  </a:rPr>
                  <a:t> terms, not a count of compositions alone.</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Five digit numbers are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with repetitions and are written in descending order with serial numbers. For example, the number </a:t>
                </a:r>
                <a14:m>
                  <m:oMath xmlns:m="http://schemas.openxmlformats.org/officeDocument/2006/math">
                    <m:r>
                      <a:rPr lang="en-IN" sz="2400" i="1">
                        <a:solidFill>
                          <a:srgbClr val="111827"/>
                        </a:solidFill>
                        <a:latin typeface="Cambria Math" panose="02040503050406030204" pitchFamily="18" charset="0"/>
                      </a:rPr>
                      <m:t>77777</m:t>
                    </m:r>
                  </m:oMath>
                </a14:m>
                <a:r>
                  <a:rPr sz="2400" b="0">
                    <a:solidFill>
                      <a:srgbClr val="111827"/>
                    </a:solidFill>
                    <a:latin typeface="Arial"/>
                  </a:rPr>
                  <a:t> has serial number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Then the serial number of </a:t>
                </a:r>
                <a14:m>
                  <m:oMath xmlns:m="http://schemas.openxmlformats.org/officeDocument/2006/math">
                    <m:r>
                      <a:rPr lang="en-IN" sz="2400" i="1">
                        <a:solidFill>
                          <a:srgbClr val="111827"/>
                        </a:solidFill>
                        <a:latin typeface="Cambria Math" panose="02040503050406030204" pitchFamily="18" charset="0"/>
                      </a:rPr>
                      <m:t>35337</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Five digit numbers are formed using the digits </a:t>
                </a:r>
                <a:r>
                  <a:rPr lang="en-IN" sz="2400">
                    <a:solidFill>
                      <a:srgbClr val="111827"/>
                    </a:solidFill>
                    <a:latin typeface="Cambria Math" panose="02040503050406030204" pitchFamily="18" charset="0"/>
                  </a:rPr>
                  <a:t>$1,2,3,5,7$</a:t>
                </a:r>
                <a:r>
                  <a:rPr sz="2400" b="0">
                    <a:solidFill>
                      <a:srgbClr val="111827"/>
                    </a:solidFill>
                    <a:latin typeface="Arial"/>
                  </a:rPr>
                  <a:t> with repetitions and are written in descending order with serial numbers. For example, the number </a:t>
                </a:r>
                <a:r>
                  <a:rPr lang="en-IN" sz="2400">
                    <a:solidFill>
                      <a:srgbClr val="111827"/>
                    </a:solidFill>
                    <a:latin typeface="Cambria Math" panose="02040503050406030204" pitchFamily="18" charset="0"/>
                  </a:rPr>
                  <a:t>$77777$</a:t>
                </a:r>
                <a:r>
                  <a:rPr sz="2400" b="0">
                    <a:solidFill>
                      <a:srgbClr val="111827"/>
                    </a:solidFill>
                    <a:latin typeface="Arial"/>
                  </a:rPr>
                  <a:t> has serial number </a:t>
                </a:r>
                <a:r>
                  <a:rPr lang="en-IN" sz="2400">
                    <a:solidFill>
                      <a:srgbClr val="111827"/>
                    </a:solidFill>
                    <a:latin typeface="Cambria Math" panose="02040503050406030204" pitchFamily="18" charset="0"/>
                  </a:rPr>
                  <a:t>$1$</a:t>
                </a:r>
                <a:r>
                  <a:rPr sz="2400" b="0">
                    <a:solidFill>
                      <a:srgbClr val="111827"/>
                    </a:solidFill>
                    <a:latin typeface="Arial"/>
                  </a:rPr>
                  <a:t>. Then the serial number of </a:t>
                </a:r>
                <a:r>
                  <a:rPr lang="en-IN" sz="2400">
                    <a:solidFill>
                      <a:srgbClr val="111827"/>
                    </a:solidFill>
                    <a:latin typeface="Cambria Math" panose="02040503050406030204" pitchFamily="18" charset="0"/>
                  </a:rPr>
                  <a:t>$35337$</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number in order (digits with repetition)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𝑙𝑎𝑟𝑔𝑒𝑟 𝑑𝑖𝑔𝑖𝑡𝑠 𝑎𝑡 𝑒𝑎𝑐ℎ 𝑝𝑙𝑎𝑐𝑒</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5</m:t>
                        </m:r>
                      </m:e>
                      <m:sup>
                        <m:r>
                          <m:rPr>
                            <m:nor/>
                          </m:rPr>
                          <a:rPr lang="en-IN" sz="2400" i="1">
                            <a:solidFill>
                              <a:srgbClr val="78350F"/>
                            </a:solidFill>
                            <a:latin typeface="Cambria Math" panose="02040503050406030204" pitchFamily="18" charset="0"/>
                          </a:rPr>
                          <m:t>𝑝𝑙𝑎𝑐𝑒𝑠 𝑙𝑒𝑓𝑡</m:t>
                        </m:r>
                      </m:sup>
                    </m:sSup>
                  </m:oMath>
                </a14:m>
                <a:r>
                  <a:rPr sz="2400" b="0">
                    <a:solidFill>
                      <a:srgbClr val="78350F"/>
                    </a:solidFill>
                    <a:latin typeface="Arial"/>
                  </a:rPr>
                  <a:t> because order is descending.</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r>
                  <a:rPr lang="en-IN" sz="2400">
                    <a:solidFill>
                      <a:srgbClr val="78350F"/>
                    </a:solidFill>
                    <a:latin typeface="Cambria Math" panose="02040503050406030204" pitchFamily="18" charset="0"/>
                  </a:rPr>
                  <a:t>$=1+\sum(\text{larger digits at each place})\times5^{\text{places left}}$</a:t>
                </a:r>
                <a:r>
                  <a:rPr sz="2400" b="0">
                    <a:solidFill>
                      <a:srgbClr val="78350F"/>
                    </a:solidFill>
                    <a:latin typeface="Arial"/>
                  </a:rPr>
                  <a:t> because order is descending.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Descending order: a number comes before </a:t>
                </a:r>
                <a14:m>
                  <m:oMath xmlns:m="http://schemas.openxmlformats.org/officeDocument/2006/math">
                    <m:r>
                      <a:rPr lang="en-IN" sz="2400" i="1">
                        <a:solidFill>
                          <a:srgbClr val="111827"/>
                        </a:solidFill>
                        <a:latin typeface="Cambria Math" panose="02040503050406030204" pitchFamily="18" charset="0"/>
                      </a:rPr>
                      <m:t>35337</m:t>
                    </m:r>
                  </m:oMath>
                </a14:m>
                <a:r>
                  <a:rPr sz="2400" b="0">
                    <a:solidFill>
                      <a:srgbClr val="111827"/>
                    </a:solidFill>
                    <a:latin typeface="Arial"/>
                  </a:rPr>
                  <a:t> if it is larger, so count numbers larger than </a:t>
                </a:r>
                <a14:m>
                  <m:oMath xmlns:m="http://schemas.openxmlformats.org/officeDocument/2006/math">
                    <m:r>
                      <a:rPr lang="en-IN" sz="2400" i="1">
                        <a:solidFill>
                          <a:srgbClr val="111827"/>
                        </a:solidFill>
                        <a:latin typeface="Cambria Math" panose="02040503050406030204" pitchFamily="18" charset="0"/>
                      </a:rPr>
                      <m:t>35337</m:t>
                    </m:r>
                  </m:oMath>
                </a14:m>
                <a:r>
                  <a:rPr sz="2400" b="0">
                    <a:solidFill>
                      <a:srgbClr val="111827"/>
                    </a:solidFill>
                    <a:latin typeface="Arial"/>
                  </a:rPr>
                  <a:t> place by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(larger than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second digit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(larger than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two digits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third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(larger than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Descending order: a number comes before </a:t>
                </a:r>
                <a:r>
                  <a:rPr lang="en-IN" sz="2400">
                    <a:solidFill>
                      <a:srgbClr val="111827"/>
                    </a:solidFill>
                    <a:latin typeface="Cambria Math" panose="02040503050406030204" pitchFamily="18" charset="0"/>
                  </a:rPr>
                  <a:t>$35337$</a:t>
                </a:r>
                <a:r>
                  <a:rPr sz="2400" b="0">
                    <a:solidFill>
                      <a:srgbClr val="111827"/>
                    </a:solidFill>
                    <a:latin typeface="Arial"/>
                  </a:rPr>
                  <a:t> if it is larger, so count numbers larger than </a:t>
                </a:r>
                <a:r>
                  <a:rPr lang="en-IN" sz="2400">
                    <a:solidFill>
                      <a:srgbClr val="111827"/>
                    </a:solidFill>
                    <a:latin typeface="Cambria Math" panose="02040503050406030204" pitchFamily="18" charset="0"/>
                  </a:rPr>
                  <a:t>$35337$</a:t>
                </a:r>
                <a:r>
                  <a:rPr sz="2400" b="0">
                    <a:solidFill>
                      <a:srgbClr val="111827"/>
                    </a:solidFill>
                    <a:latin typeface="Arial"/>
                  </a:rPr>
                  <a:t> place by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$7$</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(larger than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$5^4=625$</a:t>
                </a:r>
                <a:r>
                  <a:rPr sz="2400" b="0">
                    <a:solidFill>
                      <a:srgbClr val="111827"/>
                    </a:solidFill>
                    <a:latin typeface="Arial"/>
                  </a:rPr>
                  <a:t> each, i.e. </a:t>
                </a:r>
                <a:r>
                  <a:rPr lang="en-IN" sz="2400">
                    <a:solidFill>
                      <a:srgbClr val="111827"/>
                    </a:solidFill>
                    <a:latin typeface="Cambria Math" panose="02040503050406030204" pitchFamily="18" charset="0"/>
                  </a:rPr>
                  <a:t>$625+625=1250$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$3$</a:t>
                </a:r>
                <a:r>
                  <a:rPr sz="2400" b="0">
                    <a:solidFill>
                      <a:srgbClr val="111827"/>
                    </a:solidFill>
                    <a:latin typeface="Arial"/>
                  </a:rPr>
                  <a:t>, second digit </a:t>
                </a:r>
                <a:r>
                  <a:rPr lang="en-IN" sz="2400">
                    <a:solidFill>
                      <a:srgbClr val="111827"/>
                    </a:solidFill>
                    <a:latin typeface="Cambria Math" panose="02040503050406030204" pitchFamily="18" charset="0"/>
                  </a:rPr>
                  <a:t>$7$</a:t>
                </a:r>
                <a:r>
                  <a:rPr sz="2400" b="0">
                    <a:solidFill>
                      <a:srgbClr val="111827"/>
                    </a:solidFill>
                    <a:latin typeface="Arial"/>
                  </a:rPr>
                  <a:t> (larger than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$5^3=125$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two digits </a:t>
                </a:r>
                <a:r>
                  <a:rPr lang="en-IN" sz="2400">
                    <a:solidFill>
                      <a:srgbClr val="111827"/>
                    </a:solidFill>
                    <a:latin typeface="Cambria Math" panose="02040503050406030204" pitchFamily="18" charset="0"/>
                  </a:rPr>
                  <a:t>$35$</a:t>
                </a:r>
                <a:r>
                  <a:rPr sz="2400" b="0">
                    <a:solidFill>
                      <a:srgbClr val="111827"/>
                    </a:solidFill>
                    <a:latin typeface="Arial"/>
                  </a:rPr>
                  <a:t>, third digit </a:t>
                </a:r>
                <a:r>
                  <a:rPr lang="en-IN" sz="2400">
                    <a:solidFill>
                      <a:srgbClr val="111827"/>
                    </a:solidFill>
                    <a:latin typeface="Cambria Math" panose="02040503050406030204" pitchFamily="18" charset="0"/>
                  </a:rPr>
                  <a:t>$5$</a:t>
                </a:r>
                <a:r>
                  <a:rPr sz="2400" b="0">
                    <a:solidFill>
                      <a:srgbClr val="111827"/>
                    </a:solidFill>
                    <a:latin typeface="Arial"/>
                  </a:rPr>
                  <a:t> or </a:t>
                </a:r>
                <a:r>
                  <a:rPr lang="en-IN" sz="2400">
                    <a:solidFill>
                      <a:srgbClr val="111827"/>
                    </a:solidFill>
                    <a:latin typeface="Cambria Math" panose="02040503050406030204" pitchFamily="18" charset="0"/>
                  </a:rPr>
                  <a:t>$7$</a:t>
                </a:r>
                <a:r>
                  <a:rPr sz="2400" b="0">
                    <a:solidFill>
                      <a:srgbClr val="111827"/>
                    </a:solidFill>
                    <a:latin typeface="Arial"/>
                  </a:rPr>
                  <a:t> (larger than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$5^2=25$</a:t>
                </a:r>
                <a:r>
                  <a:rPr sz="2400" b="0">
                    <a:solidFill>
                      <a:srgbClr val="111827"/>
                    </a:solidFill>
                    <a:latin typeface="Arial"/>
                  </a:rPr>
                  <a:t> each, i.e. </a:t>
                </a:r>
                <a:r>
                  <a:rPr lang="en-IN" sz="2400">
                    <a:solidFill>
                      <a:srgbClr val="111827"/>
                    </a:solidFill>
                    <a:latin typeface="Cambria Math" panose="02040503050406030204" pitchFamily="18" charset="0"/>
                  </a:rPr>
                  <a:t>$25+25=50$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three digits </a:t>
                </a:r>
                <a14:m>
                  <m:oMath xmlns:m="http://schemas.openxmlformats.org/officeDocument/2006/math">
                    <m:r>
                      <a:rPr lang="en-IN" sz="2400" i="1">
                        <a:solidFill>
                          <a:srgbClr val="111827"/>
                        </a:solidFill>
                        <a:latin typeface="Cambria Math" panose="02040503050406030204" pitchFamily="18" charset="0"/>
                      </a:rPr>
                      <m:t>353</m:t>
                    </m:r>
                  </m:oMath>
                </a14:m>
                <a:r>
                  <a:rPr sz="2400" b="0">
                    <a:solidFill>
                      <a:srgbClr val="111827"/>
                    </a:solidFill>
                    <a:latin typeface="Arial"/>
                  </a:rPr>
                  <a:t>, fourth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(larger than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four digits </a:t>
                </a:r>
                <a14:m>
                  <m:oMath xmlns:m="http://schemas.openxmlformats.org/officeDocument/2006/math">
                    <m:r>
                      <a:rPr lang="en-IN" sz="2400" i="1">
                        <a:solidFill>
                          <a:srgbClr val="111827"/>
                        </a:solidFill>
                        <a:latin typeface="Cambria Math" panose="02040503050406030204" pitchFamily="18" charset="0"/>
                      </a:rPr>
                      <m:t>3533</m:t>
                    </m:r>
                  </m:oMath>
                </a14:m>
                <a:r>
                  <a:rPr sz="2400" b="0">
                    <a:solidFill>
                      <a:srgbClr val="111827"/>
                    </a:solidFill>
                    <a:latin typeface="Arial"/>
                  </a:rPr>
                  <a:t>, fifth digit larger than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none. Numbers larger than </a:t>
                </a:r>
                <a14:m>
                  <m:oMath xmlns:m="http://schemas.openxmlformats.org/officeDocument/2006/math">
                    <m:r>
                      <a:rPr lang="en-IN" sz="2400" i="1">
                        <a:solidFill>
                          <a:srgbClr val="111827"/>
                        </a:solidFill>
                        <a:latin typeface="Cambria Math" panose="02040503050406030204" pitchFamily="18" charset="0"/>
                      </a:rPr>
                      <m:t>35337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of </a:t>
                </a:r>
                <a14:m>
                  <m:oMath xmlns:m="http://schemas.openxmlformats.org/officeDocument/2006/math">
                    <m:r>
                      <a:rPr lang="en-IN" sz="2400" i="1">
                        <a:solidFill>
                          <a:srgbClr val="111827"/>
                        </a:solidFill>
                        <a:latin typeface="Cambria Math" panose="02040503050406030204" pitchFamily="18" charset="0"/>
                      </a:rPr>
                      <m:t>35337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three digits </a:t>
                </a:r>
                <a:r>
                  <a:rPr lang="en-IN" sz="2400">
                    <a:solidFill>
                      <a:srgbClr val="111827"/>
                    </a:solidFill>
                    <a:latin typeface="Cambria Math" panose="02040503050406030204" pitchFamily="18" charset="0"/>
                  </a:rPr>
                  <a:t>$353$</a:t>
                </a:r>
                <a:r>
                  <a:rPr sz="2400" b="0">
                    <a:solidFill>
                      <a:srgbClr val="111827"/>
                    </a:solidFill>
                    <a:latin typeface="Arial"/>
                  </a:rPr>
                  <a:t>, fourth digit </a:t>
                </a:r>
                <a:r>
                  <a:rPr lang="en-IN" sz="2400">
                    <a:solidFill>
                      <a:srgbClr val="111827"/>
                    </a:solidFill>
                    <a:latin typeface="Cambria Math" panose="02040503050406030204" pitchFamily="18" charset="0"/>
                  </a:rPr>
                  <a:t>$5$</a:t>
                </a:r>
                <a:r>
                  <a:rPr sz="2400" b="0">
                    <a:solidFill>
                      <a:srgbClr val="111827"/>
                    </a:solidFill>
                    <a:latin typeface="Arial"/>
                  </a:rPr>
                  <a:t> or </a:t>
                </a:r>
                <a:r>
                  <a:rPr lang="en-IN" sz="2400">
                    <a:solidFill>
                      <a:srgbClr val="111827"/>
                    </a:solidFill>
                    <a:latin typeface="Cambria Math" panose="02040503050406030204" pitchFamily="18" charset="0"/>
                  </a:rPr>
                  <a:t>$7$</a:t>
                </a:r>
                <a:r>
                  <a:rPr sz="2400" b="0">
                    <a:solidFill>
                      <a:srgbClr val="111827"/>
                    </a:solidFill>
                    <a:latin typeface="Arial"/>
                  </a:rPr>
                  <a:t> (larger than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each, i.e. </a:t>
                </a:r>
                <a:r>
                  <a:rPr lang="en-IN" sz="2400">
                    <a:solidFill>
                      <a:srgbClr val="111827"/>
                    </a:solidFill>
                    <a:latin typeface="Cambria Math" panose="02040503050406030204" pitchFamily="18" charset="0"/>
                  </a:rPr>
                  <a:t>$5+5=10$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four digits </a:t>
                </a:r>
                <a:r>
                  <a:rPr lang="en-IN" sz="2400">
                    <a:solidFill>
                      <a:srgbClr val="111827"/>
                    </a:solidFill>
                    <a:latin typeface="Cambria Math" panose="02040503050406030204" pitchFamily="18" charset="0"/>
                  </a:rPr>
                  <a:t>$3533$</a:t>
                </a:r>
                <a:r>
                  <a:rPr sz="2400" b="0">
                    <a:solidFill>
                      <a:srgbClr val="111827"/>
                    </a:solidFill>
                    <a:latin typeface="Arial"/>
                  </a:rPr>
                  <a:t>, fifth digit larger than </a:t>
                </a:r>
                <a:r>
                  <a:rPr lang="en-IN" sz="2400">
                    <a:solidFill>
                      <a:srgbClr val="111827"/>
                    </a:solidFill>
                    <a:latin typeface="Cambria Math" panose="02040503050406030204" pitchFamily="18" charset="0"/>
                  </a:rPr>
                  <a:t>$7$</a:t>
                </a:r>
                <a:r>
                  <a:rPr sz="2400" b="0">
                    <a:solidFill>
                      <a:srgbClr val="111827"/>
                    </a:solidFill>
                    <a:latin typeface="Arial"/>
                  </a:rPr>
                  <a:t>: none. Numbers larger than </a:t>
                </a:r>
                <a:r>
                  <a:rPr lang="en-IN" sz="2400">
                    <a:solidFill>
                      <a:srgbClr val="111827"/>
                    </a:solidFill>
                    <a:latin typeface="Cambria Math" panose="02040503050406030204" pitchFamily="18" charset="0"/>
                  </a:rPr>
                  <a:t>$35337$</a:t>
                </a:r>
                <a:r>
                  <a:rPr sz="2400" b="0">
                    <a:solidFill>
                      <a:srgbClr val="111827"/>
                    </a:solidFill>
                    <a:latin typeface="Arial"/>
                  </a:rPr>
                  <a:t>: </a:t>
                </a:r>
                <a:r>
                  <a:rPr lang="en-IN" sz="2400">
                    <a:solidFill>
                      <a:srgbClr val="111827"/>
                    </a:solidFill>
                    <a:latin typeface="Cambria Math" panose="02040503050406030204" pitchFamily="18" charset="0"/>
                  </a:rPr>
                  <a:t>$1250+125+50+10=1435$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of </a:t>
                </a:r>
                <a:r>
                  <a:rPr lang="en-IN" sz="2400">
                    <a:solidFill>
                      <a:srgbClr val="111827"/>
                    </a:solidFill>
                    <a:latin typeface="Cambria Math" panose="02040503050406030204" pitchFamily="18" charset="0"/>
                  </a:rPr>
                  <a:t>$35337=1435+1=1436$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1436</a:t>
            </a:r>
            <a:endParaRPr sz="2800">
              <a:solidFill>
                <a:srgbClr val="15803D"/>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number as a base-5 numeral with digit weights from the descending order of the digit set.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descending order, digit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number of larger digits).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35337</m:t>
                    </m:r>
                  </m:oMath>
                </a14:m>
                <a:r>
                  <a:rPr sz="2400" b="0">
                    <a:solidFill>
                      <a:srgbClr val="111827"/>
                    </a:solidFill>
                    <a:latin typeface="Arial"/>
                  </a:rPr>
                  <a:t> has digits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of numbers before it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21220</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1436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descending order, digit </a:t>
                </a:r>
                <a:r>
                  <a:rPr lang="en-IN" sz="2400">
                    <a:solidFill>
                      <a:srgbClr val="111827"/>
                    </a:solidFill>
                    <a:latin typeface="Cambria Math" panose="02040503050406030204" pitchFamily="18" charset="0"/>
                  </a:rPr>
                  <a:t>$7\to0$</a:t>
                </a:r>
                <a:r>
                  <a:rPr sz="2400" b="0">
                    <a:solidFill>
                      <a:srgbClr val="111827"/>
                    </a:solidFill>
                    <a:latin typeface="Arial"/>
                  </a:rPr>
                  <a:t>, </a:t>
                </a:r>
                <a:r>
                  <a:rPr lang="en-IN" sz="2400">
                    <a:solidFill>
                      <a:srgbClr val="111827"/>
                    </a:solidFill>
                    <a:latin typeface="Cambria Math" panose="02040503050406030204" pitchFamily="18" charset="0"/>
                  </a:rPr>
                  <a:t>$5\to1$</a:t>
                </a:r>
                <a:r>
                  <a:rPr sz="2400" b="0">
                    <a:solidFill>
                      <a:srgbClr val="111827"/>
                    </a:solidFill>
                    <a:latin typeface="Arial"/>
                  </a:rPr>
                  <a:t>, </a:t>
                </a:r>
                <a:r>
                  <a:rPr lang="en-IN" sz="2400">
                    <a:solidFill>
                      <a:srgbClr val="111827"/>
                    </a:solidFill>
                    <a:latin typeface="Cambria Math" panose="02040503050406030204" pitchFamily="18" charset="0"/>
                  </a:rPr>
                  <a:t>$3\to2$</a:t>
                </a:r>
                <a:r>
                  <a:rPr sz="2400" b="0">
                    <a:solidFill>
                      <a:srgbClr val="111827"/>
                    </a:solidFill>
                    <a:latin typeface="Arial"/>
                  </a:rPr>
                  <a:t>, </a:t>
                </a:r>
                <a:r>
                  <a:rPr lang="en-IN" sz="2400">
                    <a:solidFill>
                      <a:srgbClr val="111827"/>
                    </a:solidFill>
                    <a:latin typeface="Cambria Math" panose="02040503050406030204" pitchFamily="18" charset="0"/>
                  </a:rPr>
                  <a:t>$2\to3$</a:t>
                </a:r>
                <a:r>
                  <a:rPr sz="2400" b="0">
                    <a:solidFill>
                      <a:srgbClr val="111827"/>
                    </a:solidFill>
                    <a:latin typeface="Arial"/>
                  </a:rPr>
                  <a:t>, </a:t>
                </a:r>
                <a:r>
                  <a:rPr lang="en-IN" sz="2400">
                    <a:solidFill>
                      <a:srgbClr val="111827"/>
                    </a:solidFill>
                    <a:latin typeface="Cambria Math" panose="02040503050406030204" pitchFamily="18" charset="0"/>
                  </a:rPr>
                  <a:t>$1\to4$</a:t>
                </a:r>
                <a:r>
                  <a:rPr sz="2400" b="0">
                    <a:solidFill>
                      <a:srgbClr val="111827"/>
                    </a:solidFill>
                    <a:latin typeface="Arial"/>
                  </a:rPr>
                  <a:t> (the number of larger digits).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$35337$</a:t>
                </a:r>
                <a:r>
                  <a:rPr sz="2400" b="0">
                    <a:solidFill>
                      <a:srgbClr val="111827"/>
                    </a:solidFill>
                    <a:latin typeface="Arial"/>
                  </a:rPr>
                  <a:t> has digits </a:t>
                </a:r>
                <a:r>
                  <a:rPr lang="en-IN" sz="2400">
                    <a:solidFill>
                      <a:srgbClr val="111827"/>
                    </a:solidFill>
                    <a:latin typeface="Cambria Math" panose="02040503050406030204" pitchFamily="18" charset="0"/>
                  </a:rPr>
                  <a:t>$3,5,3,3,7\to2,1,2,2,0$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of numbers before it </a:t>
                </a:r>
                <a:r>
                  <a:rPr lang="en-IN" sz="2400">
                    <a:solidFill>
                      <a:srgbClr val="111827"/>
                    </a:solidFill>
                    <a:latin typeface="Cambria Math" panose="02040503050406030204" pitchFamily="18" charset="0"/>
                  </a:rPr>
                  <a:t>$=(21220)_5=2\cdot625+1\cdot125+2\cdot25+2\cdot5+0=1250+125+50+10=1435$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r>
                  <a:rPr lang="en-IN" sz="2400">
                    <a:solidFill>
                      <a:srgbClr val="111827"/>
                    </a:solidFill>
                    <a:latin typeface="Cambria Math" panose="02040503050406030204" pitchFamily="18" charset="0"/>
                  </a:rPr>
                  <a:t>$=1435+1=1436$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1436</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numbers with repetition over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ordered digits, the rank is the base-</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numeral of the digit ranks plus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(ascending or descending, depending on the mapping).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Descending order: count larger digits at each place; ascending: count smaller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the last number (</a:t>
                </a:r>
                <a14:m>
                  <m:oMath xmlns:m="http://schemas.openxmlformats.org/officeDocument/2006/math">
                    <m:r>
                      <a:rPr lang="en-IN" sz="2400" i="1">
                        <a:solidFill>
                          <a:srgbClr val="111827"/>
                        </a:solidFill>
                        <a:latin typeface="Cambria Math" panose="02040503050406030204" pitchFamily="18" charset="0"/>
                      </a:rPr>
                      <m:t>11111</m:t>
                    </m:r>
                  </m:oMath>
                </a14:m>
                <a:r>
                  <a:rPr sz="2400" b="0">
                    <a:solidFill>
                      <a:srgbClr val="111827"/>
                    </a:solidFill>
                    <a:latin typeface="Arial"/>
                  </a:rPr>
                  <a:t>) has digit ranks </a:t>
                </a:r>
                <a14:m>
                  <m:oMath xmlns:m="http://schemas.openxmlformats.org/officeDocument/2006/math">
                    <m:r>
                      <a:rPr lang="en-IN" sz="2400" i="1">
                        <a:solidFill>
                          <a:srgbClr val="111827"/>
                        </a:solidFill>
                        <a:latin typeface="Cambria Math" panose="02040503050406030204" pitchFamily="18" charset="0"/>
                      </a:rPr>
                      <m:t>44444</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3124</m:t>
                    </m:r>
                  </m:oMath>
                </a14:m>
                <a:r>
                  <a:rPr sz="2400" b="0">
                    <a:solidFill>
                      <a:srgbClr val="111827"/>
                    </a:solidFill>
                    <a:latin typeface="Arial"/>
                  </a:rPr>
                  <a:t> numbers before it, rank </a:t>
                </a:r>
                <a14:m>
                  <m:oMath xmlns:m="http://schemas.openxmlformats.org/officeDocument/2006/math">
                    <m:r>
                      <a:rPr lang="en-IN" sz="2400" i="1">
                        <a:solidFill>
                          <a:srgbClr val="111827"/>
                        </a:solidFill>
                        <a:latin typeface="Cambria Math" panose="02040503050406030204" pitchFamily="18" charset="0"/>
                      </a:rPr>
                      <m:t>3125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numbers with repetition over </a:t>
                </a:r>
                <a:r>
                  <a:rPr lang="en-IN" sz="2400">
                    <a:solidFill>
                      <a:srgbClr val="111827"/>
                    </a:solidFill>
                    <a:latin typeface="Cambria Math" panose="02040503050406030204" pitchFamily="18" charset="0"/>
                  </a:rPr>
                  <a:t>$m$</a:t>
                </a:r>
                <a:r>
                  <a:rPr sz="2400" b="0">
                    <a:solidFill>
                      <a:srgbClr val="111827"/>
                    </a:solidFill>
                    <a:latin typeface="Arial"/>
                  </a:rPr>
                  <a:t> ordered digits, the rank is the base-</a:t>
                </a:r>
                <a:r>
                  <a:rPr lang="en-IN" sz="2400">
                    <a:solidFill>
                      <a:srgbClr val="111827"/>
                    </a:solidFill>
                    <a:latin typeface="Cambria Math" panose="02040503050406030204" pitchFamily="18" charset="0"/>
                  </a:rPr>
                  <a:t>$m$</a:t>
                </a:r>
                <a:r>
                  <a:rPr sz="2400" b="0">
                    <a:solidFill>
                      <a:srgbClr val="111827"/>
                    </a:solidFill>
                    <a:latin typeface="Arial"/>
                  </a:rPr>
                  <a:t> numeral of the digit ranks plus </a:t>
                </a:r>
                <a:r>
                  <a:rPr lang="en-IN" sz="2400">
                    <a:solidFill>
                      <a:srgbClr val="111827"/>
                    </a:solidFill>
                    <a:latin typeface="Cambria Math" panose="02040503050406030204" pitchFamily="18" charset="0"/>
                  </a:rPr>
                  <a:t>$1$</a:t>
                </a:r>
                <a:r>
                  <a:rPr sz="2400" b="0">
                    <a:solidFill>
                      <a:srgbClr val="111827"/>
                    </a:solidFill>
                    <a:latin typeface="Arial"/>
                  </a:rPr>
                  <a:t> (ascending or descending, depending on the mapping).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Descending order: count larger digits at each place; ascending: count smaller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the last number (</a:t>
                </a:r>
                <a:r>
                  <a:rPr lang="en-IN" sz="2400">
                    <a:solidFill>
                      <a:srgbClr val="111827"/>
                    </a:solidFill>
                    <a:latin typeface="Cambria Math" panose="02040503050406030204" pitchFamily="18" charset="0"/>
                  </a:rPr>
                  <a:t>$11111$</a:t>
                </a:r>
                <a:r>
                  <a:rPr sz="2400" b="0">
                    <a:solidFill>
                      <a:srgbClr val="111827"/>
                    </a:solidFill>
                    <a:latin typeface="Arial"/>
                  </a:rPr>
                  <a:t>) has digit ranks </a:t>
                </a:r>
                <a:r>
                  <a:rPr lang="en-IN" sz="2400">
                    <a:solidFill>
                      <a:srgbClr val="111827"/>
                    </a:solidFill>
                    <a:latin typeface="Cambria Math" panose="02040503050406030204" pitchFamily="18" charset="0"/>
                  </a:rPr>
                  <a:t>$44444$</a:t>
                </a:r>
                <a:r>
                  <a:rPr sz="2400" b="0">
                    <a:solidFill>
                      <a:srgbClr val="111827"/>
                    </a:solidFill>
                    <a:latin typeface="Arial"/>
                  </a:rPr>
                  <a:t>, i.e. </a:t>
                </a:r>
                <a:r>
                  <a:rPr lang="en-IN" sz="2400">
                    <a:solidFill>
                      <a:srgbClr val="111827"/>
                    </a:solidFill>
                    <a:latin typeface="Cambria Math" panose="02040503050406030204" pitchFamily="18" charset="0"/>
                  </a:rPr>
                  <a:t>$5^5-1=3124$</a:t>
                </a:r>
                <a:r>
                  <a:rPr sz="2400" b="0">
                    <a:solidFill>
                      <a:srgbClr val="111827"/>
                    </a:solidFill>
                    <a:latin typeface="Arial"/>
                  </a:rPr>
                  <a:t> numbers before it, rank </a:t>
                </a:r>
                <a:r>
                  <a:rPr lang="en-IN" sz="2400">
                    <a:solidFill>
                      <a:srgbClr val="111827"/>
                    </a:solidFill>
                    <a:latin typeface="Cambria Math" panose="02040503050406030204" pitchFamily="18" charset="0"/>
                  </a:rPr>
                  <a:t>$3125=5^5$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six digit numbers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are arranged in the increasing order, then the sum of the digits in the </a:t>
                </a:r>
                <a14:m>
                  <m:oMath xmlns:m="http://schemas.openxmlformats.org/officeDocument/2006/math">
                    <m:sSup>
                      <m:e>
                        <m:r>
                          <a:rPr lang="en-IN" sz="2400" i="1">
                            <a:solidFill>
                              <a:srgbClr val="111827"/>
                            </a:solidFill>
                            <a:latin typeface="Cambria Math" panose="02040503050406030204" pitchFamily="18" charset="0"/>
                          </a:rPr>
                          <m:t>72</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number is ______. [JEE(Main) Jan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six digit numbers </a:t>
                </a:r>
                <a:r>
                  <a:rPr lang="en-IN" sz="2400">
                    <a:solidFill>
                      <a:srgbClr val="111827"/>
                    </a:solidFill>
                    <a:latin typeface="Cambria Math" panose="02040503050406030204" pitchFamily="18" charset="0"/>
                  </a:rPr>
                  <a:t>$x_1x_2x_3x_4x_5x_6$</a:t>
                </a:r>
                <a:r>
                  <a:rPr sz="2400" b="0">
                    <a:solidFill>
                      <a:srgbClr val="111827"/>
                    </a:solidFill>
                    <a:latin typeface="Arial"/>
                  </a:rPr>
                  <a:t> with </a:t>
                </a:r>
                <a:r>
                  <a:rPr lang="en-IN" sz="2400">
                    <a:solidFill>
                      <a:srgbClr val="111827"/>
                    </a:solidFill>
                    <a:latin typeface="Cambria Math" panose="02040503050406030204" pitchFamily="18" charset="0"/>
                  </a:rPr>
                  <a:t>$0&lt;x_1&lt;x_2&lt;x_3&lt;x_4&lt;x_5&lt;x_6$</a:t>
                </a:r>
                <a:r>
                  <a:rPr sz="2400" b="0">
                    <a:solidFill>
                      <a:srgbClr val="111827"/>
                    </a:solidFill>
                    <a:latin typeface="Arial"/>
                  </a:rPr>
                  <a:t> are arranged in the increasing order, then the sum of the digits in the </a:t>
                </a:r>
                <a:r>
                  <a:rPr lang="en-IN" sz="2400">
                    <a:solidFill>
                      <a:srgbClr val="111827"/>
                    </a:solidFill>
                    <a:latin typeface="Cambria Math" panose="02040503050406030204" pitchFamily="18" charset="0"/>
                  </a:rPr>
                  <a:t>$72^{\text{th}}$</a:t>
                </a:r>
                <a:r>
                  <a:rPr sz="2400" b="0">
                    <a:solidFill>
                      <a:srgbClr val="111827"/>
                    </a:solidFill>
                    <a:latin typeface="Arial"/>
                  </a:rPr>
                  <a:t> number is ______. [JEE(Main) Jan 2023]</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Combinations from digits (strictly increasing digit strings) and ranking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strictly increasing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-digit string from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is just a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-element subset, so blocks by prefix have binomial sizes.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strictly increasing </a:t>
                </a:r>
                <a:r>
                  <a:rPr lang="en-IN" sz="2400">
                    <a:solidFill>
                      <a:srgbClr val="78350F"/>
                    </a:solidFill>
                    <a:latin typeface="Cambria Math" panose="02040503050406030204" pitchFamily="18" charset="0"/>
                  </a:rPr>
                  <a:t>$6$</a:t>
                </a:r>
                <a:r>
                  <a:rPr sz="2400" b="0">
                    <a:solidFill>
                      <a:srgbClr val="78350F"/>
                    </a:solidFill>
                    <a:latin typeface="Arial"/>
                  </a:rPr>
                  <a:t>-digit string from </a:t>
                </a:r>
                <a:r>
                  <a:rPr lang="en-IN" sz="2400">
                    <a:solidFill>
                      <a:srgbClr val="78350F"/>
                    </a:solidFill>
                    <a:latin typeface="Cambria Math" panose="02040503050406030204" pitchFamily="18" charset="0"/>
                  </a:rPr>
                  <a:t>$1$</a:t>
                </a:r>
                <a:r>
                  <a:rPr sz="2400" b="0">
                    <a:solidFill>
                      <a:srgbClr val="78350F"/>
                    </a:solidFill>
                    <a:latin typeface="Arial"/>
                  </a:rPr>
                  <a:t>-</a:t>
                </a:r>
                <a:r>
                  <a:rPr lang="en-IN" sz="2400">
                    <a:solidFill>
                      <a:srgbClr val="78350F"/>
                    </a:solidFill>
                    <a:latin typeface="Cambria Math" panose="02040503050406030204" pitchFamily="18" charset="0"/>
                  </a:rPr>
                  <a:t>$9$</a:t>
                </a:r>
                <a:r>
                  <a:rPr sz="2400" b="0">
                    <a:solidFill>
                      <a:srgbClr val="78350F"/>
                    </a:solidFill>
                    <a:latin typeface="Arial"/>
                  </a:rPr>
                  <a:t> is just a </a:t>
                </a:r>
                <a:r>
                  <a:rPr lang="en-IN" sz="2400">
                    <a:solidFill>
                      <a:srgbClr val="78350F"/>
                    </a:solidFill>
                    <a:latin typeface="Cambria Math" panose="02040503050406030204" pitchFamily="18" charset="0"/>
                  </a:rPr>
                  <a:t>$6$</a:t>
                </a:r>
                <a:r>
                  <a:rPr sz="2400" b="0">
                    <a:solidFill>
                      <a:srgbClr val="78350F"/>
                    </a:solidFill>
                    <a:latin typeface="Arial"/>
                  </a:rPr>
                  <a:t>-element subset, so blocks by prefix have binomial sizes.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the digits are chosen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 number is determined by 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-subset: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numbers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choose the other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digits from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begin with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first: choose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from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71</m:t>
                    </m:r>
                  </m:oMath>
                </a14:m>
                <a:r>
                  <a:rPr sz="2400" b="0">
                    <a:solidFill>
                      <a:srgbClr val="111827"/>
                    </a:solidFill>
                    <a:latin typeface="Arial"/>
                  </a:rPr>
                  <a:t> numbers come before any number starting with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$0&lt;x_1&lt;\dots&lt;x_6$</a:t>
                </a:r>
                <a:r>
                  <a:rPr sz="2400" b="0">
                    <a:solidFill>
                      <a:srgbClr val="111827"/>
                    </a:solidFill>
                    <a:latin typeface="Arial"/>
                  </a:rPr>
                  <a:t>, the digits are chosen from </a:t>
                </a:r>
                <a:r>
                  <a:rPr lang="en-IN" sz="2400">
                    <a:solidFill>
                      <a:srgbClr val="111827"/>
                    </a:solidFill>
                    <a:latin typeface="Cambria Math" panose="02040503050406030204" pitchFamily="18" charset="0"/>
                  </a:rPr>
                  <a:t>$1,\dots,9$</a:t>
                </a:r>
                <a:r>
                  <a:rPr sz="2400" b="0">
                    <a:solidFill>
                      <a:srgbClr val="111827"/>
                    </a:solidFill>
                    <a:latin typeface="Arial"/>
                  </a:rPr>
                  <a:t> and a number is determined by a </a:t>
                </a:r>
                <a:r>
                  <a:rPr lang="en-IN" sz="2400">
                    <a:solidFill>
                      <a:srgbClr val="111827"/>
                    </a:solidFill>
                    <a:latin typeface="Cambria Math" panose="02040503050406030204" pitchFamily="18" charset="0"/>
                  </a:rPr>
                  <a:t>$6$</a:t>
                </a:r>
                <a:r>
                  <a:rPr sz="2400" b="0">
                    <a:solidFill>
                      <a:srgbClr val="111827"/>
                    </a:solidFill>
                    <a:latin typeface="Arial"/>
                  </a:rPr>
                  <a:t>-subset: </a:t>
                </a:r>
                <a:r>
                  <a:rPr lang="en-IN" sz="2400">
                    <a:solidFill>
                      <a:srgbClr val="111827"/>
                    </a:solidFill>
                    <a:latin typeface="Cambria Math" panose="02040503050406030204" pitchFamily="18" charset="0"/>
                  </a:rPr>
                  <a:t>${}^9C_6=84$</a:t>
                </a:r>
                <a:r>
                  <a:rPr sz="2400" b="0">
                    <a:solidFill>
                      <a:srgbClr val="111827"/>
                    </a:solidFill>
                    <a:latin typeface="Arial"/>
                  </a:rPr>
                  <a:t> numbers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a:t>
                </a:r>
                <a:r>
                  <a:rPr lang="en-IN" sz="2400">
                    <a:solidFill>
                      <a:srgbClr val="111827"/>
                    </a:solidFill>
                    <a:latin typeface="Cambria Math" panose="02040503050406030204" pitchFamily="18" charset="0"/>
                  </a:rPr>
                  <a:t>$1$</a:t>
                </a:r>
                <a:r>
                  <a:rPr sz="2400" b="0">
                    <a:solidFill>
                      <a:srgbClr val="111827"/>
                    </a:solidFill>
                    <a:latin typeface="Arial"/>
                  </a:rPr>
                  <a:t>: choose the other </a:t>
                </a:r>
                <a:r>
                  <a:rPr lang="en-IN" sz="2400">
                    <a:solidFill>
                      <a:srgbClr val="111827"/>
                    </a:solidFill>
                    <a:latin typeface="Cambria Math" panose="02040503050406030204" pitchFamily="18" charset="0"/>
                  </a:rPr>
                  <a:t>$5$</a:t>
                </a:r>
                <a:r>
                  <a:rPr sz="2400" b="0">
                    <a:solidFill>
                      <a:srgbClr val="111827"/>
                    </a:solidFill>
                    <a:latin typeface="Arial"/>
                  </a:rPr>
                  <a:t> digits from </a:t>
                </a:r>
                <a:r>
                  <a:rPr lang="en-IN" sz="2400">
                    <a:solidFill>
                      <a:srgbClr val="111827"/>
                    </a:solidFill>
                    <a:latin typeface="Cambria Math" panose="02040503050406030204" pitchFamily="18" charset="0"/>
                  </a:rPr>
                  <a:t>$2,\dots,9$</a:t>
                </a:r>
                <a:r>
                  <a:rPr sz="2400" b="0">
                    <a:solidFill>
                      <a:srgbClr val="111827"/>
                    </a:solidFill>
                    <a:latin typeface="Arial"/>
                  </a:rPr>
                  <a:t>: </a:t>
                </a:r>
                <a:r>
                  <a:rPr lang="en-IN" sz="2400">
                    <a:solidFill>
                      <a:srgbClr val="111827"/>
                    </a:solidFill>
                    <a:latin typeface="Cambria Math" panose="02040503050406030204" pitchFamily="18" charset="0"/>
                  </a:rPr>
                  <a:t>${}^8C_5=56$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starting with </a:t>
                </a:r>
                <a:r>
                  <a:rPr lang="en-IN" sz="2400">
                    <a:solidFill>
                      <a:srgbClr val="111827"/>
                    </a:solidFill>
                    <a:latin typeface="Cambria Math" panose="02040503050406030204" pitchFamily="18" charset="0"/>
                  </a:rPr>
                  <a:t>$2$</a:t>
                </a:r>
                <a:r>
                  <a:rPr sz="2400" b="0">
                    <a:solidFill>
                      <a:srgbClr val="111827"/>
                    </a:solidFill>
                    <a:latin typeface="Arial"/>
                  </a:rPr>
                  <a:t> begin with </a:t>
                </a:r>
                <a:r>
                  <a:rPr lang="en-IN" sz="2400">
                    <a:solidFill>
                      <a:srgbClr val="111827"/>
                    </a:solidFill>
                    <a:latin typeface="Cambria Math" panose="02040503050406030204" pitchFamily="18" charset="0"/>
                  </a:rPr>
                  <a:t>$23$</a:t>
                </a:r>
                <a:r>
                  <a:rPr sz="2400" b="0">
                    <a:solidFill>
                      <a:srgbClr val="111827"/>
                    </a:solidFill>
                    <a:latin typeface="Arial"/>
                  </a:rPr>
                  <a:t> first: choose </a:t>
                </a:r>
                <a:r>
                  <a:rPr lang="en-IN" sz="2400">
                    <a:solidFill>
                      <a:srgbClr val="111827"/>
                    </a:solidFill>
                    <a:latin typeface="Cambria Math" panose="02040503050406030204" pitchFamily="18" charset="0"/>
                  </a:rPr>
                  <a:t>$4$</a:t>
                </a:r>
                <a:r>
                  <a:rPr sz="2400" b="0">
                    <a:solidFill>
                      <a:srgbClr val="111827"/>
                    </a:solidFill>
                    <a:latin typeface="Arial"/>
                  </a:rPr>
                  <a:t> digits from </a:t>
                </a:r>
                <a:r>
                  <a:rPr lang="en-IN" sz="2400">
                    <a:solidFill>
                      <a:srgbClr val="111827"/>
                    </a:solidFill>
                    <a:latin typeface="Cambria Math" panose="02040503050406030204" pitchFamily="18" charset="0"/>
                  </a:rPr>
                  <a:t>$4,\dots,9$</a:t>
                </a:r>
                <a:r>
                  <a:rPr sz="2400" b="0">
                    <a:solidFill>
                      <a:srgbClr val="111827"/>
                    </a:solidFill>
                    <a:latin typeface="Arial"/>
                  </a:rPr>
                  <a:t>: </a:t>
                </a:r>
                <a:r>
                  <a:rPr lang="en-IN" sz="2400">
                    <a:solidFill>
                      <a:srgbClr val="111827"/>
                    </a:solidFill>
                    <a:latin typeface="Cambria Math" panose="02040503050406030204" pitchFamily="18" charset="0"/>
                  </a:rPr>
                  <a:t>${}^6C_4=15$</a:t>
                </a:r>
                <a:r>
                  <a:rPr sz="2400" b="0">
                    <a:solidFill>
                      <a:srgbClr val="111827"/>
                    </a:solidFill>
                    <a:latin typeface="Arial"/>
                  </a:rPr>
                  <a:t>, so </a:t>
                </a:r>
                <a:r>
                  <a:rPr lang="en-IN" sz="2400">
                    <a:solidFill>
                      <a:srgbClr val="111827"/>
                    </a:solidFill>
                    <a:latin typeface="Cambria Math" panose="02040503050406030204" pitchFamily="18" charset="0"/>
                  </a:rPr>
                  <a:t>$56+15=71$</a:t>
                </a:r>
                <a:r>
                  <a:rPr sz="2400" b="0">
                    <a:solidFill>
                      <a:srgbClr val="111827"/>
                    </a:solidFill>
                    <a:latin typeface="Arial"/>
                  </a:rPr>
                  <a:t> numbers come before any number starting with </a:t>
                </a:r>
                <a:r>
                  <a:rPr lang="en-IN" sz="2400">
                    <a:solidFill>
                      <a:srgbClr val="111827"/>
                    </a:solidFill>
                    <a:latin typeface="Cambria Math" panose="02040503050406030204" pitchFamily="18" charset="0"/>
                  </a:rPr>
                  <a:t>$24$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a:t>
                </a:r>
                <a14:m>
                  <m:oMath xmlns:m="http://schemas.openxmlformats.org/officeDocument/2006/math">
                    <m:sSup>
                      <m:e>
                        <m:r>
                          <a:rPr lang="en-IN" sz="2400" i="1">
                            <a:solidFill>
                              <a:srgbClr val="111827"/>
                            </a:solidFill>
                            <a:latin typeface="Cambria Math" panose="02040503050406030204" pitchFamily="18" charset="0"/>
                          </a:rPr>
                          <m:t>72</m:t>
                        </m:r>
                      </m:e>
                      <m:sup>
                        <m:r>
                          <m:rPr>
                            <m:nor/>
                          </m:rPr>
                          <a:rPr lang="en-IN" sz="2400" i="1">
                            <a:solidFill>
                              <a:srgbClr val="111827"/>
                            </a:solidFill>
                            <a:latin typeface="Cambria Math" panose="02040503050406030204" pitchFamily="18" charset="0"/>
                          </a:rPr>
                          <m:t>𝑛𝑑</m:t>
                        </m:r>
                      </m:sup>
                    </m:sSup>
                  </m:oMath>
                </a14:m>
                <a:r>
                  <a:rPr sz="2400" b="0">
                    <a:solidFill>
                      <a:srgbClr val="111827"/>
                    </a:solidFill>
                    <a:latin typeface="Arial"/>
                  </a:rPr>
                  <a:t> number is the smallest number starting with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245678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 </a:t>
                </a:r>
                <a:r>
                  <a:rPr lang="en-IN" sz="2400">
                    <a:solidFill>
                      <a:srgbClr val="111827"/>
                    </a:solidFill>
                    <a:latin typeface="Cambria Math" panose="02040503050406030204" pitchFamily="18" charset="0"/>
                  </a:rPr>
                  <a:t>$72^{\text{nd}}$</a:t>
                </a:r>
                <a:r>
                  <a:rPr sz="2400" b="0">
                    <a:solidFill>
                      <a:srgbClr val="111827"/>
                    </a:solidFill>
                    <a:latin typeface="Arial"/>
                  </a:rPr>
                  <a:t> number is the smallest number starting with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$245678$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digits </a:t>
                </a:r>
                <a:r>
                  <a:rPr lang="en-IN" sz="2400">
                    <a:solidFill>
                      <a:srgbClr val="111827"/>
                    </a:solidFill>
                    <a:latin typeface="Cambria Math" panose="02040503050406030204" pitchFamily="18" charset="0"/>
                  </a:rPr>
                  <a:t>$=2+4+5+6+7+8=32$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32</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from the largest end: the </a:t>
                </a:r>
                <a14:m>
                  <m:oMath xmlns:m="http://schemas.openxmlformats.org/officeDocument/2006/math">
                    <m:sSup>
                      <m:e>
                        <m:r>
                          <a:rPr lang="en-IN" sz="2400" i="1">
                            <a:solidFill>
                              <a:srgbClr val="78350F"/>
                            </a:solidFill>
                            <a:latin typeface="Cambria Math" panose="02040503050406030204" pitchFamily="18" charset="0"/>
                          </a:rPr>
                          <m:t>72</m:t>
                        </m:r>
                      </m:e>
                      <m:sup>
                        <m:r>
                          <m:rPr>
                            <m:nor/>
                          </m:rPr>
                          <a:rPr lang="en-IN" sz="2400" i="1">
                            <a:solidFill>
                              <a:srgbClr val="78350F"/>
                            </a:solidFill>
                            <a:latin typeface="Cambria Math" panose="02040503050406030204" pitchFamily="18" charset="0"/>
                          </a:rPr>
                          <m:t>𝑛𝑑</m:t>
                        </m:r>
                      </m:sup>
                    </m:sSup>
                  </m:oMath>
                </a14:m>
                <a:r>
                  <a:rPr sz="2400" b="0">
                    <a:solidFill>
                      <a:srgbClr val="78350F"/>
                    </a:solidFill>
                    <a:latin typeface="Arial"/>
                  </a:rPr>
                  <a:t> smallest is the </a:t>
                </a:r>
                <a14:m>
                  <m:oMath xmlns:m="http://schemas.openxmlformats.org/officeDocument/2006/math">
                    <m:sSup>
                      <m:e>
                        <m:r>
                          <a:rPr lang="en-IN" sz="2400" i="1">
                            <a:solidFill>
                              <a:srgbClr val="78350F"/>
                            </a:solidFill>
                            <a:latin typeface="Cambria Math" panose="02040503050406030204" pitchFamily="18" charset="0"/>
                          </a:rPr>
                          <m:t>13</m:t>
                        </m:r>
                      </m:e>
                      <m:sup>
                        <m:r>
                          <m:rPr>
                            <m:nor/>
                          </m:rPr>
                          <a:rPr lang="en-IN" sz="2400" i="1">
                            <a:solidFill>
                              <a:srgbClr val="78350F"/>
                            </a:solidFill>
                            <a:latin typeface="Cambria Math" panose="02040503050406030204" pitchFamily="18" charset="0"/>
                          </a:rPr>
                          <m:t>𝑡ℎ</m:t>
                        </m:r>
                      </m:sup>
                    </m:sSup>
                  </m:oMath>
                </a14:m>
                <a:r>
                  <a:rPr sz="2400" b="0">
                    <a:solidFill>
                      <a:srgbClr val="78350F"/>
                    </a:solidFill>
                    <a:latin typeface="Arial"/>
                  </a:rPr>
                  <a:t> largest, which needs far fewer blocks.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from the largest end: the </a:t>
                </a:r>
                <a:r>
                  <a:rPr lang="en-IN" sz="2400">
                    <a:solidFill>
                      <a:srgbClr val="78350F"/>
                    </a:solidFill>
                    <a:latin typeface="Cambria Math" panose="02040503050406030204" pitchFamily="18" charset="0"/>
                  </a:rPr>
                  <a:t>$72^{\text{nd}}$</a:t>
                </a:r>
                <a:r>
                  <a:rPr sz="2400" b="0">
                    <a:solidFill>
                      <a:srgbClr val="78350F"/>
                    </a:solidFill>
                    <a:latin typeface="Arial"/>
                  </a:rPr>
                  <a:t> smallest is the </a:t>
                </a:r>
                <a:r>
                  <a:rPr lang="en-IN" sz="2400">
                    <a:solidFill>
                      <a:srgbClr val="78350F"/>
                    </a:solidFill>
                    <a:latin typeface="Cambria Math" panose="02040503050406030204" pitchFamily="18" charset="0"/>
                  </a:rPr>
                  <a:t>$13^{\text{th}}$</a:t>
                </a:r>
                <a:r>
                  <a:rPr sz="2400" b="0">
                    <a:solidFill>
                      <a:srgbClr val="78350F"/>
                    </a:solidFill>
                    <a:latin typeface="Arial"/>
                  </a:rPr>
                  <a:t> largest, which needs far fewer blocks.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84</m:t>
                    </m:r>
                  </m:oMath>
                </a14:m>
                <a:r>
                  <a:rPr sz="2400" b="0">
                    <a:solidFill>
                      <a:srgbClr val="111827"/>
                    </a:solidFill>
                    <a:latin typeface="Arial"/>
                  </a:rPr>
                  <a:t> numbers, so the </a:t>
                </a:r>
                <a14:m>
                  <m:oMath xmlns:m="http://schemas.openxmlformats.org/officeDocument/2006/math">
                    <m:sSup>
                      <m:e>
                        <m:r>
                          <a:rPr lang="en-IN" sz="2400" i="1">
                            <a:solidFill>
                              <a:srgbClr val="111827"/>
                            </a:solidFill>
                            <a:latin typeface="Cambria Math" panose="02040503050406030204" pitchFamily="18" charset="0"/>
                          </a:rPr>
                          <m:t>72</m:t>
                        </m:r>
                      </m:e>
                      <m:sup>
                        <m:r>
                          <m:rPr>
                            <m:nor/>
                          </m:rPr>
                          <a:rPr lang="en-IN" sz="2400" i="1">
                            <a:solidFill>
                              <a:srgbClr val="111827"/>
                            </a:solidFill>
                            <a:latin typeface="Cambria Math" panose="02040503050406030204" pitchFamily="18" charset="0"/>
                          </a:rPr>
                          <m:t>𝑛𝑑</m:t>
                        </m:r>
                      </m:sup>
                    </m:sSup>
                  </m:oMath>
                </a14:m>
                <a:r>
                  <a:rPr sz="2400" b="0">
                    <a:solidFill>
                      <a:srgbClr val="111827"/>
                    </a:solidFill>
                    <a:latin typeface="Arial"/>
                  </a:rPr>
                  <a:t> from the smallest is the </a:t>
                </a:r>
                <a14:m>
                  <m:oMath xmlns:m="http://schemas.openxmlformats.org/officeDocument/2006/math">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from the largest.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first: first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gives only </a:t>
                </a:r>
                <a14:m>
                  <m:oMath xmlns:m="http://schemas.openxmlformats.org/officeDocument/2006/math">
                    <m:r>
                      <a:rPr lang="en-IN" sz="2400" i="1">
                        <a:solidFill>
                          <a:srgbClr val="111827"/>
                        </a:solidFill>
                        <a:latin typeface="Cambria Math" panose="02040503050406030204" pitchFamily="18" charset="0"/>
                      </a:rPr>
                      <m:t>456789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number); first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five digits from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running total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$84$</a:t>
                </a:r>
                <a:r>
                  <a:rPr sz="2400" b="0">
                    <a:solidFill>
                      <a:srgbClr val="111827"/>
                    </a:solidFill>
                    <a:latin typeface="Arial"/>
                  </a:rPr>
                  <a:t> numbers, so the </a:t>
                </a:r>
                <a:r>
                  <a:rPr lang="en-IN" sz="2400">
                    <a:solidFill>
                      <a:srgbClr val="111827"/>
                    </a:solidFill>
                    <a:latin typeface="Cambria Math" panose="02040503050406030204" pitchFamily="18" charset="0"/>
                  </a:rPr>
                  <a:t>$72^{\text{nd}}$</a:t>
                </a:r>
                <a:r>
                  <a:rPr sz="2400" b="0">
                    <a:solidFill>
                      <a:srgbClr val="111827"/>
                    </a:solidFill>
                    <a:latin typeface="Arial"/>
                  </a:rPr>
                  <a:t> from the smallest is the </a:t>
                </a:r>
                <a:r>
                  <a:rPr lang="en-IN" sz="2400">
                    <a:solidFill>
                      <a:srgbClr val="111827"/>
                    </a:solidFill>
                    <a:latin typeface="Cambria Math" panose="02040503050406030204" pitchFamily="18" charset="0"/>
                  </a:rPr>
                  <a:t>$84-72+1=13^{\text{th}}$</a:t>
                </a:r>
                <a:r>
                  <a:rPr sz="2400" b="0">
                    <a:solidFill>
                      <a:srgbClr val="111827"/>
                    </a:solidFill>
                    <a:latin typeface="Arial"/>
                  </a:rPr>
                  <a:t> from the largest.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first: first digit </a:t>
                </a:r>
                <a:r>
                  <a:rPr lang="en-IN" sz="2400">
                    <a:solidFill>
                      <a:srgbClr val="111827"/>
                    </a:solidFill>
                    <a:latin typeface="Cambria Math" panose="02040503050406030204" pitchFamily="18" charset="0"/>
                  </a:rPr>
                  <a:t>$4$</a:t>
                </a:r>
                <a:r>
                  <a:rPr sz="2400" b="0">
                    <a:solidFill>
                      <a:srgbClr val="111827"/>
                    </a:solidFill>
                    <a:latin typeface="Arial"/>
                  </a:rPr>
                  <a:t> gives only </a:t>
                </a:r>
                <a:r>
                  <a:rPr lang="en-IN" sz="2400">
                    <a:solidFill>
                      <a:srgbClr val="111827"/>
                    </a:solidFill>
                    <a:latin typeface="Cambria Math" panose="02040503050406030204" pitchFamily="18" charset="0"/>
                  </a:rPr>
                  <a:t>$456789$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number); first digit </a:t>
                </a:r>
                <a:r>
                  <a:rPr lang="en-IN" sz="2400">
                    <a:solidFill>
                      <a:srgbClr val="111827"/>
                    </a:solidFill>
                    <a:latin typeface="Cambria Math" panose="02040503050406030204" pitchFamily="18" charset="0"/>
                  </a:rPr>
                  <a:t>$3$</a:t>
                </a:r>
                <a:r>
                  <a:rPr sz="2400" b="0">
                    <a:solidFill>
                      <a:srgbClr val="111827"/>
                    </a:solidFill>
                    <a:latin typeface="Arial"/>
                  </a:rPr>
                  <a:t>: five digits from </a:t>
                </a:r>
                <a:r>
                  <a:rPr lang="en-IN" sz="2400">
                    <a:solidFill>
                      <a:srgbClr val="111827"/>
                    </a:solidFill>
                    <a:latin typeface="Cambria Math" panose="02040503050406030204" pitchFamily="18" charset="0"/>
                  </a:rPr>
                  <a:t>$4,\dots,9$</a:t>
                </a:r>
                <a:r>
                  <a:rPr sz="2400" b="0">
                    <a:solidFill>
                      <a:srgbClr val="111827"/>
                    </a:solidFill>
                    <a:latin typeface="Arial"/>
                  </a:rPr>
                  <a:t>: </a:t>
                </a:r>
                <a:r>
                  <a:rPr lang="en-IN" sz="2400">
                    <a:solidFill>
                      <a:srgbClr val="111827"/>
                    </a:solidFill>
                    <a:latin typeface="Cambria Math" panose="02040503050406030204" pitchFamily="18" charset="0"/>
                  </a:rPr>
                  <a:t>${}^6C_5=6$</a:t>
                </a:r>
                <a:r>
                  <a:rPr sz="2400" b="0">
                    <a:solidFill>
                      <a:srgbClr val="111827"/>
                    </a:solidFill>
                    <a:latin typeface="Arial"/>
                  </a:rPr>
                  <a:t> numbers; running total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second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256789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number, total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second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numbers (total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a:t>
                </a:r>
                <a14:m>
                  <m:oMath xmlns:m="http://schemas.openxmlformats.org/officeDocument/2006/math">
                    <m:sSup>
                      <m:e>
                        <m:r>
                          <a:rPr lang="en-IN" sz="2400" i="1">
                            <a:solidFill>
                              <a:srgbClr val="111827"/>
                            </a:solidFill>
                            <a:latin typeface="Cambria Math" panose="02040503050406030204" pitchFamily="18" charset="0"/>
                          </a:rPr>
                          <m:t>13</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largest is the smallest number beginning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namely </a:t>
                </a:r>
                <a14:m>
                  <m:oMath xmlns:m="http://schemas.openxmlformats.org/officeDocument/2006/math">
                    <m:r>
                      <a:rPr lang="en-IN" sz="2400" i="1">
                        <a:solidFill>
                          <a:srgbClr val="111827"/>
                        </a:solidFill>
                        <a:latin typeface="Cambria Math" panose="02040503050406030204" pitchFamily="18" charset="0"/>
                      </a:rPr>
                      <m:t>245678</m:t>
                    </m:r>
                  </m:oMath>
                </a14:m>
                <a:r>
                  <a:rPr sz="2400" b="0">
                    <a:solidFill>
                      <a:srgbClr val="111827"/>
                    </a:solidFill>
                    <a:latin typeface="Arial"/>
                  </a:rPr>
                  <a:t>; its digit sum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$2$</a:t>
                </a:r>
                <a:r>
                  <a:rPr sz="2400" b="0">
                    <a:solidFill>
                      <a:srgbClr val="111827"/>
                    </a:solidFill>
                    <a:latin typeface="Arial"/>
                  </a:rPr>
                  <a:t>: second digit </a:t>
                </a:r>
                <a:r>
                  <a:rPr lang="en-IN" sz="2400">
                    <a:solidFill>
                      <a:srgbClr val="111827"/>
                    </a:solidFill>
                    <a:latin typeface="Cambria Math" panose="02040503050406030204" pitchFamily="18" charset="0"/>
                  </a:rPr>
                  <a:t>$5$</a:t>
                </a:r>
                <a:r>
                  <a:rPr sz="2400" b="0">
                    <a:solidFill>
                      <a:srgbClr val="111827"/>
                    </a:solidFill>
                    <a:latin typeface="Arial"/>
                  </a:rPr>
                  <a:t> gives </a:t>
                </a:r>
                <a:r>
                  <a:rPr lang="en-IN" sz="2400">
                    <a:solidFill>
                      <a:srgbClr val="111827"/>
                    </a:solidFill>
                    <a:latin typeface="Cambria Math" panose="02040503050406030204" pitchFamily="18" charset="0"/>
                  </a:rPr>
                  <a:t>$256789$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number, total </a:t>
                </a:r>
                <a:r>
                  <a:rPr lang="en-IN" sz="2400">
                    <a:solidFill>
                      <a:srgbClr val="111827"/>
                    </a:solidFill>
                    <a:latin typeface="Cambria Math" panose="02040503050406030204" pitchFamily="18" charset="0"/>
                  </a:rPr>
                  <a:t>$8$</a:t>
                </a:r>
                <a:r>
                  <a:rPr sz="2400" b="0">
                    <a:solidFill>
                      <a:srgbClr val="111827"/>
                    </a:solidFill>
                    <a:latin typeface="Arial"/>
                  </a:rPr>
                  <a:t>); second digit </a:t>
                </a:r>
                <a:r>
                  <a:rPr lang="en-IN" sz="2400">
                    <a:solidFill>
                      <a:srgbClr val="111827"/>
                    </a:solidFill>
                    <a:latin typeface="Cambria Math" panose="02040503050406030204" pitchFamily="18" charset="0"/>
                  </a:rPr>
                  <a:t>$4$</a:t>
                </a:r>
                <a:r>
                  <a:rPr sz="2400" b="0">
                    <a:solidFill>
                      <a:srgbClr val="111827"/>
                    </a:solidFill>
                    <a:latin typeface="Arial"/>
                  </a:rPr>
                  <a:t> gives </a:t>
                </a:r>
                <a:r>
                  <a:rPr lang="en-IN" sz="2400">
                    <a:solidFill>
                      <a:srgbClr val="111827"/>
                    </a:solidFill>
                    <a:latin typeface="Cambria Math" panose="02040503050406030204" pitchFamily="18" charset="0"/>
                  </a:rPr>
                  <a:t>${}^5C_4=5$</a:t>
                </a:r>
                <a:r>
                  <a:rPr sz="2400" b="0">
                    <a:solidFill>
                      <a:srgbClr val="111827"/>
                    </a:solidFill>
                    <a:latin typeface="Arial"/>
                  </a:rPr>
                  <a:t> numbers (total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a:t>
                </a:r>
                <a:r>
                  <a:rPr lang="en-IN" sz="2400">
                    <a:solidFill>
                      <a:srgbClr val="111827"/>
                    </a:solidFill>
                    <a:latin typeface="Cambria Math" panose="02040503050406030204" pitchFamily="18" charset="0"/>
                  </a:rPr>
                  <a:t>$13^{\text{th}}$</a:t>
                </a:r>
                <a:r>
                  <a:rPr sz="2400" b="0">
                    <a:solidFill>
                      <a:srgbClr val="111827"/>
                    </a:solidFill>
                    <a:latin typeface="Arial"/>
                  </a:rPr>
                  <a:t> largest is the smallest number beginning </a:t>
                </a:r>
                <a:r>
                  <a:rPr lang="en-IN" sz="2400">
                    <a:solidFill>
                      <a:srgbClr val="111827"/>
                    </a:solidFill>
                    <a:latin typeface="Cambria Math" panose="02040503050406030204" pitchFamily="18" charset="0"/>
                  </a:rPr>
                  <a:t>$24$</a:t>
                </a:r>
                <a:r>
                  <a:rPr sz="2400" b="0">
                    <a:solidFill>
                      <a:srgbClr val="111827"/>
                    </a:solidFill>
                    <a:latin typeface="Arial"/>
                  </a:rPr>
                  <a:t>, namely </a:t>
                </a:r>
                <a:r>
                  <a:rPr lang="en-IN" sz="2400">
                    <a:solidFill>
                      <a:srgbClr val="111827"/>
                    </a:solidFill>
                    <a:latin typeface="Cambria Math" panose="02040503050406030204" pitchFamily="18" charset="0"/>
                  </a:rPr>
                  <a:t>$245678$</a:t>
                </a:r>
                <a:r>
                  <a:rPr sz="2400" b="0">
                    <a:solidFill>
                      <a:srgbClr val="111827"/>
                    </a:solidFill>
                    <a:latin typeface="Arial"/>
                  </a:rPr>
                  <a:t>; its digit sum is </a:t>
                </a:r>
                <a:r>
                  <a:rPr lang="en-IN" sz="2400">
                    <a:solidFill>
                      <a:srgbClr val="111827"/>
                    </a:solidFill>
                    <a:latin typeface="Cambria Math" panose="02040503050406030204" pitchFamily="18" charset="0"/>
                  </a:rPr>
                  <a:t>$2+4+5+6+7+8=32$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32</a:t>
            </a:r>
            <a:endParaRPr sz="2800">
              <a:solidFill>
                <a:srgbClr val="15803D"/>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digit strings of length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digits correspond one-to-one with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-subsets: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strings.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by prefix: numbers with first digit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keep subtracting until the block contains the target.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Non-decreasing strings correspond to multisets: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digit strings of length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digits correspond one-to-one with </a:t>
                </a:r>
                <a:r>
                  <a:rPr lang="en-IN" sz="2400">
                    <a:solidFill>
                      <a:srgbClr val="111827"/>
                    </a:solidFill>
                    <a:latin typeface="Cambria Math" panose="02040503050406030204" pitchFamily="18" charset="0"/>
                  </a:rPr>
                  <a:t>$r$</a:t>
                </a:r>
                <a:r>
                  <a:rPr sz="2400" b="0">
                    <a:solidFill>
                      <a:srgbClr val="111827"/>
                    </a:solidFill>
                    <a:latin typeface="Arial"/>
                  </a:rPr>
                  <a:t>-subsets: </a:t>
                </a:r>
                <a:r>
                  <a:rPr lang="en-IN" sz="2400">
                    <a:solidFill>
                      <a:srgbClr val="111827"/>
                    </a:solidFill>
                    <a:latin typeface="Cambria Math" panose="02040503050406030204" pitchFamily="18" charset="0"/>
                  </a:rPr>
                  <a:t>$\binom nr$</a:t>
                </a:r>
                <a:r>
                  <a:rPr sz="2400" b="0">
                    <a:solidFill>
                      <a:srgbClr val="111827"/>
                    </a:solidFill>
                    <a:latin typeface="Arial"/>
                  </a:rPr>
                  <a:t> strings.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by prefix: numbers with first digit </a:t>
                </a:r>
                <a:r>
                  <a:rPr lang="en-IN" sz="2400">
                    <a:solidFill>
                      <a:srgbClr val="111827"/>
                    </a:solidFill>
                    <a:latin typeface="Cambria Math" panose="02040503050406030204" pitchFamily="18" charset="0"/>
                  </a:rPr>
                  <a:t>$d$</a:t>
                </a:r>
                <a:r>
                  <a:rPr sz="2400" b="0">
                    <a:solidFill>
                      <a:srgbClr val="111827"/>
                    </a:solidFill>
                    <a:latin typeface="Arial"/>
                  </a:rPr>
                  <a:t> are </a:t>
                </a:r>
                <a:r>
                  <a:rPr lang="en-IN" sz="2400">
                    <a:solidFill>
                      <a:srgbClr val="111827"/>
                    </a:solidFill>
                    <a:latin typeface="Cambria Math" panose="02040503050406030204" pitchFamily="18" charset="0"/>
                  </a:rPr>
                  <a:t>$\binom{n-d}{r-1}$</a:t>
                </a:r>
                <a:r>
                  <a:rPr sz="2400" b="0">
                    <a:solidFill>
                      <a:srgbClr val="111827"/>
                    </a:solidFill>
                    <a:latin typeface="Arial"/>
                  </a:rPr>
                  <a:t>; keep subtracting until the block contains the target.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Non-decreasing strings correspond to multisets: </a:t>
                </a:r>
                <a:r>
                  <a:rPr lang="en-IN" sz="2400">
                    <a:solidFill>
                      <a:srgbClr val="111827"/>
                    </a:solidFill>
                    <a:latin typeface="Cambria Math" panose="02040503050406030204" pitchFamily="18" charset="0"/>
                  </a:rPr>
                  <a:t>$\binom{n+r-1}{r}$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numbers (the repetition of digits is allowed) which are made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are divisible by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is equal to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a:t>
                </a:r>
                <a:r>
                  <a:rPr lang="en-IN" sz="2400">
                    <a:solidFill>
                      <a:srgbClr val="111827"/>
                    </a:solidFill>
                    <a:latin typeface="Cambria Math" panose="02040503050406030204" pitchFamily="18" charset="0"/>
                  </a:rPr>
                  <a:t>$4$</a:t>
                </a:r>
                <a:r>
                  <a:rPr sz="2400" b="0">
                    <a:solidFill>
                      <a:srgbClr val="111827"/>
                    </a:solidFill>
                    <a:latin typeface="Arial"/>
                  </a:rPr>
                  <a:t>-digit numbers (the repetition of digits is allowed) which are made using the digits </a:t>
                </a:r>
                <a:r>
                  <a:rPr lang="en-IN" sz="2400">
                    <a:solidFill>
                      <a:srgbClr val="111827"/>
                    </a:solidFill>
                    <a:latin typeface="Cambria Math" panose="02040503050406030204" pitchFamily="18" charset="0"/>
                  </a:rPr>
                  <a:t>$1,2,3$</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and are divisible by </a:t>
                </a:r>
                <a:r>
                  <a:rPr lang="en-IN" sz="2400">
                    <a:solidFill>
                      <a:srgbClr val="111827"/>
                    </a:solidFill>
                    <a:latin typeface="Cambria Math" panose="02040503050406030204" pitchFamily="18" charset="0"/>
                  </a:rPr>
                  <a:t>$15$</a:t>
                </a:r>
                <a:r>
                  <a:rPr sz="2400" b="0">
                    <a:solidFill>
                      <a:srgbClr val="111827"/>
                    </a:solidFill>
                    <a:latin typeface="Arial"/>
                  </a:rPr>
                  <a:t>, is equal to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3 and 5 in digit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Divisible by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means last digit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and digit sum a multiple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so the first three digits must have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Divisible by </a:t>
                </a:r>
                <a:r>
                  <a:rPr lang="en-IN" sz="2400">
                    <a:solidFill>
                      <a:srgbClr val="78350F"/>
                    </a:solidFill>
                    <a:latin typeface="Cambria Math" panose="02040503050406030204" pitchFamily="18" charset="0"/>
                  </a:rPr>
                  <a:t>$15$</a:t>
                </a:r>
                <a:r>
                  <a:rPr sz="2400" b="0">
                    <a:solidFill>
                      <a:srgbClr val="78350F"/>
                    </a:solidFill>
                    <a:latin typeface="Arial"/>
                  </a:rPr>
                  <a:t> means last digit </a:t>
                </a:r>
                <a:r>
                  <a:rPr lang="en-IN" sz="2400">
                    <a:solidFill>
                      <a:srgbClr val="78350F"/>
                    </a:solidFill>
                    <a:latin typeface="Cambria Math" panose="02040503050406030204" pitchFamily="18" charset="0"/>
                  </a:rPr>
                  <a:t>$5$</a:t>
                </a:r>
                <a:r>
                  <a:rPr sz="2400" b="0">
                    <a:solidFill>
                      <a:srgbClr val="78350F"/>
                    </a:solidFill>
                    <a:latin typeface="Arial"/>
                  </a:rPr>
                  <a:t> and digit sum a multiple of </a:t>
                </a:r>
                <a:r>
                  <a:rPr lang="en-IN" sz="2400">
                    <a:solidFill>
                      <a:srgbClr val="78350F"/>
                    </a:solidFill>
                    <a:latin typeface="Cambria Math" panose="02040503050406030204" pitchFamily="18" charset="0"/>
                  </a:rPr>
                  <a:t>$3$</a:t>
                </a:r>
                <a:r>
                  <a:rPr sz="2400" b="0">
                    <a:solidFill>
                      <a:srgbClr val="78350F"/>
                    </a:solidFill>
                    <a:latin typeface="Arial"/>
                  </a:rPr>
                  <a:t>, so the first three digits must have sum </a:t>
                </a:r>
                <a:r>
                  <a:rPr lang="en-IN" sz="2400">
                    <a:solidFill>
                      <a:srgbClr val="78350F"/>
                    </a:solidFill>
                    <a:latin typeface="Cambria Math" panose="02040503050406030204" pitchFamily="18" charset="0"/>
                  </a:rPr>
                  <a:t>$\equiv1\pmod 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the last digit must be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(it cannot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the sum of the digits must be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three digits (any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must have a sum that, added 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Cases by the digit multiset: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with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$15$</a:t>
                </a:r>
                <a:r>
                  <a:rPr sz="2400" b="0">
                    <a:solidFill>
                      <a:srgbClr val="111827"/>
                    </a:solidFill>
                    <a:latin typeface="Arial"/>
                  </a:rPr>
                  <a:t>: the last digit must be </a:t>
                </a:r>
                <a:r>
                  <a:rPr lang="en-IN" sz="2400">
                    <a:solidFill>
                      <a:srgbClr val="111827"/>
                    </a:solidFill>
                    <a:latin typeface="Cambria Math" panose="02040503050406030204" pitchFamily="18" charset="0"/>
                  </a:rPr>
                  <a:t>$5$</a:t>
                </a:r>
                <a:r>
                  <a:rPr sz="2400" b="0">
                    <a:solidFill>
                      <a:srgbClr val="111827"/>
                    </a:solidFill>
                    <a:latin typeface="Arial"/>
                  </a:rPr>
                  <a:t> (it cannot be </a:t>
                </a:r>
                <a:r>
                  <a:rPr lang="en-IN" sz="2400">
                    <a:solidFill>
                      <a:srgbClr val="111827"/>
                    </a:solidFill>
                    <a:latin typeface="Cambria Math" panose="02040503050406030204" pitchFamily="18" charset="0"/>
                  </a:rPr>
                  <a:t>$0$</a:t>
                </a:r>
                <a:r>
                  <a:rPr sz="2400" b="0">
                    <a:solidFill>
                      <a:srgbClr val="111827"/>
                    </a:solidFill>
                    <a:latin typeface="Arial"/>
                  </a:rPr>
                  <a:t>) and the sum of the digits must be divisible by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three digits (any of </a:t>
                </a:r>
                <a:r>
                  <a:rPr lang="en-IN" sz="2400">
                    <a:solidFill>
                      <a:srgbClr val="111827"/>
                    </a:solidFill>
                    <a:latin typeface="Cambria Math" panose="02040503050406030204" pitchFamily="18" charset="0"/>
                  </a:rPr>
                  <a:t>$1,2,3,5$</a:t>
                </a:r>
                <a:r>
                  <a:rPr sz="2400" b="0">
                    <a:solidFill>
                      <a:srgbClr val="111827"/>
                    </a:solidFill>
                    <a:latin typeface="Arial"/>
                  </a:rPr>
                  <a:t>) must have a sum that, added to </a:t>
                </a:r>
                <a:r>
                  <a:rPr lang="en-IN" sz="2400">
                    <a:solidFill>
                      <a:srgbClr val="111827"/>
                    </a:solidFill>
                    <a:latin typeface="Cambria Math" panose="02040503050406030204" pitchFamily="18" charset="0"/>
                  </a:rPr>
                  <a:t>$5$</a:t>
                </a:r>
                <a:r>
                  <a:rPr sz="2400" b="0">
                    <a:solidFill>
                      <a:srgbClr val="111827"/>
                    </a:solidFill>
                    <a:latin typeface="Arial"/>
                  </a:rPr>
                  <a:t>, is a multiple of </a:t>
                </a:r>
                <a:r>
                  <a:rPr lang="en-IN" sz="2400">
                    <a:solidFill>
                      <a:srgbClr val="111827"/>
                    </a:solidFill>
                    <a:latin typeface="Cambria Math" panose="02040503050406030204" pitchFamily="18" charset="0"/>
                  </a:rPr>
                  <a:t>$3$</a:t>
                </a:r>
                <a:r>
                  <a:rPr sz="2400" b="0">
                    <a:solidFill>
                      <a:srgbClr val="111827"/>
                    </a:solidFill>
                    <a:latin typeface="Arial"/>
                  </a:rPr>
                  <a:t>. Cases by the digit multiset: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$\{1,2,1\}$</a:t>
                </a:r>
                <a:r>
                  <a:rPr sz="2400" b="0">
                    <a:solidFill>
                      <a:srgbClr val="111827"/>
                    </a:solidFill>
                    <a:latin typeface="Arial"/>
                  </a:rPr>
                  <a:t> (sum with </a:t>
                </a:r>
                <a:r>
                  <a:rPr lang="en-IN" sz="2400">
                    <a:solidFill>
                      <a:srgbClr val="111827"/>
                    </a:solidFill>
                    <a:latin typeface="Cambria Math" panose="02040503050406030204" pitchFamily="18" charset="0"/>
                  </a:rPr>
                  <a:t>$5$</a:t>
                </a:r>
                <a:r>
                  <a:rPr sz="2400" b="0">
                    <a:solidFill>
                      <a:srgbClr val="111827"/>
                    </a:solidFill>
                    <a:latin typeface="Arial"/>
                  </a:rPr>
                  <a:t> is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$\frac{3!}{2!}=3$</a:t>
                </a:r>
                <a:r>
                  <a:rPr sz="2400" b="0">
                    <a:solidFill>
                      <a:srgbClr val="111827"/>
                    </a:solidFill>
                    <a:latin typeface="Arial"/>
                  </a:rPr>
                  <a:t> numbers. </a:t>
                </a:r>
                <a:r>
                  <a:rPr lang="en-IN" sz="2400">
                    <a:solidFill>
                      <a:srgbClr val="111827"/>
                    </a:solidFill>
                    <a:latin typeface="Cambria Math" panose="02040503050406030204" pitchFamily="18" charset="0"/>
                  </a:rPr>
                  <a:t>$\{2,2,3\}$</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$\{3,3,1\}$</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$\{1,1,5\}$</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all digits different,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$\{2,3,5\}$</a:t>
                </a:r>
                <a:r>
                  <a:rPr sz="2400" b="0">
                    <a:solidFill>
                      <a:srgbClr val="111827"/>
                    </a:solidFill>
                    <a:latin typeface="Arial"/>
                  </a:rPr>
                  <a:t> (sum </a:t>
                </a:r>
                <a:r>
                  <a:rPr lang="en-IN" sz="2400">
                    <a:solidFill>
                      <a:srgbClr val="111827"/>
                    </a:solidFill>
                    <a:latin typeface="Cambria Math" panose="02040503050406030204" pitchFamily="18" charset="0"/>
                  </a:rPr>
                  <a:t>$15$</a:t>
                </a:r>
                <a:r>
                  <a:rPr sz="2400" b="0">
                    <a:solidFill>
                      <a:srgbClr val="111827"/>
                    </a:solidFill>
                    <a:latin typeface="Arial"/>
                  </a:rPr>
                  <a:t>): all digits different, </a:t>
                </a:r>
                <a:r>
                  <a:rPr lang="en-IN" sz="2400">
                    <a:solidFill>
                      <a:srgbClr val="111827"/>
                    </a:solidFill>
                    <a:latin typeface="Cambria Math" panose="02040503050406030204" pitchFamily="18" charset="0"/>
                  </a:rPr>
                  <a:t>$3!=6$</a:t>
                </a:r>
                <a:r>
                  <a:rPr sz="2400" b="0">
                    <a:solidFill>
                      <a:srgbClr val="111827"/>
                    </a:solidFill>
                    <a:latin typeface="Arial"/>
                  </a:rPr>
                  <a:t> numbers. </a:t>
                </a:r>
                <a:r>
                  <a:rPr lang="en-IN" sz="2400">
                    <a:solidFill>
                      <a:srgbClr val="111827"/>
                    </a:solidFill>
                    <a:latin typeface="Cambria Math" panose="02040503050406030204" pitchFamily="18" charset="0"/>
                  </a:rPr>
                  <a:t>$\{3,5,5\}$</a:t>
                </a:r>
                <a:r>
                  <a:rPr sz="2400" b="0">
                    <a:solidFill>
                      <a:srgbClr val="111827"/>
                    </a:solidFill>
                    <a:latin typeface="Arial"/>
                  </a:rPr>
                  <a:t> (sum </a:t>
                </a:r>
                <a:r>
                  <a:rPr lang="en-IN" sz="2400">
                    <a:solidFill>
                      <a:srgbClr val="111827"/>
                    </a:solidFill>
                    <a:latin typeface="Cambria Math" panose="02040503050406030204" pitchFamily="18" charset="0"/>
                  </a:rPr>
                  <a:t>$18$</a:t>
                </a:r>
                <a:r>
                  <a:rPr sz="2400" b="0">
                    <a:solidFill>
                      <a:srgbClr val="111827"/>
                    </a:solidFill>
                    <a:latin typeface="Arial"/>
                  </a:rPr>
                  <a:t>): </a:t>
                </a:r>
                <a:r>
                  <a:rPr lang="en-IN" sz="2400">
                    <a:solidFill>
                      <a:srgbClr val="111827"/>
                    </a:solidFill>
                    <a:latin typeface="Cambria Math" panose="02040503050406030204" pitchFamily="18" charset="0"/>
                  </a:rPr>
                  <a:t>$\frac{3!}{2!}=3$</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$=3+3+3+3+6+3=21$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21</a:t>
            </a:r>
            <a:endParaRPr sz="2800">
              <a:solidFill>
                <a:srgbClr val="15803D"/>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residues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the digits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have residues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the first three must have residue-sum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residues mod </a:t>
                </a:r>
                <a:r>
                  <a:rPr lang="en-IN" sz="2400">
                    <a:solidFill>
                      <a:srgbClr val="78350F"/>
                    </a:solidFill>
                    <a:latin typeface="Cambria Math" panose="02040503050406030204" pitchFamily="18" charset="0"/>
                  </a:rPr>
                  <a:t>$3$</a:t>
                </a:r>
                <a:r>
                  <a:rPr sz="2400" b="0">
                    <a:solidFill>
                      <a:srgbClr val="78350F"/>
                    </a:solidFill>
                    <a:latin typeface="Arial"/>
                  </a:rPr>
                  <a:t>: the digits </a:t>
                </a:r>
                <a:r>
                  <a:rPr lang="en-IN" sz="2400">
                    <a:solidFill>
                      <a:srgbClr val="78350F"/>
                    </a:solidFill>
                    <a:latin typeface="Cambria Math" panose="02040503050406030204" pitchFamily="18" charset="0"/>
                  </a:rPr>
                  <a:t>$1,2,3,5$</a:t>
                </a:r>
                <a:r>
                  <a:rPr sz="2400" b="0">
                    <a:solidFill>
                      <a:srgbClr val="78350F"/>
                    </a:solidFill>
                    <a:latin typeface="Arial"/>
                  </a:rPr>
                  <a:t> have residues </a:t>
                </a:r>
                <a:r>
                  <a:rPr lang="en-IN" sz="2400">
                    <a:solidFill>
                      <a:srgbClr val="78350F"/>
                    </a:solidFill>
                    <a:latin typeface="Cambria Math" panose="02040503050406030204" pitchFamily="18" charset="0"/>
                  </a:rPr>
                  <a:t>$1,2,0,2$</a:t>
                </a:r>
                <a:r>
                  <a:rPr sz="2400" b="0">
                    <a:solidFill>
                      <a:srgbClr val="78350F"/>
                    </a:solidFill>
                    <a:latin typeface="Arial"/>
                  </a:rPr>
                  <a:t>, and the first three must have residue-sum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residue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residue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has residue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 the first three digits need residue-sum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multisets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 </a:t>
                </a:r>
                <a:r>
                  <a:rPr lang="en-IN" sz="2400">
                    <a:solidFill>
                      <a:srgbClr val="111827"/>
                    </a:solidFill>
                    <a:latin typeface="Cambria Math" panose="02040503050406030204" pitchFamily="18" charset="0"/>
                  </a:rPr>
                  <a:t>$0$</a:t>
                </a:r>
                <a:r>
                  <a:rPr sz="2400" b="0">
                    <a:solidFill>
                      <a:srgbClr val="111827"/>
                    </a:solidFill>
                    <a:latin typeface="Arial"/>
                  </a:rPr>
                  <a:t>: digit </a:t>
                </a:r>
                <a:r>
                  <a:rPr lang="en-IN" sz="2400">
                    <a:solidFill>
                      <a:srgbClr val="111827"/>
                    </a:solidFill>
                    <a:latin typeface="Cambria Math" panose="02040503050406030204" pitchFamily="18" charset="0"/>
                  </a:rPr>
                  <a:t>$3$</a:t>
                </a:r>
                <a:r>
                  <a:rPr sz="2400" b="0">
                    <a:solidFill>
                      <a:srgbClr val="111827"/>
                    </a:solidFill>
                    <a:latin typeface="Arial"/>
                  </a:rPr>
                  <a:t> (weight </a:t>
                </a:r>
                <a:r>
                  <a:rPr lang="en-IN" sz="2400">
                    <a:solidFill>
                      <a:srgbClr val="111827"/>
                    </a:solidFill>
                    <a:latin typeface="Cambria Math" panose="02040503050406030204" pitchFamily="18" charset="0"/>
                  </a:rPr>
                  <a:t>$1$</a:t>
                </a:r>
                <a:r>
                  <a:rPr sz="2400" b="0">
                    <a:solidFill>
                      <a:srgbClr val="111827"/>
                    </a:solidFill>
                    <a:latin typeface="Arial"/>
                  </a:rPr>
                  <a:t>); residue </a:t>
                </a:r>
                <a:r>
                  <a:rPr lang="en-IN" sz="2400">
                    <a:solidFill>
                      <a:srgbClr val="111827"/>
                    </a:solidFill>
                    <a:latin typeface="Cambria Math" panose="02040503050406030204" pitchFamily="18" charset="0"/>
                  </a:rPr>
                  <a:t>$1$</a:t>
                </a:r>
                <a:r>
                  <a:rPr sz="2400" b="0">
                    <a:solidFill>
                      <a:srgbClr val="111827"/>
                    </a:solidFill>
                    <a:latin typeface="Arial"/>
                  </a:rPr>
                  <a:t>: digit </a:t>
                </a:r>
                <a:r>
                  <a:rPr lang="en-IN" sz="2400">
                    <a:solidFill>
                      <a:srgbClr val="111827"/>
                    </a:solidFill>
                    <a:latin typeface="Cambria Math" panose="02040503050406030204" pitchFamily="18" charset="0"/>
                  </a:rPr>
                  <a:t>$1$</a:t>
                </a:r>
                <a:r>
                  <a:rPr sz="2400" b="0">
                    <a:solidFill>
                      <a:srgbClr val="111827"/>
                    </a:solidFill>
                    <a:latin typeface="Arial"/>
                  </a:rPr>
                  <a:t> (weight </a:t>
                </a:r>
                <a:r>
                  <a:rPr lang="en-IN" sz="2400">
                    <a:solidFill>
                      <a:srgbClr val="111827"/>
                    </a:solidFill>
                    <a:latin typeface="Cambria Math" panose="02040503050406030204" pitchFamily="18" charset="0"/>
                  </a:rPr>
                  <a:t>$1$</a:t>
                </a:r>
                <a:r>
                  <a:rPr sz="2400" b="0">
                    <a:solidFill>
                      <a:srgbClr val="111827"/>
                    </a:solidFill>
                    <a:latin typeface="Arial"/>
                  </a:rPr>
                  <a:t>); residue </a:t>
                </a:r>
                <a:r>
                  <a:rPr lang="en-IN" sz="2400">
                    <a:solidFill>
                      <a:srgbClr val="111827"/>
                    </a:solidFill>
                    <a:latin typeface="Cambria Math" panose="02040503050406030204" pitchFamily="18" charset="0"/>
                  </a:rPr>
                  <a:t>$2$</a:t>
                </a:r>
                <a:r>
                  <a:rPr sz="2400" b="0">
                    <a:solidFill>
                      <a:srgbClr val="111827"/>
                    </a:solidFill>
                    <a:latin typeface="Arial"/>
                  </a:rPr>
                  <a:t>: digits </a:t>
                </a:r>
                <a:r>
                  <a:rPr lang="en-IN" sz="2400">
                    <a:solidFill>
                      <a:srgbClr val="111827"/>
                    </a:solidFill>
                    <a:latin typeface="Cambria Math" panose="02040503050406030204" pitchFamily="18" charset="0"/>
                  </a:rPr>
                  <a:t>$2,5$</a:t>
                </a:r>
                <a:r>
                  <a:rPr sz="2400" b="0">
                    <a:solidFill>
                      <a:srgbClr val="111827"/>
                    </a:solidFill>
                    <a:latin typeface="Arial"/>
                  </a:rPr>
                  <a:t> (weight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digit </a:t>
                </a:r>
                <a:r>
                  <a:rPr lang="en-IN" sz="2400">
                    <a:solidFill>
                      <a:srgbClr val="111827"/>
                    </a:solidFill>
                    <a:latin typeface="Cambria Math" panose="02040503050406030204" pitchFamily="18" charset="0"/>
                  </a:rPr>
                  <a:t>$5$</a:t>
                </a:r>
                <a:r>
                  <a:rPr sz="2400" b="0">
                    <a:solidFill>
                      <a:srgbClr val="111827"/>
                    </a:solidFill>
                    <a:latin typeface="Arial"/>
                  </a:rPr>
                  <a:t> has residue </a:t>
                </a:r>
                <a:r>
                  <a:rPr lang="en-IN" sz="2400">
                    <a:solidFill>
                      <a:srgbClr val="111827"/>
                    </a:solidFill>
                    <a:latin typeface="Cambria Math" panose="02040503050406030204" pitchFamily="18" charset="0"/>
                  </a:rPr>
                  <a:t>$2$</a:t>
                </a:r>
                <a:r>
                  <a:rPr sz="2400" b="0">
                    <a:solidFill>
                      <a:srgbClr val="111827"/>
                    </a:solidFill>
                    <a:latin typeface="Arial"/>
                  </a:rPr>
                  <a:t>, so the first three digits need residue-sum </a:t>
                </a:r>
                <a:r>
                  <a:rPr lang="en-IN" sz="2400">
                    <a:solidFill>
                      <a:srgbClr val="111827"/>
                    </a:solidFill>
                    <a:latin typeface="Cambria Math" panose="02040503050406030204" pitchFamily="18" charset="0"/>
                  </a:rPr>
                  <a:t>$\equiv1\pmod3$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multisets with sum </a:t>
                </a:r>
                <a:r>
                  <a:rPr lang="en-IN" sz="2400">
                    <a:solidFill>
                      <a:srgbClr val="111827"/>
                    </a:solidFill>
                    <a:latin typeface="Cambria Math" panose="02040503050406030204" pitchFamily="18" charset="0"/>
                  </a:rPr>
                  <a:t>$\equiv1$</a:t>
                </a:r>
                <a:r>
                  <a:rPr sz="2400" b="0">
                    <a:solidFill>
                      <a:srgbClr val="111827"/>
                    </a:solidFill>
                    <a:latin typeface="Arial"/>
                  </a:rPr>
                  <a:t>: </a:t>
                </a:r>
                <a:r>
                  <a:rPr lang="en-IN" sz="2400">
                    <a:solidFill>
                      <a:srgbClr val="111827"/>
                    </a:solidFill>
                    <a:latin typeface="Cambria Math" panose="02040503050406030204" pitchFamily="18" charset="0"/>
                  </a:rPr>
                  <a:t>$\{0,0,1\}$</a:t>
                </a:r>
                <a:r>
                  <a:rPr sz="2400" b="0">
                    <a:solidFill>
                      <a:srgbClr val="111827"/>
                    </a:solidFill>
                    <a:latin typeface="Arial"/>
                  </a:rPr>
                  <a:t>, </a:t>
                </a:r>
                <a:r>
                  <a:rPr lang="en-IN" sz="2400">
                    <a:solidFill>
                      <a:srgbClr val="111827"/>
                    </a:solidFill>
                    <a:latin typeface="Cambria Math" panose="02040503050406030204" pitchFamily="18" charset="0"/>
                  </a:rPr>
                  <a:t>$\{1,1,2\}$</a:t>
                </a:r>
                <a:r>
                  <a:rPr sz="2400" b="0">
                    <a:solidFill>
                      <a:srgbClr val="111827"/>
                    </a:solidFill>
                    <a:latin typeface="Arial"/>
                  </a:rPr>
                  <a:t>, </a:t>
                </a:r>
                <a:r>
                  <a:rPr lang="en-IN" sz="2400">
                    <a:solidFill>
                      <a:srgbClr val="111827"/>
                    </a:solidFill>
                    <a:latin typeface="Cambria Math" panose="02040503050406030204" pitchFamily="18" charset="0"/>
                  </a:rPr>
                  <a:t>$\{0,2,2\}$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orders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orders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orders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weight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$\{0,0,1\}$</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orders </a:t>
                </a:r>
                <a:r>
                  <a:rPr lang="en-IN" sz="2400">
                    <a:solidFill>
                      <a:srgbClr val="111827"/>
                    </a:solidFill>
                    <a:latin typeface="Cambria Math" panose="02040503050406030204" pitchFamily="18" charset="0"/>
                  </a:rPr>
                  <a:t>$\times$</a:t>
                </a:r>
                <a:r>
                  <a:rPr sz="2400" b="0">
                    <a:solidFill>
                      <a:srgbClr val="111827"/>
                    </a:solidFill>
                    <a:latin typeface="Arial"/>
                  </a:rPr>
                  <a:t> weight </a:t>
                </a:r>
                <a:r>
                  <a:rPr lang="en-IN" sz="2400">
                    <a:solidFill>
                      <a:srgbClr val="111827"/>
                    </a:solidFill>
                    <a:latin typeface="Cambria Math" panose="02040503050406030204" pitchFamily="18" charset="0"/>
                  </a:rPr>
                  <a:t>$1\cdot1\cdot1$</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orders </a:t>
                </a:r>
                <a:r>
                  <a:rPr lang="en-IN" sz="2400">
                    <a:solidFill>
                      <a:srgbClr val="111827"/>
                    </a:solidFill>
                    <a:latin typeface="Cambria Math" panose="02040503050406030204" pitchFamily="18" charset="0"/>
                  </a:rPr>
                  <a:t>$\times$</a:t>
                </a:r>
                <a:r>
                  <a:rPr sz="2400" b="0">
                    <a:solidFill>
                      <a:srgbClr val="111827"/>
                    </a:solidFill>
                    <a:latin typeface="Arial"/>
                  </a:rPr>
                  <a:t> weight </a:t>
                </a:r>
                <a:r>
                  <a:rPr lang="en-IN" sz="2400">
                    <a:solidFill>
                      <a:srgbClr val="111827"/>
                    </a:solidFill>
                    <a:latin typeface="Cambria Math" panose="02040503050406030204" pitchFamily="18" charset="0"/>
                  </a:rPr>
                  <a:t>$1\cdot1\cdot2$</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$\{0,2,2\}$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orders </a:t>
                </a:r>
                <a:r>
                  <a:rPr lang="en-IN" sz="2400">
                    <a:solidFill>
                      <a:srgbClr val="111827"/>
                    </a:solidFill>
                    <a:latin typeface="Cambria Math" panose="02040503050406030204" pitchFamily="18" charset="0"/>
                  </a:rPr>
                  <a:t>$\times$</a:t>
                </a:r>
                <a:r>
                  <a:rPr sz="2400" b="0">
                    <a:solidFill>
                      <a:srgbClr val="111827"/>
                    </a:solidFill>
                    <a:latin typeface="Arial"/>
                  </a:rPr>
                  <a:t> weight </a:t>
                </a:r>
                <a:r>
                  <a:rPr lang="en-IN" sz="2400">
                    <a:solidFill>
                      <a:srgbClr val="111827"/>
                    </a:solidFill>
                    <a:latin typeface="Cambria Math" panose="02040503050406030204" pitchFamily="18" charset="0"/>
                  </a:rPr>
                  <a:t>$1\cdot2\cdot2$</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$=3+6+12=21$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21</a:t>
            </a:r>
            <a:endParaRPr sz="2800">
              <a:solidFill>
                <a:srgbClr val="15803D"/>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digit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last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Residue-class counting replaces long digit lists: classify digits by remainder and weight each class by its size.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residues were equally weighted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digit strings), exactly one third would have any given residue sum; here the weights are unequal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out of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$3$</a:t>
                </a:r>
                <a:r>
                  <a:rPr sz="2400" b="0">
                    <a:solidFill>
                      <a:srgbClr val="111827"/>
                    </a:solidFill>
                    <a:latin typeface="Arial"/>
                  </a:rPr>
                  <a:t>: digit sum </a:t>
                </a:r>
                <a:r>
                  <a:rPr lang="en-IN" sz="2400">
                    <a:solidFill>
                      <a:srgbClr val="111827"/>
                    </a:solidFill>
                    <a:latin typeface="Cambria Math" panose="02040503050406030204" pitchFamily="18" charset="0"/>
                  </a:rPr>
                  <a:t>$\equiv0\pmod3$</a:t>
                </a:r>
                <a:r>
                  <a:rPr sz="2400" b="0">
                    <a:solidFill>
                      <a:srgbClr val="111827"/>
                    </a:solidFill>
                    <a:latin typeface="Arial"/>
                  </a:rPr>
                  <a:t>; by </a:t>
                </a:r>
                <a:r>
                  <a:rPr lang="en-IN" sz="2400">
                    <a:solidFill>
                      <a:srgbClr val="111827"/>
                    </a:solidFill>
                    <a:latin typeface="Cambria Math" panose="02040503050406030204" pitchFamily="18" charset="0"/>
                  </a:rPr>
                  <a:t>$5$</a:t>
                </a:r>
                <a:r>
                  <a:rPr sz="2400" b="0">
                    <a:solidFill>
                      <a:srgbClr val="111827"/>
                    </a:solidFill>
                    <a:latin typeface="Arial"/>
                  </a:rPr>
                  <a:t>: last digit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by </a:t>
                </a:r>
                <a:r>
                  <a:rPr lang="en-IN" sz="2400">
                    <a:solidFill>
                      <a:srgbClr val="111827"/>
                    </a:solidFill>
                    <a:latin typeface="Cambria Math" panose="02040503050406030204" pitchFamily="18" charset="0"/>
                  </a:rPr>
                  <a:t>$15$</a:t>
                </a:r>
                <a:r>
                  <a:rPr sz="2400" b="0">
                    <a:solidFill>
                      <a:srgbClr val="111827"/>
                    </a:solidFill>
                    <a:latin typeface="Arial"/>
                  </a:rPr>
                  <a:t>: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Residue-class counting replaces long digit lists: classify digits by remainder and weight each class by its size.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residues were equally weighted (</a:t>
                </a:r>
                <a:r>
                  <a:rPr lang="en-IN" sz="2400">
                    <a:solidFill>
                      <a:srgbClr val="111827"/>
                    </a:solidFill>
                    <a:latin typeface="Cambria Math" panose="02040503050406030204" pitchFamily="18" charset="0"/>
                  </a:rPr>
                  <a:t>$3^k$</a:t>
                </a:r>
                <a:r>
                  <a:rPr sz="2400" b="0">
                    <a:solidFill>
                      <a:srgbClr val="111827"/>
                    </a:solidFill>
                    <a:latin typeface="Arial"/>
                  </a:rPr>
                  <a:t> digit strings), exactly one third would have any given residue sum; here the weights are unequal (</a:t>
                </a:r>
                <a:r>
                  <a:rPr lang="en-IN" sz="2400">
                    <a:solidFill>
                      <a:srgbClr val="111827"/>
                    </a:solidFill>
                    <a:latin typeface="Cambria Math" panose="02040503050406030204" pitchFamily="18" charset="0"/>
                  </a:rPr>
                  <a:t>$1,1,2$</a:t>
                </a:r>
                <a:r>
                  <a:rPr sz="2400" b="0">
                    <a:solidFill>
                      <a:srgbClr val="111827"/>
                    </a:solidFill>
                    <a:latin typeface="Arial"/>
                  </a:rPr>
                  <a:t>), giving </a:t>
                </a:r>
                <a:r>
                  <a:rPr lang="en-IN" sz="2400">
                    <a:solidFill>
                      <a:srgbClr val="111827"/>
                    </a:solidFill>
                    <a:latin typeface="Cambria Math" panose="02040503050406030204" pitchFamily="18" charset="0"/>
                  </a:rPr>
                  <a:t>$21$</a:t>
                </a:r>
                <a:r>
                  <a:rPr sz="2400" b="0">
                    <a:solidFill>
                      <a:srgbClr val="111827"/>
                    </a:solidFill>
                    <a:latin typeface="Arial"/>
                  </a:rPr>
                  <a:t> out of </a:t>
                </a:r>
                <a:r>
                  <a:rPr lang="en-IN" sz="2400">
                    <a:solidFill>
                      <a:srgbClr val="111827"/>
                    </a:solidFill>
                    <a:latin typeface="Cambria Math" panose="02040503050406030204" pitchFamily="18" charset="0"/>
                  </a:rPr>
                  <a:t>$64$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seven digits odd numbers, that can be formed using all the seven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seven digits odd numbers, that can be formed using all the seven digits </a:t>
                </a:r>
                <a:r>
                  <a:rPr lang="en-IN" sz="2400">
                    <a:solidFill>
                      <a:srgbClr val="111827"/>
                    </a:solidFill>
                    <a:latin typeface="Cambria Math" panose="02040503050406030204" pitchFamily="18" charset="0"/>
                  </a:rPr>
                  <a:t>$1,2,2,2,3,3,5$</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identical objects with a last-place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odd number must end in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fix that digit and arrange the other six with repetition.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odd number must end in </a:t>
                </a:r>
                <a:r>
                  <a:rPr lang="en-IN" sz="2400">
                    <a:solidFill>
                      <a:srgbClr val="78350F"/>
                    </a:solidFill>
                    <a:latin typeface="Cambria Math" panose="02040503050406030204" pitchFamily="18" charset="0"/>
                  </a:rPr>
                  <a:t>$1,3$</a:t>
                </a:r>
                <a:r>
                  <a:rPr sz="2400" b="0">
                    <a:solidFill>
                      <a:srgbClr val="78350F"/>
                    </a:solidFill>
                    <a:latin typeface="Arial"/>
                  </a:rPr>
                  <a:t> or </a:t>
                </a:r>
                <a:r>
                  <a:rPr lang="en-IN" sz="2400">
                    <a:solidFill>
                      <a:srgbClr val="78350F"/>
                    </a:solidFill>
                    <a:latin typeface="Cambria Math" panose="02040503050406030204" pitchFamily="18" charset="0"/>
                  </a:rPr>
                  <a:t>$5$</a:t>
                </a:r>
                <a:r>
                  <a:rPr sz="2400" b="0">
                    <a:solidFill>
                      <a:srgbClr val="78350F"/>
                    </a:solidFill>
                    <a:latin typeface="Arial"/>
                  </a:rPr>
                  <a:t>; fix that digit and arrange the other six with repetition.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is odd when the last digit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in the other places: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is odd when the last digit is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r>
                  <a:rPr lang="en-IN" sz="2400">
                    <a:solidFill>
                      <a:srgbClr val="111827"/>
                    </a:solidFill>
                    <a:latin typeface="Cambria Math" panose="02040503050406030204" pitchFamily="18" charset="0"/>
                  </a:rPr>
                  <a:t>$1$</a:t>
                </a:r>
                <a:r>
                  <a:rPr sz="2400" b="0">
                    <a:solidFill>
                      <a:srgbClr val="111827"/>
                    </a:solidFill>
                    <a:latin typeface="Arial"/>
                  </a:rPr>
                  <a:t>: arrange </a:t>
                </a:r>
                <a:r>
                  <a:rPr lang="en-IN" sz="2400">
                    <a:solidFill>
                      <a:srgbClr val="111827"/>
                    </a:solidFill>
                    <a:latin typeface="Cambria Math" panose="02040503050406030204" pitchFamily="18" charset="0"/>
                  </a:rPr>
                  <a:t>$2,2,2,3,3,5$</a:t>
                </a:r>
                <a:r>
                  <a:rPr sz="2400" b="0">
                    <a:solidFill>
                      <a:srgbClr val="111827"/>
                    </a:solidFill>
                    <a:latin typeface="Arial"/>
                  </a:rPr>
                  <a:t> in the other places: </a:t>
                </a:r>
                <a:r>
                  <a:rPr lang="en-IN" sz="2400">
                    <a:solidFill>
                      <a:srgbClr val="111827"/>
                    </a:solidFill>
                    <a:latin typeface="Cambria Math" panose="02040503050406030204" pitchFamily="18" charset="0"/>
                  </a:rPr>
                  <a:t>$\frac{6!}{3!\,2!}=60$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r>
                  <a:rPr lang="en-IN" sz="2400">
                    <a:solidFill>
                      <a:srgbClr val="111827"/>
                    </a:solidFill>
                    <a:latin typeface="Cambria Math" panose="02040503050406030204" pitchFamily="18" charset="0"/>
                  </a:rPr>
                  <a:t>$3$</a:t>
                </a:r>
                <a:r>
                  <a:rPr sz="2400" b="0">
                    <a:solidFill>
                      <a:srgbClr val="111827"/>
                    </a:solidFill>
                    <a:latin typeface="Arial"/>
                  </a:rPr>
                  <a:t>: arrange </a:t>
                </a:r>
                <a:r>
                  <a:rPr lang="en-IN" sz="2400">
                    <a:solidFill>
                      <a:srgbClr val="111827"/>
                    </a:solidFill>
                    <a:latin typeface="Cambria Math" panose="02040503050406030204" pitchFamily="18" charset="0"/>
                  </a:rPr>
                  <a:t>$1,2,2,2,3,5$</a:t>
                </a:r>
                <a:r>
                  <a:rPr sz="2400" b="0">
                    <a:solidFill>
                      <a:srgbClr val="111827"/>
                    </a:solidFill>
                    <a:latin typeface="Arial"/>
                  </a:rPr>
                  <a:t>: </a:t>
                </a:r>
                <a:r>
                  <a:rPr lang="en-IN" sz="2400">
                    <a:solidFill>
                      <a:srgbClr val="111827"/>
                    </a:solidFill>
                    <a:latin typeface="Cambria Math" panose="02040503050406030204" pitchFamily="18" charset="0"/>
                  </a:rPr>
                  <a:t>$\frac{6!}{3!}=120$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Last digit </a:t>
                </a:r>
                <a:r>
                  <a:rPr lang="en-IN" sz="2400">
                    <a:solidFill>
                      <a:srgbClr val="111827"/>
                    </a:solidFill>
                    <a:latin typeface="Cambria Math" panose="02040503050406030204" pitchFamily="18" charset="0"/>
                  </a:rPr>
                  <a:t>$5$</a:t>
                </a:r>
                <a:r>
                  <a:rPr sz="2400" b="0">
                    <a:solidFill>
                      <a:srgbClr val="111827"/>
                    </a:solidFill>
                    <a:latin typeface="Arial"/>
                  </a:rPr>
                  <a:t>: arrange </a:t>
                </a:r>
                <a:r>
                  <a:rPr lang="en-IN" sz="2400">
                    <a:solidFill>
                      <a:srgbClr val="111827"/>
                    </a:solidFill>
                    <a:latin typeface="Cambria Math" panose="02040503050406030204" pitchFamily="18" charset="0"/>
                  </a:rPr>
                  <a:t>$1,2,2,2,3,3$</a:t>
                </a:r>
                <a:r>
                  <a:rPr sz="2400" b="0">
                    <a:solidFill>
                      <a:srgbClr val="111827"/>
                    </a:solidFill>
                    <a:latin typeface="Arial"/>
                  </a:rPr>
                  <a:t>: </a:t>
                </a:r>
                <a:r>
                  <a:rPr lang="en-IN" sz="2400">
                    <a:solidFill>
                      <a:srgbClr val="111827"/>
                    </a:solidFill>
                    <a:latin typeface="Cambria Math" panose="02040503050406030204" pitchFamily="18" charset="0"/>
                  </a:rPr>
                  <a:t>$\frac{6!}{3!\,2!}=60$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$=60+120+60=240$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240</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Symmetry: in all arrangements, each of the seven digit-copies is equally likely to be last.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arrangements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copies as distinguishable: each copy is last in the same fraction of arrangements, namely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digits present: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copies out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arrangements of </a:t>
                </a:r>
                <a:r>
                  <a:rPr lang="en-IN" sz="2400">
                    <a:solidFill>
                      <a:srgbClr val="111827"/>
                    </a:solidFill>
                    <a:latin typeface="Cambria Math" panose="02040503050406030204" pitchFamily="18" charset="0"/>
                  </a:rPr>
                  <a:t>$1,2,2,2,3,3,5$</a:t>
                </a:r>
                <a:r>
                  <a:rPr sz="2400" b="0">
                    <a:solidFill>
                      <a:srgbClr val="111827"/>
                    </a:solidFill>
                    <a:latin typeface="Arial"/>
                  </a:rPr>
                  <a:t>: </a:t>
                </a:r>
                <a:r>
                  <a:rPr lang="en-IN" sz="2400">
                    <a:solidFill>
                      <a:srgbClr val="111827"/>
                    </a:solidFill>
                    <a:latin typeface="Cambria Math" panose="02040503050406030204" pitchFamily="18" charset="0"/>
                  </a:rPr>
                  <a:t>$\frac{7!}{3!\,2!}=420$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copies as distinguishable: each copy is last in the same fraction of arrangements, namely </a:t>
                </a:r>
                <a:r>
                  <a:rPr lang="en-IN" sz="2400">
                    <a:solidFill>
                      <a:srgbClr val="111827"/>
                    </a:solidFill>
                    <a:latin typeface="Cambria Math" panose="02040503050406030204" pitchFamily="18" charset="0"/>
                  </a:rPr>
                  <a:t>$\frac17$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digits present: </a:t>
                </a:r>
                <a:r>
                  <a:rPr lang="en-IN" sz="2400">
                    <a:solidFill>
                      <a:srgbClr val="111827"/>
                    </a:solidFill>
                    <a:latin typeface="Cambria Math" panose="02040503050406030204" pitchFamily="18" charset="0"/>
                  </a:rPr>
                  <a:t>$1,3,3,5$</a:t>
                </a:r>
                <a:r>
                  <a:rPr sz="2400" b="0">
                    <a:solidFill>
                      <a:srgbClr val="111827"/>
                    </a:solidFill>
                    <a:latin typeface="Arial"/>
                  </a:rPr>
                  <a:t>, i.e. </a:t>
                </a:r>
                <a:r>
                  <a:rPr lang="en-IN" sz="2400">
                    <a:solidFill>
                      <a:srgbClr val="111827"/>
                    </a:solidFill>
                    <a:latin typeface="Cambria Math" panose="02040503050406030204" pitchFamily="18" charset="0"/>
                  </a:rPr>
                  <a:t>$4$</a:t>
                </a:r>
                <a:r>
                  <a:rPr sz="2400" b="0">
                    <a:solidFill>
                      <a:srgbClr val="111827"/>
                    </a:solidFill>
                    <a:latin typeface="Arial"/>
                  </a:rPr>
                  <a:t> copies out of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numbers </a:t>
                </a:r>
                <a:r>
                  <a:rPr lang="en-IN" sz="2400">
                    <a:solidFill>
                      <a:srgbClr val="111827"/>
                    </a:solidFill>
                    <a:latin typeface="Cambria Math" panose="02040503050406030204" pitchFamily="18" charset="0"/>
                  </a:rPr>
                  <a:t>$=420\times\frac47=240$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240</a:t>
            </a:r>
            <a:endParaRPr sz="2800">
              <a:solidFill>
                <a:srgbClr val="15803D"/>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arrangements of a multiset, the chance that a particular kind of object sits in a given place is (copies of that kind)</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Parity/divisibility conditions on the last place can be fixed first (last digit), then the rest arranged freely.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odd </a:t>
                </a:r>
                <a14:m>
                  <m:oMath xmlns:m="http://schemas.openxmlformats.org/officeDocument/2006/math">
                    <m:r>
                      <a:rPr lang="en-IN" sz="2400" i="1">
                        <a:solidFill>
                          <a:srgbClr val="111827"/>
                        </a:solidFill>
                        <a:latin typeface="Cambria Math" panose="02040503050406030204" pitchFamily="18" charset="0"/>
                      </a:rPr>
                      <m:t>240</m:t>
                    </m:r>
                  </m:oMath>
                </a14:m>
                <a:r>
                  <a:rPr sz="2400" b="0">
                    <a:solidFill>
                      <a:srgbClr val="111827"/>
                    </a:solidFill>
                    <a:latin typeface="Arial"/>
                  </a:rPr>
                  <a:t> plus even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ends the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420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arrangements of a multiset, the chance that a particular kind of object sits in a given place is (copies of that kind)</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Parity/divisibility conditions on the last place can be fixed first (last digit), then the rest arranged freely.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odd </a:t>
                </a:r>
                <a:r>
                  <a:rPr lang="en-IN" sz="2400">
                    <a:solidFill>
                      <a:srgbClr val="111827"/>
                    </a:solidFill>
                    <a:latin typeface="Cambria Math" panose="02040503050406030204" pitchFamily="18" charset="0"/>
                  </a:rPr>
                  <a:t>$240$</a:t>
                </a:r>
                <a:r>
                  <a:rPr sz="2400" b="0">
                    <a:solidFill>
                      <a:srgbClr val="111827"/>
                    </a:solidFill>
                    <a:latin typeface="Arial"/>
                  </a:rPr>
                  <a:t> plus even (</a:t>
                </a:r>
                <a:r>
                  <a:rPr lang="en-IN" sz="2400">
                    <a:solidFill>
                      <a:srgbClr val="111827"/>
                    </a:solidFill>
                    <a:latin typeface="Cambria Math" panose="02040503050406030204" pitchFamily="18" charset="0"/>
                  </a:rPr>
                  <a:t>$2$</a:t>
                </a:r>
                <a:r>
                  <a:rPr sz="2400" b="0">
                    <a:solidFill>
                      <a:srgbClr val="111827"/>
                    </a:solidFill>
                    <a:latin typeface="Arial"/>
                  </a:rPr>
                  <a:t> ends the number: </a:t>
                </a:r>
                <a:r>
                  <a:rPr lang="en-IN" sz="2400">
                    <a:solidFill>
                      <a:srgbClr val="111827"/>
                    </a:solidFill>
                    <a:latin typeface="Cambria Math" panose="02040503050406030204" pitchFamily="18" charset="0"/>
                  </a:rPr>
                  <a:t>$\frac{6!}{2!\,2!}=180$</a:t>
                </a:r>
                <a:r>
                  <a:rPr sz="2400" b="0">
                    <a:solidFill>
                      <a:srgbClr val="111827"/>
                    </a:solidFill>
                    <a:latin typeface="Arial"/>
                  </a:rPr>
                  <a:t>) equals </a:t>
                </a:r>
                <a:r>
                  <a:rPr lang="en-IN" sz="2400">
                    <a:solidFill>
                      <a:srgbClr val="111827"/>
                    </a:solidFill>
                    <a:latin typeface="Cambria Math" panose="02040503050406030204" pitchFamily="18" charset="0"/>
                  </a:rPr>
                  <a:t>$420$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digit numbers be constructed using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 repetition allowed, and are arranged in ascending order with serial numbers. Then the serial number of the number </a:t>
                </a:r>
                <a14:m>
                  <m:oMath xmlns:m="http://schemas.openxmlformats.org/officeDocument/2006/math">
                    <m:r>
                      <a:rPr lang="en-IN" sz="2400" i="1">
                        <a:solidFill>
                          <a:srgbClr val="111827"/>
                        </a:solidFill>
                        <a:latin typeface="Cambria Math" panose="02040503050406030204" pitchFamily="18" charset="0"/>
                      </a:rPr>
                      <m:t>42923</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$5$</a:t>
                </a:r>
                <a:r>
                  <a:rPr sz="2400" b="0">
                    <a:solidFill>
                      <a:srgbClr val="111827"/>
                    </a:solidFill>
                    <a:latin typeface="Arial"/>
                  </a:rPr>
                  <a:t> digit numbers be constructed using the digits </a:t>
                </a:r>
                <a:r>
                  <a:rPr lang="en-IN" sz="2400">
                    <a:solidFill>
                      <a:srgbClr val="111827"/>
                    </a:solidFill>
                    <a:latin typeface="Cambria Math" panose="02040503050406030204" pitchFamily="18" charset="0"/>
                  </a:rPr>
                  <a:t>$0,2,3,4,7,9$</a:t>
                </a:r>
                <a:r>
                  <a:rPr sz="2400" b="0">
                    <a:solidFill>
                      <a:srgbClr val="111827"/>
                    </a:solidFill>
                    <a:latin typeface="Arial"/>
                  </a:rPr>
                  <a:t> with repetition allowed, and are arranged in ascending order with serial numbers. Then the serial number of the number </a:t>
                </a:r>
                <a:r>
                  <a:rPr lang="en-IN" sz="2400">
                    <a:solidFill>
                      <a:srgbClr val="111827"/>
                    </a:solidFill>
                    <a:latin typeface="Cambria Math" panose="02040503050406030204" pitchFamily="18" charset="0"/>
                  </a:rPr>
                  <a:t>$42923$</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number in order (digits with repetition)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digit cannot be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so the blocks below </a:t>
                </a:r>
                <a14:m>
                  <m:oMath xmlns:m="http://schemas.openxmlformats.org/officeDocument/2006/math">
                    <m:r>
                      <a:rPr lang="en-IN" sz="2400" i="1">
                        <a:solidFill>
                          <a:srgbClr val="78350F"/>
                        </a:solidFill>
                        <a:latin typeface="Cambria Math" panose="02040503050406030204" pitchFamily="18" charset="0"/>
                      </a:rPr>
                      <m:t>42923</m:t>
                    </m:r>
                  </m:oMath>
                </a14:m>
                <a:r>
                  <a:rPr sz="2400" b="0">
                    <a:solidFill>
                      <a:srgbClr val="78350F"/>
                    </a:solidFill>
                    <a:latin typeface="Arial"/>
                  </a:rPr>
                  <a:t> are counted prefix by prefix with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choices per remaining place.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digit cannot be </a:t>
                </a:r>
                <a:r>
                  <a:rPr lang="en-IN" sz="2400">
                    <a:solidFill>
                      <a:srgbClr val="78350F"/>
                    </a:solidFill>
                    <a:latin typeface="Cambria Math" panose="02040503050406030204" pitchFamily="18" charset="0"/>
                  </a:rPr>
                  <a:t>$0$</a:t>
                </a:r>
                <a:r>
                  <a:rPr sz="2400" b="0">
                    <a:solidFill>
                      <a:srgbClr val="78350F"/>
                    </a:solidFill>
                    <a:latin typeface="Arial"/>
                  </a:rPr>
                  <a:t>, so the blocks below </a:t>
                </a:r>
                <a:r>
                  <a:rPr lang="en-IN" sz="2400">
                    <a:solidFill>
                      <a:srgbClr val="78350F"/>
                    </a:solidFill>
                    <a:latin typeface="Cambria Math" panose="02040503050406030204" pitchFamily="18" charset="0"/>
                  </a:rPr>
                  <a:t>$42923$</a:t>
                </a:r>
                <a:r>
                  <a:rPr sz="2400" b="0">
                    <a:solidFill>
                      <a:srgbClr val="78350F"/>
                    </a:solidFill>
                    <a:latin typeface="Arial"/>
                  </a:rPr>
                  <a:t> are counted prefix by prefix with </a:t>
                </a:r>
                <a:r>
                  <a:rPr lang="en-IN" sz="2400">
                    <a:solidFill>
                      <a:srgbClr val="78350F"/>
                    </a:solidFill>
                    <a:latin typeface="Cambria Math" panose="02040503050406030204" pitchFamily="18" charset="0"/>
                  </a:rPr>
                  <a:t>$6$</a:t>
                </a:r>
                <a:r>
                  <a:rPr sz="2400" b="0">
                    <a:solidFill>
                      <a:srgbClr val="78350F"/>
                    </a:solidFill>
                    <a:latin typeface="Arial"/>
                  </a:rPr>
                  <a:t> choices per remaining place.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-digit number cannot start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count numbers smaller than </a:t>
                </a:r>
                <a14:m>
                  <m:oMath xmlns:m="http://schemas.openxmlformats.org/officeDocument/2006/math">
                    <m:r>
                      <a:rPr lang="en-IN" sz="2400" i="1">
                        <a:solidFill>
                          <a:srgbClr val="111827"/>
                        </a:solidFill>
                        <a:latin typeface="Cambria Math" panose="02040503050406030204" pitchFamily="18" charset="0"/>
                      </a:rPr>
                      <m:t>42923</m:t>
                    </m:r>
                  </m:oMath>
                </a14:m>
                <a:r>
                  <a:rPr sz="2400" b="0">
                    <a:solidFill>
                      <a:srgbClr val="111827"/>
                    </a:solidFill>
                    <a:latin typeface="Arial"/>
                  </a:rPr>
                  <a:t> place by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 numbers. First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second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third digit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(smaller than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-digit number cannot start with </a:t>
                </a:r>
                <a:r>
                  <a:rPr lang="en-IN" sz="2400">
                    <a:solidFill>
                      <a:srgbClr val="111827"/>
                    </a:solidFill>
                    <a:latin typeface="Cambria Math" panose="02040503050406030204" pitchFamily="18" charset="0"/>
                  </a:rPr>
                  <a:t>$0$</a:t>
                </a:r>
                <a:r>
                  <a:rPr sz="2400" b="0">
                    <a:solidFill>
                      <a:srgbClr val="111827"/>
                    </a:solidFill>
                    <a:latin typeface="Arial"/>
                  </a:rPr>
                  <a:t>; count numbers smaller than </a:t>
                </a:r>
                <a:r>
                  <a:rPr lang="en-IN" sz="2400">
                    <a:solidFill>
                      <a:srgbClr val="111827"/>
                    </a:solidFill>
                    <a:latin typeface="Cambria Math" panose="02040503050406030204" pitchFamily="18" charset="0"/>
                  </a:rPr>
                  <a:t>$42923$</a:t>
                </a:r>
                <a:r>
                  <a:rPr sz="2400" b="0">
                    <a:solidFill>
                      <a:srgbClr val="111827"/>
                    </a:solidFill>
                    <a:latin typeface="Arial"/>
                  </a:rPr>
                  <a:t> place by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$6^4=1296$</a:t>
                </a:r>
                <a:r>
                  <a:rPr sz="2400" b="0">
                    <a:solidFill>
                      <a:srgbClr val="111827"/>
                    </a:solidFill>
                    <a:latin typeface="Arial"/>
                  </a:rPr>
                  <a:t> numbers. First digit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$6^4=1296$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$4$</a:t>
                </a:r>
                <a:r>
                  <a:rPr sz="2400" b="0">
                    <a:solidFill>
                      <a:srgbClr val="111827"/>
                    </a:solidFill>
                    <a:latin typeface="Arial"/>
                  </a:rPr>
                  <a:t>, second digit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$6^3=216$</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r>
                  <a:rPr lang="en-IN" sz="2400">
                    <a:solidFill>
                      <a:srgbClr val="111827"/>
                    </a:solidFill>
                    <a:latin typeface="Cambria Math" panose="02040503050406030204" pitchFamily="18" charset="0"/>
                  </a:rPr>
                  <a:t>$42$</a:t>
                </a:r>
                <a:r>
                  <a:rPr sz="2400" b="0">
                    <a:solidFill>
                      <a:srgbClr val="111827"/>
                    </a:solidFill>
                    <a:latin typeface="Arial"/>
                  </a:rPr>
                  <a:t>, third digit </a:t>
                </a:r>
                <a:r>
                  <a:rPr lang="en-IN" sz="2400">
                    <a:solidFill>
                      <a:srgbClr val="111827"/>
                    </a:solidFill>
                    <a:latin typeface="Cambria Math" panose="02040503050406030204" pitchFamily="18" charset="0"/>
                  </a:rPr>
                  <a:t>$0,2,3,4$</a:t>
                </a:r>
                <a:r>
                  <a:rPr sz="2400" b="0">
                    <a:solidFill>
                      <a:srgbClr val="111827"/>
                    </a:solidFill>
                    <a:latin typeface="Arial"/>
                  </a:rPr>
                  <a:t> or </a:t>
                </a:r>
                <a:r>
                  <a:rPr lang="en-IN" sz="2400">
                    <a:solidFill>
                      <a:srgbClr val="111827"/>
                    </a:solidFill>
                    <a:latin typeface="Cambria Math" panose="02040503050406030204" pitchFamily="18" charset="0"/>
                  </a:rPr>
                  <a:t>$7$</a:t>
                </a:r>
                <a:r>
                  <a:rPr sz="2400" b="0">
                    <a:solidFill>
                      <a:srgbClr val="111827"/>
                    </a:solidFill>
                    <a:latin typeface="Arial"/>
                  </a:rPr>
                  <a:t> (smaller than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$6^2=36$</a:t>
                </a:r>
                <a:r>
                  <a:rPr sz="2400" b="0">
                    <a:solidFill>
                      <a:srgbClr val="111827"/>
                    </a:solidFill>
                    <a:latin typeface="Arial"/>
                  </a:rPr>
                  <a:t> each, i.e. </a:t>
                </a:r>
                <a:r>
                  <a:rPr lang="en-IN" sz="2400">
                    <a:solidFill>
                      <a:srgbClr val="111827"/>
                    </a:solidFill>
                    <a:latin typeface="Cambria Math" panose="02040503050406030204" pitchFamily="18" charset="0"/>
                  </a:rPr>
                  <a:t>$5\times36=180$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14:m>
                  <m:oMath xmlns:m="http://schemas.openxmlformats.org/officeDocument/2006/math">
                    <m:r>
                      <a:rPr lang="en-IN" sz="2400" i="1">
                        <a:solidFill>
                          <a:srgbClr val="111827"/>
                        </a:solidFill>
                        <a:latin typeface="Cambria Math" panose="02040503050406030204" pitchFamily="18" charset="0"/>
                      </a:rPr>
                      <m:t>429</m:t>
                    </m:r>
                  </m:oMath>
                </a14:m>
                <a:r>
                  <a:rPr sz="2400" b="0">
                    <a:solidFill>
                      <a:srgbClr val="111827"/>
                    </a:solidFill>
                    <a:latin typeface="Arial"/>
                  </a:rPr>
                  <a:t>, fourth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14:m>
                  <m:oMath xmlns:m="http://schemas.openxmlformats.org/officeDocument/2006/math">
                    <m:r>
                      <a:rPr lang="en-IN" sz="2400" i="1">
                        <a:solidFill>
                          <a:srgbClr val="111827"/>
                        </a:solidFill>
                        <a:latin typeface="Cambria Math" panose="02040503050406030204" pitchFamily="18" charset="0"/>
                      </a:rPr>
                      <m:t>429</m:t>
                    </m:r>
                  </m:oMath>
                </a14:m>
                <a:r>
                  <a:rPr sz="2400" b="0">
                    <a:solidFill>
                      <a:srgbClr val="111827"/>
                    </a:solidFill>
                    <a:latin typeface="Arial"/>
                  </a:rPr>
                  <a:t>, fourth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fifth digit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42920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42922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42923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numbers, the last being the number itself).</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r>
                  <a:rPr lang="en-IN" sz="2400">
                    <a:solidFill>
                      <a:srgbClr val="111827"/>
                    </a:solidFill>
                    <a:latin typeface="Cambria Math" panose="02040503050406030204" pitchFamily="18" charset="0"/>
                  </a:rPr>
                  <a:t>$429$</a:t>
                </a:r>
                <a:r>
                  <a:rPr sz="2400" b="0">
                    <a:solidFill>
                      <a:srgbClr val="111827"/>
                    </a:solidFill>
                    <a:latin typeface="Arial"/>
                  </a:rPr>
                  <a:t>, fourth digit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digits </a:t>
                </a:r>
                <a:r>
                  <a:rPr lang="en-IN" sz="2400">
                    <a:solidFill>
                      <a:srgbClr val="111827"/>
                    </a:solidFill>
                    <a:latin typeface="Cambria Math" panose="02040503050406030204" pitchFamily="18" charset="0"/>
                  </a:rPr>
                  <a:t>$429$</a:t>
                </a:r>
                <a:r>
                  <a:rPr sz="2400" b="0">
                    <a:solidFill>
                      <a:srgbClr val="111827"/>
                    </a:solidFill>
                    <a:latin typeface="Arial"/>
                  </a:rPr>
                  <a:t>, fourth digit </a:t>
                </a:r>
                <a:r>
                  <a:rPr lang="en-IN" sz="2400">
                    <a:solidFill>
                      <a:srgbClr val="111827"/>
                    </a:solidFill>
                    <a:latin typeface="Cambria Math" panose="02040503050406030204" pitchFamily="18" charset="0"/>
                  </a:rPr>
                  <a:t>$2$</a:t>
                </a:r>
                <a:r>
                  <a:rPr sz="2400" b="0">
                    <a:solidFill>
                      <a:srgbClr val="111827"/>
                    </a:solidFill>
                    <a:latin typeface="Arial"/>
                  </a:rPr>
                  <a:t>: fifth digit </a:t>
                </a:r>
                <a:r>
                  <a:rPr lang="en-IN" sz="2400">
                    <a:solidFill>
                      <a:srgbClr val="111827"/>
                    </a:solidFill>
                    <a:latin typeface="Cambria Math" panose="02040503050406030204" pitchFamily="18" charset="0"/>
                  </a:rPr>
                  <a:t>$0,2$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gives </a:t>
                </a:r>
                <a:r>
                  <a:rPr lang="en-IN" sz="2400">
                    <a:solidFill>
                      <a:srgbClr val="111827"/>
                    </a:solidFill>
                    <a:latin typeface="Cambria Math" panose="02040503050406030204" pitchFamily="18" charset="0"/>
                  </a:rPr>
                  <a:t>$42920,42922,42923$</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numbers, the last being the number itself).</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r>
                  <a:rPr lang="en-IN" sz="2400">
                    <a:solidFill>
                      <a:srgbClr val="111827"/>
                    </a:solidFill>
                    <a:latin typeface="Cambria Math" panose="02040503050406030204" pitchFamily="18" charset="0"/>
                  </a:rPr>
                  <a:t>$=1296+1296+216+180+6+3=2997$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2997</a:t>
            </a:r>
            <a:endParaRPr sz="2800">
              <a:solidFill>
                <a:srgbClr val="15803D"/>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number as a base-</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numeral over the ordered digits, then remove the strings that start with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number as a base-</a:t>
                </a:r>
                <a:r>
                  <a:rPr lang="en-IN" sz="2400">
                    <a:solidFill>
                      <a:srgbClr val="78350F"/>
                    </a:solidFill>
                    <a:latin typeface="Cambria Math" panose="02040503050406030204" pitchFamily="18" charset="0"/>
                  </a:rPr>
                  <a:t>$6$</a:t>
                </a:r>
                <a:r>
                  <a:rPr sz="2400" b="0">
                    <a:solidFill>
                      <a:srgbClr val="78350F"/>
                    </a:solidFill>
                    <a:latin typeface="Arial"/>
                  </a:rPr>
                  <a:t> numeral over the ordered digits, then remove the strings that start with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 ranks in ascending order: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42923</m:t>
                    </m:r>
                  </m:oMath>
                </a14:m>
                <a:r>
                  <a:rPr sz="2400" b="0">
                    <a:solidFill>
                      <a:srgbClr val="111827"/>
                    </a:solidFill>
                    <a:latin typeface="Arial"/>
                  </a:rPr>
                  <a:t> has ranks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31512</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4292</m:t>
                    </m:r>
                  </m:oMath>
                </a14:m>
                <a:r>
                  <a:rPr sz="2400" b="0">
                    <a:solidFill>
                      <a:srgbClr val="111827"/>
                    </a:solidFill>
                    <a:latin typeface="Arial"/>
                  </a:rPr>
                  <a:t> strings (including those starting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are smaller than it.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 ranks in ascending order: </a:t>
                </a:r>
                <a:r>
                  <a:rPr lang="en-IN" sz="2400">
                    <a:solidFill>
                      <a:srgbClr val="111827"/>
                    </a:solidFill>
                    <a:latin typeface="Cambria Math" panose="02040503050406030204" pitchFamily="18" charset="0"/>
                  </a:rPr>
                  <a:t>$0\to0,\ 2\to1,\ 3\to2,\ 4\to3,\ 7\to4,\ 9\to5$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$42923$</a:t>
                </a:r>
                <a:r>
                  <a:rPr sz="2400" b="0">
                    <a:solidFill>
                      <a:srgbClr val="111827"/>
                    </a:solidFill>
                    <a:latin typeface="Arial"/>
                  </a:rPr>
                  <a:t> has ranks </a:t>
                </a:r>
                <a:r>
                  <a:rPr lang="en-IN" sz="2400">
                    <a:solidFill>
                      <a:srgbClr val="111827"/>
                    </a:solidFill>
                    <a:latin typeface="Cambria Math" panose="02040503050406030204" pitchFamily="18" charset="0"/>
                  </a:rPr>
                  <a:t>$3,1,5,1,2$</a:t>
                </a:r>
                <a:r>
                  <a:rPr sz="2400" b="0">
                    <a:solidFill>
                      <a:srgbClr val="111827"/>
                    </a:solidFill>
                    <a:latin typeface="Arial"/>
                  </a:rPr>
                  <a:t>, i.e. </a:t>
                </a:r>
                <a:r>
                  <a:rPr lang="en-IN" sz="2400">
                    <a:solidFill>
                      <a:srgbClr val="111827"/>
                    </a:solidFill>
                    <a:latin typeface="Cambria Math" panose="02040503050406030204" pitchFamily="18" charset="0"/>
                  </a:rPr>
                  <a:t>$(31512)_6=3\cdot1296+1\cdot216+5\cdot36+1\cdot6+2=4292$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$4292$</a:t>
                </a:r>
                <a:r>
                  <a:rPr sz="2400" b="0">
                    <a:solidFill>
                      <a:srgbClr val="111827"/>
                    </a:solidFill>
                    <a:latin typeface="Arial"/>
                  </a:rPr>
                  <a:t> strings (including those starting with </a:t>
                </a:r>
                <a:r>
                  <a:rPr lang="en-IN" sz="2400">
                    <a:solidFill>
                      <a:srgbClr val="111827"/>
                    </a:solidFill>
                    <a:latin typeface="Cambria Math" panose="02040503050406030204" pitchFamily="18" charset="0"/>
                  </a:rPr>
                  <a:t>$0$</a:t>
                </a:r>
                <a:r>
                  <a:rPr sz="2400" b="0">
                    <a:solidFill>
                      <a:srgbClr val="111827"/>
                    </a:solidFill>
                    <a:latin typeface="Arial"/>
                  </a:rPr>
                  <a:t>) are smaller than it.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Strings starting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 (they are not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-digit numbers). Valid numbers smaller than </a:t>
                </a:r>
                <a14:m>
                  <m:oMath xmlns:m="http://schemas.openxmlformats.org/officeDocument/2006/math">
                    <m:r>
                      <a:rPr lang="en-IN" sz="2400" i="1">
                        <a:solidFill>
                          <a:srgbClr val="111827"/>
                        </a:solidFill>
                        <a:latin typeface="Cambria Math" panose="02040503050406030204" pitchFamily="18" charset="0"/>
                      </a:rPr>
                      <m:t>42923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4292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2997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Strings starting with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$6^4=1296$</a:t>
                </a:r>
                <a:r>
                  <a:rPr sz="2400" b="0">
                    <a:solidFill>
                      <a:srgbClr val="111827"/>
                    </a:solidFill>
                    <a:latin typeface="Arial"/>
                  </a:rPr>
                  <a:t> (they are not </a:t>
                </a:r>
                <a:r>
                  <a:rPr lang="en-IN" sz="2400">
                    <a:solidFill>
                      <a:srgbClr val="111827"/>
                    </a:solidFill>
                    <a:latin typeface="Cambria Math" panose="02040503050406030204" pitchFamily="18" charset="0"/>
                  </a:rPr>
                  <a:t>$5$</a:t>
                </a:r>
                <a:r>
                  <a:rPr sz="2400" b="0">
                    <a:solidFill>
                      <a:srgbClr val="111827"/>
                    </a:solidFill>
                    <a:latin typeface="Arial"/>
                  </a:rPr>
                  <a:t>-digit numbers). Valid numbers smaller than </a:t>
                </a:r>
                <a:r>
                  <a:rPr lang="en-IN" sz="2400">
                    <a:solidFill>
                      <a:srgbClr val="111827"/>
                    </a:solidFill>
                    <a:latin typeface="Cambria Math" panose="02040503050406030204" pitchFamily="18" charset="0"/>
                  </a:rPr>
                  <a:t>$42923$</a:t>
                </a:r>
                <a:r>
                  <a:rPr sz="2400" b="0">
                    <a:solidFill>
                      <a:srgbClr val="111827"/>
                    </a:solidFill>
                    <a:latin typeface="Arial"/>
                  </a:rPr>
                  <a:t>: </a:t>
                </a:r>
                <a:r>
                  <a:rPr lang="en-IN" sz="2400">
                    <a:solidFill>
                      <a:srgbClr val="111827"/>
                    </a:solidFill>
                    <a:latin typeface="Cambria Math" panose="02040503050406030204" pitchFamily="18" charset="0"/>
                  </a:rPr>
                  <a:t>$4292-1296=2996$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r>
                  <a:rPr lang="en-IN" sz="2400">
                    <a:solidFill>
                      <a:srgbClr val="111827"/>
                    </a:solidFill>
                    <a:latin typeface="Cambria Math" panose="02040503050406030204" pitchFamily="18" charset="0"/>
                  </a:rPr>
                  <a:t>$=2996+1=2997$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2997</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allowed digits, an ascending list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-digit strings is a base-</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counting system: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value of the digit-rank string.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restriction on the first digit (no leading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handled by subtracting the strings that start with the forbidden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smallest valid number </a:t>
                </a:r>
                <a14:m>
                  <m:oMath xmlns:m="http://schemas.openxmlformats.org/officeDocument/2006/math">
                    <m:r>
                      <a:rPr lang="en-IN" sz="2400" i="1">
                        <a:solidFill>
                          <a:srgbClr val="111827"/>
                        </a:solidFill>
                        <a:latin typeface="Cambria Math" panose="02040503050406030204" pitchFamily="18" charset="0"/>
                      </a:rPr>
                      <m:t>20000</m:t>
                    </m:r>
                  </m:oMath>
                </a14:m>
                <a:r>
                  <a:rPr sz="2400" b="0">
                    <a:solidFill>
                      <a:srgbClr val="111827"/>
                    </a:solidFill>
                    <a:latin typeface="Arial"/>
                  </a:rPr>
                  <a:t> has digit ranks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 value </a:t>
                </a:r>
                <a14:m>
                  <m:oMath xmlns:m="http://schemas.openxmlformats.org/officeDocument/2006/math">
                    <m:r>
                      <a:rPr lang="en-IN" sz="2400" i="1">
                        <a:solidFill>
                          <a:srgbClr val="111827"/>
                        </a:solidFill>
                        <a:latin typeface="Cambria Math" panose="02040503050406030204" pitchFamily="18" charset="0"/>
                      </a:rPr>
                      <m:t>1296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$m$</a:t>
                </a:r>
                <a:r>
                  <a:rPr sz="2400" b="0">
                    <a:solidFill>
                      <a:srgbClr val="111827"/>
                    </a:solidFill>
                    <a:latin typeface="Arial"/>
                  </a:rPr>
                  <a:t> allowed digits, an ascending list of </a:t>
                </a:r>
                <a:r>
                  <a:rPr lang="en-IN" sz="2400">
                    <a:solidFill>
                      <a:srgbClr val="111827"/>
                    </a:solidFill>
                    <a:latin typeface="Cambria Math" panose="02040503050406030204" pitchFamily="18" charset="0"/>
                  </a:rPr>
                  <a:t>$k$</a:t>
                </a:r>
                <a:r>
                  <a:rPr sz="2400" b="0">
                    <a:solidFill>
                      <a:srgbClr val="111827"/>
                    </a:solidFill>
                    <a:latin typeface="Arial"/>
                  </a:rPr>
                  <a:t>-digit strings is a base-</a:t>
                </a:r>
                <a:r>
                  <a:rPr lang="en-IN" sz="2400">
                    <a:solidFill>
                      <a:srgbClr val="111827"/>
                    </a:solidFill>
                    <a:latin typeface="Cambria Math" panose="02040503050406030204" pitchFamily="18" charset="0"/>
                  </a:rPr>
                  <a:t>$m$</a:t>
                </a:r>
                <a:r>
                  <a:rPr sz="2400" b="0">
                    <a:solidFill>
                      <a:srgbClr val="111827"/>
                    </a:solidFill>
                    <a:latin typeface="Arial"/>
                  </a:rPr>
                  <a:t> counting system: rank </a:t>
                </a:r>
                <a:r>
                  <a:rPr lang="en-IN" sz="2400">
                    <a:solidFill>
                      <a:srgbClr val="111827"/>
                    </a:solidFill>
                    <a:latin typeface="Cambria Math" panose="02040503050406030204" pitchFamily="18" charset="0"/>
                  </a:rPr>
                  <a:t>$=1+$</a:t>
                </a:r>
                <a:r>
                  <a:rPr sz="2400" b="0">
                    <a:solidFill>
                      <a:srgbClr val="111827"/>
                    </a:solidFill>
                    <a:latin typeface="Arial"/>
                  </a:rPr>
                  <a:t> value of the digit-rank string.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restriction on the first digit (no leading </a:t>
                </a:r>
                <a:r>
                  <a:rPr lang="en-IN" sz="2400">
                    <a:solidFill>
                      <a:srgbClr val="111827"/>
                    </a:solidFill>
                    <a:latin typeface="Cambria Math" panose="02040503050406030204" pitchFamily="18" charset="0"/>
                  </a:rPr>
                  <a:t>$0$</a:t>
                </a:r>
                <a:r>
                  <a:rPr sz="2400" b="0">
                    <a:solidFill>
                      <a:srgbClr val="111827"/>
                    </a:solidFill>
                    <a:latin typeface="Arial"/>
                  </a:rPr>
                  <a:t>) is handled by subtracting the strings that start with the forbidden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smallest valid number </a:t>
                </a:r>
                <a:r>
                  <a:rPr lang="en-IN" sz="2400">
                    <a:solidFill>
                      <a:srgbClr val="111827"/>
                    </a:solidFill>
                    <a:latin typeface="Cambria Math" panose="02040503050406030204" pitchFamily="18" charset="0"/>
                  </a:rPr>
                  <a:t>$20000$</a:t>
                </a:r>
                <a:r>
                  <a:rPr sz="2400" b="0">
                    <a:solidFill>
                      <a:srgbClr val="111827"/>
                    </a:solidFill>
                    <a:latin typeface="Arial"/>
                  </a:rPr>
                  <a:t> has digit ranks </a:t>
                </a:r>
                <a:r>
                  <a:rPr lang="en-IN" sz="2400">
                    <a:solidFill>
                      <a:srgbClr val="111827"/>
                    </a:solidFill>
                    <a:latin typeface="Cambria Math" panose="02040503050406030204" pitchFamily="18" charset="0"/>
                  </a:rPr>
                  <a:t>$10000$</a:t>
                </a:r>
                <a:r>
                  <a:rPr sz="2400" b="0">
                    <a:solidFill>
                      <a:srgbClr val="111827"/>
                    </a:solidFill>
                    <a:latin typeface="Arial"/>
                  </a:rPr>
                  <a:t>, value </a:t>
                </a:r>
                <a:r>
                  <a:rPr lang="en-IN" sz="2400">
                    <a:solidFill>
                      <a:srgbClr val="111827"/>
                    </a:solidFill>
                    <a:latin typeface="Cambria Math" panose="02040503050406030204" pitchFamily="18" charset="0"/>
                  </a:rPr>
                  <a:t>$1296$</a:t>
                </a:r>
                <a:r>
                  <a:rPr sz="2400" b="0">
                    <a:solidFill>
                      <a:srgbClr val="111827"/>
                    </a:solidFill>
                    <a:latin typeface="Arial"/>
                  </a:rPr>
                  <a:t>, so </a:t>
                </a:r>
                <a:r>
                  <a:rPr lang="en-IN" sz="2400">
                    <a:solidFill>
                      <a:srgbClr val="111827"/>
                    </a:solidFill>
                    <a:latin typeface="Cambria Math" panose="02040503050406030204" pitchFamily="18" charset="0"/>
                  </a:rPr>
                  <a:t>$1296-1296+1=1$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words, with or without meaning, that can be formed using all the letters of the word ASSASSINATION so that the vowels occur together, is ______. [JEE(Main) Jan 2023]</a:t>
            </a:r>
            <a:endParaRPr sz="2400">
              <a:solidFill>
                <a:srgbClr val="111827"/>
              </a:solidFill>
            </a:endParaRPr>
          </a:p>
        </p:txBody>
      </p:sp>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repeated letters and letters kept together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the six vowels as one block; the block and the seven consonants make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objects.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the six vowels as one block; the block and the seven consonants make </a:t>
                </a:r>
                <a:r>
                  <a:rPr lang="en-IN" sz="2400">
                    <a:solidFill>
                      <a:srgbClr val="78350F"/>
                    </a:solidFill>
                    <a:latin typeface="Cambria Math" panose="02040503050406030204" pitchFamily="18" charset="0"/>
                  </a:rPr>
                  <a:t>$8$</a:t>
                </a:r>
                <a:r>
                  <a:rPr sz="2400" b="0">
                    <a:solidFill>
                      <a:srgbClr val="78350F"/>
                    </a:solidFill>
                    <a:latin typeface="Arial"/>
                  </a:rPr>
                  <a:t> objects.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Vowels: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letters). Consonants: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letters). Total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vowels as one block: block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consonants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objects with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repeated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times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these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objects: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Vowels: </a:t>
                </a:r>
                <a:r>
                  <a:rPr lang="en-IN" sz="2400">
                    <a:solidFill>
                      <a:srgbClr val="111827"/>
                    </a:solidFill>
                    <a:latin typeface="Cambria Math" panose="02040503050406030204" pitchFamily="18" charset="0"/>
                  </a:rPr>
                  <a:t>$A,A,A,I,I,O$</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letters). Consonants: </a:t>
                </a:r>
                <a:r>
                  <a:rPr lang="en-IN" sz="2400">
                    <a:solidFill>
                      <a:srgbClr val="111827"/>
                    </a:solidFill>
                    <a:latin typeface="Cambria Math" panose="02040503050406030204" pitchFamily="18" charset="0"/>
                  </a:rPr>
                  <a:t>$S,S,S,S,N,N,T$</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letters). Total </a:t>
                </a:r>
                <a:r>
                  <a:rPr lang="en-IN" sz="2400">
                    <a:solidFill>
                      <a:srgbClr val="111827"/>
                    </a:solidFill>
                    <a:latin typeface="Cambria Math" panose="02040503050406030204" pitchFamily="18" charset="0"/>
                  </a:rPr>
                  <a:t>$13$</a:t>
                </a:r>
                <a:r>
                  <a:rPr sz="2400" b="0">
                    <a:solidFill>
                      <a:srgbClr val="111827"/>
                    </a:solidFill>
                    <a:latin typeface="Arial"/>
                  </a:rPr>
                  <a: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vowels as one block: block </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consonants </a:t>
                </a:r>
                <a:r>
                  <a:rPr lang="en-IN" sz="2400">
                    <a:solidFill>
                      <a:srgbClr val="111827"/>
                    </a:solidFill>
                    <a:latin typeface="Cambria Math" panose="02040503050406030204" pitchFamily="18" charset="0"/>
                  </a:rPr>
                  <a:t>$=8$</a:t>
                </a:r>
                <a:r>
                  <a:rPr sz="2400" b="0">
                    <a:solidFill>
                      <a:srgbClr val="111827"/>
                    </a:solidFill>
                    <a:latin typeface="Arial"/>
                  </a:rPr>
                  <a:t> objects with </a:t>
                </a:r>
                <a:r>
                  <a:rPr lang="en-IN" sz="2400">
                    <a:solidFill>
                      <a:srgbClr val="111827"/>
                    </a:solidFill>
                    <a:latin typeface="Cambria Math" panose="02040503050406030204" pitchFamily="18" charset="0"/>
                  </a:rPr>
                  <a:t>$S$</a:t>
                </a:r>
                <a:r>
                  <a:rPr sz="2400" b="0">
                    <a:solidFill>
                      <a:srgbClr val="111827"/>
                    </a:solidFill>
                    <a:latin typeface="Arial"/>
                  </a:rPr>
                  <a:t> repeated </a:t>
                </a:r>
                <a:r>
                  <a:rPr lang="en-IN" sz="2400">
                    <a:solidFill>
                      <a:srgbClr val="111827"/>
                    </a:solidFill>
                    <a:latin typeface="Cambria Math" panose="02040503050406030204" pitchFamily="18" charset="0"/>
                  </a:rPr>
                  <a:t>$4$</a:t>
                </a:r>
                <a:r>
                  <a:rPr sz="2400" b="0">
                    <a:solidFill>
                      <a:srgbClr val="111827"/>
                    </a:solidFill>
                    <a:latin typeface="Arial"/>
                  </a:rPr>
                  <a:t> times and </a:t>
                </a:r>
                <a:r>
                  <a:rPr lang="en-IN" sz="2400">
                    <a:solidFill>
                      <a:srgbClr val="111827"/>
                    </a:solidFill>
                    <a:latin typeface="Cambria Math" panose="02040503050406030204" pitchFamily="18" charset="0"/>
                  </a:rPr>
                  <a:t>$N$</a:t>
                </a:r>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these </a:t>
                </a:r>
                <a:r>
                  <a:rPr lang="en-IN" sz="2400">
                    <a:solidFill>
                      <a:srgbClr val="111827"/>
                    </a:solidFill>
                    <a:latin typeface="Cambria Math" panose="02040503050406030204" pitchFamily="18" charset="0"/>
                  </a:rPr>
                  <a:t>$8$</a:t>
                </a:r>
                <a:r>
                  <a:rPr sz="2400" b="0">
                    <a:solidFill>
                      <a:srgbClr val="111827"/>
                    </a:solidFill>
                    <a:latin typeface="Arial"/>
                  </a:rPr>
                  <a:t> objects: </a:t>
                </a:r>
                <a:r>
                  <a:rPr lang="en-IN" sz="2400">
                    <a:solidFill>
                      <a:srgbClr val="111827"/>
                    </a:solidFill>
                    <a:latin typeface="Cambria Math" panose="02040503050406030204" pitchFamily="18" charset="0"/>
                  </a:rPr>
                  <a:t>$\frac{8!}{4!\,2!}=840$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 vowels inside the block: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the vowels together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 vowels inside the block: </a:t>
                </a:r>
                <a:r>
                  <a:rPr lang="en-IN" sz="2400">
                    <a:solidFill>
                      <a:srgbClr val="111827"/>
                    </a:solidFill>
                    <a:latin typeface="Cambria Math" panose="02040503050406030204" pitchFamily="18" charset="0"/>
                  </a:rPr>
                  <a:t>$\frac{6!}{3!\,2!}=60$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the vowels together </a:t>
                </a:r>
                <a:r>
                  <a:rPr lang="en-IN" sz="2400">
                    <a:solidFill>
                      <a:srgbClr val="111827"/>
                    </a:solidFill>
                    <a:latin typeface="Cambria Math" panose="02040503050406030204" pitchFamily="18" charset="0"/>
                  </a:rPr>
                  <a:t>$=840\times60=50400$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50400</a:t>
            </a:r>
            <a:endParaRPr sz="2800">
              <a:solidFill>
                <a:srgbClr val="15803D"/>
              </a:solidFil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Arrange the consonants first and drop the vowel block into one of the gaps.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consonants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leave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gaps (including both ends); the vowel block goes into exactly one gap: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 the vowels within the block: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a:t>
                </a:r>
                <a:r>
                  <a:rPr lang="en-IN" sz="2400">
                    <a:solidFill>
                      <a:srgbClr val="111827"/>
                    </a:solidFill>
                    <a:latin typeface="Cambria Math" panose="02040503050406030204" pitchFamily="18" charset="0"/>
                  </a:rPr>
                  <a:t>$7$</a:t>
                </a:r>
                <a:r>
                  <a:rPr sz="2400" b="0">
                    <a:solidFill>
                      <a:srgbClr val="111827"/>
                    </a:solidFill>
                    <a:latin typeface="Arial"/>
                  </a:rPr>
                  <a:t> consonants </a:t>
                </a:r>
                <a:r>
                  <a:rPr lang="en-IN" sz="2400">
                    <a:solidFill>
                      <a:srgbClr val="111827"/>
                    </a:solidFill>
                    <a:latin typeface="Cambria Math" panose="02040503050406030204" pitchFamily="18" charset="0"/>
                  </a:rPr>
                  <a:t>$S,S,S,S,N,N,T$</a:t>
                </a:r>
                <a:r>
                  <a:rPr sz="2400" b="0">
                    <a:solidFill>
                      <a:srgbClr val="111827"/>
                    </a:solidFill>
                    <a:latin typeface="Arial"/>
                  </a:rPr>
                  <a:t>: </a:t>
                </a:r>
                <a:r>
                  <a:rPr lang="en-IN" sz="2400">
                    <a:solidFill>
                      <a:srgbClr val="111827"/>
                    </a:solidFill>
                    <a:latin typeface="Cambria Math" panose="02040503050406030204" pitchFamily="18" charset="0"/>
                  </a:rPr>
                  <a:t>$\frac{7!}{4!\,2!}=105$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leave </a:t>
                </a:r>
                <a:r>
                  <a:rPr lang="en-IN" sz="2400">
                    <a:solidFill>
                      <a:srgbClr val="111827"/>
                    </a:solidFill>
                    <a:latin typeface="Cambria Math" panose="02040503050406030204" pitchFamily="18" charset="0"/>
                  </a:rPr>
                  <a:t>$8$</a:t>
                </a:r>
                <a:r>
                  <a:rPr sz="2400" b="0">
                    <a:solidFill>
                      <a:srgbClr val="111827"/>
                    </a:solidFill>
                    <a:latin typeface="Arial"/>
                  </a:rPr>
                  <a:t> gaps (including both ends); the vowel block goes into exactly one gap: </a:t>
                </a:r>
                <a:r>
                  <a:rPr lang="en-IN" sz="2400">
                    <a:solidFill>
                      <a:srgbClr val="111827"/>
                    </a:solidFill>
                    <a:latin typeface="Cambria Math" panose="02040503050406030204" pitchFamily="18" charset="0"/>
                  </a:rPr>
                  <a:t>$8$</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 the vowels within the block: </a:t>
                </a:r>
                <a:r>
                  <a:rPr lang="en-IN" sz="2400">
                    <a:solidFill>
                      <a:srgbClr val="111827"/>
                    </a:solidFill>
                    <a:latin typeface="Cambria Math" panose="02040503050406030204" pitchFamily="18" charset="0"/>
                  </a:rPr>
                  <a:t>$\frac{6!}{3!\,2!}=60$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$=105\times8\times60=50400$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50400</a:t>
            </a:r>
            <a:endParaRPr sz="2800">
              <a:solidFill>
                <a:srgbClr val="15803D"/>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together' means glue them into a block: (number of objects after gluing)!, divided by repeats, times arrangements inside the block.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group is to be kept together, its internal repeats are divided separately from the outside repeats.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Gap method: arrange the other letters first; a block can enter any of the (number of letters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gaps.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together' means glue them into a block: (number of objects after gluing)!, divided by repeats, times arrangements inside the block.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group is to be kept together, its internal repeats are divided separately from the outside repeats.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Gap method: arrange the other letters first; a block can enter any of the (number of letters </a:t>
                </a:r>
                <a:r>
                  <a:rPr lang="en-IN" sz="2400">
                    <a:solidFill>
                      <a:srgbClr val="111827"/>
                    </a:solidFill>
                    <a:latin typeface="Cambria Math" panose="02040503050406030204" pitchFamily="18" charset="0"/>
                  </a:rPr>
                  <a:t>$+1$</a:t>
                </a:r>
                <a:r>
                  <a:rPr sz="2400" b="0">
                    <a:solidFill>
                      <a:srgbClr val="111827"/>
                    </a:solidFill>
                    <a:latin typeface="Arial"/>
                  </a:rPr>
                  <a:t>) gaps.</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integral solutions to the equation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equal to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integral solutions to the equation </a:t>
                </a:r>
                <a:r>
                  <a:rPr lang="en-IN" sz="2400">
                    <a:solidFill>
                      <a:srgbClr val="111827"/>
                    </a:solidFill>
                    <a:latin typeface="Cambria Math" panose="02040503050406030204" pitchFamily="18" charset="0"/>
                  </a:rPr>
                  <a:t>$x+y+z=21$</a:t>
                </a:r>
                <a:r>
                  <a:rPr sz="2400" b="0">
                    <a:solidFill>
                      <a:srgbClr val="111827"/>
                    </a:solidFill>
                    <a:latin typeface="Arial"/>
                  </a:rPr>
                  <a:t>, where </a:t>
                </a:r>
                <a:r>
                  <a:rPr lang="en-IN" sz="2400">
                    <a:solidFill>
                      <a:srgbClr val="111827"/>
                    </a:solidFill>
                    <a:latin typeface="Cambria Math" panose="02040503050406030204" pitchFamily="18" charset="0"/>
                  </a:rPr>
                  <a:t>$x\ge1$</a:t>
                </a:r>
                <a:r>
                  <a:rPr sz="2400" b="0">
                    <a:solidFill>
                      <a:srgbClr val="111827"/>
                    </a:solidFill>
                    <a:latin typeface="Arial"/>
                  </a:rPr>
                  <a:t>, </a:t>
                </a:r>
                <a:r>
                  <a:rPr lang="en-IN" sz="2400">
                    <a:solidFill>
                      <a:srgbClr val="111827"/>
                    </a:solidFill>
                    <a:latin typeface="Cambria Math" panose="02040503050406030204" pitchFamily="18" charset="0"/>
                  </a:rPr>
                  <a:t>$y\ge3$</a:t>
                </a:r>
                <a:r>
                  <a:rPr sz="2400" b="0">
                    <a:solidFill>
                      <a:srgbClr val="111827"/>
                    </a:solidFill>
                    <a:latin typeface="Arial"/>
                  </a:rPr>
                  <a:t>, </a:t>
                </a:r>
                <a:r>
                  <a:rPr lang="en-IN" sz="2400">
                    <a:solidFill>
                      <a:srgbClr val="111827"/>
                    </a:solidFill>
                    <a:latin typeface="Cambria Math" panose="02040503050406030204" pitchFamily="18" charset="0"/>
                  </a:rPr>
                  <a:t>$z\ge4$</a:t>
                </a:r>
                <a:r>
                  <a:rPr sz="2400" b="0">
                    <a:solidFill>
                      <a:srgbClr val="111827"/>
                    </a:solidFill>
                    <a:latin typeface="Arial"/>
                  </a:rPr>
                  <a:t> is equal to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solutions of a linear equation with lower bounds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 equation becomes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$x=1+a,\ y=3+b,\ z=4+c$</a:t>
                </a:r>
                <a:r>
                  <a:rPr sz="2400" b="0">
                    <a:solidFill>
                      <a:srgbClr val="78350F"/>
                    </a:solidFill>
                    <a:latin typeface="Arial"/>
                  </a:rPr>
                  <a:t> with </a:t>
                </a:r>
                <a:r>
                  <a:rPr lang="en-IN" sz="2400">
                    <a:solidFill>
                      <a:srgbClr val="78350F"/>
                    </a:solidFill>
                    <a:latin typeface="Cambria Math" panose="02040503050406030204" pitchFamily="18" charset="0"/>
                  </a:rPr>
                  <a:t>$a,b,c\ge0$</a:t>
                </a:r>
                <a:r>
                  <a:rPr sz="2400" b="0">
                    <a:solidFill>
                      <a:srgbClr val="78350F"/>
                    </a:solidFill>
                    <a:latin typeface="Arial"/>
                  </a:rPr>
                  <a:t>; the equation becomes </a:t>
                </a:r>
                <a:r>
                  <a:rPr lang="en-IN" sz="2400">
                    <a:solidFill>
                      <a:srgbClr val="78350F"/>
                    </a:solidFill>
                    <a:latin typeface="Cambria Math" panose="02040503050406030204" pitchFamily="18" charset="0"/>
                  </a:rPr>
                  <a:t>$a+b+c=13$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non-negative integer solutions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$x=1+a$</a:t>
                </a:r>
                <a:r>
                  <a:rPr sz="2400" b="0">
                    <a:solidFill>
                      <a:srgbClr val="111827"/>
                    </a:solidFill>
                    <a:latin typeface="Arial"/>
                  </a:rPr>
                  <a:t>, </a:t>
                </a:r>
                <a:r>
                  <a:rPr lang="en-IN" sz="2400">
                    <a:solidFill>
                      <a:srgbClr val="111827"/>
                    </a:solidFill>
                    <a:latin typeface="Cambria Math" panose="02040503050406030204" pitchFamily="18" charset="0"/>
                  </a:rPr>
                  <a:t>$y=3+b$</a:t>
                </a:r>
                <a:r>
                  <a:rPr sz="2400" b="0">
                    <a:solidFill>
                      <a:srgbClr val="111827"/>
                    </a:solidFill>
                    <a:latin typeface="Arial"/>
                  </a:rPr>
                  <a:t>, </a:t>
                </a:r>
                <a:r>
                  <a:rPr lang="en-IN" sz="2400">
                    <a:solidFill>
                      <a:srgbClr val="111827"/>
                    </a:solidFill>
                    <a:latin typeface="Cambria Math" panose="02040503050406030204" pitchFamily="18" charset="0"/>
                  </a:rPr>
                  <a:t>$z=4+c$</a:t>
                </a:r>
                <a:r>
                  <a:rPr sz="2400" b="0">
                    <a:solidFill>
                      <a:srgbClr val="111827"/>
                    </a:solidFill>
                    <a:latin typeface="Arial"/>
                  </a:rPr>
                  <a:t> with </a:t>
                </a:r>
                <a:r>
                  <a:rPr lang="en-IN" sz="2400">
                    <a:solidFill>
                      <a:srgbClr val="111827"/>
                    </a:solidFill>
                    <a:latin typeface="Cambria Math" panose="02040503050406030204" pitchFamily="18" charset="0"/>
                  </a:rPr>
                  <a:t>$a,b,c\ge0$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$a+b+c=21-8=13$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non-negative integer solutions </a:t>
                </a:r>
                <a:r>
                  <a:rPr lang="en-IN" sz="2400">
                    <a:solidFill>
                      <a:srgbClr val="111827"/>
                    </a:solidFill>
                    <a:latin typeface="Cambria Math" panose="02040503050406030204" pitchFamily="18" charset="0"/>
                  </a:rPr>
                  <a:t>$={}^{13+3-1}C_{3-1}={}^{15}C_2$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${}^{15}C_2=\frac{15\times14}{2}=105$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105</a:t>
            </a:r>
            <a:endParaRPr sz="2800">
              <a:solidFill>
                <a:srgbClr val="15803D"/>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functions: each variable contributes a geometric series starting at its minimum.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solutions is the coefficient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21</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it equals the coefficient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solutions is the coefficient of </a:t>
                </a:r>
                <a:r>
                  <a:rPr lang="en-IN" sz="2400">
                    <a:solidFill>
                      <a:srgbClr val="111827"/>
                    </a:solidFill>
                    <a:latin typeface="Cambria Math" panose="02040503050406030204" pitchFamily="18" charset="0"/>
                  </a:rPr>
                  <a:t>$t^{21}$</a:t>
                </a:r>
                <a:r>
                  <a:rPr sz="2400" b="0">
                    <a:solidFill>
                      <a:srgbClr val="111827"/>
                    </a:solidFill>
                    <a:latin typeface="Arial"/>
                  </a:rPr>
                  <a:t> in </a:t>
                </a:r>
                <a:r>
                  <a:rPr lang="en-IN" sz="2400">
                    <a:solidFill>
                      <a:srgbClr val="111827"/>
                    </a:solidFill>
                    <a:latin typeface="Cambria Math" panose="02040503050406030204" pitchFamily="18" charset="0"/>
                  </a:rPr>
                  <a:t>$(t+t^2+\cdots)(t^3+t^4+\cdots)(t^4+t^5+\cdots)=\frac{t^8}{(1-t)^3}$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it equals the coefficient of </a:t>
                </a:r>
                <a:r>
                  <a:rPr lang="en-IN" sz="2400">
                    <a:solidFill>
                      <a:srgbClr val="111827"/>
                    </a:solidFill>
                    <a:latin typeface="Cambria Math" panose="02040503050406030204" pitchFamily="18" charset="0"/>
                  </a:rPr>
                  <a:t>$t^{13}$</a:t>
                </a:r>
                <a:r>
                  <a:rPr sz="2400" b="0">
                    <a:solidFill>
                      <a:srgbClr val="111827"/>
                    </a:solidFill>
                    <a:latin typeface="Arial"/>
                  </a:rPr>
                  <a:t> in </a:t>
                </a:r>
                <a:r>
                  <a:rPr lang="en-IN" sz="2400">
                    <a:solidFill>
                      <a:srgbClr val="111827"/>
                    </a:solidFill>
                    <a:latin typeface="Cambria Math" panose="02040503050406030204" pitchFamily="18" charset="0"/>
                  </a:rPr>
                  <a:t>$(1-t)^{-3}=\sum\binom{r+2}{2}t^r$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$=\binom{15}{2}=105$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105</a:t>
            </a:r>
            <a:endParaRPr sz="2800">
              <a:solidFill>
                <a:srgbClr val="15803D"/>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Non-negative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with lower bounds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replace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Upper bounds need inclusion-exclusion: subtract solutions with some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 the generating-function form of the same result.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Non-negative solutions of </a:t>
                </a:r>
                <a:r>
                  <a:rPr lang="en-IN" sz="2400">
                    <a:solidFill>
                      <a:srgbClr val="111827"/>
                    </a:solidFill>
                    <a:latin typeface="Cambria Math" panose="02040503050406030204" pitchFamily="18" charset="0"/>
                  </a:rPr>
                  <a:t>$x_1+\dots+x_k=n$</a:t>
                </a:r>
                <a:r>
                  <a:rPr sz="2400" b="0">
                    <a:solidFill>
                      <a:srgbClr val="111827"/>
                    </a:solidFill>
                    <a:latin typeface="Arial"/>
                  </a:rPr>
                  <a:t>: </a:t>
                </a:r>
                <a:r>
                  <a:rPr lang="en-IN" sz="2400">
                    <a:solidFill>
                      <a:srgbClr val="111827"/>
                    </a:solidFill>
                    <a:latin typeface="Cambria Math" panose="02040503050406030204" pitchFamily="18" charset="0"/>
                  </a:rPr>
                  <a:t>$\binom{n+k-1}{k-1}$</a:t>
                </a:r>
                <a:r>
                  <a:rPr sz="2400" b="0">
                    <a:solidFill>
                      <a:srgbClr val="111827"/>
                    </a:solidFill>
                    <a:latin typeface="Arial"/>
                  </a:rPr>
                  <a:t>; with lower bounds </a:t>
                </a:r>
                <a:r>
                  <a:rPr lang="en-IN" sz="2400">
                    <a:solidFill>
                      <a:srgbClr val="111827"/>
                    </a:solidFill>
                    <a:latin typeface="Cambria Math" panose="02040503050406030204" pitchFamily="18" charset="0"/>
                  </a:rPr>
                  <a:t>$m_i$</a:t>
                </a:r>
                <a:r>
                  <a:rPr sz="2400" b="0">
                    <a:solidFill>
                      <a:srgbClr val="111827"/>
                    </a:solidFill>
                    <a:latin typeface="Arial"/>
                  </a:rPr>
                  <a:t>, replace </a:t>
                </a:r>
                <a:r>
                  <a:rPr lang="en-IN" sz="2400">
                    <a:solidFill>
                      <a:srgbClr val="111827"/>
                    </a:solidFill>
                    <a:latin typeface="Cambria Math" panose="02040503050406030204" pitchFamily="18" charset="0"/>
                  </a:rPr>
                  <a:t>$n$</a:t>
                </a:r>
                <a:r>
                  <a:rPr sz="2400" b="0">
                    <a:solidFill>
                      <a:srgbClr val="111827"/>
                    </a:solidFill>
                    <a:latin typeface="Arial"/>
                  </a:rPr>
                  <a:t> by </a:t>
                </a:r>
                <a:r>
                  <a:rPr lang="en-IN" sz="2400">
                    <a:solidFill>
                      <a:srgbClr val="111827"/>
                    </a:solidFill>
                    <a:latin typeface="Cambria Math" panose="02040503050406030204" pitchFamily="18" charset="0"/>
                  </a:rPr>
                  <a:t>$n-\sum m_i$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Upper bounds need inclusion-exclusion: subtract solutions with some </a:t>
                </a:r>
                <a:r>
                  <a:rPr lang="en-IN" sz="2400">
                    <a:solidFill>
                      <a:srgbClr val="111827"/>
                    </a:solidFill>
                    <a:latin typeface="Cambria Math" panose="02040503050406030204" pitchFamily="18" charset="0"/>
                  </a:rPr>
                  <a:t>$x_i\ge u_i+1$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$t^r$</a:t>
                </a:r>
                <a:r>
                  <a:rPr sz="2400" b="0">
                    <a:solidFill>
                      <a:srgbClr val="111827"/>
                    </a:solidFill>
                    <a:latin typeface="Arial"/>
                  </a:rPr>
                  <a:t> in </a:t>
                </a:r>
                <a:r>
                  <a:rPr lang="en-IN" sz="2400">
                    <a:solidFill>
                      <a:srgbClr val="111827"/>
                    </a:solidFill>
                    <a:latin typeface="Cambria Math" panose="02040503050406030204" pitchFamily="18" charset="0"/>
                  </a:rPr>
                  <a:t>$(1-t)^{-k}$</a:t>
                </a:r>
                <a:r>
                  <a:rPr sz="2400" b="0">
                    <a:solidFill>
                      <a:srgbClr val="111827"/>
                    </a:solidFill>
                    <a:latin typeface="Arial"/>
                  </a:rPr>
                  <a:t> is </a:t>
                </a:r>
                <a:r>
                  <a:rPr lang="en-IN" sz="2400">
                    <a:solidFill>
                      <a:srgbClr val="111827"/>
                    </a:solidFill>
                    <a:latin typeface="Cambria Math" panose="02040503050406030204" pitchFamily="18" charset="0"/>
                  </a:rPr>
                  <a:t>$\binom{r+k-1}{k-1}$</a:t>
                </a:r>
                <a:r>
                  <a:rPr sz="2400" b="0">
                    <a:solidFill>
                      <a:srgbClr val="111827"/>
                    </a:solidFill>
                    <a:latin typeface="Arial"/>
                  </a:rPr>
                  <a:t> - the generating-function form of the same result.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six digit numbers, formed using the digits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only and 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is ______. [JEE(Main) Jan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six digit numbers, formed using the digits </a:t>
                </a:r>
                <a:r>
                  <a:rPr lang="en-IN" sz="2400">
                    <a:solidFill>
                      <a:srgbClr val="111827"/>
                    </a:solidFill>
                    <a:latin typeface="Cambria Math" panose="02040503050406030204" pitchFamily="18" charset="0"/>
                  </a:rPr>
                  <a:t>$4,5,9$</a:t>
                </a:r>
                <a:r>
                  <a:rPr sz="2400" b="0">
                    <a:solidFill>
                      <a:srgbClr val="111827"/>
                    </a:solidFill>
                    <a:latin typeface="Arial"/>
                  </a:rPr>
                  <a:t> only and divisible by </a:t>
                </a:r>
                <a:r>
                  <a:rPr lang="en-IN" sz="2400">
                    <a:solidFill>
                      <a:srgbClr val="111827"/>
                    </a:solidFill>
                    <a:latin typeface="Cambria Math" panose="02040503050406030204" pitchFamily="18" charset="0"/>
                  </a:rPr>
                  <a:t>$6$</a:t>
                </a:r>
                <a:r>
                  <a:rPr sz="2400" b="0">
                    <a:solidFill>
                      <a:srgbClr val="111827"/>
                    </a:solidFill>
                    <a:latin typeface="Arial"/>
                  </a:rPr>
                  <a:t>, is ______. [JEE(Main) Jan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6 in digit counting (parity and digit sum)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is even, so the last digit is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the digit sum then forces one more place once the others are free.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a:t>
                </a:r>
                <a:r>
                  <a:rPr lang="en-IN" sz="2400">
                    <a:solidFill>
                      <a:srgbClr val="78350F"/>
                    </a:solidFill>
                    <a:latin typeface="Cambria Math" panose="02040503050406030204" pitchFamily="18" charset="0"/>
                  </a:rPr>
                  <a:t>$4$</a:t>
                </a:r>
                <a:r>
                  <a:rPr sz="2400" b="0">
                    <a:solidFill>
                      <a:srgbClr val="78350F"/>
                    </a:solidFill>
                    <a:latin typeface="Arial"/>
                  </a:rPr>
                  <a:t> is even, so the last digit is </a:t>
                </a:r>
                <a:r>
                  <a:rPr lang="en-IN" sz="2400">
                    <a:solidFill>
                      <a:srgbClr val="78350F"/>
                    </a:solidFill>
                    <a:latin typeface="Cambria Math" panose="02040503050406030204" pitchFamily="18" charset="0"/>
                  </a:rPr>
                  <a:t>$4$</a:t>
                </a:r>
                <a:r>
                  <a:rPr sz="2400" b="0">
                    <a:solidFill>
                      <a:srgbClr val="78350F"/>
                    </a:solidFill>
                    <a:latin typeface="Arial"/>
                  </a:rPr>
                  <a:t>; the digit sum then forces one more place once the others are free.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means even and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only even digit available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the unit digit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digit sum must be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leave remainders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division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$6$</a:t>
                </a:r>
                <a:r>
                  <a:rPr sz="2400" b="0">
                    <a:solidFill>
                      <a:srgbClr val="111827"/>
                    </a:solidFill>
                    <a:latin typeface="Arial"/>
                  </a:rPr>
                  <a:t> means even and divisible by </a:t>
                </a:r>
                <a:r>
                  <a:rPr lang="en-IN" sz="2400">
                    <a:solidFill>
                      <a:srgbClr val="111827"/>
                    </a:solidFill>
                    <a:latin typeface="Cambria Math" panose="02040503050406030204" pitchFamily="18" charset="0"/>
                  </a:rPr>
                  <a:t>$3$</a:t>
                </a:r>
                <a:r>
                  <a:rPr sz="2400" b="0">
                    <a:solidFill>
                      <a:srgbClr val="111827"/>
                    </a:solidFill>
                    <a:latin typeface="Arial"/>
                  </a:rPr>
                  <a:t>. The only even digit available is </a:t>
                </a:r>
                <a:r>
                  <a:rPr lang="en-IN" sz="2400">
                    <a:solidFill>
                      <a:srgbClr val="111827"/>
                    </a:solidFill>
                    <a:latin typeface="Cambria Math" panose="02040503050406030204" pitchFamily="18" charset="0"/>
                  </a:rPr>
                  <a:t>$4$</a:t>
                </a:r>
                <a:r>
                  <a:rPr sz="2400" b="0">
                    <a:solidFill>
                      <a:srgbClr val="111827"/>
                    </a:solidFill>
                    <a:latin typeface="Arial"/>
                  </a:rPr>
                  <a:t>, so the unit digit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digit sum must be divisible by </a:t>
                </a:r>
                <a:r>
                  <a:rPr lang="en-IN" sz="2400">
                    <a:solidFill>
                      <a:srgbClr val="111827"/>
                    </a:solidFill>
                    <a:latin typeface="Cambria Math" panose="02040503050406030204" pitchFamily="18" charset="0"/>
                  </a:rPr>
                  <a:t>$3$</a:t>
                </a:r>
                <a:r>
                  <a:rPr sz="2400" b="0">
                    <a:solidFill>
                      <a:srgbClr val="111827"/>
                    </a:solidFill>
                    <a:latin typeface="Arial"/>
                  </a:rPr>
                  <a:t>. Digits </a:t>
                </a:r>
                <a:r>
                  <a:rPr lang="en-IN" sz="2400">
                    <a:solidFill>
                      <a:srgbClr val="111827"/>
                    </a:solidFill>
                    <a:latin typeface="Cambria Math" panose="02040503050406030204" pitchFamily="18" charset="0"/>
                  </a:rPr>
                  <a:t>$4,5,9$</a:t>
                </a:r>
                <a:r>
                  <a:rPr sz="2400" b="0">
                    <a:solidFill>
                      <a:srgbClr val="111827"/>
                    </a:solidFill>
                    <a:latin typeface="Arial"/>
                  </a:rPr>
                  <a:t> leave remainders </a:t>
                </a:r>
                <a:r>
                  <a:rPr lang="en-IN" sz="2400">
                    <a:solidFill>
                      <a:srgbClr val="111827"/>
                    </a:solidFill>
                    <a:latin typeface="Cambria Math" panose="02040503050406030204" pitchFamily="18" charset="0"/>
                  </a:rPr>
                  <a:t>$1,2,0$</a:t>
                </a:r>
                <a:r>
                  <a:rPr sz="2400" b="0">
                    <a:solidFill>
                      <a:srgbClr val="111827"/>
                    </a:solidFill>
                    <a:latin typeface="Arial"/>
                  </a:rPr>
                  <a:t> on division by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any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 the first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 freely: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options each, i.e.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ways; the remaining one place then has exactly one admissible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six-digit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any </a:t>
                </a:r>
                <a:r>
                  <a:rPr lang="en-IN" sz="2400">
                    <a:solidFill>
                      <a:srgbClr val="111827"/>
                    </a:solidFill>
                    <a:latin typeface="Cambria Math" panose="02040503050406030204" pitchFamily="18" charset="0"/>
                  </a:rPr>
                  <a:t>$4$</a:t>
                </a:r>
                <a:r>
                  <a:rPr sz="2400" b="0">
                    <a:solidFill>
                      <a:srgbClr val="111827"/>
                    </a:solidFill>
                    <a:latin typeface="Arial"/>
                  </a:rPr>
                  <a:t> of the first </a:t>
                </a:r>
                <a:r>
                  <a:rPr lang="en-IN" sz="2400">
                    <a:solidFill>
                      <a:srgbClr val="111827"/>
                    </a:solidFill>
                    <a:latin typeface="Cambria Math" panose="02040503050406030204" pitchFamily="18" charset="0"/>
                  </a:rPr>
                  <a:t>$5$</a:t>
                </a:r>
                <a:r>
                  <a:rPr sz="2400" b="0">
                    <a:solidFill>
                      <a:srgbClr val="111827"/>
                    </a:solidFill>
                    <a:latin typeface="Arial"/>
                  </a:rPr>
                  <a:t> places freely: </a:t>
                </a:r>
                <a:r>
                  <a:rPr lang="en-IN" sz="2400">
                    <a:solidFill>
                      <a:srgbClr val="111827"/>
                    </a:solidFill>
                    <a:latin typeface="Cambria Math" panose="02040503050406030204" pitchFamily="18" charset="0"/>
                  </a:rPr>
                  <a:t>$3$</a:t>
                </a:r>
                <a:r>
                  <a:rPr sz="2400" b="0">
                    <a:solidFill>
                      <a:srgbClr val="111827"/>
                    </a:solidFill>
                    <a:latin typeface="Arial"/>
                  </a:rPr>
                  <a:t> options each, i.e. </a:t>
                </a:r>
                <a:r>
                  <a:rPr lang="en-IN" sz="2400">
                    <a:solidFill>
                      <a:srgbClr val="111827"/>
                    </a:solidFill>
                    <a:latin typeface="Cambria Math" panose="02040503050406030204" pitchFamily="18" charset="0"/>
                  </a:rPr>
                  <a:t>$3^4$</a:t>
                </a:r>
                <a:r>
                  <a:rPr sz="2400" b="0">
                    <a:solidFill>
                      <a:srgbClr val="111827"/>
                    </a:solidFill>
                    <a:latin typeface="Arial"/>
                  </a:rPr>
                  <a:t> ways; the remaining one place then has exactly one admissible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six-digit numbers </a:t>
                </a:r>
                <a:r>
                  <a:rPr lang="en-IN" sz="2400">
                    <a:solidFill>
                      <a:srgbClr val="111827"/>
                    </a:solidFill>
                    <a:latin typeface="Cambria Math" panose="02040503050406030204" pitchFamily="18" charset="0"/>
                  </a:rPr>
                  <a:t>$=3\cdot3\cdot3\cdot3\cdot1=81$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81</a:t>
            </a:r>
            <a:endParaRPr sz="2800">
              <a:solidFill>
                <a:srgbClr val="15803D"/>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Equidistribution of residues: the first five digits give each residue sum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equally often.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Equidistribution of residues: the first five digits give each residue sum mod </a:t>
                </a:r>
                <a:r>
                  <a:rPr lang="en-IN" sz="2400">
                    <a:solidFill>
                      <a:srgbClr val="78350F"/>
                    </a:solidFill>
                    <a:latin typeface="Cambria Math" panose="02040503050406030204" pitchFamily="18" charset="0"/>
                  </a:rPr>
                  <a:t>$3$</a:t>
                </a:r>
                <a:r>
                  <a:rPr sz="2400" b="0">
                    <a:solidFill>
                      <a:srgbClr val="78350F"/>
                    </a:solidFill>
                    <a:latin typeface="Arial"/>
                  </a:rPr>
                  <a:t> equally often.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unit digit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(remainder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first five digits must have remainder-sum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strings of first five digits: the last of them can be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 remainders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all different, so for any first four digits exactly one choice makes the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exactly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243</m:t>
                    </m:r>
                  </m:oMath>
                </a14:m>
                <a:r>
                  <a:rPr sz="2400" b="0">
                    <a:solidFill>
                      <a:srgbClr val="111827"/>
                    </a:solidFill>
                    <a:latin typeface="Arial"/>
                  </a:rPr>
                  <a:t> strings qualify: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unit digit is </a:t>
                </a:r>
                <a:r>
                  <a:rPr lang="en-IN" sz="2400">
                    <a:solidFill>
                      <a:srgbClr val="111827"/>
                    </a:solidFill>
                    <a:latin typeface="Cambria Math" panose="02040503050406030204" pitchFamily="18" charset="0"/>
                  </a:rPr>
                  <a:t>$4$</a:t>
                </a:r>
                <a:r>
                  <a:rPr sz="2400" b="0">
                    <a:solidFill>
                      <a:srgbClr val="111827"/>
                    </a:solidFill>
                    <a:latin typeface="Arial"/>
                  </a:rPr>
                  <a:t> (remainder </a:t>
                </a:r>
                <a:r>
                  <a:rPr lang="en-IN" sz="2400">
                    <a:solidFill>
                      <a:srgbClr val="111827"/>
                    </a:solidFill>
                    <a:latin typeface="Cambria Math" panose="02040503050406030204" pitchFamily="18" charset="0"/>
                  </a:rPr>
                  <a:t>$1$</a:t>
                </a:r>
                <a:r>
                  <a:rPr sz="2400" b="0">
                    <a:solidFill>
                      <a:srgbClr val="111827"/>
                    </a:solidFill>
                    <a:latin typeface="Arial"/>
                  </a:rPr>
                  <a:t>); the first five digits must have remainder-sum </a:t>
                </a:r>
                <a:r>
                  <a:rPr lang="en-IN" sz="2400">
                    <a:solidFill>
                      <a:srgbClr val="111827"/>
                    </a:solidFill>
                    <a:latin typeface="Cambria Math" panose="02040503050406030204" pitchFamily="18" charset="0"/>
                  </a:rPr>
                  <a:t>$\equiv2\pmod3$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$3^5=243$</a:t>
                </a:r>
                <a:r>
                  <a:rPr sz="2400" b="0">
                    <a:solidFill>
                      <a:srgbClr val="111827"/>
                    </a:solidFill>
                    <a:latin typeface="Arial"/>
                  </a:rPr>
                  <a:t> strings of first five digits: the last of them can be </a:t>
                </a:r>
                <a:r>
                  <a:rPr lang="en-IN" sz="2400">
                    <a:solidFill>
                      <a:srgbClr val="111827"/>
                    </a:solidFill>
                    <a:latin typeface="Cambria Math" panose="02040503050406030204" pitchFamily="18" charset="0"/>
                  </a:rPr>
                  <a:t>$4,5,9$</a:t>
                </a:r>
                <a:r>
                  <a:rPr sz="2400" b="0">
                    <a:solidFill>
                      <a:srgbClr val="111827"/>
                    </a:solidFill>
                    <a:latin typeface="Arial"/>
                  </a:rPr>
                  <a:t> with remainders </a:t>
                </a:r>
                <a:r>
                  <a:rPr lang="en-IN" sz="2400">
                    <a:solidFill>
                      <a:srgbClr val="111827"/>
                    </a:solidFill>
                    <a:latin typeface="Cambria Math" panose="02040503050406030204" pitchFamily="18" charset="0"/>
                  </a:rPr>
                  <a:t>$1,2,0$</a:t>
                </a:r>
                <a:r>
                  <a:rPr sz="2400" b="0">
                    <a:solidFill>
                      <a:srgbClr val="111827"/>
                    </a:solidFill>
                    <a:latin typeface="Arial"/>
                  </a:rPr>
                  <a:t>, all different, so for any first four digits exactly one choice makes the sum </a:t>
                </a:r>
                <a:r>
                  <a:rPr lang="en-IN" sz="2400">
                    <a:solidFill>
                      <a:srgbClr val="111827"/>
                    </a:solidFill>
                    <a:latin typeface="Cambria Math" panose="02040503050406030204" pitchFamily="18" charset="0"/>
                  </a:rPr>
                  <a:t>$\equiv2$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exactly </a:t>
                </a:r>
                <a:r>
                  <a:rPr lang="en-IN" sz="2400">
                    <a:solidFill>
                      <a:srgbClr val="111827"/>
                    </a:solidFill>
                    <a:latin typeface="Cambria Math" panose="02040503050406030204" pitchFamily="18" charset="0"/>
                  </a:rPr>
                  <a:t>$\frac13$</a:t>
                </a:r>
                <a:r>
                  <a:rPr sz="2400" b="0">
                    <a:solidFill>
                      <a:srgbClr val="111827"/>
                    </a:solidFill>
                    <a:latin typeface="Arial"/>
                  </a:rPr>
                  <a:t> of the </a:t>
                </a:r>
                <a:r>
                  <a:rPr lang="en-IN" sz="2400">
                    <a:solidFill>
                      <a:srgbClr val="111827"/>
                    </a:solidFill>
                    <a:latin typeface="Cambria Math" panose="02040503050406030204" pitchFamily="18" charset="0"/>
                  </a:rPr>
                  <a:t>$243$</a:t>
                </a:r>
                <a:r>
                  <a:rPr sz="2400" b="0">
                    <a:solidFill>
                      <a:srgbClr val="111827"/>
                    </a:solidFill>
                    <a:latin typeface="Arial"/>
                  </a:rPr>
                  <a:t> strings qualify: </a:t>
                </a:r>
                <a:r>
                  <a:rPr lang="en-IN" sz="2400">
                    <a:solidFill>
                      <a:srgbClr val="111827"/>
                    </a:solidFill>
                    <a:latin typeface="Cambria Math" panose="02040503050406030204" pitchFamily="18" charset="0"/>
                  </a:rPr>
                  <a:t>$\frac{243}{3}=81$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81</a:t>
            </a:r>
            <a:endParaRPr sz="2800">
              <a:solidFill>
                <a:srgbClr val="15803D"/>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digit set contains one digit from each residue class mod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exactly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of all strings have digit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even last digit plus digit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fix the last digit first, then use the mod-</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closure on the free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evenness condition the count would be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digit set contains one digit from each residue class mod </a:t>
                </a:r>
                <a:r>
                  <a:rPr lang="en-IN" sz="2400">
                    <a:solidFill>
                      <a:srgbClr val="111827"/>
                    </a:solidFill>
                    <a:latin typeface="Cambria Math" panose="02040503050406030204" pitchFamily="18" charset="0"/>
                  </a:rPr>
                  <a:t>$3$</a:t>
                </a:r>
                <a:r>
                  <a:rPr sz="2400" b="0">
                    <a:solidFill>
                      <a:srgbClr val="111827"/>
                    </a:solidFill>
                    <a:latin typeface="Arial"/>
                  </a:rPr>
                  <a:t>, exactly </a:t>
                </a:r>
                <a:r>
                  <a:rPr lang="en-IN" sz="2400">
                    <a:solidFill>
                      <a:srgbClr val="111827"/>
                    </a:solidFill>
                    <a:latin typeface="Cambria Math" panose="02040503050406030204" pitchFamily="18" charset="0"/>
                  </a:rPr>
                  <a:t>$\frac13$</a:t>
                </a:r>
                <a:r>
                  <a:rPr sz="2400" b="0">
                    <a:solidFill>
                      <a:srgbClr val="111827"/>
                    </a:solidFill>
                    <a:latin typeface="Arial"/>
                  </a:rPr>
                  <a:t> of all strings have digit sum divisible by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$6$</a:t>
                </a:r>
                <a:r>
                  <a:rPr sz="2400" b="0">
                    <a:solidFill>
                      <a:srgbClr val="111827"/>
                    </a:solidFill>
                    <a:latin typeface="Arial"/>
                  </a:rPr>
                  <a:t>: even last digit plus digit sum divisible by </a:t>
                </a:r>
                <a:r>
                  <a:rPr lang="en-IN" sz="2400">
                    <a:solidFill>
                      <a:srgbClr val="111827"/>
                    </a:solidFill>
                    <a:latin typeface="Cambria Math" panose="02040503050406030204" pitchFamily="18" charset="0"/>
                  </a:rPr>
                  <a:t>$3$</a:t>
                </a:r>
                <a:r>
                  <a:rPr sz="2400" b="0">
                    <a:solidFill>
                      <a:srgbClr val="111827"/>
                    </a:solidFill>
                    <a:latin typeface="Arial"/>
                  </a:rPr>
                  <a:t>; fix the last digit first, then use the mod-</a:t>
                </a:r>
                <a:r>
                  <a:rPr lang="en-IN" sz="2400">
                    <a:solidFill>
                      <a:srgbClr val="111827"/>
                    </a:solidFill>
                    <a:latin typeface="Cambria Math" panose="02040503050406030204" pitchFamily="18" charset="0"/>
                  </a:rPr>
                  <a:t>$3$</a:t>
                </a:r>
                <a:r>
                  <a:rPr sz="2400" b="0">
                    <a:solidFill>
                      <a:srgbClr val="111827"/>
                    </a:solidFill>
                    <a:latin typeface="Arial"/>
                  </a:rPr>
                  <a:t> closure on the free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evenness condition the count would be </a:t>
                </a:r>
                <a:r>
                  <a:rPr lang="en-IN" sz="2400">
                    <a:solidFill>
                      <a:srgbClr val="111827"/>
                    </a:solidFill>
                    <a:latin typeface="Cambria Math" panose="02040503050406030204" pitchFamily="18" charset="0"/>
                  </a:rPr>
                  <a:t>$\frac{3^6}{3}=243$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Q17 – 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the ratio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${}^{2n}C_3:{}^nC_3=10:1$</a:t>
                </a:r>
                <a:r>
                  <a:rPr sz="2400" b="0">
                    <a:solidFill>
                      <a:srgbClr val="111827"/>
                    </a:solidFill>
                    <a:latin typeface="Arial"/>
                  </a:rPr>
                  <a:t>, then the ratio </a:t>
                </a:r>
                <a:r>
                  <a:rPr lang="en-IN" sz="2400">
                    <a:solidFill>
                      <a:srgbClr val="111827"/>
                    </a:solidFill>
                    <a:latin typeface="Cambria Math" panose="02040503050406030204" pitchFamily="18" charset="0"/>
                  </a:rPr>
                  <a:t>$(n^2+3n):(n^2-3n+4)$</a:t>
                </a:r>
                <a:r>
                  <a:rPr sz="2400" b="0">
                    <a:solidFill>
                      <a:srgbClr val="111827"/>
                    </a:solidFill>
                    <a:latin typeface="Arial"/>
                  </a:rPr>
                  <a:t>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$35:16$</a:t>
                </a:r>
                <a:r>
                  <a:rPr sz="2400" b="0">
                    <a:solidFill>
                      <a:srgbClr val="111827"/>
                    </a:solidFill>
                    <a:latin typeface="Arial"/>
                  </a:rPr>
                  <a:t>   (B) </a:t>
                </a:r>
                <a:r>
                  <a:rPr lang="en-IN" sz="2400">
                    <a:solidFill>
                      <a:srgbClr val="111827"/>
                    </a:solidFill>
                    <a:latin typeface="Cambria Math" panose="02040503050406030204" pitchFamily="18" charset="0"/>
                  </a:rPr>
                  <a:t>$27:11$</a:t>
                </a:r>
                <a:r>
                  <a:rPr sz="2400" b="0">
                    <a:solidFill>
                      <a:srgbClr val="111827"/>
                    </a:solidFill>
                    <a:latin typeface="Arial"/>
                  </a:rPr>
                  <a:t>   (C) </a:t>
                </a:r>
                <a:r>
                  <a:rPr lang="en-IN" sz="2400">
                    <a:solidFill>
                      <a:srgbClr val="111827"/>
                    </a:solidFill>
                    <a:latin typeface="Cambria Math" panose="02040503050406030204" pitchFamily="18" charset="0"/>
                  </a:rPr>
                  <a:t>$2:1$</a:t>
                </a:r>
                <a:r>
                  <a:rPr sz="2400" b="0">
                    <a:solidFill>
                      <a:srgbClr val="111827"/>
                    </a:solidFill>
                    <a:latin typeface="Arial"/>
                  </a:rPr>
                  <a:t>   (D) </a:t>
                </a:r>
                <a:r>
                  <a:rPr lang="en-IN" sz="2400">
                    <a:solidFill>
                      <a:srgbClr val="111827"/>
                    </a:solidFill>
                    <a:latin typeface="Cambria Math" panose="02040503050406030204" pitchFamily="18" charset="0"/>
                  </a:rPr>
                  <a:t>$65:37$</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formula and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Combinations </a:t>
                </a:r>
                <a:r>
                  <a:rPr lang="en-IN" sz="2400">
                    <a:solidFill>
                      <a:srgbClr val="111827"/>
                    </a:solidFill>
                    <a:latin typeface="Cambria Math" panose="02040503050406030204" pitchFamily="18" charset="0"/>
                  </a:rPr>
                  <a:t>${}^nC_r$</a:t>
                </a:r>
                <a:r>
                  <a:rPr sz="2400" b="0">
                    <a:solidFill>
                      <a:srgbClr val="111827"/>
                    </a:solidFill>
                    <a:latin typeface="Arial"/>
                  </a:rPr>
                  <a:t>: formula and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simplifies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 a linear equation after clearing.</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${}^{2n}C_3/{}^nC_3$</a:t>
                </a:r>
                <a:r>
                  <a:rPr sz="2400" b="0">
                    <a:solidFill>
                      <a:srgbClr val="78350F"/>
                    </a:solidFill>
                    <a:latin typeface="Arial"/>
                  </a:rPr>
                  <a:t> simplifies to </a:t>
                </a:r>
                <a:r>
                  <a:rPr lang="en-IN" sz="2400">
                    <a:solidFill>
                      <a:srgbClr val="78350F"/>
                    </a:solidFill>
                    <a:latin typeface="Cambria Math" panose="02040503050406030204" pitchFamily="18" charset="0"/>
                  </a:rPr>
                  <a:t>$\frac{4(2n-1)}{n-2}$</a:t>
                </a:r>
                <a:r>
                  <a:rPr sz="2400" b="0">
                    <a:solidFill>
                      <a:srgbClr val="78350F"/>
                    </a:solidFill>
                    <a:latin typeface="Arial"/>
                  </a:rPr>
                  <a:t>, a linear equation after clearing.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Cancelling,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${}^{2n}C_3:{}^nC_3=10:1$</a:t>
                </a:r>
                <a:r>
                  <a:rPr sz="2400" b="0">
                    <a:solidFill>
                      <a:srgbClr val="111827"/>
                    </a:solidFill>
                    <a:latin typeface="Arial"/>
                  </a:rPr>
                  <a:t> gives </a:t>
                </a:r>
                <a:r>
                  <a:rPr lang="en-IN" sz="2400">
                    <a:solidFill>
                      <a:srgbClr val="111827"/>
                    </a:solidFill>
                    <a:latin typeface="Cambria Math" panose="02040503050406030204" pitchFamily="18" charset="0"/>
                  </a:rPr>
                  <a:t>$\frac{(2n)!}{3!\,(2n-3)!}\times\frac{3!\,(n-3)!}{n!}=10$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Cancelling, </a:t>
                </a:r>
                <a:r>
                  <a:rPr lang="en-IN" sz="2400">
                    <a:solidFill>
                      <a:srgbClr val="111827"/>
                    </a:solidFill>
                    <a:latin typeface="Cambria Math" panose="02040503050406030204" pitchFamily="18" charset="0"/>
                  </a:rPr>
                  <a:t>$\frac{2n(2n-1)(2n-2)}{n(n-1)(n-2)}=\frac{4(2n-1)}{n-2}=10$</a:t>
                </a:r>
                <a:r>
                  <a:rPr sz="2400" b="0">
                    <a:solidFill>
                      <a:srgbClr val="111827"/>
                    </a:solidFill>
                    <a:latin typeface="Arial"/>
                  </a:rPr>
                  <a:t>, so </a:t>
                </a:r>
                <a:r>
                  <a:rPr lang="en-IN" sz="2400">
                    <a:solidFill>
                      <a:srgbClr val="111827"/>
                    </a:solidFill>
                    <a:latin typeface="Cambria Math" panose="02040503050406030204" pitchFamily="18" charset="0"/>
                  </a:rPr>
                  <a:t>$4(2n-1)=10n-20$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$8n-4=10n-20$</a:t>
                </a:r>
                <a:r>
                  <a:rPr sz="2400" b="0">
                    <a:solidFill>
                      <a:srgbClr val="111827"/>
                    </a:solidFill>
                    <a:latin typeface="Arial"/>
                  </a:rPr>
                  <a:t> and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44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ratio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$n^2+3n=64+24=88$</a:t>
                </a:r>
                <a:r>
                  <a:rPr sz="2400" b="0">
                    <a:solidFill>
                      <a:srgbClr val="111827"/>
                    </a:solidFill>
                    <a:latin typeface="Arial"/>
                  </a:rPr>
                  <a:t> and </a:t>
                </a:r>
                <a:r>
                  <a:rPr lang="en-IN" sz="2400">
                    <a:solidFill>
                      <a:srgbClr val="111827"/>
                    </a:solidFill>
                    <a:latin typeface="Cambria Math" panose="02040503050406030204" pitchFamily="18" charset="0"/>
                  </a:rPr>
                  <a:t>$n^2-3n+4=64-24+4=44$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$\frac{88}{44}=2$</a:t>
                </a:r>
                <a:r>
                  <a:rPr sz="2400" b="0">
                    <a:solidFill>
                      <a:srgbClr val="111827"/>
                    </a:solidFill>
                    <a:latin typeface="Arial"/>
                  </a:rPr>
                  <a:t>, so the ratio is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2:1</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first: write the ratio as </a:t>
                </a:r>
                <a14:m>
                  <m:oMath xmlns:m="http://schemas.openxmlformats.org/officeDocument/2006/math">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 and read off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immediately.</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first: write the ratio as </a:t>
                </a:r>
                <a:r>
                  <a:rPr lang="en-IN" sz="2400">
                    <a:solidFill>
                      <a:srgbClr val="78350F"/>
                    </a:solidFill>
                    <a:latin typeface="Cambria Math" panose="02040503050406030204" pitchFamily="18" charset="0"/>
                  </a:rPr>
                  <a:t>$8+\frac{12}{n-2}$</a:t>
                </a:r>
                <a:r>
                  <a:rPr sz="2400" b="0">
                    <a:solidFill>
                      <a:srgbClr val="78350F"/>
                    </a:solidFill>
                    <a:latin typeface="Arial"/>
                  </a:rPr>
                  <a:t> and read off </a:t>
                </a:r>
                <a:r>
                  <a:rPr lang="en-IN" sz="2400">
                    <a:solidFill>
                      <a:srgbClr val="78350F"/>
                    </a:solidFill>
                    <a:latin typeface="Cambria Math" panose="02040503050406030204" pitchFamily="18" charset="0"/>
                  </a:rPr>
                  <a:t>$n$</a:t>
                </a:r>
                <a:r>
                  <a:rPr sz="2400" b="0">
                    <a:solidFill>
                      <a:srgbClr val="78350F"/>
                    </a:solidFill>
                    <a:latin typeface="Arial"/>
                  </a:rPr>
                  <a:t> immediately.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this equal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ratio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$\frac{4(2n-1)}{n-2}=\frac{8(n-2)+12}{n-2}=8+\frac{12}{n-2}$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this equal to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$\frac{12}{n-2}=2$</a:t>
                </a:r>
                <a:r>
                  <a:rPr sz="2400" b="0">
                    <a:solidFill>
                      <a:srgbClr val="111827"/>
                    </a:solidFill>
                    <a:latin typeface="Arial"/>
                  </a:rPr>
                  <a:t>, so </a:t>
                </a:r>
                <a:r>
                  <a:rPr lang="en-IN" sz="2400">
                    <a:solidFill>
                      <a:srgbClr val="111827"/>
                    </a:solidFill>
                    <a:latin typeface="Cambria Math" panose="02040503050406030204" pitchFamily="18" charset="0"/>
                  </a:rPr>
                  <a:t>$n-2=6$</a:t>
                </a:r>
                <a:r>
                  <a:rPr sz="2400" b="0">
                    <a:solidFill>
                      <a:srgbClr val="111827"/>
                    </a:solidFill>
                    <a:latin typeface="Arial"/>
                  </a:rPr>
                  <a:t> and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${}^{16}C_3=560$</a:t>
                </a:r>
                <a:r>
                  <a:rPr sz="2400" b="0">
                    <a:solidFill>
                      <a:srgbClr val="111827"/>
                    </a:solidFill>
                    <a:latin typeface="Arial"/>
                  </a:rPr>
                  <a:t> and </a:t>
                </a:r>
                <a:r>
                  <a:rPr lang="en-IN" sz="2400">
                    <a:solidFill>
                      <a:srgbClr val="111827"/>
                    </a:solidFill>
                    <a:latin typeface="Cambria Math" panose="02040503050406030204" pitchFamily="18" charset="0"/>
                  </a:rPr>
                  <a:t>${}^8C_3=56$</a:t>
                </a:r>
                <a:r>
                  <a:rPr sz="2400" b="0">
                    <a:solidFill>
                      <a:srgbClr val="111827"/>
                    </a:solidFill>
                    <a:latin typeface="Arial"/>
                  </a:rPr>
                  <a:t>, ratio </a:t>
                </a:r>
                <a:r>
                  <a:rPr lang="en-IN" sz="2400">
                    <a:solidFill>
                      <a:srgbClr val="111827"/>
                    </a:solidFill>
                    <a:latin typeface="Cambria Math" panose="02040503050406030204" pitchFamily="18" charset="0"/>
                  </a:rPr>
                  <a:t>$10:1$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$n=8$</a:t>
                </a:r>
                <a:r>
                  <a:rPr sz="2400" b="0">
                    <a:solidFill>
                      <a:srgbClr val="111827"/>
                    </a:solidFill>
                    <a:latin typeface="Arial"/>
                  </a:rPr>
                  <a:t>: </a:t>
                </a:r>
                <a:r>
                  <a:rPr lang="en-IN" sz="2400">
                    <a:solidFill>
                      <a:srgbClr val="111827"/>
                    </a:solidFill>
                    <a:latin typeface="Cambria Math" panose="02040503050406030204" pitchFamily="18" charset="0"/>
                  </a:rPr>
                  <a:t>$88:44=2:1$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2:1</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den>
                    </m:f>
                  </m:oMath>
                </a14:m>
                <a:r>
                  <a:rPr sz="2400" b="0">
                    <a:solidFill>
                      <a:srgbClr val="111827"/>
                    </a:solidFill>
                    <a:latin typeface="Arial"/>
                  </a:rPr>
                  <a:t> is a rational function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cancel the factors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 numerator and denominator before solving.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 a fast way to solve equations of this form.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with the actual binomial values (here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$\dfrac{{}^{2n}C_r}{{}^nC_r}$</a:t>
                </a:r>
                <a:r>
                  <a:rPr sz="2400" b="0">
                    <a:solidFill>
                      <a:srgbClr val="111827"/>
                    </a:solidFill>
                    <a:latin typeface="Arial"/>
                  </a:rPr>
                  <a:t> is a rational function of </a:t>
                </a:r>
                <a:r>
                  <a:rPr lang="en-IN" sz="2400">
                    <a:solidFill>
                      <a:srgbClr val="111827"/>
                    </a:solidFill>
                    <a:latin typeface="Cambria Math" panose="02040503050406030204" pitchFamily="18" charset="0"/>
                  </a:rPr>
                  <a:t>$n$</a:t>
                </a:r>
                <a:r>
                  <a:rPr sz="2400" b="0">
                    <a:solidFill>
                      <a:srgbClr val="111827"/>
                    </a:solidFill>
                    <a:latin typeface="Arial"/>
                  </a:rPr>
                  <a:t>; cancel the factors of </a:t>
                </a:r>
                <a:r>
                  <a:rPr lang="en-IN" sz="2400">
                    <a:solidFill>
                      <a:srgbClr val="111827"/>
                    </a:solidFill>
                    <a:latin typeface="Cambria Math" panose="02040503050406030204" pitchFamily="18" charset="0"/>
                  </a:rPr>
                  <a:t>$n$</a:t>
                </a:r>
                <a:r>
                  <a:rPr sz="2400" b="0">
                    <a:solidFill>
                      <a:srgbClr val="111827"/>
                    </a:solidFill>
                    <a:latin typeface="Arial"/>
                  </a:rPr>
                  <a:t> in numerator and denominator before solving.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t>
                </a:r>
                <a:r>
                  <a:rPr lang="en-IN" sz="2400">
                    <a:solidFill>
                      <a:srgbClr val="111827"/>
                    </a:solidFill>
                    <a:latin typeface="Cambria Math" panose="02040503050406030204" pitchFamily="18" charset="0"/>
                  </a:rPr>
                  <a:t>$\frac{ax+b}{x-c}$</a:t>
                </a:r>
                <a:r>
                  <a:rPr sz="2400" b="0">
                    <a:solidFill>
                      <a:srgbClr val="111827"/>
                    </a:solidFill>
                    <a:latin typeface="Arial"/>
                  </a:rPr>
                  <a:t> to </a:t>
                </a:r>
                <a:r>
                  <a:rPr lang="en-IN" sz="2400">
                    <a:solidFill>
                      <a:srgbClr val="111827"/>
                    </a:solidFill>
                    <a:latin typeface="Cambria Math" panose="02040503050406030204" pitchFamily="18" charset="0"/>
                  </a:rPr>
                  <a:t>$a+\frac{b+ac}{x-c}$</a:t>
                </a:r>
                <a:r>
                  <a:rPr sz="2400" b="0">
                    <a:solidFill>
                      <a:srgbClr val="111827"/>
                    </a:solidFill>
                    <a:latin typeface="Arial"/>
                  </a:rPr>
                  <a:t>: a fast way to solve equations of this form.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with the actual binomial values (here </a:t>
                </a:r>
                <a:r>
                  <a:rPr lang="en-IN" sz="2400">
                    <a:solidFill>
                      <a:srgbClr val="111827"/>
                    </a:solidFill>
                    <a:latin typeface="Cambria Math" panose="02040503050406030204" pitchFamily="18" charset="0"/>
                  </a:rPr>
                  <a:t>${}^{16}C_3:{}^8C_3=560:56$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the letters of the word PUBLIC are written in all possible orders and these words are written as in a dictionary with serial numbers. Then the serial number of the word PUBLIC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576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582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578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580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the letters of the word PUBLIC are written in all possible orders and these words are written as in a dictionary with serial numbers. Then the serial number of the word PUBLIC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$576$</a:t>
                </a:r>
                <a:r>
                  <a:rPr sz="2400" b="0">
                    <a:solidFill>
                      <a:srgbClr val="111827"/>
                    </a:solidFill>
                    <a:latin typeface="Arial"/>
                  </a:rPr>
                  <a:t>   (B) </a:t>
                </a:r>
                <a:r>
                  <a:rPr lang="en-IN" sz="2400">
                    <a:solidFill>
                      <a:srgbClr val="111827"/>
                    </a:solidFill>
                    <a:latin typeface="Cambria Math" panose="02040503050406030204" pitchFamily="18" charset="0"/>
                  </a:rPr>
                  <a:t>$582$</a:t>
                </a:r>
                <a:r>
                  <a:rPr sz="2400" b="0">
                    <a:solidFill>
                      <a:srgbClr val="111827"/>
                    </a:solidFill>
                    <a:latin typeface="Arial"/>
                  </a:rPr>
                  <a:t>   (C) </a:t>
                </a:r>
                <a:r>
                  <a:rPr lang="en-IN" sz="2400">
                    <a:solidFill>
                      <a:srgbClr val="111827"/>
                    </a:solidFill>
                    <a:latin typeface="Cambria Math" panose="02040503050406030204" pitchFamily="18" charset="0"/>
                  </a:rPr>
                  <a:t>$578$</a:t>
                </a:r>
                <a:r>
                  <a:rPr sz="2400" b="0">
                    <a:solidFill>
                      <a:srgbClr val="111827"/>
                    </a:solidFill>
                    <a:latin typeface="Arial"/>
                  </a:rPr>
                  <a:t>   (D) </a:t>
                </a:r>
                <a:r>
                  <a:rPr lang="en-IN" sz="2400">
                    <a:solidFill>
                      <a:srgbClr val="111827"/>
                    </a:solidFill>
                    <a:latin typeface="Cambria Math" panose="02040503050406030204" pitchFamily="18" charset="0"/>
                  </a:rPr>
                  <a:t>$580$</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𝑢𝑛𝑢𝑠𝑒𝑑 𝑠𝑚𝑎𝑙𝑙𝑒𝑟 𝑙𝑒𝑡𝑡𝑒𝑟𝑠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𝑝𝑙𝑎𝑐𝑒𝑠 𝑙𝑒𝑓𝑡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r>
                  <a:rPr lang="en-IN" sz="2400">
                    <a:solidFill>
                      <a:srgbClr val="78350F"/>
                    </a:solidFill>
                    <a:latin typeface="Cambria Math" panose="02040503050406030204" pitchFamily="18" charset="0"/>
                  </a:rPr>
                  <a:t>$=1+\sum(\text{unused smaller letters})\times(\text{places left})!$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The word is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𝐿</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smaller unused letters at each place: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places left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PUBLIC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r>
                  <a:rPr lang="en-IN" sz="2400">
                    <a:solidFill>
                      <a:srgbClr val="111827"/>
                    </a:solidFill>
                    <a:latin typeface="Cambria Math" panose="02040503050406030204" pitchFamily="18" charset="0"/>
                  </a:rPr>
                  <a:t>$B,C,I,L,P,U$</a:t>
                </a:r>
                <a:r>
                  <a:rPr sz="2400" b="0">
                    <a:solidFill>
                      <a:srgbClr val="111827"/>
                    </a:solidFill>
                    <a:latin typeface="Arial"/>
                  </a:rPr>
                  <a:t>. The word is </a:t>
                </a:r>
                <a:r>
                  <a:rPr lang="en-IN" sz="2400">
                    <a:solidFill>
                      <a:srgbClr val="111827"/>
                    </a:solidFill>
                    <a:latin typeface="Cambria Math" panose="02040503050406030204" pitchFamily="18" charset="0"/>
                  </a:rPr>
                  <a:t>$P\,U\,B\,L\,I\,C$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smaller unused letters at each place: </a:t>
                </a:r>
                <a:r>
                  <a:rPr lang="en-IN" sz="2400">
                    <a:solidFill>
                      <a:srgbClr val="111827"/>
                    </a:solidFill>
                    <a:latin typeface="Cambria Math" panose="02040503050406030204" pitchFamily="18" charset="0"/>
                  </a:rPr>
                  <a:t>$P:4,\ U:4,\ B:0,\ L:2,\ I:1,\ C:0$</a:t>
                </a:r>
                <a:r>
                  <a:rPr sz="2400" b="0">
                    <a:solidFill>
                      <a:srgbClr val="111827"/>
                    </a:solidFill>
                    <a:latin typeface="Arial"/>
                  </a:rPr>
                  <a:t>; places left </a:t>
                </a:r>
                <a:r>
                  <a:rPr lang="en-IN" sz="2400">
                    <a:solidFill>
                      <a:srgbClr val="111827"/>
                    </a:solidFill>
                    <a:latin typeface="Cambria Math" panose="02040503050406030204" pitchFamily="18" charset="0"/>
                  </a:rPr>
                  <a:t>$5,4,3,2,1,0$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PUBLIC </a:t>
                </a:r>
                <a:r>
                  <a:rPr lang="en-IN" sz="2400">
                    <a:solidFill>
                      <a:srgbClr val="111827"/>
                    </a:solidFill>
                    <a:latin typeface="Cambria Math" panose="02040503050406030204" pitchFamily="18" charset="0"/>
                  </a:rPr>
                  <a:t>$=4\times5!+4\times4!+0\times3!+2\times2!+1\times1!+0\times0!$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$=480+96+0+4+1+0=581$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r>
                  <a:rPr lang="en-IN" sz="2400">
                    <a:solidFill>
                      <a:srgbClr val="111827"/>
                    </a:solidFill>
                    <a:latin typeface="Cambria Math" panose="02040503050406030204" pitchFamily="18" charset="0"/>
                  </a:rPr>
                  <a:t>$=581+1=582$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582</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that come after PUBLIC and subtract from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that come after PUBLIC and subtract from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PUBLIC: first letter larger than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𝑈</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two letters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𝑈</m:t>
                    </m:r>
                  </m:oMath>
                </a14:m>
                <a:r>
                  <a:rPr sz="2400" b="0">
                    <a:solidFill>
                      <a:srgbClr val="111827"/>
                    </a:solidFill>
                    <a:latin typeface="Arial"/>
                  </a:rPr>
                  <a:t> then larger than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among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words.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r>
                  <a:rPr lang="en-IN" sz="2400">
                    <a:solidFill>
                      <a:srgbClr val="111827"/>
                    </a:solidFill>
                    <a:latin typeface="Cambria Math" panose="02040503050406030204" pitchFamily="18" charset="0"/>
                  </a:rPr>
                  <a:t>$6!=720$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PUBLIC: first letter larger than </a:t>
                </a:r>
                <a:r>
                  <a:rPr lang="en-IN" sz="2400">
                    <a:solidFill>
                      <a:srgbClr val="111827"/>
                    </a:solidFill>
                    <a:latin typeface="Cambria Math" panose="02040503050406030204" pitchFamily="18" charset="0"/>
                  </a:rPr>
                  <a:t>$P$</a:t>
                </a:r>
                <a:r>
                  <a:rPr sz="2400" b="0">
                    <a:solidFill>
                      <a:srgbClr val="111827"/>
                    </a:solidFill>
                    <a:latin typeface="Arial"/>
                  </a:rPr>
                  <a:t>: only </a:t>
                </a:r>
                <a:r>
                  <a:rPr lang="en-IN" sz="2400">
                    <a:solidFill>
                      <a:srgbClr val="111827"/>
                    </a:solidFill>
                    <a:latin typeface="Cambria Math" panose="02040503050406030204" pitchFamily="18" charset="0"/>
                  </a:rPr>
                  <a:t>$U$</a:t>
                </a:r>
                <a:r>
                  <a:rPr sz="2400" b="0">
                    <a:solidFill>
                      <a:srgbClr val="111827"/>
                    </a:solidFill>
                    <a:latin typeface="Arial"/>
                  </a:rPr>
                  <a:t>, giving </a:t>
                </a:r>
                <a:r>
                  <a:rPr lang="en-IN" sz="2400">
                    <a:solidFill>
                      <a:srgbClr val="111827"/>
                    </a:solidFill>
                    <a:latin typeface="Cambria Math" panose="02040503050406030204" pitchFamily="18" charset="0"/>
                  </a:rPr>
                  <a:t>$5!=120$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two letters </a:t>
                </a:r>
                <a:r>
                  <a:rPr lang="en-IN" sz="2400">
                    <a:solidFill>
                      <a:srgbClr val="111827"/>
                    </a:solidFill>
                    <a:latin typeface="Cambria Math" panose="02040503050406030204" pitchFamily="18" charset="0"/>
                  </a:rPr>
                  <a:t>$PU$</a:t>
                </a:r>
                <a:r>
                  <a:rPr sz="2400" b="0">
                    <a:solidFill>
                      <a:srgbClr val="111827"/>
                    </a:solidFill>
                    <a:latin typeface="Arial"/>
                  </a:rPr>
                  <a:t> then larger than </a:t>
                </a:r>
                <a:r>
                  <a:rPr lang="en-IN" sz="2400">
                    <a:solidFill>
                      <a:srgbClr val="111827"/>
                    </a:solidFill>
                    <a:latin typeface="Cambria Math" panose="02040503050406030204" pitchFamily="18" charset="0"/>
                  </a:rPr>
                  <a:t>$B$</a:t>
                </a:r>
                <a:r>
                  <a:rPr sz="2400" b="0">
                    <a:solidFill>
                      <a:srgbClr val="111827"/>
                    </a:solidFill>
                    <a:latin typeface="Arial"/>
                  </a:rPr>
                  <a:t> among </a:t>
                </a:r>
                <a:r>
                  <a:rPr lang="en-IN" sz="2400">
                    <a:solidFill>
                      <a:srgbClr val="111827"/>
                    </a:solidFill>
                    <a:latin typeface="Cambria Math" panose="02040503050406030204" pitchFamily="18" charset="0"/>
                  </a:rPr>
                  <a:t>$B,C,I,L$</a:t>
                </a:r>
                <a:r>
                  <a:rPr sz="2400" b="0">
                    <a:solidFill>
                      <a:srgbClr val="111827"/>
                    </a:solidFill>
                    <a:latin typeface="Arial"/>
                  </a:rPr>
                  <a:t>: </a:t>
                </a:r>
                <a:r>
                  <a:rPr lang="en-IN" sz="2400">
                    <a:solidFill>
                      <a:srgbClr val="111827"/>
                    </a:solidFill>
                    <a:latin typeface="Cambria Math" panose="02040503050406030204" pitchFamily="18" charset="0"/>
                  </a:rPr>
                  <a:t>$C,I,L$</a:t>
                </a:r>
                <a:r>
                  <a:rPr sz="2400" b="0">
                    <a:solidFill>
                      <a:srgbClr val="111827"/>
                    </a:solidFill>
                    <a:latin typeface="Arial"/>
                  </a:rPr>
                  <a:t> give </a:t>
                </a:r>
                <a:r>
                  <a:rPr lang="en-IN" sz="2400">
                    <a:solidFill>
                      <a:srgbClr val="111827"/>
                    </a:solidFill>
                    <a:latin typeface="Cambria Math" panose="02040503050406030204" pitchFamily="18" charset="0"/>
                  </a:rPr>
                  <a:t>$3\times3!=18$</a:t>
                </a:r>
                <a:r>
                  <a:rPr sz="2400" b="0">
                    <a:solidFill>
                      <a:srgbClr val="111827"/>
                    </a:solidFill>
                    <a:latin typeface="Arial"/>
                  </a:rPr>
                  <a:t> words.</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𝐵</m:t>
                    </m:r>
                  </m:oMath>
                </a14:m>
                <a:r>
                  <a:rPr sz="2400" b="0">
                    <a:solidFill>
                      <a:srgbClr val="111827"/>
                    </a:solidFill>
                    <a:latin typeface="Arial"/>
                  </a:rPr>
                  <a:t> the fourth letter is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no remaining letter among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is larger; after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𝐿</m:t>
                    </m:r>
                  </m:oMath>
                </a14:m>
                <a:r>
                  <a:rPr sz="2400" b="0">
                    <a:solidFill>
                      <a:srgbClr val="111827"/>
                    </a:solidFill>
                    <a:latin typeface="Arial"/>
                  </a:rPr>
                  <a:t> the order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the larger of the two arrangements of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so no further words follow.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oMath>
                </a14:m>
                <a:r>
                  <a:rPr sz="2400" b="0">
                    <a:solidFill>
                      <a:srgbClr val="111827"/>
                    </a:solidFill>
                    <a:latin typeface="Arial"/>
                  </a:rPr>
                  <a:t>, so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a:t>
                </a:r>
                <a:r>
                  <a:rPr lang="en-IN" sz="2400">
                    <a:solidFill>
                      <a:srgbClr val="111827"/>
                    </a:solidFill>
                    <a:latin typeface="Cambria Math" panose="02040503050406030204" pitchFamily="18" charset="0"/>
                  </a:rPr>
                  <a:t>$PUB$</a:t>
                </a:r>
                <a:r>
                  <a:rPr sz="2400" b="0">
                    <a:solidFill>
                      <a:srgbClr val="111827"/>
                    </a:solidFill>
                    <a:latin typeface="Arial"/>
                  </a:rPr>
                  <a:t> the fourth letter is </a:t>
                </a:r>
                <a:r>
                  <a:rPr lang="en-IN" sz="2400">
                    <a:solidFill>
                      <a:srgbClr val="111827"/>
                    </a:solidFill>
                    <a:latin typeface="Cambria Math" panose="02040503050406030204" pitchFamily="18" charset="0"/>
                  </a:rPr>
                  <a:t>$L$</a:t>
                </a:r>
                <a:r>
                  <a:rPr sz="2400" b="0">
                    <a:solidFill>
                      <a:srgbClr val="111827"/>
                    </a:solidFill>
                    <a:latin typeface="Arial"/>
                  </a:rPr>
                  <a:t> and no remaining letter among </a:t>
                </a:r>
                <a:r>
                  <a:rPr lang="en-IN" sz="2400">
                    <a:solidFill>
                      <a:srgbClr val="111827"/>
                    </a:solidFill>
                    <a:latin typeface="Cambria Math" panose="02040503050406030204" pitchFamily="18" charset="0"/>
                  </a:rPr>
                  <a:t>$C,I,L$</a:t>
                </a:r>
                <a:r>
                  <a:rPr sz="2400" b="0">
                    <a:solidFill>
                      <a:srgbClr val="111827"/>
                    </a:solidFill>
                    <a:latin typeface="Arial"/>
                  </a:rPr>
                  <a:t> is larger; after </a:t>
                </a:r>
                <a:r>
                  <a:rPr lang="en-IN" sz="2400">
                    <a:solidFill>
                      <a:srgbClr val="111827"/>
                    </a:solidFill>
                    <a:latin typeface="Cambria Math" panose="02040503050406030204" pitchFamily="18" charset="0"/>
                  </a:rPr>
                  <a:t>$PUBL$</a:t>
                </a:r>
                <a:r>
                  <a:rPr sz="2400" b="0">
                    <a:solidFill>
                      <a:srgbClr val="111827"/>
                    </a:solidFill>
                    <a:latin typeface="Arial"/>
                  </a:rPr>
                  <a:t> the order </a:t>
                </a:r>
                <a:r>
                  <a:rPr lang="en-IN" sz="2400">
                    <a:solidFill>
                      <a:srgbClr val="111827"/>
                    </a:solidFill>
                    <a:latin typeface="Cambria Math" panose="02040503050406030204" pitchFamily="18" charset="0"/>
                  </a:rPr>
                  <a:t>$I,C$</a:t>
                </a:r>
                <a:r>
                  <a:rPr sz="2400" b="0">
                    <a:solidFill>
                      <a:srgbClr val="111827"/>
                    </a:solidFill>
                    <a:latin typeface="Arial"/>
                  </a:rPr>
                  <a:t> is the larger of the two arrangements of </a:t>
                </a:r>
                <a:r>
                  <a:rPr lang="en-IN" sz="2400">
                    <a:solidFill>
                      <a:srgbClr val="111827"/>
                    </a:solidFill>
                    <a:latin typeface="Cambria Math" panose="02040503050406030204" pitchFamily="18" charset="0"/>
                  </a:rPr>
                  <a:t>$C,I$</a:t>
                </a:r>
                <a:r>
                  <a:rPr sz="2400" b="0">
                    <a:solidFill>
                      <a:srgbClr val="111827"/>
                    </a:solidFill>
                    <a:latin typeface="Arial"/>
                  </a:rPr>
                  <a:t>, so no further words follow.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$=120+18=138$</a:t>
                </a:r>
                <a:r>
                  <a:rPr sz="2400" b="0">
                    <a:solidFill>
                      <a:srgbClr val="111827"/>
                    </a:solidFill>
                    <a:latin typeface="Arial"/>
                  </a:rPr>
                  <a:t>, so rank </a:t>
                </a:r>
                <a:r>
                  <a:rPr lang="en-IN" sz="2400">
                    <a:solidFill>
                      <a:srgbClr val="111827"/>
                    </a:solidFill>
                    <a:latin typeface="Cambria Math" panose="02040503050406030204" pitchFamily="18" charset="0"/>
                  </a:rPr>
                  <a:t>$=720-138=582$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582</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(rank from the end)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words of distinct letters, so counting the smaller side is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Lehmer code of a word: the list of 'smaller unused letters'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factorial-base representation of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a:t>
                </a:r>
                <a:r>
                  <a:rPr lang="en-IN" sz="2400">
                    <a:solidFill>
                      <a:srgbClr val="111827"/>
                    </a:solidFill>
                    <a:latin typeface="Cambria Math" panose="02040503050406030204" pitchFamily="18" charset="0"/>
                  </a:rPr>
                  <a:t>$+$</a:t>
                </a:r>
                <a:r>
                  <a:rPr sz="2400" b="0">
                    <a:solidFill>
                      <a:srgbClr val="111827"/>
                    </a:solidFill>
                    <a:latin typeface="Arial"/>
                  </a:rPr>
                  <a:t> (rank from the end) </a:t>
                </a:r>
                <a:r>
                  <a:rPr lang="en-IN" sz="2400">
                    <a:solidFill>
                      <a:srgbClr val="111827"/>
                    </a:solidFill>
                    <a:latin typeface="Cambria Math" panose="02040503050406030204" pitchFamily="18" charset="0"/>
                  </a:rPr>
                  <a:t>$=n!+1$</a:t>
                </a:r>
                <a:r>
                  <a:rPr sz="2400" b="0">
                    <a:solidFill>
                      <a:srgbClr val="111827"/>
                    </a:solidFill>
                    <a:latin typeface="Arial"/>
                  </a:rPr>
                  <a:t> for words of distinct letters, so counting the smaller side is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Lehmer code of a word: the list of 'smaller unused letters' </a:t>
                </a:r>
                <a:r>
                  <a:rPr lang="en-IN" sz="2400">
                    <a:solidFill>
                      <a:srgbClr val="111827"/>
                    </a:solidFill>
                    <a:latin typeface="Cambria Math" panose="02040503050406030204" pitchFamily="18" charset="0"/>
                  </a:rPr>
                  <a:t>$(4,4,0,2,1,0)$</a:t>
                </a:r>
                <a:r>
                  <a:rPr sz="2400" b="0">
                    <a:solidFill>
                      <a:srgbClr val="111827"/>
                    </a:solidFill>
                    <a:latin typeface="Arial"/>
                  </a:rPr>
                  <a:t> is the factorial-base representation of rank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rank </a:t>
                </a:r>
                <a:r>
                  <a:rPr lang="en-IN" sz="2400">
                    <a:solidFill>
                      <a:srgbClr val="111827"/>
                    </a:solidFill>
                    <a:latin typeface="Cambria Math" panose="02040503050406030204" pitchFamily="18" charset="0"/>
                  </a:rPr>
                  <a:t>$-1=581=4\cdot120+4\cdot24+0\cdot6+2\cdot2+1\cdot1$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boys can be seated at a round table so that no two girls sit together,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r>
                  <a:rPr lang="en-IN" sz="2400">
                    <a:solidFill>
                      <a:srgbClr val="111827"/>
                    </a:solidFill>
                    <a:latin typeface="Cambria Math" panose="02040503050406030204" pitchFamily="18" charset="0"/>
                  </a:rPr>
                  <a:t>$5$</a:t>
                </a:r>
                <a:r>
                  <a:rPr sz="2400" b="0">
                    <a:solidFill>
                      <a:srgbClr val="111827"/>
                    </a:solidFill>
                    <a:latin typeface="Arial"/>
                  </a:rPr>
                  <a:t> girls and </a:t>
                </a:r>
                <a:r>
                  <a:rPr lang="en-IN" sz="2400">
                    <a:solidFill>
                      <a:srgbClr val="111827"/>
                    </a:solidFill>
                    <a:latin typeface="Cambria Math" panose="02040503050406030204" pitchFamily="18" charset="0"/>
                  </a:rPr>
                  <a:t>$7$</a:t>
                </a:r>
                <a:r>
                  <a:rPr sz="2400" b="0">
                    <a:solidFill>
                      <a:srgbClr val="111827"/>
                    </a:solidFill>
                    <a:latin typeface="Arial"/>
                  </a:rPr>
                  <a:t> boys can be seated at a round table so that no two girls sit together,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$7(360)^2$</a:t>
                </a:r>
                <a:r>
                  <a:rPr sz="2400" b="0">
                    <a:solidFill>
                      <a:srgbClr val="111827"/>
                    </a:solidFill>
                    <a:latin typeface="Arial"/>
                  </a:rPr>
                  <a:t>   (B) </a:t>
                </a:r>
                <a:r>
                  <a:rPr lang="en-IN" sz="2400">
                    <a:solidFill>
                      <a:srgbClr val="111827"/>
                    </a:solidFill>
                    <a:latin typeface="Cambria Math" panose="02040503050406030204" pitchFamily="18" charset="0"/>
                  </a:rPr>
                  <a:t>$7(720)^2$</a:t>
                </a:r>
                <a:r>
                  <a:rPr sz="2400" b="0">
                    <a:solidFill>
                      <a:srgbClr val="111827"/>
                    </a:solidFill>
                    <a:latin typeface="Arial"/>
                  </a:rPr>
                  <a:t>   (C) </a:t>
                </a:r>
                <a:r>
                  <a:rPr lang="en-IN" sz="2400">
                    <a:solidFill>
                      <a:srgbClr val="111827"/>
                    </a:solidFill>
                    <a:latin typeface="Cambria Math" panose="02040503050406030204" pitchFamily="18" charset="0"/>
                  </a:rPr>
                  <a:t>$720$</a:t>
                </a:r>
                <a:r>
                  <a:rPr sz="2400" b="0">
                    <a:solidFill>
                      <a:srgbClr val="111827"/>
                    </a:solidFill>
                    <a:latin typeface="Arial"/>
                  </a:rPr>
                  <a:t>   (D) </a:t>
                </a:r>
                <a:r>
                  <a:rPr lang="en-IN" sz="2400">
                    <a:solidFill>
                      <a:srgbClr val="111827"/>
                    </a:solidFill>
                    <a:latin typeface="Cambria Math" panose="02040503050406030204" pitchFamily="18" charset="0"/>
                  </a:rPr>
                  <a:t>$126\,(5!)^2$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Circular arrangements with non-adjacency condition (gap method)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Seat the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boys in a circle first; the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gaps between them take the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girls, one per gap.</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Seat the </a:t>
                </a:r>
                <a:r>
                  <a:rPr lang="en-IN" sz="2400">
                    <a:solidFill>
                      <a:srgbClr val="78350F"/>
                    </a:solidFill>
                    <a:latin typeface="Cambria Math" panose="02040503050406030204" pitchFamily="18" charset="0"/>
                  </a:rPr>
                  <a:t>$7$</a:t>
                </a:r>
                <a:r>
                  <a:rPr sz="2400" b="0">
                    <a:solidFill>
                      <a:srgbClr val="78350F"/>
                    </a:solidFill>
                    <a:latin typeface="Arial"/>
                  </a:rPr>
                  <a:t> boys in a circle first; the </a:t>
                </a:r>
                <a:r>
                  <a:rPr lang="en-IN" sz="2400">
                    <a:solidFill>
                      <a:srgbClr val="78350F"/>
                    </a:solidFill>
                    <a:latin typeface="Cambria Math" panose="02040503050406030204" pitchFamily="18" charset="0"/>
                  </a:rPr>
                  <a:t>$7$</a:t>
                </a:r>
                <a:r>
                  <a:rPr sz="2400" b="0">
                    <a:solidFill>
                      <a:srgbClr val="78350F"/>
                    </a:solidFill>
                    <a:latin typeface="Arial"/>
                  </a:rPr>
                  <a:t> gaps between them take the </a:t>
                </a:r>
                <a:r>
                  <a:rPr lang="en-IN" sz="2400">
                    <a:solidFill>
                      <a:srgbClr val="78350F"/>
                    </a:solidFill>
                    <a:latin typeface="Cambria Math" panose="02040503050406030204" pitchFamily="18" charset="0"/>
                  </a:rPr>
                  <a:t>$5$</a:t>
                </a:r>
                <a:r>
                  <a:rPr sz="2400" b="0">
                    <a:solidFill>
                      <a:srgbClr val="78350F"/>
                    </a:solidFill>
                    <a:latin typeface="Arial"/>
                  </a:rPr>
                  <a:t> girls, one per gap.</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boys round the table: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create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gaps, one between each pair of neighbouring boys. No two girls are together if each girl is in a different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gaps: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ways, and place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in them: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 the </a:t>
                </a:r>
                <a:r>
                  <a:rPr lang="en-IN" sz="2400">
                    <a:solidFill>
                      <a:srgbClr val="111827"/>
                    </a:solidFill>
                    <a:latin typeface="Cambria Math" panose="02040503050406030204" pitchFamily="18" charset="0"/>
                  </a:rPr>
                  <a:t>$7$</a:t>
                </a:r>
                <a:r>
                  <a:rPr sz="2400" b="0">
                    <a:solidFill>
                      <a:srgbClr val="111827"/>
                    </a:solidFill>
                    <a:latin typeface="Arial"/>
                  </a:rPr>
                  <a:t> boys round the table: </a:t>
                </a:r>
                <a:r>
                  <a:rPr lang="en-IN" sz="2400">
                    <a:solidFill>
                      <a:srgbClr val="111827"/>
                    </a:solidFill>
                    <a:latin typeface="Cambria Math" panose="02040503050406030204" pitchFamily="18" charset="0"/>
                  </a:rPr>
                  <a:t>$(7-1)!=6!$</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create </a:t>
                </a:r>
                <a:r>
                  <a:rPr lang="en-IN" sz="2400">
                    <a:solidFill>
                      <a:srgbClr val="111827"/>
                    </a:solidFill>
                    <a:latin typeface="Cambria Math" panose="02040503050406030204" pitchFamily="18" charset="0"/>
                  </a:rPr>
                  <a:t>$7$</a:t>
                </a:r>
                <a:r>
                  <a:rPr sz="2400" b="0">
                    <a:solidFill>
                      <a:srgbClr val="111827"/>
                    </a:solidFill>
                    <a:latin typeface="Arial"/>
                  </a:rPr>
                  <a:t> gaps, one between each pair of neighbouring boys. No two girls are together if each girl is in a different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$5$</a:t>
                </a:r>
                <a:r>
                  <a:rPr sz="2400" b="0">
                    <a:solidFill>
                      <a:srgbClr val="111827"/>
                    </a:solidFill>
                    <a:latin typeface="Arial"/>
                  </a:rPr>
                  <a:t> of the </a:t>
                </a:r>
                <a:r>
                  <a:rPr lang="en-IN" sz="2400">
                    <a:solidFill>
                      <a:srgbClr val="111827"/>
                    </a:solidFill>
                    <a:latin typeface="Cambria Math" panose="02040503050406030204" pitchFamily="18" charset="0"/>
                  </a:rPr>
                  <a:t>$7$</a:t>
                </a:r>
                <a:r>
                  <a:rPr sz="2400" b="0">
                    <a:solidFill>
                      <a:srgbClr val="111827"/>
                    </a:solidFill>
                    <a:latin typeface="Arial"/>
                  </a:rPr>
                  <a:t> gaps: </a:t>
                </a:r>
                <a:r>
                  <a:rPr lang="en-IN" sz="2400">
                    <a:solidFill>
                      <a:srgbClr val="111827"/>
                    </a:solidFill>
                    <a:latin typeface="Cambria Math" panose="02040503050406030204" pitchFamily="18" charset="0"/>
                  </a:rPr>
                  <a:t>${}^7C_5$</a:t>
                </a:r>
                <a:r>
                  <a:rPr sz="2400" b="0">
                    <a:solidFill>
                      <a:srgbClr val="111827"/>
                    </a:solidFill>
                    <a:latin typeface="Arial"/>
                  </a:rPr>
                  <a:t> ways, and place the </a:t>
                </a:r>
                <a:r>
                  <a:rPr lang="en-IN" sz="2400">
                    <a:solidFill>
                      <a:srgbClr val="111827"/>
                    </a:solidFill>
                    <a:latin typeface="Cambria Math" panose="02040503050406030204" pitchFamily="18" charset="0"/>
                  </a:rPr>
                  <a:t>$5$</a:t>
                </a:r>
                <a:r>
                  <a:rPr sz="2400" b="0">
                    <a:solidFill>
                      <a:srgbClr val="111827"/>
                    </a:solidFill>
                    <a:latin typeface="Arial"/>
                  </a:rPr>
                  <a:t> girls in them: </a:t>
                </a:r>
                <a:r>
                  <a:rPr lang="en-IN" sz="2400">
                    <a:solidFill>
                      <a:srgbClr val="111827"/>
                    </a:solidFill>
                    <a:latin typeface="Cambria Math" panose="02040503050406030204" pitchFamily="18" charset="0"/>
                  </a:rPr>
                  <a:t>$5!$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is </a:t>
                </a:r>
                <a14:m>
                  <m:oMath xmlns:m="http://schemas.openxmlformats.org/officeDocument/2006/math">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$=6!\times{}^7C_5\times5!=720\times21\times5!$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$720\times21=126\times120=126\cdot5!$</a:t>
                </a:r>
                <a:r>
                  <a:rPr sz="2400" b="0">
                    <a:solidFill>
                      <a:srgbClr val="111827"/>
                    </a:solidFill>
                    <a:latin typeface="Arial"/>
                  </a:rPr>
                  <a:t>, the number is </a:t>
                </a:r>
                <a:r>
                  <a:rPr lang="en-IN" sz="2400">
                    <a:solidFill>
                      <a:srgbClr val="111827"/>
                    </a:solidFill>
                    <a:latin typeface="Cambria Math" panose="02040503050406030204" pitchFamily="18" charset="0"/>
                  </a:rPr>
                  <a:t>$126\,(5!)^2$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126</m:t>
                    </m:r>
                    <m:r>
                      <a:rPr lang="en-IN" sz="2800" i="1">
                        <a:solidFill>
                          <a:srgbClr val="15803D"/>
                        </a:solidFill>
                        <a:latin typeface="Cambria Math" panose="02040503050406030204" pitchFamily="18" charset="0"/>
                      </a:rPr>
                      <m:t> </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$126\,(5!)^2$</a:t>
                </a:r>
                <a:endParaRPr sz="2800">
                  <a:solidFill>
                    <a:srgbClr val="15803D"/>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Seat the girls first, so every gap between two girls must receive at least one boy.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round the table: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ways. They leave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gaps between neighbours.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gap needs at least one boy: the numbers of boys in the gaps are a composition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positive parts: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boys can be assigned to the filled places in order in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1814400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 the </a:t>
                </a:r>
                <a:r>
                  <a:rPr lang="en-IN" sz="2400">
                    <a:solidFill>
                      <a:srgbClr val="111827"/>
                    </a:solidFill>
                    <a:latin typeface="Cambria Math" panose="02040503050406030204" pitchFamily="18" charset="0"/>
                  </a:rPr>
                  <a:t>$5$</a:t>
                </a:r>
                <a:r>
                  <a:rPr sz="2400" b="0">
                    <a:solidFill>
                      <a:srgbClr val="111827"/>
                    </a:solidFill>
                    <a:latin typeface="Arial"/>
                  </a:rPr>
                  <a:t> girls round the table: </a:t>
                </a:r>
                <a:r>
                  <a:rPr lang="en-IN" sz="2400">
                    <a:solidFill>
                      <a:srgbClr val="111827"/>
                    </a:solidFill>
                    <a:latin typeface="Cambria Math" panose="02040503050406030204" pitchFamily="18" charset="0"/>
                  </a:rPr>
                  <a:t>$(5-1)!=24$</a:t>
                </a:r>
                <a:r>
                  <a:rPr sz="2400" b="0">
                    <a:solidFill>
                      <a:srgbClr val="111827"/>
                    </a:solidFill>
                    <a:latin typeface="Arial"/>
                  </a:rPr>
                  <a:t> ways. They leave </a:t>
                </a:r>
                <a:r>
                  <a:rPr lang="en-IN" sz="2400">
                    <a:solidFill>
                      <a:srgbClr val="111827"/>
                    </a:solidFill>
                    <a:latin typeface="Cambria Math" panose="02040503050406030204" pitchFamily="18" charset="0"/>
                  </a:rPr>
                  <a:t>$5$</a:t>
                </a:r>
                <a:r>
                  <a:rPr sz="2400" b="0">
                    <a:solidFill>
                      <a:srgbClr val="111827"/>
                    </a:solidFill>
                    <a:latin typeface="Arial"/>
                  </a:rPr>
                  <a:t> gaps between neighbours.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gap needs at least one boy: the numbers of boys in the gaps are a composition of </a:t>
                </a:r>
                <a:r>
                  <a:rPr lang="en-IN" sz="2400">
                    <a:solidFill>
                      <a:srgbClr val="111827"/>
                    </a:solidFill>
                    <a:latin typeface="Cambria Math" panose="02040503050406030204" pitchFamily="18" charset="0"/>
                  </a:rPr>
                  <a:t>$7$</a:t>
                </a:r>
                <a:r>
                  <a:rPr sz="2400" b="0">
                    <a:solidFill>
                      <a:srgbClr val="111827"/>
                    </a:solidFill>
                    <a:latin typeface="Arial"/>
                  </a:rPr>
                  <a:t> into </a:t>
                </a:r>
                <a:r>
                  <a:rPr lang="en-IN" sz="2400">
                    <a:solidFill>
                      <a:srgbClr val="111827"/>
                    </a:solidFill>
                    <a:latin typeface="Cambria Math" panose="02040503050406030204" pitchFamily="18" charset="0"/>
                  </a:rPr>
                  <a:t>$5$</a:t>
                </a:r>
                <a:r>
                  <a:rPr sz="2400" b="0">
                    <a:solidFill>
                      <a:srgbClr val="111827"/>
                    </a:solidFill>
                    <a:latin typeface="Arial"/>
                  </a:rPr>
                  <a:t> positive parts: </a:t>
                </a:r>
                <a:r>
                  <a:rPr lang="en-IN" sz="2400">
                    <a:solidFill>
                      <a:srgbClr val="111827"/>
                    </a:solidFill>
                    <a:latin typeface="Cambria Math" panose="02040503050406030204" pitchFamily="18" charset="0"/>
                  </a:rPr>
                  <a:t>$\binom{6}{4}=15$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$7$</a:t>
                </a:r>
                <a:r>
                  <a:rPr sz="2400" b="0">
                    <a:solidFill>
                      <a:srgbClr val="111827"/>
                    </a:solidFill>
                    <a:latin typeface="Arial"/>
                  </a:rPr>
                  <a:t> boys can be assigned to the filled places in order in </a:t>
                </a:r>
                <a:r>
                  <a:rPr lang="en-IN" sz="2400">
                    <a:solidFill>
                      <a:srgbClr val="111827"/>
                    </a:solidFill>
                    <a:latin typeface="Cambria Math" panose="02040503050406030204" pitchFamily="18" charset="0"/>
                  </a:rPr>
                  <a:t>$7!=5040$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$=24\times15\times5040=1814400=126\,(5!)^2$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126</m:t>
                    </m:r>
                    <m:r>
                      <a:rPr lang="en-IN" sz="2800" i="1">
                        <a:solidFill>
                          <a:srgbClr val="15803D"/>
                        </a:solidFill>
                        <a:latin typeface="Cambria Math" panose="02040503050406030204" pitchFamily="18" charset="0"/>
                      </a:rPr>
                      <m:t> </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$126\,(5!)^2$</a:t>
                </a:r>
                <a:endParaRPr sz="2800">
                  <a:solidFill>
                    <a:srgbClr val="15803D"/>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Circular arrangements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Fix one object to remove rotations.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two of group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adjacent: arrange the others first, then choose gaps for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others in a circle there are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Linear version: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others have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gaps (including the ends).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Circular arrangements of </a:t>
                </a:r>
                <a:r>
                  <a:rPr lang="en-IN" sz="2400">
                    <a:solidFill>
                      <a:srgbClr val="111827"/>
                    </a:solidFill>
                    <a:latin typeface="Cambria Math" panose="02040503050406030204" pitchFamily="18" charset="0"/>
                  </a:rPr>
                  <a:t>$n$</a:t>
                </a:r>
                <a:r>
                  <a:rPr sz="2400" b="0">
                    <a:solidFill>
                      <a:srgbClr val="111827"/>
                    </a:solidFill>
                    <a:latin typeface="Arial"/>
                  </a:rPr>
                  <a:t> distinct objects: </a:t>
                </a:r>
                <a:r>
                  <a:rPr lang="en-IN" sz="2400">
                    <a:solidFill>
                      <a:srgbClr val="111827"/>
                    </a:solidFill>
                    <a:latin typeface="Cambria Math" panose="02040503050406030204" pitchFamily="18" charset="0"/>
                  </a:rPr>
                  <a:t>$(n-1)!$</a:t>
                </a:r>
                <a:r>
                  <a:rPr sz="2400" b="0">
                    <a:solidFill>
                      <a:srgbClr val="111827"/>
                    </a:solidFill>
                    <a:latin typeface="Arial"/>
                  </a:rPr>
                  <a:t>. Fix one object to remove rotations.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two of group </a:t>
                </a:r>
                <a:r>
                  <a:rPr lang="en-IN" sz="2400">
                    <a:solidFill>
                      <a:srgbClr val="111827"/>
                    </a:solidFill>
                    <a:latin typeface="Cambria Math" panose="02040503050406030204" pitchFamily="18" charset="0"/>
                  </a:rPr>
                  <a:t>$G$</a:t>
                </a:r>
                <a:r>
                  <a:rPr sz="2400" b="0">
                    <a:solidFill>
                      <a:srgbClr val="111827"/>
                    </a:solidFill>
                    <a:latin typeface="Arial"/>
                  </a:rPr>
                  <a:t> adjacent: arrange the others first, then choose gaps for </a:t>
                </a:r>
                <a:r>
                  <a:rPr lang="en-IN" sz="2400">
                    <a:solidFill>
                      <a:srgbClr val="111827"/>
                    </a:solidFill>
                    <a:latin typeface="Cambria Math" panose="02040503050406030204" pitchFamily="18" charset="0"/>
                  </a:rPr>
                  <a:t>$G$</a:t>
                </a:r>
                <a:r>
                  <a:rPr sz="2400" b="0">
                    <a:solidFill>
                      <a:srgbClr val="111827"/>
                    </a:solidFill>
                    <a:latin typeface="Arial"/>
                  </a:rPr>
                  <a:t>. For </a:t>
                </a:r>
                <a:r>
                  <a:rPr lang="en-IN" sz="2400">
                    <a:solidFill>
                      <a:srgbClr val="111827"/>
                    </a:solidFill>
                    <a:latin typeface="Cambria Math" panose="02040503050406030204" pitchFamily="18" charset="0"/>
                  </a:rPr>
                  <a:t>$m$</a:t>
                </a:r>
                <a:r>
                  <a:rPr sz="2400" b="0">
                    <a:solidFill>
                      <a:srgbClr val="111827"/>
                    </a:solidFill>
                    <a:latin typeface="Arial"/>
                  </a:rPr>
                  <a:t> others in a circle there are </a:t>
                </a:r>
                <a:r>
                  <a:rPr lang="en-IN" sz="2400">
                    <a:solidFill>
                      <a:srgbClr val="111827"/>
                    </a:solidFill>
                    <a:latin typeface="Cambria Math" panose="02040503050406030204" pitchFamily="18" charset="0"/>
                  </a:rPr>
                  <a:t>$m$</a:t>
                </a:r>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Linear version: </a:t>
                </a:r>
                <a:r>
                  <a:rPr lang="en-IN" sz="2400">
                    <a:solidFill>
                      <a:srgbClr val="111827"/>
                    </a:solidFill>
                    <a:latin typeface="Cambria Math" panose="02040503050406030204" pitchFamily="18" charset="0"/>
                  </a:rPr>
                  <a:t>$m$</a:t>
                </a:r>
                <a:r>
                  <a:rPr sz="2400" b="0">
                    <a:solidFill>
                      <a:srgbClr val="111827"/>
                    </a:solidFill>
                    <a:latin typeface="Arial"/>
                  </a:rPr>
                  <a:t> others have </a:t>
                </a:r>
                <a:r>
                  <a:rPr lang="en-IN" sz="2400">
                    <a:solidFill>
                      <a:srgbClr val="111827"/>
                    </a:solidFill>
                    <a:latin typeface="Cambria Math" panose="02040503050406030204" pitchFamily="18" charset="0"/>
                  </a:rPr>
                  <a:t>$m+1$</a:t>
                </a:r>
                <a:r>
                  <a:rPr sz="2400" b="0">
                    <a:solidFill>
                      <a:srgbClr val="111827"/>
                    </a:solidFill>
                    <a:latin typeface="Arial"/>
                  </a:rPr>
                  <a:t> gaps (including the ends).</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arrangements of the letters of the word “INDEPENDENCE” in which all the vowels always occur together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33600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16800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18000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14800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arrangements of the letters of the word “INDEPENDENCE” in which all the vowels always occur together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$33600$</a:t>
                </a:r>
                <a:r>
                  <a:rPr sz="2400" b="0">
                    <a:solidFill>
                      <a:srgbClr val="111827"/>
                    </a:solidFill>
                    <a:latin typeface="Arial"/>
                  </a:rPr>
                  <a:t>   (B) </a:t>
                </a:r>
                <a:r>
                  <a:rPr lang="en-IN" sz="2400">
                    <a:solidFill>
                      <a:srgbClr val="111827"/>
                    </a:solidFill>
                    <a:latin typeface="Cambria Math" panose="02040503050406030204" pitchFamily="18" charset="0"/>
                  </a:rPr>
                  <a:t>$16800$</a:t>
                </a:r>
                <a:r>
                  <a:rPr sz="2400" b="0">
                    <a:solidFill>
                      <a:srgbClr val="111827"/>
                    </a:solidFill>
                    <a:latin typeface="Arial"/>
                  </a:rPr>
                  <a:t>   (C) </a:t>
                </a:r>
                <a:r>
                  <a:rPr lang="en-IN" sz="2400">
                    <a:solidFill>
                      <a:srgbClr val="111827"/>
                    </a:solidFill>
                    <a:latin typeface="Cambria Math" panose="02040503050406030204" pitchFamily="18" charset="0"/>
                  </a:rPr>
                  <a:t>$18000$</a:t>
                </a:r>
                <a:r>
                  <a:rPr sz="2400" b="0">
                    <a:solidFill>
                      <a:srgbClr val="111827"/>
                    </a:solidFill>
                    <a:latin typeface="Arial"/>
                  </a:rPr>
                  <a:t>   (D) </a:t>
                </a:r>
                <a:r>
                  <a:rPr lang="en-IN" sz="2400">
                    <a:solidFill>
                      <a:srgbClr val="111827"/>
                    </a:solidFill>
                    <a:latin typeface="Cambria Math" panose="02040503050406030204" pitchFamily="18" charset="0"/>
                  </a:rPr>
                  <a:t>$14800$</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repeated letters and letters kept together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Vowels </a:t>
                </a:r>
                <a14:m>
                  <m:oMath xmlns:m="http://schemas.openxmlformats.org/officeDocument/2006/math">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oMath>
                </a14:m>
                <a:r>
                  <a:rPr sz="2400" b="0">
                    <a:solidFill>
                      <a:srgbClr val="78350F"/>
                    </a:solidFill>
                    <a:latin typeface="Arial"/>
                  </a:rPr>
                  <a:t> form one block; block and the seven consonants make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objects.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Vowels </a:t>
                </a:r>
                <a:r>
                  <a:rPr lang="en-IN" sz="2400">
                    <a:solidFill>
                      <a:srgbClr val="78350F"/>
                    </a:solidFill>
                    <a:latin typeface="Cambria Math" panose="02040503050406030204" pitchFamily="18" charset="0"/>
                  </a:rPr>
                  <a:t>$I,E,E,E,E$</a:t>
                </a:r>
                <a:r>
                  <a:rPr sz="2400" b="0">
                    <a:solidFill>
                      <a:srgbClr val="78350F"/>
                    </a:solidFill>
                    <a:latin typeface="Arial"/>
                  </a:rPr>
                  <a:t> form one block; block and the seven consonants make </a:t>
                </a:r>
                <a:r>
                  <a:rPr lang="en-IN" sz="2400">
                    <a:solidFill>
                      <a:srgbClr val="78350F"/>
                    </a:solidFill>
                    <a:latin typeface="Cambria Math" panose="02040503050406030204" pitchFamily="18" charset="0"/>
                  </a:rPr>
                  <a:t>$8$</a:t>
                </a:r>
                <a:r>
                  <a:rPr sz="2400" b="0">
                    <a:solidFill>
                      <a:srgbClr val="78350F"/>
                    </a:solidFill>
                    <a:latin typeface="Arial"/>
                  </a:rPr>
                  <a:t> objects.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Vowels: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letters). Consonants: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letters, with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thrice and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vowels as one block: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objects, with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repeated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times and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twice: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3360</m:t>
                    </m:r>
                  </m:oMath>
                </a14:m>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 vowels inside the block: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Vowels: </a:t>
                </a:r>
                <a:r>
                  <a:rPr lang="en-IN" sz="2400">
                    <a:solidFill>
                      <a:srgbClr val="111827"/>
                    </a:solidFill>
                    <a:latin typeface="Cambria Math" panose="02040503050406030204" pitchFamily="18" charset="0"/>
                  </a:rPr>
                  <a:t>$I,E,E,E,E$</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letters). Consonants: </a:t>
                </a:r>
                <a:r>
                  <a:rPr lang="en-IN" sz="2400">
                    <a:solidFill>
                      <a:srgbClr val="111827"/>
                    </a:solidFill>
                    <a:latin typeface="Cambria Math" panose="02040503050406030204" pitchFamily="18" charset="0"/>
                  </a:rPr>
                  <a:t>$N,D,P,N,D,N,C$</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letters, with </a:t>
                </a:r>
                <a:r>
                  <a:rPr lang="en-IN" sz="2400">
                    <a:solidFill>
                      <a:srgbClr val="111827"/>
                    </a:solidFill>
                    <a:latin typeface="Cambria Math" panose="02040503050406030204" pitchFamily="18" charset="0"/>
                  </a:rPr>
                  <a:t>$N$</a:t>
                </a:r>
                <a:r>
                  <a:rPr sz="2400" b="0">
                    <a:solidFill>
                      <a:srgbClr val="111827"/>
                    </a:solidFill>
                    <a:latin typeface="Arial"/>
                  </a:rPr>
                  <a:t> thrice and </a:t>
                </a:r>
                <a:r>
                  <a:rPr lang="en-IN" sz="2400">
                    <a:solidFill>
                      <a:srgbClr val="111827"/>
                    </a:solidFill>
                    <a:latin typeface="Cambria Math" panose="02040503050406030204" pitchFamily="18" charset="0"/>
                  </a:rPr>
                  <a:t>$D$</a:t>
                </a:r>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 the vowels as one block: </a:t>
                </a:r>
                <a:r>
                  <a:rPr lang="en-IN" sz="2400">
                    <a:solidFill>
                      <a:srgbClr val="111827"/>
                    </a:solidFill>
                    <a:latin typeface="Cambria Math" panose="02040503050406030204" pitchFamily="18" charset="0"/>
                  </a:rPr>
                  <a:t>$8$</a:t>
                </a:r>
                <a:r>
                  <a:rPr sz="2400" b="0">
                    <a:solidFill>
                      <a:srgbClr val="111827"/>
                    </a:solidFill>
                    <a:latin typeface="Arial"/>
                  </a:rPr>
                  <a:t> objects, with </a:t>
                </a:r>
                <a:r>
                  <a:rPr lang="en-IN" sz="2400">
                    <a:solidFill>
                      <a:srgbClr val="111827"/>
                    </a:solidFill>
                    <a:latin typeface="Cambria Math" panose="02040503050406030204" pitchFamily="18" charset="0"/>
                  </a:rPr>
                  <a:t>$N$</a:t>
                </a:r>
                <a:r>
                  <a:rPr sz="2400" b="0">
                    <a:solidFill>
                      <a:srgbClr val="111827"/>
                    </a:solidFill>
                    <a:latin typeface="Arial"/>
                  </a:rPr>
                  <a:t> repeated </a:t>
                </a:r>
                <a:r>
                  <a:rPr lang="en-IN" sz="2400">
                    <a:solidFill>
                      <a:srgbClr val="111827"/>
                    </a:solidFill>
                    <a:latin typeface="Cambria Math" panose="02040503050406030204" pitchFamily="18" charset="0"/>
                  </a:rPr>
                  <a:t>$3$</a:t>
                </a:r>
                <a:r>
                  <a:rPr sz="2400" b="0">
                    <a:solidFill>
                      <a:srgbClr val="111827"/>
                    </a:solidFill>
                    <a:latin typeface="Arial"/>
                  </a:rPr>
                  <a:t> times and </a:t>
                </a:r>
                <a:r>
                  <a:rPr lang="en-IN" sz="2400">
                    <a:solidFill>
                      <a:srgbClr val="111827"/>
                    </a:solidFill>
                    <a:latin typeface="Cambria Math" panose="02040503050406030204" pitchFamily="18" charset="0"/>
                  </a:rPr>
                  <a:t>$D$</a:t>
                </a:r>
                <a:r>
                  <a:rPr sz="2400" b="0">
                    <a:solidFill>
                      <a:srgbClr val="111827"/>
                    </a:solidFill>
                    <a:latin typeface="Arial"/>
                  </a:rPr>
                  <a:t> twice: </a:t>
                </a:r>
                <a:r>
                  <a:rPr lang="en-IN" sz="2400">
                    <a:solidFill>
                      <a:srgbClr val="111827"/>
                    </a:solidFill>
                    <a:latin typeface="Cambria Math" panose="02040503050406030204" pitchFamily="18" charset="0"/>
                  </a:rPr>
                  <a:t>$\frac{8!}{3!\,2!}=3360$</a:t>
                </a:r>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of the vowels inside the block: </a:t>
                </a:r>
                <a:r>
                  <a:rPr lang="en-IN" sz="2400">
                    <a:solidFill>
                      <a:srgbClr val="111827"/>
                    </a:solidFill>
                    <a:latin typeface="Cambria Math" panose="02040503050406030204" pitchFamily="18" charset="0"/>
                  </a:rPr>
                  <a:t>$\frac{5!}{4!}=5$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r>
                  <a:rPr lang="en-IN" sz="2400">
                    <a:solidFill>
                      <a:srgbClr val="111827"/>
                    </a:solidFill>
                    <a:latin typeface="Cambria Math" panose="02040503050406030204" pitchFamily="18" charset="0"/>
                  </a:rPr>
                  <a:t>$=3360\times5=16800$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16800</a:t>
            </a:r>
            <a:endParaRPr sz="2800">
              <a:solidFill>
                <a:srgbClr val="15803D"/>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fraction of position-sets: the vowels'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places are one of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5</m:t>
                            </m:r>
                          </m:den>
                        </m:f>
                      </m:e>
                    </m:d>
                  </m:oMath>
                </a14:m>
                <a:r>
                  <a:rPr sz="2400" b="0">
                    <a:solidFill>
                      <a:srgbClr val="78350F"/>
                    </a:solidFill>
                    <a:latin typeface="Arial"/>
                  </a:rPr>
                  <a:t> equally likely sets.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fraction of position-sets: the vowels' </a:t>
                </a:r>
                <a:r>
                  <a:rPr lang="en-IN" sz="2400">
                    <a:solidFill>
                      <a:srgbClr val="78350F"/>
                    </a:solidFill>
                    <a:latin typeface="Cambria Math" panose="02040503050406030204" pitchFamily="18" charset="0"/>
                  </a:rPr>
                  <a:t>$5$</a:t>
                </a:r>
                <a:r>
                  <a:rPr sz="2400" b="0">
                    <a:solidFill>
                      <a:srgbClr val="78350F"/>
                    </a:solidFill>
                    <a:latin typeface="Arial"/>
                  </a:rPr>
                  <a:t> places are one of </a:t>
                </a:r>
                <a:r>
                  <a:rPr lang="en-IN" sz="2400">
                    <a:solidFill>
                      <a:srgbClr val="78350F"/>
                    </a:solidFill>
                    <a:latin typeface="Cambria Math" panose="02040503050406030204" pitchFamily="18" charset="0"/>
                  </a:rPr>
                  <a:t>$\binom{12}{5}$</a:t>
                </a:r>
                <a:r>
                  <a:rPr sz="2400" b="0">
                    <a:solidFill>
                      <a:srgbClr val="78350F"/>
                    </a:solidFill>
                    <a:latin typeface="Arial"/>
                  </a:rPr>
                  <a:t> equally likely sets.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arrangements of INDEPENDENCE: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1663200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four times,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three times,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arrangement has some set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 occupied by vowels, and all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792</m:t>
                    </m:r>
                  </m:oMath>
                </a14:m>
                <a:r>
                  <a:rPr sz="2400" b="0">
                    <a:solidFill>
                      <a:srgbClr val="111827"/>
                    </a:solidFill>
                    <a:latin typeface="Arial"/>
                  </a:rPr>
                  <a:t> such sets are equally likely.</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arrangements of INDEPENDENCE: </a:t>
                </a:r>
                <a:r>
                  <a:rPr lang="en-IN" sz="2400">
                    <a:solidFill>
                      <a:srgbClr val="111827"/>
                    </a:solidFill>
                    <a:latin typeface="Cambria Math" panose="02040503050406030204" pitchFamily="18" charset="0"/>
                  </a:rPr>
                  <a:t>$\frac{12!}{4!\,3!\,2!}=1663200$</a:t>
                </a:r>
                <a:r>
                  <a:rPr sz="2400" b="0">
                    <a:solidFill>
                      <a:srgbClr val="111827"/>
                    </a:solidFill>
                    <a:latin typeface="Arial"/>
                  </a:rPr>
                  <a:t> (</a:t>
                </a:r>
                <a:r>
                  <a:rPr lang="en-IN" sz="2400">
                    <a:solidFill>
                      <a:srgbClr val="111827"/>
                    </a:solidFill>
                    <a:latin typeface="Cambria Math" panose="02040503050406030204" pitchFamily="18" charset="0"/>
                  </a:rPr>
                  <a:t>$E$</a:t>
                </a:r>
                <a:r>
                  <a:rPr sz="2400" b="0">
                    <a:solidFill>
                      <a:srgbClr val="111827"/>
                    </a:solidFill>
                    <a:latin typeface="Arial"/>
                  </a:rPr>
                  <a:t> four times, </a:t>
                </a:r>
                <a:r>
                  <a:rPr lang="en-IN" sz="2400">
                    <a:solidFill>
                      <a:srgbClr val="111827"/>
                    </a:solidFill>
                    <a:latin typeface="Cambria Math" panose="02040503050406030204" pitchFamily="18" charset="0"/>
                  </a:rPr>
                  <a:t>$N$</a:t>
                </a:r>
                <a:r>
                  <a:rPr sz="2400" b="0">
                    <a:solidFill>
                      <a:srgbClr val="111827"/>
                    </a:solidFill>
                    <a:latin typeface="Arial"/>
                  </a:rPr>
                  <a:t> three times, </a:t>
                </a:r>
                <a:r>
                  <a:rPr lang="en-IN" sz="2400">
                    <a:solidFill>
                      <a:srgbClr val="111827"/>
                    </a:solidFill>
                    <a:latin typeface="Cambria Math" panose="02040503050406030204" pitchFamily="18" charset="0"/>
                  </a:rPr>
                  <a:t>$D$</a:t>
                </a:r>
                <a:r>
                  <a:rPr sz="2400" b="0">
                    <a:solidFill>
                      <a:srgbClr val="111827"/>
                    </a:solidFill>
                    <a:latin typeface="Arial"/>
                  </a:rPr>
                  <a: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arrangement has some set of </a:t>
                </a:r>
                <a:r>
                  <a:rPr lang="en-IN" sz="2400">
                    <a:solidFill>
                      <a:srgbClr val="111827"/>
                    </a:solidFill>
                    <a:latin typeface="Cambria Math" panose="02040503050406030204" pitchFamily="18" charset="0"/>
                  </a:rPr>
                  <a:t>$5$</a:t>
                </a:r>
                <a:r>
                  <a:rPr sz="2400" b="0">
                    <a:solidFill>
                      <a:srgbClr val="111827"/>
                    </a:solidFill>
                    <a:latin typeface="Arial"/>
                  </a:rPr>
                  <a:t> places occupied by vowels, and all </a:t>
                </a:r>
                <a:r>
                  <a:rPr lang="en-IN" sz="2400">
                    <a:solidFill>
                      <a:srgbClr val="111827"/>
                    </a:solidFill>
                    <a:latin typeface="Cambria Math" panose="02040503050406030204" pitchFamily="18" charset="0"/>
                  </a:rPr>
                  <a:t>$\binom{12}{5}=792$</a:t>
                </a:r>
                <a:r>
                  <a:rPr sz="2400" b="0">
                    <a:solidFill>
                      <a:srgbClr val="111827"/>
                    </a:solidFill>
                    <a:latin typeface="Arial"/>
                  </a:rPr>
                  <a:t> such sets are equally likely.</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vowels are together exactly when the set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consecutive places: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1663200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792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vowels are together exactly when the set is </a:t>
                </a:r>
                <a:r>
                  <a:rPr lang="en-IN" sz="2400">
                    <a:solidFill>
                      <a:srgbClr val="111827"/>
                    </a:solidFill>
                    <a:latin typeface="Cambria Math" panose="02040503050406030204" pitchFamily="18" charset="0"/>
                  </a:rPr>
                  <a:t>$5$</a:t>
                </a:r>
                <a:r>
                  <a:rPr sz="2400" b="0">
                    <a:solidFill>
                      <a:srgbClr val="111827"/>
                    </a:solidFill>
                    <a:latin typeface="Arial"/>
                  </a:rPr>
                  <a:t> consecutive places: </a:t>
                </a:r>
                <a:r>
                  <a:rPr lang="en-IN" sz="2400">
                    <a:solidFill>
                      <a:srgbClr val="111827"/>
                    </a:solidFill>
                    <a:latin typeface="Cambria Math" panose="02040503050406030204" pitchFamily="18" charset="0"/>
                  </a:rPr>
                  <a:t>$12-5+1=8$</a:t>
                </a:r>
                <a:r>
                  <a:rPr sz="2400" b="0">
                    <a:solidFill>
                      <a:srgbClr val="111827"/>
                    </a:solidFill>
                    <a:latin typeface="Arial"/>
                  </a:rPr>
                  <a: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r>
                  <a:rPr lang="en-IN" sz="2400">
                    <a:solidFill>
                      <a:srgbClr val="111827"/>
                    </a:solidFill>
                    <a:latin typeface="Cambria Math" panose="02040503050406030204" pitchFamily="18" charset="0"/>
                  </a:rPr>
                  <a:t>$=1663200\times\frac{8}{792}=16800$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16800</a:t>
            </a:r>
            <a:endParaRPr sz="2800">
              <a:solidFill>
                <a:srgbClr val="15803D"/>
              </a:solidFil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Gluing: count objects after gluing, divide by repeats outside, multiply by arrangements inside the block.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Fraction method: if the positions occupied by a group are equally likely, the group is together in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den>
                    </m:f>
                  </m:oMath>
                </a14:m>
                <a:r>
                  <a:rPr sz="2400" b="0">
                    <a:solidFill>
                      <a:srgbClr val="111827"/>
                    </a:solidFill>
                    <a:latin typeface="Arial"/>
                  </a:rPr>
                  <a:t> of all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792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99</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1663200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Gluing: count objects after gluing, divide by repeats outside, multiply by arrangements inside the block.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Fraction method: if the positions occupied by a group are equally likely, the group is together in </a:t>
                </a:r>
                <a:r>
                  <a:rPr lang="en-IN" sz="2400">
                    <a:solidFill>
                      <a:srgbClr val="111827"/>
                    </a:solidFill>
                    <a:latin typeface="Cambria Math" panose="02040503050406030204" pitchFamily="18" charset="0"/>
                  </a:rPr>
                  <a:t>$\frac{n-k+1}{\binom nk}$</a:t>
                </a:r>
                <a:r>
                  <a:rPr sz="2400" b="0">
                    <a:solidFill>
                      <a:srgbClr val="111827"/>
                    </a:solidFill>
                    <a:latin typeface="Arial"/>
                  </a:rPr>
                  <a:t> of all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$\frac{8}{792}=\frac1{99}$</a:t>
                </a:r>
                <a:r>
                  <a:rPr sz="2400" b="0">
                    <a:solidFill>
                      <a:srgbClr val="111827"/>
                    </a:solidFill>
                    <a:latin typeface="Arial"/>
                  </a:rPr>
                  <a:t> and </a:t>
                </a:r>
                <a:r>
                  <a:rPr lang="en-IN" sz="2400">
                    <a:solidFill>
                      <a:srgbClr val="111827"/>
                    </a:solidFill>
                    <a:latin typeface="Cambria Math" panose="02040503050406030204" pitchFamily="18" charset="0"/>
                  </a:rPr>
                  <a:t>$1663200/99=16800$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number of words, with or without meaning, which can be made using all the letters of the word MATHEMATICS in which C and S do not come together,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equal to: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5670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1890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945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2835</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number of words, with or without meaning, which can be made using all the letters of the word MATHEMATICS in which C and S do not come together, is </a:t>
                </a:r>
                <a:r>
                  <a:rPr lang="en-IN" sz="2400">
                    <a:solidFill>
                      <a:srgbClr val="111827"/>
                    </a:solidFill>
                    <a:latin typeface="Cambria Math" panose="02040503050406030204" pitchFamily="18" charset="0"/>
                  </a:rPr>
                  <a:t>$(6!)k$</a:t>
                </a:r>
                <a:r>
                  <a:rPr sz="2400" b="0">
                    <a:solidFill>
                      <a:srgbClr val="111827"/>
                    </a:solidFill>
                    <a:latin typeface="Arial"/>
                  </a:rPr>
                  <a:t>, then </a:t>
                </a:r>
                <a:r>
                  <a:rPr lang="en-IN" sz="2400">
                    <a:solidFill>
                      <a:srgbClr val="111827"/>
                    </a:solidFill>
                    <a:latin typeface="Cambria Math" panose="02040503050406030204" pitchFamily="18" charset="0"/>
                  </a:rPr>
                  <a:t>$k$</a:t>
                </a:r>
                <a:r>
                  <a:rPr sz="2400" b="0">
                    <a:solidFill>
                      <a:srgbClr val="111827"/>
                    </a:solidFill>
                    <a:latin typeface="Arial"/>
                  </a:rPr>
                  <a:t> is equal to: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$5670$</a:t>
                </a:r>
                <a:r>
                  <a:rPr sz="2400" b="0">
                    <a:solidFill>
                      <a:srgbClr val="111827"/>
                    </a:solidFill>
                    <a:latin typeface="Arial"/>
                  </a:rPr>
                  <a:t>   (B) </a:t>
                </a:r>
                <a:r>
                  <a:rPr lang="en-IN" sz="2400">
                    <a:solidFill>
                      <a:srgbClr val="111827"/>
                    </a:solidFill>
                    <a:latin typeface="Cambria Math" panose="02040503050406030204" pitchFamily="18" charset="0"/>
                  </a:rPr>
                  <a:t>$1890$</a:t>
                </a:r>
                <a:r>
                  <a:rPr sz="2400" b="0">
                    <a:solidFill>
                      <a:srgbClr val="111827"/>
                    </a:solidFill>
                    <a:latin typeface="Arial"/>
                  </a:rPr>
                  <a:t>   (C) </a:t>
                </a:r>
                <a:r>
                  <a:rPr lang="en-IN" sz="2400">
                    <a:solidFill>
                      <a:srgbClr val="111827"/>
                    </a:solidFill>
                    <a:latin typeface="Cambria Math" panose="02040503050406030204" pitchFamily="18" charset="0"/>
                  </a:rPr>
                  <a:t>$945$</a:t>
                </a:r>
                <a:r>
                  <a:rPr sz="2400" b="0">
                    <a:solidFill>
                      <a:srgbClr val="111827"/>
                    </a:solidFill>
                    <a:latin typeface="Arial"/>
                  </a:rPr>
                  <a:t>   (D) </a:t>
                </a:r>
                <a:r>
                  <a:rPr lang="en-IN" sz="2400">
                    <a:solidFill>
                      <a:srgbClr val="111827"/>
                    </a:solidFill>
                    <a:latin typeface="Cambria Math" panose="02040503050406030204" pitchFamily="18" charset="0"/>
                  </a:rPr>
                  <a:t>$2835$</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repeated letters and two letters kept apart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 and S not together'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all arrangements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arrangements with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oMath>
                </a14:m>
                <a:r>
                  <a:rPr sz="2400" b="0">
                    <a:solidFill>
                      <a:srgbClr val="78350F"/>
                    </a:solidFill>
                    <a:latin typeface="Arial"/>
                  </a:rPr>
                  <a:t> glued (two internal orders).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 and S not together' </a:t>
                </a:r>
                <a:r>
                  <a:rPr lang="en-IN" sz="2400">
                    <a:solidFill>
                      <a:srgbClr val="78350F"/>
                    </a:solidFill>
                    <a:latin typeface="Cambria Math" panose="02040503050406030204" pitchFamily="18" charset="0"/>
                  </a:rPr>
                  <a:t>$=$</a:t>
                </a:r>
                <a:r>
                  <a:rPr sz="2400" b="0">
                    <a:solidFill>
                      <a:srgbClr val="78350F"/>
                    </a:solidFill>
                    <a:latin typeface="Arial"/>
                  </a:rPr>
                  <a:t> all arrangements </a:t>
                </a:r>
                <a:r>
                  <a:rPr lang="en-IN" sz="2400">
                    <a:solidFill>
                      <a:srgbClr val="78350F"/>
                    </a:solidFill>
                    <a:latin typeface="Cambria Math" panose="02040503050406030204" pitchFamily="18" charset="0"/>
                  </a:rPr>
                  <a:t>$-$</a:t>
                </a:r>
                <a:r>
                  <a:rPr sz="2400" b="0">
                    <a:solidFill>
                      <a:srgbClr val="78350F"/>
                    </a:solidFill>
                    <a:latin typeface="Arial"/>
                  </a:rPr>
                  <a:t> arrangements with </a:t>
                </a:r>
                <a:r>
                  <a:rPr lang="en-IN" sz="2400">
                    <a:solidFill>
                      <a:srgbClr val="78350F"/>
                    </a:solidFill>
                    <a:latin typeface="Cambria Math" panose="02040503050406030204" pitchFamily="18" charset="0"/>
                  </a:rPr>
                  <a:t>$C,S$</a:t>
                </a:r>
                <a:r>
                  <a:rPr sz="2400" b="0">
                    <a:solidFill>
                      <a:srgbClr val="78350F"/>
                    </a:solidFill>
                    <a:latin typeface="Arial"/>
                  </a:rPr>
                  <a:t> glued (two internal orders).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MATHEMATICS has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letters with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each twice and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arrangements: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with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together: treat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𝑆</m:t>
                    </m:r>
                  </m:oMath>
                </a14:m>
                <a:r>
                  <a:rPr sz="2400" b="0">
                    <a:solidFill>
                      <a:srgbClr val="111827"/>
                    </a:solidFill>
                    <a:latin typeface="Arial"/>
                  </a:rPr>
                  <a:t> as one object,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objects: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order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𝑆</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𝑆</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MATHEMATICS has </a:t>
                </a:r>
                <a:r>
                  <a:rPr lang="en-IN" sz="2400">
                    <a:solidFill>
                      <a:srgbClr val="111827"/>
                    </a:solidFill>
                    <a:latin typeface="Cambria Math" panose="02040503050406030204" pitchFamily="18" charset="0"/>
                  </a:rPr>
                  <a:t>$11$</a:t>
                </a:r>
                <a:r>
                  <a:rPr sz="2400" b="0">
                    <a:solidFill>
                      <a:srgbClr val="111827"/>
                    </a:solidFill>
                    <a:latin typeface="Arial"/>
                  </a:rPr>
                  <a:t> letters with </a:t>
                </a:r>
                <a:r>
                  <a:rPr lang="en-IN" sz="2400">
                    <a:solidFill>
                      <a:srgbClr val="111827"/>
                    </a:solidFill>
                    <a:latin typeface="Cambria Math" panose="02040503050406030204" pitchFamily="18" charset="0"/>
                  </a:rPr>
                  <a:t>$M,A,T$</a:t>
                </a:r>
                <a:r>
                  <a:rPr sz="2400" b="0">
                    <a:solidFill>
                      <a:srgbClr val="111827"/>
                    </a:solidFill>
                    <a:latin typeface="Arial"/>
                  </a:rPr>
                  <a:t> each twice and </a:t>
                </a:r>
                <a:r>
                  <a:rPr lang="en-IN" sz="2400">
                    <a:solidFill>
                      <a:srgbClr val="111827"/>
                    </a:solidFill>
                    <a:latin typeface="Cambria Math" panose="02040503050406030204" pitchFamily="18" charset="0"/>
                  </a:rPr>
                  <a:t>$H,E,I,C,S$</a:t>
                </a:r>
                <a:r>
                  <a:rPr sz="2400" b="0">
                    <a:solidFill>
                      <a:srgbClr val="111827"/>
                    </a:solidFill>
                    <a:latin typeface="Arial"/>
                  </a:rPr>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arrangements: </a:t>
                </a:r>
                <a:r>
                  <a:rPr lang="en-IN" sz="2400">
                    <a:solidFill>
                      <a:srgbClr val="111827"/>
                    </a:solidFill>
                    <a:latin typeface="Cambria Math" panose="02040503050406030204" pitchFamily="18" charset="0"/>
                  </a:rPr>
                  <a:t>$\frac{11!}{2!\,2!\,2!}$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with </a:t>
                </a:r>
                <a:r>
                  <a:rPr lang="en-IN" sz="2400">
                    <a:solidFill>
                      <a:srgbClr val="111827"/>
                    </a:solidFill>
                    <a:latin typeface="Cambria Math" panose="02040503050406030204" pitchFamily="18" charset="0"/>
                  </a:rPr>
                  <a:t>$C,S$</a:t>
                </a:r>
                <a:r>
                  <a:rPr sz="2400" b="0">
                    <a:solidFill>
                      <a:srgbClr val="111827"/>
                    </a:solidFill>
                    <a:latin typeface="Arial"/>
                  </a:rPr>
                  <a:t> together: treat </a:t>
                </a:r>
                <a:r>
                  <a:rPr lang="en-IN" sz="2400">
                    <a:solidFill>
                      <a:srgbClr val="111827"/>
                    </a:solidFill>
                    <a:latin typeface="Cambria Math" panose="02040503050406030204" pitchFamily="18" charset="0"/>
                  </a:rPr>
                  <a:t>$CS$</a:t>
                </a:r>
                <a:r>
                  <a:rPr sz="2400" b="0">
                    <a:solidFill>
                      <a:srgbClr val="111827"/>
                    </a:solidFill>
                    <a:latin typeface="Arial"/>
                  </a:rPr>
                  <a:t> as one object, </a:t>
                </a:r>
                <a:r>
                  <a:rPr lang="en-IN" sz="2400">
                    <a:solidFill>
                      <a:srgbClr val="111827"/>
                    </a:solidFill>
                    <a:latin typeface="Cambria Math" panose="02040503050406030204" pitchFamily="18" charset="0"/>
                  </a:rPr>
                  <a:t>$10$</a:t>
                </a:r>
                <a:r>
                  <a:rPr sz="2400" b="0">
                    <a:solidFill>
                      <a:srgbClr val="111827"/>
                    </a:solidFill>
                    <a:latin typeface="Arial"/>
                  </a:rPr>
                  <a:t> objects: </a:t>
                </a:r>
                <a:r>
                  <a:rPr lang="en-IN" sz="2400">
                    <a:solidFill>
                      <a:srgbClr val="111827"/>
                    </a:solidFill>
                    <a:latin typeface="Cambria Math" panose="02040503050406030204" pitchFamily="18" charset="0"/>
                  </a:rPr>
                  <a:t>$\frac{10!}{2!\,2!\,2!}\times2!$</a:t>
                </a:r>
                <a:r>
                  <a:rPr sz="2400" b="0">
                    <a:solidFill>
                      <a:srgbClr val="111827"/>
                    </a:solidFill>
                    <a:latin typeface="Arial"/>
                  </a:rPr>
                  <a:t> (the </a:t>
                </a:r>
                <a:r>
                  <a:rPr lang="en-IN" sz="2400">
                    <a:solidFill>
                      <a:srgbClr val="111827"/>
                    </a:solidFill>
                    <a:latin typeface="Cambria Math" panose="02040503050406030204" pitchFamily="18" charset="0"/>
                  </a:rPr>
                  <a:t>$2!$</a:t>
                </a:r>
                <a:r>
                  <a:rPr sz="2400" b="0">
                    <a:solidFill>
                      <a:srgbClr val="111827"/>
                    </a:solidFill>
                    <a:latin typeface="Arial"/>
                  </a:rPr>
                  <a:t> for the order </a:t>
                </a:r>
                <a:r>
                  <a:rPr lang="en-IN" sz="2400">
                    <a:solidFill>
                      <a:srgbClr val="111827"/>
                    </a:solidFill>
                    <a:latin typeface="Cambria Math" panose="02040503050406030204" pitchFamily="18" charset="0"/>
                  </a:rPr>
                  <a:t>$CS$</a:t>
                </a:r>
                <a:r>
                  <a:rPr sz="2400" b="0">
                    <a:solidFill>
                      <a:srgbClr val="111827"/>
                    </a:solidFill>
                    <a:latin typeface="Arial"/>
                  </a:rPr>
                  <a:t> or </a:t>
                </a:r>
                <a:r>
                  <a:rPr lang="en-IN" sz="2400">
                    <a:solidFill>
                      <a:srgbClr val="111827"/>
                    </a:solidFill>
                    <a:latin typeface="Cambria Math" panose="02040503050406030204" pitchFamily="18" charset="0"/>
                  </a:rPr>
                  <a:t>$SC$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5670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$=\frac{11!}{2!2!2!}-\frac{10!}{2!2!2!}\times2!=\frac{10!\,(11-2)}{8}=\frac{9\times10!}{8}$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a:t>
                </a:r>
                <a:r>
                  <a:rPr lang="en-IN" sz="2400">
                    <a:solidFill>
                      <a:srgbClr val="111827"/>
                    </a:solidFill>
                    <a:latin typeface="Cambria Math" panose="02040503050406030204" pitchFamily="18" charset="0"/>
                  </a:rPr>
                  <a:t>$\frac{9\times10!}{8}=k\times6!$</a:t>
                </a:r>
                <a:r>
                  <a:rPr sz="2400" b="0">
                    <a:solidFill>
                      <a:srgbClr val="111827"/>
                    </a:solidFill>
                    <a:latin typeface="Arial"/>
                  </a:rPr>
                  <a:t>: </a:t>
                </a:r>
                <a:r>
                  <a:rPr lang="en-IN" sz="2400">
                    <a:solidFill>
                      <a:srgbClr val="111827"/>
                    </a:solidFill>
                    <a:latin typeface="Cambria Math" panose="02040503050406030204" pitchFamily="18" charset="0"/>
                  </a:rPr>
                  <a:t>$k=\frac{9\times10\times9\times8\times7}{8}=9\times9\times10\times7$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$k=5670$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5670</a:t>
            </a:r>
            <a:endParaRPr sz="2800">
              <a:solidFill>
                <a:srgbClr val="15803D"/>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Gap method: arrange the other nine letters, then put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into two different gaps.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Gap method: arrange the other nine letters, then put </a:t>
                </a:r>
                <a:r>
                  <a:rPr lang="en-IN" sz="2400">
                    <a:solidFill>
                      <a:srgbClr val="78350F"/>
                    </a:solidFill>
                    <a:latin typeface="Cambria Math" panose="02040503050406030204" pitchFamily="18" charset="0"/>
                  </a:rPr>
                  <a:t>$C$</a:t>
                </a:r>
                <a:r>
                  <a:rPr sz="2400" b="0">
                    <a:solidFill>
                      <a:srgbClr val="78350F"/>
                    </a:solidFill>
                    <a:latin typeface="Arial"/>
                  </a:rPr>
                  <a:t> and </a:t>
                </a:r>
                <a:r>
                  <a:rPr lang="en-IN" sz="2400">
                    <a:solidFill>
                      <a:srgbClr val="78350F"/>
                    </a:solidFill>
                    <a:latin typeface="Cambria Math" panose="02040503050406030204" pitchFamily="18" charset="0"/>
                  </a:rPr>
                  <a:t>$S$</a:t>
                </a:r>
                <a:r>
                  <a:rPr sz="2400" b="0">
                    <a:solidFill>
                      <a:srgbClr val="78350F"/>
                    </a:solidFill>
                    <a:latin typeface="Arial"/>
                  </a:rPr>
                  <a:t> into two different gaps.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nine letters other than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twice each,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once):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45360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leave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gaps;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must go in different gaps, so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4082400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4082400</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4082400</m:t>
                        </m:r>
                      </m:num>
                      <m:den>
                        <m:r>
                          <a:rPr lang="en-IN" sz="2400" i="1">
                            <a:solidFill>
                              <a:srgbClr val="111827"/>
                            </a:solidFill>
                            <a:latin typeface="Cambria Math" panose="02040503050406030204" pitchFamily="18" charset="0"/>
                          </a:rPr>
                          <m:t>720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5670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nine letters other than </a:t>
                </a:r>
                <a:r>
                  <a:rPr lang="en-IN" sz="2400">
                    <a:solidFill>
                      <a:srgbClr val="111827"/>
                    </a:solidFill>
                    <a:latin typeface="Cambria Math" panose="02040503050406030204" pitchFamily="18" charset="0"/>
                  </a:rPr>
                  <a:t>$C,S$</a:t>
                </a:r>
                <a:r>
                  <a:rPr sz="2400" b="0">
                    <a:solidFill>
                      <a:srgbClr val="111827"/>
                    </a:solidFill>
                    <a:latin typeface="Arial"/>
                  </a:rPr>
                  <a:t> (</a:t>
                </a:r>
                <a:r>
                  <a:rPr lang="en-IN" sz="2400">
                    <a:solidFill>
                      <a:srgbClr val="111827"/>
                    </a:solidFill>
                    <a:latin typeface="Cambria Math" panose="02040503050406030204" pitchFamily="18" charset="0"/>
                  </a:rPr>
                  <a:t>$M,A,T$</a:t>
                </a:r>
                <a:r>
                  <a:rPr sz="2400" b="0">
                    <a:solidFill>
                      <a:srgbClr val="111827"/>
                    </a:solidFill>
                    <a:latin typeface="Arial"/>
                  </a:rPr>
                  <a:t> twice each, </a:t>
                </a:r>
                <a:r>
                  <a:rPr lang="en-IN" sz="2400">
                    <a:solidFill>
                      <a:srgbClr val="111827"/>
                    </a:solidFill>
                    <a:latin typeface="Cambria Math" panose="02040503050406030204" pitchFamily="18" charset="0"/>
                  </a:rPr>
                  <a:t>$H,E,I$</a:t>
                </a:r>
                <a:r>
                  <a:rPr sz="2400" b="0">
                    <a:solidFill>
                      <a:srgbClr val="111827"/>
                    </a:solidFill>
                    <a:latin typeface="Arial"/>
                  </a:rPr>
                  <a:t> once): </a:t>
                </a:r>
                <a:r>
                  <a:rPr lang="en-IN" sz="2400">
                    <a:solidFill>
                      <a:srgbClr val="111827"/>
                    </a:solidFill>
                    <a:latin typeface="Cambria Math" panose="02040503050406030204" pitchFamily="18" charset="0"/>
                  </a:rPr>
                  <a:t>$\frac{9!}{2!\,2!\,2!}=45360$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leave </a:t>
                </a:r>
                <a:r>
                  <a:rPr lang="en-IN" sz="2400">
                    <a:solidFill>
                      <a:srgbClr val="111827"/>
                    </a:solidFill>
                    <a:latin typeface="Cambria Math" panose="02040503050406030204" pitchFamily="18" charset="0"/>
                  </a:rPr>
                  <a:t>$10$</a:t>
                </a:r>
                <a:r>
                  <a:rPr sz="2400" b="0">
                    <a:solidFill>
                      <a:srgbClr val="111827"/>
                    </a:solidFill>
                    <a:latin typeface="Arial"/>
                  </a:rPr>
                  <a:t> gaps; </a:t>
                </a:r>
                <a:r>
                  <a:rPr lang="en-IN" sz="2400">
                    <a:solidFill>
                      <a:srgbClr val="111827"/>
                    </a:solidFill>
                    <a:latin typeface="Cambria Math" panose="02040503050406030204" pitchFamily="18" charset="0"/>
                  </a:rPr>
                  <a:t>$C$</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must go in different gaps, so </a:t>
                </a:r>
                <a:r>
                  <a:rPr lang="en-IN" sz="2400">
                    <a:solidFill>
                      <a:srgbClr val="111827"/>
                    </a:solidFill>
                    <a:latin typeface="Cambria Math" panose="02040503050406030204" pitchFamily="18" charset="0"/>
                  </a:rPr>
                  <a:t>$10\times9=90$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$=45360\times90=4082400$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$k=\frac{4082400}{6!}=\frac{4082400}{720}=5670$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5670</a:t>
            </a:r>
            <a:endParaRPr sz="2800">
              <a:solidFill>
                <a:srgbClr val="15803D"/>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particular objects not together: all arrangements minus (glued arrangements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gap method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choices of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with the other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arranged first, the pair goes into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ordered gap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words with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together here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907200</m:t>
                    </m:r>
                  </m:oMath>
                </a14:m>
                <a:r>
                  <a:rPr sz="2400" b="0">
                    <a:solidFill>
                      <a:srgbClr val="111827"/>
                    </a:solidFill>
                    <a:latin typeface="Arial"/>
                  </a:rPr>
                  <a:t>, exactly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of the total.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particular objects not together: all arrangements minus (glued arrangements </a:t>
                </a:r>
                <a:r>
                  <a:rPr lang="en-IN" sz="2400">
                    <a:solidFill>
                      <a:srgbClr val="111827"/>
                    </a:solidFill>
                    <a:latin typeface="Cambria Math" panose="02040503050406030204" pitchFamily="18" charset="0"/>
                  </a:rPr>
                  <a:t>$\times\,2!$</a:t>
                </a:r>
                <a:r>
                  <a:rPr sz="2400" b="0">
                    <a:solidFill>
                      <a:srgbClr val="111827"/>
                    </a:solidFill>
                    <a:latin typeface="Arial"/>
                  </a:rPr>
                  <a:t>), or gap method with </a:t>
                </a:r>
                <a:r>
                  <a:rPr lang="en-IN" sz="2400">
                    <a:solidFill>
                      <a:srgbClr val="111827"/>
                    </a:solidFill>
                    <a:latin typeface="Cambria Math" panose="02040503050406030204" pitchFamily="18" charset="0"/>
                  </a:rPr>
                  <a:t>$\binom{n-1}{2}\cdot 2!$</a:t>
                </a:r>
                <a:r>
                  <a:rPr sz="2400" b="0">
                    <a:solidFill>
                      <a:srgbClr val="111827"/>
                    </a:solidFill>
                    <a:latin typeface="Arial"/>
                  </a:rPr>
                  <a:t> choices of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a:t>
                </a:r>
                <a:r>
                  <a:rPr sz="2400" b="0">
                    <a:solidFill>
                      <a:srgbClr val="111827"/>
                    </a:solidFill>
                    <a:latin typeface="Arial"/>
                  </a:rPr>
                  <a:t> objects with the other </a:t>
                </a:r>
                <a:r>
                  <a:rPr lang="en-IN" sz="2400">
                    <a:solidFill>
                      <a:srgbClr val="111827"/>
                    </a:solidFill>
                    <a:latin typeface="Cambria Math" panose="02040503050406030204" pitchFamily="18" charset="0"/>
                  </a:rPr>
                  <a:t>$n-2$</a:t>
                </a:r>
                <a:r>
                  <a:rPr sz="2400" b="0">
                    <a:solidFill>
                      <a:srgbClr val="111827"/>
                    </a:solidFill>
                    <a:latin typeface="Arial"/>
                  </a:rPr>
                  <a:t> arranged first, the pair goes into </a:t>
                </a:r>
                <a:r>
                  <a:rPr lang="en-IN" sz="2400">
                    <a:solidFill>
                      <a:srgbClr val="111827"/>
                    </a:solidFill>
                    <a:latin typeface="Cambria Math" panose="02040503050406030204" pitchFamily="18" charset="0"/>
                  </a:rPr>
                  <a:t>$(n-1)(n-2)$</a:t>
                </a:r>
                <a:r>
                  <a:rPr sz="2400" b="0">
                    <a:solidFill>
                      <a:srgbClr val="111827"/>
                    </a:solidFill>
                    <a:latin typeface="Arial"/>
                  </a:rPr>
                  <a:t> ordered gap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words with </a:t>
                </a:r>
                <a:r>
                  <a:rPr lang="en-IN" sz="2400">
                    <a:solidFill>
                      <a:srgbClr val="111827"/>
                    </a:solidFill>
                    <a:latin typeface="Cambria Math" panose="02040503050406030204" pitchFamily="18" charset="0"/>
                  </a:rPr>
                  <a:t>$C,S$</a:t>
                </a:r>
                <a:r>
                  <a:rPr sz="2400" b="0">
                    <a:solidFill>
                      <a:srgbClr val="111827"/>
                    </a:solidFill>
                    <a:latin typeface="Arial"/>
                  </a:rPr>
                  <a:t> together here is </a:t>
                </a:r>
                <a:r>
                  <a:rPr lang="en-IN" sz="2400">
                    <a:solidFill>
                      <a:srgbClr val="111827"/>
                    </a:solidFill>
                    <a:latin typeface="Cambria Math" panose="02040503050406030204" pitchFamily="18" charset="0"/>
                  </a:rPr>
                  <a:t>$2\cdot\frac{10!}{8}=907200$</a:t>
                </a:r>
                <a:r>
                  <a:rPr sz="2400" b="0">
                    <a:solidFill>
                      <a:srgbClr val="111827"/>
                    </a:solidFill>
                    <a:latin typeface="Arial"/>
                  </a:rPr>
                  <a:t>, exactly </a:t>
                </a:r>
                <a:r>
                  <a:rPr lang="en-IN" sz="2400">
                    <a:solidFill>
                      <a:srgbClr val="111827"/>
                    </a:solidFill>
                    <a:latin typeface="Cambria Math" panose="02040503050406030204" pitchFamily="18" charset="0"/>
                  </a:rPr>
                  <a:t>$\frac{2}{11}$</a:t>
                </a:r>
                <a:r>
                  <a:rPr sz="2400" b="0">
                    <a:solidFill>
                      <a:srgbClr val="111827"/>
                    </a:solidFill>
                    <a:latin typeface="Arial"/>
                  </a:rPr>
                  <a:t> of the total.</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Eight persons are to be transported from city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city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in three cars of different makes. If each car can accommodate at most three persons, then the number of ways, in which they can be transported,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1120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1680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3360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560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Eight persons are to be transported from city </a:t>
                </a:r>
                <a:r>
                  <a:rPr lang="en-IN" sz="2400">
                    <a:solidFill>
                      <a:srgbClr val="111827"/>
                    </a:solidFill>
                    <a:latin typeface="Cambria Math" panose="02040503050406030204" pitchFamily="18" charset="0"/>
                  </a:rPr>
                  <a:t>$A$</a:t>
                </a:r>
                <a:r>
                  <a:rPr sz="2400" b="0">
                    <a:solidFill>
                      <a:srgbClr val="111827"/>
                    </a:solidFill>
                    <a:latin typeface="Arial"/>
                  </a:rPr>
                  <a:t> to city </a:t>
                </a:r>
                <a:r>
                  <a:rPr lang="en-IN" sz="2400">
                    <a:solidFill>
                      <a:srgbClr val="111827"/>
                    </a:solidFill>
                    <a:latin typeface="Cambria Math" panose="02040503050406030204" pitchFamily="18" charset="0"/>
                  </a:rPr>
                  <a:t>$B$</a:t>
                </a:r>
                <a:r>
                  <a:rPr sz="2400" b="0">
                    <a:solidFill>
                      <a:srgbClr val="111827"/>
                    </a:solidFill>
                    <a:latin typeface="Arial"/>
                  </a:rPr>
                  <a:t> in three cars of different makes. If each car can accommodate at most three persons, then the number of ways, in which they can be transported,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$1120$</a:t>
                </a:r>
                <a:r>
                  <a:rPr sz="2400" b="0">
                    <a:solidFill>
                      <a:srgbClr val="111827"/>
                    </a:solidFill>
                    <a:latin typeface="Arial"/>
                  </a:rPr>
                  <a:t>   (B) </a:t>
                </a:r>
                <a:r>
                  <a:rPr lang="en-IN" sz="2400">
                    <a:solidFill>
                      <a:srgbClr val="111827"/>
                    </a:solidFill>
                    <a:latin typeface="Cambria Math" panose="02040503050406030204" pitchFamily="18" charset="0"/>
                  </a:rPr>
                  <a:t>$1680$</a:t>
                </a:r>
                <a:r>
                  <a:rPr sz="2400" b="0">
                    <a:solidFill>
                      <a:srgbClr val="111827"/>
                    </a:solidFill>
                    <a:latin typeface="Arial"/>
                  </a:rPr>
                  <a:t>   (C) </a:t>
                </a:r>
                <a:r>
                  <a:rPr lang="en-IN" sz="2400">
                    <a:solidFill>
                      <a:srgbClr val="111827"/>
                    </a:solidFill>
                    <a:latin typeface="Cambria Math" panose="02040503050406030204" pitchFamily="18" charset="0"/>
                  </a:rPr>
                  <a:t>$3360$</a:t>
                </a:r>
                <a:r>
                  <a:rPr sz="2400" b="0">
                    <a:solidFill>
                      <a:srgbClr val="111827"/>
                    </a:solidFill>
                    <a:latin typeface="Arial"/>
                  </a:rPr>
                  <a:t>   (D) </a:t>
                </a:r>
                <a:r>
                  <a:rPr lang="en-IN" sz="2400">
                    <a:solidFill>
                      <a:srgbClr val="111827"/>
                    </a:solidFill>
                    <a:latin typeface="Cambria Math" panose="02040503050406030204" pitchFamily="18" charset="0"/>
                  </a:rPr>
                  <a:t>$560$</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distinct groups with capacity limits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capacity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persons the car loads must be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 some order.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capacity </a:t>
                </a:r>
                <a:r>
                  <a:rPr lang="en-IN" sz="2400">
                    <a:solidFill>
                      <a:srgbClr val="78350F"/>
                    </a:solidFill>
                    <a:latin typeface="Cambria Math" panose="02040503050406030204" pitchFamily="18" charset="0"/>
                  </a:rPr>
                  <a:t>$3$</a:t>
                </a:r>
                <a:r>
                  <a:rPr sz="2400" b="0">
                    <a:solidFill>
                      <a:srgbClr val="78350F"/>
                    </a:solidFill>
                    <a:latin typeface="Arial"/>
                  </a:rPr>
                  <a:t> and </a:t>
                </a:r>
                <a:r>
                  <a:rPr lang="en-IN" sz="2400">
                    <a:solidFill>
                      <a:srgbClr val="78350F"/>
                    </a:solidFill>
                    <a:latin typeface="Cambria Math" panose="02040503050406030204" pitchFamily="18" charset="0"/>
                  </a:rPr>
                  <a:t>$8$</a:t>
                </a:r>
                <a:r>
                  <a:rPr sz="2400" b="0">
                    <a:solidFill>
                      <a:srgbClr val="78350F"/>
                    </a:solidFill>
                    <a:latin typeface="Arial"/>
                  </a:rPr>
                  <a:t> persons the car loads must be </a:t>
                </a:r>
                <a:r>
                  <a:rPr lang="en-IN" sz="2400">
                    <a:solidFill>
                      <a:srgbClr val="78350F"/>
                    </a:solidFill>
                    <a:latin typeface="Cambria Math" panose="02040503050406030204" pitchFamily="18" charset="0"/>
                  </a:rPr>
                  <a:t>$3,3,2$</a:t>
                </a:r>
                <a:r>
                  <a:rPr sz="2400" b="0">
                    <a:solidFill>
                      <a:srgbClr val="78350F"/>
                    </a:solidFill>
                    <a:latin typeface="Arial"/>
                  </a:rPr>
                  <a:t> in some order.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loads be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with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only possibility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some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persons into groups of sizes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 the two equal groups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Assign the three groups to the three different cars: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loads be </a:t>
                </a:r>
                <a:r>
                  <a:rPr lang="en-IN" sz="2400">
                    <a:solidFill>
                      <a:srgbClr val="111827"/>
                    </a:solidFill>
                    <a:latin typeface="Cambria Math" panose="02040503050406030204" pitchFamily="18" charset="0"/>
                  </a:rPr>
                  <a:t>$a+b+c=8$</a:t>
                </a:r>
                <a:r>
                  <a:rPr sz="2400" b="0">
                    <a:solidFill>
                      <a:srgbClr val="111827"/>
                    </a:solidFill>
                    <a:latin typeface="Arial"/>
                  </a:rPr>
                  <a:t> with each </a:t>
                </a:r>
                <a:r>
                  <a:rPr lang="en-IN" sz="2400">
                    <a:solidFill>
                      <a:srgbClr val="111827"/>
                    </a:solidFill>
                    <a:latin typeface="Cambria Math" panose="02040503050406030204" pitchFamily="18" charset="0"/>
                  </a:rPr>
                  <a:t>$\le3$</a:t>
                </a:r>
                <a:r>
                  <a:rPr sz="2400" b="0">
                    <a:solidFill>
                      <a:srgbClr val="111827"/>
                    </a:solidFill>
                    <a:latin typeface="Arial"/>
                  </a:rPr>
                  <a:t>. The only possibility is </a:t>
                </a:r>
                <a:r>
                  <a:rPr lang="en-IN" sz="2400">
                    <a:solidFill>
                      <a:srgbClr val="111827"/>
                    </a:solidFill>
                    <a:latin typeface="Cambria Math" panose="02040503050406030204" pitchFamily="18" charset="0"/>
                  </a:rPr>
                  <a:t>$3,3,2$</a:t>
                </a:r>
                <a:r>
                  <a:rPr sz="2400" b="0">
                    <a:solidFill>
                      <a:srgbClr val="111827"/>
                    </a:solidFill>
                    <a:latin typeface="Arial"/>
                  </a:rPr>
                  <a:t> in some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the </a:t>
                </a:r>
                <a:r>
                  <a:rPr lang="en-IN" sz="2400">
                    <a:solidFill>
                      <a:srgbClr val="111827"/>
                    </a:solidFill>
                    <a:latin typeface="Cambria Math" panose="02040503050406030204" pitchFamily="18" charset="0"/>
                  </a:rPr>
                  <a:t>$8$</a:t>
                </a:r>
                <a:r>
                  <a:rPr sz="2400" b="0">
                    <a:solidFill>
                      <a:srgbClr val="111827"/>
                    </a:solidFill>
                    <a:latin typeface="Arial"/>
                  </a:rPr>
                  <a:t> persons into groups of sizes </a:t>
                </a:r>
                <a:r>
                  <a:rPr lang="en-IN" sz="2400">
                    <a:solidFill>
                      <a:srgbClr val="111827"/>
                    </a:solidFill>
                    <a:latin typeface="Cambria Math" panose="02040503050406030204" pitchFamily="18" charset="0"/>
                  </a:rPr>
                  <a:t>$3,3,2$</a:t>
                </a:r>
                <a:r>
                  <a:rPr sz="2400" b="0">
                    <a:solidFill>
                      <a:srgbClr val="111827"/>
                    </a:solidFill>
                    <a:latin typeface="Arial"/>
                  </a:rPr>
                  <a:t>: </a:t>
                </a:r>
                <a:r>
                  <a:rPr lang="en-IN" sz="2400">
                    <a:solidFill>
                      <a:srgbClr val="111827"/>
                    </a:solidFill>
                    <a:latin typeface="Cambria Math" panose="02040503050406030204" pitchFamily="18" charset="0"/>
                  </a:rPr>
                  <a:t>$\frac{8!}{3!\,3!\,2!}\cdot\frac1{2!}$</a:t>
                </a:r>
                <a:r>
                  <a:rPr sz="2400" b="0">
                    <a:solidFill>
                      <a:srgbClr val="111827"/>
                    </a:solidFill>
                    <a:latin typeface="Arial"/>
                  </a:rPr>
                  <a:t> for the two equal groups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Assign the three groups to the three different cars: </a:t>
                </a:r>
                <a:r>
                  <a:rPr lang="en-IN" sz="2400">
                    <a:solidFill>
                      <a:srgbClr val="111827"/>
                    </a:solidFill>
                    <a:latin typeface="Cambria Math" panose="02040503050406030204" pitchFamily="18" charset="0"/>
                  </a:rPr>
                  <a:t>$3!$</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$=\frac{8!}{3!\,3!\,2!}\times\frac{3!}{2!}=560\times3=1680$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1680</a:t>
            </a:r>
            <a:endParaRPr sz="2800">
              <a:solidFill>
                <a:srgbClr val="15803D"/>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each car holds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persons.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each car holds </a:t>
                </a:r>
                <a:r>
                  <a:rPr lang="en-IN" sz="2400">
                    <a:solidFill>
                      <a:srgbClr val="78350F"/>
                    </a:solidFill>
                    <a:latin typeface="Cambria Math" panose="02040503050406030204" pitchFamily="18" charset="0"/>
                  </a:rPr>
                  <a:t>$0$</a:t>
                </a:r>
                <a:r>
                  <a:rPr sz="2400" b="0">
                    <a:solidFill>
                      <a:srgbClr val="78350F"/>
                    </a:solidFill>
                    <a:latin typeface="Arial"/>
                  </a:rPr>
                  <a:t> to </a:t>
                </a:r>
                <a:r>
                  <a:rPr lang="en-IN" sz="2400">
                    <a:solidFill>
                      <a:srgbClr val="78350F"/>
                    </a:solidFill>
                    <a:latin typeface="Cambria Math" panose="02040503050406030204" pitchFamily="18" charset="0"/>
                  </a:rPr>
                  <a:t>$3$</a:t>
                </a:r>
                <a:r>
                  <a:rPr sz="2400" b="0">
                    <a:solidFill>
                      <a:srgbClr val="78350F"/>
                    </a:solidFill>
                    <a:latin typeface="Arial"/>
                  </a:rPr>
                  <a:t> persons.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put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distinct persons into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distinct cars with loads limited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e>
                        </m:d>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loads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reach degree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its three orders each contribute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put </a:t>
                </a:r>
                <a:r>
                  <a:rPr lang="en-IN" sz="2400">
                    <a:solidFill>
                      <a:srgbClr val="111827"/>
                    </a:solidFill>
                    <a:latin typeface="Cambria Math" panose="02040503050406030204" pitchFamily="18" charset="0"/>
                  </a:rPr>
                  <a:t>$8$</a:t>
                </a:r>
                <a:r>
                  <a:rPr sz="2400" b="0">
                    <a:solidFill>
                      <a:srgbClr val="111827"/>
                    </a:solidFill>
                    <a:latin typeface="Arial"/>
                  </a:rPr>
                  <a:t> distinct persons into </a:t>
                </a:r>
                <a:r>
                  <a:rPr lang="en-IN" sz="2400">
                    <a:solidFill>
                      <a:srgbClr val="111827"/>
                    </a:solidFill>
                    <a:latin typeface="Cambria Math" panose="02040503050406030204" pitchFamily="18" charset="0"/>
                  </a:rPr>
                  <a:t>$3$</a:t>
                </a:r>
                <a:r>
                  <a:rPr sz="2400" b="0">
                    <a:solidFill>
                      <a:srgbClr val="111827"/>
                    </a:solidFill>
                    <a:latin typeface="Arial"/>
                  </a:rPr>
                  <a:t> distinct cars with loads limited to </a:t>
                </a:r>
                <a:r>
                  <a:rPr lang="en-IN" sz="2400">
                    <a:solidFill>
                      <a:srgbClr val="111827"/>
                    </a:solidFill>
                    <a:latin typeface="Cambria Math" panose="02040503050406030204" pitchFamily="18" charset="0"/>
                  </a:rPr>
                  <a:t>$3$</a:t>
                </a:r>
                <a:r>
                  <a:rPr sz="2400" b="0">
                    <a:solidFill>
                      <a:srgbClr val="111827"/>
                    </a:solidFill>
                    <a:latin typeface="Arial"/>
                  </a:rPr>
                  <a:t> is </a:t>
                </a:r>
                <a:r>
                  <a:rPr lang="en-IN" sz="2400">
                    <a:solidFill>
                      <a:srgbClr val="111827"/>
                    </a:solidFill>
                    <a:latin typeface="Cambria Math" panose="02040503050406030204" pitchFamily="18" charset="0"/>
                  </a:rPr>
                  <a:t>$8!\,[x^8]\left(1+x+\frac{x^2}{2!}+\frac{x^3}{3!}\right)^3$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loads </a:t>
                </a:r>
                <a:r>
                  <a:rPr lang="en-IN" sz="2400">
                    <a:solidFill>
                      <a:srgbClr val="111827"/>
                    </a:solidFill>
                    <a:latin typeface="Cambria Math" panose="02040503050406030204" pitchFamily="18" charset="0"/>
                  </a:rPr>
                  <a:t>$(3,3,2)$</a:t>
                </a:r>
                <a:r>
                  <a:rPr sz="2400" b="0">
                    <a:solidFill>
                      <a:srgbClr val="111827"/>
                    </a:solidFill>
                    <a:latin typeface="Arial"/>
                  </a:rPr>
                  <a:t> reach degree </a:t>
                </a:r>
                <a:r>
                  <a:rPr lang="en-IN" sz="2400">
                    <a:solidFill>
                      <a:srgbClr val="111827"/>
                    </a:solidFill>
                    <a:latin typeface="Cambria Math" panose="02040503050406030204" pitchFamily="18" charset="0"/>
                  </a:rPr>
                  <a:t>$8$</a:t>
                </a:r>
                <a:r>
                  <a:rPr sz="2400" b="0">
                    <a:solidFill>
                      <a:srgbClr val="111827"/>
                    </a:solidFill>
                    <a:latin typeface="Arial"/>
                  </a:rPr>
                  <a:t>; its three orders each contribute </a:t>
                </a:r>
                <a:r>
                  <a:rPr lang="en-IN" sz="2400">
                    <a:solidFill>
                      <a:srgbClr val="111827"/>
                    </a:solidFill>
                    <a:latin typeface="Cambria Math" panose="02040503050406030204" pitchFamily="18" charset="0"/>
                  </a:rPr>
                  <a:t>$\frac1{3!}\cdot\frac1{3!}\cdot\frac1{2!}=\frac1{72}$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40320</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$x^8$</a:t>
                </a:r>
                <a:r>
                  <a:rPr sz="2400" b="0">
                    <a:solidFill>
                      <a:srgbClr val="111827"/>
                    </a:solidFill>
                    <a:latin typeface="Arial"/>
                  </a:rPr>
                  <a:t> </a:t>
                </a:r>
                <a:r>
                  <a:rPr lang="en-IN" sz="2400">
                    <a:solidFill>
                      <a:srgbClr val="111827"/>
                    </a:solidFill>
                    <a:latin typeface="Cambria Math" panose="02040503050406030204" pitchFamily="18" charset="0"/>
                  </a:rPr>
                  <a:t>$=\frac{3}{72}=\frac1{24}$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$=8!\times\frac1{24}=\frac{40320}{24}=1680$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1680</a:t>
            </a:r>
            <a:endParaRPr sz="2800">
              <a:solidFill>
                <a:srgbClr val="15803D"/>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persons into distinct cars with limits: first find the allowed load patterns, then (choose which car gets which load)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multinomial.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Distribution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into boxes with sizes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 labelled boxes.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Exponential generating functions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𝑗</m:t>
                                    </m:r>
                                  </m:sup>
                                </m:sSup>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en>
                            </m:f>
                          </m:e>
                        </m:nary>
                      </m:e>
                    </m:d>
                  </m:oMath>
                </a14:m>
                <a:r>
                  <a:rPr sz="2400" b="0">
                    <a:solidFill>
                      <a:srgbClr val="111827"/>
                    </a:solidFill>
                    <a:latin typeface="Arial"/>
                  </a:rPr>
                  <a:t> handle capacity limits automatically: answer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persons into distinct cars with limits: first find the allowed load patterns, then (choose which car gets which load) </a:t>
                </a:r>
                <a:r>
                  <a:rPr lang="en-IN" sz="2400">
                    <a:solidFill>
                      <a:srgbClr val="111827"/>
                    </a:solidFill>
                    <a:latin typeface="Cambria Math" panose="02040503050406030204" pitchFamily="18" charset="0"/>
                  </a:rPr>
                  <a:t>$\times$</a:t>
                </a:r>
                <a:r>
                  <a:rPr sz="2400" b="0">
                    <a:solidFill>
                      <a:srgbClr val="111827"/>
                    </a:solidFill>
                    <a:latin typeface="Arial"/>
                  </a:rPr>
                  <a:t> multinomial.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Distribution of </a:t>
                </a:r>
                <a:r>
                  <a:rPr lang="en-IN" sz="2400">
                    <a:solidFill>
                      <a:srgbClr val="111827"/>
                    </a:solidFill>
                    <a:latin typeface="Cambria Math" panose="02040503050406030204" pitchFamily="18" charset="0"/>
                  </a:rPr>
                  <a:t>$n$</a:t>
                </a:r>
                <a:r>
                  <a:rPr sz="2400" b="0">
                    <a:solidFill>
                      <a:srgbClr val="111827"/>
                    </a:solidFill>
                    <a:latin typeface="Arial"/>
                  </a:rPr>
                  <a:t> distinct objects into boxes with sizes </a:t>
                </a:r>
                <a:r>
                  <a:rPr lang="en-IN" sz="2400">
                    <a:solidFill>
                      <a:srgbClr val="111827"/>
                    </a:solidFill>
                    <a:latin typeface="Cambria Math" panose="02040503050406030204" pitchFamily="18" charset="0"/>
                  </a:rPr>
                  <a:t>$n_1,\dots,n_k$</a:t>
                </a:r>
                <a:r>
                  <a:rPr sz="2400" b="0">
                    <a:solidFill>
                      <a:srgbClr val="111827"/>
                    </a:solidFill>
                    <a:latin typeface="Arial"/>
                  </a:rPr>
                  <a:t>: </a:t>
                </a:r>
                <a:r>
                  <a:rPr lang="en-IN" sz="2400">
                    <a:solidFill>
                      <a:srgbClr val="111827"/>
                    </a:solidFill>
                    <a:latin typeface="Cambria Math" panose="02040503050406030204" pitchFamily="18" charset="0"/>
                  </a:rPr>
                  <a:t>$\frac{n!}{n_1!\cdots n_k!}$</a:t>
                </a:r>
                <a:r>
                  <a:rPr sz="2400" b="0">
                    <a:solidFill>
                      <a:srgbClr val="111827"/>
                    </a:solidFill>
                    <a:latin typeface="Arial"/>
                  </a:rPr>
                  <a:t> for labelled boxes.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Exponential generating functions </a:t>
                </a:r>
                <a:r>
                  <a:rPr lang="en-IN" sz="2400">
                    <a:solidFill>
                      <a:srgbClr val="111827"/>
                    </a:solidFill>
                    <a:latin typeface="Cambria Math" panose="02040503050406030204" pitchFamily="18" charset="0"/>
                  </a:rPr>
                  <a:t>$\prod\left(\sum_{j\le c_i}\frac{x^j}{j!}\right)$</a:t>
                </a:r>
                <a:r>
                  <a:rPr sz="2400" b="0">
                    <a:solidFill>
                      <a:srgbClr val="111827"/>
                    </a:solidFill>
                    <a:latin typeface="Arial"/>
                  </a:rPr>
                  <a:t> handle capacity limits automatically: answer </a:t>
                </a:r>
                <a:r>
                  <a:rPr lang="en-IN" sz="2400">
                    <a:solidFill>
                      <a:srgbClr val="111827"/>
                    </a:solidFill>
                    <a:latin typeface="Cambria Math" panose="02040503050406030204" pitchFamily="18" charset="0"/>
                  </a:rPr>
                  <a:t>$=n![x^n]$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triplets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distinct non negative integers satisfying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136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114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92</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triplets </a:t>
                </a:r>
                <a:r>
                  <a:rPr lang="en-IN" sz="2400">
                    <a:solidFill>
                      <a:srgbClr val="111827"/>
                    </a:solidFill>
                    <a:latin typeface="Cambria Math" panose="02040503050406030204" pitchFamily="18" charset="0"/>
                  </a:rPr>
                  <a:t>$(x,y,z)$</a:t>
                </a:r>
                <a:r>
                  <a:rPr sz="2400" b="0">
                    <a:solidFill>
                      <a:srgbClr val="111827"/>
                    </a:solidFill>
                    <a:latin typeface="Arial"/>
                  </a:rPr>
                  <a:t> where </a:t>
                </a:r>
                <a:r>
                  <a:rPr lang="en-IN" sz="2400">
                    <a:solidFill>
                      <a:srgbClr val="111827"/>
                    </a:solidFill>
                    <a:latin typeface="Cambria Math" panose="02040503050406030204" pitchFamily="18" charset="0"/>
                  </a:rPr>
                  <a:t>$x,y,z$</a:t>
                </a:r>
                <a:r>
                  <a:rPr sz="2400" b="0">
                    <a:solidFill>
                      <a:srgbClr val="111827"/>
                    </a:solidFill>
                    <a:latin typeface="Arial"/>
                  </a:rPr>
                  <a:t> are distinct non negative integers satisfying </a:t>
                </a:r>
                <a:r>
                  <a:rPr lang="en-IN" sz="2400">
                    <a:solidFill>
                      <a:srgbClr val="111827"/>
                    </a:solidFill>
                    <a:latin typeface="Cambria Math" panose="02040503050406030204" pitchFamily="18" charset="0"/>
                  </a:rPr>
                  <a:t>$x+y+z=15$</a:t>
                </a:r>
                <a:r>
                  <a:rPr sz="2400" b="0">
                    <a:solidFill>
                      <a:srgbClr val="111827"/>
                    </a:solidFill>
                    <a:latin typeface="Arial"/>
                  </a:rPr>
                  <a:t>,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$136$</a:t>
                </a:r>
                <a:r>
                  <a:rPr sz="2400" b="0">
                    <a:solidFill>
                      <a:srgbClr val="111827"/>
                    </a:solidFill>
                    <a:latin typeface="Arial"/>
                  </a:rPr>
                  <a:t>   (B) </a:t>
                </a:r>
                <a:r>
                  <a:rPr lang="en-IN" sz="2400">
                    <a:solidFill>
                      <a:srgbClr val="111827"/>
                    </a:solidFill>
                    <a:latin typeface="Cambria Math" panose="02040503050406030204" pitchFamily="18" charset="0"/>
                  </a:rPr>
                  <a:t>$80$</a:t>
                </a:r>
                <a:r>
                  <a:rPr sz="2400" b="0">
                    <a:solidFill>
                      <a:srgbClr val="111827"/>
                    </a:solidFill>
                    <a:latin typeface="Arial"/>
                  </a:rPr>
                  <a:t>   (C) </a:t>
                </a:r>
                <a:r>
                  <a:rPr lang="en-IN" sz="2400">
                    <a:solidFill>
                      <a:srgbClr val="111827"/>
                    </a:solidFill>
                    <a:latin typeface="Cambria Math" panose="02040503050406030204" pitchFamily="18" charset="0"/>
                  </a:rPr>
                  <a:t>$114$</a:t>
                </a:r>
                <a:r>
                  <a:rPr sz="2400" b="0">
                    <a:solidFill>
                      <a:srgbClr val="111827"/>
                    </a:solidFill>
                    <a:latin typeface="Arial"/>
                  </a:rPr>
                  <a:t>   (D) </a:t>
                </a:r>
                <a:r>
                  <a:rPr lang="en-IN" sz="2400">
                    <a:solidFill>
                      <a:srgbClr val="111827"/>
                    </a:solidFill>
                    <a:latin typeface="Cambria Math" panose="02040503050406030204" pitchFamily="18" charset="0"/>
                  </a:rPr>
                  <a:t>$92$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solutions of a linear equation with distinctness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Distinct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total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(exactly two equal)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(all equal); count 'two equal' as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case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Distinct </a:t>
                </a:r>
                <a:r>
                  <a:rPr lang="en-IN" sz="2400">
                    <a:solidFill>
                      <a:srgbClr val="78350F"/>
                    </a:solidFill>
                    <a:latin typeface="Cambria Math" panose="02040503050406030204" pitchFamily="18" charset="0"/>
                  </a:rPr>
                  <a:t>$=$</a:t>
                </a:r>
                <a:r>
                  <a:rPr sz="2400" b="0">
                    <a:solidFill>
                      <a:srgbClr val="78350F"/>
                    </a:solidFill>
                    <a:latin typeface="Arial"/>
                  </a:rPr>
                  <a:t> total </a:t>
                </a:r>
                <a:r>
                  <a:rPr lang="en-IN" sz="2400">
                    <a:solidFill>
                      <a:srgbClr val="78350F"/>
                    </a:solidFill>
                    <a:latin typeface="Cambria Math" panose="02040503050406030204" pitchFamily="18" charset="0"/>
                  </a:rPr>
                  <a:t>$-$</a:t>
                </a:r>
                <a:r>
                  <a:rPr sz="2400" b="0">
                    <a:solidFill>
                      <a:srgbClr val="78350F"/>
                    </a:solidFill>
                    <a:latin typeface="Arial"/>
                  </a:rPr>
                  <a:t> (exactly two equal) </a:t>
                </a:r>
                <a:r>
                  <a:rPr lang="en-IN" sz="2400">
                    <a:solidFill>
                      <a:srgbClr val="78350F"/>
                    </a:solidFill>
                    <a:latin typeface="Cambria Math" panose="02040503050406030204" pitchFamily="18" charset="0"/>
                  </a:rPr>
                  <a:t>$-$</a:t>
                </a:r>
                <a:r>
                  <a:rPr sz="2400" b="0">
                    <a:solidFill>
                      <a:srgbClr val="78350F"/>
                    </a:solidFill>
                    <a:latin typeface="Arial"/>
                  </a:rPr>
                  <a:t> (all equal); count 'two equal' as </a:t>
                </a:r>
                <a:r>
                  <a:rPr lang="en-IN" sz="2400">
                    <a:solidFill>
                      <a:srgbClr val="78350F"/>
                    </a:solidFill>
                    <a:latin typeface="Cambria Math" panose="02040503050406030204" pitchFamily="18" charset="0"/>
                  </a:rPr>
                  <a:t>$3\times$</a:t>
                </a:r>
                <a:r>
                  <a:rPr sz="2400" b="0">
                    <a:solidFill>
                      <a:srgbClr val="78350F"/>
                    </a:solidFill>
                    <a:latin typeface="Arial"/>
                  </a:rPr>
                  <a:t> the case </a:t>
                </a:r>
                <a:r>
                  <a:rPr lang="en-IN" sz="2400">
                    <a:solidFill>
                      <a:srgbClr val="78350F"/>
                    </a:solidFill>
                    <a:latin typeface="Cambria Math" panose="02040503050406030204" pitchFamily="18" charset="0"/>
                  </a:rPr>
                  <a:t>$x=y\ne z$</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all three are equal):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solutions have exactly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solutions of </a:t>
                </a:r>
                <a:r>
                  <a:rPr lang="en-IN" sz="2400">
                    <a:solidFill>
                      <a:srgbClr val="111827"/>
                    </a:solidFill>
                    <a:latin typeface="Cambria Math" panose="02040503050406030204" pitchFamily="18" charset="0"/>
                  </a:rPr>
                  <a:t>$x+y+z=15$</a:t>
                </a:r>
                <a:r>
                  <a:rPr sz="2400" b="0">
                    <a:solidFill>
                      <a:srgbClr val="111827"/>
                    </a:solidFill>
                    <a:latin typeface="Arial"/>
                  </a:rPr>
                  <a:t>: </a:t>
                </a:r>
                <a:r>
                  <a:rPr lang="en-IN" sz="2400">
                    <a:solidFill>
                      <a:srgbClr val="111827"/>
                    </a:solidFill>
                    <a:latin typeface="Cambria Math" panose="02040503050406030204" pitchFamily="18" charset="0"/>
                  </a:rPr>
                  <a:t>$^{15+3-1}C_{3-1}={}^{17}C_2=136$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$2x+z=15$</a:t>
                </a:r>
                <a:r>
                  <a:rPr sz="2400" b="0">
                    <a:solidFill>
                      <a:srgbClr val="111827"/>
                    </a:solidFill>
                    <a:latin typeface="Arial"/>
                  </a:rPr>
                  <a:t>, so </a:t>
                </a:r>
                <a:r>
                  <a:rPr lang="en-IN" sz="2400">
                    <a:solidFill>
                      <a:srgbClr val="111827"/>
                    </a:solidFill>
                    <a:latin typeface="Cambria Math" panose="02040503050406030204" pitchFamily="18" charset="0"/>
                  </a:rPr>
                  <a:t>$z=15-2x$</a:t>
                </a:r>
                <a:r>
                  <a:rPr sz="2400" b="0">
                    <a:solidFill>
                      <a:srgbClr val="111827"/>
                    </a:solidFill>
                    <a:latin typeface="Arial"/>
                  </a:rPr>
                  <a:t> with </a:t>
                </a:r>
                <a:r>
                  <a:rPr lang="en-IN" sz="2400">
                    <a:solidFill>
                      <a:srgbClr val="111827"/>
                    </a:solidFill>
                    <a:latin typeface="Cambria Math" panose="02040503050406030204" pitchFamily="18" charset="0"/>
                  </a:rPr>
                  <a:t>$x=0,1,\dots,7$</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a:t>
                </a:r>
                <a:r>
                  <a:rPr lang="en-IN" sz="2400">
                    <a:solidFill>
                      <a:srgbClr val="111827"/>
                    </a:solidFill>
                    <a:latin typeface="Cambria Math" panose="02040503050406030204" pitchFamily="18" charset="0"/>
                  </a:rPr>
                  <a:t>$x=5$</a:t>
                </a:r>
                <a:r>
                  <a:rPr sz="2400" b="0">
                    <a:solidFill>
                      <a:srgbClr val="111827"/>
                    </a:solidFill>
                    <a:latin typeface="Arial"/>
                  </a:rPr>
                  <a:t> (then </a:t>
                </a:r>
                <a:r>
                  <a:rPr lang="en-IN" sz="2400">
                    <a:solidFill>
                      <a:srgbClr val="111827"/>
                    </a:solidFill>
                    <a:latin typeface="Cambria Math" panose="02040503050406030204" pitchFamily="18" charset="0"/>
                  </a:rPr>
                  <a:t>$z=5$</a:t>
                </a:r>
                <a:r>
                  <a:rPr sz="2400" b="0">
                    <a:solidFill>
                      <a:srgbClr val="111827"/>
                    </a:solidFill>
                    <a:latin typeface="Arial"/>
                  </a:rPr>
                  <a:t> and all three are equal): </a:t>
                </a:r>
                <a:r>
                  <a:rPr lang="en-IN" sz="2400">
                    <a:solidFill>
                      <a:srgbClr val="111827"/>
                    </a:solidFill>
                    <a:latin typeface="Cambria Math" panose="02040503050406030204" pitchFamily="18" charset="0"/>
                  </a:rPr>
                  <a:t>$7$</a:t>
                </a:r>
                <a:r>
                  <a:rPr sz="2400" b="0">
                    <a:solidFill>
                      <a:srgbClr val="111827"/>
                    </a:solidFill>
                    <a:latin typeface="Arial"/>
                  </a:rPr>
                  <a:t> solutions have exactly </a:t>
                </a:r>
                <a:r>
                  <a:rPr lang="en-IN" sz="2400">
                    <a:solidFill>
                      <a:srgbClr val="111827"/>
                    </a:solidFill>
                    <a:latin typeface="Cambria Math" panose="02040503050406030204" pitchFamily="18" charset="0"/>
                  </a:rPr>
                  <a:t>$x=y\ne z$</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solutions with exactly two equal values: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solution has all three equal: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solutions with exactly two equal values: </a:t>
                </a:r>
                <a:r>
                  <a:rPr lang="en-IN" sz="2400">
                    <a:solidFill>
                      <a:srgbClr val="111827"/>
                    </a:solidFill>
                    <a:latin typeface="Cambria Math" panose="02040503050406030204" pitchFamily="18" charset="0"/>
                  </a:rPr>
                  <a:t>$3\times7=21$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solution has all three equal: </a:t>
                </a:r>
                <a:r>
                  <a:rPr lang="en-IN" sz="2400">
                    <a:solidFill>
                      <a:srgbClr val="111827"/>
                    </a:solidFill>
                    <a:latin typeface="Cambria Math" panose="02040503050406030204" pitchFamily="18" charset="0"/>
                  </a:rPr>
                  <a:t>$x=y=z=5$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$=136-21-1=114$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114</a:t>
            </a:r>
            <a:endParaRPr sz="2800">
              <a:solidFill>
                <a:srgbClr val="15803D"/>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unordered distinct triples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𝑧</m:t>
                    </m:r>
                  </m:oMath>
                </a14:m>
                <a:r>
                  <a:rPr sz="2400" b="0">
                    <a:solidFill>
                      <a:srgbClr val="78350F"/>
                    </a:solidFill>
                    <a:latin typeface="Arial"/>
                  </a:rPr>
                  <a:t> and multiply by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unordered distinct triples </a:t>
                </a:r>
                <a:r>
                  <a:rPr lang="en-IN" sz="2400">
                    <a:solidFill>
                      <a:srgbClr val="78350F"/>
                    </a:solidFill>
                    <a:latin typeface="Cambria Math" panose="02040503050406030204" pitchFamily="18" charset="0"/>
                  </a:rPr>
                  <a:t>$x&lt;y&lt;z$</a:t>
                </a:r>
                <a:r>
                  <a:rPr sz="2400" b="0">
                    <a:solidFill>
                      <a:srgbClr val="78350F"/>
                    </a:solidFill>
                    <a:latin typeface="Arial"/>
                  </a:rPr>
                  <a:t> and multiply by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becomes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triples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$x=a$</a:t>
                </a:r>
                <a:r>
                  <a:rPr sz="2400" b="0">
                    <a:solidFill>
                      <a:srgbClr val="111827"/>
                    </a:solidFill>
                    <a:latin typeface="Arial"/>
                  </a:rPr>
                  <a:t>, </a:t>
                </a:r>
                <a:r>
                  <a:rPr lang="en-IN" sz="2400">
                    <a:solidFill>
                      <a:srgbClr val="111827"/>
                    </a:solidFill>
                    <a:latin typeface="Cambria Math" panose="02040503050406030204" pitchFamily="18" charset="0"/>
                  </a:rPr>
                  <a:t>$y=a+b+1$</a:t>
                </a:r>
                <a:r>
                  <a:rPr sz="2400" b="0">
                    <a:solidFill>
                      <a:srgbClr val="111827"/>
                    </a:solidFill>
                    <a:latin typeface="Arial"/>
                  </a:rPr>
                  <a:t>, </a:t>
                </a:r>
                <a:r>
                  <a:rPr lang="en-IN" sz="2400">
                    <a:solidFill>
                      <a:srgbClr val="111827"/>
                    </a:solidFill>
                    <a:latin typeface="Cambria Math" panose="02040503050406030204" pitchFamily="18" charset="0"/>
                  </a:rPr>
                  <a:t>$z=a+b+c+2$</a:t>
                </a:r>
                <a:r>
                  <a:rPr sz="2400" b="0">
                    <a:solidFill>
                      <a:srgbClr val="111827"/>
                    </a:solidFill>
                    <a:latin typeface="Arial"/>
                  </a:rPr>
                  <a:t> with </a:t>
                </a:r>
                <a:r>
                  <a:rPr lang="en-IN" sz="2400">
                    <a:solidFill>
                      <a:srgbClr val="111827"/>
                    </a:solidFill>
                    <a:latin typeface="Cambria Math" panose="02040503050406030204" pitchFamily="18" charset="0"/>
                  </a:rPr>
                  <a:t>$a,b,c\ge0$</a:t>
                </a:r>
                <a:r>
                  <a:rPr sz="2400" b="0">
                    <a:solidFill>
                      <a:srgbClr val="111827"/>
                    </a:solidFill>
                    <a:latin typeface="Arial"/>
                  </a:rPr>
                  <a:t>; then </a:t>
                </a:r>
                <a:r>
                  <a:rPr lang="en-IN" sz="2400">
                    <a:solidFill>
                      <a:srgbClr val="111827"/>
                    </a:solidFill>
                    <a:latin typeface="Cambria Math" panose="02040503050406030204" pitchFamily="18" charset="0"/>
                  </a:rPr>
                  <a:t>$x&lt;y&lt;z$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becomes </a:t>
                </a:r>
                <a:r>
                  <a:rPr lang="en-IN" sz="2400">
                    <a:solidFill>
                      <a:srgbClr val="111827"/>
                    </a:solidFill>
                    <a:latin typeface="Cambria Math" panose="02040503050406030204" pitchFamily="18" charset="0"/>
                  </a:rPr>
                  <a:t>$3a+2b+c+3=15$</a:t>
                </a:r>
                <a:r>
                  <a:rPr sz="2400" b="0">
                    <a:solidFill>
                      <a:srgbClr val="111827"/>
                    </a:solidFill>
                    <a:latin typeface="Arial"/>
                  </a:rPr>
                  <a:t>, i.e. </a:t>
                </a:r>
                <a:r>
                  <a:rPr lang="en-IN" sz="2400">
                    <a:solidFill>
                      <a:srgbClr val="111827"/>
                    </a:solidFill>
                    <a:latin typeface="Cambria Math" panose="02040503050406030204" pitchFamily="18" charset="0"/>
                  </a:rPr>
                  <a:t>$3a+2b+c=12$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by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$a=0$</a:t>
                </a:r>
                <a:r>
                  <a:rPr sz="2400" b="0">
                    <a:solidFill>
                      <a:srgbClr val="111827"/>
                    </a:solidFill>
                    <a:latin typeface="Arial"/>
                  </a:rPr>
                  <a:t>: </a:t>
                </a:r>
                <a:r>
                  <a:rPr lang="en-IN" sz="2400">
                    <a:solidFill>
                      <a:srgbClr val="111827"/>
                    </a:solidFill>
                    <a:latin typeface="Cambria Math" panose="02040503050406030204" pitchFamily="18" charset="0"/>
                  </a:rPr>
                  <a:t>$2b+c=12$</a:t>
                </a:r>
                <a:r>
                  <a:rPr sz="2400" b="0">
                    <a:solidFill>
                      <a:srgbClr val="111827"/>
                    </a:solidFill>
                    <a:latin typeface="Arial"/>
                  </a:rPr>
                  <a:t> gives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$2b+c=9$</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$2b+c=6$</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$2b+c=3$</a:t>
                </a:r>
                <a:r>
                  <a:rPr sz="2400" b="0">
                    <a:solidFill>
                      <a:srgbClr val="111827"/>
                    </a:solidFill>
                    <a:latin typeface="Arial"/>
                  </a:rPr>
                  <a:t> gives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$a=4$</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Total </a:t>
                </a:r>
                <a:r>
                  <a:rPr lang="en-IN" sz="2400">
                    <a:solidFill>
                      <a:srgbClr val="111827"/>
                    </a:solidFill>
                    <a:latin typeface="Cambria Math" panose="02040503050406030204" pitchFamily="18" charset="0"/>
                  </a:rPr>
                  <a:t>$7+5+4+2+1=19$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triples </a:t>
                </a:r>
                <a:r>
                  <a:rPr lang="en-IN" sz="2400">
                    <a:solidFill>
                      <a:srgbClr val="111827"/>
                    </a:solidFill>
                    <a:latin typeface="Cambria Math" panose="02040503050406030204" pitchFamily="18" charset="0"/>
                  </a:rPr>
                  <a:t>$=19\times3!=114$</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114</a:t>
            </a:r>
            <a:endParaRPr sz="2800">
              <a:solidFill>
                <a:srgbClr val="15803D"/>
              </a:solidFill>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ordered solutions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 chosen pair equal, third different)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equal), or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(strictly increasing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substitution: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partitions of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distinct non-negative parts number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ordered solutions </a:t>
                </a:r>
                <a:r>
                  <a:rPr lang="en-IN" sz="2400">
                    <a:solidFill>
                      <a:srgbClr val="111827"/>
                    </a:solidFill>
                    <a:latin typeface="Cambria Math" panose="02040503050406030204" pitchFamily="18" charset="0"/>
                  </a:rPr>
                  <a:t>$=$</a:t>
                </a:r>
                <a:r>
                  <a:rPr sz="2400" b="0">
                    <a:solidFill>
                      <a:srgbClr val="111827"/>
                    </a:solidFill>
                    <a:latin typeface="Arial"/>
                  </a:rPr>
                  <a:t> (all) </a:t>
                </a:r>
                <a:r>
                  <a:rPr lang="en-IN" sz="2400">
                    <a:solidFill>
                      <a:srgbClr val="111827"/>
                    </a:solidFill>
                    <a:latin typeface="Cambria Math" panose="02040503050406030204" pitchFamily="18" charset="0"/>
                  </a:rPr>
                  <a:t>$-3\times$</a:t>
                </a:r>
                <a:r>
                  <a:rPr sz="2400" b="0">
                    <a:solidFill>
                      <a:srgbClr val="111827"/>
                    </a:solidFill>
                    <a:latin typeface="Arial"/>
                  </a:rPr>
                  <a:t>(a chosen pair equal, third different) </a:t>
                </a:r>
                <a:r>
                  <a:rPr lang="en-IN" sz="2400">
                    <a:solidFill>
                      <a:srgbClr val="111827"/>
                    </a:solidFill>
                    <a:latin typeface="Cambria Math" panose="02040503050406030204" pitchFamily="18" charset="0"/>
                  </a:rPr>
                  <a:t>$-$</a:t>
                </a:r>
                <a:r>
                  <a:rPr sz="2400" b="0">
                    <a:solidFill>
                      <a:srgbClr val="111827"/>
                    </a:solidFill>
                    <a:latin typeface="Arial"/>
                  </a:rPr>
                  <a:t> (all equal), or </a:t>
                </a:r>
                <a:r>
                  <a:rPr lang="en-IN" sz="2400">
                    <a:solidFill>
                      <a:srgbClr val="111827"/>
                    </a:solidFill>
                    <a:latin typeface="Cambria Math" panose="02040503050406030204" pitchFamily="18" charset="0"/>
                  </a:rPr>
                  <a:t>$6\times$</a:t>
                </a:r>
                <a:r>
                  <a:rPr sz="2400" b="0">
                    <a:solidFill>
                      <a:srgbClr val="111827"/>
                    </a:solidFill>
                    <a:latin typeface="Arial"/>
                  </a:rPr>
                  <a:t>(strictly increasing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substitution: </a:t>
                </a:r>
                <a:r>
                  <a:rPr lang="en-IN" sz="2400">
                    <a:solidFill>
                      <a:srgbClr val="111827"/>
                    </a:solidFill>
                    <a:latin typeface="Cambria Math" panose="02040503050406030204" pitchFamily="18" charset="0"/>
                  </a:rPr>
                  <a:t>$x&lt;y&lt;z\iff y=x+1+b,\ z=y+1+c$</a:t>
                </a:r>
                <a:r>
                  <a:rPr sz="2400" b="0">
                    <a:solidFill>
                      <a:srgbClr val="111827"/>
                    </a:solidFill>
                    <a:latin typeface="Arial"/>
                  </a:rPr>
                  <a:t> with </a:t>
                </a:r>
                <a:r>
                  <a:rPr lang="en-IN" sz="2400">
                    <a:solidFill>
                      <a:srgbClr val="111827"/>
                    </a:solidFill>
                    <a:latin typeface="Cambria Math" panose="02040503050406030204" pitchFamily="18" charset="0"/>
                  </a:rPr>
                  <a:t>$b,c\ge0$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partitions of </a:t>
                </a:r>
                <a:r>
                  <a:rPr lang="en-IN" sz="2400">
                    <a:solidFill>
                      <a:srgbClr val="111827"/>
                    </a:solidFill>
                    <a:latin typeface="Cambria Math" panose="02040503050406030204" pitchFamily="18" charset="0"/>
                  </a:rPr>
                  <a:t>$15$</a:t>
                </a:r>
                <a:r>
                  <a:rPr sz="2400" b="0">
                    <a:solidFill>
                      <a:srgbClr val="111827"/>
                    </a:solidFill>
                    <a:latin typeface="Arial"/>
                  </a:rPr>
                  <a:t> into </a:t>
                </a:r>
                <a:r>
                  <a:rPr lang="en-IN" sz="2400">
                    <a:solidFill>
                      <a:srgbClr val="111827"/>
                    </a:solidFill>
                    <a:latin typeface="Cambria Math" panose="02040503050406030204" pitchFamily="18" charset="0"/>
                  </a:rPr>
                  <a:t>$3$</a:t>
                </a:r>
                <a:r>
                  <a:rPr sz="2400" b="0">
                    <a:solidFill>
                      <a:srgbClr val="111827"/>
                    </a:solidFill>
                    <a:latin typeface="Arial"/>
                  </a:rPr>
                  <a:t> distinct non-negative parts number </a:t>
                </a:r>
                <a:r>
                  <a:rPr lang="en-IN" sz="2400">
                    <a:solidFill>
                      <a:srgbClr val="111827"/>
                    </a:solidFill>
                    <a:latin typeface="Cambria Math" panose="02040503050406030204" pitchFamily="18" charset="0"/>
                  </a:rPr>
                  <a:t>$19$</a:t>
                </a:r>
                <a:r>
                  <a:rPr sz="2400" b="0">
                    <a:solidFill>
                      <a:srgbClr val="111827"/>
                    </a:solidFill>
                    <a:latin typeface="Arial"/>
                  </a:rPr>
                  <a:t>; </a:t>
                </a:r>
                <a:r>
                  <a:rPr lang="en-IN" sz="2400">
                    <a:solidFill>
                      <a:srgbClr val="111827"/>
                    </a:solidFill>
                    <a:latin typeface="Cambria Math" panose="02040503050406030204" pitchFamily="18" charset="0"/>
                  </a:rPr>
                  <a:t>$19\times6=114$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letters of the word MATHS are permuted and all possible words so formed are arranged as in a dictionary with serial numbers, then the serial number of the word THAMS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103</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letters of the word MATHS are permuted and all possible words so formed are arranged as in a dictionary with serial numbers, then the serial number of the word THAMS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$101$</a:t>
                </a:r>
                <a:r>
                  <a:rPr sz="2400" b="0">
                    <a:solidFill>
                      <a:srgbClr val="111827"/>
                    </a:solidFill>
                    <a:latin typeface="Arial"/>
                  </a:rPr>
                  <a:t>   (B) </a:t>
                </a:r>
                <a:r>
                  <a:rPr lang="en-IN" sz="2400">
                    <a:solidFill>
                      <a:srgbClr val="111827"/>
                    </a:solidFill>
                    <a:latin typeface="Cambria Math" panose="02040503050406030204" pitchFamily="18" charset="0"/>
                  </a:rPr>
                  <a:t>$104$</a:t>
                </a:r>
                <a:r>
                  <a:rPr sz="2400" b="0">
                    <a:solidFill>
                      <a:srgbClr val="111827"/>
                    </a:solidFill>
                    <a:latin typeface="Arial"/>
                  </a:rPr>
                  <a:t>   (C) </a:t>
                </a:r>
                <a:r>
                  <a:rPr lang="en-IN" sz="2400">
                    <a:solidFill>
                      <a:srgbClr val="111827"/>
                    </a:solidFill>
                    <a:latin typeface="Cambria Math" panose="02040503050406030204" pitchFamily="18" charset="0"/>
                  </a:rPr>
                  <a:t>$102$</a:t>
                </a:r>
                <a:r>
                  <a:rPr sz="2400" b="0">
                    <a:solidFill>
                      <a:srgbClr val="111827"/>
                    </a:solidFill>
                    <a:latin typeface="Arial"/>
                  </a:rPr>
                  <a:t>   (D) </a:t>
                </a:r>
                <a:r>
                  <a:rPr lang="en-IN" sz="2400">
                    <a:solidFill>
                      <a:srgbClr val="111827"/>
                    </a:solidFill>
                    <a:latin typeface="Cambria Math" panose="02040503050406030204" pitchFamily="18" charset="0"/>
                  </a:rPr>
                  <a:t>$103$</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𝑠𝑚𝑎𝑙𝑙𝑒𝑟 𝑢𝑛𝑢𝑠𝑒𝑑 𝑙𝑒𝑡𝑡𝑒𝑟𝑠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𝑝𝑙𝑎𝑐𝑒𝑠 𝑙𝑒𝑓𝑡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r>
                  <a:rPr lang="en-IN" sz="2400">
                    <a:solidFill>
                      <a:srgbClr val="78350F"/>
                    </a:solidFill>
                    <a:latin typeface="Cambria Math" panose="02040503050406030204" pitchFamily="18" charset="0"/>
                  </a:rPr>
                  <a:t>$=1+\sum(\text{smaller unused letters})\times(\text{places left})!$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The word is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smaller unused letters at each place: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places left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THAMS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r>
                  <a:rPr lang="en-IN" sz="2400">
                    <a:solidFill>
                      <a:srgbClr val="111827"/>
                    </a:solidFill>
                    <a:latin typeface="Cambria Math" panose="02040503050406030204" pitchFamily="18" charset="0"/>
                  </a:rPr>
                  <a:t>$A,H,M,S,T$</a:t>
                </a:r>
                <a:r>
                  <a:rPr sz="2400" b="0">
                    <a:solidFill>
                      <a:srgbClr val="111827"/>
                    </a:solidFill>
                    <a:latin typeface="Arial"/>
                  </a:rPr>
                  <a:t>. The word is </a:t>
                </a:r>
                <a:r>
                  <a:rPr lang="en-IN" sz="2400">
                    <a:solidFill>
                      <a:srgbClr val="111827"/>
                    </a:solidFill>
                    <a:latin typeface="Cambria Math" panose="02040503050406030204" pitchFamily="18" charset="0"/>
                  </a:rPr>
                  <a:t>$T\,H\,A\,M\,S$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smaller unused letters at each place: </a:t>
                </a:r>
                <a:r>
                  <a:rPr lang="en-IN" sz="2400">
                    <a:solidFill>
                      <a:srgbClr val="111827"/>
                    </a:solidFill>
                    <a:latin typeface="Cambria Math" panose="02040503050406030204" pitchFamily="18" charset="0"/>
                  </a:rPr>
                  <a:t>$T:4,\ H:1,\ A:0,\ M:0,\ S:0$</a:t>
                </a:r>
                <a:r>
                  <a:rPr sz="2400" b="0">
                    <a:solidFill>
                      <a:srgbClr val="111827"/>
                    </a:solidFill>
                    <a:latin typeface="Arial"/>
                  </a:rPr>
                  <a:t>; places left </a:t>
                </a:r>
                <a:r>
                  <a:rPr lang="en-IN" sz="2400">
                    <a:solidFill>
                      <a:srgbClr val="111827"/>
                    </a:solidFill>
                    <a:latin typeface="Cambria Math" panose="02040503050406030204" pitchFamily="18" charset="0"/>
                  </a:rPr>
                  <a:t>$4,3,2,1,0$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before THAMS </a:t>
                </a:r>
                <a:r>
                  <a:rPr lang="en-IN" sz="2400">
                    <a:solidFill>
                      <a:srgbClr val="111827"/>
                    </a:solidFill>
                    <a:latin typeface="Cambria Math" panose="02040503050406030204" pitchFamily="18" charset="0"/>
                  </a:rPr>
                  <a:t>$=4\times4!+1\times3!+0+0+0=96+6=102$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r>
                  <a:rPr lang="en-IN" sz="2400">
                    <a:solidFill>
                      <a:srgbClr val="111827"/>
                    </a:solidFill>
                    <a:latin typeface="Cambria Math" panose="02040503050406030204" pitchFamily="18" charset="0"/>
                  </a:rPr>
                  <a:t>$=102+1=103$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103</a:t>
            </a:r>
            <a:endParaRPr sz="2800">
              <a:solidFill>
                <a:srgbClr val="15803D"/>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after THAMS and subtract from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after THAMS and subtract from </a:t>
                </a:r>
                <a:r>
                  <a:rPr lang="en-IN" sz="2400">
                    <a:solidFill>
                      <a:srgbClr val="78350F"/>
                    </a:solidFill>
                    <a:latin typeface="Cambria Math" panose="02040503050406030204" pitchFamily="18" charset="0"/>
                  </a:rPr>
                  <a:t>$5!$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none. Second letter larger than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among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letter larger than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among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words. Fourth letter larger than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among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so the rank is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r>
                  <a:rPr lang="en-IN" sz="2400">
                    <a:solidFill>
                      <a:srgbClr val="111827"/>
                    </a:solidFill>
                    <a:latin typeface="Cambria Math" panose="02040503050406030204" pitchFamily="18" charset="0"/>
                  </a:rPr>
                  <a:t>$5!=120$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r>
                  <a:rPr lang="en-IN" sz="2400">
                    <a:solidFill>
                      <a:srgbClr val="111827"/>
                    </a:solidFill>
                    <a:latin typeface="Cambria Math" panose="02040503050406030204" pitchFamily="18" charset="0"/>
                  </a:rPr>
                  <a:t>$T$</a:t>
                </a:r>
                <a:r>
                  <a:rPr sz="2400" b="0">
                    <a:solidFill>
                      <a:srgbClr val="111827"/>
                    </a:solidFill>
                    <a:latin typeface="Arial"/>
                  </a:rPr>
                  <a:t>: none. Second letter larger than </a:t>
                </a:r>
                <a:r>
                  <a:rPr lang="en-IN" sz="2400">
                    <a:solidFill>
                      <a:srgbClr val="111827"/>
                    </a:solidFill>
                    <a:latin typeface="Cambria Math" panose="02040503050406030204" pitchFamily="18" charset="0"/>
                  </a:rPr>
                  <a:t>$H$</a:t>
                </a:r>
                <a:r>
                  <a:rPr sz="2400" b="0">
                    <a:solidFill>
                      <a:srgbClr val="111827"/>
                    </a:solidFill>
                    <a:latin typeface="Arial"/>
                  </a:rPr>
                  <a:t> among </a:t>
                </a:r>
                <a:r>
                  <a:rPr lang="en-IN" sz="2400">
                    <a:solidFill>
                      <a:srgbClr val="111827"/>
                    </a:solidFill>
                    <a:latin typeface="Cambria Math" panose="02040503050406030204" pitchFamily="18" charset="0"/>
                  </a:rPr>
                  <a:t>$A,H,M,S$</a:t>
                </a:r>
                <a:r>
                  <a:rPr sz="2400" b="0">
                    <a:solidFill>
                      <a:srgbClr val="111827"/>
                    </a:solidFill>
                    <a:latin typeface="Arial"/>
                  </a:rPr>
                  <a:t>: </a:t>
                </a:r>
                <a:r>
                  <a:rPr lang="en-IN" sz="2400">
                    <a:solidFill>
                      <a:srgbClr val="111827"/>
                    </a:solidFill>
                    <a:latin typeface="Cambria Math" panose="02040503050406030204" pitchFamily="18" charset="0"/>
                  </a:rPr>
                  <a:t>$M,S$</a:t>
                </a:r>
                <a:r>
                  <a:rPr sz="2400" b="0">
                    <a:solidFill>
                      <a:srgbClr val="111827"/>
                    </a:solidFill>
                    <a:latin typeface="Arial"/>
                  </a:rPr>
                  <a:t> give </a:t>
                </a:r>
                <a:r>
                  <a:rPr lang="en-IN" sz="2400">
                    <a:solidFill>
                      <a:srgbClr val="111827"/>
                    </a:solidFill>
                    <a:latin typeface="Cambria Math" panose="02040503050406030204" pitchFamily="18" charset="0"/>
                  </a:rPr>
                  <a:t>$2\times3!=12$</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letter larger than </a:t>
                </a:r>
                <a:r>
                  <a:rPr lang="en-IN" sz="2400">
                    <a:solidFill>
                      <a:srgbClr val="111827"/>
                    </a:solidFill>
                    <a:latin typeface="Cambria Math" panose="02040503050406030204" pitchFamily="18" charset="0"/>
                  </a:rPr>
                  <a:t>$A$</a:t>
                </a:r>
                <a:r>
                  <a:rPr sz="2400" b="0">
                    <a:solidFill>
                      <a:srgbClr val="111827"/>
                    </a:solidFill>
                    <a:latin typeface="Arial"/>
                  </a:rPr>
                  <a:t> among </a:t>
                </a:r>
                <a:r>
                  <a:rPr lang="en-IN" sz="2400">
                    <a:solidFill>
                      <a:srgbClr val="111827"/>
                    </a:solidFill>
                    <a:latin typeface="Cambria Math" panose="02040503050406030204" pitchFamily="18" charset="0"/>
                  </a:rPr>
                  <a:t>$A,M,S$</a:t>
                </a:r>
                <a:r>
                  <a:rPr sz="2400" b="0">
                    <a:solidFill>
                      <a:srgbClr val="111827"/>
                    </a:solidFill>
                    <a:latin typeface="Arial"/>
                  </a:rPr>
                  <a:t>: </a:t>
                </a:r>
                <a:r>
                  <a:rPr lang="en-IN" sz="2400">
                    <a:solidFill>
                      <a:srgbClr val="111827"/>
                    </a:solidFill>
                    <a:latin typeface="Cambria Math" panose="02040503050406030204" pitchFamily="18" charset="0"/>
                  </a:rPr>
                  <a:t>$M,S$</a:t>
                </a:r>
                <a:r>
                  <a:rPr sz="2400" b="0">
                    <a:solidFill>
                      <a:srgbClr val="111827"/>
                    </a:solidFill>
                    <a:latin typeface="Arial"/>
                  </a:rPr>
                  <a:t> give </a:t>
                </a:r>
                <a:r>
                  <a:rPr lang="en-IN" sz="2400">
                    <a:solidFill>
                      <a:srgbClr val="111827"/>
                    </a:solidFill>
                    <a:latin typeface="Cambria Math" panose="02040503050406030204" pitchFamily="18" charset="0"/>
                  </a:rPr>
                  <a:t>$2\times2!=4$</a:t>
                </a:r>
                <a:r>
                  <a:rPr sz="2400" b="0">
                    <a:solidFill>
                      <a:srgbClr val="111827"/>
                    </a:solidFill>
                    <a:latin typeface="Arial"/>
                  </a:rPr>
                  <a:t> words. Fourth letter larger than </a:t>
                </a:r>
                <a:r>
                  <a:rPr lang="en-IN" sz="2400">
                    <a:solidFill>
                      <a:srgbClr val="111827"/>
                    </a:solidFill>
                    <a:latin typeface="Cambria Math" panose="02040503050406030204" pitchFamily="18" charset="0"/>
                  </a:rPr>
                  <a:t>$M$</a:t>
                </a:r>
                <a:r>
                  <a:rPr sz="2400" b="0">
                    <a:solidFill>
                      <a:srgbClr val="111827"/>
                    </a:solidFill>
                    <a:latin typeface="Arial"/>
                  </a:rPr>
                  <a:t> among </a:t>
                </a:r>
                <a:r>
                  <a:rPr lang="en-IN" sz="2400">
                    <a:solidFill>
                      <a:srgbClr val="111827"/>
                    </a:solidFill>
                    <a:latin typeface="Cambria Math" panose="02040503050406030204" pitchFamily="18" charset="0"/>
                  </a:rPr>
                  <a:t>$M,S$</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$=12+4+1=17$</a:t>
                </a:r>
                <a:r>
                  <a:rPr sz="2400" b="0">
                    <a:solidFill>
                      <a:srgbClr val="111827"/>
                    </a:solidFill>
                    <a:latin typeface="Arial"/>
                  </a:rPr>
                  <a:t>, so the rank is </a:t>
                </a:r>
                <a:r>
                  <a:rPr lang="en-IN" sz="2400">
                    <a:solidFill>
                      <a:srgbClr val="111827"/>
                    </a:solidFill>
                    <a:latin typeface="Cambria Math" panose="02040503050406030204" pitchFamily="18" charset="0"/>
                  </a:rPr>
                  <a:t>$120-17=103$</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103</a:t>
            </a:r>
            <a:endParaRPr sz="2800">
              <a:solidFill>
                <a:srgbClr val="15803D"/>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from the start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rank from the end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distinct letters; choose the cheaper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word that starts with the largest letter lies in the last block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word's rank is its factorial-base code plus one, so two words always differ in rank by the difference of their codes.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from the start </a:t>
                </a:r>
                <a:r>
                  <a:rPr lang="en-IN" sz="2400">
                    <a:solidFill>
                      <a:srgbClr val="111827"/>
                    </a:solidFill>
                    <a:latin typeface="Cambria Math" panose="02040503050406030204" pitchFamily="18" charset="0"/>
                  </a:rPr>
                  <a:t>$+$</a:t>
                </a:r>
                <a:r>
                  <a:rPr sz="2400" b="0">
                    <a:solidFill>
                      <a:srgbClr val="111827"/>
                    </a:solidFill>
                    <a:latin typeface="Arial"/>
                  </a:rPr>
                  <a:t> rank from the end </a:t>
                </a:r>
                <a:r>
                  <a:rPr lang="en-IN" sz="2400">
                    <a:solidFill>
                      <a:srgbClr val="111827"/>
                    </a:solidFill>
                    <a:latin typeface="Cambria Math" panose="02040503050406030204" pitchFamily="18" charset="0"/>
                  </a:rPr>
                  <a:t>$=n!+1$</a:t>
                </a:r>
                <a:r>
                  <a:rPr sz="2400" b="0">
                    <a:solidFill>
                      <a:srgbClr val="111827"/>
                    </a:solidFill>
                    <a:latin typeface="Arial"/>
                  </a:rPr>
                  <a:t> for distinct letters; choose the cheaper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word that starts with the largest letter lies in the last block of </a:t>
                </a:r>
                <a:r>
                  <a:rPr lang="en-IN" sz="2400">
                    <a:solidFill>
                      <a:srgbClr val="111827"/>
                    </a:solidFill>
                    <a:latin typeface="Cambria Math" panose="02040503050406030204" pitchFamily="18" charset="0"/>
                  </a:rPr>
                  <a:t>$(n-1)!$</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word's rank is its factorial-base code plus one, so two words always differ in rank by the difference of their codes.</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five digit numbers, greater than </a:t>
                </a:r>
                <a14:m>
                  <m:oMath xmlns:m="http://schemas.openxmlformats.org/officeDocument/2006/math">
                    <m:r>
                      <a:rPr lang="en-IN" sz="2400" i="1">
                        <a:solidFill>
                          <a:srgbClr val="111827"/>
                        </a:solidFill>
                        <a:latin typeface="Cambria Math" panose="02040503050406030204" pitchFamily="18" charset="0"/>
                      </a:rPr>
                      <m:t>40000</m:t>
                    </m:r>
                  </m:oMath>
                </a14:m>
                <a:r>
                  <a:rPr sz="2400" b="0">
                    <a:solidFill>
                      <a:srgbClr val="111827"/>
                    </a:solidFill>
                    <a:latin typeface="Arial"/>
                  </a:rPr>
                  <a:t> and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which can be formed using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without repetition, is equal to: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132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96</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five digit numbers, greater than </a:t>
                </a:r>
                <a:r>
                  <a:rPr lang="en-IN" sz="2400">
                    <a:solidFill>
                      <a:srgbClr val="111827"/>
                    </a:solidFill>
                    <a:latin typeface="Cambria Math" panose="02040503050406030204" pitchFamily="18" charset="0"/>
                  </a:rPr>
                  <a:t>$40000$</a:t>
                </a:r>
                <a:r>
                  <a:rPr sz="2400" b="0">
                    <a:solidFill>
                      <a:srgbClr val="111827"/>
                    </a:solidFill>
                    <a:latin typeface="Arial"/>
                  </a:rPr>
                  <a:t> and divisible by </a:t>
                </a:r>
                <a:r>
                  <a:rPr lang="en-IN" sz="2400">
                    <a:solidFill>
                      <a:srgbClr val="111827"/>
                    </a:solidFill>
                    <a:latin typeface="Cambria Math" panose="02040503050406030204" pitchFamily="18" charset="0"/>
                  </a:rPr>
                  <a:t>$5$</a:t>
                </a:r>
                <a:r>
                  <a:rPr sz="2400" b="0">
                    <a:solidFill>
                      <a:srgbClr val="111827"/>
                    </a:solidFill>
                    <a:latin typeface="Arial"/>
                  </a:rPr>
                  <a:t>, which can be formed using the digits </a:t>
                </a:r>
                <a:r>
                  <a:rPr lang="en-IN" sz="2400">
                    <a:solidFill>
                      <a:srgbClr val="111827"/>
                    </a:solidFill>
                    <a:latin typeface="Cambria Math" panose="02040503050406030204" pitchFamily="18" charset="0"/>
                  </a:rPr>
                  <a:t>$0,1,3,5,7,9$</a:t>
                </a:r>
                <a:r>
                  <a:rPr sz="2400" b="0">
                    <a:solidFill>
                      <a:srgbClr val="111827"/>
                    </a:solidFill>
                    <a:latin typeface="Arial"/>
                  </a:rPr>
                  <a:t> without repetition, is equal to: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$72$</a:t>
                </a:r>
                <a:r>
                  <a:rPr sz="2400" b="0">
                    <a:solidFill>
                      <a:srgbClr val="111827"/>
                    </a:solidFill>
                    <a:latin typeface="Arial"/>
                  </a:rPr>
                  <a:t>   (B) </a:t>
                </a:r>
                <a:r>
                  <a:rPr lang="en-IN" sz="2400">
                    <a:solidFill>
                      <a:srgbClr val="111827"/>
                    </a:solidFill>
                    <a:latin typeface="Cambria Math" panose="02040503050406030204" pitchFamily="18" charset="0"/>
                  </a:rPr>
                  <a:t>$120$</a:t>
                </a:r>
                <a:r>
                  <a:rPr sz="2400" b="0">
                    <a:solidFill>
                      <a:srgbClr val="111827"/>
                    </a:solidFill>
                    <a:latin typeface="Arial"/>
                  </a:rPr>
                  <a:t>   (C) </a:t>
                </a:r>
                <a:r>
                  <a:rPr lang="en-IN" sz="2400">
                    <a:solidFill>
                      <a:srgbClr val="111827"/>
                    </a:solidFill>
                    <a:latin typeface="Cambria Math" panose="02040503050406030204" pitchFamily="18" charset="0"/>
                  </a:rPr>
                  <a:t>$132$</a:t>
                </a:r>
                <a:r>
                  <a:rPr sz="2400" b="0">
                    <a:solidFill>
                      <a:srgbClr val="111827"/>
                    </a:solidFill>
                    <a:latin typeface="Arial"/>
                  </a:rPr>
                  <a:t>   (D) </a:t>
                </a:r>
                <a:r>
                  <a:rPr lang="en-IN" sz="2400">
                    <a:solidFill>
                      <a:srgbClr val="111827"/>
                    </a:solidFill>
                    <a:latin typeface="Cambria Math" panose="02040503050406030204" pitchFamily="18" charset="0"/>
                  </a:rPr>
                  <a:t>$96$</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digits without repetition with leading-digit and divisibility conditions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Last digit is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leading digit must exceed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i.e. be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cannot be used twice.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Last digit is </a:t>
                </a:r>
                <a:r>
                  <a:rPr lang="en-IN" sz="2400">
                    <a:solidFill>
                      <a:srgbClr val="78350F"/>
                    </a:solidFill>
                    <a:latin typeface="Cambria Math" panose="02040503050406030204" pitchFamily="18" charset="0"/>
                  </a:rPr>
                  <a:t>$0$</a:t>
                </a:r>
                <a:r>
                  <a:rPr sz="2400" b="0">
                    <a:solidFill>
                      <a:srgbClr val="78350F"/>
                    </a:solidFill>
                    <a:latin typeface="Arial"/>
                  </a:rPr>
                  <a:t> or </a:t>
                </a:r>
                <a:r>
                  <a:rPr lang="en-IN" sz="2400">
                    <a:solidFill>
                      <a:srgbClr val="78350F"/>
                    </a:solidFill>
                    <a:latin typeface="Cambria Math" panose="02040503050406030204" pitchFamily="18" charset="0"/>
                  </a:rPr>
                  <a:t>$5$</a:t>
                </a:r>
                <a:r>
                  <a:rPr sz="2400" b="0">
                    <a:solidFill>
                      <a:srgbClr val="78350F"/>
                    </a:solidFill>
                    <a:latin typeface="Arial"/>
                  </a:rPr>
                  <a:t>; leading digit must exceed </a:t>
                </a:r>
                <a:r>
                  <a:rPr lang="en-IN" sz="2400">
                    <a:solidFill>
                      <a:srgbClr val="78350F"/>
                    </a:solidFill>
                    <a:latin typeface="Cambria Math" panose="02040503050406030204" pitchFamily="18" charset="0"/>
                  </a:rPr>
                  <a:t>$4$</a:t>
                </a:r>
                <a:r>
                  <a:rPr sz="2400" b="0">
                    <a:solidFill>
                      <a:srgbClr val="78350F"/>
                    </a:solidFill>
                    <a:latin typeface="Arial"/>
                  </a:rPr>
                  <a:t>, i.e. be </a:t>
                </a:r>
                <a:r>
                  <a:rPr lang="en-IN" sz="2400">
                    <a:solidFill>
                      <a:srgbClr val="78350F"/>
                    </a:solidFill>
                    <a:latin typeface="Cambria Math" panose="02040503050406030204" pitchFamily="18" charset="0"/>
                  </a:rPr>
                  <a:t>$5,7$</a:t>
                </a:r>
                <a:r>
                  <a:rPr sz="2400" b="0">
                    <a:solidFill>
                      <a:srgbClr val="78350F"/>
                    </a:solidFill>
                    <a:latin typeface="Arial"/>
                  </a:rPr>
                  <a:t> or </a:t>
                </a:r>
                <a:r>
                  <a:rPr lang="en-IN" sz="2400">
                    <a:solidFill>
                      <a:srgbClr val="78350F"/>
                    </a:solidFill>
                    <a:latin typeface="Cambria Math" panose="02040503050406030204" pitchFamily="18" charset="0"/>
                  </a:rPr>
                  <a:t>$9$</a:t>
                </a:r>
                <a:r>
                  <a:rPr sz="2400" b="0">
                    <a:solidFill>
                      <a:srgbClr val="78350F"/>
                    </a:solidFill>
                    <a:latin typeface="Arial"/>
                  </a:rPr>
                  <a:t>, and </a:t>
                </a:r>
                <a:r>
                  <a:rPr lang="en-IN" sz="2400">
                    <a:solidFill>
                      <a:srgbClr val="78350F"/>
                    </a:solidFill>
                    <a:latin typeface="Cambria Math" panose="02040503050406030204" pitchFamily="18" charset="0"/>
                  </a:rPr>
                  <a:t>$5$</a:t>
                </a:r>
                <a:r>
                  <a:rPr sz="2400" b="0">
                    <a:solidFill>
                      <a:srgbClr val="78350F"/>
                    </a:solidFill>
                    <a:latin typeface="Arial"/>
                  </a:rPr>
                  <a:t> cannot be used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Greater than </a:t>
                </a:r>
                <a14:m>
                  <m:oMath xmlns:m="http://schemas.openxmlformats.org/officeDocument/2006/math">
                    <m:r>
                      <a:rPr lang="en-IN" sz="2400" i="1">
                        <a:solidFill>
                          <a:srgbClr val="111827"/>
                        </a:solidFill>
                        <a:latin typeface="Cambria Math" panose="02040503050406030204" pitchFamily="18" charset="0"/>
                      </a:rPr>
                      <m:t>40000</m:t>
                    </m:r>
                  </m:oMath>
                </a14:m>
                <a:r>
                  <a:rPr sz="2400" b="0">
                    <a:solidFill>
                      <a:srgbClr val="111827"/>
                    </a:solidFill>
                    <a:latin typeface="Arial"/>
                  </a:rPr>
                  <a:t>: the first digit is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(digits above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last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middle three places from the remaining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$5$</a:t>
                </a:r>
                <a:r>
                  <a:rPr sz="2400" b="0">
                    <a:solidFill>
                      <a:srgbClr val="111827"/>
                    </a:solidFill>
                    <a:latin typeface="Arial"/>
                  </a:rPr>
                  <a:t>: the last digit is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Greater than </a:t>
                </a:r>
                <a:r>
                  <a:rPr lang="en-IN" sz="2400">
                    <a:solidFill>
                      <a:srgbClr val="111827"/>
                    </a:solidFill>
                    <a:latin typeface="Cambria Math" panose="02040503050406030204" pitchFamily="18" charset="0"/>
                  </a:rPr>
                  <a:t>$40000$</a:t>
                </a:r>
                <a:r>
                  <a:rPr sz="2400" b="0">
                    <a:solidFill>
                      <a:srgbClr val="111827"/>
                    </a:solidFill>
                    <a:latin typeface="Arial"/>
                  </a:rPr>
                  <a:t>: the first digit is </a:t>
                </a:r>
                <a:r>
                  <a:rPr lang="en-IN" sz="2400">
                    <a:solidFill>
                      <a:srgbClr val="111827"/>
                    </a:solidFill>
                    <a:latin typeface="Cambria Math" panose="02040503050406030204" pitchFamily="18" charset="0"/>
                  </a:rPr>
                  <a:t>$5,7$</a:t>
                </a:r>
                <a:r>
                  <a:rPr sz="2400" b="0">
                    <a:solidFill>
                      <a:srgbClr val="111827"/>
                    </a:solidFill>
                    <a:latin typeface="Arial"/>
                  </a:rPr>
                  <a:t> or </a:t>
                </a:r>
                <a:r>
                  <a:rPr lang="en-IN" sz="2400">
                    <a:solidFill>
                      <a:srgbClr val="111827"/>
                    </a:solidFill>
                    <a:latin typeface="Cambria Math" panose="02040503050406030204" pitchFamily="18" charset="0"/>
                  </a:rPr>
                  <a:t>$9$</a:t>
                </a:r>
                <a:r>
                  <a:rPr sz="2400" b="0">
                    <a:solidFill>
                      <a:srgbClr val="111827"/>
                    </a:solidFill>
                    <a:latin typeface="Arial"/>
                  </a:rPr>
                  <a:t> (digits above </a:t>
                </a:r>
                <a:r>
                  <a:rPr lang="en-IN" sz="2400">
                    <a:solidFill>
                      <a:srgbClr val="111827"/>
                    </a:solidFill>
                    <a:latin typeface="Cambria Math" panose="02040503050406030204" pitchFamily="18" charset="0"/>
                  </a:rPr>
                  <a:t>$4$</a:t>
                </a:r>
                <a:r>
                  <a:rPr sz="2400" b="0">
                    <a:solidFill>
                      <a:srgbClr val="111827"/>
                    </a:solidFill>
                    <a:latin typeface="Arial"/>
                  </a:rPr>
                  <a:t>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a:t>
                </a:r>
                <a:r>
                  <a:rPr sz="2400" b="0">
                    <a:solidFill>
                      <a:srgbClr val="111827"/>
                    </a:solidFill>
                    <a:latin typeface="Arial"/>
                  </a:rPr>
                  <a:t>: last digit </a:t>
                </a:r>
                <a:r>
                  <a:rPr lang="en-IN" sz="2400">
                    <a:solidFill>
                      <a:srgbClr val="111827"/>
                    </a:solidFill>
                    <a:latin typeface="Cambria Math" panose="02040503050406030204" pitchFamily="18" charset="0"/>
                  </a:rPr>
                  <a:t>$0$</a:t>
                </a:r>
                <a:r>
                  <a:rPr sz="2400" b="0">
                    <a:solidFill>
                      <a:srgbClr val="111827"/>
                    </a:solidFill>
                    <a:latin typeface="Arial"/>
                  </a:rPr>
                  <a:t>. First digit: </a:t>
                </a:r>
                <a:r>
                  <a:rPr lang="en-IN" sz="2400">
                    <a:solidFill>
                      <a:srgbClr val="111827"/>
                    </a:solidFill>
                    <a:latin typeface="Cambria Math" panose="02040503050406030204" pitchFamily="18" charset="0"/>
                  </a:rPr>
                  <a:t>$3$</a:t>
                </a:r>
                <a:r>
                  <a:rPr sz="2400" b="0">
                    <a:solidFill>
                      <a:srgbClr val="111827"/>
                    </a:solidFill>
                    <a:latin typeface="Arial"/>
                  </a:rPr>
                  <a:t> ways (</a:t>
                </a:r>
                <a:r>
                  <a:rPr lang="en-IN" sz="2400">
                    <a:solidFill>
                      <a:srgbClr val="111827"/>
                    </a:solidFill>
                    <a:latin typeface="Cambria Math" panose="02040503050406030204" pitchFamily="18" charset="0"/>
                  </a:rPr>
                  <a:t>$5,7,9$</a:t>
                </a:r>
                <a:r>
                  <a:rPr sz="2400" b="0">
                    <a:solidFill>
                      <a:srgbClr val="111827"/>
                    </a:solidFill>
                    <a:latin typeface="Arial"/>
                  </a:rPr>
                  <a:t>); the middle three places from the remaining </a:t>
                </a:r>
                <a:r>
                  <a:rPr lang="en-IN" sz="2400">
                    <a:solidFill>
                      <a:srgbClr val="111827"/>
                    </a:solidFill>
                    <a:latin typeface="Cambria Math" panose="02040503050406030204" pitchFamily="18" charset="0"/>
                  </a:rPr>
                  <a:t>$4$</a:t>
                </a:r>
                <a:r>
                  <a:rPr sz="2400" b="0">
                    <a:solidFill>
                      <a:srgbClr val="111827"/>
                    </a:solidFill>
                    <a:latin typeface="Arial"/>
                  </a:rPr>
                  <a:t> digits: </a:t>
                </a:r>
                <a:r>
                  <a:rPr lang="en-IN" sz="2400">
                    <a:solidFill>
                      <a:srgbClr val="111827"/>
                    </a:solidFill>
                    <a:latin typeface="Cambria Math" panose="02040503050406030204" pitchFamily="18" charset="0"/>
                  </a:rPr>
                  <a:t>$4\times3\times2$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a:t>
                </a:r>
                <a:r>
                  <a:rPr sz="2400" b="0">
                    <a:solidFill>
                      <a:srgbClr val="111827"/>
                    </a:solidFill>
                    <a:latin typeface="Arial"/>
                  </a:rPr>
                  <a:t> count </a:t>
                </a:r>
                <a:r>
                  <a:rPr lang="en-IN" sz="2400">
                    <a:solidFill>
                      <a:srgbClr val="111827"/>
                    </a:solidFill>
                    <a:latin typeface="Cambria Math" panose="02040503050406030204" pitchFamily="18" charset="0"/>
                  </a:rPr>
                  <a:t>$=3\times4\times3\times2=72$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last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middle three places from the remaining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$2$</a:t>
                </a:r>
                <a:r>
                  <a:rPr sz="2400" b="0">
                    <a:solidFill>
                      <a:srgbClr val="111827"/>
                    </a:solidFill>
                    <a:latin typeface="Arial"/>
                  </a:rPr>
                  <a:t>: last digit </a:t>
                </a:r>
                <a:r>
                  <a:rPr lang="en-IN" sz="2400">
                    <a:solidFill>
                      <a:srgbClr val="111827"/>
                    </a:solidFill>
                    <a:latin typeface="Cambria Math" panose="02040503050406030204" pitchFamily="18" charset="0"/>
                  </a:rPr>
                  <a:t>$5$</a:t>
                </a:r>
                <a:r>
                  <a:rPr sz="2400" b="0">
                    <a:solidFill>
                      <a:srgbClr val="111827"/>
                    </a:solidFill>
                    <a:latin typeface="Arial"/>
                  </a:rPr>
                  <a:t>. First digit: </a:t>
                </a:r>
                <a:r>
                  <a:rPr lang="en-IN" sz="2400">
                    <a:solidFill>
                      <a:srgbClr val="111827"/>
                    </a:solidFill>
                    <a:latin typeface="Cambria Math" panose="02040503050406030204" pitchFamily="18" charset="0"/>
                  </a:rPr>
                  <a:t>$2$</a:t>
                </a:r>
                <a:r>
                  <a:rPr sz="2400" b="0">
                    <a:solidFill>
                      <a:srgbClr val="111827"/>
                    </a:solidFill>
                    <a:latin typeface="Arial"/>
                  </a:rPr>
                  <a:t> ways (</a:t>
                </a:r>
                <a:r>
                  <a:rPr lang="en-IN" sz="2400">
                    <a:solidFill>
                      <a:srgbClr val="111827"/>
                    </a:solidFill>
                    <a:latin typeface="Cambria Math" panose="02040503050406030204" pitchFamily="18" charset="0"/>
                  </a:rPr>
                  <a:t>$7$</a:t>
                </a:r>
                <a:r>
                  <a:rPr sz="2400" b="0">
                    <a:solidFill>
                      <a:srgbClr val="111827"/>
                    </a:solidFill>
                    <a:latin typeface="Arial"/>
                  </a:rPr>
                  <a:t> or </a:t>
                </a:r>
                <a:r>
                  <a:rPr lang="en-IN" sz="2400">
                    <a:solidFill>
                      <a:srgbClr val="111827"/>
                    </a:solidFill>
                    <a:latin typeface="Cambria Math" panose="02040503050406030204" pitchFamily="18" charset="0"/>
                  </a:rPr>
                  <a:t>$9$</a:t>
                </a:r>
                <a:r>
                  <a:rPr sz="2400" b="0">
                    <a:solidFill>
                      <a:srgbClr val="111827"/>
                    </a:solidFill>
                    <a:latin typeface="Arial"/>
                  </a:rPr>
                  <a:t>); middle three places from the remaining </a:t>
                </a:r>
                <a:r>
                  <a:rPr lang="en-IN" sz="2400">
                    <a:solidFill>
                      <a:srgbClr val="111827"/>
                    </a:solidFill>
                    <a:latin typeface="Cambria Math" panose="02040503050406030204" pitchFamily="18" charset="0"/>
                  </a:rPr>
                  <a:t>$4$</a:t>
                </a:r>
                <a:r>
                  <a:rPr sz="2400" b="0">
                    <a:solidFill>
                      <a:srgbClr val="111827"/>
                    </a:solidFill>
                    <a:latin typeface="Arial"/>
                  </a:rPr>
                  <a:t> digits: </a:t>
                </a:r>
                <a:r>
                  <a:rPr lang="en-IN" sz="2400">
                    <a:solidFill>
                      <a:srgbClr val="111827"/>
                    </a:solidFill>
                    <a:latin typeface="Cambria Math" panose="02040503050406030204" pitchFamily="18" charset="0"/>
                  </a:rPr>
                  <a:t>$4\times3\times2$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$2$</a:t>
                </a:r>
                <a:r>
                  <a:rPr sz="2400" b="0">
                    <a:solidFill>
                      <a:srgbClr val="111827"/>
                    </a:solidFill>
                    <a:latin typeface="Arial"/>
                  </a:rPr>
                  <a:t> count </a:t>
                </a:r>
                <a:r>
                  <a:rPr lang="en-IN" sz="2400">
                    <a:solidFill>
                      <a:srgbClr val="111827"/>
                    </a:solidFill>
                    <a:latin typeface="Cambria Math" panose="02040503050406030204" pitchFamily="18" charset="0"/>
                  </a:rPr>
                  <a:t>$=2\times4\times3\times2=48$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$=72+48=120$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120</a:t>
            </a:r>
            <a:endParaRPr sz="2800">
              <a:solidFill>
                <a:srgbClr val="15803D"/>
              </a:solidFill>
            </a:endParaRP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Slice by the first digit instead, deciding the last digit afterwards.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 last digit must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is used); the middle three come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choices); the middle three from the remaining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likewise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$5$</a:t>
                </a:r>
                <a:r>
                  <a:rPr sz="2400" b="0">
                    <a:solidFill>
                      <a:srgbClr val="111827"/>
                    </a:solidFill>
                    <a:latin typeface="Arial"/>
                  </a:rPr>
                  <a:t>: the last digit must be </a:t>
                </a:r>
                <a:r>
                  <a:rPr lang="en-IN" sz="2400">
                    <a:solidFill>
                      <a:srgbClr val="111827"/>
                    </a:solidFill>
                    <a:latin typeface="Cambria Math" panose="02040503050406030204" pitchFamily="18" charset="0"/>
                  </a:rPr>
                  <a:t>$0$</a:t>
                </a:r>
                <a:r>
                  <a:rPr sz="2400" b="0">
                    <a:solidFill>
                      <a:srgbClr val="111827"/>
                    </a:solidFill>
                    <a:latin typeface="Arial"/>
                  </a:rPr>
                  <a:t> (since </a:t>
                </a:r>
                <a:r>
                  <a:rPr lang="en-IN" sz="2400">
                    <a:solidFill>
                      <a:srgbClr val="111827"/>
                    </a:solidFill>
                    <a:latin typeface="Cambria Math" panose="02040503050406030204" pitchFamily="18" charset="0"/>
                  </a:rPr>
                  <a:t>$5$</a:t>
                </a:r>
                <a:r>
                  <a:rPr sz="2400" b="0">
                    <a:solidFill>
                      <a:srgbClr val="111827"/>
                    </a:solidFill>
                    <a:latin typeface="Arial"/>
                  </a:rPr>
                  <a:t> is used); the middle three come from </a:t>
                </a:r>
                <a:r>
                  <a:rPr lang="en-IN" sz="2400">
                    <a:solidFill>
                      <a:srgbClr val="111827"/>
                    </a:solidFill>
                    <a:latin typeface="Cambria Math" panose="02040503050406030204" pitchFamily="18" charset="0"/>
                  </a:rPr>
                  <a:t>$1,3,7,9$</a:t>
                </a:r>
                <a:r>
                  <a:rPr sz="2400" b="0">
                    <a:solidFill>
                      <a:srgbClr val="111827"/>
                    </a:solidFill>
                    <a:latin typeface="Arial"/>
                  </a:rPr>
                  <a:t>: </a:t>
                </a:r>
                <a:r>
                  <a:rPr lang="en-IN" sz="2400">
                    <a:solidFill>
                      <a:srgbClr val="111827"/>
                    </a:solidFill>
                    <a:latin typeface="Cambria Math" panose="02040503050406030204" pitchFamily="18" charset="0"/>
                  </a:rPr>
                  <a:t>$4\times3\times2=24$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$7$</a:t>
                </a:r>
                <a:r>
                  <a:rPr sz="2400" b="0">
                    <a:solidFill>
                      <a:srgbClr val="111827"/>
                    </a:solidFill>
                    <a:latin typeface="Arial"/>
                  </a:rPr>
                  <a:t>: the last digit is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choices); the middle three from the remaining </a:t>
                </a:r>
                <a:r>
                  <a:rPr lang="en-IN" sz="2400">
                    <a:solidFill>
                      <a:srgbClr val="111827"/>
                    </a:solidFill>
                    <a:latin typeface="Cambria Math" panose="02040503050406030204" pitchFamily="18" charset="0"/>
                  </a:rPr>
                  <a:t>$4$</a:t>
                </a:r>
                <a:r>
                  <a:rPr sz="2400" b="0">
                    <a:solidFill>
                      <a:srgbClr val="111827"/>
                    </a:solidFill>
                    <a:latin typeface="Arial"/>
                  </a:rPr>
                  <a:t> digits: </a:t>
                </a:r>
                <a:r>
                  <a:rPr lang="en-IN" sz="2400">
                    <a:solidFill>
                      <a:srgbClr val="111827"/>
                    </a:solidFill>
                    <a:latin typeface="Cambria Math" panose="02040503050406030204" pitchFamily="18" charset="0"/>
                  </a:rPr>
                  <a:t>$2\times24=48$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digit </a:t>
                </a:r>
                <a:r>
                  <a:rPr lang="en-IN" sz="2400">
                    <a:solidFill>
                      <a:srgbClr val="111827"/>
                    </a:solidFill>
                    <a:latin typeface="Cambria Math" panose="02040503050406030204" pitchFamily="18" charset="0"/>
                  </a:rPr>
                  <a:t>$9$</a:t>
                </a:r>
                <a:r>
                  <a:rPr sz="2400" b="0">
                    <a:solidFill>
                      <a:srgbClr val="111827"/>
                    </a:solidFill>
                    <a:latin typeface="Arial"/>
                  </a:rPr>
                  <a:t>: likewise </a:t>
                </a:r>
                <a:r>
                  <a:rPr lang="en-IN" sz="2400">
                    <a:solidFill>
                      <a:srgbClr val="111827"/>
                    </a:solidFill>
                    <a:latin typeface="Cambria Math" panose="02040503050406030204" pitchFamily="18" charset="0"/>
                  </a:rPr>
                  <a:t>$2\times24=48$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$=24+48+48=120$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120</a:t>
            </a:r>
            <a:endParaRPr sz="2800">
              <a:solidFill>
                <a:srgbClr val="15803D"/>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 of choosing: fill the most restricted places first (last digit for divisibility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first digit for size), then the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that serve both restrictions (here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force a case split; slicing by either restricted place gives the same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complement: numbers with last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no leading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those not above </a:t>
                </a:r>
                <a14:m>
                  <m:oMath xmlns:m="http://schemas.openxmlformats.org/officeDocument/2006/math">
                    <m:r>
                      <a:rPr lang="en-IN" sz="2400" i="1">
                        <a:solidFill>
                          <a:srgbClr val="111827"/>
                        </a:solidFill>
                        <a:latin typeface="Cambria Math" panose="02040503050406030204" pitchFamily="18" charset="0"/>
                      </a:rPr>
                      <m:t>40000</m:t>
                    </m:r>
                  </m:oMath>
                </a14:m>
                <a:r>
                  <a:rPr sz="2400" b="0">
                    <a:solidFill>
                      <a:srgbClr val="111827"/>
                    </a:solidFill>
                    <a:latin typeface="Arial"/>
                  </a:rPr>
                  <a:t> begin with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number </a:t>
                </a:r>
                <a14:m>
                  <m:oMath xmlns:m="http://schemas.openxmlformats.org/officeDocument/2006/math">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 of choosing: fill the most restricted places first (last digit for divisibility by </a:t>
                </a:r>
                <a:r>
                  <a:rPr lang="en-IN" sz="2400">
                    <a:solidFill>
                      <a:srgbClr val="111827"/>
                    </a:solidFill>
                    <a:latin typeface="Cambria Math" panose="02040503050406030204" pitchFamily="18" charset="0"/>
                  </a:rPr>
                  <a:t>$5$</a:t>
                </a:r>
                <a:r>
                  <a:rPr sz="2400" b="0">
                    <a:solidFill>
                      <a:srgbClr val="111827"/>
                    </a:solidFill>
                    <a:latin typeface="Arial"/>
                  </a:rPr>
                  <a:t>, first digit for size), then the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that serve both restrictions (here </a:t>
                </a:r>
                <a:r>
                  <a:rPr lang="en-IN" sz="2400">
                    <a:solidFill>
                      <a:srgbClr val="111827"/>
                    </a:solidFill>
                    <a:latin typeface="Cambria Math" panose="02040503050406030204" pitchFamily="18" charset="0"/>
                  </a:rPr>
                  <a:t>$5$</a:t>
                </a:r>
                <a:r>
                  <a:rPr sz="2400" b="0">
                    <a:solidFill>
                      <a:srgbClr val="111827"/>
                    </a:solidFill>
                    <a:latin typeface="Arial"/>
                  </a:rPr>
                  <a:t>) force a case split; slicing by either restricted place gives the same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complement: numbers with last digit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and no leading </a:t>
                </a:r>
                <a:r>
                  <a:rPr lang="en-IN" sz="2400">
                    <a:solidFill>
                      <a:srgbClr val="111827"/>
                    </a:solidFill>
                    <a:latin typeface="Cambria Math" panose="02040503050406030204" pitchFamily="18" charset="0"/>
                  </a:rPr>
                  <a:t>$0$</a:t>
                </a:r>
                <a:r>
                  <a:rPr sz="2400" b="0">
                    <a:solidFill>
                      <a:srgbClr val="111827"/>
                    </a:solidFill>
                    <a:latin typeface="Arial"/>
                  </a:rPr>
                  <a:t> number </a:t>
                </a:r>
                <a:r>
                  <a:rPr lang="en-IN" sz="2400">
                    <a:solidFill>
                      <a:srgbClr val="111827"/>
                    </a:solidFill>
                    <a:latin typeface="Cambria Math" panose="02040503050406030204" pitchFamily="18" charset="0"/>
                  </a:rPr>
                  <a:t>$120+96=216$</a:t>
                </a:r>
                <a:r>
                  <a:rPr sz="2400" b="0">
                    <a:solidFill>
                      <a:srgbClr val="111827"/>
                    </a:solidFill>
                    <a:latin typeface="Arial"/>
                  </a:rPr>
                  <a:t>; those not above </a:t>
                </a:r>
                <a:r>
                  <a:rPr lang="en-IN" sz="2400">
                    <a:solidFill>
                      <a:srgbClr val="111827"/>
                    </a:solidFill>
                    <a:latin typeface="Cambria Math" panose="02040503050406030204" pitchFamily="18" charset="0"/>
                  </a:rPr>
                  <a:t>$40000$</a:t>
                </a:r>
                <a:r>
                  <a:rPr sz="2400" b="0">
                    <a:solidFill>
                      <a:srgbClr val="111827"/>
                    </a:solidFill>
                    <a:latin typeface="Arial"/>
                  </a:rPr>
                  <a:t> begin with </a:t>
                </a:r>
                <a:r>
                  <a:rPr lang="en-IN" sz="2400">
                    <a:solidFill>
                      <a:srgbClr val="111827"/>
                    </a:solidFill>
                    <a:latin typeface="Cambria Math" panose="02040503050406030204" pitchFamily="18" charset="0"/>
                  </a:rPr>
                  <a:t>$1$</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and number </a:t>
                </a:r>
                <a:r>
                  <a:rPr lang="en-IN" sz="2400">
                    <a:solidFill>
                      <a:srgbClr val="111827"/>
                    </a:solidFill>
                    <a:latin typeface="Cambria Math" panose="02040503050406030204" pitchFamily="18" charset="0"/>
                  </a:rPr>
                  <a:t>$48+48=96$</a:t>
                </a:r>
                <a:r>
                  <a:rPr sz="2400" b="0">
                    <a:solidFill>
                      <a:srgbClr val="111827"/>
                    </a:solidFill>
                    <a:latin typeface="Arial"/>
                  </a:rPr>
                  <a:t>; </a:t>
                </a:r>
                <a:r>
                  <a:rPr lang="en-IN" sz="2400">
                    <a:solidFill>
                      <a:srgbClr val="111827"/>
                    </a:solidFill>
                    <a:latin typeface="Cambria Math" panose="02040503050406030204" pitchFamily="18" charset="0"/>
                  </a:rPr>
                  <a:t>$216-96=120$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words, with or without meaning, are made using all the letters of the word MONDAY. These words are written as in a dictionary with serial numbers. The serial number of the word MONDAY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326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327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324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328</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words, with or without meaning, are made using all the letters of the word MONDAY. These words are written as in a dictionary with serial numbers. The serial number of the word MONDAY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$326$</a:t>
                </a:r>
                <a:r>
                  <a:rPr sz="2400" b="0">
                    <a:solidFill>
                      <a:srgbClr val="111827"/>
                    </a:solidFill>
                    <a:latin typeface="Arial"/>
                  </a:rPr>
                  <a:t>   (B) </a:t>
                </a:r>
                <a:r>
                  <a:rPr lang="en-IN" sz="2400">
                    <a:solidFill>
                      <a:srgbClr val="111827"/>
                    </a:solidFill>
                    <a:latin typeface="Cambria Math" panose="02040503050406030204" pitchFamily="18" charset="0"/>
                  </a:rPr>
                  <a:t>$327$</a:t>
                </a:r>
                <a:r>
                  <a:rPr sz="2400" b="0">
                    <a:solidFill>
                      <a:srgbClr val="111827"/>
                    </a:solidFill>
                    <a:latin typeface="Arial"/>
                  </a:rPr>
                  <a:t>   (C) </a:t>
                </a:r>
                <a:r>
                  <a:rPr lang="en-IN" sz="2400">
                    <a:solidFill>
                      <a:srgbClr val="111827"/>
                    </a:solidFill>
                    <a:latin typeface="Cambria Math" panose="02040503050406030204" pitchFamily="18" charset="0"/>
                  </a:rPr>
                  <a:t>$324$</a:t>
                </a:r>
                <a:r>
                  <a:rPr sz="2400" b="0">
                    <a:solidFill>
                      <a:srgbClr val="111827"/>
                    </a:solidFill>
                    <a:latin typeface="Arial"/>
                  </a:rPr>
                  <a:t>   (D) </a:t>
                </a:r>
                <a:r>
                  <a:rPr lang="en-IN" sz="2400">
                    <a:solidFill>
                      <a:srgbClr val="111827"/>
                    </a:solidFill>
                    <a:latin typeface="Cambria Math" panose="02040503050406030204" pitchFamily="18" charset="0"/>
                  </a:rPr>
                  <a:t>$328$</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𝑠𝑚𝑎𝑙𝑙𝑒𝑟 𝑢𝑛𝑢𝑠𝑒𝑑 𝑙𝑒𝑡𝑡𝑒𝑟𝑠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𝑝𝑙𝑎𝑐𝑒𝑠 𝑙𝑒𝑓𝑡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Rank </a:t>
                </a:r>
                <a:r>
                  <a:rPr lang="en-IN" sz="2400">
                    <a:solidFill>
                      <a:srgbClr val="78350F"/>
                    </a:solidFill>
                    <a:latin typeface="Cambria Math" panose="02040503050406030204" pitchFamily="18" charset="0"/>
                  </a:rPr>
                  <a:t>$=1+\sum(\text{smaller unused letters})\times(\text{places left})!$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starting with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r>
                  <a:rPr lang="en-IN" sz="2400">
                    <a:solidFill>
                      <a:srgbClr val="111827"/>
                    </a:solidFill>
                    <a:latin typeface="Cambria Math" panose="02040503050406030204" pitchFamily="18" charset="0"/>
                  </a:rPr>
                  <a:t>$A,D,M,N,O,Y$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 starting with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$MA$</a:t>
                </a:r>
                <a:r>
                  <a:rPr sz="2400" b="0">
                    <a:solidFill>
                      <a:srgbClr val="111827"/>
                    </a:solidFill>
                    <a:latin typeface="Arial"/>
                  </a:rPr>
                  <a:t>, </a:t>
                </a:r>
                <a:r>
                  <a:rPr lang="en-IN" sz="2400">
                    <a:solidFill>
                      <a:srgbClr val="111827"/>
                    </a:solidFill>
                    <a:latin typeface="Cambria Math" panose="02040503050406030204" pitchFamily="18" charset="0"/>
                  </a:rPr>
                  <a:t>$MD$</a:t>
                </a:r>
                <a:r>
                  <a:rPr sz="2400" b="0">
                    <a:solidFill>
                      <a:srgbClr val="111827"/>
                    </a:solidFill>
                    <a:latin typeface="Arial"/>
                  </a:rPr>
                  <a:t>, </a:t>
                </a:r>
                <a:r>
                  <a:rPr lang="en-IN" sz="2400">
                    <a:solidFill>
                      <a:srgbClr val="111827"/>
                    </a:solidFill>
                    <a:latin typeface="Cambria Math" panose="02040503050406030204" pitchFamily="18" charset="0"/>
                  </a:rPr>
                  <a:t>$MN$</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each, i.e. </a:t>
                </a:r>
                <a:r>
                  <a:rPr lang="en-IN" sz="2400">
                    <a:solidFill>
                      <a:srgbClr val="111827"/>
                    </a:solidFill>
                    <a:latin typeface="Cambria Math" panose="02040503050406030204" pitchFamily="18" charset="0"/>
                  </a:rPr>
                  <a:t>$72$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each, i.e.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Words starting with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next word is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𝑌</m:t>
                    </m:r>
                  </m:oMath>
                </a14:m>
                <a:r>
                  <a:rPr sz="2400" b="0">
                    <a:solidFill>
                      <a:srgbClr val="111827"/>
                    </a:solidFill>
                    <a:latin typeface="Arial"/>
                  </a:rPr>
                  <a:t> itself: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$MOA$</a:t>
                </a:r>
                <a:r>
                  <a:rPr sz="2400" b="0">
                    <a:solidFill>
                      <a:srgbClr val="111827"/>
                    </a:solidFill>
                    <a:latin typeface="Arial"/>
                  </a:rPr>
                  <a:t>, </a:t>
                </a:r>
                <a:r>
                  <a:rPr lang="en-IN" sz="2400">
                    <a:solidFill>
                      <a:srgbClr val="111827"/>
                    </a:solidFill>
                    <a:latin typeface="Cambria Math" panose="02040503050406030204" pitchFamily="18" charset="0"/>
                  </a:rPr>
                  <a:t>$MOD$</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 each, i.e. </a:t>
                </a:r>
                <a:r>
                  <a:rPr lang="en-IN" sz="2400">
                    <a:solidFill>
                      <a:srgbClr val="111827"/>
                    </a:solidFill>
                    <a:latin typeface="Cambria Math" panose="02040503050406030204" pitchFamily="18" charset="0"/>
                  </a:rPr>
                  <a:t>$12$</a:t>
                </a:r>
                <a:r>
                  <a:rPr sz="2400" b="0">
                    <a:solidFill>
                      <a:srgbClr val="111827"/>
                    </a:solidFill>
                    <a:latin typeface="Arial"/>
                  </a:rPr>
                  <a:t>. Words starting with </a:t>
                </a:r>
                <a:r>
                  <a:rPr lang="en-IN" sz="2400">
                    <a:solidFill>
                      <a:srgbClr val="111827"/>
                    </a:solidFill>
                    <a:latin typeface="Cambria Math" panose="02040503050406030204" pitchFamily="18" charset="0"/>
                  </a:rPr>
                  <a:t>$MONA$</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next word is </a:t>
                </a:r>
                <a:r>
                  <a:rPr lang="en-IN" sz="2400">
                    <a:solidFill>
                      <a:srgbClr val="111827"/>
                    </a:solidFill>
                    <a:latin typeface="Cambria Math" panose="02040503050406030204" pitchFamily="18" charset="0"/>
                  </a:rPr>
                  <a:t>$MONDAY$</a:t>
                </a:r>
                <a:r>
                  <a:rPr sz="2400" b="0">
                    <a:solidFill>
                      <a:srgbClr val="111827"/>
                    </a:solidFill>
                    <a:latin typeface="Arial"/>
                  </a:rPr>
                  <a:t> itself: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r>
                  <a:rPr lang="en-IN" sz="2400">
                    <a:solidFill>
                      <a:srgbClr val="111827"/>
                    </a:solidFill>
                    <a:latin typeface="Cambria Math" panose="02040503050406030204" pitchFamily="18" charset="0"/>
                  </a:rPr>
                  <a:t>$=120+120+72+12+2+1=327$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327</a:t>
            </a:r>
            <a:endParaRPr sz="2800">
              <a:solidFill>
                <a:srgbClr val="15803D"/>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after MONDAY and subtract from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after MONDAY and subtract from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second larger than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oMath>
                </a14:m>
                <a:r>
                  <a:rPr sz="2400" b="0">
                    <a:solidFill>
                      <a:srgbClr val="111827"/>
                    </a:solidFill>
                    <a:latin typeface="Arial"/>
                  </a:rPr>
                  <a:t>, third larger than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𝑁</m:t>
                    </m:r>
                  </m:oMath>
                </a14:m>
                <a:r>
                  <a:rPr sz="2400" b="0">
                    <a:solidFill>
                      <a:srgbClr val="111827"/>
                    </a:solidFill>
                    <a:latin typeface="Arial"/>
                  </a:rPr>
                  <a:t>, fourth larger than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𝐷</m:t>
                    </m:r>
                  </m:oMath>
                </a14:m>
                <a:r>
                  <a:rPr sz="2400" b="0">
                    <a:solidFill>
                      <a:srgbClr val="111827"/>
                    </a:solidFill>
                    <a:latin typeface="Arial"/>
                  </a:rPr>
                  <a:t>, fifth larger than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word (</a:t>
                </a:r>
                <a14:m>
                  <m:oMath xmlns:m="http://schemas.openxmlformats.org/officeDocument/2006/math">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𝑌</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393</m:t>
                    </m:r>
                  </m:oMath>
                </a14:m>
                <a:r>
                  <a:rPr sz="2400" b="0">
                    <a:solidFill>
                      <a:srgbClr val="111827"/>
                    </a:solidFill>
                    <a:latin typeface="Arial"/>
                  </a:rPr>
                  <a:t>, so the rank is </a:t>
                </a:r>
                <a14:m>
                  <m:oMath xmlns:m="http://schemas.openxmlformats.org/officeDocument/2006/math">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$N,O,Y$</a:t>
                </a:r>
                <a:r>
                  <a:rPr sz="2400" b="0">
                    <a:solidFill>
                      <a:srgbClr val="111827"/>
                    </a:solidFill>
                    <a:latin typeface="Arial"/>
                  </a:rPr>
                  <a:t> give </a:t>
                </a:r>
                <a:r>
                  <a:rPr lang="en-IN" sz="2400">
                    <a:solidFill>
                      <a:srgbClr val="111827"/>
                    </a:solidFill>
                    <a:latin typeface="Cambria Math" panose="02040503050406030204" pitchFamily="18" charset="0"/>
                  </a:rPr>
                  <a:t>$3\times5!=360$</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r>
                  <a:rPr lang="en-IN" sz="2400">
                    <a:solidFill>
                      <a:srgbClr val="111827"/>
                    </a:solidFill>
                    <a:latin typeface="Cambria Math" panose="02040503050406030204" pitchFamily="18" charset="0"/>
                  </a:rPr>
                  <a:t>$M$</a:t>
                </a:r>
                <a:r>
                  <a:rPr sz="2400" b="0">
                    <a:solidFill>
                      <a:srgbClr val="111827"/>
                    </a:solidFill>
                    <a:latin typeface="Arial"/>
                  </a:rPr>
                  <a:t>, second larger than </a:t>
                </a:r>
                <a:r>
                  <a:rPr lang="en-IN" sz="2400">
                    <a:solidFill>
                      <a:srgbClr val="111827"/>
                    </a:solidFill>
                    <a:latin typeface="Cambria Math" panose="02040503050406030204" pitchFamily="18" charset="0"/>
                  </a:rPr>
                  <a:t>$O$</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gives </a:t>
                </a:r>
                <a:r>
                  <a:rPr lang="en-IN" sz="2400">
                    <a:solidFill>
                      <a:srgbClr val="111827"/>
                    </a:solidFill>
                    <a:latin typeface="Cambria Math" panose="02040503050406030204" pitchFamily="18" charset="0"/>
                  </a:rPr>
                  <a:t>$4!=24$</a:t>
                </a:r>
                <a:r>
                  <a:rPr sz="2400" b="0">
                    <a:solidFill>
                      <a:srgbClr val="111827"/>
                    </a:solidFill>
                    <a:latin typeface="Arial"/>
                  </a:rPr>
                  <a:t>. Then </a:t>
                </a:r>
                <a:r>
                  <a:rPr lang="en-IN" sz="2400">
                    <a:solidFill>
                      <a:srgbClr val="111827"/>
                    </a:solidFill>
                    <a:latin typeface="Cambria Math" panose="02040503050406030204" pitchFamily="18" charset="0"/>
                  </a:rPr>
                  <a:t>$MO$</a:t>
                </a:r>
                <a:r>
                  <a:rPr sz="2400" b="0">
                    <a:solidFill>
                      <a:srgbClr val="111827"/>
                    </a:solidFill>
                    <a:latin typeface="Arial"/>
                  </a:rPr>
                  <a:t>, third larger than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gives </a:t>
                </a:r>
                <a:r>
                  <a:rPr lang="en-IN" sz="2400">
                    <a:solidFill>
                      <a:srgbClr val="111827"/>
                    </a:solidFill>
                    <a:latin typeface="Cambria Math" panose="02040503050406030204" pitchFamily="18" charset="0"/>
                  </a:rPr>
                  <a:t>$3!=6$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$MON$</a:t>
                </a:r>
                <a:r>
                  <a:rPr sz="2400" b="0">
                    <a:solidFill>
                      <a:srgbClr val="111827"/>
                    </a:solidFill>
                    <a:latin typeface="Arial"/>
                  </a:rPr>
                  <a:t>, fourth larger than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gives </a:t>
                </a:r>
                <a:r>
                  <a:rPr lang="en-IN" sz="2400">
                    <a:solidFill>
                      <a:srgbClr val="111827"/>
                    </a:solidFill>
                    <a:latin typeface="Cambria Math" panose="02040503050406030204" pitchFamily="18" charset="0"/>
                  </a:rPr>
                  <a:t>$2!=2$</a:t>
                </a:r>
                <a:r>
                  <a:rPr sz="2400" b="0">
                    <a:solidFill>
                      <a:srgbClr val="111827"/>
                    </a:solidFill>
                    <a:latin typeface="Arial"/>
                  </a:rPr>
                  <a:t>. Then </a:t>
                </a:r>
                <a:r>
                  <a:rPr lang="en-IN" sz="2400">
                    <a:solidFill>
                      <a:srgbClr val="111827"/>
                    </a:solidFill>
                    <a:latin typeface="Cambria Math" panose="02040503050406030204" pitchFamily="18" charset="0"/>
                  </a:rPr>
                  <a:t>$MOND$</a:t>
                </a:r>
                <a:r>
                  <a:rPr sz="2400" b="0">
                    <a:solidFill>
                      <a:srgbClr val="111827"/>
                    </a:solidFill>
                    <a:latin typeface="Arial"/>
                  </a:rPr>
                  <a:t>, fifth larger than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word (</a:t>
                </a:r>
                <a:r>
                  <a:rPr lang="en-IN" sz="2400">
                    <a:solidFill>
                      <a:srgbClr val="111827"/>
                    </a:solidFill>
                    <a:latin typeface="Cambria Math" panose="02040503050406030204" pitchFamily="18" charset="0"/>
                  </a:rPr>
                  <a:t>$MONDYA$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$=360+24+6+2+1=393$</a:t>
                </a:r>
                <a:r>
                  <a:rPr sz="2400" b="0">
                    <a:solidFill>
                      <a:srgbClr val="111827"/>
                    </a:solidFill>
                    <a:latin typeface="Arial"/>
                  </a:rPr>
                  <a:t>, so the rank is </a:t>
                </a:r>
                <a:r>
                  <a:rPr lang="en-IN" sz="2400">
                    <a:solidFill>
                      <a:srgbClr val="111827"/>
                    </a:solidFill>
                    <a:latin typeface="Cambria Math" panose="02040503050406030204" pitchFamily="18" charset="0"/>
                  </a:rPr>
                  <a:t>$720-393=327$</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327</a:t>
            </a:r>
            <a:endParaRPr sz="2800">
              <a:solidFill>
                <a:srgbClr val="15803D"/>
              </a:solidFill>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rank formula gives the same value from either side: </a:t>
                </a:r>
                <a14:m>
                  <m:oMath xmlns:m="http://schemas.openxmlformats.org/officeDocument/2006/math">
                    <m:r>
                      <m:rPr>
                        <m:nor/>
                      </m:rPr>
                      <a:rPr lang="en-IN" sz="2400" i="1">
                        <a:solidFill>
                          <a:srgbClr val="111827"/>
                        </a:solidFill>
                        <a:latin typeface="Cambria Math" panose="02040503050406030204" pitchFamily="18" charset="0"/>
                      </a:rPr>
                      <m:t>𝑟𝑎𝑛𝑘</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𝑟𝑎𝑛𝑘 𝑓𝑟𝑜𝑚 𝑡ℎ𝑒 𝑒𝑛𝑑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word whose letters are already in alphabetical order has rank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its reverse has rank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read letter by letter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factorial base.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rank formula gives the same value from either side: </a:t>
                </a:r>
                <a:r>
                  <a:rPr lang="en-IN" sz="2400">
                    <a:solidFill>
                      <a:srgbClr val="111827"/>
                    </a:solidFill>
                    <a:latin typeface="Cambria Math" panose="02040503050406030204" pitchFamily="18" charset="0"/>
                  </a:rPr>
                  <a:t>$\text{rank}+\text{rank from the end}=n!+1$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word whose letters are already in alphabetical order has rank </a:t>
                </a:r>
                <a:r>
                  <a:rPr lang="en-IN" sz="2400">
                    <a:solidFill>
                      <a:srgbClr val="111827"/>
                    </a:solidFill>
                    <a:latin typeface="Cambria Math" panose="02040503050406030204" pitchFamily="18" charset="0"/>
                  </a:rPr>
                  <a:t>$1$</a:t>
                </a:r>
                <a:r>
                  <a:rPr sz="2400" b="0">
                    <a:solidFill>
                      <a:srgbClr val="111827"/>
                    </a:solidFill>
                    <a:latin typeface="Arial"/>
                  </a:rPr>
                  <a:t>; its reverse has rank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rank </a:t>
                </a:r>
                <a:r>
                  <a:rPr lang="en-IN" sz="2400">
                    <a:solidFill>
                      <a:srgbClr val="111827"/>
                    </a:solidFill>
                    <a:latin typeface="Cambria Math" panose="02040503050406030204" pitchFamily="18" charset="0"/>
                  </a:rPr>
                  <a:t>$-1=326=2\cdot120+0\cdot24+\dots$</a:t>
                </a:r>
                <a:r>
                  <a:rPr sz="2400" b="0">
                    <a:solidFill>
                      <a:srgbClr val="111827"/>
                    </a:solidFill>
                    <a:latin typeface="Arial"/>
                  </a:rPr>
                  <a:t> is read letter by letter as </a:t>
                </a:r>
                <a:r>
                  <a:rPr lang="en-IN" sz="2400">
                    <a:solidFill>
                      <a:srgbClr val="111827"/>
                    </a:solidFill>
                    <a:latin typeface="Cambria Math" panose="02040503050406030204" pitchFamily="18" charset="0"/>
                  </a:rPr>
                  <a:t>$(2,3,2,1,0,0)$</a:t>
                </a:r>
                <a:r>
                  <a:rPr sz="2400" b="0">
                    <a:solidFill>
                      <a:srgbClr val="111827"/>
                    </a:solidFill>
                    <a:latin typeface="Arial"/>
                  </a:rPr>
                  <a:t> in the factorial base.</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three-digit numbers,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which can be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if repetition of digits is allowed,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18</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three-digit numbers, divisible by </a:t>
                </a:r>
                <a:r>
                  <a:rPr lang="en-IN" sz="2400">
                    <a:solidFill>
                      <a:srgbClr val="111827"/>
                    </a:solidFill>
                    <a:latin typeface="Cambria Math" panose="02040503050406030204" pitchFamily="18" charset="0"/>
                  </a:rPr>
                  <a:t>$3$</a:t>
                </a:r>
                <a:r>
                  <a:rPr sz="2400" b="0">
                    <a:solidFill>
                      <a:srgbClr val="111827"/>
                    </a:solidFill>
                    <a:latin typeface="Arial"/>
                  </a:rPr>
                  <a:t>, which can be formed using the digits </a:t>
                </a:r>
                <a:r>
                  <a:rPr lang="en-IN" sz="2400">
                    <a:solidFill>
                      <a:srgbClr val="111827"/>
                    </a:solidFill>
                    <a:latin typeface="Cambria Math" panose="02040503050406030204" pitchFamily="18" charset="0"/>
                  </a:rPr>
                  <a:t>$1,3,5,8$</a:t>
                </a:r>
                <a:r>
                  <a:rPr sz="2400" b="0">
                    <a:solidFill>
                      <a:srgbClr val="111827"/>
                    </a:solidFill>
                    <a:latin typeface="Arial"/>
                  </a:rPr>
                  <a:t>, if repetition of digits is allowed, is: [JEE(Main) April 2023]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$22$</a:t>
                </a:r>
                <a:r>
                  <a:rPr sz="2400" b="0">
                    <a:solidFill>
                      <a:srgbClr val="111827"/>
                    </a:solidFill>
                    <a:latin typeface="Arial"/>
                  </a:rPr>
                  <a:t>   (B) </a:t>
                </a:r>
                <a:r>
                  <a:rPr lang="en-IN" sz="2400">
                    <a:solidFill>
                      <a:srgbClr val="111827"/>
                    </a:solidFill>
                    <a:latin typeface="Cambria Math" panose="02040503050406030204" pitchFamily="18" charset="0"/>
                  </a:rPr>
                  <a:t>$21$</a:t>
                </a:r>
                <a:r>
                  <a:rPr sz="2400" b="0">
                    <a:solidFill>
                      <a:srgbClr val="111827"/>
                    </a:solidFill>
                    <a:latin typeface="Arial"/>
                  </a:rPr>
                  <a:t>   (C) </a:t>
                </a:r>
                <a:r>
                  <a:rPr lang="en-IN" sz="2400">
                    <a:solidFill>
                      <a:srgbClr val="111827"/>
                    </a:solidFill>
                    <a:latin typeface="Cambria Math" panose="02040503050406030204" pitchFamily="18" charset="0"/>
                  </a:rPr>
                  <a:t>$20$</a:t>
                </a:r>
                <a:r>
                  <a:rPr sz="2400" b="0">
                    <a:solidFill>
                      <a:srgbClr val="111827"/>
                    </a:solidFill>
                    <a:latin typeface="Arial"/>
                  </a:rPr>
                  <a:t>   (D) </a:t>
                </a:r>
                <a:r>
                  <a:rPr lang="en-IN" sz="2400">
                    <a:solidFill>
                      <a:srgbClr val="111827"/>
                    </a:solidFill>
                    <a:latin typeface="Cambria Math" panose="02040503050406030204" pitchFamily="18" charset="0"/>
                  </a:rPr>
                  <a:t>$18$</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Digit counting with repetition under a divisibility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Digit sum a multiple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list the multisets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with such a sum and count their orderings.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Digit sum a multiple of </a:t>
                </a:r>
                <a:r>
                  <a:rPr lang="en-IN" sz="2400">
                    <a:solidFill>
                      <a:srgbClr val="78350F"/>
                    </a:solidFill>
                    <a:latin typeface="Cambria Math" panose="02040503050406030204" pitchFamily="18" charset="0"/>
                  </a:rPr>
                  <a:t>$3$</a:t>
                </a:r>
                <a:r>
                  <a:rPr sz="2400" b="0">
                    <a:solidFill>
                      <a:srgbClr val="78350F"/>
                    </a:solidFill>
                    <a:latin typeface="Arial"/>
                  </a:rPr>
                  <a:t>: list the multisets </a:t>
                </a:r>
                <a:r>
                  <a:rPr lang="en-IN" sz="2400">
                    <a:solidFill>
                      <a:srgbClr val="78350F"/>
                    </a:solidFill>
                    <a:latin typeface="Cambria Math" panose="02040503050406030204" pitchFamily="18" charset="0"/>
                  </a:rPr>
                  <a:t>$\{a,b,c\}$</a:t>
                </a:r>
                <a:r>
                  <a:rPr sz="2400" b="0">
                    <a:solidFill>
                      <a:srgbClr val="78350F"/>
                    </a:solidFill>
                    <a:latin typeface="Arial"/>
                  </a:rPr>
                  <a:t> from </a:t>
                </a:r>
                <a:r>
                  <a:rPr lang="en-IN" sz="2400">
                    <a:solidFill>
                      <a:srgbClr val="78350F"/>
                    </a:solidFill>
                    <a:latin typeface="Cambria Math" panose="02040503050406030204" pitchFamily="18" charset="0"/>
                  </a:rPr>
                  <a:t>$1,3,5,8$</a:t>
                </a:r>
                <a:r>
                  <a:rPr sz="2400" b="0">
                    <a:solidFill>
                      <a:srgbClr val="78350F"/>
                    </a:solidFill>
                    <a:latin typeface="Arial"/>
                  </a:rPr>
                  <a:t> with such a sum and count their orderings.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when its digit sum is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possible multisets are listed by sum.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r>
                  <a:rPr lang="en-IN" sz="2400">
                    <a:solidFill>
                      <a:srgbClr val="111827"/>
                    </a:solidFill>
                    <a:latin typeface="Cambria Math" panose="02040503050406030204" pitchFamily="18" charset="0"/>
                  </a:rPr>
                  <a:t>$3$</a:t>
                </a:r>
                <a:r>
                  <a:rPr sz="2400" b="0">
                    <a:solidFill>
                      <a:srgbClr val="111827"/>
                    </a:solidFill>
                    <a:latin typeface="Arial"/>
                  </a:rPr>
                  <a:t> when its digit sum is a multiple of </a:t>
                </a:r>
                <a:r>
                  <a:rPr lang="en-IN" sz="2400">
                    <a:solidFill>
                      <a:srgbClr val="111827"/>
                    </a:solidFill>
                    <a:latin typeface="Cambria Math" panose="02040503050406030204" pitchFamily="18" charset="0"/>
                  </a:rPr>
                  <a:t>$3$</a:t>
                </a:r>
                <a:r>
                  <a:rPr sz="2400" b="0">
                    <a:solidFill>
                      <a:srgbClr val="111827"/>
                    </a:solidFill>
                    <a:latin typeface="Arial"/>
                  </a:rPr>
                  <a:t>. The possible multisets are listed by sum.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$\{1,1,1\}$</a:t>
                </a:r>
                <a:r>
                  <a:rPr sz="2400" b="0">
                    <a:solidFill>
                      <a:srgbClr val="111827"/>
                    </a:solidFill>
                    <a:latin typeface="Arial"/>
                  </a:rPr>
                  <a:t>. Sum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$\{1,3,5\}$</a:t>
                </a:r>
                <a:r>
                  <a:rPr sz="2400" b="0">
                    <a:solidFill>
                      <a:srgbClr val="111827"/>
                    </a:solidFill>
                    <a:latin typeface="Arial"/>
                  </a:rPr>
                  <a:t> or </a:t>
                </a:r>
                <a:r>
                  <a:rPr lang="en-IN" sz="2400">
                    <a:solidFill>
                      <a:srgbClr val="111827"/>
                    </a:solidFill>
                    <a:latin typeface="Cambria Math" panose="02040503050406030204" pitchFamily="18" charset="0"/>
                  </a:rPr>
                  <a:t>$\{3,3,3\}$</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$\{1,3,8\}$</a:t>
                </a:r>
                <a:r>
                  <a:rPr sz="2400" b="0">
                    <a:solidFill>
                      <a:srgbClr val="111827"/>
                    </a:solidFill>
                    <a:latin typeface="Arial"/>
                  </a:rPr>
                  <a:t>. Sum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$\{5,5,5\}$</a:t>
                </a:r>
                <a:r>
                  <a:rPr sz="2400" b="0">
                    <a:solidFill>
                      <a:srgbClr val="111827"/>
                    </a:solidFill>
                    <a:latin typeface="Arial"/>
                  </a:rPr>
                  <a:t>. Sum </a:t>
                </a:r>
                <a:r>
                  <a:rPr lang="en-IN" sz="2400">
                    <a:solidFill>
                      <a:srgbClr val="111827"/>
                    </a:solidFill>
                    <a:latin typeface="Cambria Math" panose="02040503050406030204" pitchFamily="18" charset="0"/>
                  </a:rPr>
                  <a:t>$18$</a:t>
                </a:r>
                <a:r>
                  <a:rPr sz="2400" b="0">
                    <a:solidFill>
                      <a:srgbClr val="111827"/>
                    </a:solidFill>
                    <a:latin typeface="Arial"/>
                  </a:rPr>
                  <a:t>: </a:t>
                </a:r>
                <a:r>
                  <a:rPr lang="en-IN" sz="2400">
                    <a:solidFill>
                      <a:srgbClr val="111827"/>
                    </a:solidFill>
                    <a:latin typeface="Cambria Math" panose="02040503050406030204" pitchFamily="18" charset="0"/>
                  </a:rPr>
                  <a:t>$\{5,5,8\}$</a:t>
                </a:r>
                <a:r>
                  <a:rPr sz="2400" b="0">
                    <a:solidFill>
                      <a:srgbClr val="111827"/>
                    </a:solidFill>
                    <a:latin typeface="Arial"/>
                  </a:rPr>
                  <a:t>. Sum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$\{5,8,8\}$</a:t>
                </a:r>
                <a:r>
                  <a:rPr sz="2400" b="0">
                    <a:solidFill>
                      <a:srgbClr val="111827"/>
                    </a:solidFill>
                    <a:latin typeface="Arial"/>
                  </a:rPr>
                  <a:t>. Sum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$\{8,8,8\}$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Arrangements: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$\{1,3,5\}$</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 </a:t>
                </a:r>
                <a:r>
                  <a:rPr lang="en-IN" sz="2400">
                    <a:solidFill>
                      <a:srgbClr val="111827"/>
                    </a:solidFill>
                    <a:latin typeface="Cambria Math" panose="02040503050406030204" pitchFamily="18" charset="0"/>
                  </a:rPr>
                  <a:t>$\{3,3,3\}$</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$\{1,3,8\}$</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$\{5,5,5\}$</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$\{5,5,8\}$</a:t>
                </a:r>
                <a:r>
                  <a:rPr sz="2400" b="0">
                    <a:solidFill>
                      <a:srgbClr val="111827"/>
                    </a:solidFill>
                    <a:latin typeface="Arial"/>
                  </a:rPr>
                  <a:t>: </a:t>
                </a:r>
                <a:r>
                  <a:rPr lang="en-IN" sz="2400">
                    <a:solidFill>
                      <a:srgbClr val="111827"/>
                    </a:solidFill>
                    <a:latin typeface="Cambria Math" panose="02040503050406030204" pitchFamily="18" charset="0"/>
                  </a:rPr>
                  <a:t>$\frac{3!}{2!}=3$</a:t>
                </a:r>
                <a:r>
                  <a:rPr sz="2400" b="0">
                    <a:solidFill>
                      <a:srgbClr val="111827"/>
                    </a:solidFill>
                    <a:latin typeface="Arial"/>
                  </a:rPr>
                  <a:t>; </a:t>
                </a:r>
                <a:r>
                  <a:rPr lang="en-IN" sz="2400">
                    <a:solidFill>
                      <a:srgbClr val="111827"/>
                    </a:solidFill>
                    <a:latin typeface="Cambria Math" panose="02040503050406030204" pitchFamily="18" charset="0"/>
                  </a:rPr>
                  <a:t>$\{5,8,8\}$</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$\{8,8,8\}$</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$=1+6+1+6+1+3+3+1=22$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22</a:t>
            </a:r>
            <a:endParaRPr sz="2800">
              <a:solidFill>
                <a:srgbClr val="15803D"/>
              </a:solidFill>
            </a:endParaRP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digits by remainder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count residue patterns with weights.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digits by remainder mod </a:t>
                </a:r>
                <a:r>
                  <a:rPr lang="en-IN" sz="2400">
                    <a:solidFill>
                      <a:srgbClr val="78350F"/>
                    </a:solidFill>
                    <a:latin typeface="Cambria Math" panose="02040503050406030204" pitchFamily="18" charset="0"/>
                  </a:rPr>
                  <a:t>$3$</a:t>
                </a:r>
                <a:r>
                  <a:rPr sz="2400" b="0">
                    <a:solidFill>
                      <a:srgbClr val="78350F"/>
                    </a:solidFill>
                    <a:latin typeface="Arial"/>
                  </a:rPr>
                  <a:t> and count residue patterns with weights.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(one digit),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(one digit),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(two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triples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orders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a:t>
                </a:r>
                <a:r>
                  <a:rPr lang="en-IN" sz="2400">
                    <a:solidFill>
                      <a:srgbClr val="111827"/>
                    </a:solidFill>
                    <a:latin typeface="Cambria Math" panose="02040503050406030204" pitchFamily="18" charset="0"/>
                  </a:rPr>
                  <a:t>$3\to0$</a:t>
                </a:r>
                <a:r>
                  <a:rPr sz="2400" b="0">
                    <a:solidFill>
                      <a:srgbClr val="111827"/>
                    </a:solidFill>
                    <a:latin typeface="Arial"/>
                  </a:rPr>
                  <a:t> (one digit), </a:t>
                </a:r>
                <a:r>
                  <a:rPr lang="en-IN" sz="2400">
                    <a:solidFill>
                      <a:srgbClr val="111827"/>
                    </a:solidFill>
                    <a:latin typeface="Cambria Math" panose="02040503050406030204" pitchFamily="18" charset="0"/>
                  </a:rPr>
                  <a:t>$1\to1$</a:t>
                </a:r>
                <a:r>
                  <a:rPr sz="2400" b="0">
                    <a:solidFill>
                      <a:srgbClr val="111827"/>
                    </a:solidFill>
                    <a:latin typeface="Arial"/>
                  </a:rPr>
                  <a:t> (one digit), </a:t>
                </a:r>
                <a:r>
                  <a:rPr lang="en-IN" sz="2400">
                    <a:solidFill>
                      <a:srgbClr val="111827"/>
                    </a:solidFill>
                    <a:latin typeface="Cambria Math" panose="02040503050406030204" pitchFamily="18" charset="0"/>
                  </a:rPr>
                  <a:t>$5,8\to2$</a:t>
                </a:r>
                <a:r>
                  <a:rPr sz="2400" b="0">
                    <a:solidFill>
                      <a:srgbClr val="111827"/>
                    </a:solidFill>
                    <a:latin typeface="Arial"/>
                  </a:rPr>
                  <a:t> (two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triples with sum </a:t>
                </a:r>
                <a:r>
                  <a:rPr lang="en-IN" sz="2400">
                    <a:solidFill>
                      <a:srgbClr val="111827"/>
                    </a:solidFill>
                    <a:latin typeface="Cambria Math" panose="02040503050406030204" pitchFamily="18" charset="0"/>
                  </a:rPr>
                  <a:t>$\equiv0\pmod3$</a:t>
                </a:r>
                <a:r>
                  <a:rPr sz="2400" b="0">
                    <a:solidFill>
                      <a:srgbClr val="111827"/>
                    </a:solidFill>
                    <a:latin typeface="Arial"/>
                  </a:rPr>
                  <a:t>: </a:t>
                </a:r>
                <a:r>
                  <a:rPr lang="en-IN" sz="2400">
                    <a:solidFill>
                      <a:srgbClr val="111827"/>
                    </a:solidFill>
                    <a:latin typeface="Cambria Math" panose="02040503050406030204" pitchFamily="18" charset="0"/>
                  </a:rPr>
                  <a:t>$\{0,0,0\}$</a:t>
                </a:r>
                <a:r>
                  <a:rPr sz="2400" b="0">
                    <a:solidFill>
                      <a:srgbClr val="111827"/>
                    </a:solidFill>
                    <a:latin typeface="Arial"/>
                  </a:rPr>
                  <a:t>,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$\{2,2,2\}$</a:t>
                </a:r>
                <a:r>
                  <a:rPr sz="2400" b="0">
                    <a:solidFill>
                      <a:srgbClr val="111827"/>
                    </a:solidFill>
                    <a:latin typeface="Arial"/>
                  </a:rPr>
                  <a:t>, </a:t>
                </a:r>
                <a:r>
                  <a:rPr lang="en-IN" sz="2400">
                    <a:solidFill>
                      <a:srgbClr val="111827"/>
                    </a:solidFill>
                    <a:latin typeface="Cambria Math" panose="02040503050406030204" pitchFamily="18" charset="0"/>
                  </a:rPr>
                  <a:t>$\{0,1,2\}$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$\{0,0,0\}$</a:t>
                </a:r>
                <a:r>
                  <a:rPr sz="2400" b="0">
                    <a:solidFill>
                      <a:srgbClr val="111827"/>
                    </a:solidFill>
                    <a:latin typeface="Arial"/>
                  </a:rPr>
                  <a:t>: </a:t>
                </a:r>
                <a:r>
                  <a:rPr lang="en-IN" sz="2400">
                    <a:solidFill>
                      <a:srgbClr val="111827"/>
                    </a:solidFill>
                    <a:latin typeface="Cambria Math" panose="02040503050406030204" pitchFamily="18" charset="0"/>
                  </a:rPr>
                  <a:t>$1^3=1$</a:t>
                </a:r>
                <a:r>
                  <a:rPr sz="2400" b="0">
                    <a:solidFill>
                      <a:srgbClr val="111827"/>
                    </a:solidFill>
                    <a:latin typeface="Arial"/>
                  </a:rPr>
                  <a:t>.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$\{2,2,2\}$</a:t>
                </a:r>
                <a:r>
                  <a:rPr sz="2400" b="0">
                    <a:solidFill>
                      <a:srgbClr val="111827"/>
                    </a:solidFill>
                    <a:latin typeface="Arial"/>
                  </a:rPr>
                  <a:t>: </a:t>
                </a:r>
                <a:r>
                  <a:rPr lang="en-IN" sz="2400">
                    <a:solidFill>
                      <a:srgbClr val="111827"/>
                    </a:solidFill>
                    <a:latin typeface="Cambria Math" panose="02040503050406030204" pitchFamily="18" charset="0"/>
                  </a:rPr>
                  <a:t>$2^3=8$</a:t>
                </a:r>
                <a:r>
                  <a:rPr sz="2400" b="0">
                    <a:solidFill>
                      <a:srgbClr val="111827"/>
                    </a:solidFill>
                    <a:latin typeface="Arial"/>
                  </a:rPr>
                  <a:t>. </a:t>
                </a:r>
                <a:r>
                  <a:rPr lang="en-IN" sz="2400">
                    <a:solidFill>
                      <a:srgbClr val="111827"/>
                    </a:solidFill>
                    <a:latin typeface="Cambria Math" panose="02040503050406030204" pitchFamily="18" charset="0"/>
                  </a:rPr>
                  <a:t>$\{0,1,2\}$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orders </a:t>
                </a:r>
                <a:r>
                  <a:rPr lang="en-IN" sz="2400">
                    <a:solidFill>
                      <a:srgbClr val="111827"/>
                    </a:solidFill>
                    <a:latin typeface="Cambria Math" panose="02040503050406030204" pitchFamily="18" charset="0"/>
                  </a:rPr>
                  <a:t>$\times1\cdot1\cdot2=12$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$=1+1+8+12=22$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22</a:t>
            </a:r>
            <a:endParaRPr sz="2800">
              <a:solidFill>
                <a:srgbClr val="15803D"/>
              </a:solidFill>
            </a:endParaRP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digit-divisibility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replace digits by residues and count weighted residue patterns instead of listing every multiset.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Weights: the number of available digits in each residue class;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numbers in all;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are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because the class sizes are unequal.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digit-divisibility by </a:t>
                </a:r>
                <a:r>
                  <a:rPr lang="en-IN" sz="2400">
                    <a:solidFill>
                      <a:srgbClr val="111827"/>
                    </a:solidFill>
                    <a:latin typeface="Cambria Math" panose="02040503050406030204" pitchFamily="18" charset="0"/>
                  </a:rPr>
                  <a:t>$3$</a:t>
                </a:r>
                <a:r>
                  <a:rPr sz="2400" b="0">
                    <a:solidFill>
                      <a:srgbClr val="111827"/>
                    </a:solidFill>
                    <a:latin typeface="Arial"/>
                  </a:rPr>
                  <a:t>, replace digits by residues and count weighted residue patterns instead of listing every multiset.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Weights: the number of available digits in each residue class; here </a:t>
                </a:r>
                <a:r>
                  <a:rPr lang="en-IN" sz="2400">
                    <a:solidFill>
                      <a:srgbClr val="111827"/>
                    </a:solidFill>
                    <a:latin typeface="Cambria Math" panose="02040503050406030204" pitchFamily="18" charset="0"/>
                  </a:rPr>
                  <a:t>$(1,1,2)$</a:t>
                </a:r>
                <a:r>
                  <a:rPr sz="2400" b="0">
                    <a:solidFill>
                      <a:srgbClr val="111827"/>
                    </a:solidFill>
                    <a:latin typeface="Arial"/>
                  </a:rPr>
                  <a:t> for residues </a:t>
                </a:r>
                <a:r>
                  <a:rPr lang="en-IN" sz="2400">
                    <a:solidFill>
                      <a:srgbClr val="111827"/>
                    </a:solidFill>
                    <a:latin typeface="Cambria Math" panose="02040503050406030204" pitchFamily="18" charset="0"/>
                  </a:rPr>
                  <a:t>$(0,1,2)$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$4^3=64$</a:t>
                </a:r>
                <a:r>
                  <a:rPr sz="2400" b="0">
                    <a:solidFill>
                      <a:srgbClr val="111827"/>
                    </a:solidFill>
                    <a:latin typeface="Arial"/>
                  </a:rPr>
                  <a:t> numbers in all; </a:t>
                </a:r>
                <a:r>
                  <a:rPr lang="en-IN" sz="2400">
                    <a:solidFill>
                      <a:srgbClr val="111827"/>
                    </a:solidFill>
                    <a:latin typeface="Cambria Math" panose="02040503050406030204" pitchFamily="18" charset="0"/>
                  </a:rPr>
                  <a:t>$22$</a:t>
                </a:r>
                <a:r>
                  <a:rPr sz="2400" b="0">
                    <a:solidFill>
                      <a:srgbClr val="111827"/>
                    </a:solidFill>
                    <a:latin typeface="Arial"/>
                  </a:rPr>
                  <a:t> are multiples of </a:t>
                </a:r>
                <a:r>
                  <a:rPr lang="en-IN" sz="2400">
                    <a:solidFill>
                      <a:srgbClr val="111827"/>
                    </a:solidFill>
                    <a:latin typeface="Cambria Math" panose="02040503050406030204" pitchFamily="18" charset="0"/>
                  </a:rPr>
                  <a:t>$3$</a:t>
                </a:r>
                <a:r>
                  <a:rPr sz="2400" b="0">
                    <a:solidFill>
                      <a:srgbClr val="111827"/>
                    </a:solidFill>
                    <a:latin typeface="Arial"/>
                  </a:rPr>
                  <a:t> because the class sizes are unequal.</a:t>
                </a:r>
                <a:endParaRPr sz="2400">
                  <a:solidFill>
                    <a:srgbClr val="111827"/>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 – Q38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giving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alike oranges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children such that each child gets at least one orange is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giving </a:t>
                </a:r>
                <a:r>
                  <a:rPr lang="en-IN" sz="2400">
                    <a:solidFill>
                      <a:srgbClr val="111827"/>
                    </a:solidFill>
                    <a:latin typeface="Cambria Math" panose="02040503050406030204" pitchFamily="18" charset="0"/>
                  </a:rPr>
                  <a:t>$20$</a:t>
                </a:r>
                <a:r>
                  <a:rPr sz="2400" b="0">
                    <a:solidFill>
                      <a:srgbClr val="111827"/>
                    </a:solidFill>
                    <a:latin typeface="Arial"/>
                  </a:rPr>
                  <a:t> alike oranges to </a:t>
                </a:r>
                <a:r>
                  <a:rPr lang="en-IN" sz="2400">
                    <a:solidFill>
                      <a:srgbClr val="111827"/>
                    </a:solidFill>
                    <a:latin typeface="Cambria Math" panose="02040503050406030204" pitchFamily="18" charset="0"/>
                  </a:rPr>
                  <a:t>$3$</a:t>
                </a:r>
                <a:r>
                  <a:rPr sz="2400" b="0">
                    <a:solidFill>
                      <a:srgbClr val="111827"/>
                    </a:solidFill>
                    <a:latin typeface="Arial"/>
                  </a:rPr>
                  <a:t> children such that each child gets at least one orange is ______. [JEE(Main) April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identical objects with each recipient getting at least one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Give each child one orange; the remaining </a:t>
                </a:r>
                <a14:m>
                  <m:oMath xmlns:m="http://schemas.openxmlformats.org/officeDocument/2006/math">
                    <m:r>
                      <a:rPr lang="en-IN" sz="2400" i="1">
                        <a:solidFill>
                          <a:srgbClr val="78350F"/>
                        </a:solidFill>
                        <a:latin typeface="Cambria Math" panose="02040503050406030204" pitchFamily="18" charset="0"/>
                      </a:rPr>
                      <m:t>17</m:t>
                    </m:r>
                  </m:oMath>
                </a14:m>
                <a:r>
                  <a:rPr sz="2400" b="0">
                    <a:solidFill>
                      <a:srgbClr val="78350F"/>
                    </a:solidFill>
                    <a:latin typeface="Arial"/>
                  </a:rPr>
                  <a:t> are distributed freely, a stars-and-bars count.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Give each child one orange; the remaining </a:t>
                </a:r>
                <a:r>
                  <a:rPr lang="en-IN" sz="2400">
                    <a:solidFill>
                      <a:srgbClr val="78350F"/>
                    </a:solidFill>
                    <a:latin typeface="Cambria Math" panose="02040503050406030204" pitchFamily="18" charset="0"/>
                  </a:rPr>
                  <a:t>$17$</a:t>
                </a:r>
                <a:r>
                  <a:rPr sz="2400" b="0">
                    <a:solidFill>
                      <a:srgbClr val="78350F"/>
                    </a:solidFill>
                    <a:latin typeface="Arial"/>
                  </a:rPr>
                  <a:t> are distributed freely, a stars-and-bars count.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children get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oranges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such distributions equals the number of non-negative integer solutions of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children get </a:t>
                </a:r>
                <a:r>
                  <a:rPr lang="en-IN" sz="2400">
                    <a:solidFill>
                      <a:srgbClr val="111827"/>
                    </a:solidFill>
                    <a:latin typeface="Cambria Math" panose="02040503050406030204" pitchFamily="18" charset="0"/>
                  </a:rPr>
                  <a:t>$x_1,x_2,x_3\ge1$</a:t>
                </a:r>
                <a:r>
                  <a:rPr sz="2400" b="0">
                    <a:solidFill>
                      <a:srgbClr val="111827"/>
                    </a:solidFill>
                    <a:latin typeface="Arial"/>
                  </a:rPr>
                  <a:t> oranges with </a:t>
                </a:r>
                <a:r>
                  <a:rPr lang="en-IN" sz="2400">
                    <a:solidFill>
                      <a:srgbClr val="111827"/>
                    </a:solidFill>
                    <a:latin typeface="Cambria Math" panose="02040503050406030204" pitchFamily="18" charset="0"/>
                  </a:rPr>
                  <a:t>$x_1+x_2+x_3=20$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$x_i=1+t_i$</a:t>
                </a:r>
                <a:r>
                  <a:rPr sz="2400" b="0">
                    <a:solidFill>
                      <a:srgbClr val="111827"/>
                    </a:solidFill>
                    <a:latin typeface="Arial"/>
                  </a:rPr>
                  <a:t> with </a:t>
                </a:r>
                <a:r>
                  <a:rPr lang="en-IN" sz="2400">
                    <a:solidFill>
                      <a:srgbClr val="111827"/>
                    </a:solidFill>
                    <a:latin typeface="Cambria Math" panose="02040503050406030204" pitchFamily="18" charset="0"/>
                  </a:rPr>
                  <a:t>$t_i\ge0$</a:t>
                </a:r>
                <a:r>
                  <a:rPr sz="2400" b="0">
                    <a:solidFill>
                      <a:srgbClr val="111827"/>
                    </a:solidFill>
                    <a:latin typeface="Arial"/>
                  </a:rPr>
                  <a:t>: </a:t>
                </a:r>
                <a:r>
                  <a:rPr lang="en-IN" sz="2400">
                    <a:solidFill>
                      <a:srgbClr val="111827"/>
                    </a:solidFill>
                    <a:latin typeface="Cambria Math" panose="02040503050406030204" pitchFamily="18" charset="0"/>
                  </a:rPr>
                  <a:t>$t_1+t_2+t_3=17$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such distributions equals the number of non-negative integer solutions of </a:t>
                </a:r>
                <a:r>
                  <a:rPr lang="en-IN" sz="2400">
                    <a:solidFill>
                      <a:srgbClr val="111827"/>
                    </a:solidFill>
                    <a:latin typeface="Cambria Math" panose="02040503050406030204" pitchFamily="18" charset="0"/>
                  </a:rPr>
                  <a:t>$t_1+t_2+t_3=17$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$={}^{17+3-1}C_{3-1}={}^{19}C_2=\frac{19\times18}{2}=171$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171</a:t>
            </a:r>
            <a:endParaRPr sz="2800">
              <a:solidFill>
                <a:srgbClr val="15803D"/>
              </a:solidFill>
            </a:endParaRP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Inclusion-exclusion on the children who get nothing.</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 given child getting none: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solutions; for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children: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two given children getting none: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each; for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(All three cannot be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with every child getting at least one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solutions of </a:t>
                </a:r>
                <a:r>
                  <a:rPr lang="en-IN" sz="2400">
                    <a:solidFill>
                      <a:srgbClr val="111827"/>
                    </a:solidFill>
                    <a:latin typeface="Cambria Math" panose="02040503050406030204" pitchFamily="18" charset="0"/>
                  </a:rPr>
                  <a:t>$x_1+x_2+x_3=20$</a:t>
                </a:r>
                <a:r>
                  <a:rPr sz="2400" b="0">
                    <a:solidFill>
                      <a:srgbClr val="111827"/>
                    </a:solidFill>
                    <a:latin typeface="Arial"/>
                  </a:rPr>
                  <a:t>: </a:t>
                </a:r>
                <a:r>
                  <a:rPr lang="en-IN" sz="2400">
                    <a:solidFill>
                      <a:srgbClr val="111827"/>
                    </a:solidFill>
                    <a:latin typeface="Cambria Math" panose="02040503050406030204" pitchFamily="18" charset="0"/>
                  </a:rPr>
                  <a:t>${}^{22}C_2=231$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 given child getting none: </a:t>
                </a:r>
                <a:r>
                  <a:rPr lang="en-IN" sz="2400">
                    <a:solidFill>
                      <a:srgbClr val="111827"/>
                    </a:solidFill>
                    <a:latin typeface="Cambria Math" panose="02040503050406030204" pitchFamily="18" charset="0"/>
                  </a:rPr>
                  <a:t>$x_2+x_3=20$</a:t>
                </a:r>
                <a:r>
                  <a:rPr sz="2400" b="0">
                    <a:solidFill>
                      <a:srgbClr val="111827"/>
                    </a:solidFill>
                    <a:latin typeface="Arial"/>
                  </a:rPr>
                  <a:t> has </a:t>
                </a:r>
                <a:r>
                  <a:rPr lang="en-IN" sz="2400">
                    <a:solidFill>
                      <a:srgbClr val="111827"/>
                    </a:solidFill>
                    <a:latin typeface="Cambria Math" panose="02040503050406030204" pitchFamily="18" charset="0"/>
                  </a:rPr>
                  <a:t>$21$</a:t>
                </a:r>
                <a:r>
                  <a:rPr sz="2400" b="0">
                    <a:solidFill>
                      <a:srgbClr val="111827"/>
                    </a:solidFill>
                    <a:latin typeface="Arial"/>
                  </a:rPr>
                  <a:t> solutions; for </a:t>
                </a:r>
                <a:r>
                  <a:rPr lang="en-IN" sz="2400">
                    <a:solidFill>
                      <a:srgbClr val="111827"/>
                    </a:solidFill>
                    <a:latin typeface="Cambria Math" panose="02040503050406030204" pitchFamily="18" charset="0"/>
                  </a:rPr>
                  <a:t>$3$</a:t>
                </a:r>
                <a:r>
                  <a:rPr sz="2400" b="0">
                    <a:solidFill>
                      <a:srgbClr val="111827"/>
                    </a:solidFill>
                    <a:latin typeface="Arial"/>
                  </a:rPr>
                  <a:t> children: </a:t>
                </a:r>
                <a:r>
                  <a:rPr lang="en-IN" sz="2400">
                    <a:solidFill>
                      <a:srgbClr val="111827"/>
                    </a:solidFill>
                    <a:latin typeface="Cambria Math" panose="02040503050406030204" pitchFamily="18" charset="0"/>
                  </a:rPr>
                  <a:t>$3\times21=63$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two given children getting none: </a:t>
                </a:r>
                <a:r>
                  <a:rPr lang="en-IN" sz="2400">
                    <a:solidFill>
                      <a:srgbClr val="111827"/>
                    </a:solidFill>
                    <a:latin typeface="Cambria Math" panose="02040503050406030204" pitchFamily="18" charset="0"/>
                  </a:rPr>
                  <a:t>$1$</a:t>
                </a:r>
                <a:r>
                  <a:rPr sz="2400" b="0">
                    <a:solidFill>
                      <a:srgbClr val="111827"/>
                    </a:solidFill>
                    <a:latin typeface="Arial"/>
                  </a:rPr>
                  <a:t> each; for </a:t>
                </a:r>
                <a:r>
                  <a:rPr lang="en-IN" sz="2400">
                    <a:solidFill>
                      <a:srgbClr val="111827"/>
                    </a:solidFill>
                    <a:latin typeface="Cambria Math" panose="02040503050406030204" pitchFamily="18" charset="0"/>
                  </a:rPr>
                  <a:t>$3$</a:t>
                </a:r>
                <a:r>
                  <a:rPr sz="2400" b="0">
                    <a:solidFill>
                      <a:srgbClr val="111827"/>
                    </a:solidFill>
                    <a:latin typeface="Arial"/>
                  </a:rPr>
                  <a:t> pairs: </a:t>
                </a:r>
                <a:r>
                  <a:rPr lang="en-IN" sz="2400">
                    <a:solidFill>
                      <a:srgbClr val="111827"/>
                    </a:solidFill>
                    <a:latin typeface="Cambria Math" panose="02040503050406030204" pitchFamily="18" charset="0"/>
                  </a:rPr>
                  <a:t>$3$</a:t>
                </a:r>
                <a:r>
                  <a:rPr sz="2400" b="0">
                    <a:solidFill>
                      <a:srgbClr val="111827"/>
                    </a:solidFill>
                    <a:latin typeface="Arial"/>
                  </a:rPr>
                  <a:t>. (All three cannot be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with every child getting at least one </a:t>
                </a:r>
                <a:r>
                  <a:rPr lang="en-IN" sz="2400">
                    <a:solidFill>
                      <a:srgbClr val="111827"/>
                    </a:solidFill>
                    <a:latin typeface="Cambria Math" panose="02040503050406030204" pitchFamily="18" charset="0"/>
                  </a:rPr>
                  <a:t>$=231-63+3=171$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171</a:t>
            </a:r>
            <a:endParaRPr sz="2800">
              <a:solidFill>
                <a:srgbClr val="15803D"/>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Identical objects to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distinct people with each getting at least one: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minimum: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with minimum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each: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Picture: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oranges in a row have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gaps; choosing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cut-gaps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Identical objects to </a:t>
                </a:r>
                <a:r>
                  <a:rPr lang="en-IN" sz="2400">
                    <a:solidFill>
                      <a:srgbClr val="111827"/>
                    </a:solidFill>
                    <a:latin typeface="Cambria Math" panose="02040503050406030204" pitchFamily="18" charset="0"/>
                  </a:rPr>
                  <a:t>$k$</a:t>
                </a:r>
                <a:r>
                  <a:rPr sz="2400" b="0">
                    <a:solidFill>
                      <a:srgbClr val="111827"/>
                    </a:solidFill>
                    <a:latin typeface="Arial"/>
                  </a:rPr>
                  <a:t> distinct people with each getting at least one: </a:t>
                </a:r>
                <a:r>
                  <a:rPr lang="en-IN" sz="2400">
                    <a:solidFill>
                      <a:srgbClr val="111827"/>
                    </a:solidFill>
                    <a:latin typeface="Cambria Math" panose="02040503050406030204" pitchFamily="18" charset="0"/>
                  </a:rPr>
                  <a:t>$\binom{n-1}{k-1}$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minimum: </a:t>
                </a:r>
                <a:r>
                  <a:rPr lang="en-IN" sz="2400">
                    <a:solidFill>
                      <a:srgbClr val="111827"/>
                    </a:solidFill>
                    <a:latin typeface="Cambria Math" panose="02040503050406030204" pitchFamily="18" charset="0"/>
                  </a:rPr>
                  <a:t>$\binom{n+k-1}{k-1}$</a:t>
                </a:r>
                <a:r>
                  <a:rPr sz="2400" b="0">
                    <a:solidFill>
                      <a:srgbClr val="111827"/>
                    </a:solidFill>
                    <a:latin typeface="Arial"/>
                  </a:rPr>
                  <a:t>; with minimum </a:t>
                </a:r>
                <a:r>
                  <a:rPr lang="en-IN" sz="2400">
                    <a:solidFill>
                      <a:srgbClr val="111827"/>
                    </a:solidFill>
                    <a:latin typeface="Cambria Math" panose="02040503050406030204" pitchFamily="18" charset="0"/>
                  </a:rPr>
                  <a:t>$m$</a:t>
                </a:r>
                <a:r>
                  <a:rPr sz="2400" b="0">
                    <a:solidFill>
                      <a:srgbClr val="111827"/>
                    </a:solidFill>
                    <a:latin typeface="Arial"/>
                  </a:rPr>
                  <a:t> each: </a:t>
                </a:r>
                <a:r>
                  <a:rPr lang="en-IN" sz="2400">
                    <a:solidFill>
                      <a:srgbClr val="111827"/>
                    </a:solidFill>
                    <a:latin typeface="Cambria Math" panose="02040503050406030204" pitchFamily="18" charset="0"/>
                  </a:rPr>
                  <a:t>$\binom{n-km+k-1}{k-1}$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Picture: </a:t>
                </a:r>
                <a:r>
                  <a:rPr lang="en-IN" sz="2400">
                    <a:solidFill>
                      <a:srgbClr val="111827"/>
                    </a:solidFill>
                    <a:latin typeface="Cambria Math" panose="02040503050406030204" pitchFamily="18" charset="0"/>
                  </a:rPr>
                  <a:t>$20$</a:t>
                </a:r>
                <a:r>
                  <a:rPr sz="2400" b="0">
                    <a:solidFill>
                      <a:srgbClr val="111827"/>
                    </a:solidFill>
                    <a:latin typeface="Arial"/>
                  </a:rPr>
                  <a:t> oranges in a row have </a:t>
                </a:r>
                <a:r>
                  <a:rPr lang="en-IN" sz="2400">
                    <a:solidFill>
                      <a:srgbClr val="111827"/>
                    </a:solidFill>
                    <a:latin typeface="Cambria Math" panose="02040503050406030204" pitchFamily="18" charset="0"/>
                  </a:rPr>
                  <a:t>$19$</a:t>
                </a:r>
                <a:r>
                  <a:rPr sz="2400" b="0">
                    <a:solidFill>
                      <a:srgbClr val="111827"/>
                    </a:solidFill>
                    <a:latin typeface="Arial"/>
                  </a:rPr>
                  <a:t> gaps; choosing </a:t>
                </a:r>
                <a:r>
                  <a:rPr lang="en-IN" sz="2400">
                    <a:solidFill>
                      <a:srgbClr val="111827"/>
                    </a:solidFill>
                    <a:latin typeface="Cambria Math" panose="02040503050406030204" pitchFamily="18" charset="0"/>
                  </a:rPr>
                  <a:t>$2$</a:t>
                </a:r>
                <a:r>
                  <a:rPr sz="2400" b="0">
                    <a:solidFill>
                      <a:srgbClr val="111827"/>
                    </a:solidFill>
                    <a:latin typeface="Arial"/>
                  </a:rPr>
                  <a:t> cut-gaps gives </a:t>
                </a:r>
                <a:r>
                  <a:rPr lang="en-IN" sz="2400">
                    <a:solidFill>
                      <a:srgbClr val="111827"/>
                    </a:solidFill>
                    <a:latin typeface="Cambria Math" panose="02040503050406030204" pitchFamily="18" charset="0"/>
                  </a:rPr>
                  <a:t>$\binom{19}{2}$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-letter words, with or without meaning, each consisting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vowels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consonants, which can be formed from the letters of the word UNIVERSE without repetition is ______. [JEE(Main) April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$4$</a:t>
                </a:r>
                <a:r>
                  <a:rPr sz="2400" b="0">
                    <a:solidFill>
                      <a:srgbClr val="111827"/>
                    </a:solidFill>
                    <a:latin typeface="Arial"/>
                  </a:rPr>
                  <a:t>-letter words, with or without meaning, each consisting of </a:t>
                </a:r>
                <a:r>
                  <a:rPr lang="en-IN" sz="2400">
                    <a:solidFill>
                      <a:srgbClr val="111827"/>
                    </a:solidFill>
                    <a:latin typeface="Cambria Math" panose="02040503050406030204" pitchFamily="18" charset="0"/>
                  </a:rPr>
                  <a:t>$2$</a:t>
                </a:r>
                <a:r>
                  <a:rPr sz="2400" b="0">
                    <a:solidFill>
                      <a:srgbClr val="111827"/>
                    </a:solidFill>
                    <a:latin typeface="Arial"/>
                  </a:rPr>
                  <a:t> vowels and </a:t>
                </a:r>
                <a:r>
                  <a:rPr lang="en-IN" sz="2400">
                    <a:solidFill>
                      <a:srgbClr val="111827"/>
                    </a:solidFill>
                    <a:latin typeface="Cambria Math" panose="02040503050406030204" pitchFamily="18" charset="0"/>
                  </a:rPr>
                  <a:t>$2$</a:t>
                </a:r>
                <a:r>
                  <a:rPr sz="2400" b="0">
                    <a:solidFill>
                      <a:srgbClr val="111827"/>
                    </a:solidFill>
                    <a:latin typeface="Arial"/>
                  </a:rPr>
                  <a:t> consonants, which can be formed from the letters of the word UNIVERSE without repetition is ______. [JEE(Main) April 2023]</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followed by arrangement of distinct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letter is repeated, so choose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different vowels and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different consonants, then arrange the four letters.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letter is repeated, so choose </a:t>
                </a:r>
                <a:r>
                  <a:rPr lang="en-IN" sz="2400">
                    <a:solidFill>
                      <a:srgbClr val="78350F"/>
                    </a:solidFill>
                    <a:latin typeface="Cambria Math" panose="02040503050406030204" pitchFamily="18" charset="0"/>
                  </a:rPr>
                  <a:t>$2$</a:t>
                </a:r>
                <a:r>
                  <a:rPr sz="2400" b="0">
                    <a:solidFill>
                      <a:srgbClr val="78350F"/>
                    </a:solidFill>
                    <a:latin typeface="Arial"/>
                  </a:rPr>
                  <a:t> different vowels and </a:t>
                </a:r>
                <a:r>
                  <a:rPr lang="en-IN" sz="2400">
                    <a:solidFill>
                      <a:srgbClr val="78350F"/>
                    </a:solidFill>
                    <a:latin typeface="Cambria Math" panose="02040503050406030204" pitchFamily="18" charset="0"/>
                  </a:rPr>
                  <a:t>$2$</a:t>
                </a:r>
                <a:r>
                  <a:rPr sz="2400" b="0">
                    <a:solidFill>
                      <a:srgbClr val="78350F"/>
                    </a:solidFill>
                    <a:latin typeface="Arial"/>
                  </a:rPr>
                  <a:t> different consonants, then arrange the four letters.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UNIVERSE has vowels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and consonants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means no letter is used twice, so the two vowels are different: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distinct vowels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consonants: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UNIVERSE has vowels </a:t>
                </a:r>
                <a:r>
                  <a:rPr lang="en-IN" sz="2400">
                    <a:solidFill>
                      <a:srgbClr val="111827"/>
                    </a:solidFill>
                    <a:latin typeface="Cambria Math" panose="02040503050406030204" pitchFamily="18" charset="0"/>
                  </a:rPr>
                  <a:t>$E,E,I,U$</a:t>
                </a:r>
                <a:r>
                  <a:rPr sz="2400" b="0">
                    <a:solidFill>
                      <a:srgbClr val="111827"/>
                    </a:solidFill>
                    <a:latin typeface="Arial"/>
                  </a:rPr>
                  <a:t> and consonants </a:t>
                </a:r>
                <a:r>
                  <a:rPr lang="en-IN" sz="2400">
                    <a:solidFill>
                      <a:srgbClr val="111827"/>
                    </a:solidFill>
                    <a:latin typeface="Cambria Math" panose="02040503050406030204" pitchFamily="18" charset="0"/>
                  </a:rPr>
                  <a:t>$N,R,S,V$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means no letter is used twice, so the two vowels are different: choose </a:t>
                </a:r>
                <a:r>
                  <a:rPr lang="en-IN" sz="2400">
                    <a:solidFill>
                      <a:srgbClr val="111827"/>
                    </a:solidFill>
                    <a:latin typeface="Cambria Math" panose="02040503050406030204" pitchFamily="18" charset="0"/>
                  </a:rPr>
                  <a:t>$2$</a:t>
                </a:r>
                <a:r>
                  <a:rPr sz="2400" b="0">
                    <a:solidFill>
                      <a:srgbClr val="111827"/>
                    </a:solidFill>
                    <a:latin typeface="Arial"/>
                  </a:rPr>
                  <a:t> of the distinct vowels </a:t>
                </a:r>
                <a:r>
                  <a:rPr lang="en-IN" sz="2400">
                    <a:solidFill>
                      <a:srgbClr val="111827"/>
                    </a:solidFill>
                    <a:latin typeface="Cambria Math" panose="02040503050406030204" pitchFamily="18" charset="0"/>
                  </a:rPr>
                  <a:t>$E,I,U$</a:t>
                </a:r>
                <a:r>
                  <a:rPr sz="2400" b="0">
                    <a:solidFill>
                      <a:srgbClr val="111827"/>
                    </a:solidFill>
                    <a:latin typeface="Arial"/>
                  </a:rPr>
                  <a:t>: </a:t>
                </a:r>
                <a:r>
                  <a:rPr lang="en-IN" sz="2400">
                    <a:solidFill>
                      <a:srgbClr val="111827"/>
                    </a:solidFill>
                    <a:latin typeface="Cambria Math" panose="02040503050406030204" pitchFamily="18" charset="0"/>
                  </a:rPr>
                  <a:t>${}^3C_2=3$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$2$</a:t>
                </a:r>
                <a:r>
                  <a:rPr sz="2400" b="0">
                    <a:solidFill>
                      <a:srgbClr val="111827"/>
                    </a:solidFill>
                    <a:latin typeface="Arial"/>
                  </a:rPr>
                  <a:t> of the </a:t>
                </a:r>
                <a:r>
                  <a:rPr lang="en-IN" sz="2400">
                    <a:solidFill>
                      <a:srgbClr val="111827"/>
                    </a:solidFill>
                    <a:latin typeface="Cambria Math" panose="02040503050406030204" pitchFamily="18" charset="0"/>
                  </a:rPr>
                  <a:t>$4$</a:t>
                </a:r>
                <a:r>
                  <a:rPr sz="2400" b="0">
                    <a:solidFill>
                      <a:srgbClr val="111827"/>
                    </a:solidFill>
                    <a:latin typeface="Arial"/>
                  </a:rPr>
                  <a:t> consonants: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four chosen letters: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four chosen letters: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$=3\times6\times24=432$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432</a:t>
            </a:r>
            <a:endParaRPr sz="2800">
              <a:solidFill>
                <a:srgbClr val="15803D"/>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positions first: which two places hold vowels, then fill them in order.</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places (out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for the vowels: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vowel places with an ordered pair of different vowels from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consonant places with an ordered pair from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a:t>
                </a:r>
                <a:r>
                  <a:rPr lang="en-IN" sz="2400">
                    <a:solidFill>
                      <a:srgbClr val="111827"/>
                    </a:solidFill>
                    <a:latin typeface="Cambria Math" panose="02040503050406030204" pitchFamily="18" charset="0"/>
                  </a:rPr>
                  <a:t>$2$</a:t>
                </a:r>
                <a:r>
                  <a:rPr sz="2400" b="0">
                    <a:solidFill>
                      <a:srgbClr val="111827"/>
                    </a:solidFill>
                    <a:latin typeface="Arial"/>
                  </a:rPr>
                  <a:t> places (out of </a:t>
                </a:r>
                <a:r>
                  <a:rPr lang="en-IN" sz="2400">
                    <a:solidFill>
                      <a:srgbClr val="111827"/>
                    </a:solidFill>
                    <a:latin typeface="Cambria Math" panose="02040503050406030204" pitchFamily="18" charset="0"/>
                  </a:rPr>
                  <a:t>$4$</a:t>
                </a:r>
                <a:r>
                  <a:rPr sz="2400" b="0">
                    <a:solidFill>
                      <a:srgbClr val="111827"/>
                    </a:solidFill>
                    <a:latin typeface="Arial"/>
                  </a:rPr>
                  <a:t>) for the vowels: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vowel places with an ordered pair of different vowels from </a:t>
                </a:r>
                <a:r>
                  <a:rPr lang="en-IN" sz="2400">
                    <a:solidFill>
                      <a:srgbClr val="111827"/>
                    </a:solidFill>
                    <a:latin typeface="Cambria Math" panose="02040503050406030204" pitchFamily="18" charset="0"/>
                  </a:rPr>
                  <a:t>$E,I,U$</a:t>
                </a:r>
                <a:r>
                  <a:rPr sz="2400" b="0">
                    <a:solidFill>
                      <a:srgbClr val="111827"/>
                    </a:solidFill>
                    <a:latin typeface="Arial"/>
                  </a:rPr>
                  <a:t>: </a:t>
                </a:r>
                <a:r>
                  <a:rPr lang="en-IN" sz="2400">
                    <a:solidFill>
                      <a:srgbClr val="111827"/>
                    </a:solidFill>
                    <a:latin typeface="Cambria Math" panose="02040503050406030204" pitchFamily="18" charset="0"/>
                  </a:rPr>
                  <a:t>${}^3P_2=6$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consonant places with an ordered pair from </a:t>
                </a:r>
                <a:r>
                  <a:rPr lang="en-IN" sz="2400">
                    <a:solidFill>
                      <a:srgbClr val="111827"/>
                    </a:solidFill>
                    <a:latin typeface="Cambria Math" panose="02040503050406030204" pitchFamily="18" charset="0"/>
                  </a:rPr>
                  <a:t>$N,R,S,V$</a:t>
                </a:r>
                <a:r>
                  <a:rPr sz="2400" b="0">
                    <a:solidFill>
                      <a:srgbClr val="111827"/>
                    </a:solidFill>
                    <a:latin typeface="Arial"/>
                  </a:rPr>
                  <a:t>: </a:t>
                </a:r>
                <a:r>
                  <a:rPr lang="en-IN" sz="2400">
                    <a:solidFill>
                      <a:srgbClr val="111827"/>
                    </a:solidFill>
                    <a:latin typeface="Cambria Math" panose="02040503050406030204" pitchFamily="18" charset="0"/>
                  </a:rPr>
                  <a:t>${}^4P_2=12$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$=6\times6\times12=432$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432</a:t>
            </a:r>
            <a:endParaRPr sz="2800">
              <a:solidFill>
                <a:srgbClr val="15803D"/>
              </a:solidFill>
            </a:endParaRP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then arrange' equals 'choose positions for each type, then fill with ordered selections':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repeated letter in the source word, state clearly whether the repeated letter may appear twice in a word. If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𝐸</m:t>
                    </m:r>
                  </m:oMath>
                </a14:m>
                <a:r>
                  <a:rPr sz="2400" b="0">
                    <a:solidFill>
                      <a:srgbClr val="111827"/>
                    </a:solidFill>
                    <a:latin typeface="Arial"/>
                  </a:rPr>
                  <a:t> were allowed the count would be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(all letters different) the repeated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behaves as a single letter.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then arrange' equals 'choose positions for each type, then fill with ordered selections': </a:t>
                </a:r>
                <a:r>
                  <a:rPr lang="en-IN" sz="2400">
                    <a:solidFill>
                      <a:srgbClr val="111827"/>
                    </a:solidFill>
                    <a:latin typeface="Cambria Math" panose="02040503050406030204" pitchFamily="18" charset="0"/>
                  </a:rPr>
                  <a:t>$\binom42\,{}^3P_2\,{}^4P_2=\binom32\binom42\,4!$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 repeated letter in the source word, state clearly whether the repeated letter may appear twice in a word. If </a:t>
                </a:r>
                <a:r>
                  <a:rPr lang="en-IN" sz="2400">
                    <a:solidFill>
                      <a:srgbClr val="111827"/>
                    </a:solidFill>
                    <a:latin typeface="Cambria Math" panose="02040503050406030204" pitchFamily="18" charset="0"/>
                  </a:rPr>
                  <a:t>$EE$</a:t>
                </a:r>
                <a:r>
                  <a:rPr sz="2400" b="0">
                    <a:solidFill>
                      <a:srgbClr val="111827"/>
                    </a:solidFill>
                    <a:latin typeface="Arial"/>
                  </a:rPr>
                  <a:t> were allowed the count would be </a:t>
                </a:r>
                <a:r>
                  <a:rPr lang="en-IN" sz="2400">
                    <a:solidFill>
                      <a:srgbClr val="111827"/>
                    </a:solidFill>
                    <a:latin typeface="Cambria Math" panose="02040503050406030204" pitchFamily="18" charset="0"/>
                  </a:rPr>
                  <a:t>$6\times(3\times24+12)=504$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(all letters different) the repeated </a:t>
                </a:r>
                <a:r>
                  <a:rPr lang="en-IN" sz="2400">
                    <a:solidFill>
                      <a:srgbClr val="111827"/>
                    </a:solidFill>
                    <a:latin typeface="Cambria Math" panose="02040503050406030204" pitchFamily="18" charset="0"/>
                  </a:rPr>
                  <a:t>$E$</a:t>
                </a:r>
                <a:r>
                  <a:rPr sz="2400" b="0">
                    <a:solidFill>
                      <a:srgbClr val="111827"/>
                    </a:solidFill>
                    <a:latin typeface="Arial"/>
                  </a:rPr>
                  <a:t> behaves as a single letter.</a:t>
                </a:r>
                <a:endParaRPr sz="2400">
                  <a:solidFill>
                    <a:srgbClr val="111827"/>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largest natural number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such that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largest natural number </a:t>
                </a:r>
                <a:r>
                  <a:rPr lang="en-IN" sz="2400">
                    <a:solidFill>
                      <a:srgbClr val="111827"/>
                    </a:solidFill>
                    <a:latin typeface="Cambria Math" panose="02040503050406030204" pitchFamily="18" charset="0"/>
                  </a:rPr>
                  <a:t>$n$</a:t>
                </a:r>
                <a:r>
                  <a:rPr sz="2400" b="0">
                    <a:solidFill>
                      <a:srgbClr val="111827"/>
                    </a:solidFill>
                    <a:latin typeface="Arial"/>
                  </a:rPr>
                  <a:t> such that </a:t>
                </a:r>
                <a:r>
                  <a:rPr lang="en-IN" sz="2400">
                    <a:solidFill>
                      <a:srgbClr val="111827"/>
                    </a:solidFill>
                    <a:latin typeface="Cambria Math" panose="02040503050406030204" pitchFamily="18" charset="0"/>
                  </a:rPr>
                  <a:t>$3^n$</a:t>
                </a:r>
                <a:r>
                  <a:rPr sz="2400" b="0">
                    <a:solidFill>
                      <a:srgbClr val="111827"/>
                    </a:solidFill>
                    <a:latin typeface="Arial"/>
                  </a:rPr>
                  <a:t> divides </a:t>
                </a:r>
                <a:r>
                  <a:rPr lang="en-IN" sz="2400">
                    <a:solidFill>
                      <a:srgbClr val="111827"/>
                    </a:solidFill>
                    <a:latin typeface="Cambria Math" panose="02040503050406030204" pitchFamily="18" charset="0"/>
                  </a:rPr>
                  <a:t>$66!$</a:t>
                </a:r>
                <a:r>
                  <a:rPr sz="2400" b="0">
                    <a:solidFill>
                      <a:srgbClr val="111827"/>
                    </a:solidFill>
                    <a:latin typeface="Arial"/>
                  </a:rPr>
                  <a:t> is ______. [JEE(Main) April 2023]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Highest power of a prime dividing a factorial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66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66</m:t>
                            </m:r>
                          </m:num>
                          <m:den>
                            <m:r>
                              <a:rPr lang="en-IN" sz="2400" i="1">
                                <a:solidFill>
                                  <a:srgbClr val="78350F"/>
                                </a:solidFill>
                                <a:latin typeface="Cambria Math" panose="02040503050406030204" pitchFamily="18" charset="0"/>
                              </a:rPr>
                              <m:t>3</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66</m:t>
                            </m:r>
                          </m:num>
                          <m:den>
                            <m:r>
                              <a:rPr lang="en-IN" sz="2400" i="1">
                                <a:solidFill>
                                  <a:srgbClr val="78350F"/>
                                </a:solidFill>
                                <a:latin typeface="Cambria Math" panose="02040503050406030204" pitchFamily="18" charset="0"/>
                              </a:rPr>
                              <m:t>9</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66</m:t>
                            </m:r>
                          </m:num>
                          <m:den>
                            <m:r>
                              <a:rPr lang="en-IN" sz="2400" i="1">
                                <a:solidFill>
                                  <a:srgbClr val="78350F"/>
                                </a:solidFill>
                                <a:latin typeface="Cambria Math" panose="02040503050406030204" pitchFamily="18" charset="0"/>
                              </a:rPr>
                              <m:t>27</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r>
                  <a:rPr lang="en-IN" sz="2400">
                    <a:solidFill>
                      <a:srgbClr val="78350F"/>
                    </a:solidFill>
                    <a:latin typeface="Cambria Math" panose="02040503050406030204" pitchFamily="18" charset="0"/>
                  </a:rPr>
                  <a:t>$3$</a:t>
                </a:r>
                <a:r>
                  <a:rPr sz="2400" b="0">
                    <a:solidFill>
                      <a:srgbClr val="78350F"/>
                    </a:solidFill>
                    <a:latin typeface="Arial"/>
                  </a:rPr>
                  <a:t> in </a:t>
                </a:r>
                <a:r>
                  <a:rPr lang="en-IN" sz="2400">
                    <a:solidFill>
                      <a:srgbClr val="78350F"/>
                    </a:solidFill>
                    <a:latin typeface="Cambria Math" panose="02040503050406030204" pitchFamily="18" charset="0"/>
                  </a:rPr>
                  <a:t>$66!$</a:t>
                </a:r>
                <a:r>
                  <a:rPr sz="2400" b="0">
                    <a:solidFill>
                      <a:srgbClr val="78350F"/>
                    </a:solidFill>
                    <a:latin typeface="Arial"/>
                  </a:rPr>
                  <a:t> is </a:t>
                </a:r>
                <a:r>
                  <a:rPr lang="en-IN" sz="2400">
                    <a:solidFill>
                      <a:srgbClr val="78350F"/>
                    </a:solidFill>
                    <a:latin typeface="Cambria Math" panose="02040503050406030204" pitchFamily="18" charset="0"/>
                  </a:rPr>
                  <a:t>$\left\lfloor\frac{66}{3}\right\rfloor+\left\lfloor\frac{66}{9}\right\rfloor+\left\lfloor\frac{66}{27}\right\rfloor$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Exponent of the prime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27</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81</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27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81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Exponent of the prime </a:t>
                </a:r>
                <a:r>
                  <a:rPr lang="en-IN" sz="2400">
                    <a:solidFill>
                      <a:srgbClr val="111827"/>
                    </a:solidFill>
                    <a:latin typeface="Cambria Math" panose="02040503050406030204" pitchFamily="18" charset="0"/>
                  </a:rPr>
                  <a:t>$3$</a:t>
                </a:r>
                <a:r>
                  <a:rPr sz="2400" b="0">
                    <a:solidFill>
                      <a:srgbClr val="111827"/>
                    </a:solidFill>
                    <a:latin typeface="Arial"/>
                  </a:rPr>
                  <a:t> in </a:t>
                </a:r>
                <a:r>
                  <a:rPr lang="en-IN" sz="2400">
                    <a:solidFill>
                      <a:srgbClr val="111827"/>
                    </a:solidFill>
                    <a:latin typeface="Cambria Math" panose="02040503050406030204" pitchFamily="18" charset="0"/>
                  </a:rPr>
                  <a:t>$66!$</a:t>
                </a:r>
                <a:r>
                  <a:rPr sz="2400" b="0">
                    <a:solidFill>
                      <a:srgbClr val="111827"/>
                    </a:solidFill>
                    <a:latin typeface="Arial"/>
                  </a:rPr>
                  <a:t> is </a:t>
                </a:r>
                <a:r>
                  <a:rPr lang="en-IN" sz="2400">
                    <a:solidFill>
                      <a:srgbClr val="111827"/>
                    </a:solidFill>
                    <a:latin typeface="Cambria Math" panose="02040503050406030204" pitchFamily="18" charset="0"/>
                  </a:rPr>
                  <a:t>$\left\lfloor\frac{66}{3}\right\rfloor+\left\lfloor\frac{66}{9}\right\rfloor+\left\lfloor\frac{66}{27}\right\rfloor+\left\lfloor\frac{66}{81}\right\rfloor+\cdots$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$\left\lfloor\frac{66}{3}\right\rfloor=22$</a:t>
                </a:r>
                <a:r>
                  <a:rPr sz="2400" b="0">
                    <a:solidFill>
                      <a:srgbClr val="111827"/>
                    </a:solidFill>
                    <a:latin typeface="Arial"/>
                  </a:rPr>
                  <a:t>, </a:t>
                </a:r>
                <a:r>
                  <a:rPr lang="en-IN" sz="2400">
                    <a:solidFill>
                      <a:srgbClr val="111827"/>
                    </a:solidFill>
                    <a:latin typeface="Cambria Math" panose="02040503050406030204" pitchFamily="18" charset="0"/>
                  </a:rPr>
                  <a:t>$\left\lfloor\frac{66}{9}\right\rfloor=7$</a:t>
                </a:r>
                <a:r>
                  <a:rPr sz="2400" b="0">
                    <a:solidFill>
                      <a:srgbClr val="111827"/>
                    </a:solidFill>
                    <a:latin typeface="Arial"/>
                  </a:rPr>
                  <a:t>, </a:t>
                </a:r>
                <a:r>
                  <a:rPr lang="en-IN" sz="2400">
                    <a:solidFill>
                      <a:srgbClr val="111827"/>
                    </a:solidFill>
                    <a:latin typeface="Cambria Math" panose="02040503050406030204" pitchFamily="18" charset="0"/>
                  </a:rPr>
                  <a:t>$\left\lfloor\frac{66}{27}\right\rfloor=2$</a:t>
                </a:r>
                <a:r>
                  <a:rPr sz="2400" b="0">
                    <a:solidFill>
                      <a:srgbClr val="111827"/>
                    </a:solidFill>
                    <a:latin typeface="Arial"/>
                  </a:rPr>
                  <a:t>, and </a:t>
                </a:r>
                <a:r>
                  <a:rPr lang="en-IN" sz="2400">
                    <a:solidFill>
                      <a:srgbClr val="111827"/>
                    </a:solidFill>
                    <a:latin typeface="Cambria Math" panose="02040503050406030204" pitchFamily="18" charset="0"/>
                  </a:rPr>
                  <a:t>$\left\lfloor\frac{66}{81}\right\rfloor=0$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Largest </a:t>
                </a:r>
                <a:r>
                  <a:rPr lang="en-IN" sz="2400">
                    <a:solidFill>
                      <a:srgbClr val="111827"/>
                    </a:solidFill>
                    <a:latin typeface="Cambria Math" panose="02040503050406030204" pitchFamily="18" charset="0"/>
                  </a:rPr>
                  <a:t>$n=22+7+2=31$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31</a:t>
            </a:r>
            <a:endParaRPr sz="2800">
              <a:solidFill>
                <a:srgbClr val="15803D"/>
              </a:solidFill>
            </a:endParaRP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digit-sum form of Legendre's formula: </a:t>
                </a:r>
                <a14:m>
                  <m:oMath xmlns:m="http://schemas.openxmlformats.org/officeDocument/2006/math">
                    <m:sSub>
                      <m:e>
                        <m:r>
                          <a:rPr lang="en-IN" sz="2400" i="1">
                            <a:solidFill>
                              <a:srgbClr val="78350F"/>
                            </a:solidFill>
                            <a:latin typeface="Cambria Math" panose="02040503050406030204" pitchFamily="18" charset="0"/>
                          </a:rPr>
                          <m:t>𝑣</m:t>
                        </m:r>
                      </m:e>
                      <m:sub>
                        <m:r>
                          <a:rPr lang="en-IN" sz="2400" i="1">
                            <a:solidFill>
                              <a:srgbClr val="78350F"/>
                            </a:solidFill>
                            <a:latin typeface="Cambria Math" panose="02040503050406030204" pitchFamily="18" charset="0"/>
                          </a:rPr>
                          <m:t>𝑝</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𝑝</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digit-sum form of Legendre's formula: </a:t>
                </a:r>
                <a:r>
                  <a:rPr lang="en-IN" sz="2400">
                    <a:solidFill>
                      <a:srgbClr val="78350F"/>
                    </a:solidFill>
                    <a:latin typeface="Cambria Math" panose="02040503050406030204" pitchFamily="18" charset="0"/>
                  </a:rPr>
                  <a:t>$v_p(m!)=\frac{m-s_p(m)}{p-1}$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66</m:t>
                    </m:r>
                  </m:oMath>
                </a14:m>
                <a:r>
                  <a:rPr sz="2400" b="0">
                    <a:solidFill>
                      <a:srgbClr val="111827"/>
                    </a:solidFill>
                    <a:latin typeface="Arial"/>
                  </a:rPr>
                  <a:t> in base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2110</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$66$</a:t>
                </a:r>
                <a:r>
                  <a:rPr sz="2400" b="0">
                    <a:solidFill>
                      <a:srgbClr val="111827"/>
                    </a:solidFill>
                    <a:latin typeface="Arial"/>
                  </a:rPr>
                  <a:t> in base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$66=2\cdot27+1\cdot9+1\cdot3+0$</a:t>
                </a:r>
                <a:r>
                  <a:rPr sz="2400" b="0">
                    <a:solidFill>
                      <a:srgbClr val="111827"/>
                    </a:solidFill>
                    <a:latin typeface="Arial"/>
                  </a:rPr>
                  <a:t>, i.e. </a:t>
                </a:r>
                <a:r>
                  <a:rPr lang="en-IN" sz="2400">
                    <a:solidFill>
                      <a:srgbClr val="111827"/>
                    </a:solidFill>
                    <a:latin typeface="Cambria Math" panose="02040503050406030204" pitchFamily="18" charset="0"/>
                  </a:rPr>
                  <a:t>$(2110)_3$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r>
                  <a:rPr lang="en-IN" sz="2400">
                    <a:solidFill>
                      <a:srgbClr val="111827"/>
                    </a:solidFill>
                    <a:latin typeface="Cambria Math" panose="02040503050406030204" pitchFamily="18" charset="0"/>
                  </a:rPr>
                  <a:t>$s_3(66)=2+1+1+0=4$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$v_3(66!)=\frac{66-4}{3-1}=\frac{62}{2}=31$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31</a:t>
            </a:r>
            <a:endParaRPr sz="2800">
              <a:solidFill>
                <a:srgbClr val="15803D"/>
              </a:solidFill>
            </a:endParaRP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Legendre: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𝑘</m:t>
                                    </m:r>
                                  </m:sup>
                                </m:sSup>
                              </m:den>
                            </m:f>
                          </m:e>
                        </m:d>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digit sum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 base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trailing zeros of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composite base, take the minimum over its prime powers: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Legendre: </a:t>
                </a:r>
                <a:r>
                  <a:rPr lang="en-IN" sz="2400">
                    <a:solidFill>
                      <a:srgbClr val="111827"/>
                    </a:solidFill>
                    <a:latin typeface="Cambria Math" panose="02040503050406030204" pitchFamily="18" charset="0"/>
                  </a:rPr>
                  <a:t>$v_p(m!)=\sum_{k\ge1}\left\lfloor\frac{m}{p^k}\right\rfloor=\frac{m-s_p(m)}{p-1}$</a:t>
                </a:r>
                <a:r>
                  <a:rPr sz="2400" b="0">
                    <a:solidFill>
                      <a:srgbClr val="111827"/>
                    </a:solidFill>
                    <a:latin typeface="Arial"/>
                  </a:rPr>
                  <a:t>, where </a:t>
                </a:r>
                <a:r>
                  <a:rPr lang="en-IN" sz="2400">
                    <a:solidFill>
                      <a:srgbClr val="111827"/>
                    </a:solidFill>
                    <a:latin typeface="Cambria Math" panose="02040503050406030204" pitchFamily="18" charset="0"/>
                  </a:rPr>
                  <a:t>$s_p(m)$</a:t>
                </a:r>
                <a:r>
                  <a:rPr sz="2400" b="0">
                    <a:solidFill>
                      <a:srgbClr val="111827"/>
                    </a:solidFill>
                    <a:latin typeface="Arial"/>
                  </a:rPr>
                  <a:t> is the digit sum of </a:t>
                </a:r>
                <a:r>
                  <a:rPr lang="en-IN" sz="2400">
                    <a:solidFill>
                      <a:srgbClr val="111827"/>
                    </a:solidFill>
                    <a:latin typeface="Cambria Math" panose="02040503050406030204" pitchFamily="18" charset="0"/>
                  </a:rPr>
                  <a:t>$m$</a:t>
                </a:r>
                <a:r>
                  <a:rPr sz="2400" b="0">
                    <a:solidFill>
                      <a:srgbClr val="111827"/>
                    </a:solidFill>
                    <a:latin typeface="Arial"/>
                  </a:rPr>
                  <a:t> in base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trailing zeros of </a:t>
                </a:r>
                <a:r>
                  <a:rPr lang="en-IN" sz="2400">
                    <a:solidFill>
                      <a:srgbClr val="111827"/>
                    </a:solidFill>
                    <a:latin typeface="Cambria Math" panose="02040503050406030204" pitchFamily="18" charset="0"/>
                  </a:rPr>
                  <a:t>$m!$</a:t>
                </a:r>
                <a:r>
                  <a:rPr sz="2400" b="0">
                    <a:solidFill>
                      <a:srgbClr val="111827"/>
                    </a:solidFill>
                    <a:latin typeface="Arial"/>
                  </a:rPr>
                  <a:t> is </a:t>
                </a:r>
                <a:r>
                  <a:rPr lang="en-IN" sz="2400">
                    <a:solidFill>
                      <a:srgbClr val="111827"/>
                    </a:solidFill>
                    <a:latin typeface="Cambria Math" panose="02040503050406030204" pitchFamily="18" charset="0"/>
                  </a:rPr>
                  <a:t>$v_5(m!)$</a:t>
                </a:r>
                <a:r>
                  <a:rPr sz="2400" b="0">
                    <a:solidFill>
                      <a:srgbClr val="111827"/>
                    </a:solidFill>
                    <a:latin typeface="Arial"/>
                  </a:rPr>
                  <a:t> (as </a:t>
                </a:r>
                <a:r>
                  <a:rPr lang="en-IN" sz="2400">
                    <a:solidFill>
                      <a:srgbClr val="111827"/>
                    </a:solidFill>
                    <a:latin typeface="Cambria Math" panose="02040503050406030204" pitchFamily="18" charset="0"/>
                  </a:rPr>
                  <a:t>$v_2\ge v_5$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composite base, take the minimum over its prime powers: </a:t>
                </a:r>
                <a:r>
                  <a:rPr lang="en-IN" sz="2400">
                    <a:solidFill>
                      <a:srgbClr val="111827"/>
                    </a:solidFill>
                    <a:latin typeface="Cambria Math" panose="02040503050406030204" pitchFamily="18" charset="0"/>
                  </a:rPr>
                  <a:t>$12^n\mid m!$</a:t>
                </a:r>
                <a:r>
                  <a:rPr sz="2400" b="0">
                    <a:solidFill>
                      <a:srgbClr val="111827"/>
                    </a:solidFill>
                    <a:latin typeface="Arial"/>
                  </a:rPr>
                  <a:t> needs </a:t>
                </a:r>
                <a:r>
                  <a:rPr lang="en-IN" sz="2400">
                    <a:solidFill>
                      <a:srgbClr val="111827"/>
                    </a:solidFill>
                    <a:latin typeface="Cambria Math" panose="02040503050406030204" pitchFamily="18" charset="0"/>
                  </a:rPr>
                  <a:t>$2^{2n}$</a:t>
                </a:r>
                <a:r>
                  <a:rPr sz="2400" b="0">
                    <a:solidFill>
                      <a:srgbClr val="111827"/>
                    </a:solidFill>
                    <a:latin typeface="Arial"/>
                  </a:rPr>
                  <a:t> and </a:t>
                </a:r>
                <a:r>
                  <a:rPr lang="en-IN" sz="2400">
                    <a:solidFill>
                      <a:srgbClr val="111827"/>
                    </a:solidFill>
                    <a:latin typeface="Cambria Math" panose="02040503050406030204" pitchFamily="18" charset="0"/>
                  </a:rPr>
                  <a:t>$3^n$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couples participated in a mixed doubles badminton tournament. If the number of matches played, so that no couple played in a match, is </a:t>
                </a:r>
                <a14:m>
                  <m:oMath xmlns:m="http://schemas.openxmlformats.org/officeDocument/2006/math">
                    <m:r>
                      <a:rPr lang="en-IN" sz="2400" i="1">
                        <a:solidFill>
                          <a:srgbClr val="111827"/>
                        </a:solidFill>
                        <a:latin typeface="Cambria Math" panose="02040503050406030204" pitchFamily="18" charset="0"/>
                      </a:rPr>
                      <m:t>840</m:t>
                    </m:r>
                  </m:oMath>
                </a14:m>
                <a:r>
                  <a:rPr sz="2400" b="0">
                    <a:solidFill>
                      <a:srgbClr val="111827"/>
                    </a:solidFill>
                    <a:latin typeface="Arial"/>
                  </a:rPr>
                  <a:t>, then the total number of persons, who participated in the tournament, is ______. [JEE(Main) April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couples participated in a mixed doubles badminton tournament. If the number of matches played, so that no couple played in a match, is </a:t>
                </a:r>
                <a:r>
                  <a:rPr lang="en-IN" sz="2400">
                    <a:solidFill>
                      <a:srgbClr val="111827"/>
                    </a:solidFill>
                    <a:latin typeface="Cambria Math" panose="02040503050406030204" pitchFamily="18" charset="0"/>
                  </a:rPr>
                  <a:t>$840$</a:t>
                </a:r>
                <a:r>
                  <a:rPr sz="2400" b="0">
                    <a:solidFill>
                      <a:srgbClr val="111827"/>
                    </a:solidFill>
                    <a:latin typeface="Arial"/>
                  </a:rPr>
                  <a:t>, then the total number of persons, who participated in the tournament, is ______. [JEE(Main) April 2023]</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of teams from couples (mixed doubles matches)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match is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men,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women (not their wives) and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ways to pair them, giving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2</m:t>
                            </m:r>
                          </m:den>
                        </m:f>
                      </m:e>
                    </m:d>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match is </a:t>
                </a:r>
                <a:r>
                  <a:rPr lang="en-IN" sz="2400">
                    <a:solidFill>
                      <a:srgbClr val="78350F"/>
                    </a:solidFill>
                    <a:latin typeface="Cambria Math" panose="02040503050406030204" pitchFamily="18" charset="0"/>
                  </a:rPr>
                  <a:t>$2$</a:t>
                </a:r>
                <a:r>
                  <a:rPr sz="2400" b="0">
                    <a:solidFill>
                      <a:srgbClr val="78350F"/>
                    </a:solidFill>
                    <a:latin typeface="Arial"/>
                  </a:rPr>
                  <a:t> men, </a:t>
                </a:r>
                <a:r>
                  <a:rPr lang="en-IN" sz="2400">
                    <a:solidFill>
                      <a:srgbClr val="78350F"/>
                    </a:solidFill>
                    <a:latin typeface="Cambria Math" panose="02040503050406030204" pitchFamily="18" charset="0"/>
                  </a:rPr>
                  <a:t>$2$</a:t>
                </a:r>
                <a:r>
                  <a:rPr sz="2400" b="0">
                    <a:solidFill>
                      <a:srgbClr val="78350F"/>
                    </a:solidFill>
                    <a:latin typeface="Arial"/>
                  </a:rPr>
                  <a:t> women (not their wives) and </a:t>
                </a:r>
                <a:r>
                  <a:rPr lang="en-IN" sz="2400">
                    <a:solidFill>
                      <a:srgbClr val="78350F"/>
                    </a:solidFill>
                    <a:latin typeface="Cambria Math" panose="02040503050406030204" pitchFamily="18" charset="0"/>
                  </a:rPr>
                  <a:t>$2$</a:t>
                </a:r>
                <a:r>
                  <a:rPr sz="2400" b="0">
                    <a:solidFill>
                      <a:srgbClr val="78350F"/>
                    </a:solidFill>
                    <a:latin typeface="Arial"/>
                  </a:rPr>
                  <a:t> ways to pair them, giving </a:t>
                </a:r>
                <a:r>
                  <a:rPr lang="en-IN" sz="2400">
                    <a:solidFill>
                      <a:srgbClr val="78350F"/>
                    </a:solidFill>
                    <a:latin typeface="Cambria Math" panose="02040503050406030204" pitchFamily="18" charset="0"/>
                  </a:rPr>
                  <a:t>$\binom n2\binom{n-2}2\cdot2$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there be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couples,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persons. A mixed doubles match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 and no couple may both play.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Choose the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 from the women who are not the wives of these 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each man with one of the two women to form the two teams: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there be </a:t>
                </a:r>
                <a:r>
                  <a:rPr lang="en-IN" sz="2400">
                    <a:solidFill>
                      <a:srgbClr val="111827"/>
                    </a:solidFill>
                    <a:latin typeface="Cambria Math" panose="02040503050406030204" pitchFamily="18" charset="0"/>
                  </a:rPr>
                  <a:t>$n$</a:t>
                </a:r>
                <a:r>
                  <a:rPr sz="2400" b="0">
                    <a:solidFill>
                      <a:srgbClr val="111827"/>
                    </a:solidFill>
                    <a:latin typeface="Arial"/>
                  </a:rPr>
                  <a:t> couples, so </a:t>
                </a:r>
                <a:r>
                  <a:rPr lang="en-IN" sz="2400">
                    <a:solidFill>
                      <a:srgbClr val="111827"/>
                    </a:solidFill>
                    <a:latin typeface="Cambria Math" panose="02040503050406030204" pitchFamily="18" charset="0"/>
                  </a:rPr>
                  <a:t>$2n$</a:t>
                </a:r>
                <a:r>
                  <a:rPr sz="2400" b="0">
                    <a:solidFill>
                      <a:srgbClr val="111827"/>
                    </a:solidFill>
                    <a:latin typeface="Arial"/>
                  </a:rPr>
                  <a:t> persons. A mixed doubles match has </a:t>
                </a:r>
                <a:r>
                  <a:rPr lang="en-IN" sz="2400">
                    <a:solidFill>
                      <a:srgbClr val="111827"/>
                    </a:solidFill>
                    <a:latin typeface="Cambria Math" panose="02040503050406030204" pitchFamily="18" charset="0"/>
                  </a:rPr>
                  <a:t>$2$</a:t>
                </a:r>
                <a:r>
                  <a:rPr sz="2400" b="0">
                    <a:solidFill>
                      <a:srgbClr val="111827"/>
                    </a:solidFill>
                    <a:latin typeface="Arial"/>
                  </a:rPr>
                  <a:t> men and </a:t>
                </a:r>
                <a:r>
                  <a:rPr lang="en-IN" sz="2400">
                    <a:solidFill>
                      <a:srgbClr val="111827"/>
                    </a:solidFill>
                    <a:latin typeface="Cambria Math" panose="02040503050406030204" pitchFamily="18" charset="0"/>
                  </a:rPr>
                  <a:t>$2$</a:t>
                </a:r>
                <a:r>
                  <a:rPr sz="2400" b="0">
                    <a:solidFill>
                      <a:srgbClr val="111827"/>
                    </a:solidFill>
                    <a:latin typeface="Arial"/>
                  </a:rPr>
                  <a:t> women, and no couple may both play.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a:t>
                </a:r>
                <a:r>
                  <a:rPr lang="en-IN" sz="2400">
                    <a:solidFill>
                      <a:srgbClr val="111827"/>
                    </a:solidFill>
                    <a:latin typeface="Cambria Math" panose="02040503050406030204" pitchFamily="18" charset="0"/>
                  </a:rPr>
                  <a:t>$2$</a:t>
                </a:r>
                <a:r>
                  <a:rPr sz="2400" b="0">
                    <a:solidFill>
                      <a:srgbClr val="111827"/>
                    </a:solidFill>
                    <a:latin typeface="Arial"/>
                  </a:rPr>
                  <a:t> men: </a:t>
                </a:r>
                <a:r>
                  <a:rPr lang="en-IN" sz="2400">
                    <a:solidFill>
                      <a:srgbClr val="111827"/>
                    </a:solidFill>
                    <a:latin typeface="Cambria Math" panose="02040503050406030204" pitchFamily="18" charset="0"/>
                  </a:rPr>
                  <a:t>${}^nC_2$</a:t>
                </a:r>
                <a:r>
                  <a:rPr sz="2400" b="0">
                    <a:solidFill>
                      <a:srgbClr val="111827"/>
                    </a:solidFill>
                    <a:latin typeface="Arial"/>
                  </a:rPr>
                  <a:t>. Choose the </a:t>
                </a:r>
                <a:r>
                  <a:rPr lang="en-IN" sz="2400">
                    <a:solidFill>
                      <a:srgbClr val="111827"/>
                    </a:solidFill>
                    <a:latin typeface="Cambria Math" panose="02040503050406030204" pitchFamily="18" charset="0"/>
                  </a:rPr>
                  <a:t>$2$</a:t>
                </a:r>
                <a:r>
                  <a:rPr sz="2400" b="0">
                    <a:solidFill>
                      <a:srgbClr val="111827"/>
                    </a:solidFill>
                    <a:latin typeface="Arial"/>
                  </a:rPr>
                  <a:t> women from the women who are not the wives of these men: </a:t>
                </a:r>
                <a:r>
                  <a:rPr lang="en-IN" sz="2400">
                    <a:solidFill>
                      <a:srgbClr val="111827"/>
                    </a:solidFill>
                    <a:latin typeface="Cambria Math" panose="02040503050406030204" pitchFamily="18" charset="0"/>
                  </a:rPr>
                  <a:t>${}^{n-2}C_2$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each man with one of the two women to form the two teams: </a:t>
                </a:r>
                <a:r>
                  <a:rPr lang="en-IN" sz="2400">
                    <a:solidFill>
                      <a:srgbClr val="111827"/>
                    </a:solidFill>
                    <a:latin typeface="Cambria Math" panose="02040503050406030204" pitchFamily="18" charset="0"/>
                  </a:rPr>
                  <a:t>$2$</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Matches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persons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Matches </a:t>
                </a:r>
                <a:r>
                  <a:rPr lang="en-IN" sz="2400">
                    <a:solidFill>
                      <a:srgbClr val="111827"/>
                    </a:solidFill>
                    <a:latin typeface="Cambria Math" panose="02040503050406030204" pitchFamily="18" charset="0"/>
                  </a:rPr>
                  <a:t>$={}^nC_2\cdot{}^{n-2}C_2\cdot2=\frac{n(n-1)(n-2)(n-3)}{2}=840$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$n(n-1)(n-2)(n-3)=1680=5\cdot6\cdot7\cdot8$</a:t>
                </a:r>
                <a:r>
                  <a:rPr sz="2400" b="0">
                    <a:solidFill>
                      <a:srgbClr val="111827"/>
                    </a:solidFill>
                    <a:latin typeface="Arial"/>
                  </a:rPr>
                  <a:t>, so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persons </a:t>
                </a:r>
                <a:r>
                  <a:rPr lang="en-IN" sz="2400">
                    <a:solidFill>
                      <a:srgbClr val="111827"/>
                    </a:solidFill>
                    <a:latin typeface="Cambria Math" panose="02040503050406030204" pitchFamily="18" charset="0"/>
                  </a:rPr>
                  <a:t>$=2n=16$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four different couples first; two supply the men and the other two the women.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players come from four different couples (no couple together): choose 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couples in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Decide which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couples supply the men (the other two supply the women):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two men with the two women: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Matches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persons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players come from four different couples (no couple together): choose these </a:t>
                </a:r>
                <a:r>
                  <a:rPr lang="en-IN" sz="2400">
                    <a:solidFill>
                      <a:srgbClr val="111827"/>
                    </a:solidFill>
                    <a:latin typeface="Cambria Math" panose="02040503050406030204" pitchFamily="18" charset="0"/>
                  </a:rPr>
                  <a:t>$4$</a:t>
                </a:r>
                <a:r>
                  <a:rPr sz="2400" b="0">
                    <a:solidFill>
                      <a:srgbClr val="111827"/>
                    </a:solidFill>
                    <a:latin typeface="Arial"/>
                  </a:rPr>
                  <a:t> couples in </a:t>
                </a:r>
                <a:r>
                  <a:rPr lang="en-IN" sz="2400">
                    <a:solidFill>
                      <a:srgbClr val="111827"/>
                    </a:solidFill>
                    <a:latin typeface="Cambria Math" panose="02040503050406030204" pitchFamily="18" charset="0"/>
                  </a:rPr>
                  <a:t>${}^nC_4$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Decide which </a:t>
                </a:r>
                <a:r>
                  <a:rPr lang="en-IN" sz="2400">
                    <a:solidFill>
                      <a:srgbClr val="111827"/>
                    </a:solidFill>
                    <a:latin typeface="Cambria Math" panose="02040503050406030204" pitchFamily="18" charset="0"/>
                  </a:rPr>
                  <a:t>$2$</a:t>
                </a:r>
                <a:r>
                  <a:rPr sz="2400" b="0">
                    <a:solidFill>
                      <a:srgbClr val="111827"/>
                    </a:solidFill>
                    <a:latin typeface="Arial"/>
                  </a:rPr>
                  <a:t> of the </a:t>
                </a:r>
                <a:r>
                  <a:rPr lang="en-IN" sz="2400">
                    <a:solidFill>
                      <a:srgbClr val="111827"/>
                    </a:solidFill>
                    <a:latin typeface="Cambria Math" panose="02040503050406030204" pitchFamily="18" charset="0"/>
                  </a:rPr>
                  <a:t>$4$</a:t>
                </a:r>
                <a:r>
                  <a:rPr sz="2400" b="0">
                    <a:solidFill>
                      <a:srgbClr val="111827"/>
                    </a:solidFill>
                    <a:latin typeface="Arial"/>
                  </a:rPr>
                  <a:t> couples supply the men (the other two supply the women):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two men with the two women: </a:t>
                </a:r>
                <a:r>
                  <a:rPr lang="en-IN" sz="2400">
                    <a:solidFill>
                      <a:srgbClr val="111827"/>
                    </a:solidFill>
                    <a:latin typeface="Cambria Math" panose="02040503050406030204" pitchFamily="18" charset="0"/>
                  </a:rPr>
                  <a:t>$2$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Matches </a:t>
                </a:r>
                <a:r>
                  <a:rPr lang="en-IN" sz="2400">
                    <a:solidFill>
                      <a:srgbClr val="111827"/>
                    </a:solidFill>
                    <a:latin typeface="Cambria Math" panose="02040503050406030204" pitchFamily="18" charset="0"/>
                  </a:rPr>
                  <a:t>$=12\,{}^nC_4=840$</a:t>
                </a:r>
                <a:r>
                  <a:rPr sz="2400" b="0">
                    <a:solidFill>
                      <a:srgbClr val="111827"/>
                    </a:solidFill>
                    <a:latin typeface="Arial"/>
                  </a:rPr>
                  <a:t>, so </a:t>
                </a:r>
                <a:r>
                  <a:rPr lang="en-IN" sz="2400">
                    <a:solidFill>
                      <a:srgbClr val="111827"/>
                    </a:solidFill>
                    <a:latin typeface="Cambria Math" panose="02040503050406030204" pitchFamily="18" charset="0"/>
                  </a:rPr>
                  <a:t>${}^nC_4=70={}^8C_4$</a:t>
                </a:r>
                <a:r>
                  <a:rPr sz="2400" b="0">
                    <a:solidFill>
                      <a:srgbClr val="111827"/>
                    </a:solidFill>
                    <a:latin typeface="Arial"/>
                  </a:rPr>
                  <a:t> and </a:t>
                </a:r>
                <a:r>
                  <a:rPr lang="en-IN" sz="2400">
                    <a:solidFill>
                      <a:srgbClr val="111827"/>
                    </a:solidFill>
                    <a:latin typeface="Cambria Math" panose="02040503050406030204" pitchFamily="18" charset="0"/>
                  </a:rPr>
                  <a:t>$n=8$</a:t>
                </a:r>
                <a:r>
                  <a:rPr sz="2400" b="0">
                    <a:solidFill>
                      <a:srgbClr val="111827"/>
                    </a:solidFill>
                    <a:latin typeface="Arial"/>
                  </a:rPr>
                  <a:t>; persons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restriction 'no couple together' is cleanest when you choose couples first and then assign roles.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such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factor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into four consecutive integers (</a:t>
                </a:r>
                <a14:m>
                  <m:oMath xmlns:m="http://schemas.openxmlformats.org/officeDocument/2006/math">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mixed-doubles matches among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couples with no couple in a match: </a:t>
                </a:r>
                <a14:m>
                  <m:oMath xmlns:m="http://schemas.openxmlformats.org/officeDocument/2006/math">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restriction 'no couple together' is cleanest when you choose couples first and then assign roles.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such as </a:t>
                </a:r>
                <a:r>
                  <a:rPr lang="en-IN" sz="2400">
                    <a:solidFill>
                      <a:srgbClr val="111827"/>
                    </a:solidFill>
                    <a:latin typeface="Cambria Math" panose="02040503050406030204" pitchFamily="18" charset="0"/>
                  </a:rPr>
                  <a:t>$n(n-1)(n-2)(n-3)=k$</a:t>
                </a:r>
                <a:r>
                  <a:rPr sz="2400" b="0">
                    <a:solidFill>
                      <a:srgbClr val="111827"/>
                    </a:solidFill>
                    <a:latin typeface="Arial"/>
                  </a:rPr>
                  <a:t>: factor </a:t>
                </a:r>
                <a:r>
                  <a:rPr lang="en-IN" sz="2400">
                    <a:solidFill>
                      <a:srgbClr val="111827"/>
                    </a:solidFill>
                    <a:latin typeface="Cambria Math" panose="02040503050406030204" pitchFamily="18" charset="0"/>
                  </a:rPr>
                  <a:t>$k$</a:t>
                </a:r>
                <a:r>
                  <a:rPr sz="2400" b="0">
                    <a:solidFill>
                      <a:srgbClr val="111827"/>
                    </a:solidFill>
                    <a:latin typeface="Arial"/>
                  </a:rPr>
                  <a:t> into four consecutive integers (</a:t>
                </a:r>
                <a:r>
                  <a:rPr lang="en-IN" sz="2400">
                    <a:solidFill>
                      <a:srgbClr val="111827"/>
                    </a:solidFill>
                    <a:latin typeface="Cambria Math" panose="02040503050406030204" pitchFamily="18" charset="0"/>
                  </a:rPr>
                  <a:t>$1680=5\cdot6\cdot7\cdot8$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mixed-doubles matches among </a:t>
                </a:r>
                <a:r>
                  <a:rPr lang="en-IN" sz="2400">
                    <a:solidFill>
                      <a:srgbClr val="111827"/>
                    </a:solidFill>
                    <a:latin typeface="Cambria Math" panose="02040503050406030204" pitchFamily="18" charset="0"/>
                  </a:rPr>
                  <a:t>$n$</a:t>
                </a:r>
                <a:r>
                  <a:rPr sz="2400" b="0">
                    <a:solidFill>
                      <a:srgbClr val="111827"/>
                    </a:solidFill>
                    <a:latin typeface="Arial"/>
                  </a:rPr>
                  <a:t> couples with no couple in a match: </a:t>
                </a:r>
                <a:r>
                  <a:rPr lang="en-IN" sz="2400">
                    <a:solidFill>
                      <a:srgbClr val="111827"/>
                    </a:solidFill>
                    <a:latin typeface="Cambria Math" panose="02040503050406030204" pitchFamily="18" charset="0"/>
                  </a:rPr>
                  <a:t>$12\binom n4$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permutations, of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without repetition, which neither contain the string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nor the string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is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permutations, of the digits </a:t>
                </a:r>
                <a:r>
                  <a:rPr lang="en-IN" sz="2400">
                    <a:solidFill>
                      <a:srgbClr val="111827"/>
                    </a:solidFill>
                    <a:latin typeface="Cambria Math" panose="02040503050406030204" pitchFamily="18" charset="0"/>
                  </a:rPr>
                  <a:t>$1,2,3,\dots,7$</a:t>
                </a:r>
                <a:r>
                  <a:rPr sz="2400" b="0">
                    <a:solidFill>
                      <a:srgbClr val="111827"/>
                    </a:solidFill>
                    <a:latin typeface="Arial"/>
                  </a:rPr>
                  <a:t> without repetition, which neither contain the string </a:t>
                </a:r>
                <a:r>
                  <a:rPr lang="en-IN" sz="2400">
                    <a:solidFill>
                      <a:srgbClr val="111827"/>
                    </a:solidFill>
                    <a:latin typeface="Cambria Math" panose="02040503050406030204" pitchFamily="18" charset="0"/>
                  </a:rPr>
                  <a:t>$153$</a:t>
                </a:r>
                <a:r>
                  <a:rPr sz="2400" b="0">
                    <a:solidFill>
                      <a:srgbClr val="111827"/>
                    </a:solidFill>
                    <a:latin typeface="Arial"/>
                  </a:rPr>
                  <a:t> nor the string </a:t>
                </a:r>
                <a:r>
                  <a:rPr lang="en-IN" sz="2400">
                    <a:solidFill>
                      <a:srgbClr val="111827"/>
                    </a:solidFill>
                    <a:latin typeface="Cambria Math" panose="02040503050406030204" pitchFamily="18" charset="0"/>
                  </a:rPr>
                  <a:t>$2467$</a:t>
                </a:r>
                <a:r>
                  <a:rPr sz="2400" b="0">
                    <a:solidFill>
                      <a:srgbClr val="111827"/>
                    </a:solidFill>
                    <a:latin typeface="Arial"/>
                  </a:rPr>
                  <a:t>, is ______. [JEE(Main) April 2023]</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Inclusion-exclusion principle in permutations with forbidden strings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Glue each string into a block; the two strings use different digits, so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blocks arranged in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ways.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Glue each string into a block; the two strings use different digits, so </a:t>
                </a:r>
                <a:r>
                  <a:rPr lang="en-IN" sz="2400">
                    <a:solidFill>
                      <a:srgbClr val="78350F"/>
                    </a:solidFill>
                    <a:latin typeface="Cambria Math" panose="02040503050406030204" pitchFamily="18" charset="0"/>
                  </a:rPr>
                  <a:t>$A\cap B$</a:t>
                </a:r>
                <a:r>
                  <a:rPr sz="2400" b="0">
                    <a:solidFill>
                      <a:srgbClr val="78350F"/>
                    </a:solidFill>
                    <a:latin typeface="Arial"/>
                  </a:rPr>
                  <a:t> is </a:t>
                </a:r>
                <a:r>
                  <a:rPr lang="en-IN" sz="2400">
                    <a:solidFill>
                      <a:srgbClr val="78350F"/>
                    </a:solidFill>
                    <a:latin typeface="Cambria Math" panose="02040503050406030204" pitchFamily="18" charset="0"/>
                  </a:rPr>
                  <a:t>$2$</a:t>
                </a:r>
                <a:r>
                  <a:rPr sz="2400" b="0">
                    <a:solidFill>
                      <a:srgbClr val="78350F"/>
                    </a:solidFill>
                    <a:latin typeface="Arial"/>
                  </a:rPr>
                  <a:t> blocks arranged in </a:t>
                </a:r>
                <a:r>
                  <a:rPr lang="en-IN" sz="2400">
                    <a:solidFill>
                      <a:srgbClr val="78350F"/>
                    </a:solidFill>
                    <a:latin typeface="Cambria Math" panose="02040503050406030204" pitchFamily="18" charset="0"/>
                  </a:rPr>
                  <a:t>$2!$</a:t>
                </a:r>
                <a:r>
                  <a:rPr sz="2400" b="0">
                    <a:solidFill>
                      <a:srgbClr val="78350F"/>
                    </a:solidFill>
                    <a:latin typeface="Arial"/>
                  </a:rPr>
                  <a:t> ways.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permutations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strings containing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Treat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as one block with the other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permutations.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strings containing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Treat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as a block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permutations.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permutations of </a:t>
                </a:r>
                <a:r>
                  <a:rPr lang="en-IN" sz="2400">
                    <a:solidFill>
                      <a:srgbClr val="111827"/>
                    </a:solidFill>
                    <a:latin typeface="Cambria Math" panose="02040503050406030204" pitchFamily="18" charset="0"/>
                  </a:rPr>
                  <a:t>$1,\dots,7$</a:t>
                </a:r>
                <a:r>
                  <a:rPr sz="2400" b="0">
                    <a:solidFill>
                      <a:srgbClr val="111827"/>
                    </a:solidFill>
                    <a:latin typeface="Arial"/>
                  </a:rPr>
                  <a:t>: </a:t>
                </a:r>
                <a:r>
                  <a:rPr lang="en-IN" sz="2400">
                    <a:solidFill>
                      <a:srgbClr val="111827"/>
                    </a:solidFill>
                    <a:latin typeface="Cambria Math" panose="02040503050406030204" pitchFamily="18" charset="0"/>
                  </a:rPr>
                  <a:t>$7!=5040$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strings containing </a:t>
                </a:r>
                <a:r>
                  <a:rPr lang="en-IN" sz="2400">
                    <a:solidFill>
                      <a:srgbClr val="111827"/>
                    </a:solidFill>
                    <a:latin typeface="Cambria Math" panose="02040503050406030204" pitchFamily="18" charset="0"/>
                  </a:rPr>
                  <a:t>$153$</a:t>
                </a:r>
                <a:r>
                  <a:rPr sz="2400" b="0">
                    <a:solidFill>
                      <a:srgbClr val="111827"/>
                    </a:solidFill>
                    <a:latin typeface="Arial"/>
                  </a:rPr>
                  <a:t>. Treat </a:t>
                </a:r>
                <a:r>
                  <a:rPr lang="en-IN" sz="2400">
                    <a:solidFill>
                      <a:srgbClr val="111827"/>
                    </a:solidFill>
                    <a:latin typeface="Cambria Math" panose="02040503050406030204" pitchFamily="18" charset="0"/>
                  </a:rPr>
                  <a:t>$153$</a:t>
                </a:r>
                <a:r>
                  <a:rPr sz="2400" b="0">
                    <a:solidFill>
                      <a:srgbClr val="111827"/>
                    </a:solidFill>
                    <a:latin typeface="Arial"/>
                  </a:rPr>
                  <a:t> as one block with the other </a:t>
                </a:r>
                <a:r>
                  <a:rPr lang="en-IN" sz="2400">
                    <a:solidFill>
                      <a:srgbClr val="111827"/>
                    </a:solidFill>
                    <a:latin typeface="Cambria Math" panose="02040503050406030204" pitchFamily="18" charset="0"/>
                  </a:rPr>
                  <a:t>$4$</a:t>
                </a:r>
                <a:r>
                  <a:rPr sz="2400" b="0">
                    <a:solidFill>
                      <a:srgbClr val="111827"/>
                    </a:solidFill>
                    <a:latin typeface="Arial"/>
                  </a:rPr>
                  <a:t> digits </a:t>
                </a:r>
                <a:r>
                  <a:rPr lang="en-IN" sz="2400">
                    <a:solidFill>
                      <a:srgbClr val="111827"/>
                    </a:solidFill>
                    <a:latin typeface="Cambria Math" panose="02040503050406030204" pitchFamily="18" charset="0"/>
                  </a:rPr>
                  <a:t>$2,4,6,7$</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 permutations.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t>
                </a:r>
                <a:r>
                  <a:rPr sz="2400" b="0">
                    <a:solidFill>
                      <a:srgbClr val="111827"/>
                    </a:solidFill>
                    <a:latin typeface="Arial"/>
                  </a:rPr>
                  <a:t>: strings containing </a:t>
                </a:r>
                <a:r>
                  <a:rPr lang="en-IN" sz="2400">
                    <a:solidFill>
                      <a:srgbClr val="111827"/>
                    </a:solidFill>
                    <a:latin typeface="Cambria Math" panose="02040503050406030204" pitchFamily="18" charset="0"/>
                  </a:rPr>
                  <a:t>$2467$</a:t>
                </a:r>
                <a:r>
                  <a:rPr sz="2400" b="0">
                    <a:solidFill>
                      <a:srgbClr val="111827"/>
                    </a:solidFill>
                    <a:latin typeface="Arial"/>
                  </a:rPr>
                  <a:t>. Treat </a:t>
                </a:r>
                <a:r>
                  <a:rPr lang="en-IN" sz="2400">
                    <a:solidFill>
                      <a:srgbClr val="111827"/>
                    </a:solidFill>
                    <a:latin typeface="Cambria Math" panose="02040503050406030204" pitchFamily="18" charset="0"/>
                  </a:rPr>
                  <a:t>$2467$</a:t>
                </a:r>
                <a:r>
                  <a:rPr sz="2400" b="0">
                    <a:solidFill>
                      <a:srgbClr val="111827"/>
                    </a:solidFill>
                    <a:latin typeface="Arial"/>
                  </a:rPr>
                  <a:t> as a block with </a:t>
                </a:r>
                <a:r>
                  <a:rPr lang="en-IN" sz="2400">
                    <a:solidFill>
                      <a:srgbClr val="111827"/>
                    </a:solidFill>
                    <a:latin typeface="Cambria Math" panose="02040503050406030204" pitchFamily="18" charset="0"/>
                  </a:rPr>
                  <a:t>$1,3,5$</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permutations.</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strings: blocks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are two objects: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permutations.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4898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strings: blocks </a:t>
                </a:r>
                <a:r>
                  <a:rPr lang="en-IN" sz="2400">
                    <a:solidFill>
                      <a:srgbClr val="111827"/>
                    </a:solidFill>
                    <a:latin typeface="Cambria Math" panose="02040503050406030204" pitchFamily="18" charset="0"/>
                  </a:rPr>
                  <a:t>$153$</a:t>
                </a:r>
                <a:r>
                  <a:rPr sz="2400" b="0">
                    <a:solidFill>
                      <a:srgbClr val="111827"/>
                    </a:solidFill>
                    <a:latin typeface="Arial"/>
                  </a:rPr>
                  <a:t> and </a:t>
                </a:r>
                <a:r>
                  <a:rPr lang="en-IN" sz="2400">
                    <a:solidFill>
                      <a:srgbClr val="111827"/>
                    </a:solidFill>
                    <a:latin typeface="Cambria Math" panose="02040503050406030204" pitchFamily="18" charset="0"/>
                  </a:rPr>
                  <a:t>$2467$</a:t>
                </a:r>
                <a:r>
                  <a:rPr sz="2400" b="0">
                    <a:solidFill>
                      <a:srgbClr val="111827"/>
                    </a:solidFill>
                    <a:latin typeface="Arial"/>
                  </a:rPr>
                  <a:t> are two objects: </a:t>
                </a:r>
                <a:r>
                  <a:rPr lang="en-IN" sz="2400">
                    <a:solidFill>
                      <a:srgbClr val="111827"/>
                    </a:solidFill>
                    <a:latin typeface="Cambria Math" panose="02040503050406030204" pitchFamily="18" charset="0"/>
                  </a:rPr>
                  <a:t>$2!=2$</a:t>
                </a:r>
                <a:r>
                  <a:rPr sz="2400" b="0">
                    <a:solidFill>
                      <a:srgbClr val="111827"/>
                    </a:solidFill>
                    <a:latin typeface="Arial"/>
                  </a:rPr>
                  <a:t> permutations.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$n(A\cup B)=120+24-2=142$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$=7!-n(A\cup B)=5040-142=4898$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4898</a:t>
            </a:r>
            <a:endParaRPr sz="2800">
              <a:solidFill>
                <a:srgbClr val="15803D"/>
              </a:solidFill>
            </a:endParaRP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'Contains a given string' means glue it into a block: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for a string of length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(digits distinct).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whether the forbidden strings can overlap or coexist before using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strings shared a digit they could only coexist by overlapping on that digit, which changes the intersection count.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'Contains a given string' means glue it into a block: </a:t>
                </a:r>
                <a:r>
                  <a:rPr lang="en-IN" sz="2400">
                    <a:solidFill>
                      <a:srgbClr val="111827"/>
                    </a:solidFill>
                    <a:latin typeface="Cambria Math" panose="02040503050406030204" pitchFamily="18" charset="0"/>
                  </a:rPr>
                  <a:t>$(n-k+1)!$</a:t>
                </a:r>
                <a:r>
                  <a:rPr sz="2400" b="0">
                    <a:solidFill>
                      <a:srgbClr val="111827"/>
                    </a:solidFill>
                    <a:latin typeface="Arial"/>
                  </a:rPr>
                  <a:t> arrangements for a string of length </a:t>
                </a:r>
                <a:r>
                  <a:rPr lang="en-IN" sz="2400">
                    <a:solidFill>
                      <a:srgbClr val="111827"/>
                    </a:solidFill>
                    <a:latin typeface="Cambria Math" panose="02040503050406030204" pitchFamily="18" charset="0"/>
                  </a:rPr>
                  <a:t>$k$</a:t>
                </a:r>
                <a:r>
                  <a:rPr sz="2400" b="0">
                    <a:solidFill>
                      <a:srgbClr val="111827"/>
                    </a:solidFill>
                    <a:latin typeface="Arial"/>
                  </a:rPr>
                  <a:t> (digits distinct).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a:t>
                </a:r>
                <a:r>
                  <a:rPr lang="en-IN" sz="2400">
                    <a:solidFill>
                      <a:srgbClr val="111827"/>
                    </a:solidFill>
                    <a:latin typeface="Cambria Math" panose="02040503050406030204" pitchFamily="18" charset="0"/>
                  </a:rPr>
                  <a:t>$|A\cup B|=|A|+|B|-|A\cap B|$</a:t>
                </a:r>
                <a:r>
                  <a:rPr sz="2400" b="0">
                    <a:solidFill>
                      <a:srgbClr val="111827"/>
                    </a:solidFill>
                    <a:latin typeface="Arial"/>
                  </a:rPr>
                  <a:t>; check whether the forbidden strings can overlap or coexist before using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strings shared a digit they could only coexist by overlapping on that digit, which changes the intersection count.</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the four-digit numbers that can be formed using all the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equal to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the four-digit numbers that can be formed using all the digits </a:t>
                </a:r>
                <a:r>
                  <a:rPr lang="en-IN" sz="2400">
                    <a:solidFill>
                      <a:srgbClr val="111827"/>
                    </a:solidFill>
                    <a:latin typeface="Cambria Math" panose="02040503050406030204" pitchFamily="18" charset="0"/>
                  </a:rPr>
                  <a:t>$2,1,2,3$</a:t>
                </a:r>
                <a:r>
                  <a:rPr sz="2400" b="0">
                    <a:solidFill>
                      <a:srgbClr val="111827"/>
                    </a:solidFill>
                    <a:latin typeface="Arial"/>
                  </a:rPr>
                  <a:t> is equal to ______. [JEE(Main) April 2023]</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numbers formed from given digits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place has the same column sum, so the total is (column sum)</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1111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place has the same column sum, so the total is (column sum)</a:t>
                </a:r>
                <a:r>
                  <a:rPr lang="en-IN" sz="2400">
                    <a:solidFill>
                      <a:srgbClr val="78350F"/>
                    </a:solidFill>
                    <a:latin typeface="Cambria Math" panose="02040503050406030204" pitchFamily="18" charset="0"/>
                  </a:rPr>
                  <a:t>$\times1111$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four-digit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a digit in a given place: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occupies it in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numbers;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also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numbers;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digits in one place over all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 </a:t>
                </a:r>
                <a:r>
                  <a:rPr lang="en-IN" sz="2400">
                    <a:solidFill>
                      <a:srgbClr val="111827"/>
                    </a:solidFill>
                    <a:latin typeface="Cambria Math" panose="02040503050406030204" pitchFamily="18" charset="0"/>
                  </a:rPr>
                  <a:t>$2,1,2,3$</a:t>
                </a:r>
                <a:r>
                  <a:rPr sz="2400" b="0">
                    <a:solidFill>
                      <a:srgbClr val="111827"/>
                    </a:solidFill>
                    <a:latin typeface="Arial"/>
                  </a:rPr>
                  <a:t> give </a:t>
                </a:r>
                <a:r>
                  <a:rPr lang="en-IN" sz="2400">
                    <a:solidFill>
                      <a:srgbClr val="111827"/>
                    </a:solidFill>
                    <a:latin typeface="Cambria Math" panose="02040503050406030204" pitchFamily="18" charset="0"/>
                  </a:rPr>
                  <a:t>$\frac{4!}{2!}=12$</a:t>
                </a:r>
                <a:r>
                  <a:rPr sz="2400" b="0">
                    <a:solidFill>
                      <a:srgbClr val="111827"/>
                    </a:solidFill>
                    <a:latin typeface="Arial"/>
                  </a:rPr>
                  <a:t> four-digit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a digit in a given place: digit </a:t>
                </a:r>
                <a:r>
                  <a:rPr lang="en-IN" sz="2400">
                    <a:solidFill>
                      <a:srgbClr val="111827"/>
                    </a:solidFill>
                    <a:latin typeface="Cambria Math" panose="02040503050406030204" pitchFamily="18" charset="0"/>
                  </a:rPr>
                  <a:t>$1$</a:t>
                </a:r>
                <a:r>
                  <a:rPr sz="2400" b="0">
                    <a:solidFill>
                      <a:srgbClr val="111827"/>
                    </a:solidFill>
                    <a:latin typeface="Arial"/>
                  </a:rPr>
                  <a:t> occupies it in </a:t>
                </a:r>
                <a:r>
                  <a:rPr lang="en-IN" sz="2400">
                    <a:solidFill>
                      <a:srgbClr val="111827"/>
                    </a:solidFill>
                    <a:latin typeface="Cambria Math" panose="02040503050406030204" pitchFamily="18" charset="0"/>
                  </a:rPr>
                  <a:t>$\frac{3!}{2!}=3$</a:t>
                </a:r>
                <a:r>
                  <a:rPr sz="2400" b="0">
                    <a:solidFill>
                      <a:srgbClr val="111827"/>
                    </a:solidFill>
                    <a:latin typeface="Arial"/>
                  </a:rPr>
                  <a:t> numbers; digit </a:t>
                </a:r>
                <a:r>
                  <a:rPr lang="en-IN" sz="2400">
                    <a:solidFill>
                      <a:srgbClr val="111827"/>
                    </a:solidFill>
                    <a:latin typeface="Cambria Math" panose="02040503050406030204" pitchFamily="18" charset="0"/>
                  </a:rPr>
                  <a:t>$3$</a:t>
                </a:r>
                <a:r>
                  <a:rPr sz="2400" b="0">
                    <a:solidFill>
                      <a:srgbClr val="111827"/>
                    </a:solidFill>
                    <a:latin typeface="Arial"/>
                  </a:rPr>
                  <a:t> also in </a:t>
                </a:r>
                <a:r>
                  <a:rPr lang="en-IN" sz="2400">
                    <a:solidFill>
                      <a:srgbClr val="111827"/>
                    </a:solidFill>
                    <a:latin typeface="Cambria Math" panose="02040503050406030204" pitchFamily="18" charset="0"/>
                  </a:rPr>
                  <a:t>$3$</a:t>
                </a:r>
                <a:r>
                  <a:rPr sz="2400" b="0">
                    <a:solidFill>
                      <a:srgbClr val="111827"/>
                    </a:solidFill>
                    <a:latin typeface="Arial"/>
                  </a:rPr>
                  <a:t> numbers; digit </a:t>
                </a:r>
                <a:r>
                  <a:rPr lang="en-IN" sz="2400">
                    <a:solidFill>
                      <a:srgbClr val="111827"/>
                    </a:solidFill>
                    <a:latin typeface="Cambria Math" panose="02040503050406030204" pitchFamily="18" charset="0"/>
                  </a:rPr>
                  <a:t>$2$</a:t>
                </a:r>
                <a:r>
                  <a:rPr sz="2400" b="0">
                    <a:solidFill>
                      <a:srgbClr val="111827"/>
                    </a:solidFill>
                    <a:latin typeface="Arial"/>
                  </a:rPr>
                  <a:t> in </a:t>
                </a:r>
                <a:r>
                  <a:rPr lang="en-IN" sz="2400">
                    <a:solidFill>
                      <a:srgbClr val="111827"/>
                    </a:solidFill>
                    <a:latin typeface="Cambria Math" panose="02040503050406030204" pitchFamily="18" charset="0"/>
                  </a:rPr>
                  <a:t>$3!=6$</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digits in one place over all numbers </a:t>
                </a:r>
                <a:r>
                  <a:rPr lang="en-IN" sz="2400">
                    <a:solidFill>
                      <a:srgbClr val="111827"/>
                    </a:solidFill>
                    <a:latin typeface="Cambria Math" panose="02040503050406030204" pitchFamily="18" charset="0"/>
                  </a:rPr>
                  <a:t>$=1\cdot3+3\cdot3+2\cdot6=24$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26664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$=24\times10^0+24\times10^1+24\times10^2+24\times10^3=24\times1111$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numbers </a:t>
                </a:r>
                <a:r>
                  <a:rPr lang="en-IN" sz="2400">
                    <a:solidFill>
                      <a:srgbClr val="111827"/>
                    </a:solidFill>
                    <a:latin typeface="Cambria Math" panose="02040503050406030204" pitchFamily="18" charset="0"/>
                  </a:rPr>
                  <a:t>$=26664$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26664</a:t>
            </a:r>
            <a:endParaRPr sz="2800">
              <a:solidFill>
                <a:srgbClr val="15803D"/>
              </a:solidFill>
            </a:endParaRP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Average value: by symmetry the average digit in every place equals the mean of the four digits.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place is equally likely to hold each of the four digit-copies, so the average digit in each place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Average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2222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numbers, so the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26664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place is equally likely to hold each of the four digit-copies, so the average digit in each place is </a:t>
                </a:r>
                <a:r>
                  <a:rPr lang="en-IN" sz="2400">
                    <a:solidFill>
                      <a:srgbClr val="111827"/>
                    </a:solidFill>
                    <a:latin typeface="Cambria Math" panose="02040503050406030204" pitchFamily="18" charset="0"/>
                  </a:rPr>
                  <a:t>$\frac{2+1+2+3}{4}=2$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Average number </a:t>
                </a:r>
                <a:r>
                  <a:rPr lang="en-IN" sz="2400">
                    <a:solidFill>
                      <a:srgbClr val="111827"/>
                    </a:solidFill>
                    <a:latin typeface="Cambria Math" panose="02040503050406030204" pitchFamily="18" charset="0"/>
                  </a:rPr>
                  <a:t>$=2222$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$12$</a:t>
                </a:r>
                <a:r>
                  <a:rPr sz="2400" b="0">
                    <a:solidFill>
                      <a:srgbClr val="111827"/>
                    </a:solidFill>
                    <a:latin typeface="Arial"/>
                  </a:rPr>
                  <a:t> numbers, so the sum </a:t>
                </a:r>
                <a:r>
                  <a:rPr lang="en-IN" sz="2400">
                    <a:solidFill>
                      <a:srgbClr val="111827"/>
                    </a:solidFill>
                    <a:latin typeface="Cambria Math" panose="02040503050406030204" pitchFamily="18" charset="0"/>
                  </a:rPr>
                  <a:t>$=12\times2222=26664$</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26664</a:t>
            </a:r>
            <a:endParaRPr sz="2800">
              <a:solidFill>
                <a:srgbClr val="15803D"/>
              </a:solidFill>
            </a:endParaRP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numbers formed using 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𝑜𝑓 𝑑𝑖𝑔𝑖𝑡𝑠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limLow>
                      <m:e>
                        <m:limLow>
                          <m:e>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lim>
                            <m:r>
                              <m:rPr>
                                <m:sty m:val="p"/>
                              </m:rPr>
                              <a:rPr lang="en-IN" sz="2400">
                                <a:solidFill>
                                  <a:srgbClr val="111827"/>
                                </a:solidFill>
                                <a:latin typeface="Cambria Math" panose="02040503050406030204" pitchFamily="18" charset="0"/>
                              </a:rPr>
                              <m:t>⏟</m:t>
                            </m:r>
                          </m:lim>
                        </m:limLow>
                      </m:e>
                      <m:lim>
                        <m:r>
                          <a:rPr lang="en-IN" sz="2400" i="1">
                            <a:solidFill>
                              <a:srgbClr val="111827"/>
                            </a:solidFill>
                            <a:latin typeface="Cambria Math" panose="02040503050406030204" pitchFamily="18" charset="0"/>
                          </a:rPr>
                          <m:t>𝑛</m:t>
                        </m:r>
                      </m:lim>
                    </m:limLow>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repeated digits use the average: (number of arrangements)</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(mean of the digits)</a:t>
                </a:r>
                <a14:m>
                  <m:oMath xmlns:m="http://schemas.openxmlformats.org/officeDocument/2006/math">
                    <m:r>
                      <m:rPr>
                        <m:sty m:val="p"/>
                      </m:rPr>
                      <a:rPr lang="en-IN" sz="2400">
                        <a:solidFill>
                          <a:srgbClr val="111827"/>
                        </a:solidFill>
                        <a:latin typeface="Cambria Math" panose="02040503050406030204" pitchFamily="18" charset="0"/>
                      </a:rPr>
                      <m:t>×</m:t>
                    </m:r>
                    <m:limLow>
                      <m:e>
                        <m:limLow>
                          <m:e>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lim>
                            <m:r>
                              <m:rPr>
                                <m:sty m:val="p"/>
                              </m:rPr>
                              <a:rPr lang="en-IN" sz="2400">
                                <a:solidFill>
                                  <a:srgbClr val="111827"/>
                                </a:solidFill>
                                <a:latin typeface="Cambria Math" panose="02040503050406030204" pitchFamily="18" charset="0"/>
                              </a:rPr>
                              <m:t>⏟</m:t>
                            </m:r>
                          </m:lim>
                        </m:limLow>
                      </m:e>
                      <m:lim>
                        <m:r>
                          <a:rPr lang="en-IN" sz="2400" i="1">
                            <a:solidFill>
                              <a:srgbClr val="111827"/>
                            </a:solidFill>
                            <a:latin typeface="Cambria Math" panose="02040503050406030204" pitchFamily="18" charset="0"/>
                          </a:rPr>
                          <m:t>𝑛</m:t>
                        </m:r>
                      </m:lim>
                    </m:limLow>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26664</m:t>
                    </m:r>
                  </m:oMath>
                </a14:m>
                <a:r>
                  <a:rPr sz="2400" b="0">
                    <a:solidFill>
                      <a:srgbClr val="111827"/>
                    </a:solidFill>
                    <a:latin typeface="Arial"/>
                  </a:rPr>
                  <a:t>; valid because every digit-copy is equally likely in each place (zero not among the digits).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numbers formed using all </a:t>
                </a:r>
                <a:r>
                  <a:rPr lang="en-IN" sz="2400">
                    <a:solidFill>
                      <a:srgbClr val="111827"/>
                    </a:solidFill>
                    <a:latin typeface="Cambria Math" panose="02040503050406030204" pitchFamily="18" charset="0"/>
                  </a:rPr>
                  <a:t>$n$</a:t>
                </a:r>
                <a:r>
                  <a:rPr sz="2400" b="0">
                    <a:solidFill>
                      <a:srgbClr val="111827"/>
                    </a:solidFill>
                    <a:latin typeface="Arial"/>
                  </a:rPr>
                  <a:t> distinct digits: </a:t>
                </a:r>
                <a:r>
                  <a:rPr lang="en-IN" sz="2400">
                    <a:solidFill>
                      <a:srgbClr val="111827"/>
                    </a:solidFill>
                    <a:latin typeface="Cambria Math" panose="02040503050406030204" pitchFamily="18" charset="0"/>
                  </a:rPr>
                  <a:t>$(n-1)!\,(\text{sum of digits})\times\underbrace{11\cdots1}_{n}$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repeated digits use the average: (number of arrangements)</a:t>
                </a:r>
                <a:r>
                  <a:rPr lang="en-IN" sz="2400">
                    <a:solidFill>
                      <a:srgbClr val="111827"/>
                    </a:solidFill>
                    <a:latin typeface="Cambria Math" panose="02040503050406030204" pitchFamily="18" charset="0"/>
                  </a:rPr>
                  <a:t>$\times$</a:t>
                </a:r>
                <a:r>
                  <a:rPr sz="2400" b="0">
                    <a:solidFill>
                      <a:srgbClr val="111827"/>
                    </a:solidFill>
                    <a:latin typeface="Arial"/>
                  </a:rPr>
                  <a:t>(mean of the digits)</a:t>
                </a:r>
                <a:r>
                  <a:rPr lang="en-IN" sz="2400">
                    <a:solidFill>
                      <a:srgbClr val="111827"/>
                    </a:solidFill>
                    <a:latin typeface="Cambria Math" panose="02040503050406030204" pitchFamily="18" charset="0"/>
                  </a:rPr>
                  <a:t>$\times\underbrace{11\cdots1}_{n}$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$12\times2\times1111=26664$</a:t>
                </a:r>
                <a:r>
                  <a:rPr sz="2400" b="0">
                    <a:solidFill>
                      <a:srgbClr val="111827"/>
                    </a:solidFill>
                    <a:latin typeface="Arial"/>
                  </a:rPr>
                  <a:t>; valid because every digit-copy is equally likely in each place (zero not among the digits).</a:t>
                </a:r>
                <a:endParaRPr sz="2400">
                  <a:solidFill>
                    <a:srgbClr val="111827"/>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students have been allotted their seats as per their roll numbers. The number of ways, in which none of the students sits on the allotted seat, is ______. [JEE(Main) April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a:t>
                </a:r>
                <a:r>
                  <a:rPr lang="en-IN" sz="2400">
                    <a:solidFill>
                      <a:srgbClr val="111827"/>
                    </a:solidFill>
                    <a:latin typeface="Cambria Math" panose="02040503050406030204" pitchFamily="18" charset="0"/>
                  </a:rPr>
                  <a:t>$5$</a:t>
                </a:r>
                <a:r>
                  <a:rPr sz="2400" b="0">
                    <a:solidFill>
                      <a:srgbClr val="111827"/>
                    </a:solidFill>
                    <a:latin typeface="Arial"/>
                  </a:rPr>
                  <a:t> students have been allotted their seats as per their roll numbers. The number of ways, in which none of the students sits on the allotted seat, is ______. [JEE(Main) April 2023]</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Derangements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student on the allotted seat is a derangement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objects: </a:t>
                </a:r>
                <a14:m>
                  <m:oMath xmlns:m="http://schemas.openxmlformats.org/officeDocument/2006/math">
                    <m:sSub>
                      <m:e>
                        <m:r>
                          <a:rPr lang="en-IN" sz="2400" i="1">
                            <a:solidFill>
                              <a:srgbClr val="78350F"/>
                            </a:solidFill>
                            <a:latin typeface="Cambria Math" panose="02040503050406030204" pitchFamily="18" charset="0"/>
                          </a:rPr>
                          <m:t>𝐷</m:t>
                        </m:r>
                      </m:e>
                      <m:sub>
                        <m:r>
                          <a:rPr lang="en-IN" sz="2400" i="1">
                            <a:solidFill>
                              <a:srgbClr val="78350F"/>
                            </a:solidFill>
                            <a:latin typeface="Cambria Math" panose="02040503050406030204" pitchFamily="18" charset="0"/>
                          </a:rPr>
                          <m:t>5</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student on the allotted seat is a derangement of </a:t>
                </a:r>
                <a:r>
                  <a:rPr lang="en-IN" sz="2400">
                    <a:solidFill>
                      <a:srgbClr val="78350F"/>
                    </a:solidFill>
                    <a:latin typeface="Cambria Math" panose="02040503050406030204" pitchFamily="18" charset="0"/>
                  </a:rPr>
                  <a:t>$5$</a:t>
                </a:r>
                <a:r>
                  <a:rPr sz="2400" b="0">
                    <a:solidFill>
                      <a:srgbClr val="78350F"/>
                    </a:solidFill>
                    <a:latin typeface="Arial"/>
                  </a:rPr>
                  <a:t> objects: </a:t>
                </a:r>
                <a:r>
                  <a:rPr lang="en-IN" sz="2400">
                    <a:solidFill>
                      <a:srgbClr val="78350F"/>
                    </a:solidFill>
                    <a:latin typeface="Cambria Math" panose="02040503050406030204" pitchFamily="18" charset="0"/>
                  </a:rPr>
                  <a:t>$D_5=5!\left(1-\frac1{1!}+\frac1{2!}-\frac1{3!}+\frac1{4!}-\frac1{5!}\right)$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the number of derangements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objects.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120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the number of derangements of </a:t>
                </a:r>
                <a:r>
                  <a:rPr lang="en-IN" sz="2400">
                    <a:solidFill>
                      <a:srgbClr val="111827"/>
                    </a:solidFill>
                    <a:latin typeface="Cambria Math" panose="02040503050406030204" pitchFamily="18" charset="0"/>
                  </a:rPr>
                  <a:t>$5$</a:t>
                </a:r>
                <a:r>
                  <a:rPr sz="2400" b="0">
                    <a:solidFill>
                      <a:srgbClr val="111827"/>
                    </a:solidFill>
                    <a:latin typeface="Arial"/>
                  </a:rPr>
                  <a:t> objects.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$D_5=5!\left(1-\frac1{1!}+\frac1{2!}-\frac1{3!}+\frac1{4!}-\frac1{5!}\right)=5!\left(\frac1{2!}-\frac1{3!}+\frac1{4!}-\frac1{5!}\right)$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$=\frac{120}{2}-\frac{120}{6}+\frac{120}{24}-\frac{120}{120}=60-20+5-1$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$D_5=44$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44</a:t>
            </a:r>
            <a:endParaRPr sz="2800">
              <a:solidFill>
                <a:srgbClr val="15803D"/>
              </a:solidFill>
            </a:endParaRP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recurrence </a:t>
                </a:r>
                <a14:m>
                  <m:oMath xmlns:m="http://schemas.openxmlformats.org/officeDocument/2006/math">
                    <m:sSub>
                      <m:e>
                        <m:r>
                          <a:rPr lang="en-IN" sz="2400" i="1">
                            <a:solidFill>
                              <a:srgbClr val="78350F"/>
                            </a:solidFill>
                            <a:latin typeface="Cambria Math" panose="02040503050406030204" pitchFamily="18" charset="0"/>
                          </a:rPr>
                          <m:t>𝐷</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𝐷</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𝐷</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built from the first student's choice.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recurrence </a:t>
                </a:r>
                <a:r>
                  <a:rPr lang="en-IN" sz="2400">
                    <a:solidFill>
                      <a:srgbClr val="78350F"/>
                    </a:solidFill>
                    <a:latin typeface="Cambria Math" panose="02040503050406030204" pitchFamily="18" charset="0"/>
                  </a:rPr>
                  <a:t>$D_n=(n-1)(D_{n-1}+D_{n-2})$</a:t>
                </a:r>
                <a:r>
                  <a:rPr sz="2400" b="0">
                    <a:solidFill>
                      <a:srgbClr val="78350F"/>
                    </a:solidFill>
                    <a:latin typeface="Arial"/>
                  </a:rPr>
                  <a:t> built from the first student's choice.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Start: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Start: </a:t>
                </a:r>
                <a:r>
                  <a:rPr lang="en-IN" sz="2400">
                    <a:solidFill>
                      <a:srgbClr val="111827"/>
                    </a:solidFill>
                    <a:latin typeface="Cambria Math" panose="02040503050406030204" pitchFamily="18" charset="0"/>
                  </a:rPr>
                  <a:t>$D_1=0$</a:t>
                </a:r>
                <a:r>
                  <a:rPr sz="2400" b="0">
                    <a:solidFill>
                      <a:srgbClr val="111827"/>
                    </a:solidFill>
                    <a:latin typeface="Arial"/>
                  </a:rPr>
                  <a:t>, </a:t>
                </a:r>
                <a:r>
                  <a:rPr lang="en-IN" sz="2400">
                    <a:solidFill>
                      <a:srgbClr val="111827"/>
                    </a:solidFill>
                    <a:latin typeface="Cambria Math" panose="02040503050406030204" pitchFamily="18" charset="0"/>
                  </a:rPr>
                  <a:t>$D_2=1$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$D_3=2(D_2+D_1)=2(1+0)=2$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$D_4=3(D_3+D_2)=3(2+1)=9$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$D_5=4(D_4+D_3)=4(9+2)=44$</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44</a:t>
            </a:r>
            <a:endParaRPr sz="2800">
              <a:solidFill>
                <a:srgbClr val="15803D"/>
              </a:solidFill>
            </a:endParaRP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the integer nearest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recurrences: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values: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265</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Permutations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with exactly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fixed points: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$D_n=n!\sum_{k=0}^n\frac{(-1)^k}{k!}$</a:t>
                </a:r>
                <a:r>
                  <a:rPr sz="2400" b="0">
                    <a:solidFill>
                      <a:srgbClr val="111827"/>
                    </a:solidFill>
                    <a:latin typeface="Arial"/>
                  </a:rPr>
                  <a:t>, the integer nearest to </a:t>
                </a:r>
                <a:r>
                  <a:rPr lang="en-IN" sz="2400">
                    <a:solidFill>
                      <a:srgbClr val="111827"/>
                    </a:solidFill>
                    <a:latin typeface="Cambria Math" panose="02040503050406030204" pitchFamily="18" charset="0"/>
                  </a:rPr>
                  <a:t>$\frac{n!}{e}$</a:t>
                </a:r>
                <a:r>
                  <a:rPr sz="2400" b="0">
                    <a:solidFill>
                      <a:srgbClr val="111827"/>
                    </a:solidFill>
                    <a:latin typeface="Arial"/>
                  </a:rPr>
                  <a:t>; recurrences: </a:t>
                </a:r>
                <a:r>
                  <a:rPr lang="en-IN" sz="2400">
                    <a:solidFill>
                      <a:srgbClr val="111827"/>
                    </a:solidFill>
                    <a:latin typeface="Cambria Math" panose="02040503050406030204" pitchFamily="18" charset="0"/>
                  </a:rPr>
                  <a:t>$D_n=(n-1)(D_{n-1}+D_{n-2})=nD_{n-1}+(-1)^n$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values: </a:t>
                </a:r>
                <a:r>
                  <a:rPr lang="en-IN" sz="2400">
                    <a:solidFill>
                      <a:srgbClr val="111827"/>
                    </a:solidFill>
                    <a:latin typeface="Cambria Math" panose="02040503050406030204" pitchFamily="18" charset="0"/>
                  </a:rPr>
                  <a:t>$D_1,\dots,D_6=0,1,2,9,44,265$</a:t>
                </a:r>
                <a:r>
                  <a:rPr sz="2400" b="0">
                    <a:solidFill>
                      <a:srgbClr val="111827"/>
                    </a:solidFill>
                    <a:latin typeface="Arial"/>
                  </a:rPr>
                  <a:t>. Check: </a:t>
                </a:r>
                <a:r>
                  <a:rPr lang="en-IN" sz="2400">
                    <a:solidFill>
                      <a:srgbClr val="111827"/>
                    </a:solidFill>
                    <a:latin typeface="Cambria Math" panose="02040503050406030204" pitchFamily="18" charset="0"/>
                  </a:rPr>
                  <a:t>$5D_4+(-1)^5=44$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Permutations of </a:t>
                </a:r>
                <a:r>
                  <a:rPr lang="en-IN" sz="2400">
                    <a:solidFill>
                      <a:srgbClr val="111827"/>
                    </a:solidFill>
                    <a:latin typeface="Cambria Math" panose="02040503050406030204" pitchFamily="18" charset="0"/>
                  </a:rPr>
                  <a:t>$n$</a:t>
                </a:r>
                <a:r>
                  <a:rPr sz="2400" b="0">
                    <a:solidFill>
                      <a:srgbClr val="111827"/>
                    </a:solidFill>
                    <a:latin typeface="Arial"/>
                  </a:rPr>
                  <a:t> objects with exactly </a:t>
                </a:r>
                <a:r>
                  <a:rPr lang="en-IN" sz="2400">
                    <a:solidFill>
                      <a:srgbClr val="111827"/>
                    </a:solidFill>
                    <a:latin typeface="Cambria Math" panose="02040503050406030204" pitchFamily="18" charset="0"/>
                  </a:rPr>
                  <a:t>$r$</a:t>
                </a:r>
                <a:r>
                  <a:rPr sz="2400" b="0">
                    <a:solidFill>
                      <a:srgbClr val="111827"/>
                    </a:solidFill>
                    <a:latin typeface="Arial"/>
                  </a:rPr>
                  <a:t> fixed points: </a:t>
                </a:r>
                <a:r>
                  <a:rPr lang="en-IN" sz="2400">
                    <a:solidFill>
                      <a:srgbClr val="111827"/>
                    </a:solidFill>
                    <a:latin typeface="Cambria Math" panose="02040503050406030204" pitchFamily="18" charset="0"/>
                  </a:rPr>
                  <a:t>$\binom nr D_{n-r}$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digits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 in A.P. Nine-digit numbers are to be formed using each of these three digits thrice such that three consecutive digits are in A.P. at least once. How many such numbers can be formed? [JEE(Main) April 2023]</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digits </a:t>
                </a:r>
                <a:r>
                  <a:rPr lang="en-IN" sz="2400">
                    <a:solidFill>
                      <a:srgbClr val="111827"/>
                    </a:solidFill>
                    <a:latin typeface="Cambria Math" panose="02040503050406030204" pitchFamily="18" charset="0"/>
                  </a:rPr>
                  <a:t>$a,b,c$</a:t>
                </a:r>
                <a:r>
                  <a:rPr sz="2400" b="0">
                    <a:solidFill>
                      <a:srgbClr val="111827"/>
                    </a:solidFill>
                    <a:latin typeface="Arial"/>
                  </a:rPr>
                  <a:t> be in A.P. Nine-digit numbers are to be formed using each of these three digits thrice such that three consecutive digits are in A.P. at least once. How many such numbers can be formed? [JEE(Main) April 2023]</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strings with a pattern at least once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Gluing one block counts a number once per A.P. triple it contains; 'at least once' needs inclusion-exclusion over occurrences.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A.P.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the middle term,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the only consecutive triples in A.P. are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nine-digit strings with each digit used thrice: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count (string, occurrence) pairs: glue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as one block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630</m:t>
                    </m:r>
                  </m:oMath>
                </a14:m>
                <a:r>
                  <a:rPr sz="2400" b="0">
                    <a:solidFill>
                      <a:srgbClr val="111827"/>
                    </a:solidFill>
                    <a:latin typeface="Arial"/>
                  </a:rPr>
                  <a:t>; the same for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$a,b,c$</a:t>
                </a:r>
                <a:r>
                  <a:rPr sz="2400" b="0">
                    <a:solidFill>
                      <a:srgbClr val="111827"/>
                    </a:solidFill>
                    <a:latin typeface="Arial"/>
                  </a:rPr>
                  <a:t> are in A.P. (</a:t>
                </a:r>
                <a:r>
                  <a:rPr lang="en-IN" sz="2400">
                    <a:solidFill>
                      <a:srgbClr val="111827"/>
                    </a:solidFill>
                    <a:latin typeface="Cambria Math" panose="02040503050406030204" pitchFamily="18" charset="0"/>
                  </a:rPr>
                  <a:t>$b$</a:t>
                </a:r>
                <a:r>
                  <a:rPr sz="2400" b="0">
                    <a:solidFill>
                      <a:srgbClr val="111827"/>
                    </a:solidFill>
                    <a:latin typeface="Arial"/>
                  </a:rPr>
                  <a:t> is the middle term, </a:t>
                </a:r>
                <a:r>
                  <a:rPr lang="en-IN" sz="2400">
                    <a:solidFill>
                      <a:srgbClr val="111827"/>
                    </a:solidFill>
                    <a:latin typeface="Cambria Math" panose="02040503050406030204" pitchFamily="18" charset="0"/>
                  </a:rPr>
                  <a:t>$a+c=2b$</a:t>
                </a:r>
                <a:r>
                  <a:rPr sz="2400" b="0">
                    <a:solidFill>
                      <a:srgbClr val="111827"/>
                    </a:solidFill>
                    <a:latin typeface="Arial"/>
                  </a:rPr>
                  <a:t>), the only consecutive triples in A.P. are </a:t>
                </a:r>
                <a:r>
                  <a:rPr lang="en-IN" sz="2400">
                    <a:solidFill>
                      <a:srgbClr val="111827"/>
                    </a:solidFill>
                    <a:latin typeface="Cambria Math" panose="02040503050406030204" pitchFamily="18" charset="0"/>
                  </a:rPr>
                  <a:t>$abc$</a:t>
                </a:r>
                <a:r>
                  <a:rPr sz="2400" b="0">
                    <a:solidFill>
                      <a:srgbClr val="111827"/>
                    </a:solidFill>
                    <a:latin typeface="Arial"/>
                  </a:rPr>
                  <a:t> and </a:t>
                </a:r>
                <a:r>
                  <a:rPr lang="en-IN" sz="2400">
                    <a:solidFill>
                      <a:srgbClr val="111827"/>
                    </a:solidFill>
                    <a:latin typeface="Cambria Math" panose="02040503050406030204" pitchFamily="18" charset="0"/>
                  </a:rPr>
                  <a:t>$cba$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nine-digit strings with each digit used thrice: </a:t>
                </a:r>
                <a:r>
                  <a:rPr lang="en-IN" sz="2400">
                    <a:solidFill>
                      <a:srgbClr val="111827"/>
                    </a:solidFill>
                    <a:latin typeface="Cambria Math" panose="02040503050406030204" pitchFamily="18" charset="0"/>
                  </a:rPr>
                  <a:t>$\frac{9!}{3!\,3!\,3!}=1680$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$S_1$</a:t>
                </a:r>
                <a:r>
                  <a:rPr sz="2400" b="0">
                    <a:solidFill>
                      <a:srgbClr val="111827"/>
                    </a:solidFill>
                    <a:latin typeface="Arial"/>
                  </a:rPr>
                  <a:t> count (string, occurrence) pairs: glue </a:t>
                </a:r>
                <a:r>
                  <a:rPr lang="en-IN" sz="2400">
                    <a:solidFill>
                      <a:srgbClr val="111827"/>
                    </a:solidFill>
                    <a:latin typeface="Cambria Math" panose="02040503050406030204" pitchFamily="18" charset="0"/>
                  </a:rPr>
                  <a:t>$abc$</a:t>
                </a:r>
                <a:r>
                  <a:rPr sz="2400" b="0">
                    <a:solidFill>
                      <a:srgbClr val="111827"/>
                    </a:solidFill>
                    <a:latin typeface="Arial"/>
                  </a:rPr>
                  <a:t> as one block with </a:t>
                </a:r>
                <a:r>
                  <a:rPr lang="en-IN" sz="2400">
                    <a:solidFill>
                      <a:srgbClr val="111827"/>
                    </a:solidFill>
                    <a:latin typeface="Cambria Math" panose="02040503050406030204" pitchFamily="18" charset="0"/>
                  </a:rPr>
                  <a:t>$a,a,b,b,c,c$</a:t>
                </a:r>
                <a:r>
                  <a:rPr sz="2400" b="0">
                    <a:solidFill>
                      <a:srgbClr val="111827"/>
                    </a:solidFill>
                    <a:latin typeface="Arial"/>
                  </a:rPr>
                  <a:t>: </a:t>
                </a:r>
                <a:r>
                  <a:rPr lang="en-IN" sz="2400">
                    <a:solidFill>
                      <a:srgbClr val="111827"/>
                    </a:solidFill>
                    <a:latin typeface="Cambria Math" panose="02040503050406030204" pitchFamily="18" charset="0"/>
                  </a:rPr>
                  <a:t>$\frac{7!}{2!2!2!}=630$</a:t>
                </a:r>
                <a:r>
                  <a:rPr sz="2400" b="0">
                    <a:solidFill>
                      <a:srgbClr val="111827"/>
                    </a:solidFill>
                    <a:latin typeface="Arial"/>
                  </a:rPr>
                  <a:t>; the same for </a:t>
                </a:r>
                <a:r>
                  <a:rPr lang="en-IN" sz="2400">
                    <a:solidFill>
                      <a:srgbClr val="111827"/>
                    </a:solidFill>
                    <a:latin typeface="Cambria Math" panose="02040503050406030204" pitchFamily="18" charset="0"/>
                  </a:rPr>
                  <a:t>$cba$</a:t>
                </a:r>
                <a:r>
                  <a:rPr sz="2400" b="0">
                    <a:solidFill>
                      <a:srgbClr val="111827"/>
                    </a:solidFill>
                    <a:latin typeface="Arial"/>
                  </a:rPr>
                  <a:t>: </a:t>
                </a:r>
                <a:r>
                  <a:rPr lang="en-IN" sz="2400">
                    <a:solidFill>
                      <a:srgbClr val="111827"/>
                    </a:solidFill>
                    <a:latin typeface="Cambria Math" panose="02040503050406030204" pitchFamily="18" charset="0"/>
                  </a:rPr>
                  <a:t>$S_1=1260$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the PDF's figure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oMath>
                </a14:m>
                <a:r>
                  <a:rPr sz="2400" b="0">
                    <a:solidFill>
                      <a:srgbClr val="111827"/>
                    </a:solidFill>
                    <a:latin typeface="Arial"/>
                  </a:rPr>
                  <a:t>, but it counts a number once for every A.P. triple it contains. For example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three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occurrences: disjoint blocks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overlapping pairs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(sharing one digit):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each.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Triples of occurrences: no number has more than three A.P. triples, and the strings having exactly three number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(found by systematic enumeration).</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the PDF's figure </a:t>
                </a:r>
                <a:r>
                  <a:rPr lang="en-IN" sz="2400">
                    <a:solidFill>
                      <a:srgbClr val="111827"/>
                    </a:solidFill>
                    <a:latin typeface="Cambria Math" panose="02040503050406030204" pitchFamily="18" charset="0"/>
                  </a:rPr>
                  <a:t>$\binom71\cdot2\cdot\frac{6!}{2!2!2!}=1260$</a:t>
                </a:r>
                <a:r>
                  <a:rPr sz="2400" b="0">
                    <a:solidFill>
                      <a:srgbClr val="111827"/>
                    </a:solidFill>
                    <a:latin typeface="Arial"/>
                  </a:rPr>
                  <a:t>, but it counts a number once for every A.P. triple it contains. For example </a:t>
                </a:r>
                <a:r>
                  <a:rPr lang="en-IN" sz="2400">
                    <a:solidFill>
                      <a:srgbClr val="111827"/>
                    </a:solidFill>
                    <a:latin typeface="Cambria Math" panose="02040503050406030204" pitchFamily="18" charset="0"/>
                  </a:rPr>
                  <a:t>$abcabcabc$</a:t>
                </a:r>
                <a:r>
                  <a:rPr sz="2400" b="0">
                    <a:solidFill>
                      <a:srgbClr val="111827"/>
                    </a:solidFill>
                    <a:latin typeface="Arial"/>
                  </a:rPr>
                  <a:t> contains </a:t>
                </a:r>
                <a:r>
                  <a:rPr lang="en-IN" sz="2400">
                    <a:solidFill>
                      <a:srgbClr val="111827"/>
                    </a:solidFill>
                    <a:latin typeface="Cambria Math" panose="02040503050406030204" pitchFamily="18" charset="0"/>
                  </a:rPr>
                  <a:t>$abc$</a:t>
                </a:r>
                <a:r>
                  <a:rPr sz="2400" b="0">
                    <a:solidFill>
                      <a:srgbClr val="111827"/>
                    </a:solidFill>
                    <a:latin typeface="Arial"/>
                  </a:rPr>
                  <a:t> three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occurrences: disjoint blocks </a:t>
                </a:r>
                <a:r>
                  <a:rPr lang="en-IN" sz="2400">
                    <a:solidFill>
                      <a:srgbClr val="111827"/>
                    </a:solidFill>
                    <a:latin typeface="Cambria Math" panose="02040503050406030204" pitchFamily="18" charset="0"/>
                  </a:rPr>
                  <a:t>$abc,abc$</a:t>
                </a:r>
                <a:r>
                  <a:rPr sz="2400" b="0">
                    <a:solidFill>
                      <a:srgbClr val="111827"/>
                    </a:solidFill>
                    <a:latin typeface="Arial"/>
                  </a:rPr>
                  <a:t>: </a:t>
                </a:r>
                <a:r>
                  <a:rPr lang="en-IN" sz="2400">
                    <a:solidFill>
                      <a:srgbClr val="111827"/>
                    </a:solidFill>
                    <a:latin typeface="Cambria Math" panose="02040503050406030204" pitchFamily="18" charset="0"/>
                  </a:rPr>
                  <a:t>$\frac{5!}{2!}=60$</a:t>
                </a:r>
                <a:r>
                  <a:rPr sz="2400" b="0">
                    <a:solidFill>
                      <a:srgbClr val="111827"/>
                    </a:solidFill>
                    <a:latin typeface="Arial"/>
                  </a:rPr>
                  <a:t>; </a:t>
                </a:r>
                <a:r>
                  <a:rPr lang="en-IN" sz="2400">
                    <a:solidFill>
                      <a:srgbClr val="111827"/>
                    </a:solidFill>
                    <a:latin typeface="Cambria Math" panose="02040503050406030204" pitchFamily="18" charset="0"/>
                  </a:rPr>
                  <a:t>$cba,cba$</a:t>
                </a:r>
                <a:r>
                  <a:rPr sz="2400" b="0">
                    <a:solidFill>
                      <a:srgbClr val="111827"/>
                    </a:solidFill>
                    <a:latin typeface="Arial"/>
                  </a:rPr>
                  <a:t>: </a:t>
                </a:r>
                <a:r>
                  <a:rPr lang="en-IN" sz="2400">
                    <a:solidFill>
                      <a:srgbClr val="111827"/>
                    </a:solidFill>
                    <a:latin typeface="Cambria Math" panose="02040503050406030204" pitchFamily="18" charset="0"/>
                  </a:rPr>
                  <a:t>$60$</a:t>
                </a:r>
                <a:r>
                  <a:rPr sz="2400" b="0">
                    <a:solidFill>
                      <a:srgbClr val="111827"/>
                    </a:solidFill>
                    <a:latin typeface="Arial"/>
                  </a:rPr>
                  <a:t>; </a:t>
                </a:r>
                <a:r>
                  <a:rPr lang="en-IN" sz="2400">
                    <a:solidFill>
                      <a:srgbClr val="111827"/>
                    </a:solidFill>
                    <a:latin typeface="Cambria Math" panose="02040503050406030204" pitchFamily="18" charset="0"/>
                  </a:rPr>
                  <a:t>$abc,cba$</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 overlapping pairs </a:t>
                </a:r>
                <a:r>
                  <a:rPr lang="en-IN" sz="2400">
                    <a:solidFill>
                      <a:srgbClr val="111827"/>
                    </a:solidFill>
                    <a:latin typeface="Cambria Math" panose="02040503050406030204" pitchFamily="18" charset="0"/>
                  </a:rPr>
                  <a:t>$abcba$</a:t>
                </a:r>
                <a:r>
                  <a:rPr sz="2400" b="0">
                    <a:solidFill>
                      <a:srgbClr val="111827"/>
                    </a:solidFill>
                    <a:latin typeface="Arial"/>
                  </a:rPr>
                  <a:t> and </a:t>
                </a:r>
                <a:r>
                  <a:rPr lang="en-IN" sz="2400">
                    <a:solidFill>
                      <a:srgbClr val="111827"/>
                    </a:solidFill>
                    <a:latin typeface="Cambria Math" panose="02040503050406030204" pitchFamily="18" charset="0"/>
                  </a:rPr>
                  <a:t>$cbabc$</a:t>
                </a:r>
                <a:r>
                  <a:rPr sz="2400" b="0">
                    <a:solidFill>
                      <a:srgbClr val="111827"/>
                    </a:solidFill>
                    <a:latin typeface="Arial"/>
                  </a:rPr>
                  <a:t> (sharing one digit): </a:t>
                </a:r>
                <a:r>
                  <a:rPr lang="en-IN" sz="2400">
                    <a:solidFill>
                      <a:srgbClr val="111827"/>
                    </a:solidFill>
                    <a:latin typeface="Cambria Math" panose="02040503050406030204" pitchFamily="18" charset="0"/>
                  </a:rPr>
                  <a:t>$\frac{5!}{2!}=60$</a:t>
                </a:r>
                <a:r>
                  <a:rPr sz="2400" b="0">
                    <a:solidFill>
                      <a:srgbClr val="111827"/>
                    </a:solidFill>
                    <a:latin typeface="Arial"/>
                  </a:rPr>
                  <a:t> each. </a:t>
                </a:r>
                <a:r>
                  <a:rPr lang="en-IN" sz="2400">
                    <a:solidFill>
                      <a:srgbClr val="111827"/>
                    </a:solidFill>
                    <a:latin typeface="Cambria Math" panose="02040503050406030204" pitchFamily="18" charset="0"/>
                  </a:rPr>
                  <a:t>$S_2=240+120=360$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Triples of occurrences: no number has more than three A.P. triples, and the strings having exactly three number </a:t>
                </a:r>
                <a:r>
                  <a:rPr lang="en-IN" sz="2400">
                    <a:solidFill>
                      <a:srgbClr val="111827"/>
                    </a:solidFill>
                    <a:latin typeface="Cambria Math" panose="02040503050406030204" pitchFamily="18" charset="0"/>
                  </a:rPr>
                  <a:t>$S_3=44$</a:t>
                </a:r>
                <a:r>
                  <a:rPr sz="2400" b="0">
                    <a:solidFill>
                      <a:srgbClr val="111827"/>
                    </a:solidFill>
                    <a:latin typeface="Arial"/>
                  </a:rPr>
                  <a:t> (found by systematic enumeration).</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strings with at least one A.P. triple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exact multiplicities: exactly one triple </a:t>
                </a:r>
                <a14:m>
                  <m:oMath xmlns:m="http://schemas.openxmlformats.org/officeDocument/2006/math">
                    <m:r>
                      <a:rPr lang="en-IN" sz="2400" i="1">
                        <a:solidFill>
                          <a:srgbClr val="111827"/>
                        </a:solidFill>
                        <a:latin typeface="Cambria Math" panose="02040503050406030204" pitchFamily="18" charset="0"/>
                      </a:rPr>
                      <m:t>672</m:t>
                    </m:r>
                  </m:oMath>
                </a14:m>
                <a:r>
                  <a:rPr sz="2400" b="0">
                    <a:solidFill>
                      <a:srgbClr val="111827"/>
                    </a:solidFill>
                    <a:latin typeface="Arial"/>
                  </a:rPr>
                  <a:t>, exactly two </a:t>
                </a:r>
                <a14:m>
                  <m:oMath xmlns:m="http://schemas.openxmlformats.org/officeDocument/2006/math">
                    <m:r>
                      <a:rPr lang="en-IN" sz="2400" i="1">
                        <a:solidFill>
                          <a:srgbClr val="111827"/>
                        </a:solidFill>
                        <a:latin typeface="Cambria Math" panose="02040503050406030204" pitchFamily="18" charset="0"/>
                      </a:rPr>
                      <m:t>228</m:t>
                    </m:r>
                  </m:oMath>
                </a14:m>
                <a:r>
                  <a:rPr sz="2400" b="0">
                    <a:solidFill>
                      <a:srgbClr val="111827"/>
                    </a:solidFill>
                    <a:latin typeface="Arial"/>
                  </a:rPr>
                  <a:t>, exactly three </a:t>
                </a:r>
                <a14:m>
                  <m:oMath xmlns:m="http://schemas.openxmlformats.org/officeDocument/2006/math">
                    <m:r>
                      <a:rPr lang="en-IN" sz="2400" i="1">
                        <a:solidFill>
                          <a:srgbClr val="111827"/>
                        </a:solidFill>
                        <a:latin typeface="Cambria Math" panose="02040503050406030204" pitchFamily="18" charset="0"/>
                      </a:rPr>
                      <m:t>44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944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strings with at least one A.P. triple </a:t>
                </a:r>
                <a:r>
                  <a:rPr lang="en-IN" sz="2400">
                    <a:solidFill>
                      <a:srgbClr val="111827"/>
                    </a:solidFill>
                    <a:latin typeface="Cambria Math" panose="02040503050406030204" pitchFamily="18" charset="0"/>
                  </a:rPr>
                  <a:t>$=S_1-S_2+S_3=1260-360+44=944$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exact multiplicities: exactly one triple </a:t>
                </a:r>
                <a:r>
                  <a:rPr lang="en-IN" sz="2400">
                    <a:solidFill>
                      <a:srgbClr val="111827"/>
                    </a:solidFill>
                    <a:latin typeface="Cambria Math" panose="02040503050406030204" pitchFamily="18" charset="0"/>
                  </a:rPr>
                  <a:t>$672$</a:t>
                </a:r>
                <a:r>
                  <a:rPr sz="2400" b="0">
                    <a:solidFill>
                      <a:srgbClr val="111827"/>
                    </a:solidFill>
                    <a:latin typeface="Arial"/>
                  </a:rPr>
                  <a:t>, exactly two </a:t>
                </a:r>
                <a:r>
                  <a:rPr lang="en-IN" sz="2400">
                    <a:solidFill>
                      <a:srgbClr val="111827"/>
                    </a:solidFill>
                    <a:latin typeface="Cambria Math" panose="02040503050406030204" pitchFamily="18" charset="0"/>
                  </a:rPr>
                  <a:t>$228$</a:t>
                </a:r>
                <a:r>
                  <a:rPr sz="2400" b="0">
                    <a:solidFill>
                      <a:srgbClr val="111827"/>
                    </a:solidFill>
                    <a:latin typeface="Arial"/>
                  </a:rPr>
                  <a:t>, exactly three </a:t>
                </a:r>
                <a:r>
                  <a:rPr lang="en-IN" sz="2400">
                    <a:solidFill>
                      <a:srgbClr val="111827"/>
                    </a:solidFill>
                    <a:latin typeface="Cambria Math" panose="02040503050406030204" pitchFamily="18" charset="0"/>
                  </a:rPr>
                  <a:t>$44$</a:t>
                </a:r>
                <a:r>
                  <a:rPr sz="2400" b="0">
                    <a:solidFill>
                      <a:srgbClr val="111827"/>
                    </a:solidFill>
                    <a:latin typeface="Arial"/>
                  </a:rPr>
                  <a:t>; </a:t>
                </a:r>
                <a:r>
                  <a:rPr lang="en-IN" sz="2400">
                    <a:solidFill>
                      <a:srgbClr val="111827"/>
                    </a:solidFill>
                    <a:latin typeface="Cambria Math" panose="02040503050406030204" pitchFamily="18" charset="0"/>
                  </a:rPr>
                  <a:t>$672+228+44=944$</a:t>
                </a:r>
                <a:r>
                  <a:rPr sz="2400" b="0">
                    <a:solidFill>
                      <a:srgbClr val="111827"/>
                    </a:solidFill>
                    <a:latin typeface="Arial"/>
                  </a:rPr>
                  <a:t> and </a:t>
                </a:r>
                <a:r>
                  <a:rPr lang="en-IN" sz="2400">
                    <a:solidFill>
                      <a:srgbClr val="111827"/>
                    </a:solidFill>
                    <a:latin typeface="Cambria Math" panose="02040503050406030204" pitchFamily="18" charset="0"/>
                  </a:rPr>
                  <a:t>$672+2\cdot228+3\cdot44=1260=S_1$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944</a:t>
            </a:r>
            <a:endParaRPr sz="2800">
              <a:solidFill>
                <a:srgbClr val="15803D"/>
              </a:solidFill>
            </a:endParaRP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once' counts are never obtained by gluing a single block: use inclusion-exclusion over the sets of occurrences, or count the complement.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Blocks can overlap when the pattern's end can start another occurrence (here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oMath>
                </a14:m>
                <a:r>
                  <a:rPr sz="2400" b="0">
                    <a:solidFill>
                      <a:srgbClr val="111827"/>
                    </a:solidFill>
                    <a:latin typeface="Arial"/>
                  </a:rPr>
                  <a:t> share the digit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non-overlapping occurrences of one pattern are simple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𝑝𝑎𝑖𝑟𝑠 𝑐𝑜𝑢𝑛𝑡𝑒𝑑 𝑏𝑦 𝑔𝑙𝑢𝑖𝑛𝑔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𝑚</m:t>
                        </m:r>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𝑚</m:t>
                        </m:r>
                      </m:sub>
                    </m:sSub>
                  </m:oMath>
                </a14:m>
                <a:r>
                  <a:rPr sz="2400" b="0">
                    <a:solidFill>
                      <a:srgbClr val="111827"/>
                    </a:solidFill>
                    <a:latin typeface="Arial"/>
                  </a:rPr>
                  <a:t>; if this exceeds the number of strings with at least one occurrence, multiple occurrences exist.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once' counts are never obtained by gluing a single block: use inclusion-exclusion over the sets of occurrences, or count the complement.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Blocks can overlap when the pattern's end can start another occurrence (here </a:t>
                </a:r>
                <a:r>
                  <a:rPr lang="en-IN" sz="2400">
                    <a:solidFill>
                      <a:srgbClr val="111827"/>
                    </a:solidFill>
                    <a:latin typeface="Cambria Math" panose="02040503050406030204" pitchFamily="18" charset="0"/>
                  </a:rPr>
                  <a:t>$abc$</a:t>
                </a:r>
                <a:r>
                  <a:rPr sz="2400" b="0">
                    <a:solidFill>
                      <a:srgbClr val="111827"/>
                    </a:solidFill>
                    <a:latin typeface="Arial"/>
                  </a:rPr>
                  <a:t> then </a:t>
                </a:r>
                <a:r>
                  <a:rPr lang="en-IN" sz="2400">
                    <a:solidFill>
                      <a:srgbClr val="111827"/>
                    </a:solidFill>
                    <a:latin typeface="Cambria Math" panose="02040503050406030204" pitchFamily="18" charset="0"/>
                  </a:rPr>
                  <a:t>$cba$</a:t>
                </a:r>
                <a:r>
                  <a:rPr sz="2400" b="0">
                    <a:solidFill>
                      <a:srgbClr val="111827"/>
                    </a:solidFill>
                    <a:latin typeface="Arial"/>
                  </a:rPr>
                  <a:t> share the digit </a:t>
                </a:r>
                <a:r>
                  <a:rPr lang="en-IN" sz="2400">
                    <a:solidFill>
                      <a:srgbClr val="111827"/>
                    </a:solidFill>
                    <a:latin typeface="Cambria Math" panose="02040503050406030204" pitchFamily="18" charset="0"/>
                  </a:rPr>
                  <a:t>$c$</a:t>
                </a:r>
                <a:r>
                  <a:rPr sz="2400" b="0">
                    <a:solidFill>
                      <a:srgbClr val="111827"/>
                    </a:solidFill>
                    <a:latin typeface="Arial"/>
                  </a:rPr>
                  <a:t>); non-overlapping occurrences of one pattern are simple </a:t>
                </a:r>
                <a:r>
                  <a:rPr lang="en-IN" sz="2400">
                    <a:solidFill>
                      <a:srgbClr val="111827"/>
                    </a:solidFill>
                    <a:latin typeface="Cambria Math" panose="02040503050406030204" pitchFamily="18" charset="0"/>
                  </a:rPr>
                  <a:t>$\frac{(n-2j)!}{j!\cdots}$</a:t>
                </a:r>
                <a:r>
                  <a:rPr sz="2400" b="0">
                    <a:solidFill>
                      <a:srgbClr val="111827"/>
                    </a:solidFill>
                    <a:latin typeface="Arial"/>
                  </a:rPr>
                  <a:t>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t>
                </a:r>
                <a:r>
                  <a:rPr lang="en-IN" sz="2400">
                    <a:solidFill>
                      <a:srgbClr val="111827"/>
                    </a:solidFill>
                    <a:latin typeface="Cambria Math" panose="02040503050406030204" pitchFamily="18" charset="0"/>
                  </a:rPr>
                  <a:t>$(\text{pairs counted by gluing})=\sum_m m\cdot n_m$</a:t>
                </a:r>
                <a:r>
                  <a:rPr sz="2400" b="0">
                    <a:solidFill>
                      <a:srgbClr val="111827"/>
                    </a:solidFill>
                    <a:latin typeface="Arial"/>
                  </a:rPr>
                  <a:t>; if this exceeds the number of strings with at least one occurrence, multiple occurrences exist.</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seven digit positive integers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only and sum of the digits equal to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is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seven digit positive integers formed using the digits </a:t>
                </a:r>
                <a:r>
                  <a:rPr lang="en-IN" sz="2400">
                    <a:solidFill>
                      <a:srgbClr val="111827"/>
                    </a:solidFill>
                    <a:latin typeface="Cambria Math" panose="02040503050406030204" pitchFamily="18" charset="0"/>
                  </a:rPr>
                  <a:t>$1,2,3$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only and sum of the digits equal to </a:t>
                </a:r>
                <a:r>
                  <a:rPr lang="en-IN" sz="2400">
                    <a:solidFill>
                      <a:srgbClr val="111827"/>
                    </a:solidFill>
                    <a:latin typeface="Cambria Math" panose="02040503050406030204" pitchFamily="18" charset="0"/>
                  </a:rPr>
                  <a:t>$12$</a:t>
                </a:r>
                <a:r>
                  <a:rPr sz="2400" b="0">
                    <a:solidFill>
                      <a:srgbClr val="111827"/>
                    </a:solidFill>
                    <a:latin typeface="Arial"/>
                  </a:rPr>
                  <a:t> is ______. [JEE(Main) April 2023]</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solutions with upper and lower bounds (generating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Digits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after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bound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matters only through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which can happen in one place.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Digits </a:t>
                </a:r>
                <a:r>
                  <a:rPr lang="en-IN" sz="2400">
                    <a:solidFill>
                      <a:srgbClr val="78350F"/>
                    </a:solidFill>
                    <a:latin typeface="Cambria Math" panose="02040503050406030204" pitchFamily="18" charset="0"/>
                  </a:rPr>
                  <a:t>$x_i\in\{1,2,3,4\}$</a:t>
                </a:r>
                <a:r>
                  <a:rPr sz="2400" b="0">
                    <a:solidFill>
                      <a:srgbClr val="78350F"/>
                    </a:solidFill>
                    <a:latin typeface="Arial"/>
                  </a:rPr>
                  <a:t> with </a:t>
                </a:r>
                <a:r>
                  <a:rPr lang="en-IN" sz="2400">
                    <a:solidFill>
                      <a:srgbClr val="78350F"/>
                    </a:solidFill>
                    <a:latin typeface="Cambria Math" panose="02040503050406030204" pitchFamily="18" charset="0"/>
                  </a:rPr>
                  <a:t>$\sum x_i=12$</a:t>
                </a:r>
                <a:r>
                  <a:rPr sz="2400" b="0">
                    <a:solidFill>
                      <a:srgbClr val="78350F"/>
                    </a:solidFill>
                    <a:latin typeface="Arial"/>
                  </a:rPr>
                  <a:t>: after </a:t>
                </a:r>
                <a:r>
                  <a:rPr lang="en-IN" sz="2400">
                    <a:solidFill>
                      <a:srgbClr val="78350F"/>
                    </a:solidFill>
                    <a:latin typeface="Cambria Math" panose="02040503050406030204" pitchFamily="18" charset="0"/>
                  </a:rPr>
                  <a:t>$y_i=x_i-1$</a:t>
                </a:r>
                <a:r>
                  <a:rPr sz="2400" b="0">
                    <a:solidFill>
                      <a:srgbClr val="78350F"/>
                    </a:solidFill>
                    <a:latin typeface="Arial"/>
                  </a:rPr>
                  <a:t> the bound </a:t>
                </a:r>
                <a:r>
                  <a:rPr lang="en-IN" sz="2400">
                    <a:solidFill>
                      <a:srgbClr val="78350F"/>
                    </a:solidFill>
                    <a:latin typeface="Cambria Math" panose="02040503050406030204" pitchFamily="18" charset="0"/>
                  </a:rPr>
                  <a:t>$y_i\le3$</a:t>
                </a:r>
                <a:r>
                  <a:rPr sz="2400" b="0">
                    <a:solidFill>
                      <a:srgbClr val="78350F"/>
                    </a:solidFill>
                    <a:latin typeface="Arial"/>
                  </a:rPr>
                  <a:t> matters only through </a:t>
                </a:r>
                <a:r>
                  <a:rPr lang="en-IN" sz="2400">
                    <a:solidFill>
                      <a:srgbClr val="78350F"/>
                    </a:solidFill>
                    <a:latin typeface="Cambria Math" panose="02040503050406030204" pitchFamily="18" charset="0"/>
                  </a:rPr>
                  <a:t>$y_i\ge4$</a:t>
                </a:r>
                <a:r>
                  <a:rPr sz="2400" b="0">
                    <a:solidFill>
                      <a:srgbClr val="78350F"/>
                    </a:solidFill>
                    <a:latin typeface="Arial"/>
                  </a:rPr>
                  <a:t>, which can happen in one place.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digits be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digits be </a:t>
                </a:r>
                <a:r>
                  <a:rPr lang="en-IN" sz="2400">
                    <a:solidFill>
                      <a:srgbClr val="111827"/>
                    </a:solidFill>
                    <a:latin typeface="Cambria Math" panose="02040503050406030204" pitchFamily="18" charset="0"/>
                  </a:rPr>
                  <a:t>$x_1,\dots,x_7\in\{1,2,3,4\}$</a:t>
                </a:r>
                <a:r>
                  <a:rPr sz="2400" b="0">
                    <a:solidFill>
                      <a:srgbClr val="111827"/>
                    </a:solidFill>
                    <a:latin typeface="Arial"/>
                  </a:rPr>
                  <a:t> with </a:t>
                </a:r>
                <a:r>
                  <a:rPr lang="en-IN" sz="2400">
                    <a:solidFill>
                      <a:srgbClr val="111827"/>
                    </a:solidFill>
                    <a:latin typeface="Cambria Math" panose="02040503050406030204" pitchFamily="18" charset="0"/>
                  </a:rPr>
                  <a:t>$x_1+\dots+x_7=12$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$x^{12}$</a:t>
                </a:r>
                <a:r>
                  <a:rPr sz="2400" b="0">
                    <a:solidFill>
                      <a:srgbClr val="111827"/>
                    </a:solidFill>
                    <a:latin typeface="Arial"/>
                  </a:rPr>
                  <a:t> in </a:t>
                </a:r>
                <a:r>
                  <a:rPr lang="en-IN" sz="2400">
                    <a:solidFill>
                      <a:srgbClr val="111827"/>
                    </a:solidFill>
                    <a:latin typeface="Cambria Math" panose="02040503050406030204" pitchFamily="18" charset="0"/>
                  </a:rPr>
                  <a:t>$(x+x^2+x^3+x^4)^7$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$(1+x+x^2+x^3)^7=(1-x^4)^7(1-x)^{-7}$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oMath>
                </a14:m>
                <a:r>
                  <a:rPr sz="2400" b="0">
                    <a:solidFill>
                      <a:srgbClr val="111827"/>
                    </a:solidFill>
                    <a:latin typeface="Arial"/>
                  </a:rPr>
                  <a:t> (higher powers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do not matter),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integers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$(1-7x^4)\,(1-x)^{-7}$</a:t>
                </a:r>
                <a:r>
                  <a:rPr sz="2400" b="0">
                    <a:solidFill>
                      <a:srgbClr val="111827"/>
                    </a:solidFill>
                    <a:latin typeface="Arial"/>
                  </a:rPr>
                  <a:t> (higher powers of </a:t>
                </a:r>
                <a:r>
                  <a:rPr lang="en-IN" sz="2400">
                    <a:solidFill>
                      <a:srgbClr val="111827"/>
                    </a:solidFill>
                    <a:latin typeface="Cambria Math" panose="02040503050406030204" pitchFamily="18" charset="0"/>
                  </a:rPr>
                  <a:t>$x^4$</a:t>
                </a:r>
                <a:r>
                  <a:rPr sz="2400" b="0">
                    <a:solidFill>
                      <a:srgbClr val="111827"/>
                    </a:solidFill>
                    <a:latin typeface="Arial"/>
                  </a:rPr>
                  <a:t> do not matter), where </a:t>
                </a:r>
                <a:r>
                  <a:rPr lang="en-IN" sz="2400">
                    <a:solidFill>
                      <a:srgbClr val="111827"/>
                    </a:solidFill>
                    <a:latin typeface="Cambria Math" panose="02040503050406030204" pitchFamily="18" charset="0"/>
                  </a:rPr>
                  <a:t>$(1-x)^{-7}=\sum_{r\ge0}{}^{7+r-1}C_r\,x^r$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$={}^{11}C_5-7\times{}^{7}C_1=462-49$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integers </a:t>
                </a:r>
                <a:r>
                  <a:rPr lang="en-IN" sz="2400">
                    <a:solidFill>
                      <a:srgbClr val="111827"/>
                    </a:solidFill>
                    <a:latin typeface="Cambria Math" panose="02040503050406030204" pitchFamily="18" charset="0"/>
                  </a:rPr>
                  <a:t>$=413$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413</a:t>
            </a:r>
            <a:endParaRPr sz="2800">
              <a:solidFill>
                <a:srgbClr val="15803D"/>
              </a:solidFill>
            </a:endParaRP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digits by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and enumerate how the extra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units are spread over the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places by part sizes.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digits by </a:t>
                </a:r>
                <a:r>
                  <a:rPr lang="en-IN" sz="2400">
                    <a:solidFill>
                      <a:srgbClr val="78350F"/>
                    </a:solidFill>
                    <a:latin typeface="Cambria Math" panose="02040503050406030204" pitchFamily="18" charset="0"/>
                  </a:rPr>
                  <a:t>$1$</a:t>
                </a:r>
                <a:r>
                  <a:rPr sz="2400" b="0">
                    <a:solidFill>
                      <a:srgbClr val="78350F"/>
                    </a:solidFill>
                    <a:latin typeface="Arial"/>
                  </a:rPr>
                  <a:t> and enumerate how the extra </a:t>
                </a:r>
                <a:r>
                  <a:rPr lang="en-IN" sz="2400">
                    <a:solidFill>
                      <a:srgbClr val="78350F"/>
                    </a:solidFill>
                    <a:latin typeface="Cambria Math" panose="02040503050406030204" pitchFamily="18" charset="0"/>
                  </a:rPr>
                  <a:t>$5$</a:t>
                </a:r>
                <a:r>
                  <a:rPr sz="2400" b="0">
                    <a:solidFill>
                      <a:srgbClr val="78350F"/>
                    </a:solidFill>
                    <a:latin typeface="Arial"/>
                  </a:rPr>
                  <a:t> units are spread over the </a:t>
                </a:r>
                <a:r>
                  <a:rPr lang="en-IN" sz="2400">
                    <a:solidFill>
                      <a:srgbClr val="78350F"/>
                    </a:solidFill>
                    <a:latin typeface="Cambria Math" panose="02040503050406030204" pitchFamily="18" charset="0"/>
                  </a:rPr>
                  <a:t>$7$</a:t>
                </a:r>
                <a:r>
                  <a:rPr sz="2400" b="0">
                    <a:solidFill>
                      <a:srgbClr val="78350F"/>
                    </a:solidFill>
                    <a:latin typeface="Arial"/>
                  </a:rPr>
                  <a:t> places by part sizes.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Partitions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into parts at most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the number of ways to place them in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positions: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$y_i=x_i-1\in\{0,1,2,3\}$</a:t>
                </a:r>
                <a:r>
                  <a:rPr sz="2400" b="0">
                    <a:solidFill>
                      <a:srgbClr val="111827"/>
                    </a:solidFill>
                    <a:latin typeface="Arial"/>
                  </a:rPr>
                  <a:t>; then </a:t>
                </a:r>
                <a:r>
                  <a:rPr lang="en-IN" sz="2400">
                    <a:solidFill>
                      <a:srgbClr val="111827"/>
                    </a:solidFill>
                    <a:latin typeface="Cambria Math" panose="02040503050406030204" pitchFamily="18" charset="0"/>
                  </a:rPr>
                  <a:t>$y_1+\dots+y_7=5$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Partitions of </a:t>
                </a:r>
                <a:r>
                  <a:rPr lang="en-IN" sz="2400">
                    <a:solidFill>
                      <a:srgbClr val="111827"/>
                    </a:solidFill>
                    <a:latin typeface="Cambria Math" panose="02040503050406030204" pitchFamily="18" charset="0"/>
                  </a:rPr>
                  <a:t>$5$</a:t>
                </a:r>
                <a:r>
                  <a:rPr sz="2400" b="0">
                    <a:solidFill>
                      <a:srgbClr val="111827"/>
                    </a:solidFill>
                    <a:latin typeface="Arial"/>
                  </a:rPr>
                  <a:t> into parts at most </a:t>
                </a:r>
                <a:r>
                  <a:rPr lang="en-IN" sz="2400">
                    <a:solidFill>
                      <a:srgbClr val="111827"/>
                    </a:solidFill>
                    <a:latin typeface="Cambria Math" panose="02040503050406030204" pitchFamily="18" charset="0"/>
                  </a:rPr>
                  <a:t>$3$</a:t>
                </a:r>
                <a:r>
                  <a:rPr sz="2400" b="0">
                    <a:solidFill>
                      <a:srgbClr val="111827"/>
                    </a:solidFill>
                    <a:latin typeface="Arial"/>
                  </a:rPr>
                  <a:t> and the number of ways to place them in the </a:t>
                </a:r>
                <a:r>
                  <a:rPr lang="en-IN" sz="2400">
                    <a:solidFill>
                      <a:srgbClr val="111827"/>
                    </a:solidFill>
                    <a:latin typeface="Cambria Math" panose="02040503050406030204" pitchFamily="18" charset="0"/>
                  </a:rPr>
                  <a:t>$7$</a:t>
                </a:r>
                <a:r>
                  <a:rPr sz="2400" b="0">
                    <a:solidFill>
                      <a:srgbClr val="111827"/>
                    </a:solidFill>
                    <a:latin typeface="Arial"/>
                  </a:rPr>
                  <a:t> positions: </a:t>
                </a:r>
                <a:r>
                  <a:rPr lang="en-IN" sz="2400">
                    <a:solidFill>
                      <a:srgbClr val="111827"/>
                    </a:solidFill>
                    <a:latin typeface="Cambria Math" panose="02040503050406030204" pitchFamily="18" charset="0"/>
                  </a:rPr>
                  <a:t>$\{3,2\}$</a:t>
                </a:r>
                <a:r>
                  <a:rPr sz="2400" b="0">
                    <a:solidFill>
                      <a:srgbClr val="111827"/>
                    </a:solidFill>
                    <a:latin typeface="Arial"/>
                  </a:rPr>
                  <a:t>: </a:t>
                </a:r>
                <a:r>
                  <a:rPr lang="en-IN" sz="2400">
                    <a:solidFill>
                      <a:srgbClr val="111827"/>
                    </a:solidFill>
                    <a:latin typeface="Cambria Math" panose="02040503050406030204" pitchFamily="18" charset="0"/>
                  </a:rPr>
                  <a:t>$7\cdot6=42$</a:t>
                </a:r>
                <a:r>
                  <a:rPr sz="2400" b="0">
                    <a:solidFill>
                      <a:srgbClr val="111827"/>
                    </a:solidFill>
                    <a:latin typeface="Arial"/>
                  </a:rPr>
                  <a:t>; </a:t>
                </a:r>
                <a:r>
                  <a:rPr lang="en-IN" sz="2400">
                    <a:solidFill>
                      <a:srgbClr val="111827"/>
                    </a:solidFill>
                    <a:latin typeface="Cambria Math" panose="02040503050406030204" pitchFamily="18" charset="0"/>
                  </a:rPr>
                  <a:t>$\{3,1,1\}$</a:t>
                </a:r>
                <a:r>
                  <a:rPr sz="2400" b="0">
                    <a:solidFill>
                      <a:srgbClr val="111827"/>
                    </a:solidFill>
                    <a:latin typeface="Arial"/>
                  </a:rPr>
                  <a:t>: </a:t>
                </a:r>
                <a:r>
                  <a:rPr lang="en-IN" sz="2400">
                    <a:solidFill>
                      <a:srgbClr val="111827"/>
                    </a:solidFill>
                    <a:latin typeface="Cambria Math" panose="02040503050406030204" pitchFamily="18" charset="0"/>
                  </a:rPr>
                  <a:t>$7\cdot\binom62=105$</a:t>
                </a:r>
                <a:r>
                  <a:rPr sz="2400" b="0">
                    <a:solidFill>
                      <a:srgbClr val="111827"/>
                    </a:solidFill>
                    <a:latin typeface="Arial"/>
                  </a:rPr>
                  <a:t>; </a:t>
                </a:r>
                <a:r>
                  <a:rPr lang="en-IN" sz="2400">
                    <a:solidFill>
                      <a:srgbClr val="111827"/>
                    </a:solidFill>
                    <a:latin typeface="Cambria Math" panose="02040503050406030204" pitchFamily="18" charset="0"/>
                  </a:rPr>
                  <a:t>$\{2,2,1\}$</a:t>
                </a:r>
                <a:r>
                  <a:rPr sz="2400" b="0">
                    <a:solidFill>
                      <a:srgbClr val="111827"/>
                    </a:solidFill>
                    <a:latin typeface="Arial"/>
                  </a:rPr>
                  <a:t>: </a:t>
                </a:r>
                <a:r>
                  <a:rPr lang="en-IN" sz="2400">
                    <a:solidFill>
                      <a:srgbClr val="111827"/>
                    </a:solidFill>
                    <a:latin typeface="Cambria Math" panose="02040503050406030204" pitchFamily="18" charset="0"/>
                  </a:rPr>
                  <a:t>$\binom72\cdot5=105$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$\{2,1,1,1\}$</a:t>
                </a:r>
                <a:r>
                  <a:rPr sz="2400" b="0">
                    <a:solidFill>
                      <a:srgbClr val="111827"/>
                    </a:solidFill>
                    <a:latin typeface="Arial"/>
                  </a:rPr>
                  <a:t>: </a:t>
                </a:r>
                <a:r>
                  <a:rPr lang="en-IN" sz="2400">
                    <a:solidFill>
                      <a:srgbClr val="111827"/>
                    </a:solidFill>
                    <a:latin typeface="Cambria Math" panose="02040503050406030204" pitchFamily="18" charset="0"/>
                  </a:rPr>
                  <a:t>$7\cdot\binom63=140$</a:t>
                </a:r>
                <a:r>
                  <a:rPr sz="2400" b="0">
                    <a:solidFill>
                      <a:srgbClr val="111827"/>
                    </a:solidFill>
                    <a:latin typeface="Arial"/>
                  </a:rPr>
                  <a:t>; </a:t>
                </a:r>
                <a:r>
                  <a:rPr lang="en-IN" sz="2400">
                    <a:solidFill>
                      <a:srgbClr val="111827"/>
                    </a:solidFill>
                    <a:latin typeface="Cambria Math" panose="02040503050406030204" pitchFamily="18" charset="0"/>
                  </a:rPr>
                  <a:t>$\{1,1,1,1,1\}$</a:t>
                </a:r>
                <a:r>
                  <a:rPr sz="2400" b="0">
                    <a:solidFill>
                      <a:srgbClr val="111827"/>
                    </a:solidFill>
                    <a:latin typeface="Arial"/>
                  </a:rPr>
                  <a:t>: </a:t>
                </a:r>
                <a:r>
                  <a:rPr lang="en-IN" sz="2400">
                    <a:solidFill>
                      <a:srgbClr val="111827"/>
                    </a:solidFill>
                    <a:latin typeface="Cambria Math" panose="02040503050406030204" pitchFamily="18" charset="0"/>
                  </a:rPr>
                  <a:t>$\binom75=21$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$=42+105+105+140+21=413$</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413</a:t>
            </a:r>
            <a:endParaRPr sz="2800">
              <a:solidFill>
                <a:srgbClr val="15803D"/>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expand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only as far as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inclusion-exclusion: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Digit-sum problems: shift digits by their minimum so the lower bound becomes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coefficient of </a:t>
                </a:r>
                <a:r>
                  <a:rPr lang="en-IN" sz="2400">
                    <a:solidFill>
                      <a:srgbClr val="111827"/>
                    </a:solidFill>
                    <a:latin typeface="Cambria Math" panose="02040503050406030204" pitchFamily="18" charset="0"/>
                  </a:rPr>
                  <a:t>$x^n$</a:t>
                </a:r>
                <a:r>
                  <a:rPr sz="2400" b="0">
                    <a:solidFill>
                      <a:srgbClr val="111827"/>
                    </a:solidFill>
                    <a:latin typeface="Arial"/>
                  </a:rPr>
                  <a:t> in </a:t>
                </a:r>
                <a:r>
                  <a:rPr lang="en-IN" sz="2400">
                    <a:solidFill>
                      <a:srgbClr val="111827"/>
                    </a:solidFill>
                    <a:latin typeface="Cambria Math" panose="02040503050406030204" pitchFamily="18" charset="0"/>
                  </a:rPr>
                  <a:t>$\left(\frac{1-x^{m+1}}{1-x}\right)^k$</a:t>
                </a:r>
                <a:r>
                  <a:rPr sz="2400" b="0">
                    <a:solidFill>
                      <a:srgbClr val="111827"/>
                    </a:solidFill>
                    <a:latin typeface="Arial"/>
                  </a:rPr>
                  <a:t>; expand </a:t>
                </a:r>
                <a:r>
                  <a:rPr lang="en-IN" sz="2400">
                    <a:solidFill>
                      <a:srgbClr val="111827"/>
                    </a:solidFill>
                    <a:latin typeface="Cambria Math" panose="02040503050406030204" pitchFamily="18" charset="0"/>
                  </a:rPr>
                  <a:t>$(1-x^{m+1})^k$</a:t>
                </a:r>
                <a:r>
                  <a:rPr sz="2400" b="0">
                    <a:solidFill>
                      <a:srgbClr val="111827"/>
                    </a:solidFill>
                    <a:latin typeface="Arial"/>
                  </a:rPr>
                  <a:t> only as far as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inclusion-exclusion: </a:t>
                </a:r>
                <a:r>
                  <a:rPr lang="en-IN" sz="2400">
                    <a:solidFill>
                      <a:srgbClr val="111827"/>
                    </a:solidFill>
                    <a:latin typeface="Cambria Math" panose="02040503050406030204" pitchFamily="18" charset="0"/>
                  </a:rPr>
                  <a:t>$\binom{n+k-1}{k-1}-k\binom{n-(m+1)+k-1}{k-1}+\cdots$</a:t>
                </a:r>
                <a:r>
                  <a:rPr sz="2400" b="0">
                    <a:solidFill>
                      <a:srgbClr val="111827"/>
                    </a:solidFill>
                    <a:latin typeface="Arial"/>
                  </a:rPr>
                  <a:t>; here </a:t>
                </a:r>
                <a:r>
                  <a:rPr lang="en-IN" sz="2400">
                    <a:solidFill>
                      <a:srgbClr val="111827"/>
                    </a:solidFill>
                    <a:latin typeface="Cambria Math" panose="02040503050406030204" pitchFamily="18" charset="0"/>
                  </a:rPr>
                  <a:t>$\binom{11}{6}-7\binom{7}{6}=462-49$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Digit-sum problems: shift digits by their minimum so the lower bound becomes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Total numbers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that are 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can be formed by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repetition, is ______. [JEE(Main) April 2023]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Total numbers of </a:t>
                </a:r>
                <a:r>
                  <a:rPr lang="en-IN" sz="2400">
                    <a:solidFill>
                      <a:srgbClr val="111827"/>
                    </a:solidFill>
                    <a:latin typeface="Cambria Math" panose="02040503050406030204" pitchFamily="18" charset="0"/>
                  </a:rPr>
                  <a:t>$3$</a:t>
                </a:r>
                <a:r>
                  <a:rPr sz="2400" b="0">
                    <a:solidFill>
                      <a:srgbClr val="111827"/>
                    </a:solidFill>
                    <a:latin typeface="Arial"/>
                  </a:rPr>
                  <a:t>-digit numbers that are divisible by </a:t>
                </a:r>
                <a:r>
                  <a:rPr lang="en-IN" sz="2400">
                    <a:solidFill>
                      <a:srgbClr val="111827"/>
                    </a:solidFill>
                    <a:latin typeface="Cambria Math" panose="02040503050406030204" pitchFamily="18" charset="0"/>
                  </a:rPr>
                  <a:t>$6$</a:t>
                </a:r>
                <a:r>
                  <a:rPr sz="2400" b="0">
                    <a:solidFill>
                      <a:srgbClr val="111827"/>
                    </a:solidFill>
                    <a:latin typeface="Arial"/>
                  </a:rPr>
                  <a:t> and can be formed by using the digits </a:t>
                </a:r>
                <a:r>
                  <a:rPr lang="en-IN" sz="2400">
                    <a:solidFill>
                      <a:srgbClr val="111827"/>
                    </a:solidFill>
                    <a:latin typeface="Cambria Math" panose="02040503050406030204" pitchFamily="18" charset="0"/>
                  </a:rPr>
                  <a:t>$1,2,3,4,5$</a:t>
                </a:r>
                <a:r>
                  <a:rPr sz="2400" b="0">
                    <a:solidFill>
                      <a:srgbClr val="111827"/>
                    </a:solidFill>
                    <a:latin typeface="Arial"/>
                  </a:rPr>
                  <a:t> with repetition, is ______. [JEE(Main) April 2023]</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6 in digit counting (parity and digit sum)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Even unit digit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and digit sum divisible by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the first two digits must have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Even unit digit (</a:t>
                </a:r>
                <a:r>
                  <a:rPr lang="en-IN" sz="2400">
                    <a:solidFill>
                      <a:srgbClr val="78350F"/>
                    </a:solidFill>
                    <a:latin typeface="Cambria Math" panose="02040503050406030204" pitchFamily="18" charset="0"/>
                  </a:rPr>
                  <a:t>$2$</a:t>
                </a:r>
                <a:r>
                  <a:rPr sz="2400" b="0">
                    <a:solidFill>
                      <a:srgbClr val="78350F"/>
                    </a:solidFill>
                    <a:latin typeface="Arial"/>
                  </a:rPr>
                  <a:t> or </a:t>
                </a:r>
                <a:r>
                  <a:rPr lang="en-IN" sz="2400">
                    <a:solidFill>
                      <a:srgbClr val="78350F"/>
                    </a:solidFill>
                    <a:latin typeface="Cambria Math" panose="02040503050406030204" pitchFamily="18" charset="0"/>
                  </a:rPr>
                  <a:t>$4$</a:t>
                </a:r>
                <a:r>
                  <a:rPr sz="2400" b="0">
                    <a:solidFill>
                      <a:srgbClr val="78350F"/>
                    </a:solidFill>
                    <a:latin typeface="Arial"/>
                  </a:rPr>
                  <a:t>) and digit sum divisible by </a:t>
                </a:r>
                <a:r>
                  <a:rPr lang="en-IN" sz="2400">
                    <a:solidFill>
                      <a:srgbClr val="78350F"/>
                    </a:solidFill>
                    <a:latin typeface="Cambria Math" panose="02040503050406030204" pitchFamily="18" charset="0"/>
                  </a:rPr>
                  <a:t>$3$</a:t>
                </a:r>
                <a:r>
                  <a:rPr sz="2400" b="0">
                    <a:solidFill>
                      <a:srgbClr val="78350F"/>
                    </a:solidFill>
                    <a:latin typeface="Arial"/>
                  </a:rPr>
                  <a:t>: the first two digits must have sum </a:t>
                </a:r>
                <a:r>
                  <a:rPr lang="en-IN" sz="2400">
                    <a:solidFill>
                      <a:srgbClr val="78350F"/>
                    </a:solidFill>
                    <a:latin typeface="Cambria Math" panose="02040503050406030204" pitchFamily="18" charset="0"/>
                  </a:rPr>
                  <a:t>$\equiv1$</a:t>
                </a:r>
                <a:r>
                  <a:rPr sz="2400" b="0">
                    <a:solidFill>
                      <a:srgbClr val="78350F"/>
                    </a:solidFill>
                    <a:latin typeface="Arial"/>
                  </a:rPr>
                  <a:t> (for </a:t>
                </a:r>
                <a:r>
                  <a:rPr lang="en-IN" sz="2400">
                    <a:solidFill>
                      <a:srgbClr val="78350F"/>
                    </a:solidFill>
                    <a:latin typeface="Cambria Math" panose="02040503050406030204" pitchFamily="18" charset="0"/>
                  </a:rPr>
                  <a:t>$2$</a:t>
                </a:r>
                <a:r>
                  <a:rPr sz="2400" b="0">
                    <a:solidFill>
                      <a:srgbClr val="78350F"/>
                    </a:solidFill>
                    <a:latin typeface="Arial"/>
                  </a:rPr>
                  <a:t>) or </a:t>
                </a:r>
                <a:r>
                  <a:rPr lang="en-IN" sz="2400">
                    <a:solidFill>
                      <a:srgbClr val="78350F"/>
                    </a:solidFill>
                    <a:latin typeface="Cambria Math" panose="02040503050406030204" pitchFamily="18" charset="0"/>
                  </a:rPr>
                  <a:t>$\equiv2$</a:t>
                </a:r>
                <a:r>
                  <a:rPr sz="2400" b="0">
                    <a:solidFill>
                      <a:srgbClr val="78350F"/>
                    </a:solidFill>
                    <a:latin typeface="Arial"/>
                  </a:rPr>
                  <a:t> (for </a:t>
                </a:r>
                <a:r>
                  <a:rPr lang="en-IN" sz="2400">
                    <a:solidFill>
                      <a:srgbClr val="78350F"/>
                    </a:solidFill>
                    <a:latin typeface="Cambria Math" panose="02040503050406030204" pitchFamily="18" charset="0"/>
                  </a:rPr>
                  <a:t>$4$</a:t>
                </a:r>
                <a:r>
                  <a:rPr sz="2400" b="0">
                    <a:solidFill>
                      <a:srgbClr val="78350F"/>
                    </a:solidFill>
                    <a:latin typeface="Arial"/>
                  </a:rPr>
                  <a:t>) mod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even and digit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unit digit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mod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digits: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unit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 first two digits must have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$6$</a:t>
                </a:r>
                <a:r>
                  <a:rPr sz="2400" b="0">
                    <a:solidFill>
                      <a:srgbClr val="111827"/>
                    </a:solidFill>
                    <a:latin typeface="Arial"/>
                  </a:rPr>
                  <a:t>: even and digit sum divisible by </a:t>
                </a:r>
                <a:r>
                  <a:rPr lang="en-IN" sz="2400">
                    <a:solidFill>
                      <a:srgbClr val="111827"/>
                    </a:solidFill>
                    <a:latin typeface="Cambria Math" panose="02040503050406030204" pitchFamily="18" charset="0"/>
                  </a:rPr>
                  <a:t>$3$</a:t>
                </a:r>
                <a:r>
                  <a:rPr sz="2400" b="0">
                    <a:solidFill>
                      <a:srgbClr val="111827"/>
                    </a:solidFill>
                    <a:latin typeface="Arial"/>
                  </a:rPr>
                  <a:t>. The unit digit is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mod </a:t>
                </a:r>
                <a:r>
                  <a:rPr lang="en-IN" sz="2400">
                    <a:solidFill>
                      <a:srgbClr val="111827"/>
                    </a:solidFill>
                    <a:latin typeface="Cambria Math" panose="02040503050406030204" pitchFamily="18" charset="0"/>
                  </a:rPr>
                  <a:t>$3$</a:t>
                </a:r>
                <a:r>
                  <a:rPr sz="2400" b="0">
                    <a:solidFill>
                      <a:srgbClr val="111827"/>
                    </a:solidFill>
                    <a:latin typeface="Arial"/>
                  </a:rPr>
                  <a:t> of the digits: </a:t>
                </a:r>
                <a:r>
                  <a:rPr lang="en-IN" sz="2400">
                    <a:solidFill>
                      <a:srgbClr val="111827"/>
                    </a:solidFill>
                    <a:latin typeface="Cambria Math" panose="02040503050406030204" pitchFamily="18" charset="0"/>
                  </a:rPr>
                  <a:t>$3\to0$</a:t>
                </a:r>
                <a:r>
                  <a:rPr sz="2400" b="0">
                    <a:solidFill>
                      <a:srgbClr val="111827"/>
                    </a:solidFill>
                    <a:latin typeface="Arial"/>
                  </a:rPr>
                  <a:t>; </a:t>
                </a:r>
                <a:r>
                  <a:rPr lang="en-IN" sz="2400">
                    <a:solidFill>
                      <a:srgbClr val="111827"/>
                    </a:solidFill>
                    <a:latin typeface="Cambria Math" panose="02040503050406030204" pitchFamily="18" charset="0"/>
                  </a:rPr>
                  <a:t>$1,4\to1$</a:t>
                </a:r>
                <a:r>
                  <a:rPr sz="2400" b="0">
                    <a:solidFill>
                      <a:srgbClr val="111827"/>
                    </a:solidFill>
                    <a:latin typeface="Arial"/>
                  </a:rPr>
                  <a:t>; </a:t>
                </a:r>
                <a:r>
                  <a:rPr lang="en-IN" sz="2400">
                    <a:solidFill>
                      <a:srgbClr val="111827"/>
                    </a:solidFill>
                    <a:latin typeface="Cambria Math" panose="02040503050406030204" pitchFamily="18" charset="0"/>
                  </a:rPr>
                  <a:t>$2,5\to2$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a:t>
                </a:r>
                <a:r>
                  <a:rPr sz="2400" b="0">
                    <a:solidFill>
                      <a:srgbClr val="111827"/>
                    </a:solidFill>
                    <a:latin typeface="Arial"/>
                  </a:rPr>
                  <a:t>: unit digit </a:t>
                </a:r>
                <a:r>
                  <a:rPr lang="en-IN" sz="2400">
                    <a:solidFill>
                      <a:srgbClr val="111827"/>
                    </a:solidFill>
                    <a:latin typeface="Cambria Math" panose="02040503050406030204" pitchFamily="18" charset="0"/>
                  </a:rPr>
                  <a:t>$2$</a:t>
                </a:r>
                <a:r>
                  <a:rPr sz="2400" b="0">
                    <a:solidFill>
                      <a:srgbClr val="111827"/>
                    </a:solidFill>
                    <a:latin typeface="Arial"/>
                  </a:rPr>
                  <a:t>. The first two digits must have sum </a:t>
                </a:r>
                <a:r>
                  <a:rPr lang="en-IN" sz="2400">
                    <a:solidFill>
                      <a:srgbClr val="111827"/>
                    </a:solidFill>
                    <a:latin typeface="Cambria Math" panose="02040503050406030204" pitchFamily="18" charset="0"/>
                  </a:rPr>
                  <a:t>$\equiv1\pmod3$</a:t>
                </a:r>
                <a:r>
                  <a:rPr sz="2400" b="0">
                    <a:solidFill>
                      <a:srgbClr val="111827"/>
                    </a:solidFill>
                    <a:latin typeface="Arial"/>
                  </a:rPr>
                  <a:t>: residues </a:t>
                </a:r>
                <a:r>
                  <a:rPr lang="en-IN" sz="2400">
                    <a:solidFill>
                      <a:srgbClr val="111827"/>
                    </a:solidFill>
                    <a:latin typeface="Cambria Math" panose="02040503050406030204" pitchFamily="18" charset="0"/>
                  </a:rPr>
                  <a:t>$(0,1)$</a:t>
                </a:r>
                <a:r>
                  <a:rPr sz="2400" b="0">
                    <a:solidFill>
                      <a:srgbClr val="111827"/>
                    </a:solidFill>
                    <a:latin typeface="Arial"/>
                  </a:rPr>
                  <a:t> or </a:t>
                </a:r>
                <a:r>
                  <a:rPr lang="en-IN" sz="2400">
                    <a:solidFill>
                      <a:srgbClr val="111827"/>
                    </a:solidFill>
                    <a:latin typeface="Cambria Math" panose="02040503050406030204" pitchFamily="18" charset="0"/>
                  </a:rPr>
                  <a:t>$(1,0)$</a:t>
                </a:r>
                <a:r>
                  <a:rPr sz="2400" b="0">
                    <a:solidFill>
                      <a:srgbClr val="111827"/>
                    </a:solidFill>
                    <a:latin typeface="Arial"/>
                  </a:rPr>
                  <a:t> give </a:t>
                </a:r>
                <a:r>
                  <a:rPr lang="en-IN" sz="2400">
                    <a:solidFill>
                      <a:srgbClr val="111827"/>
                    </a:solidFill>
                    <a:latin typeface="Cambria Math" panose="02040503050406030204" pitchFamily="18" charset="0"/>
                  </a:rPr>
                  <a:t>$1\times2$</a:t>
                </a:r>
                <a:r>
                  <a:rPr sz="2400" b="0">
                    <a:solidFill>
                      <a:srgbClr val="111827"/>
                    </a:solidFill>
                    <a:latin typeface="Arial"/>
                  </a:rPr>
                  <a:t> each </a:t>
                </a:r>
                <a:r>
                  <a:rPr lang="en-IN" sz="2400">
                    <a:solidFill>
                      <a:srgbClr val="111827"/>
                    </a:solidFill>
                    <a:latin typeface="Cambria Math" panose="02040503050406030204" pitchFamily="18" charset="0"/>
                  </a:rPr>
                  <a:t>$=4$</a:t>
                </a:r>
                <a:r>
                  <a:rPr sz="2400" b="0">
                    <a:solidFill>
                      <a:srgbClr val="111827"/>
                    </a:solidFill>
                    <a:latin typeface="Arial"/>
                  </a:rPr>
                  <a:t>, residues </a:t>
                </a:r>
                <a:r>
                  <a:rPr lang="en-IN" sz="2400">
                    <a:solidFill>
                      <a:srgbClr val="111827"/>
                    </a:solidFill>
                    <a:latin typeface="Cambria Math" panose="02040503050406030204" pitchFamily="18" charset="0"/>
                  </a:rPr>
                  <a:t>$(2,2)$</a:t>
                </a:r>
                <a:r>
                  <a:rPr sz="2400" b="0">
                    <a:solidFill>
                      <a:srgbClr val="111827"/>
                    </a:solidFill>
                    <a:latin typeface="Arial"/>
                  </a:rPr>
                  <a:t> give </a:t>
                </a:r>
                <a:r>
                  <a:rPr lang="en-IN" sz="2400">
                    <a:solidFill>
                      <a:srgbClr val="111827"/>
                    </a:solidFill>
                    <a:latin typeface="Cambria Math" panose="02040503050406030204" pitchFamily="18" charset="0"/>
                  </a:rPr>
                  <a:t>$2\times2=4$</a:t>
                </a:r>
                <a:r>
                  <a:rPr sz="2400" b="0">
                    <a:solidFill>
                      <a:srgbClr val="111827"/>
                    </a:solidFill>
                    <a:latin typeface="Arial"/>
                  </a:rPr>
                  <a:t>. Total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unit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 first two digits must have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$2$</a:t>
                </a:r>
                <a:r>
                  <a:rPr sz="2400" b="0">
                    <a:solidFill>
                      <a:srgbClr val="111827"/>
                    </a:solidFill>
                    <a:latin typeface="Arial"/>
                  </a:rPr>
                  <a:t>: unit digit </a:t>
                </a:r>
                <a:r>
                  <a:rPr lang="en-IN" sz="2400">
                    <a:solidFill>
                      <a:srgbClr val="111827"/>
                    </a:solidFill>
                    <a:latin typeface="Cambria Math" panose="02040503050406030204" pitchFamily="18" charset="0"/>
                  </a:rPr>
                  <a:t>$4$</a:t>
                </a:r>
                <a:r>
                  <a:rPr sz="2400" b="0">
                    <a:solidFill>
                      <a:srgbClr val="111827"/>
                    </a:solidFill>
                    <a:latin typeface="Arial"/>
                  </a:rPr>
                  <a:t>. The first two digits must have sum </a:t>
                </a:r>
                <a:r>
                  <a:rPr lang="en-IN" sz="2400">
                    <a:solidFill>
                      <a:srgbClr val="111827"/>
                    </a:solidFill>
                    <a:latin typeface="Cambria Math" panose="02040503050406030204" pitchFamily="18" charset="0"/>
                  </a:rPr>
                  <a:t>$\equiv2\pmod3$</a:t>
                </a:r>
                <a:r>
                  <a:rPr sz="2400" b="0">
                    <a:solidFill>
                      <a:srgbClr val="111827"/>
                    </a:solidFill>
                    <a:latin typeface="Arial"/>
                  </a:rPr>
                  <a:t>: residues </a:t>
                </a:r>
                <a:r>
                  <a:rPr lang="en-IN" sz="2400">
                    <a:solidFill>
                      <a:srgbClr val="111827"/>
                    </a:solidFill>
                    <a:latin typeface="Cambria Math" panose="02040503050406030204" pitchFamily="18" charset="0"/>
                  </a:rPr>
                  <a:t>$(0,2)$</a:t>
                </a:r>
                <a:r>
                  <a:rPr sz="2400" b="0">
                    <a:solidFill>
                      <a:srgbClr val="111827"/>
                    </a:solidFill>
                    <a:latin typeface="Arial"/>
                  </a:rPr>
                  <a:t> or </a:t>
                </a:r>
                <a:r>
                  <a:rPr lang="en-IN" sz="2400">
                    <a:solidFill>
                      <a:srgbClr val="111827"/>
                    </a:solidFill>
                    <a:latin typeface="Cambria Math" panose="02040503050406030204" pitchFamily="18" charset="0"/>
                  </a:rPr>
                  <a:t>$(2,0)$</a:t>
                </a:r>
                <a:r>
                  <a:rPr sz="2400" b="0">
                    <a:solidFill>
                      <a:srgbClr val="111827"/>
                    </a:solidFill>
                    <a:latin typeface="Arial"/>
                  </a:rPr>
                  <a:t> give </a:t>
                </a:r>
                <a:r>
                  <a:rPr lang="en-IN" sz="2400">
                    <a:solidFill>
                      <a:srgbClr val="111827"/>
                    </a:solidFill>
                    <a:latin typeface="Cambria Math" panose="02040503050406030204" pitchFamily="18" charset="0"/>
                  </a:rPr>
                  <a:t>$1\times2$</a:t>
                </a:r>
                <a:r>
                  <a:rPr sz="2400" b="0">
                    <a:solidFill>
                      <a:srgbClr val="111827"/>
                    </a:solidFill>
                    <a:latin typeface="Arial"/>
                  </a:rPr>
                  <a:t> each </a:t>
                </a:r>
                <a:r>
                  <a:rPr lang="en-IN" sz="2400">
                    <a:solidFill>
                      <a:srgbClr val="111827"/>
                    </a:solidFill>
                    <a:latin typeface="Cambria Math" panose="02040503050406030204" pitchFamily="18" charset="0"/>
                  </a:rPr>
                  <a:t>$=4$</a:t>
                </a:r>
                <a:r>
                  <a:rPr sz="2400" b="0">
                    <a:solidFill>
                      <a:srgbClr val="111827"/>
                    </a:solidFill>
                    <a:latin typeface="Arial"/>
                  </a:rPr>
                  <a:t>, residues </a:t>
                </a:r>
                <a:r>
                  <a:rPr lang="en-IN" sz="2400">
                    <a:solidFill>
                      <a:srgbClr val="111827"/>
                    </a:solidFill>
                    <a:latin typeface="Cambria Math" panose="02040503050406030204" pitchFamily="18" charset="0"/>
                  </a:rPr>
                  <a:t>$(1,1)$</a:t>
                </a:r>
                <a:r>
                  <a:rPr sz="2400" b="0">
                    <a:solidFill>
                      <a:srgbClr val="111827"/>
                    </a:solidFill>
                    <a:latin typeface="Arial"/>
                  </a:rPr>
                  <a:t> give </a:t>
                </a:r>
                <a:r>
                  <a:rPr lang="en-IN" sz="2400">
                    <a:solidFill>
                      <a:srgbClr val="111827"/>
                    </a:solidFill>
                    <a:latin typeface="Cambria Math" panose="02040503050406030204" pitchFamily="18" charset="0"/>
                  </a:rPr>
                  <a:t>$2\times2=4$</a:t>
                </a:r>
                <a:r>
                  <a:rPr sz="2400" b="0">
                    <a:solidFill>
                      <a:srgbClr val="111827"/>
                    </a:solidFill>
                    <a:latin typeface="Arial"/>
                  </a:rPr>
                  <a:t>. Total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numbers </a:t>
                </a:r>
                <a:r>
                  <a:rPr lang="en-IN" sz="2400">
                    <a:solidFill>
                      <a:srgbClr val="111827"/>
                    </a:solidFill>
                    <a:latin typeface="Cambria Math" panose="02040503050406030204" pitchFamily="18" charset="0"/>
                  </a:rPr>
                  <a:t>$=8+8=16$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List the multiples of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directly, grouped by the hundreds digit.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List the multiples of </a:t>
                </a:r>
                <a:r>
                  <a:rPr lang="en-IN" sz="2400">
                    <a:solidFill>
                      <a:srgbClr val="78350F"/>
                    </a:solidFill>
                    <a:latin typeface="Cambria Math" panose="02040503050406030204" pitchFamily="18" charset="0"/>
                  </a:rPr>
                  <a:t>$6$</a:t>
                </a:r>
                <a:r>
                  <a:rPr sz="2400" b="0">
                    <a:solidFill>
                      <a:srgbClr val="78350F"/>
                    </a:solidFill>
                    <a:latin typeface="Arial"/>
                  </a:rPr>
                  <a:t> directly, grouped by the hundreds digit.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with all digits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hundreds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Hundreds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oMath>
                </a14:m>
                <a:r>
                  <a:rPr sz="2400" b="0">
                    <a:solidFill>
                      <a:srgbClr val="111827"/>
                    </a:solidFill>
                    <a:latin typeface="Arial"/>
                  </a:rPr>
                  <a:t>. Hundreds digit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Hundreds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444</m:t>
                    </m:r>
                  </m:oMath>
                </a14:m>
                <a:r>
                  <a:rPr sz="2400" b="0">
                    <a:solidFill>
                      <a:srgbClr val="111827"/>
                    </a:solidFill>
                    <a:latin typeface="Arial"/>
                  </a:rPr>
                  <a:t>. Hundreds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$6$</a:t>
                </a:r>
                <a:r>
                  <a:rPr sz="2400" b="0">
                    <a:solidFill>
                      <a:srgbClr val="111827"/>
                    </a:solidFill>
                    <a:latin typeface="Arial"/>
                  </a:rPr>
                  <a:t> with all digits in </a:t>
                </a:r>
                <a:r>
                  <a:rPr lang="en-IN" sz="2400">
                    <a:solidFill>
                      <a:srgbClr val="111827"/>
                    </a:solidFill>
                    <a:latin typeface="Cambria Math" panose="02040503050406030204" pitchFamily="18" charset="0"/>
                  </a:rPr>
                  <a:t>$\{1,2,3,4,5\}$</a:t>
                </a:r>
                <a:r>
                  <a:rPr sz="2400" b="0">
                    <a:solidFill>
                      <a:srgbClr val="111827"/>
                    </a:solidFill>
                    <a:latin typeface="Arial"/>
                  </a:rPr>
                  <a:t>, hundreds digit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$114,132,144$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Hundreds digit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$222,234,252$</a:t>
                </a:r>
                <a:r>
                  <a:rPr sz="2400" b="0">
                    <a:solidFill>
                      <a:srgbClr val="111827"/>
                    </a:solidFill>
                    <a:latin typeface="Arial"/>
                  </a:rPr>
                  <a:t>. Hundreds digit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$312,324,342,354$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Hundreds digit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$414,432,444$</a:t>
                </a:r>
                <a:r>
                  <a:rPr sz="2400" b="0">
                    <a:solidFill>
                      <a:srgbClr val="111827"/>
                    </a:solidFill>
                    <a:latin typeface="Arial"/>
                  </a:rPr>
                  <a:t>. Hundreds digit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$522,534,552$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$=3+3+4+3+3=16$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last digit even and digit sum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classes of the available digits give weights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the first two digits' residue sum is then counted by convolution.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check: the pairs of first two digits have residue-sum counts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for sums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$6$</a:t>
                </a:r>
                <a:r>
                  <a:rPr sz="2400" b="0">
                    <a:solidFill>
                      <a:srgbClr val="111827"/>
                    </a:solidFill>
                    <a:latin typeface="Arial"/>
                  </a:rPr>
                  <a:t>: last digit even and digit sum a multiple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 classes of the available digits give weights </a:t>
                </a:r>
                <a:r>
                  <a:rPr lang="en-IN" sz="2400">
                    <a:solidFill>
                      <a:srgbClr val="111827"/>
                    </a:solidFill>
                    <a:latin typeface="Cambria Math" panose="02040503050406030204" pitchFamily="18" charset="0"/>
                  </a:rPr>
                  <a:t>$(1,2,2)$</a:t>
                </a:r>
                <a:r>
                  <a:rPr sz="2400" b="0">
                    <a:solidFill>
                      <a:srgbClr val="111827"/>
                    </a:solidFill>
                    <a:latin typeface="Arial"/>
                  </a:rPr>
                  <a:t> for residues </a:t>
                </a:r>
                <a:r>
                  <a:rPr lang="en-IN" sz="2400">
                    <a:solidFill>
                      <a:srgbClr val="111827"/>
                    </a:solidFill>
                    <a:latin typeface="Cambria Math" panose="02040503050406030204" pitchFamily="18" charset="0"/>
                  </a:rPr>
                  <a:t>$(0,1,2)$</a:t>
                </a:r>
                <a:r>
                  <a:rPr sz="2400" b="0">
                    <a:solidFill>
                      <a:srgbClr val="111827"/>
                    </a:solidFill>
                    <a:latin typeface="Arial"/>
                  </a:rPr>
                  <a:t> here; the first two digits' residue sum is then counted by convolution.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check: the pairs of first two digits have residue-sum counts </a:t>
                </a:r>
                <a:r>
                  <a:rPr lang="en-IN" sz="2400">
                    <a:solidFill>
                      <a:srgbClr val="111827"/>
                    </a:solidFill>
                    <a:latin typeface="Cambria Math" panose="02040503050406030204" pitchFamily="18" charset="0"/>
                  </a:rPr>
                  <a:t>$9,8,8$</a:t>
                </a:r>
                <a:r>
                  <a:rPr sz="2400" b="0">
                    <a:solidFill>
                      <a:srgbClr val="111827"/>
                    </a:solidFill>
                    <a:latin typeface="Arial"/>
                  </a:rPr>
                  <a:t> for sums </a:t>
                </a:r>
                <a:r>
                  <a:rPr lang="en-IN" sz="2400">
                    <a:solidFill>
                      <a:srgbClr val="111827"/>
                    </a:solidFill>
                    <a:latin typeface="Cambria Math" panose="02040503050406030204" pitchFamily="18" charset="0"/>
                  </a:rPr>
                  <a:t>$0,1,2$</a:t>
                </a:r>
                <a:r>
                  <a:rPr sz="2400" b="0">
                    <a:solidFill>
                      <a:srgbClr val="111827"/>
                    </a:solidFill>
                    <a:latin typeface="Arial"/>
                  </a:rPr>
                  <a:t>; </a:t>
                </a:r>
                <a:r>
                  <a:rPr lang="en-IN" sz="2400">
                    <a:solidFill>
                      <a:srgbClr val="111827"/>
                    </a:solidFill>
                    <a:latin typeface="Cambria Math" panose="02040503050406030204" pitchFamily="18" charset="0"/>
                  </a:rPr>
                  <a:t>$8+8=16$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person forgets his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ATM pin code. But he remembers that in the code all the digits are different, the greatest digit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the sum of the first two digits is equal to the sum of the last two digits. Then the maximum number of trials necessary to obtain the correct code is ______. [JEE(Main) April 2023]</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person forgets his </a:t>
                </a:r>
                <a:r>
                  <a:rPr lang="en-IN" sz="2400">
                    <a:solidFill>
                      <a:srgbClr val="111827"/>
                    </a:solidFill>
                    <a:latin typeface="Cambria Math" panose="02040503050406030204" pitchFamily="18" charset="0"/>
                  </a:rPr>
                  <a:t>$4$</a:t>
                </a:r>
                <a:r>
                  <a:rPr sz="2400" b="0">
                    <a:solidFill>
                      <a:srgbClr val="111827"/>
                    </a:solidFill>
                    <a:latin typeface="Arial"/>
                  </a:rPr>
                  <a:t>-digit ATM pin code. But he remembers that in the code all the digits are different, the greatest digit is </a:t>
                </a:r>
                <a:r>
                  <a:rPr lang="en-IN" sz="2400">
                    <a:solidFill>
                      <a:srgbClr val="111827"/>
                    </a:solidFill>
                    <a:latin typeface="Cambria Math" panose="02040503050406030204" pitchFamily="18" charset="0"/>
                  </a:rPr>
                  <a:t>$7$</a:t>
                </a:r>
                <a:r>
                  <a:rPr sz="2400" b="0">
                    <a:solidFill>
                      <a:srgbClr val="111827"/>
                    </a:solidFill>
                    <a:latin typeface="Arial"/>
                  </a:rPr>
                  <a:t> and the sum of the first two digits is equal to the sum of the last two digits. Then the maximum number of trials necessary to obtain the correct code is ______. [JEE(Main) April 2023]</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codes with distinctness, maximum-digit and equal-sum conditions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the common sum </a:t>
                </a:r>
                <a14:m>
                  <m:oMath xmlns:m="http://schemas.openxmlformats.org/officeDocument/2006/math">
                    <m:r>
                      <a:rPr lang="en-IN" sz="2400" i="1">
                        <a:solidFill>
                          <a:srgbClr val="78350F"/>
                        </a:solidFill>
                        <a:latin typeface="Cambria Math" panose="02040503050406030204" pitchFamily="18" charset="0"/>
                      </a:rPr>
                      <m:t>𝑠</m:t>
                    </m:r>
                  </m:oMath>
                </a14:m>
                <a:r>
                  <a:rPr sz="2400" b="0">
                    <a:solidFill>
                      <a:srgbClr val="78350F"/>
                    </a:solidFill>
                    <a:latin typeface="Arial"/>
                  </a:rPr>
                  <a:t> of the two pairs; the digit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must belong to exactly one pair and no digit may exceed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the common sum </a:t>
                </a:r>
                <a:r>
                  <a:rPr lang="en-IN" sz="2400">
                    <a:solidFill>
                      <a:srgbClr val="78350F"/>
                    </a:solidFill>
                    <a:latin typeface="Cambria Math" panose="02040503050406030204" pitchFamily="18" charset="0"/>
                  </a:rPr>
                  <a:t>$s$</a:t>
                </a:r>
                <a:r>
                  <a:rPr sz="2400" b="0">
                    <a:solidFill>
                      <a:srgbClr val="78350F"/>
                    </a:solidFill>
                    <a:latin typeface="Arial"/>
                  </a:rPr>
                  <a:t> of the two pairs; the digit </a:t>
                </a:r>
                <a:r>
                  <a:rPr lang="en-IN" sz="2400">
                    <a:solidFill>
                      <a:srgbClr val="78350F"/>
                    </a:solidFill>
                    <a:latin typeface="Cambria Math" panose="02040503050406030204" pitchFamily="18" charset="0"/>
                  </a:rPr>
                  <a:t>$7$</a:t>
                </a:r>
                <a:r>
                  <a:rPr sz="2400" b="0">
                    <a:solidFill>
                      <a:srgbClr val="78350F"/>
                    </a:solidFill>
                    <a:latin typeface="Arial"/>
                  </a:rPr>
                  <a:t> must belong to exactly one pair and no digit may exceed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code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distinct digits, maximum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The digit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must appear, in one of the two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pairs from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pair must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other is one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pair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other is one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likewise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code be </a:t>
                </a:r>
                <a:r>
                  <a:rPr lang="en-IN" sz="2400">
                    <a:solidFill>
                      <a:srgbClr val="111827"/>
                    </a:solidFill>
                    <a:latin typeface="Cambria Math" panose="02040503050406030204" pitchFamily="18" charset="0"/>
                  </a:rPr>
                  <a:t>$(a,b,c,d)$</a:t>
                </a:r>
                <a:r>
                  <a:rPr sz="2400" b="0">
                    <a:solidFill>
                      <a:srgbClr val="111827"/>
                    </a:solidFill>
                    <a:latin typeface="Arial"/>
                  </a:rPr>
                  <a:t> with distinct digits, maximum </a:t>
                </a:r>
                <a:r>
                  <a:rPr lang="en-IN" sz="2400">
                    <a:solidFill>
                      <a:srgbClr val="111827"/>
                    </a:solidFill>
                    <a:latin typeface="Cambria Math" panose="02040503050406030204" pitchFamily="18" charset="0"/>
                  </a:rPr>
                  <a:t>$7$</a:t>
                </a:r>
                <a:r>
                  <a:rPr sz="2400" b="0">
                    <a:solidFill>
                      <a:srgbClr val="111827"/>
                    </a:solidFill>
                    <a:latin typeface="Arial"/>
                  </a:rPr>
                  <a:t>, and </a:t>
                </a:r>
                <a:r>
                  <a:rPr lang="en-IN" sz="2400">
                    <a:solidFill>
                      <a:srgbClr val="111827"/>
                    </a:solidFill>
                    <a:latin typeface="Cambria Math" panose="02040503050406030204" pitchFamily="18" charset="0"/>
                  </a:rPr>
                  <a:t>$a+b=c+d=s$</a:t>
                </a:r>
                <a:r>
                  <a:rPr sz="2400" b="0">
                    <a:solidFill>
                      <a:srgbClr val="111827"/>
                    </a:solidFill>
                    <a:latin typeface="Arial"/>
                  </a:rPr>
                  <a:t>. The digit </a:t>
                </a:r>
                <a:r>
                  <a:rPr lang="en-IN" sz="2400">
                    <a:solidFill>
                      <a:srgbClr val="111827"/>
                    </a:solidFill>
                    <a:latin typeface="Cambria Math" panose="02040503050406030204" pitchFamily="18" charset="0"/>
                  </a:rPr>
                  <a:t>$7$</a:t>
                </a:r>
                <a:r>
                  <a:rPr sz="2400" b="0">
                    <a:solidFill>
                      <a:srgbClr val="111827"/>
                    </a:solidFill>
                    <a:latin typeface="Arial"/>
                  </a:rPr>
                  <a:t> must appear, in one of the two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$s=7$</a:t>
                </a:r>
                <a:r>
                  <a:rPr sz="2400" b="0">
                    <a:solidFill>
                      <a:srgbClr val="111827"/>
                    </a:solidFill>
                    <a:latin typeface="Arial"/>
                  </a:rPr>
                  <a:t>: pairs from digits </a:t>
                </a:r>
                <a:r>
                  <a:rPr lang="en-IN" sz="2400">
                    <a:solidFill>
                      <a:srgbClr val="111827"/>
                    </a:solidFill>
                    <a:latin typeface="Cambria Math" panose="02040503050406030204" pitchFamily="18" charset="0"/>
                  </a:rPr>
                  <a:t>$\le7$</a:t>
                </a:r>
                <a:r>
                  <a:rPr sz="2400" b="0">
                    <a:solidFill>
                      <a:srgbClr val="111827"/>
                    </a:solidFill>
                    <a:latin typeface="Arial"/>
                  </a:rPr>
                  <a:t>: </a:t>
                </a:r>
                <a:r>
                  <a:rPr lang="en-IN" sz="2400">
                    <a:solidFill>
                      <a:srgbClr val="111827"/>
                    </a:solidFill>
                    <a:latin typeface="Cambria Math" panose="02040503050406030204" pitchFamily="18" charset="0"/>
                  </a:rPr>
                  <a:t>$\{0,7\},\{1,6\},\{2,5\},\{3,4\}$</a:t>
                </a:r>
                <a:r>
                  <a:rPr sz="2400" b="0">
                    <a:solidFill>
                      <a:srgbClr val="111827"/>
                    </a:solidFill>
                    <a:latin typeface="Arial"/>
                  </a:rPr>
                  <a:t>. One pair must be </a:t>
                </a:r>
                <a:r>
                  <a:rPr lang="en-IN" sz="2400">
                    <a:solidFill>
                      <a:srgbClr val="111827"/>
                    </a:solidFill>
                    <a:latin typeface="Cambria Math" panose="02040503050406030204" pitchFamily="18" charset="0"/>
                  </a:rPr>
                  <a:t>$\{0,7\}$</a:t>
                </a:r>
                <a:r>
                  <a:rPr sz="2400" b="0">
                    <a:solidFill>
                      <a:srgbClr val="111827"/>
                    </a:solidFill>
                    <a:latin typeface="Arial"/>
                  </a:rPr>
                  <a:t>; the other is one of </a:t>
                </a:r>
                <a:r>
                  <a:rPr lang="en-IN" sz="2400">
                    <a:solidFill>
                      <a:srgbClr val="111827"/>
                    </a:solidFill>
                    <a:latin typeface="Cambria Math" panose="02040503050406030204" pitchFamily="18" charset="0"/>
                  </a:rPr>
                  <a:t>$3$</a:t>
                </a:r>
                <a:r>
                  <a:rPr sz="2400" b="0">
                    <a:solidFill>
                      <a:srgbClr val="111827"/>
                    </a:solidFill>
                    <a:latin typeface="Arial"/>
                  </a:rPr>
                  <a:t> pairs. Count </a:t>
                </a:r>
                <a:r>
                  <a:rPr lang="en-IN" sz="2400">
                    <a:solidFill>
                      <a:srgbClr val="111827"/>
                    </a:solidFill>
                    <a:latin typeface="Cambria Math" panose="02040503050406030204" pitchFamily="18" charset="0"/>
                  </a:rPr>
                  <a:t>$=2\times2\times(3\times2)=24$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$s=8$</a:t>
                </a:r>
                <a:r>
                  <a:rPr sz="2400" b="0">
                    <a:solidFill>
                      <a:srgbClr val="111827"/>
                    </a:solidFill>
                    <a:latin typeface="Arial"/>
                  </a:rPr>
                  <a:t>: pairs </a:t>
                </a:r>
                <a:r>
                  <a:rPr lang="en-IN" sz="2400">
                    <a:solidFill>
                      <a:srgbClr val="111827"/>
                    </a:solidFill>
                    <a:latin typeface="Cambria Math" panose="02040503050406030204" pitchFamily="18" charset="0"/>
                  </a:rPr>
                  <a:t>$\{1,7\},\{2,6\},\{3,5\}$</a:t>
                </a:r>
                <a:r>
                  <a:rPr sz="2400" b="0">
                    <a:solidFill>
                      <a:srgbClr val="111827"/>
                    </a:solidFill>
                    <a:latin typeface="Arial"/>
                  </a:rPr>
                  <a:t>. One pair is </a:t>
                </a:r>
                <a:r>
                  <a:rPr lang="en-IN" sz="2400">
                    <a:solidFill>
                      <a:srgbClr val="111827"/>
                    </a:solidFill>
                    <a:latin typeface="Cambria Math" panose="02040503050406030204" pitchFamily="18" charset="0"/>
                  </a:rPr>
                  <a:t>$\{1,7\}$</a:t>
                </a:r>
                <a:r>
                  <a:rPr sz="2400" b="0">
                    <a:solidFill>
                      <a:srgbClr val="111827"/>
                    </a:solidFill>
                    <a:latin typeface="Arial"/>
                  </a:rPr>
                  <a:t>; the other is one of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$2\times2\times(2\times2)=16$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$s=9$</a:t>
                </a:r>
                <a:r>
                  <a:rPr sz="2400" b="0">
                    <a:solidFill>
                      <a:srgbClr val="111827"/>
                    </a:solidFill>
                    <a:latin typeface="Arial"/>
                  </a:rPr>
                  <a:t>: pairs </a:t>
                </a:r>
                <a:r>
                  <a:rPr lang="en-IN" sz="2400">
                    <a:solidFill>
                      <a:srgbClr val="111827"/>
                    </a:solidFill>
                    <a:latin typeface="Cambria Math" panose="02040503050406030204" pitchFamily="18" charset="0"/>
                  </a:rPr>
                  <a:t>$\{2,7\},\{3,6\},\{4,5\}$</a:t>
                </a:r>
                <a:r>
                  <a:rPr sz="2400" b="0">
                    <a:solidFill>
                      <a:srgbClr val="111827"/>
                    </a:solidFill>
                    <a:latin typeface="Arial"/>
                  </a:rPr>
                  <a:t>: likewise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only one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available, so no code;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7</m:t>
                    </m:r>
                  </m:oMath>
                </a14:m>
                <a:r>
                  <a:rPr sz="2400" b="0">
                    <a:solidFill>
                      <a:srgbClr val="111827"/>
                    </a:solidFill>
                    <a:latin typeface="Arial"/>
                  </a:rPr>
                  <a:t> has no pair containing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codes (maximum trials)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$s=10$</a:t>
                </a:r>
                <a:r>
                  <a:rPr sz="2400" b="0">
                    <a:solidFill>
                      <a:srgbClr val="111827"/>
                    </a:solidFill>
                    <a:latin typeface="Arial"/>
                  </a:rPr>
                  <a:t>: pairs </a:t>
                </a:r>
                <a:r>
                  <a:rPr lang="en-IN" sz="2400">
                    <a:solidFill>
                      <a:srgbClr val="111827"/>
                    </a:solidFill>
                    <a:latin typeface="Cambria Math" panose="02040503050406030204" pitchFamily="18" charset="0"/>
                  </a:rPr>
                  <a:t>$\{3,7\},\{4,6\}$</a:t>
                </a:r>
                <a:r>
                  <a:rPr sz="2400" b="0">
                    <a:solidFill>
                      <a:srgbClr val="111827"/>
                    </a:solidFill>
                    <a:latin typeface="Arial"/>
                  </a:rPr>
                  <a:t>: </a:t>
                </a:r>
                <a:r>
                  <a:rPr lang="en-IN" sz="2400">
                    <a:solidFill>
                      <a:srgbClr val="111827"/>
                    </a:solidFill>
                    <a:latin typeface="Cambria Math" panose="02040503050406030204" pitchFamily="18" charset="0"/>
                  </a:rPr>
                  <a:t>$2\times2\times(1\times2)=8$</a:t>
                </a:r>
                <a:r>
                  <a:rPr sz="2400" b="0">
                    <a:solidFill>
                      <a:srgbClr val="111827"/>
                    </a:solidFill>
                    <a:latin typeface="Arial"/>
                  </a:rPr>
                  <a:t>. </a:t>
                </a:r>
                <a:r>
                  <a:rPr lang="en-IN" sz="2400">
                    <a:solidFill>
                      <a:srgbClr val="111827"/>
                    </a:solidFill>
                    <a:latin typeface="Cambria Math" panose="02040503050406030204" pitchFamily="18" charset="0"/>
                  </a:rPr>
                  <a:t>$s=11$</a:t>
                </a:r>
                <a:r>
                  <a:rPr sz="2400" b="0">
                    <a:solidFill>
                      <a:srgbClr val="111827"/>
                    </a:solidFill>
                    <a:latin typeface="Arial"/>
                  </a:rPr>
                  <a:t>: pairs </a:t>
                </a:r>
                <a:r>
                  <a:rPr lang="en-IN" sz="2400">
                    <a:solidFill>
                      <a:srgbClr val="111827"/>
                    </a:solidFill>
                    <a:latin typeface="Cambria Math" panose="02040503050406030204" pitchFamily="18" charset="0"/>
                  </a:rPr>
                  <a:t>$\{4,7\},\{5,6\}$</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$s=12$</a:t>
                </a:r>
                <a:r>
                  <a:rPr sz="2400" b="0">
                    <a:solidFill>
                      <a:srgbClr val="111827"/>
                    </a:solidFill>
                    <a:latin typeface="Arial"/>
                  </a:rPr>
                  <a:t> or </a:t>
                </a:r>
                <a:r>
                  <a:rPr lang="en-IN" sz="2400">
                    <a:solidFill>
                      <a:srgbClr val="111827"/>
                    </a:solidFill>
                    <a:latin typeface="Cambria Math" panose="02040503050406030204" pitchFamily="18" charset="0"/>
                  </a:rPr>
                  <a:t>$13$</a:t>
                </a:r>
                <a:r>
                  <a:rPr sz="2400" b="0">
                    <a:solidFill>
                      <a:srgbClr val="111827"/>
                    </a:solidFill>
                    <a:latin typeface="Arial"/>
                  </a:rPr>
                  <a:t>: only one pair (</a:t>
                </a:r>
                <a:r>
                  <a:rPr lang="en-IN" sz="2400">
                    <a:solidFill>
                      <a:srgbClr val="111827"/>
                    </a:solidFill>
                    <a:latin typeface="Cambria Math" panose="02040503050406030204" pitchFamily="18" charset="0"/>
                  </a:rPr>
                  <a:t>$\{5,7\}$</a:t>
                </a:r>
                <a:r>
                  <a:rPr sz="2400" b="0">
                    <a:solidFill>
                      <a:srgbClr val="111827"/>
                    </a:solidFill>
                    <a:latin typeface="Arial"/>
                  </a:rPr>
                  <a:t>, </a:t>
                </a:r>
                <a:r>
                  <a:rPr lang="en-IN" sz="2400">
                    <a:solidFill>
                      <a:srgbClr val="111827"/>
                    </a:solidFill>
                    <a:latin typeface="Cambria Math" panose="02040503050406030204" pitchFamily="18" charset="0"/>
                  </a:rPr>
                  <a:t>$\{6,7\}$</a:t>
                </a:r>
                <a:r>
                  <a:rPr sz="2400" b="0">
                    <a:solidFill>
                      <a:srgbClr val="111827"/>
                    </a:solidFill>
                    <a:latin typeface="Arial"/>
                  </a:rPr>
                  <a:t>) is available, so no code; </a:t>
                </a:r>
                <a:r>
                  <a:rPr lang="en-IN" sz="2400">
                    <a:solidFill>
                      <a:srgbClr val="111827"/>
                    </a:solidFill>
                    <a:latin typeface="Cambria Math" panose="02040503050406030204" pitchFamily="18" charset="0"/>
                  </a:rPr>
                  <a:t>$s&lt;7$</a:t>
                </a:r>
                <a:r>
                  <a:rPr sz="2400" b="0">
                    <a:solidFill>
                      <a:srgbClr val="111827"/>
                    </a:solidFill>
                    <a:latin typeface="Arial"/>
                  </a:rPr>
                  <a:t> has no pair containing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codes (maximum trials) </a:t>
                </a:r>
                <a:r>
                  <a:rPr lang="en-IN" sz="2400">
                    <a:solidFill>
                      <a:srgbClr val="111827"/>
                    </a:solidFill>
                    <a:latin typeface="Cambria Math" panose="02040503050406030204" pitchFamily="18" charset="0"/>
                  </a:rPr>
                  <a:t>$=24+16+16+8+8=72$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72</a:t>
            </a:r>
            <a:endParaRPr sz="2800">
              <a:solidFill>
                <a:srgbClr val="15803D"/>
              </a:solidFill>
            </a:endParaRP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codes with all digits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minus those with all digits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so that the greatest digit is exactly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codes with all digits </a:t>
                </a:r>
                <a:r>
                  <a:rPr lang="en-IN" sz="2400">
                    <a:solidFill>
                      <a:srgbClr val="78350F"/>
                    </a:solidFill>
                    <a:latin typeface="Cambria Math" panose="02040503050406030204" pitchFamily="18" charset="0"/>
                  </a:rPr>
                  <a:t>$\le7$</a:t>
                </a:r>
                <a:r>
                  <a:rPr sz="2400" b="0">
                    <a:solidFill>
                      <a:srgbClr val="78350F"/>
                    </a:solidFill>
                    <a:latin typeface="Arial"/>
                  </a:rPr>
                  <a:t> minus those with all digits </a:t>
                </a:r>
                <a:r>
                  <a:rPr lang="en-IN" sz="2400">
                    <a:solidFill>
                      <a:srgbClr val="78350F"/>
                    </a:solidFill>
                    <a:latin typeface="Cambria Math" panose="02040503050406030204" pitchFamily="18" charset="0"/>
                  </a:rPr>
                  <a:t>$\le6$</a:t>
                </a:r>
                <a:r>
                  <a:rPr sz="2400" b="0">
                    <a:solidFill>
                      <a:srgbClr val="78350F"/>
                    </a:solidFill>
                    <a:latin typeface="Arial"/>
                  </a:rPr>
                  <a:t>, so that the greatest digit is exactly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digits from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number of unordered pairs of distinct digits with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codes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𝑠</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𝑝</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(choose and order two different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176</m:t>
                    </m:r>
                  </m:oMath>
                </a14:m>
                <a:r>
                  <a:rPr sz="2400" b="0">
                    <a:solidFill>
                      <a:srgbClr val="111827"/>
                    </a:solidFill>
                    <a:latin typeface="Arial"/>
                  </a:rPr>
                  <a:t> codes.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digits from </a:t>
                </a:r>
                <a:r>
                  <a:rPr lang="en-IN" sz="2400">
                    <a:solidFill>
                      <a:srgbClr val="111827"/>
                    </a:solidFill>
                    <a:latin typeface="Cambria Math" panose="02040503050406030204" pitchFamily="18" charset="0"/>
                  </a:rPr>
                  <a:t>$0..k$</a:t>
                </a:r>
                <a:r>
                  <a:rPr sz="2400" b="0">
                    <a:solidFill>
                      <a:srgbClr val="111827"/>
                    </a:solidFill>
                    <a:latin typeface="Arial"/>
                  </a:rPr>
                  <a:t> let </a:t>
                </a:r>
                <a:r>
                  <a:rPr lang="en-IN" sz="2400">
                    <a:solidFill>
                      <a:srgbClr val="111827"/>
                    </a:solidFill>
                    <a:latin typeface="Cambria Math" panose="02040503050406030204" pitchFamily="18" charset="0"/>
                  </a:rPr>
                  <a:t>$p(s)$</a:t>
                </a:r>
                <a:r>
                  <a:rPr sz="2400" b="0">
                    <a:solidFill>
                      <a:srgbClr val="111827"/>
                    </a:solidFill>
                    <a:latin typeface="Arial"/>
                  </a:rPr>
                  <a:t> be the number of unordered pairs of distinct digits with sum </a:t>
                </a:r>
                <a:r>
                  <a:rPr lang="en-IN" sz="2400">
                    <a:solidFill>
                      <a:srgbClr val="111827"/>
                    </a:solidFill>
                    <a:latin typeface="Cambria Math" panose="02040503050406030204" pitchFamily="18" charset="0"/>
                  </a:rPr>
                  <a:t>$s$</a:t>
                </a:r>
                <a:r>
                  <a:rPr sz="2400" b="0">
                    <a:solidFill>
                      <a:srgbClr val="111827"/>
                    </a:solidFill>
                    <a:latin typeface="Arial"/>
                  </a:rPr>
                  <a:t>; codes </a:t>
                </a:r>
                <a:r>
                  <a:rPr lang="en-IN" sz="2400">
                    <a:solidFill>
                      <a:srgbClr val="111827"/>
                    </a:solidFill>
                    <a:latin typeface="Cambria Math" panose="02040503050406030204" pitchFamily="18" charset="0"/>
                  </a:rPr>
                  <a:t>$=4\sum_sp(s)\,(p(s)-1)$</a:t>
                </a:r>
                <a:r>
                  <a:rPr sz="2400" b="0">
                    <a:solidFill>
                      <a:srgbClr val="111827"/>
                    </a:solidFill>
                    <a:latin typeface="Arial"/>
                  </a:rPr>
                  <a:t> (choose and order two different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$k=7$</a:t>
                </a:r>
                <a:r>
                  <a:rPr sz="2400" b="0">
                    <a:solidFill>
                      <a:srgbClr val="111827"/>
                    </a:solidFill>
                    <a:latin typeface="Arial"/>
                  </a:rPr>
                  <a:t>: </a:t>
                </a:r>
                <a:r>
                  <a:rPr lang="en-IN" sz="2400">
                    <a:solidFill>
                      <a:srgbClr val="111827"/>
                    </a:solidFill>
                    <a:latin typeface="Cambria Math" panose="02040503050406030204" pitchFamily="18" charset="0"/>
                  </a:rPr>
                  <a:t>$p(s)$</a:t>
                </a:r>
                <a:r>
                  <a:rPr sz="2400" b="0">
                    <a:solidFill>
                      <a:srgbClr val="111827"/>
                    </a:solidFill>
                    <a:latin typeface="Arial"/>
                  </a:rPr>
                  <a:t> for </a:t>
                </a:r>
                <a:r>
                  <a:rPr lang="en-IN" sz="2400">
                    <a:solidFill>
                      <a:srgbClr val="111827"/>
                    </a:solidFill>
                    <a:latin typeface="Cambria Math" panose="02040503050406030204" pitchFamily="18" charset="0"/>
                  </a:rPr>
                  <a:t>$s=1,\dots,13$</a:t>
                </a:r>
                <a:r>
                  <a:rPr sz="2400" b="0">
                    <a:solidFill>
                      <a:srgbClr val="111827"/>
                    </a:solidFill>
                    <a:latin typeface="Arial"/>
                  </a:rPr>
                  <a:t> is </a:t>
                </a:r>
                <a:r>
                  <a:rPr lang="en-IN" sz="2400">
                    <a:solidFill>
                      <a:srgbClr val="111827"/>
                    </a:solidFill>
                    <a:latin typeface="Cambria Math" panose="02040503050406030204" pitchFamily="18" charset="0"/>
                  </a:rPr>
                  <a:t>$1,1,2,2,3,3,4,3,3,2,2,1,1$</a:t>
                </a:r>
                <a:r>
                  <a:rPr sz="2400" b="0">
                    <a:solidFill>
                      <a:srgbClr val="111827"/>
                    </a:solidFill>
                    <a:latin typeface="Arial"/>
                  </a:rPr>
                  <a:t>; </a:t>
                </a:r>
                <a:r>
                  <a:rPr lang="en-IN" sz="2400">
                    <a:solidFill>
                      <a:srgbClr val="111827"/>
                    </a:solidFill>
                    <a:latin typeface="Cambria Math" panose="02040503050406030204" pitchFamily="18" charset="0"/>
                  </a:rPr>
                  <a:t>$\sum p(p-1)=0+0+2+2+6+6+12+6+6+2+2+0+0=44$</a:t>
                </a:r>
                <a:r>
                  <a:rPr sz="2400" b="0">
                    <a:solidFill>
                      <a:srgbClr val="111827"/>
                    </a:solidFill>
                    <a:latin typeface="Arial"/>
                  </a:rPr>
                  <a:t>, so </a:t>
                </a:r>
                <a:r>
                  <a:rPr lang="en-IN" sz="2400">
                    <a:solidFill>
                      <a:srgbClr val="111827"/>
                    </a:solidFill>
                    <a:latin typeface="Cambria Math" panose="02040503050406030204" pitchFamily="18" charset="0"/>
                  </a:rPr>
                  <a:t>$176$</a:t>
                </a:r>
                <a:r>
                  <a:rPr sz="2400" b="0">
                    <a:solidFill>
                      <a:srgbClr val="111827"/>
                    </a:solidFill>
                    <a:latin typeface="Arial"/>
                  </a:rPr>
                  <a:t> codes.</a:t>
                </a:r>
                <a:endParaRPr sz="2400">
                  <a:solidFill>
                    <a:srgbClr val="111827"/>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104</m:t>
                    </m:r>
                  </m:oMath>
                </a14:m>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Greatest digit exactly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$p(s)$</a:t>
                </a:r>
                <a:r>
                  <a:rPr sz="2400" b="0">
                    <a:solidFill>
                      <a:srgbClr val="111827"/>
                    </a:solidFill>
                    <a:latin typeface="Arial"/>
                  </a:rPr>
                  <a:t> for </a:t>
                </a:r>
                <a:r>
                  <a:rPr lang="en-IN" sz="2400">
                    <a:solidFill>
                      <a:srgbClr val="111827"/>
                    </a:solidFill>
                    <a:latin typeface="Cambria Math" panose="02040503050406030204" pitchFamily="18" charset="0"/>
                  </a:rPr>
                  <a:t>$s=1,\dots,11$</a:t>
                </a:r>
                <a:r>
                  <a:rPr sz="2400" b="0">
                    <a:solidFill>
                      <a:srgbClr val="111827"/>
                    </a:solidFill>
                    <a:latin typeface="Arial"/>
                  </a:rPr>
                  <a:t> is </a:t>
                </a:r>
                <a:r>
                  <a:rPr lang="en-IN" sz="2400">
                    <a:solidFill>
                      <a:srgbClr val="111827"/>
                    </a:solidFill>
                    <a:latin typeface="Cambria Math" panose="02040503050406030204" pitchFamily="18" charset="0"/>
                  </a:rPr>
                  <a:t>$1,1,2,2,3,3,3,2,2,1,1$</a:t>
                </a:r>
                <a:r>
                  <a:rPr sz="2400" b="0">
                    <a:solidFill>
                      <a:srgbClr val="111827"/>
                    </a:solidFill>
                    <a:latin typeface="Arial"/>
                  </a:rPr>
                  <a:t>; </a:t>
                </a:r>
                <a:r>
                  <a:rPr lang="en-IN" sz="2400">
                    <a:solidFill>
                      <a:srgbClr val="111827"/>
                    </a:solidFill>
                    <a:latin typeface="Cambria Math" panose="02040503050406030204" pitchFamily="18" charset="0"/>
                  </a:rPr>
                  <a:t>$\sum p(p-1)=26$</a:t>
                </a:r>
                <a:r>
                  <a:rPr sz="2400" b="0">
                    <a:solidFill>
                      <a:srgbClr val="111827"/>
                    </a:solidFill>
                    <a:latin typeface="Arial"/>
                  </a:rPr>
                  <a:t>, so </a:t>
                </a:r>
                <a:r>
                  <a:rPr lang="en-IN" sz="2400">
                    <a:solidFill>
                      <a:srgbClr val="111827"/>
                    </a:solidFill>
                    <a:latin typeface="Cambria Math" panose="02040503050406030204" pitchFamily="18" charset="0"/>
                  </a:rPr>
                  <a:t>$104$</a:t>
                </a:r>
                <a:r>
                  <a:rPr sz="2400" b="0">
                    <a:solidFill>
                      <a:srgbClr val="111827"/>
                    </a:solidFill>
                    <a:latin typeface="Arial"/>
                  </a:rPr>
                  <a:t> codes.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Greatest digit exactly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$176-104=72$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72</a:t>
            </a:r>
            <a:endParaRPr sz="2800">
              <a:solidFill>
                <a:srgbClr val="15803D"/>
              </a:solidFill>
            </a:endParaRP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'Greatest digit is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Codes with two equal-sum pairs: </a:t>
                </a:r>
                <a14:m>
                  <m:oMath xmlns:m="http://schemas.openxmlformats.org/officeDocument/2006/math">
                    <m:r>
                      <a:rPr lang="en-IN" sz="2400" i="1">
                        <a:solidFill>
                          <a:srgbClr val="111827"/>
                        </a:solidFill>
                        <a:latin typeface="Cambria Math" panose="02040503050406030204" pitchFamily="18" charset="0"/>
                      </a:rPr>
                      <m:t>4</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𝑠</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𝑝</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number of unordered pairs of distinct digits with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numeric count with a maximum, always check which sums can actually place the maximum digit.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'Greatest digit is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(all digits </a:t>
                </a:r>
                <a:r>
                  <a:rPr lang="en-IN" sz="2400">
                    <a:solidFill>
                      <a:srgbClr val="111827"/>
                    </a:solidFill>
                    <a:latin typeface="Cambria Math" panose="02040503050406030204" pitchFamily="18" charset="0"/>
                  </a:rPr>
                  <a:t>$\le m$</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(all digits </a:t>
                </a:r>
                <a:r>
                  <a:rPr lang="en-IN" sz="2400">
                    <a:solidFill>
                      <a:srgbClr val="111827"/>
                    </a:solidFill>
                    <a:latin typeface="Cambria Math" panose="02040503050406030204" pitchFamily="18" charset="0"/>
                  </a:rPr>
                  <a:t>$\le 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Codes with two equal-sum pairs: </a:t>
                </a:r>
                <a:r>
                  <a:rPr lang="en-IN" sz="2400">
                    <a:solidFill>
                      <a:srgbClr val="111827"/>
                    </a:solidFill>
                    <a:latin typeface="Cambria Math" panose="02040503050406030204" pitchFamily="18" charset="0"/>
                  </a:rPr>
                  <a:t>$4\sum_s p(s)(p(s)-1)$</a:t>
                </a:r>
                <a:r>
                  <a:rPr sz="2400" b="0">
                    <a:solidFill>
                      <a:srgbClr val="111827"/>
                    </a:solidFill>
                    <a:latin typeface="Arial"/>
                  </a:rPr>
                  <a:t> where </a:t>
                </a:r>
                <a:r>
                  <a:rPr lang="en-IN" sz="2400">
                    <a:solidFill>
                      <a:srgbClr val="111827"/>
                    </a:solidFill>
                    <a:latin typeface="Cambria Math" panose="02040503050406030204" pitchFamily="18" charset="0"/>
                  </a:rPr>
                  <a:t>$p(s)$</a:t>
                </a:r>
                <a:r>
                  <a:rPr sz="2400" b="0">
                    <a:solidFill>
                      <a:srgbClr val="111827"/>
                    </a:solidFill>
                    <a:latin typeface="Arial"/>
                  </a:rPr>
                  <a:t> is the number of unordered pairs of distinct digits with sum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numeric count with a maximum, always check which sums can actually place the maximum digit.</a:t>
                </a:r>
                <a:endParaRPr sz="2400">
                  <a:solidFill>
                    <a:srgbClr val="111827"/>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Q39 – Q43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25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Then: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endParaRPr sz="2400">
                  <a:solidFill>
                    <a:srgbClr val="111827"/>
                  </a:solidFill>
                </a:endParaRPr>
              </a:p>
            </p:txBody>
          </p:sp>
        </mc:Choice>
        <mc:Fallback>
          <p:sp>
            <p:nvSpPr>
              <p:cNvPr id="4" name="Rounded Rectangle 3"/>
              <p:cNvSpPr/>
              <p:nvPr/>
            </p:nvSpPr>
            <p:spPr>
              <a:xfrm>
                <a:off x="731520" y="1280160"/>
                <a:ext cx="10725912" cy="3225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$\alpha=\dfrac{(4!)!}{(4!)^{3!}}$</a:t>
                </a:r>
                <a:r>
                  <a:rPr sz="2400" b="0">
                    <a:solidFill>
                      <a:srgbClr val="111827"/>
                    </a:solidFill>
                    <a:latin typeface="Arial"/>
                  </a:rPr>
                  <a:t> and </a:t>
                </a:r>
                <a:r>
                  <a:rPr lang="en-IN" sz="2400">
                    <a:solidFill>
                      <a:srgbClr val="111827"/>
                    </a:solidFill>
                    <a:latin typeface="Cambria Math" panose="02040503050406030204" pitchFamily="18" charset="0"/>
                  </a:rPr>
                  <a:t>$\beta=\dfrac{(5!)!}{(5!)^{4!}}$</a:t>
                </a:r>
                <a:r>
                  <a:rPr sz="2400" b="0">
                    <a:solidFill>
                      <a:srgbClr val="111827"/>
                    </a:solidFill>
                    <a:latin typeface="Arial"/>
                  </a:rPr>
                  <a:t>. Then: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$\alpha\notin\mathbb N$</a:t>
                </a:r>
                <a:r>
                  <a:rPr sz="2400" b="0">
                    <a:solidFill>
                      <a:srgbClr val="111827"/>
                    </a:solidFill>
                    <a:latin typeface="Arial"/>
                  </a:rPr>
                  <a:t> and </a:t>
                </a:r>
                <a:r>
                  <a:rPr lang="en-IN" sz="2400">
                    <a:solidFill>
                      <a:srgbClr val="111827"/>
                    </a:solidFill>
                    <a:latin typeface="Cambria Math" panose="02040503050406030204" pitchFamily="18" charset="0"/>
                  </a:rPr>
                  <a:t>$\beta\in\mathbb 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$\alpha\in\mathbb N$</a:t>
                </a:r>
                <a:r>
                  <a:rPr sz="2400" b="0">
                    <a:solidFill>
                      <a:srgbClr val="111827"/>
                    </a:solidFill>
                    <a:latin typeface="Arial"/>
                  </a:rPr>
                  <a:t> and </a:t>
                </a:r>
                <a:r>
                  <a:rPr lang="en-IN" sz="2400">
                    <a:solidFill>
                      <a:srgbClr val="111827"/>
                    </a:solidFill>
                    <a:latin typeface="Cambria Math" panose="02040503050406030204" pitchFamily="18" charset="0"/>
                  </a:rPr>
                  <a:t>$\beta\in\mathbb 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$\alpha\notin\mathbb N$</a:t>
                </a:r>
                <a:r>
                  <a:rPr sz="2400" b="0">
                    <a:solidFill>
                      <a:srgbClr val="111827"/>
                    </a:solidFill>
                    <a:latin typeface="Arial"/>
                  </a:rPr>
                  <a:t> and </a:t>
                </a:r>
                <a:r>
                  <a:rPr lang="en-IN" sz="2400">
                    <a:solidFill>
                      <a:srgbClr val="111827"/>
                    </a:solidFill>
                    <a:latin typeface="Cambria Math" panose="02040503050406030204" pitchFamily="18" charset="0"/>
                  </a:rPr>
                  <a:t>$\beta\notin\mathbb 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$\alpha\in\mathbb N$</a:t>
                </a:r>
                <a:r>
                  <a:rPr sz="2400" b="0">
                    <a:solidFill>
                      <a:srgbClr val="111827"/>
                    </a:solidFill>
                    <a:latin typeface="Arial"/>
                  </a:rPr>
                  <a:t> and </a:t>
                </a:r>
                <a:r>
                  <a:rPr lang="en-IN" sz="2400">
                    <a:solidFill>
                      <a:srgbClr val="111827"/>
                    </a:solidFill>
                    <a:latin typeface="Cambria Math" panose="02040503050406030204" pitchFamily="18" charset="0"/>
                  </a:rPr>
                  <a:t>$\beta\notin\mathbb N$</a:t>
                </a:r>
                <a:endParaRPr sz="2400">
                  <a:solidFill>
                    <a:srgbClr val="111827"/>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ways of dividing objects into groups (integrality of factorial quotients)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factorial quotient is a natural number if it equals (or is a multiple of) the number of ways of grouping distinct objects.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24</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$\alpha=\frac{(4!)!}{(4!)^{3!}}=\frac{24!}{(4!)^6}$</a:t>
                </a:r>
                <a:r>
                  <a:rPr sz="2400" b="0">
                    <a:solidFill>
                      <a:srgbClr val="111827"/>
                    </a:solidFill>
                    <a:latin typeface="Arial"/>
                  </a:rPr>
                  <a:t> and </a:t>
                </a:r>
                <a:r>
                  <a:rPr lang="en-IN" sz="2400">
                    <a:solidFill>
                      <a:srgbClr val="111827"/>
                    </a:solidFill>
                    <a:latin typeface="Cambria Math" panose="02040503050406030204" pitchFamily="18" charset="0"/>
                  </a:rPr>
                  <a:t>$\beta=\frac{(5!)!}{(5!)^{4!}}=\frac{120!}{(5!)^{24}}$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divide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unlabelled groups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each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number of ways to divide </a:t>
                </a:r>
                <a14:m>
                  <m:oMath xmlns:m="http://schemas.openxmlformats.org/officeDocument/2006/math">
                    <m:r>
                      <a:rPr lang="en-IN" sz="2400" i="1">
                        <a:solidFill>
                          <a:srgbClr val="111827"/>
                        </a:solidFill>
                        <a:latin typeface="Cambria Math" panose="02040503050406030204" pitchFamily="18" charset="0"/>
                      </a:rPr>
                      <m:t>120</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unlabelled groups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each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24</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24</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divide </a:t>
                </a:r>
                <a:r>
                  <a:rPr lang="en-IN" sz="2400">
                    <a:solidFill>
                      <a:srgbClr val="111827"/>
                    </a:solidFill>
                    <a:latin typeface="Cambria Math" panose="02040503050406030204" pitchFamily="18" charset="0"/>
                  </a:rPr>
                  <a:t>$24$</a:t>
                </a:r>
                <a:r>
                  <a:rPr sz="2400" b="0">
                    <a:solidFill>
                      <a:srgbClr val="111827"/>
                    </a:solidFill>
                    <a:latin typeface="Arial"/>
                  </a:rPr>
                  <a:t> distinct objects into </a:t>
                </a:r>
                <a:r>
                  <a:rPr lang="en-IN" sz="2400">
                    <a:solidFill>
                      <a:srgbClr val="111827"/>
                    </a:solidFill>
                    <a:latin typeface="Cambria Math" panose="02040503050406030204" pitchFamily="18" charset="0"/>
                  </a:rPr>
                  <a:t>$6$</a:t>
                </a:r>
                <a:r>
                  <a:rPr sz="2400" b="0">
                    <a:solidFill>
                      <a:srgbClr val="111827"/>
                    </a:solidFill>
                    <a:latin typeface="Arial"/>
                  </a:rPr>
                  <a:t> unlabelled groups of </a:t>
                </a:r>
                <a:r>
                  <a:rPr lang="en-IN" sz="2400">
                    <a:solidFill>
                      <a:srgbClr val="111827"/>
                    </a:solidFill>
                    <a:latin typeface="Cambria Math" panose="02040503050406030204" pitchFamily="18" charset="0"/>
                  </a:rPr>
                  <a:t>$4$</a:t>
                </a:r>
                <a:r>
                  <a:rPr sz="2400" b="0">
                    <a:solidFill>
                      <a:srgbClr val="111827"/>
                    </a:solidFill>
                    <a:latin typeface="Arial"/>
                  </a:rPr>
                  <a:t> each is </a:t>
                </a:r>
                <a:r>
                  <a:rPr lang="en-IN" sz="2400">
                    <a:solidFill>
                      <a:srgbClr val="111827"/>
                    </a:solidFill>
                    <a:latin typeface="Cambria Math" panose="02040503050406030204" pitchFamily="18" charset="0"/>
                  </a:rPr>
                  <a:t>$\frac{24!}{(4!)^6\,6!}\in\mathbb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$\alpha=6!\times\frac{24!}{(4!)^6\,6!}$</a:t>
                </a:r>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number of ways to divide </a:t>
                </a:r>
                <a:r>
                  <a:rPr lang="en-IN" sz="2400">
                    <a:solidFill>
                      <a:srgbClr val="111827"/>
                    </a:solidFill>
                    <a:latin typeface="Cambria Math" panose="02040503050406030204" pitchFamily="18" charset="0"/>
                  </a:rPr>
                  <a:t>$120$</a:t>
                </a:r>
                <a:r>
                  <a:rPr sz="2400" b="0">
                    <a:solidFill>
                      <a:srgbClr val="111827"/>
                    </a:solidFill>
                    <a:latin typeface="Arial"/>
                  </a:rPr>
                  <a:t> distinct objects into </a:t>
                </a:r>
                <a:r>
                  <a:rPr lang="en-IN" sz="2400">
                    <a:solidFill>
                      <a:srgbClr val="111827"/>
                    </a:solidFill>
                    <a:latin typeface="Cambria Math" panose="02040503050406030204" pitchFamily="18" charset="0"/>
                  </a:rPr>
                  <a:t>$24$</a:t>
                </a:r>
                <a:r>
                  <a:rPr sz="2400" b="0">
                    <a:solidFill>
                      <a:srgbClr val="111827"/>
                    </a:solidFill>
                    <a:latin typeface="Arial"/>
                  </a:rPr>
                  <a:t> unlabelled groups of </a:t>
                </a:r>
                <a:r>
                  <a:rPr lang="en-IN" sz="2400">
                    <a:solidFill>
                      <a:srgbClr val="111827"/>
                    </a:solidFill>
                    <a:latin typeface="Cambria Math" panose="02040503050406030204" pitchFamily="18" charset="0"/>
                  </a:rPr>
                  <a:t>$5$</a:t>
                </a:r>
                <a:r>
                  <a:rPr sz="2400" b="0">
                    <a:solidFill>
                      <a:srgbClr val="111827"/>
                    </a:solidFill>
                    <a:latin typeface="Arial"/>
                  </a:rPr>
                  <a:t> each is </a:t>
                </a:r>
                <a:r>
                  <a:rPr lang="en-IN" sz="2400">
                    <a:solidFill>
                      <a:srgbClr val="111827"/>
                    </a:solidFill>
                    <a:latin typeface="Cambria Math" panose="02040503050406030204" pitchFamily="18" charset="0"/>
                  </a:rPr>
                  <a:t>$\frac{120!}{(5!)^{24}\,24!}\in\mathbb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$\beta=24!\times\frac{120!}{(5!)^{24}\,24!}$</a:t>
                </a:r>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$\alpha\in\mathbb N$</a:t>
                </a:r>
                <a:r>
                  <a:rPr sz="2400" b="0">
                    <a:solidFill>
                      <a:srgbClr val="111827"/>
                    </a:solidFill>
                    <a:latin typeface="Arial"/>
                  </a:rPr>
                  <a:t> and </a:t>
                </a:r>
                <a:r>
                  <a:rPr lang="en-IN" sz="2400">
                    <a:solidFill>
                      <a:srgbClr val="111827"/>
                    </a:solidFill>
                    <a:latin typeface="Cambria Math" panose="02040503050406030204" pitchFamily="18" charset="0"/>
                  </a:rPr>
                  <a:t>$\beta\in\mathbb N$</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a:t>
            </a:r>
            <a:endParaRPr sz="2800">
              <a:solidFill>
                <a:srgbClr val="15803D"/>
              </a:solidFill>
            </a:endParaRP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each quotient as a multinomial coefficient.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e>
                    </m:d>
                  </m:oMath>
                </a14:m>
                <a:r>
                  <a:rPr sz="2400" b="0">
                    <a:solidFill>
                      <a:srgbClr val="111827"/>
                    </a:solidFill>
                    <a:latin typeface="Arial"/>
                  </a:rPr>
                  <a:t>, the number of arrangements of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letters with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different letters each used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24</m:t>
                            </m:r>
                          </m:sup>
                        </m:sSup>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groups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this is the number of ways to put </a:t>
                </a:r>
                <a14:m>
                  <m:oMath xmlns:m="http://schemas.openxmlformats.org/officeDocument/2006/math">
                    <m:r>
                      <a:rPr lang="en-IN" sz="2400" i="1">
                        <a:solidFill>
                          <a:srgbClr val="111827"/>
                        </a:solidFill>
                        <a:latin typeface="Cambria Math" panose="02040503050406030204" pitchFamily="18" charset="0"/>
                      </a:rPr>
                      <m:t>120</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labelled boxes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each.</a:t>
                </a:r>
                <a:endParaRPr sz="2400">
                  <a:solidFill>
                    <a:srgbClr val="111827"/>
                  </a:solidFill>
                </a:endParaRPr>
              </a:p>
            </p:txBody>
          </p:sp>
        </mc:Choice>
        <mc:Fallback>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$\alpha=\frac{24!}{(4!)(4!)(4!)(4!)(4!)(4!)}=\binom{24}{4,4,4,4,4,4}$</a:t>
                </a:r>
                <a:r>
                  <a:rPr sz="2400" b="0">
                    <a:solidFill>
                      <a:srgbClr val="111827"/>
                    </a:solidFill>
                    <a:latin typeface="Arial"/>
                  </a:rPr>
                  <a:t>, the number of arrangements of </a:t>
                </a:r>
                <a:r>
                  <a:rPr lang="en-IN" sz="2400">
                    <a:solidFill>
                      <a:srgbClr val="111827"/>
                    </a:solidFill>
                    <a:latin typeface="Cambria Math" panose="02040503050406030204" pitchFamily="18" charset="0"/>
                  </a:rPr>
                  <a:t>$24$</a:t>
                </a:r>
                <a:r>
                  <a:rPr sz="2400" b="0">
                    <a:solidFill>
                      <a:srgbClr val="111827"/>
                    </a:solidFill>
                    <a:latin typeface="Arial"/>
                  </a:rPr>
                  <a:t> letters with </a:t>
                </a:r>
                <a:r>
                  <a:rPr lang="en-IN" sz="2400">
                    <a:solidFill>
                      <a:srgbClr val="111827"/>
                    </a:solidFill>
                    <a:latin typeface="Cambria Math" panose="02040503050406030204" pitchFamily="18" charset="0"/>
                  </a:rPr>
                  <a:t>$6$</a:t>
                </a:r>
                <a:r>
                  <a:rPr sz="2400" b="0">
                    <a:solidFill>
                      <a:srgbClr val="111827"/>
                    </a:solidFill>
                    <a:latin typeface="Arial"/>
                  </a:rPr>
                  <a:t> different letters each used </a:t>
                </a:r>
                <a:r>
                  <a:rPr lang="en-IN" sz="2400">
                    <a:solidFill>
                      <a:srgbClr val="111827"/>
                    </a:solidFill>
                    <a:latin typeface="Cambria Math" panose="02040503050406030204" pitchFamily="18" charset="0"/>
                  </a:rPr>
                  <a:t>$4$</a:t>
                </a:r>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$\beta=\frac{120!}{(5!)^{24}}=\binom{120}{5,5,\dots,5}$</a:t>
                </a:r>
                <a:r>
                  <a:rPr sz="2400" b="0">
                    <a:solidFill>
                      <a:srgbClr val="111827"/>
                    </a:solidFill>
                    <a:latin typeface="Arial"/>
                  </a:rPr>
                  <a:t> with </a:t>
                </a:r>
                <a:r>
                  <a:rPr lang="en-IN" sz="2400">
                    <a:solidFill>
                      <a:srgbClr val="111827"/>
                    </a:solidFill>
                    <a:latin typeface="Cambria Math" panose="02040503050406030204" pitchFamily="18" charset="0"/>
                  </a:rPr>
                  <a:t>$24$</a:t>
                </a:r>
                <a:r>
                  <a:rPr sz="2400" b="0">
                    <a:solidFill>
                      <a:srgbClr val="111827"/>
                    </a:solidFill>
                    <a:latin typeface="Arial"/>
                  </a:rPr>
                  <a:t> groups of </a:t>
                </a:r>
                <a:r>
                  <a:rPr lang="en-IN" sz="2400">
                    <a:solidFill>
                      <a:srgbClr val="111827"/>
                    </a:solidFill>
                    <a:latin typeface="Cambria Math" panose="02040503050406030204" pitchFamily="18" charset="0"/>
                  </a:rPr>
                  <a:t>$5$</a:t>
                </a:r>
                <a:r>
                  <a:rPr sz="2400" b="0">
                    <a:solidFill>
                      <a:srgbClr val="111827"/>
                    </a:solidFill>
                    <a:latin typeface="Arial"/>
                  </a:rPr>
                  <a:t>; this is the number of ways to put </a:t>
                </a:r>
                <a:r>
                  <a:rPr lang="en-IN" sz="2400">
                    <a:solidFill>
                      <a:srgbClr val="111827"/>
                    </a:solidFill>
                    <a:latin typeface="Cambria Math" panose="02040503050406030204" pitchFamily="18" charset="0"/>
                  </a:rPr>
                  <a:t>$120$</a:t>
                </a:r>
                <a:r>
                  <a:rPr sz="2400" b="0">
                    <a:solidFill>
                      <a:srgbClr val="111827"/>
                    </a:solidFill>
                    <a:latin typeface="Arial"/>
                  </a:rPr>
                  <a:t> distinct objects into </a:t>
                </a:r>
                <a:r>
                  <a:rPr lang="en-IN" sz="2400">
                    <a:solidFill>
                      <a:srgbClr val="111827"/>
                    </a:solidFill>
                    <a:latin typeface="Cambria Math" panose="02040503050406030204" pitchFamily="18" charset="0"/>
                  </a:rPr>
                  <a:t>$24$</a:t>
                </a:r>
                <a:r>
                  <a:rPr sz="2400" b="0">
                    <a:solidFill>
                      <a:srgbClr val="111827"/>
                    </a:solidFill>
                    <a:latin typeface="Arial"/>
                  </a:rPr>
                  <a:t> labelled boxes of </a:t>
                </a:r>
                <a:r>
                  <a:rPr lang="en-IN" sz="2400">
                    <a:solidFill>
                      <a:srgbClr val="111827"/>
                    </a:solidFill>
                    <a:latin typeface="Cambria Math" panose="02040503050406030204" pitchFamily="18" charset="0"/>
                  </a:rPr>
                  <a:t>$5$</a:t>
                </a:r>
                <a:r>
                  <a:rPr sz="2400" b="0">
                    <a:solidFill>
                      <a:srgbClr val="111827"/>
                    </a:solidFill>
                    <a:latin typeface="Arial"/>
                  </a:rPr>
                  <a:t> each.</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coefficients are integers,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coefficients are integers, so </a:t>
                </a:r>
                <a:r>
                  <a:rPr lang="en-IN" sz="2400">
                    <a:solidFill>
                      <a:srgbClr val="111827"/>
                    </a:solidFill>
                    <a:latin typeface="Cambria Math" panose="02040503050406030204" pitchFamily="18" charset="0"/>
                  </a:rPr>
                  <a:t>$\alpha,\beta\in\mathbb N$</a:t>
                </a:r>
                <a:r>
                  <a:rPr sz="2400" b="0">
                    <a:solidFill>
                      <a:srgbClr val="111827"/>
                    </a:solidFill>
                    <a:latin typeface="Arial"/>
                  </a:rPr>
                  <a:t>: option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a:t>
            </a:r>
            <a:endParaRPr sz="2800">
              <a:solidFill>
                <a:srgbClr val="15803D"/>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den>
                    </m:f>
                  </m:oMath>
                </a14:m>
                <a:r>
                  <a:rPr sz="2400" b="0">
                    <a:solidFill>
                      <a:srgbClr val="111827"/>
                    </a:solidFill>
                    <a:latin typeface="Arial"/>
                  </a:rPr>
                  <a:t> is the multinomial coefficient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equal groups of size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hence an integer;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the (smaller) unlabelled count and is also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test for divisibility of factorial quotients: find a counting interpretation, or compare prime exponents with Legendre's formula.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small numbers: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are both integers.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$\frac{(mn)!}{(n!)^m}$</a:t>
                </a:r>
                <a:r>
                  <a:rPr sz="2400" b="0">
                    <a:solidFill>
                      <a:srgbClr val="111827"/>
                    </a:solidFill>
                    <a:latin typeface="Arial"/>
                  </a:rPr>
                  <a:t> is the multinomial coefficient of </a:t>
                </a:r>
                <a:r>
                  <a:rPr lang="en-IN" sz="2400">
                    <a:solidFill>
                      <a:srgbClr val="111827"/>
                    </a:solidFill>
                    <a:latin typeface="Cambria Math" panose="02040503050406030204" pitchFamily="18" charset="0"/>
                  </a:rPr>
                  <a:t>$m$</a:t>
                </a:r>
                <a:r>
                  <a:rPr sz="2400" b="0">
                    <a:solidFill>
                      <a:srgbClr val="111827"/>
                    </a:solidFill>
                    <a:latin typeface="Arial"/>
                  </a:rPr>
                  <a:t> equal groups of size </a:t>
                </a:r>
                <a:r>
                  <a:rPr lang="en-IN" sz="2400">
                    <a:solidFill>
                      <a:srgbClr val="111827"/>
                    </a:solidFill>
                    <a:latin typeface="Cambria Math" panose="02040503050406030204" pitchFamily="18" charset="0"/>
                  </a:rPr>
                  <a:t>$n$</a:t>
                </a:r>
                <a:r>
                  <a:rPr sz="2400" b="0">
                    <a:solidFill>
                      <a:srgbClr val="111827"/>
                    </a:solidFill>
                    <a:latin typeface="Arial"/>
                  </a:rPr>
                  <a:t>, hence an integer; </a:t>
                </a:r>
                <a:r>
                  <a:rPr lang="en-IN" sz="2400">
                    <a:solidFill>
                      <a:srgbClr val="111827"/>
                    </a:solidFill>
                    <a:latin typeface="Cambria Math" panose="02040503050406030204" pitchFamily="18" charset="0"/>
                  </a:rPr>
                  <a:t>$\frac{(mn)!}{(n!)^m\,m!}$</a:t>
                </a:r>
                <a:r>
                  <a:rPr sz="2400" b="0">
                    <a:solidFill>
                      <a:srgbClr val="111827"/>
                    </a:solidFill>
                    <a:latin typeface="Arial"/>
                  </a:rPr>
                  <a:t> is the (smaller) unlabelled count and is also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test for divisibility of factorial quotients: find a counting interpretation, or compare prime exponents with Legendre's formula.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small numbers: </a:t>
                </a:r>
                <a:r>
                  <a:rPr lang="en-IN" sz="2400">
                    <a:solidFill>
                      <a:srgbClr val="111827"/>
                    </a:solidFill>
                    <a:latin typeface="Cambria Math" panose="02040503050406030204" pitchFamily="18" charset="0"/>
                  </a:rPr>
                  <a:t>$\frac{4!}{(2!)^2}=6$</a:t>
                </a:r>
                <a:r>
                  <a:rPr sz="2400" b="0">
                    <a:solidFill>
                      <a:srgbClr val="111827"/>
                    </a:solidFill>
                    <a:latin typeface="Arial"/>
                  </a:rPr>
                  <a:t> and </a:t>
                </a:r>
                <a:r>
                  <a:rPr lang="en-IN" sz="2400">
                    <a:solidFill>
                      <a:srgbClr val="111827"/>
                    </a:solidFill>
                    <a:latin typeface="Cambria Math" panose="02040503050406030204" pitchFamily="18" charset="0"/>
                  </a:rPr>
                  <a:t>$\frac{4!}{(2!)^2\,2!}=3$</a:t>
                </a:r>
                <a:r>
                  <a:rPr sz="2400" b="0">
                    <a:solidFill>
                      <a:srgbClr val="111827"/>
                    </a:solidFill>
                    <a:latin typeface="Arial"/>
                  </a:rPr>
                  <a:t> are both integers.</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ways of arranging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identical books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identical shelves where any number of shelves may remain empty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18</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Number of ways of arranging </a:t>
                </a:r>
                <a:r>
                  <a:rPr lang="en-IN" sz="2400">
                    <a:solidFill>
                      <a:srgbClr val="111827"/>
                    </a:solidFill>
                    <a:latin typeface="Cambria Math" panose="02040503050406030204" pitchFamily="18" charset="0"/>
                  </a:rPr>
                  <a:t>$8$</a:t>
                </a:r>
                <a:r>
                  <a:rPr sz="2400" b="0">
                    <a:solidFill>
                      <a:srgbClr val="111827"/>
                    </a:solidFill>
                    <a:latin typeface="Arial"/>
                  </a:rPr>
                  <a:t> identical books into </a:t>
                </a:r>
                <a:r>
                  <a:rPr lang="en-IN" sz="2400">
                    <a:solidFill>
                      <a:srgbClr val="111827"/>
                    </a:solidFill>
                    <a:latin typeface="Cambria Math" panose="02040503050406030204" pitchFamily="18" charset="0"/>
                  </a:rPr>
                  <a:t>$4$</a:t>
                </a:r>
                <a:r>
                  <a:rPr sz="2400" b="0">
                    <a:solidFill>
                      <a:srgbClr val="111827"/>
                    </a:solidFill>
                    <a:latin typeface="Arial"/>
                  </a:rPr>
                  <a:t> identical shelves where any number of shelves may remain empty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$16$</a:t>
                </a:r>
                <a:r>
                  <a:rPr sz="2400" b="0">
                    <a:solidFill>
                      <a:srgbClr val="111827"/>
                    </a:solidFill>
                    <a:latin typeface="Arial"/>
                  </a:rPr>
                  <a:t>   (B) </a:t>
                </a:r>
                <a:r>
                  <a:rPr lang="en-IN" sz="2400">
                    <a:solidFill>
                      <a:srgbClr val="111827"/>
                    </a:solidFill>
                    <a:latin typeface="Cambria Math" panose="02040503050406030204" pitchFamily="18" charset="0"/>
                  </a:rPr>
                  <a:t>$15$</a:t>
                </a:r>
                <a:r>
                  <a:rPr sz="2400" b="0">
                    <a:solidFill>
                      <a:srgbClr val="111827"/>
                    </a:solidFill>
                    <a:latin typeface="Arial"/>
                  </a:rPr>
                  <a:t>   (C) </a:t>
                </a:r>
                <a:r>
                  <a:rPr lang="en-IN" sz="2400">
                    <a:solidFill>
                      <a:srgbClr val="111827"/>
                    </a:solidFill>
                    <a:latin typeface="Cambria Math" panose="02040503050406030204" pitchFamily="18" charset="0"/>
                  </a:rPr>
                  <a:t>$12$</a:t>
                </a:r>
                <a:r>
                  <a:rPr sz="2400" b="0">
                    <a:solidFill>
                      <a:srgbClr val="111827"/>
                    </a:solidFill>
                    <a:latin typeface="Arial"/>
                  </a:rPr>
                  <a:t>   (D) </a:t>
                </a:r>
                <a:r>
                  <a:rPr lang="en-IN" sz="2400">
                    <a:solidFill>
                      <a:srgbClr val="111827"/>
                    </a:solidFill>
                    <a:latin typeface="Cambria Math" panose="02040503050406030204" pitchFamily="18" charset="0"/>
                  </a:rPr>
                  <a:t>$18$</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Partitions of an integer (identical objects into identical boxes)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Identical objects into identical boxes with empty boxes allowed is the number of partitions of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into at most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parts.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Identical objects into identical boxes with empty boxes allowed is the number of partitions of </a:t>
                </a:r>
                <a:r>
                  <a:rPr lang="en-IN" sz="2400">
                    <a:solidFill>
                      <a:srgbClr val="78350F"/>
                    </a:solidFill>
                    <a:latin typeface="Cambria Math" panose="02040503050406030204" pitchFamily="18" charset="0"/>
                  </a:rPr>
                  <a:t>$8$</a:t>
                </a:r>
                <a:r>
                  <a:rPr sz="2400" b="0">
                    <a:solidFill>
                      <a:srgbClr val="78350F"/>
                    </a:solidFill>
                    <a:latin typeface="Arial"/>
                  </a:rPr>
                  <a:t> into at most </a:t>
                </a:r>
                <a:r>
                  <a:rPr lang="en-IN" sz="2400">
                    <a:solidFill>
                      <a:srgbClr val="78350F"/>
                    </a:solidFill>
                    <a:latin typeface="Cambria Math" panose="02040503050406030204" pitchFamily="18" charset="0"/>
                  </a:rPr>
                  <a:t>$4$</a:t>
                </a:r>
                <a:r>
                  <a:rPr sz="2400" b="0">
                    <a:solidFill>
                      <a:srgbClr val="78350F"/>
                    </a:solidFill>
                    <a:latin typeface="Arial"/>
                  </a:rPr>
                  <a:t> parts.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books and shelves are identical, so we count partitions of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into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parts (written as four numbers with zeros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non-zero part: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Two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books and shelves are identical, so we count partitions of </a:t>
                </a:r>
                <a:r>
                  <a:rPr lang="en-IN" sz="2400">
                    <a:solidFill>
                      <a:srgbClr val="111827"/>
                    </a:solidFill>
                    <a:latin typeface="Cambria Math" panose="02040503050406030204" pitchFamily="18" charset="0"/>
                  </a:rPr>
                  <a:t>$8$</a:t>
                </a:r>
                <a:r>
                  <a:rPr sz="2400" b="0">
                    <a:solidFill>
                      <a:srgbClr val="111827"/>
                    </a:solidFill>
                    <a:latin typeface="Arial"/>
                  </a:rPr>
                  <a:t> into at most </a:t>
                </a:r>
                <a:r>
                  <a:rPr lang="en-IN" sz="2400">
                    <a:solidFill>
                      <a:srgbClr val="111827"/>
                    </a:solidFill>
                    <a:latin typeface="Cambria Math" panose="02040503050406030204" pitchFamily="18" charset="0"/>
                  </a:rPr>
                  <a:t>$4$</a:t>
                </a:r>
                <a:r>
                  <a:rPr sz="2400" b="0">
                    <a:solidFill>
                      <a:srgbClr val="111827"/>
                    </a:solidFill>
                    <a:latin typeface="Arial"/>
                  </a:rPr>
                  <a:t> parts (written as four numbers with zeros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non-zero part: </a:t>
                </a:r>
                <a:r>
                  <a:rPr lang="en-IN" sz="2400">
                    <a:solidFill>
                      <a:srgbClr val="111827"/>
                    </a:solidFill>
                    <a:latin typeface="Cambria Math" panose="02040503050406030204" pitchFamily="18" charset="0"/>
                  </a:rPr>
                  <a:t>$(8,0,0,0)$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Two parts: </a:t>
                </a:r>
                <a:r>
                  <a:rPr lang="en-IN" sz="2400">
                    <a:solidFill>
                      <a:srgbClr val="111827"/>
                    </a:solidFill>
                    <a:latin typeface="Cambria Math" panose="02040503050406030204" pitchFamily="18" charset="0"/>
                  </a:rPr>
                  <a:t>$(7,1)$</a:t>
                </a:r>
                <a:r>
                  <a:rPr sz="2400" b="0">
                    <a:solidFill>
                      <a:srgbClr val="111827"/>
                    </a:solidFill>
                    <a:latin typeface="Arial"/>
                  </a:rPr>
                  <a:t>, </a:t>
                </a:r>
                <a:r>
                  <a:rPr lang="en-IN" sz="2400">
                    <a:solidFill>
                      <a:srgbClr val="111827"/>
                    </a:solidFill>
                    <a:latin typeface="Cambria Math" panose="02040503050406030204" pitchFamily="18" charset="0"/>
                  </a:rPr>
                  <a:t>$(6,2)$</a:t>
                </a:r>
                <a:r>
                  <a:rPr sz="2400" b="0">
                    <a:solidFill>
                      <a:srgbClr val="111827"/>
                    </a:solidFill>
                    <a:latin typeface="Arial"/>
                  </a:rPr>
                  <a:t>, </a:t>
                </a:r>
                <a:r>
                  <a:rPr lang="en-IN" sz="2400">
                    <a:solidFill>
                      <a:srgbClr val="111827"/>
                    </a:solidFill>
                    <a:latin typeface="Cambria Math" panose="02040503050406030204" pitchFamily="18" charset="0"/>
                  </a:rPr>
                  <a:t>$(5,3)$</a:t>
                </a:r>
                <a:r>
                  <a:rPr sz="2400" b="0">
                    <a:solidFill>
                      <a:srgbClr val="111827"/>
                    </a:solidFill>
                    <a:latin typeface="Arial"/>
                  </a:rPr>
                  <a:t>, </a:t>
                </a:r>
                <a:r>
                  <a:rPr lang="en-IN" sz="2400">
                    <a:solidFill>
                      <a:srgbClr val="111827"/>
                    </a:solidFill>
                    <a:latin typeface="Cambria Math" panose="02040503050406030204" pitchFamily="18" charset="0"/>
                  </a:rPr>
                  <a:t>$(4,4)$</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parts: </a:t>
                </a:r>
                <a:r>
                  <a:rPr lang="en-IN" sz="2400">
                    <a:solidFill>
                      <a:srgbClr val="111827"/>
                    </a:solidFill>
                    <a:latin typeface="Cambria Math" panose="02040503050406030204" pitchFamily="18" charset="0"/>
                  </a:rPr>
                  <a:t>$(6,1,1)$</a:t>
                </a:r>
                <a:r>
                  <a:rPr sz="2400" b="0">
                    <a:solidFill>
                      <a:srgbClr val="111827"/>
                    </a:solidFill>
                    <a:latin typeface="Arial"/>
                  </a:rPr>
                  <a:t>, </a:t>
                </a:r>
                <a:r>
                  <a:rPr lang="en-IN" sz="2400">
                    <a:solidFill>
                      <a:srgbClr val="111827"/>
                    </a:solidFill>
                    <a:latin typeface="Cambria Math" panose="02040503050406030204" pitchFamily="18" charset="0"/>
                  </a:rPr>
                  <a:t>$(5,2,1)$</a:t>
                </a:r>
                <a:r>
                  <a:rPr sz="2400" b="0">
                    <a:solidFill>
                      <a:srgbClr val="111827"/>
                    </a:solidFill>
                    <a:latin typeface="Arial"/>
                  </a:rPr>
                  <a:t>, </a:t>
                </a:r>
                <a:r>
                  <a:rPr lang="en-IN" sz="2400">
                    <a:solidFill>
                      <a:srgbClr val="111827"/>
                    </a:solidFill>
                    <a:latin typeface="Cambria Math" panose="02040503050406030204" pitchFamily="18" charset="0"/>
                  </a:rPr>
                  <a:t>$(4,3,1)$</a:t>
                </a:r>
                <a:r>
                  <a:rPr sz="2400" b="0">
                    <a:solidFill>
                      <a:srgbClr val="111827"/>
                    </a:solidFill>
                    <a:latin typeface="Arial"/>
                  </a:rPr>
                  <a:t>, </a:t>
                </a:r>
                <a:r>
                  <a:rPr lang="en-IN" sz="2400">
                    <a:solidFill>
                      <a:srgbClr val="111827"/>
                    </a:solidFill>
                    <a:latin typeface="Cambria Math" panose="02040503050406030204" pitchFamily="18" charset="0"/>
                  </a:rPr>
                  <a:t>$(4,2,2)$</a:t>
                </a:r>
                <a:r>
                  <a:rPr sz="2400" b="0">
                    <a:solidFill>
                      <a:srgbClr val="111827"/>
                    </a:solidFill>
                    <a:latin typeface="Arial"/>
                  </a:rPr>
                  <a:t>, </a:t>
                </a:r>
                <a:r>
                  <a:rPr lang="en-IN" sz="2400">
                    <a:solidFill>
                      <a:srgbClr val="111827"/>
                    </a:solidFill>
                    <a:latin typeface="Cambria Math" panose="02040503050406030204" pitchFamily="18" charset="0"/>
                  </a:rPr>
                  <a:t>$(3,3,2)$</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 parts: </a:t>
                </a:r>
                <a:r>
                  <a:rPr lang="en-IN" sz="2400">
                    <a:solidFill>
                      <a:srgbClr val="111827"/>
                    </a:solidFill>
                    <a:latin typeface="Cambria Math" panose="02040503050406030204" pitchFamily="18" charset="0"/>
                  </a:rPr>
                  <a:t>$(5,1,1,1)$</a:t>
                </a:r>
                <a:r>
                  <a:rPr sz="2400" b="0">
                    <a:solidFill>
                      <a:srgbClr val="111827"/>
                    </a:solidFill>
                    <a:latin typeface="Arial"/>
                  </a:rPr>
                  <a:t>, </a:t>
                </a:r>
                <a:r>
                  <a:rPr lang="en-IN" sz="2400">
                    <a:solidFill>
                      <a:srgbClr val="111827"/>
                    </a:solidFill>
                    <a:latin typeface="Cambria Math" panose="02040503050406030204" pitchFamily="18" charset="0"/>
                  </a:rPr>
                  <a:t>$(4,2,1,1)$</a:t>
                </a:r>
                <a:r>
                  <a:rPr sz="2400" b="0">
                    <a:solidFill>
                      <a:srgbClr val="111827"/>
                    </a:solidFill>
                    <a:latin typeface="Arial"/>
                  </a:rPr>
                  <a:t>, </a:t>
                </a:r>
                <a:r>
                  <a:rPr lang="en-IN" sz="2400">
                    <a:solidFill>
                      <a:srgbClr val="111827"/>
                    </a:solidFill>
                    <a:latin typeface="Cambria Math" panose="02040503050406030204" pitchFamily="18" charset="0"/>
                  </a:rPr>
                  <a:t>$(3,3,1,1)$</a:t>
                </a:r>
                <a:r>
                  <a:rPr sz="2400" b="0">
                    <a:solidFill>
                      <a:srgbClr val="111827"/>
                    </a:solidFill>
                    <a:latin typeface="Arial"/>
                  </a:rPr>
                  <a:t>, </a:t>
                </a:r>
                <a:r>
                  <a:rPr lang="en-IN" sz="2400">
                    <a:solidFill>
                      <a:srgbClr val="111827"/>
                    </a:solidFill>
                    <a:latin typeface="Cambria Math" panose="02040503050406030204" pitchFamily="18" charset="0"/>
                  </a:rPr>
                  <a:t>$(3,2,2,1)$</a:t>
                </a:r>
                <a:r>
                  <a:rPr sz="2400" b="0">
                    <a:solidFill>
                      <a:srgbClr val="111827"/>
                    </a:solidFill>
                    <a:latin typeface="Arial"/>
                  </a:rPr>
                  <a:t>, </a:t>
                </a:r>
                <a:r>
                  <a:rPr lang="en-IN" sz="2400">
                    <a:solidFill>
                      <a:srgbClr val="111827"/>
                    </a:solidFill>
                    <a:latin typeface="Cambria Math" panose="02040503050406030204" pitchFamily="18" charset="0"/>
                  </a:rPr>
                  <a:t>$(2,2,2,2)$</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$=1+4+5+5=15$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15</a:t>
            </a:r>
            <a:endParaRPr sz="2800">
              <a:solidFill>
                <a:srgbClr val="15803D"/>
              </a:solidFill>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recurrence for partitions into exactly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parts: </a:t>
                </a:r>
                <a14:m>
                  <m:oMath xmlns:m="http://schemas.openxmlformats.org/officeDocument/2006/math">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recurrence for partitions into exactly </a:t>
                </a:r>
                <a:r>
                  <a:rPr lang="en-IN" sz="2400">
                    <a:solidFill>
                      <a:srgbClr val="78350F"/>
                    </a:solidFill>
                    <a:latin typeface="Cambria Math" panose="02040503050406030204" pitchFamily="18" charset="0"/>
                  </a:rPr>
                  <a:t>$k$</a:t>
                </a:r>
                <a:r>
                  <a:rPr sz="2400" b="0">
                    <a:solidFill>
                      <a:srgbClr val="78350F"/>
                    </a:solidFill>
                    <a:latin typeface="Arial"/>
                  </a:rPr>
                  <a:t> parts: </a:t>
                </a:r>
                <a:r>
                  <a:rPr lang="en-IN" sz="2400">
                    <a:solidFill>
                      <a:srgbClr val="78350F"/>
                    </a:solidFill>
                    <a:latin typeface="Cambria Math" panose="02040503050406030204" pitchFamily="18" charset="0"/>
                  </a:rPr>
                  <a:t>$p_k(n)=p_{k-1}(n-1)+p_k(n-k)$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pairs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(using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(using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Partitions into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$p_1(8)=1$</a:t>
                </a:r>
                <a:r>
                  <a:rPr sz="2400" b="0">
                    <a:solidFill>
                      <a:srgbClr val="111827"/>
                    </a:solidFill>
                    <a:latin typeface="Arial"/>
                  </a:rPr>
                  <a:t> and </a:t>
                </a:r>
                <a:r>
                  <a:rPr lang="en-IN" sz="2400">
                    <a:solidFill>
                      <a:srgbClr val="111827"/>
                    </a:solidFill>
                    <a:latin typeface="Cambria Math" panose="02040503050406030204" pitchFamily="18" charset="0"/>
                  </a:rPr>
                  <a:t>$p_2(8)=4$</a:t>
                </a:r>
                <a:r>
                  <a:rPr sz="2400" b="0">
                    <a:solidFill>
                      <a:srgbClr val="111827"/>
                    </a:solidFill>
                    <a:latin typeface="Arial"/>
                  </a:rPr>
                  <a:t> (the pairs </a:t>
                </a:r>
                <a:r>
                  <a:rPr lang="en-IN" sz="2400">
                    <a:solidFill>
                      <a:srgbClr val="111827"/>
                    </a:solidFill>
                    <a:latin typeface="Cambria Math" panose="02040503050406030204" pitchFamily="18" charset="0"/>
                  </a:rPr>
                  <a:t>$7{+}1,6{+}2,5{+}3,4{+}4$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$p_3(8)=p_2(7)+p_3(5)=3+2=5$</a:t>
                </a:r>
                <a:r>
                  <a:rPr sz="2400" b="0">
                    <a:solidFill>
                      <a:srgbClr val="111827"/>
                    </a:solidFill>
                    <a:latin typeface="Arial"/>
                  </a:rPr>
                  <a:t> (using </a:t>
                </a:r>
                <a:r>
                  <a:rPr lang="en-IN" sz="2400">
                    <a:solidFill>
                      <a:srgbClr val="111827"/>
                    </a:solidFill>
                    <a:latin typeface="Cambria Math" panose="02040503050406030204" pitchFamily="18" charset="0"/>
                  </a:rPr>
                  <a:t>$p_2(7)=3$</a:t>
                </a:r>
                <a:r>
                  <a:rPr sz="2400" b="0">
                    <a:solidFill>
                      <a:srgbClr val="111827"/>
                    </a:solidFill>
                    <a:latin typeface="Arial"/>
                  </a:rPr>
                  <a:t> and </a:t>
                </a:r>
                <a:r>
                  <a:rPr lang="en-IN" sz="2400">
                    <a:solidFill>
                      <a:srgbClr val="111827"/>
                    </a:solidFill>
                    <a:latin typeface="Cambria Math" panose="02040503050406030204" pitchFamily="18" charset="0"/>
                  </a:rPr>
                  <a:t>$p_3(5)=2$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$p_4(8)=p_3(7)+p_4(4)=4+1=5$</a:t>
                </a:r>
                <a:r>
                  <a:rPr sz="2400" b="0">
                    <a:solidFill>
                      <a:srgbClr val="111827"/>
                    </a:solidFill>
                    <a:latin typeface="Arial"/>
                  </a:rPr>
                  <a:t> (using </a:t>
                </a:r>
                <a:r>
                  <a:rPr lang="en-IN" sz="2400">
                    <a:solidFill>
                      <a:srgbClr val="111827"/>
                    </a:solidFill>
                    <a:latin typeface="Cambria Math" panose="02040503050406030204" pitchFamily="18" charset="0"/>
                  </a:rPr>
                  <a:t>$p_3(7)=4$</a:t>
                </a:r>
                <a:r>
                  <a:rPr sz="2400" b="0">
                    <a:solidFill>
                      <a:srgbClr val="111827"/>
                    </a:solidFill>
                    <a:latin typeface="Arial"/>
                  </a:rPr>
                  <a:t> and </a:t>
                </a:r>
                <a:r>
                  <a:rPr lang="en-IN" sz="2400">
                    <a:solidFill>
                      <a:srgbClr val="111827"/>
                    </a:solidFill>
                    <a:latin typeface="Cambria Math" panose="02040503050406030204" pitchFamily="18" charset="0"/>
                  </a:rPr>
                  <a:t>$p_4(4)=1$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Partitions into at most </a:t>
                </a:r>
                <a:r>
                  <a:rPr lang="en-IN" sz="2400">
                    <a:solidFill>
                      <a:srgbClr val="111827"/>
                    </a:solidFill>
                    <a:latin typeface="Cambria Math" panose="02040503050406030204" pitchFamily="18" charset="0"/>
                  </a:rPr>
                  <a:t>$4$</a:t>
                </a:r>
                <a:r>
                  <a:rPr sz="2400" b="0">
                    <a:solidFill>
                      <a:srgbClr val="111827"/>
                    </a:solidFill>
                    <a:latin typeface="Arial"/>
                  </a:rPr>
                  <a:t> parts </a:t>
                </a:r>
                <a:r>
                  <a:rPr lang="en-IN" sz="2400">
                    <a:solidFill>
                      <a:srgbClr val="111827"/>
                    </a:solidFill>
                    <a:latin typeface="Cambria Math" panose="02040503050406030204" pitchFamily="18" charset="0"/>
                  </a:rPr>
                  <a:t>$=1+4+5+5=15$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15</a:t>
            </a:r>
            <a:endParaRPr sz="2800">
              <a:solidFill>
                <a:srgbClr val="15803D"/>
              </a:solidFill>
            </a:endParaRP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Identical objects into identical boxes (empty allowed)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at most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parts, equal to the number of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of size at most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(conjugation).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Recurrence: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(smallest part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subtract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from every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partitions in all;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parts gives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Identical objects into identical boxes (empty allowed) </a:t>
                </a:r>
                <a:r>
                  <a:rPr lang="en-IN" sz="2400">
                    <a:solidFill>
                      <a:srgbClr val="111827"/>
                    </a:solidFill>
                    <a:latin typeface="Cambria Math" panose="02040503050406030204" pitchFamily="18" charset="0"/>
                  </a:rPr>
                  <a:t>$=$</a:t>
                </a:r>
                <a:r>
                  <a:rPr sz="2400" b="0">
                    <a:solidFill>
                      <a:srgbClr val="111827"/>
                    </a:solidFill>
                    <a:latin typeface="Arial"/>
                  </a:rPr>
                  <a:t> partitions of </a:t>
                </a:r>
                <a:r>
                  <a:rPr lang="en-IN" sz="2400">
                    <a:solidFill>
                      <a:srgbClr val="111827"/>
                    </a:solidFill>
                    <a:latin typeface="Cambria Math" panose="02040503050406030204" pitchFamily="18" charset="0"/>
                  </a:rPr>
                  <a:t>$n$</a:t>
                </a:r>
                <a:r>
                  <a:rPr sz="2400" b="0">
                    <a:solidFill>
                      <a:srgbClr val="111827"/>
                    </a:solidFill>
                    <a:latin typeface="Arial"/>
                  </a:rPr>
                  <a:t> into at most </a:t>
                </a:r>
                <a:r>
                  <a:rPr lang="en-IN" sz="2400">
                    <a:solidFill>
                      <a:srgbClr val="111827"/>
                    </a:solidFill>
                    <a:latin typeface="Cambria Math" panose="02040503050406030204" pitchFamily="18" charset="0"/>
                  </a:rPr>
                  <a:t>$k$</a:t>
                </a:r>
                <a:r>
                  <a:rPr sz="2400" b="0">
                    <a:solidFill>
                      <a:srgbClr val="111827"/>
                    </a:solidFill>
                    <a:latin typeface="Arial"/>
                  </a:rPr>
                  <a:t> parts, equal to the number of partitions of </a:t>
                </a:r>
                <a:r>
                  <a:rPr lang="en-IN" sz="2400">
                    <a:solidFill>
                      <a:srgbClr val="111827"/>
                    </a:solidFill>
                    <a:latin typeface="Cambria Math" panose="02040503050406030204" pitchFamily="18" charset="0"/>
                  </a:rPr>
                  <a:t>$n$</a:t>
                </a:r>
                <a:r>
                  <a:rPr sz="2400" b="0">
                    <a:solidFill>
                      <a:srgbClr val="111827"/>
                    </a:solidFill>
                    <a:latin typeface="Arial"/>
                  </a:rPr>
                  <a:t> into parts of size at most </a:t>
                </a:r>
                <a:r>
                  <a:rPr lang="en-IN" sz="2400">
                    <a:solidFill>
                      <a:srgbClr val="111827"/>
                    </a:solidFill>
                    <a:latin typeface="Cambria Math" panose="02040503050406030204" pitchFamily="18" charset="0"/>
                  </a:rPr>
                  <a:t>$k$</a:t>
                </a:r>
                <a:r>
                  <a:rPr sz="2400" b="0">
                    <a:solidFill>
                      <a:srgbClr val="111827"/>
                    </a:solidFill>
                    <a:latin typeface="Arial"/>
                  </a:rPr>
                  <a:t> (conjugation).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Recurrence: </a:t>
                </a:r>
                <a:r>
                  <a:rPr lang="en-IN" sz="2400">
                    <a:solidFill>
                      <a:srgbClr val="111827"/>
                    </a:solidFill>
                    <a:latin typeface="Cambria Math" panose="02040503050406030204" pitchFamily="18" charset="0"/>
                  </a:rPr>
                  <a:t>$p_k(n)=p_{k-1}(n-1)+p_k(n-k)$</a:t>
                </a:r>
                <a:r>
                  <a:rPr sz="2400" b="0">
                    <a:solidFill>
                      <a:srgbClr val="111827"/>
                    </a:solidFill>
                    <a:latin typeface="Arial"/>
                  </a:rPr>
                  <a:t> (smallest part </a:t>
                </a:r>
                <a:r>
                  <a:rPr lang="en-IN" sz="2400">
                    <a:solidFill>
                      <a:srgbClr val="111827"/>
                    </a:solidFill>
                    <a:latin typeface="Cambria Math" panose="02040503050406030204" pitchFamily="18" charset="0"/>
                  </a:rPr>
                  <a:t>$=1$</a:t>
                </a:r>
                <a:r>
                  <a:rPr sz="2400" b="0">
                    <a:solidFill>
                      <a:srgbClr val="111827"/>
                    </a:solidFill>
                    <a:latin typeface="Arial"/>
                  </a:rPr>
                  <a:t> or subtract </a:t>
                </a:r>
                <a:r>
                  <a:rPr lang="en-IN" sz="2400">
                    <a:solidFill>
                      <a:srgbClr val="111827"/>
                    </a:solidFill>
                    <a:latin typeface="Cambria Math" panose="02040503050406030204" pitchFamily="18" charset="0"/>
                  </a:rPr>
                  <a:t>$1$</a:t>
                </a:r>
                <a:r>
                  <a:rPr sz="2400" b="0">
                    <a:solidFill>
                      <a:srgbClr val="111827"/>
                    </a:solidFill>
                    <a:latin typeface="Arial"/>
                  </a:rPr>
                  <a:t> from every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a:r>
                <a:r>
                  <a:rPr lang="en-IN" sz="2400">
                    <a:solidFill>
                      <a:srgbClr val="111827"/>
                    </a:solidFill>
                    <a:latin typeface="Cambria Math" panose="02040503050406030204" pitchFamily="18" charset="0"/>
                  </a:rPr>
                  <a:t>$p(8)=22$</a:t>
                </a:r>
                <a:r>
                  <a:rPr sz="2400" b="0">
                    <a:solidFill>
                      <a:srgbClr val="111827"/>
                    </a:solidFill>
                    <a:latin typeface="Arial"/>
                  </a:rPr>
                  <a:t> partitions in all; at most </a:t>
                </a:r>
                <a:r>
                  <a:rPr lang="en-IN" sz="2400">
                    <a:solidFill>
                      <a:srgbClr val="111827"/>
                    </a:solidFill>
                    <a:latin typeface="Cambria Math" panose="02040503050406030204" pitchFamily="18" charset="0"/>
                  </a:rPr>
                  <a:t>$4$</a:t>
                </a:r>
                <a:r>
                  <a:rPr sz="2400" b="0">
                    <a:solidFill>
                      <a:srgbClr val="111827"/>
                    </a:solidFill>
                    <a:latin typeface="Arial"/>
                  </a:rPr>
                  <a:t> parts gives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identical apples can be distributed among three children such that each child gets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apples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142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406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136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130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r>
                  <a:rPr lang="en-IN" sz="2400">
                    <a:solidFill>
                      <a:srgbClr val="111827"/>
                    </a:solidFill>
                    <a:latin typeface="Cambria Math" panose="02040503050406030204" pitchFamily="18" charset="0"/>
                  </a:rPr>
                  <a:t>$21$</a:t>
                </a:r>
                <a:r>
                  <a:rPr sz="2400" b="0">
                    <a:solidFill>
                      <a:srgbClr val="111827"/>
                    </a:solidFill>
                    <a:latin typeface="Arial"/>
                  </a:rPr>
                  <a:t> identical apples can be distributed among three children such that each child gets at least </a:t>
                </a:r>
                <a:r>
                  <a:rPr lang="en-IN" sz="2400">
                    <a:solidFill>
                      <a:srgbClr val="111827"/>
                    </a:solidFill>
                    <a:latin typeface="Cambria Math" panose="02040503050406030204" pitchFamily="18" charset="0"/>
                  </a:rPr>
                  <a:t>$2$</a:t>
                </a:r>
                <a:r>
                  <a:rPr sz="2400" b="0">
                    <a:solidFill>
                      <a:srgbClr val="111827"/>
                    </a:solidFill>
                    <a:latin typeface="Arial"/>
                  </a:rPr>
                  <a:t> apples is: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$142$</a:t>
                </a:r>
                <a:r>
                  <a:rPr sz="2400" b="0">
                    <a:solidFill>
                      <a:srgbClr val="111827"/>
                    </a:solidFill>
                    <a:latin typeface="Arial"/>
                  </a:rPr>
                  <a:t>   (B) </a:t>
                </a:r>
                <a:r>
                  <a:rPr lang="en-IN" sz="2400">
                    <a:solidFill>
                      <a:srgbClr val="111827"/>
                    </a:solidFill>
                    <a:latin typeface="Cambria Math" panose="02040503050406030204" pitchFamily="18" charset="0"/>
                  </a:rPr>
                  <a:t>$406$</a:t>
                </a:r>
                <a:r>
                  <a:rPr sz="2400" b="0">
                    <a:solidFill>
                      <a:srgbClr val="111827"/>
                    </a:solidFill>
                    <a:latin typeface="Arial"/>
                  </a:rPr>
                  <a:t>   (C) </a:t>
                </a:r>
                <a:r>
                  <a:rPr lang="en-IN" sz="2400">
                    <a:solidFill>
                      <a:srgbClr val="111827"/>
                    </a:solidFill>
                    <a:latin typeface="Cambria Math" panose="02040503050406030204" pitchFamily="18" charset="0"/>
                  </a:rPr>
                  <a:t>$136$</a:t>
                </a:r>
                <a:r>
                  <a:rPr sz="2400" b="0">
                    <a:solidFill>
                      <a:srgbClr val="111827"/>
                    </a:solidFill>
                    <a:latin typeface="Arial"/>
                  </a:rPr>
                  <a:t>   (D) </a:t>
                </a:r>
                <a:r>
                  <a:rPr lang="en-IN" sz="2400">
                    <a:solidFill>
                      <a:srgbClr val="111827"/>
                    </a:solidFill>
                    <a:latin typeface="Cambria Math" panose="02040503050406030204" pitchFamily="18" charset="0"/>
                  </a:rPr>
                  <a:t>$130$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identical objects with a minimum for each recipient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Give each child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apples; the remaining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are distributed with no restriction.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Give each child </a:t>
                </a:r>
                <a:r>
                  <a:rPr lang="en-IN" sz="2400">
                    <a:solidFill>
                      <a:srgbClr val="78350F"/>
                    </a:solidFill>
                    <a:latin typeface="Cambria Math" panose="02040503050406030204" pitchFamily="18" charset="0"/>
                  </a:rPr>
                  <a:t>$2$</a:t>
                </a:r>
                <a:r>
                  <a:rPr sz="2400" b="0">
                    <a:solidFill>
                      <a:srgbClr val="78350F"/>
                    </a:solidFill>
                    <a:latin typeface="Arial"/>
                  </a:rPr>
                  <a:t> apples; the remaining </a:t>
                </a:r>
                <a:r>
                  <a:rPr lang="en-IN" sz="2400">
                    <a:solidFill>
                      <a:srgbClr val="78350F"/>
                    </a:solidFill>
                    <a:latin typeface="Cambria Math" panose="02040503050406030204" pitchFamily="18" charset="0"/>
                  </a:rPr>
                  <a:t>$15$</a:t>
                </a:r>
                <a:r>
                  <a:rPr sz="2400" b="0">
                    <a:solidFill>
                      <a:srgbClr val="78350F"/>
                    </a:solidFill>
                    <a:latin typeface="Arial"/>
                  </a:rPr>
                  <a:t> are distributed with no restriction.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apples to each of the three children first: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apples used,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left.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the remaining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identical apples among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children with no restriction: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 </a:t>
                </a:r>
                <a:r>
                  <a:rPr lang="en-IN" sz="2400">
                    <a:solidFill>
                      <a:srgbClr val="111827"/>
                    </a:solidFill>
                    <a:latin typeface="Cambria Math" panose="02040503050406030204" pitchFamily="18" charset="0"/>
                  </a:rPr>
                  <a:t>$2$</a:t>
                </a:r>
                <a:r>
                  <a:rPr sz="2400" b="0">
                    <a:solidFill>
                      <a:srgbClr val="111827"/>
                    </a:solidFill>
                    <a:latin typeface="Arial"/>
                  </a:rPr>
                  <a:t> apples to each of the three children first: </a:t>
                </a:r>
                <a:r>
                  <a:rPr lang="en-IN" sz="2400">
                    <a:solidFill>
                      <a:srgbClr val="111827"/>
                    </a:solidFill>
                    <a:latin typeface="Cambria Math" panose="02040503050406030204" pitchFamily="18" charset="0"/>
                  </a:rPr>
                  <a:t>$6$</a:t>
                </a:r>
                <a:r>
                  <a:rPr sz="2400" b="0">
                    <a:solidFill>
                      <a:srgbClr val="111827"/>
                    </a:solidFill>
                    <a:latin typeface="Arial"/>
                  </a:rPr>
                  <a:t> apples used, </a:t>
                </a:r>
                <a:r>
                  <a:rPr lang="en-IN" sz="2400">
                    <a:solidFill>
                      <a:srgbClr val="111827"/>
                    </a:solidFill>
                    <a:latin typeface="Cambria Math" panose="02040503050406030204" pitchFamily="18" charset="0"/>
                  </a:rPr>
                  <a:t>$15$</a:t>
                </a:r>
                <a:r>
                  <a:rPr sz="2400" b="0">
                    <a:solidFill>
                      <a:srgbClr val="111827"/>
                    </a:solidFill>
                    <a:latin typeface="Arial"/>
                  </a:rPr>
                  <a:t> left.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the remaining </a:t>
                </a:r>
                <a:r>
                  <a:rPr lang="en-IN" sz="2400">
                    <a:solidFill>
                      <a:srgbClr val="111827"/>
                    </a:solidFill>
                    <a:latin typeface="Cambria Math" panose="02040503050406030204" pitchFamily="18" charset="0"/>
                  </a:rPr>
                  <a:t>$15$</a:t>
                </a:r>
                <a:r>
                  <a:rPr sz="2400" b="0">
                    <a:solidFill>
                      <a:srgbClr val="111827"/>
                    </a:solidFill>
                    <a:latin typeface="Arial"/>
                  </a:rPr>
                  <a:t> identical apples among </a:t>
                </a:r>
                <a:r>
                  <a:rPr lang="en-IN" sz="2400">
                    <a:solidFill>
                      <a:srgbClr val="111827"/>
                    </a:solidFill>
                    <a:latin typeface="Cambria Math" panose="02040503050406030204" pitchFamily="18" charset="0"/>
                  </a:rPr>
                  <a:t>$3$</a:t>
                </a:r>
                <a:r>
                  <a:rPr sz="2400" b="0">
                    <a:solidFill>
                      <a:srgbClr val="111827"/>
                    </a:solidFill>
                    <a:latin typeface="Arial"/>
                  </a:rPr>
                  <a:t> children with no restriction: </a:t>
                </a:r>
                <a:r>
                  <a:rPr lang="en-IN" sz="2400">
                    <a:solidFill>
                      <a:srgbClr val="111827"/>
                    </a:solidFill>
                    <a:latin typeface="Cambria Math" panose="02040503050406030204" pitchFamily="18" charset="0"/>
                  </a:rPr>
                  <a:t>${}^{15+3-1}C_{3-1}={}^{17}C_2$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${}^{17}C_2=\frac{17\times16}{2}=136$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136</a:t>
            </a:r>
            <a:endParaRPr sz="2800">
              <a:solidFill>
                <a:srgbClr val="15803D"/>
              </a:solidFill>
            </a:endParaRP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Inclusion-exclusion on the children who get fewer than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apples.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Inclusion-exclusion on the children who get fewer than </a:t>
                </a:r>
                <a:r>
                  <a:rPr lang="en-IN" sz="2400">
                    <a:solidFill>
                      <a:srgbClr val="78350F"/>
                    </a:solidFill>
                    <a:latin typeface="Cambria Math" panose="02040503050406030204" pitchFamily="18" charset="0"/>
                  </a:rPr>
                  <a:t>$2$</a:t>
                </a:r>
                <a:r>
                  <a:rPr sz="2400" b="0">
                    <a:solidFill>
                      <a:srgbClr val="78350F"/>
                    </a:solidFill>
                    <a:latin typeface="Arial"/>
                  </a:rPr>
                  <a:t> apples.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distributions of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apples among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children: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given child gets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apple: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oMath>
                </a14:m>
                <a:r>
                  <a:rPr sz="2400" b="0">
                    <a:solidFill>
                      <a:srgbClr val="111827"/>
                    </a:solidFill>
                    <a:latin typeface="Arial"/>
                  </a:rPr>
                  <a:t> distributions of the others; for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children: </a:t>
                </a:r>
                <a14:m>
                  <m:oMath xmlns:m="http://schemas.openxmlformats.org/officeDocument/2006/math">
                    <m:r>
                      <a:rPr lang="en-IN" sz="2400" i="1">
                        <a:solidFill>
                          <a:srgbClr val="111827"/>
                        </a:solidFill>
                        <a:latin typeface="Cambria Math" panose="02040503050406030204" pitchFamily="18" charset="0"/>
                      </a:rPr>
                      <m:t>129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non-negative distributions of </a:t>
                </a:r>
                <a:r>
                  <a:rPr lang="en-IN" sz="2400">
                    <a:solidFill>
                      <a:srgbClr val="111827"/>
                    </a:solidFill>
                    <a:latin typeface="Cambria Math" panose="02040503050406030204" pitchFamily="18" charset="0"/>
                  </a:rPr>
                  <a:t>$21$</a:t>
                </a:r>
                <a:r>
                  <a:rPr sz="2400" b="0">
                    <a:solidFill>
                      <a:srgbClr val="111827"/>
                    </a:solidFill>
                    <a:latin typeface="Arial"/>
                  </a:rPr>
                  <a:t> apples among </a:t>
                </a:r>
                <a:r>
                  <a:rPr lang="en-IN" sz="2400">
                    <a:solidFill>
                      <a:srgbClr val="111827"/>
                    </a:solidFill>
                    <a:latin typeface="Cambria Math" panose="02040503050406030204" pitchFamily="18" charset="0"/>
                  </a:rPr>
                  <a:t>$3$</a:t>
                </a:r>
                <a:r>
                  <a:rPr sz="2400" b="0">
                    <a:solidFill>
                      <a:srgbClr val="111827"/>
                    </a:solidFill>
                    <a:latin typeface="Arial"/>
                  </a:rPr>
                  <a:t> children: </a:t>
                </a:r>
                <a:r>
                  <a:rPr lang="en-IN" sz="2400">
                    <a:solidFill>
                      <a:srgbClr val="111827"/>
                    </a:solidFill>
                    <a:latin typeface="Cambria Math" panose="02040503050406030204" pitchFamily="18" charset="0"/>
                  </a:rPr>
                  <a:t>${}^{23}C_2=253$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given child gets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apple: </a:t>
                </a:r>
                <a:r>
                  <a:rPr lang="en-IN" sz="2400">
                    <a:solidFill>
                      <a:srgbClr val="111827"/>
                    </a:solidFill>
                    <a:latin typeface="Cambria Math" panose="02040503050406030204" pitchFamily="18" charset="0"/>
                  </a:rPr>
                  <a:t>$22+21=43$</a:t>
                </a:r>
                <a:r>
                  <a:rPr sz="2400" b="0">
                    <a:solidFill>
                      <a:srgbClr val="111827"/>
                    </a:solidFill>
                    <a:latin typeface="Arial"/>
                  </a:rPr>
                  <a:t> distributions of the others; for </a:t>
                </a:r>
                <a:r>
                  <a:rPr lang="en-IN" sz="2400">
                    <a:solidFill>
                      <a:srgbClr val="111827"/>
                    </a:solidFill>
                    <a:latin typeface="Cambria Math" panose="02040503050406030204" pitchFamily="18" charset="0"/>
                  </a:rPr>
                  <a:t>$3$</a:t>
                </a:r>
                <a:r>
                  <a:rPr sz="2400" b="0">
                    <a:solidFill>
                      <a:srgbClr val="111827"/>
                    </a:solidFill>
                    <a:latin typeface="Arial"/>
                  </a:rPr>
                  <a:t> children: </a:t>
                </a:r>
                <a:r>
                  <a:rPr lang="en-IN" sz="2400">
                    <a:solidFill>
                      <a:srgbClr val="111827"/>
                    </a:solidFill>
                    <a:latin typeface="Cambria Math" panose="02040503050406030204" pitchFamily="18" charset="0"/>
                  </a:rPr>
                  <a:t>$129$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given children both get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ways each (the third child takes the rest); for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Three children cannot all get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Bad distributions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oMath>
                </a14:m>
                <a:r>
                  <a:rPr sz="2400" b="0">
                    <a:solidFill>
                      <a:srgbClr val="111827"/>
                    </a:solidFill>
                    <a:latin typeface="Arial"/>
                  </a:rPr>
                  <a:t>, so the 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given children both get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ways each (the third child takes the rest); for </a:t>
                </a:r>
                <a:r>
                  <a:rPr lang="en-IN" sz="2400">
                    <a:solidFill>
                      <a:srgbClr val="111827"/>
                    </a:solidFill>
                    <a:latin typeface="Cambria Math" panose="02040503050406030204" pitchFamily="18" charset="0"/>
                  </a:rPr>
                  <a:t>$3$</a:t>
                </a:r>
                <a:r>
                  <a:rPr sz="2400" b="0">
                    <a:solidFill>
                      <a:srgbClr val="111827"/>
                    </a:solidFill>
                    <a:latin typeface="Arial"/>
                  </a:rPr>
                  <a:t> pairs: </a:t>
                </a:r>
                <a:r>
                  <a:rPr lang="en-IN" sz="2400">
                    <a:solidFill>
                      <a:srgbClr val="111827"/>
                    </a:solidFill>
                    <a:latin typeface="Cambria Math" panose="02040503050406030204" pitchFamily="18" charset="0"/>
                  </a:rPr>
                  <a:t>$12$</a:t>
                </a:r>
                <a:r>
                  <a:rPr sz="2400" b="0">
                    <a:solidFill>
                      <a:srgbClr val="111827"/>
                    </a:solidFill>
                    <a:latin typeface="Arial"/>
                  </a:rPr>
                  <a:t>. Three children cannot all get </a:t>
                </a:r>
                <a:r>
                  <a:rPr lang="en-IN" sz="2400">
                    <a:solidFill>
                      <a:srgbClr val="111827"/>
                    </a:solidFill>
                    <a:latin typeface="Cambria Math" panose="02040503050406030204" pitchFamily="18" charset="0"/>
                  </a:rPr>
                  <a:t>$\le1$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Bad distributions </a:t>
                </a:r>
                <a:r>
                  <a:rPr lang="en-IN" sz="2400">
                    <a:solidFill>
                      <a:srgbClr val="111827"/>
                    </a:solidFill>
                    <a:latin typeface="Cambria Math" panose="02040503050406030204" pitchFamily="18" charset="0"/>
                  </a:rPr>
                  <a:t>$=129-12=117$</a:t>
                </a:r>
                <a:r>
                  <a:rPr sz="2400" b="0">
                    <a:solidFill>
                      <a:srgbClr val="111827"/>
                    </a:solidFill>
                    <a:latin typeface="Arial"/>
                  </a:rPr>
                  <a:t>, so the required number </a:t>
                </a:r>
                <a:r>
                  <a:rPr lang="en-IN" sz="2400">
                    <a:solidFill>
                      <a:srgbClr val="111827"/>
                    </a:solidFill>
                    <a:latin typeface="Cambria Math" panose="02040503050406030204" pitchFamily="18" charset="0"/>
                  </a:rPr>
                  <a:t>$=253-117=136$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136</a:t>
            </a:r>
            <a:endParaRPr sz="2800">
              <a:solidFill>
                <a:srgbClr val="15803D"/>
              </a:solidFill>
            </a:endParaRP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each to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people: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'row of identical objects' picture: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apples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dividers make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positions,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Upper limits require inclusion-exclusion.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least </a:t>
                </a:r>
                <a:r>
                  <a:rPr lang="en-IN" sz="2400">
                    <a:solidFill>
                      <a:srgbClr val="111827"/>
                    </a:solidFill>
                    <a:latin typeface="Cambria Math" panose="02040503050406030204" pitchFamily="18" charset="0"/>
                  </a:rPr>
                  <a:t>$m$</a:t>
                </a:r>
                <a:r>
                  <a:rPr sz="2400" b="0">
                    <a:solidFill>
                      <a:srgbClr val="111827"/>
                    </a:solidFill>
                    <a:latin typeface="Arial"/>
                  </a:rPr>
                  <a:t> each to </a:t>
                </a:r>
                <a:r>
                  <a:rPr lang="en-IN" sz="2400">
                    <a:solidFill>
                      <a:srgbClr val="111827"/>
                    </a:solidFill>
                    <a:latin typeface="Cambria Math" panose="02040503050406030204" pitchFamily="18" charset="0"/>
                  </a:rPr>
                  <a:t>$k$</a:t>
                </a:r>
                <a:r>
                  <a:rPr sz="2400" b="0">
                    <a:solidFill>
                      <a:srgbClr val="111827"/>
                    </a:solidFill>
                    <a:latin typeface="Arial"/>
                  </a:rPr>
                  <a:t> people: </a:t>
                </a:r>
                <a:r>
                  <a:rPr lang="en-IN" sz="2400">
                    <a:solidFill>
                      <a:srgbClr val="111827"/>
                    </a:solidFill>
                    <a:latin typeface="Cambria Math" panose="02040503050406030204" pitchFamily="18" charset="0"/>
                  </a:rPr>
                  <a:t>$\binom{n-km+k-1}{k-1}$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'row of identical objects' picture: </a:t>
                </a:r>
                <a:r>
                  <a:rPr lang="en-IN" sz="2400">
                    <a:solidFill>
                      <a:srgbClr val="111827"/>
                    </a:solidFill>
                    <a:latin typeface="Cambria Math" panose="02040503050406030204" pitchFamily="18" charset="0"/>
                  </a:rPr>
                  <a:t>$15$</a:t>
                </a:r>
                <a:r>
                  <a:rPr sz="2400" b="0">
                    <a:solidFill>
                      <a:srgbClr val="111827"/>
                    </a:solidFill>
                    <a:latin typeface="Arial"/>
                  </a:rPr>
                  <a:t> apples and </a:t>
                </a:r>
                <a:r>
                  <a:rPr lang="en-IN" sz="2400">
                    <a:solidFill>
                      <a:srgbClr val="111827"/>
                    </a:solidFill>
                    <a:latin typeface="Cambria Math" panose="02040503050406030204" pitchFamily="18" charset="0"/>
                  </a:rPr>
                  <a:t>$2$</a:t>
                </a:r>
                <a:r>
                  <a:rPr sz="2400" b="0">
                    <a:solidFill>
                      <a:srgbClr val="111827"/>
                    </a:solidFill>
                    <a:latin typeface="Arial"/>
                  </a:rPr>
                  <a:t> dividers make </a:t>
                </a:r>
                <a:r>
                  <a:rPr lang="en-IN" sz="2400">
                    <a:solidFill>
                      <a:srgbClr val="111827"/>
                    </a:solidFill>
                    <a:latin typeface="Cambria Math" panose="02040503050406030204" pitchFamily="18" charset="0"/>
                  </a:rPr>
                  <a:t>$17$</a:t>
                </a:r>
                <a:r>
                  <a:rPr sz="2400" b="0">
                    <a:solidFill>
                      <a:srgbClr val="111827"/>
                    </a:solidFill>
                    <a:latin typeface="Arial"/>
                  </a:rPr>
                  <a:t> positions, so </a:t>
                </a:r>
                <a:r>
                  <a:rPr lang="en-IN" sz="2400">
                    <a:solidFill>
                      <a:srgbClr val="111827"/>
                    </a:solidFill>
                    <a:latin typeface="Cambria Math" panose="02040503050406030204" pitchFamily="18" charset="0"/>
                  </a:rPr>
                  <a:t>$\binom{17}{2}$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Upper limits require inclusion-exclusion.</a:t>
                </a:r>
                <a:endParaRPr sz="2400">
                  <a:solidFill>
                    <a:srgbClr val="111827"/>
                  </a:solidFill>
                </a:endParaRPr>
              </a:p>
            </p:txBody>
          </p:sp>
        </mc:Fallback>
      </mc:AlternateContent>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for some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oMath>
                </a14:m>
                <a:r>
                  <a:rPr sz="2400" b="0">
                    <a:solidFill>
                      <a:srgbClr val="111827"/>
                    </a:solidFill>
                    <a:latin typeface="Arial"/>
                  </a:rPr>
                  <a:t>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372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384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380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376</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for some </a:t>
                </a:r>
                <a:r>
                  <a:rPr lang="en-IN" sz="2400">
                    <a:solidFill>
                      <a:srgbClr val="111827"/>
                    </a:solidFill>
                    <a:latin typeface="Cambria Math" panose="02040503050406030204" pitchFamily="18" charset="0"/>
                  </a:rPr>
                  <a:t>$m,n$</a:t>
                </a:r>
                <a:r>
                  <a:rPr sz="2400" b="0">
                    <a:solidFill>
                      <a:srgbClr val="111827"/>
                    </a:solidFill>
                    <a:latin typeface="Arial"/>
                  </a:rPr>
                  <a:t>: </a:t>
                </a:r>
                <a:r>
                  <a:rPr lang="en-IN" sz="2400">
                    <a:solidFill>
                      <a:srgbClr val="111827"/>
                    </a:solidFill>
                    <a:latin typeface="Cambria Math" panose="02040503050406030204" pitchFamily="18" charset="0"/>
                  </a:rPr>
                  <a:t>${}^6C_m+2\left({}^6C_{m+1}\right)+{}^6C_{m+2}&gt;{}^8C_3$</a:t>
                </a:r>
                <a:r>
                  <a:rPr sz="2400" b="0">
                    <a:solidFill>
                      <a:srgbClr val="111827"/>
                    </a:solidFill>
                    <a:latin typeface="Arial"/>
                  </a:rPr>
                  <a:t> and </a:t>
                </a:r>
                <a:r>
                  <a:rPr lang="en-IN" sz="2400">
                    <a:solidFill>
                      <a:srgbClr val="111827"/>
                    </a:solidFill>
                    <a:latin typeface="Cambria Math" panose="02040503050406030204" pitchFamily="18" charset="0"/>
                  </a:rPr>
                  <a:t>${}^{n-1}P_3:{}^nP_4=1:8$</a:t>
                </a:r>
                <a:r>
                  <a:rPr sz="2400" b="0">
                    <a:solidFill>
                      <a:srgbClr val="111827"/>
                    </a:solidFill>
                    <a:latin typeface="Arial"/>
                  </a:rPr>
                  <a:t>, then </a:t>
                </a:r>
                <a:r>
                  <a:rPr lang="en-IN" sz="2400">
                    <a:solidFill>
                      <a:srgbClr val="111827"/>
                    </a:solidFill>
                    <a:latin typeface="Cambria Math" panose="02040503050406030204" pitchFamily="18" charset="0"/>
                  </a:rPr>
                  <a:t>${}^nP_{m+1}+{}^{n+1}C_m$</a:t>
                </a:r>
                <a:r>
                  <a:rPr sz="2400" b="0">
                    <a:solidFill>
                      <a:srgbClr val="111827"/>
                    </a:solidFill>
                    <a:latin typeface="Arial"/>
                  </a:rPr>
                  <a:t>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$372$</a:t>
                </a:r>
                <a:r>
                  <a:rPr sz="2400" b="0">
                    <a:solidFill>
                      <a:srgbClr val="111827"/>
                    </a:solidFill>
                    <a:latin typeface="Arial"/>
                  </a:rPr>
                  <a:t>   (B) </a:t>
                </a:r>
                <a:r>
                  <a:rPr lang="en-IN" sz="2400">
                    <a:solidFill>
                      <a:srgbClr val="111827"/>
                    </a:solidFill>
                    <a:latin typeface="Cambria Math" panose="02040503050406030204" pitchFamily="18" charset="0"/>
                  </a:rPr>
                  <a:t>$384$</a:t>
                </a:r>
                <a:r>
                  <a:rPr sz="2400" b="0">
                    <a:solidFill>
                      <a:srgbClr val="111827"/>
                    </a:solidFill>
                    <a:latin typeface="Arial"/>
                  </a:rPr>
                  <a:t>   (C) </a:t>
                </a:r>
                <a:r>
                  <a:rPr lang="en-IN" sz="2400">
                    <a:solidFill>
                      <a:srgbClr val="111827"/>
                    </a:solidFill>
                    <a:latin typeface="Cambria Math" panose="02040503050406030204" pitchFamily="18" charset="0"/>
                  </a:rPr>
                  <a:t>$380$</a:t>
                </a:r>
                <a:r>
                  <a:rPr sz="2400" b="0">
                    <a:solidFill>
                      <a:srgbClr val="111827"/>
                    </a:solidFill>
                    <a:latin typeface="Arial"/>
                  </a:rPr>
                  <a:t>   (D) </a:t>
                </a:r>
                <a:r>
                  <a:rPr lang="en-IN" sz="2400">
                    <a:solidFill>
                      <a:srgbClr val="111827"/>
                    </a:solidFill>
                    <a:latin typeface="Cambria Math" panose="02040503050406030204" pitchFamily="18" charset="0"/>
                  </a:rPr>
                  <a:t>$376$</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Combinatorial identity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and permutation ratios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Combinatorial identity </a:t>
                </a:r>
                <a:r>
                  <a:rPr lang="en-IN" sz="2400">
                    <a:solidFill>
                      <a:srgbClr val="111827"/>
                    </a:solidFill>
                    <a:latin typeface="Cambria Math" panose="02040503050406030204" pitchFamily="18" charset="0"/>
                  </a:rPr>
                  <a:t>${}^nC_r+{}^nC_{r-1}={}^{n+1}C_r$</a:t>
                </a:r>
                <a:r>
                  <a:rPr sz="2400" b="0">
                    <a:solidFill>
                      <a:srgbClr val="111827"/>
                    </a:solidFill>
                    <a:latin typeface="Arial"/>
                  </a:rPr>
                  <a:t> and permutation ratios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𝑚</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8</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oMath>
                </a14:m>
                <a:r>
                  <a:rPr sz="2400" b="0">
                    <a:solidFill>
                      <a:srgbClr val="78350F"/>
                    </a:solidFill>
                    <a:latin typeface="Arial"/>
                  </a:rPr>
                  <a:t> by Pascal's rule twice.</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${}^6C_m+2\,{}^6C_{m+1}+{}^6C_{m+2}={}^8C_{m+2}$</a:t>
                </a:r>
                <a:r>
                  <a:rPr sz="2400" b="0">
                    <a:solidFill>
                      <a:srgbClr val="78350F"/>
                    </a:solidFill>
                    <a:latin typeface="Arial"/>
                  </a:rPr>
                  <a:t> by Pascal's rule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takes the values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it exceeds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${}^6C_m+2\,{}^6C_{m+1}+{}^6C_{m+2}=({}^6C_m+{}^6C_{m+1})+({}^6C_{m+1}+{}^6C_{m+2})$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${}^nC_r+{}^nC_{r-1}={}^{n+1}C_r$</a:t>
                </a:r>
                <a:r>
                  <a:rPr sz="2400" b="0">
                    <a:solidFill>
                      <a:srgbClr val="111827"/>
                    </a:solidFill>
                    <a:latin typeface="Arial"/>
                  </a:rPr>
                  <a:t>: </a:t>
                </a:r>
                <a:r>
                  <a:rPr lang="en-IN" sz="2400">
                    <a:solidFill>
                      <a:srgbClr val="111827"/>
                    </a:solidFill>
                    <a:latin typeface="Cambria Math" panose="02040503050406030204" pitchFamily="18" charset="0"/>
                  </a:rPr>
                  <a:t>$={}^7C_{m+1}+{}^7C_{m+2}={}^8C_{m+2}$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${}^8C_{m+2}&gt;{}^8C_3=56$</a:t>
                </a:r>
                <a:r>
                  <a:rPr sz="2400" b="0">
                    <a:solidFill>
                      <a:srgbClr val="111827"/>
                    </a:solidFill>
                    <a:latin typeface="Arial"/>
                  </a:rPr>
                  <a:t>. Since </a:t>
                </a:r>
                <a:r>
                  <a:rPr lang="en-IN" sz="2400">
                    <a:solidFill>
                      <a:srgbClr val="111827"/>
                    </a:solidFill>
                    <a:latin typeface="Cambria Math" panose="02040503050406030204" pitchFamily="18" charset="0"/>
                  </a:rPr>
                  <a:t>${}^8C_r$</a:t>
                </a:r>
                <a:r>
                  <a:rPr sz="2400" b="0">
                    <a:solidFill>
                      <a:srgbClr val="111827"/>
                    </a:solidFill>
                    <a:latin typeface="Arial"/>
                  </a:rPr>
                  <a:t> takes the values </a:t>
                </a:r>
                <a:r>
                  <a:rPr lang="en-IN" sz="2400">
                    <a:solidFill>
                      <a:srgbClr val="111827"/>
                    </a:solidFill>
                    <a:latin typeface="Cambria Math" panose="02040503050406030204" pitchFamily="18" charset="0"/>
                  </a:rPr>
                  <a:t>$1,8,28,56,70,56,28,8,1$</a:t>
                </a:r>
                <a:r>
                  <a:rPr sz="2400" b="0">
                    <a:solidFill>
                      <a:srgbClr val="111827"/>
                    </a:solidFill>
                    <a:latin typeface="Arial"/>
                  </a:rPr>
                  <a:t> for </a:t>
                </a:r>
                <a:r>
                  <a:rPr lang="en-IN" sz="2400">
                    <a:solidFill>
                      <a:srgbClr val="111827"/>
                    </a:solidFill>
                    <a:latin typeface="Cambria Math" panose="02040503050406030204" pitchFamily="18" charset="0"/>
                  </a:rPr>
                  <a:t>$r=0,\dots,8$</a:t>
                </a:r>
                <a:r>
                  <a:rPr sz="2400" b="0">
                    <a:solidFill>
                      <a:srgbClr val="111827"/>
                    </a:solidFill>
                    <a:latin typeface="Arial"/>
                  </a:rPr>
                  <a:t>, it exceeds </a:t>
                </a:r>
                <a:r>
                  <a:rPr lang="en-IN" sz="2400">
                    <a:solidFill>
                      <a:srgbClr val="111827"/>
                    </a:solidFill>
                    <a:latin typeface="Cambria Math" panose="02040503050406030204" pitchFamily="18" charset="0"/>
                  </a:rPr>
                  <a:t>$56$</a:t>
                </a:r>
                <a:r>
                  <a:rPr sz="2400" b="0">
                    <a:solidFill>
                      <a:srgbClr val="111827"/>
                    </a:solidFill>
                    <a:latin typeface="Arial"/>
                  </a:rPr>
                  <a:t> only for </a:t>
                </a:r>
                <a:r>
                  <a:rPr lang="en-IN" sz="2400">
                    <a:solidFill>
                      <a:srgbClr val="111827"/>
                    </a:solidFill>
                    <a:latin typeface="Cambria Math" panose="02040503050406030204" pitchFamily="18" charset="0"/>
                  </a:rPr>
                  <a:t>$r=4$</a:t>
                </a:r>
                <a:r>
                  <a:rPr sz="2400" b="0">
                    <a:solidFill>
                      <a:srgbClr val="111827"/>
                    </a:solidFill>
                    <a:latin typeface="Arial"/>
                  </a:rPr>
                  <a:t> (</a:t>
                </a:r>
                <a:r>
                  <a:rPr lang="en-IN" sz="2400">
                    <a:solidFill>
                      <a:srgbClr val="111827"/>
                    </a:solidFill>
                    <a:latin typeface="Cambria Math" panose="02040503050406030204" pitchFamily="18" charset="0"/>
                  </a:rPr>
                  <a:t>$70$</a:t>
                </a:r>
                <a:r>
                  <a:rPr sz="2400" b="0">
                    <a:solidFill>
                      <a:srgbClr val="111827"/>
                    </a:solidFill>
                    <a:latin typeface="Arial"/>
                  </a:rPr>
                  <a:t>); hence </a:t>
                </a:r>
                <a:r>
                  <a:rPr lang="en-IN" sz="2400">
                    <a:solidFill>
                      <a:srgbClr val="111827"/>
                    </a:solidFill>
                    <a:latin typeface="Cambria Math" panose="02040503050406030204" pitchFamily="18" charset="0"/>
                  </a:rPr>
                  <a:t>$m+2=4$</a:t>
                </a:r>
                <a:r>
                  <a:rPr sz="2400" b="0">
                    <a:solidFill>
                      <a:srgbClr val="111827"/>
                    </a:solidFill>
                    <a:latin typeface="Arial"/>
                  </a:rPr>
                  <a:t> and </a:t>
                </a:r>
                <a:r>
                  <a:rPr lang="en-IN" sz="2400">
                    <a:solidFill>
                      <a:srgbClr val="111827"/>
                    </a:solidFill>
                    <a:latin typeface="Cambria Math" panose="02040503050406030204" pitchFamily="18" charset="0"/>
                  </a:rPr>
                  <a:t>$m=2$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 is </a:t>
                </a:r>
                <a14:m>
                  <m:oMath xmlns:m="http://schemas.openxmlformats.org/officeDocument/2006/math">
                    <m:r>
                      <a:rPr lang="en-IN" sz="2400" i="1">
                        <a:solidFill>
                          <a:srgbClr val="111827"/>
                        </a:solidFill>
                        <a:latin typeface="Cambria Math" panose="02040503050406030204" pitchFamily="18" charset="0"/>
                      </a:rPr>
                      <m:t>372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${}^{n-1}P_3:{}^nP_4=\frac{(n-1)(n-2)(n-3)}{n(n-1)(n-2)(n-3)}=\frac1n=\frac18$</a:t>
                </a:r>
                <a:r>
                  <a:rPr sz="2400" b="0">
                    <a:solidFill>
                      <a:srgbClr val="111827"/>
                    </a:solidFill>
                    <a:latin typeface="Arial"/>
                  </a:rPr>
                  <a:t>, so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${}^nP_{m+1}+{}^{n+1}C_m={}^8P_3+{}^9C_2=8\cdot7\cdot6+\frac{9\cdot8}{2}=336+36$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 is </a:t>
                </a:r>
                <a:r>
                  <a:rPr lang="en-IN" sz="2400">
                    <a:solidFill>
                      <a:srgbClr val="111827"/>
                    </a:solidFill>
                    <a:latin typeface="Cambria Math" panose="02040503050406030204" pitchFamily="18" charset="0"/>
                  </a:rPr>
                  <a:t>$372$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372</a:t>
            </a:r>
            <a:endParaRPr sz="2800">
              <a:solidFill>
                <a:srgbClr val="15803D"/>
              </a:solidFill>
            </a:endParaRP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each admissible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directly, without using Pascal's identity.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each admissible </a:t>
                </a:r>
                <a:r>
                  <a:rPr lang="en-IN" sz="2400">
                    <a:solidFill>
                      <a:srgbClr val="78350F"/>
                    </a:solidFill>
                    <a:latin typeface="Cambria Math" panose="02040503050406030204" pitchFamily="18" charset="0"/>
                  </a:rPr>
                  <a:t>$m$</a:t>
                </a:r>
                <a:r>
                  <a:rPr sz="2400" b="0">
                    <a:solidFill>
                      <a:srgbClr val="78350F"/>
                    </a:solidFill>
                    <a:latin typeface="Arial"/>
                  </a:rPr>
                  <a:t> directly, without using Pascal's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can be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that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is defined. Evaluate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exceeds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 required value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
                </a:r>
                <a:r>
                  <a:rPr sz="2400" b="0">
                    <a:solidFill>
                      <a:srgbClr val="111827"/>
                    </a:solidFill>
                    <a:latin typeface="Arial"/>
                  </a:rPr>
                  <a:t> can be </a:t>
                </a:r>
                <a:r>
                  <a:rPr lang="en-IN" sz="2400">
                    <a:solidFill>
                      <a:srgbClr val="111827"/>
                    </a:solidFill>
                    <a:latin typeface="Cambria Math" panose="02040503050406030204" pitchFamily="18" charset="0"/>
                  </a:rPr>
                  <a:t>$0,\dots,4$</a:t>
                </a:r>
                <a:r>
                  <a:rPr sz="2400" b="0">
                    <a:solidFill>
                      <a:srgbClr val="111827"/>
                    </a:solidFill>
                    <a:latin typeface="Arial"/>
                  </a:rPr>
                  <a:t> so that </a:t>
                </a:r>
                <a:r>
                  <a:rPr lang="en-IN" sz="2400">
                    <a:solidFill>
                      <a:srgbClr val="111827"/>
                    </a:solidFill>
                    <a:latin typeface="Cambria Math" panose="02040503050406030204" pitchFamily="18" charset="0"/>
                  </a:rPr>
                  <a:t>${}^6C_{m+2}$</a:t>
                </a:r>
                <a:r>
                  <a:rPr sz="2400" b="0">
                    <a:solidFill>
                      <a:srgbClr val="111827"/>
                    </a:solidFill>
                    <a:latin typeface="Arial"/>
                  </a:rPr>
                  <a:t> is defined. Evaluate </a:t>
                </a:r>
                <a:r>
                  <a:rPr lang="en-IN" sz="2400">
                    <a:solidFill>
                      <a:srgbClr val="111827"/>
                    </a:solidFill>
                    <a:latin typeface="Cambria Math" panose="02040503050406030204" pitchFamily="18" charset="0"/>
                  </a:rPr>
                  <a:t>$L(m)={}^6C_m+2\,{}^6C_{m+1}+{}^6C_{m+2}$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$L(0)=1+12+15=28$</a:t>
                </a:r>
                <a:r>
                  <a:rPr sz="2400" b="0">
                    <a:solidFill>
                      <a:srgbClr val="111827"/>
                    </a:solidFill>
                    <a:latin typeface="Arial"/>
                  </a:rPr>
                  <a:t>; </a:t>
                </a:r>
                <a:r>
                  <a:rPr lang="en-IN" sz="2400">
                    <a:solidFill>
                      <a:srgbClr val="111827"/>
                    </a:solidFill>
                    <a:latin typeface="Cambria Math" panose="02040503050406030204" pitchFamily="18" charset="0"/>
                  </a:rPr>
                  <a:t>$L(1)=6+30+20=56$</a:t>
                </a:r>
                <a:r>
                  <a:rPr sz="2400" b="0">
                    <a:solidFill>
                      <a:srgbClr val="111827"/>
                    </a:solidFill>
                    <a:latin typeface="Arial"/>
                  </a:rPr>
                  <a:t>; </a:t>
                </a:r>
                <a:r>
                  <a:rPr lang="en-IN" sz="2400">
                    <a:solidFill>
                      <a:srgbClr val="111827"/>
                    </a:solidFill>
                    <a:latin typeface="Cambria Math" panose="02040503050406030204" pitchFamily="18" charset="0"/>
                  </a:rPr>
                  <a:t>$L(2)=15+40+15=70$</a:t>
                </a:r>
                <a:r>
                  <a:rPr sz="2400" b="0">
                    <a:solidFill>
                      <a:srgbClr val="111827"/>
                    </a:solidFill>
                    <a:latin typeface="Arial"/>
                  </a:rPr>
                  <a:t>; </a:t>
                </a:r>
                <a:r>
                  <a:rPr lang="en-IN" sz="2400">
                    <a:solidFill>
                      <a:srgbClr val="111827"/>
                    </a:solidFill>
                    <a:latin typeface="Cambria Math" panose="02040503050406030204" pitchFamily="18" charset="0"/>
                  </a:rPr>
                  <a:t>$L(3)=20+30+6=56$</a:t>
                </a:r>
                <a:r>
                  <a:rPr sz="2400" b="0">
                    <a:solidFill>
                      <a:srgbClr val="111827"/>
                    </a:solidFill>
                    <a:latin typeface="Arial"/>
                  </a:rPr>
                  <a:t>; </a:t>
                </a:r>
                <a:r>
                  <a:rPr lang="en-IN" sz="2400">
                    <a:solidFill>
                      <a:srgbClr val="111827"/>
                    </a:solidFill>
                    <a:latin typeface="Cambria Math" panose="02040503050406030204" pitchFamily="18" charset="0"/>
                  </a:rPr>
                  <a:t>$L(4)=15+12+1=28$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$L(2)=70$</a:t>
                </a:r>
                <a:r>
                  <a:rPr sz="2400" b="0">
                    <a:solidFill>
                      <a:srgbClr val="111827"/>
                    </a:solidFill>
                    <a:latin typeface="Arial"/>
                  </a:rPr>
                  <a:t> exceeds </a:t>
                </a:r>
                <a:r>
                  <a:rPr lang="en-IN" sz="2400">
                    <a:solidFill>
                      <a:srgbClr val="111827"/>
                    </a:solidFill>
                    <a:latin typeface="Cambria Math" panose="02040503050406030204" pitchFamily="18" charset="0"/>
                  </a:rPr>
                  <a:t>$^8C_3=56$</a:t>
                </a:r>
                <a:r>
                  <a:rPr sz="2400" b="0">
                    <a:solidFill>
                      <a:srgbClr val="111827"/>
                    </a:solidFill>
                    <a:latin typeface="Arial"/>
                  </a:rPr>
                  <a:t>, so </a:t>
                </a:r>
                <a:r>
                  <a:rPr lang="en-IN" sz="2400">
                    <a:solidFill>
                      <a:srgbClr val="111827"/>
                    </a:solidFill>
                    <a:latin typeface="Cambria Math" panose="02040503050406030204" pitchFamily="18" charset="0"/>
                  </a:rPr>
                  <a:t>$m=2$</a:t>
                </a:r>
                <a:r>
                  <a:rPr sz="2400" b="0">
                    <a:solidFill>
                      <a:srgbClr val="111827"/>
                    </a:solidFill>
                    <a:latin typeface="Arial"/>
                  </a:rPr>
                  <a:t>. With </a:t>
                </a:r>
                <a:r>
                  <a:rPr lang="en-IN" sz="2400">
                    <a:solidFill>
                      <a:srgbClr val="111827"/>
                    </a:solidFill>
                    <a:latin typeface="Cambria Math" panose="02040503050406030204" pitchFamily="18" charset="0"/>
                  </a:rPr>
                  <a:t>$n=8$</a:t>
                </a:r>
                <a:r>
                  <a:rPr sz="2400" b="0">
                    <a:solidFill>
                      <a:srgbClr val="111827"/>
                    </a:solidFill>
                    <a:latin typeface="Arial"/>
                  </a:rPr>
                  <a:t> the required value is </a:t>
                </a:r>
                <a:r>
                  <a:rPr lang="en-IN" sz="2400">
                    <a:solidFill>
                      <a:srgbClr val="111827"/>
                    </a:solidFill>
                    <a:latin typeface="Cambria Math" panose="02040503050406030204" pitchFamily="18" charset="0"/>
                  </a:rPr>
                  <a:t>${}^8P_3+{}^9C_2=336+36=372$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372</a:t>
            </a:r>
            <a:endParaRPr sz="2800">
              <a:solidFill>
                <a:srgbClr val="15803D"/>
              </a:solidFill>
            </a:endParaRP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 sum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oMath>
                </a14:m>
                <a:r>
                  <a:rPr sz="2400" b="0">
                    <a:solidFill>
                      <a:srgbClr val="111827"/>
                    </a:solidFill>
                    <a:latin typeface="Arial"/>
                  </a:rPr>
                  <a:t> with binomial weights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is unimodal and symmetric: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exceeds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(cancel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quick way to read off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 </a:t>
                </a:r>
                <a:r>
                  <a:rPr lang="en-IN" sz="2400">
                    <a:solidFill>
                      <a:srgbClr val="111827"/>
                    </a:solidFill>
                    <a:latin typeface="Cambria Math" panose="02040503050406030204" pitchFamily="18" charset="0"/>
                  </a:rPr>
                  <a:t>${}^nC_r+{}^nC_{r-1}={}^{n+1}C_r$</a:t>
                </a:r>
                <a:r>
                  <a:rPr sz="2400" b="0">
                    <a:solidFill>
                      <a:srgbClr val="111827"/>
                    </a:solidFill>
                    <a:latin typeface="Arial"/>
                  </a:rPr>
                  <a:t>; a sum </a:t>
                </a:r>
                <a:r>
                  <a:rPr lang="en-IN" sz="2400">
                    <a:solidFill>
                      <a:srgbClr val="111827"/>
                    </a:solidFill>
                    <a:latin typeface="Cambria Math" panose="02040503050406030204" pitchFamily="18" charset="0"/>
                  </a:rPr>
                  <a:t>$\sum\binom{k}{j}$</a:t>
                </a:r>
                <a:r>
                  <a:rPr sz="2400" b="0">
                    <a:solidFill>
                      <a:srgbClr val="111827"/>
                    </a:solidFill>
                    <a:latin typeface="Arial"/>
                  </a:rPr>
                  <a:t> with binomial weights </a:t>
                </a:r>
                <a:r>
                  <a:rPr lang="en-IN" sz="2400">
                    <a:solidFill>
                      <a:srgbClr val="111827"/>
                    </a:solidFill>
                    <a:latin typeface="Cambria Math" panose="02040503050406030204" pitchFamily="18" charset="0"/>
                  </a:rPr>
                  <a:t>$1,2,1$</a:t>
                </a:r>
                <a:r>
                  <a:rPr sz="2400" b="0">
                    <a:solidFill>
                      <a:srgbClr val="111827"/>
                    </a:solidFill>
                    <a:latin typeface="Arial"/>
                  </a:rPr>
                  <a:t> is </a:t>
                </a:r>
                <a:r>
                  <a:rPr lang="en-IN" sz="2400">
                    <a:solidFill>
                      <a:srgbClr val="111827"/>
                    </a:solidFill>
                    <a:latin typeface="Cambria Math" panose="02040503050406030204" pitchFamily="18" charset="0"/>
                  </a:rPr>
                  <a:t>$\binom{k+2}{j+2}$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${}^{n}C_r$</a:t>
                </a:r>
                <a:r>
                  <a:rPr sz="2400" b="0">
                    <a:solidFill>
                      <a:srgbClr val="111827"/>
                    </a:solidFill>
                    <a:latin typeface="Arial"/>
                  </a:rPr>
                  <a:t> is unimodal and symmetric: </a:t>
                </a:r>
                <a:r>
                  <a:rPr lang="en-IN" sz="2400">
                    <a:solidFill>
                      <a:srgbClr val="111827"/>
                    </a:solidFill>
                    <a:latin typeface="Cambria Math" panose="02040503050406030204" pitchFamily="18" charset="0"/>
                  </a:rPr>
                  <a:t>${}^8C_r$</a:t>
                </a:r>
                <a:r>
                  <a:rPr sz="2400" b="0">
                    <a:solidFill>
                      <a:srgbClr val="111827"/>
                    </a:solidFill>
                    <a:latin typeface="Arial"/>
                  </a:rPr>
                  <a:t> exceeds </a:t>
                </a:r>
                <a:r>
                  <a:rPr lang="en-IN" sz="2400">
                    <a:solidFill>
                      <a:srgbClr val="111827"/>
                    </a:solidFill>
                    <a:latin typeface="Cambria Math" panose="02040503050406030204" pitchFamily="18" charset="0"/>
                  </a:rPr>
                  <a:t>${}^8C_3={}^8C_5$</a:t>
                </a:r>
                <a:r>
                  <a:rPr sz="2400" b="0">
                    <a:solidFill>
                      <a:srgbClr val="111827"/>
                    </a:solidFill>
                    <a:latin typeface="Arial"/>
                  </a:rPr>
                  <a:t> only for </a:t>
                </a:r>
                <a:r>
                  <a:rPr lang="en-IN" sz="2400">
                    <a:solidFill>
                      <a:srgbClr val="111827"/>
                    </a:solidFill>
                    <a:latin typeface="Cambria Math" panose="02040503050406030204" pitchFamily="18" charset="0"/>
                  </a:rPr>
                  <a:t>$r=4$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${}^{n-1}P_r:{}^nP_{r+1}=1:n$</a:t>
                </a:r>
                <a:r>
                  <a:rPr sz="2400" b="0">
                    <a:solidFill>
                      <a:srgbClr val="111827"/>
                    </a:solidFill>
                    <a:latin typeface="Arial"/>
                  </a:rPr>
                  <a:t> (cancel </a:t>
                </a:r>
                <a:r>
                  <a:rPr lang="en-IN" sz="2400">
                    <a:solidFill>
                      <a:srgbClr val="111827"/>
                    </a:solidFill>
                    <a:latin typeface="Cambria Math" panose="02040503050406030204" pitchFamily="18" charset="0"/>
                  </a:rPr>
                  <a:t>$(n-1)\cdots(n-r)$</a:t>
                </a:r>
                <a:r>
                  <a:rPr sz="2400" b="0">
                    <a:solidFill>
                      <a:srgbClr val="111827"/>
                    </a:solidFill>
                    <a:latin typeface="Arial"/>
                  </a:rPr>
                  <a:t>), a quick way to read off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the number of ways five different employees can sit into four indistinguishable offices where any office may have any number of persons including zero,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43</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a:t>
                </a:r>
                <a:r>
                  <a:rPr sz="2400" b="0">
                    <a:solidFill>
                      <a:srgbClr val="111827"/>
                    </a:solidFill>
                    <a:latin typeface="Arial"/>
                  </a:rPr>
                  <a:t> is the number of ways five different employees can sit into four indistinguishable offices where any office may have any number of persons including zero, then </a:t>
                </a:r>
                <a:r>
                  <a:rPr lang="en-IN" sz="2400">
                    <a:solidFill>
                      <a:srgbClr val="111827"/>
                    </a:solidFill>
                    <a:latin typeface="Cambria Math" panose="02040503050406030204" pitchFamily="18" charset="0"/>
                  </a:rPr>
                  <a:t>$n$</a:t>
                </a:r>
                <a:r>
                  <a:rPr sz="2400" b="0">
                    <a:solidFill>
                      <a:srgbClr val="111827"/>
                    </a:solidFill>
                    <a:latin typeface="Arial"/>
                  </a:rPr>
                  <a:t> is equal to: [JEE(Main) Jan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$53$</a:t>
                </a:r>
                <a:r>
                  <a:rPr sz="2400" b="0">
                    <a:solidFill>
                      <a:srgbClr val="111827"/>
                    </a:solidFill>
                    <a:latin typeface="Arial"/>
                  </a:rPr>
                  <a:t>   (B) </a:t>
                </a:r>
                <a:r>
                  <a:rPr lang="en-IN" sz="2400">
                    <a:solidFill>
                      <a:srgbClr val="111827"/>
                    </a:solidFill>
                    <a:latin typeface="Cambria Math" panose="02040503050406030204" pitchFamily="18" charset="0"/>
                  </a:rPr>
                  <a:t>$47$</a:t>
                </a:r>
                <a:r>
                  <a:rPr sz="2400" b="0">
                    <a:solidFill>
                      <a:srgbClr val="111827"/>
                    </a:solidFill>
                    <a:latin typeface="Arial"/>
                  </a:rPr>
                  <a:t>   (C) </a:t>
                </a:r>
                <a:r>
                  <a:rPr lang="en-IN" sz="2400">
                    <a:solidFill>
                      <a:srgbClr val="111827"/>
                    </a:solidFill>
                    <a:latin typeface="Cambria Math" panose="02040503050406030204" pitchFamily="18" charset="0"/>
                  </a:rPr>
                  <a:t>$51$</a:t>
                </a:r>
                <a:r>
                  <a:rPr sz="2400" b="0">
                    <a:solidFill>
                      <a:srgbClr val="111827"/>
                    </a:solidFill>
                    <a:latin typeface="Arial"/>
                  </a:rPr>
                  <a:t>   (D) </a:t>
                </a:r>
                <a:r>
                  <a:rPr lang="en-IN" sz="2400">
                    <a:solidFill>
                      <a:srgbClr val="111827"/>
                    </a:solidFill>
                    <a:latin typeface="Cambria Math" panose="02040503050406030204" pitchFamily="18" charset="0"/>
                  </a:rPr>
                  <a:t>$43$</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identical boxes (set partitions)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Indistinguishable offices means unlabelled groups: sum over the size patterns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into at most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parts.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Indistinguishable offices means unlabelled groups: sum over the size patterns of </a:t>
                </a:r>
                <a:r>
                  <a:rPr lang="en-IN" sz="2400">
                    <a:solidFill>
                      <a:srgbClr val="78350F"/>
                    </a:solidFill>
                    <a:latin typeface="Cambria Math" panose="02040503050406030204" pitchFamily="18" charset="0"/>
                  </a:rPr>
                  <a:t>$5$</a:t>
                </a:r>
                <a:r>
                  <a:rPr sz="2400" b="0">
                    <a:solidFill>
                      <a:srgbClr val="78350F"/>
                    </a:solidFill>
                    <a:latin typeface="Arial"/>
                  </a:rPr>
                  <a:t> into at most </a:t>
                </a:r>
                <a:r>
                  <a:rPr lang="en-IN" sz="2400">
                    <a:solidFill>
                      <a:srgbClr val="78350F"/>
                    </a:solidFill>
                    <a:latin typeface="Cambria Math" panose="02040503050406030204" pitchFamily="18" charset="0"/>
                  </a:rPr>
                  <a:t>$4$</a:t>
                </a:r>
                <a:r>
                  <a:rPr sz="2400" b="0">
                    <a:solidFill>
                      <a:srgbClr val="78350F"/>
                    </a:solidFill>
                    <a:latin typeface="Arial"/>
                  </a:rPr>
                  <a:t> parts.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Offices are identical, so count the ways to partition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different people into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unlabelled groups, by size pattern.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 (the two single-person groups are interchangeable).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Offices are identical, so count the ways to partition </a:t>
                </a:r>
                <a:r>
                  <a:rPr lang="en-IN" sz="2400">
                    <a:solidFill>
                      <a:srgbClr val="111827"/>
                    </a:solidFill>
                    <a:latin typeface="Cambria Math" panose="02040503050406030204" pitchFamily="18" charset="0"/>
                  </a:rPr>
                  <a:t>$5$</a:t>
                </a:r>
                <a:r>
                  <a:rPr sz="2400" b="0">
                    <a:solidFill>
                      <a:srgbClr val="111827"/>
                    </a:solidFill>
                    <a:latin typeface="Arial"/>
                  </a:rPr>
                  <a:t> different people into at most </a:t>
                </a:r>
                <a:r>
                  <a:rPr lang="en-IN" sz="2400">
                    <a:solidFill>
                      <a:srgbClr val="111827"/>
                    </a:solidFill>
                    <a:latin typeface="Cambria Math" panose="02040503050406030204" pitchFamily="18" charset="0"/>
                  </a:rPr>
                  <a:t>$4$</a:t>
                </a:r>
                <a:r>
                  <a:rPr sz="2400" b="0">
                    <a:solidFill>
                      <a:srgbClr val="111827"/>
                    </a:solidFill>
                    <a:latin typeface="Arial"/>
                  </a:rPr>
                  <a:t> unlabelled groups, by size pattern.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$(5,0,0,0)$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way. </a:t>
                </a:r>
                <a:r>
                  <a:rPr lang="en-IN" sz="2400">
                    <a:solidFill>
                      <a:srgbClr val="111827"/>
                    </a:solidFill>
                    <a:latin typeface="Cambria Math" panose="02040503050406030204" pitchFamily="18" charset="0"/>
                  </a:rPr>
                  <a:t>$(4,1,0,0)$</a:t>
                </a:r>
                <a:r>
                  <a:rPr sz="2400" b="0">
                    <a:solidFill>
                      <a:srgbClr val="111827"/>
                    </a:solidFill>
                    <a:latin typeface="Arial"/>
                  </a:rPr>
                  <a:t>: </a:t>
                </a:r>
                <a:r>
                  <a:rPr lang="en-IN" sz="2400">
                    <a:solidFill>
                      <a:srgbClr val="111827"/>
                    </a:solidFill>
                    <a:latin typeface="Cambria Math" panose="02040503050406030204" pitchFamily="18" charset="0"/>
                  </a:rPr>
                  <a:t>$\frac{5!}{4!\,1!}=5$</a:t>
                </a:r>
                <a:r>
                  <a:rPr sz="2400" b="0">
                    <a:solidFill>
                      <a:srgbClr val="111827"/>
                    </a:solidFill>
                    <a:latin typeface="Arial"/>
                  </a:rPr>
                  <a:t> ways. </a:t>
                </a:r>
                <a:r>
                  <a:rPr lang="en-IN" sz="2400">
                    <a:solidFill>
                      <a:srgbClr val="111827"/>
                    </a:solidFill>
                    <a:latin typeface="Cambria Math" panose="02040503050406030204" pitchFamily="18" charset="0"/>
                  </a:rPr>
                  <a:t>$(3,2,0,0)$</a:t>
                </a:r>
                <a:r>
                  <a:rPr sz="2400" b="0">
                    <a:solidFill>
                      <a:srgbClr val="111827"/>
                    </a:solidFill>
                    <a:latin typeface="Arial"/>
                  </a:rPr>
                  <a:t>: </a:t>
                </a:r>
                <a:r>
                  <a:rPr lang="en-IN" sz="2400">
                    <a:solidFill>
                      <a:srgbClr val="111827"/>
                    </a:solidFill>
                    <a:latin typeface="Cambria Math" panose="02040503050406030204" pitchFamily="18" charset="0"/>
                  </a:rPr>
                  <a:t>$\frac{5!}{3!\,2!}=10$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$(3,1,1,0)$</a:t>
                </a:r>
                <a:r>
                  <a:rPr sz="2400" b="0">
                    <a:solidFill>
                      <a:srgbClr val="111827"/>
                    </a:solidFill>
                    <a:latin typeface="Arial"/>
                  </a:rPr>
                  <a:t>: </a:t>
                </a:r>
                <a:r>
                  <a:rPr lang="en-IN" sz="2400">
                    <a:solidFill>
                      <a:srgbClr val="111827"/>
                    </a:solidFill>
                    <a:latin typeface="Cambria Math" panose="02040503050406030204" pitchFamily="18" charset="0"/>
                  </a:rPr>
                  <a:t>$\frac{5!}{3!\,1!\,1!\,2!}=10$</a:t>
                </a:r>
                <a:r>
                  <a:rPr sz="2400" b="0">
                    <a:solidFill>
                      <a:srgbClr val="111827"/>
                    </a:solidFill>
                    <a:latin typeface="Arial"/>
                  </a:rPr>
                  <a:t> ways (the two single-person groups are interchangeable).</a:t>
                </a:r>
                <a:endParaRPr sz="2400">
                  <a:solidFill>
                    <a:srgbClr val="111827"/>
                  </a:solidFill>
                </a:endParaRPr>
              </a:p>
            </p:txBody>
          </p:sp>
        </mc:Fallback>
      </mc:AlternateContent>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ways (the two pairs are interchangeable).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$(2,2,1,0)$</a:t>
                </a:r>
                <a:r>
                  <a:rPr sz="2400" b="0">
                    <a:solidFill>
                      <a:srgbClr val="111827"/>
                    </a:solidFill>
                    <a:latin typeface="Arial"/>
                  </a:rPr>
                  <a:t>: </a:t>
                </a:r>
                <a:r>
                  <a:rPr lang="en-IN" sz="2400">
                    <a:solidFill>
                      <a:srgbClr val="111827"/>
                    </a:solidFill>
                    <a:latin typeface="Cambria Math" panose="02040503050406030204" pitchFamily="18" charset="0"/>
                  </a:rPr>
                  <a:t>$\frac{5!}{2!\,2!\,1!\,2!}=15$</a:t>
                </a:r>
                <a:r>
                  <a:rPr sz="2400" b="0">
                    <a:solidFill>
                      <a:srgbClr val="111827"/>
                    </a:solidFill>
                    <a:latin typeface="Arial"/>
                  </a:rPr>
                  <a:t> ways (the two pairs are interchangeable).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$(2,1,1,1)$</a:t>
                </a:r>
                <a:r>
                  <a:rPr sz="2400" b="0">
                    <a:solidFill>
                      <a:srgbClr val="111827"/>
                    </a:solidFill>
                    <a:latin typeface="Arial"/>
                  </a:rPr>
                  <a:t>: </a:t>
                </a:r>
                <a:r>
                  <a:rPr lang="en-IN" sz="2400">
                    <a:solidFill>
                      <a:srgbClr val="111827"/>
                    </a:solidFill>
                    <a:latin typeface="Cambria Math" panose="02040503050406030204" pitchFamily="18" charset="0"/>
                  </a:rPr>
                  <a:t>$\frac{5!}{2!\,1!\,1!\,1!\,3!}=10$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$=1+5+10+10+15+10=51$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51</a:t>
            </a:r>
            <a:endParaRPr sz="2800">
              <a:solidFill>
                <a:srgbClr val="15803D"/>
              </a:solidFill>
            </a:endParaRP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 set partitions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people number the Bell number </a:t>
                </a:r>
                <a14:m>
                  <m:oMath xmlns:m="http://schemas.openxmlformats.org/officeDocument/2006/math">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5</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52</m:t>
                    </m:r>
                  </m:oMath>
                </a14:m>
                <a:r>
                  <a:rPr sz="2400" b="0">
                    <a:solidFill>
                      <a:srgbClr val="78350F"/>
                    </a:solidFill>
                    <a:latin typeface="Arial"/>
                  </a:rPr>
                  <a:t>; exclude the one with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non-empty groups.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 set partitions of </a:t>
                </a:r>
                <a:r>
                  <a:rPr lang="en-IN" sz="2400">
                    <a:solidFill>
                      <a:srgbClr val="78350F"/>
                    </a:solidFill>
                    <a:latin typeface="Cambria Math" panose="02040503050406030204" pitchFamily="18" charset="0"/>
                  </a:rPr>
                  <a:t>$5$</a:t>
                </a:r>
                <a:r>
                  <a:rPr sz="2400" b="0">
                    <a:solidFill>
                      <a:srgbClr val="78350F"/>
                    </a:solidFill>
                    <a:latin typeface="Arial"/>
                  </a:rPr>
                  <a:t> people number the Bell number </a:t>
                </a:r>
                <a:r>
                  <a:rPr lang="en-IN" sz="2400">
                    <a:solidFill>
                      <a:srgbClr val="78350F"/>
                    </a:solidFill>
                    <a:latin typeface="Cambria Math" panose="02040503050406030204" pitchFamily="18" charset="0"/>
                  </a:rPr>
                  <a:t>$B_5=52$</a:t>
                </a:r>
                <a:r>
                  <a:rPr sz="2400" b="0">
                    <a:solidFill>
                      <a:srgbClr val="78350F"/>
                    </a:solidFill>
                    <a:latin typeface="Arial"/>
                  </a:rPr>
                  <a:t>; exclude the one with </a:t>
                </a:r>
                <a:r>
                  <a:rPr lang="en-IN" sz="2400">
                    <a:solidFill>
                      <a:srgbClr val="78350F"/>
                    </a:solidFill>
                    <a:latin typeface="Cambria Math" panose="02040503050406030204" pitchFamily="18" charset="0"/>
                  </a:rPr>
                  <a:t>$5$</a:t>
                </a:r>
                <a:r>
                  <a:rPr sz="2400" b="0">
                    <a:solidFill>
                      <a:srgbClr val="78350F"/>
                    </a:solidFill>
                    <a:latin typeface="Arial"/>
                  </a:rPr>
                  <a:t> non-empty groups.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partition 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-set into non-empty blocks is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𝑆</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offices, partitions with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blocks (everyone alone) are impossible: exclude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partition a </a:t>
                </a:r>
                <a:r>
                  <a:rPr lang="en-IN" sz="2400">
                    <a:solidFill>
                      <a:srgbClr val="111827"/>
                    </a:solidFill>
                    <a:latin typeface="Cambria Math" panose="02040503050406030204" pitchFamily="18" charset="0"/>
                  </a:rPr>
                  <a:t>$5$</a:t>
                </a:r>
                <a:r>
                  <a:rPr sz="2400" b="0">
                    <a:solidFill>
                      <a:srgbClr val="111827"/>
                    </a:solidFill>
                    <a:latin typeface="Arial"/>
                  </a:rPr>
                  <a:t>-set into non-empty blocks is the Bell number </a:t>
                </a:r>
                <a:r>
                  <a:rPr lang="en-IN" sz="2400">
                    <a:solidFill>
                      <a:srgbClr val="111827"/>
                    </a:solidFill>
                    <a:latin typeface="Cambria Math" panose="02040503050406030204" pitchFamily="18" charset="0"/>
                  </a:rPr>
                  <a:t>$B_5=\sum_kS(5,k)=1+15+25+10+1=52$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most </a:t>
                </a:r>
                <a:r>
                  <a:rPr lang="en-IN" sz="2400">
                    <a:solidFill>
                      <a:srgbClr val="111827"/>
                    </a:solidFill>
                    <a:latin typeface="Cambria Math" panose="02040503050406030204" pitchFamily="18" charset="0"/>
                  </a:rPr>
                  <a:t>$4$</a:t>
                </a:r>
                <a:r>
                  <a:rPr sz="2400" b="0">
                    <a:solidFill>
                      <a:srgbClr val="111827"/>
                    </a:solidFill>
                    <a:latin typeface="Arial"/>
                  </a:rPr>
                  <a:t> offices, partitions with </a:t>
                </a:r>
                <a:r>
                  <a:rPr lang="en-IN" sz="2400">
                    <a:solidFill>
                      <a:srgbClr val="111827"/>
                    </a:solidFill>
                    <a:latin typeface="Cambria Math" panose="02040503050406030204" pitchFamily="18" charset="0"/>
                  </a:rPr>
                  <a:t>$5$</a:t>
                </a:r>
                <a:r>
                  <a:rPr sz="2400" b="0">
                    <a:solidFill>
                      <a:srgbClr val="111827"/>
                    </a:solidFill>
                    <a:latin typeface="Arial"/>
                  </a:rPr>
                  <a:t> blocks (everyone alone) are impossible: exclude </a:t>
                </a:r>
                <a:r>
                  <a:rPr lang="en-IN" sz="2400">
                    <a:solidFill>
                      <a:srgbClr val="111827"/>
                    </a:solidFill>
                    <a:latin typeface="Cambria Math" panose="02040503050406030204" pitchFamily="18" charset="0"/>
                  </a:rPr>
                  <a:t>$S(5,5)=1$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$=52-1=51$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51</a:t>
            </a:r>
            <a:endParaRPr sz="2800">
              <a:solidFill>
                <a:srgbClr val="15803D"/>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objects into identical boxes (empty allowed,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boxes)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𝑆</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Stirling numbers of the second kind.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(recurrence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Unlabelled equal-size groups: divide by the factorial of the number of groups of each size.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objects into identical boxes (empty allowed, </a:t>
                </a:r>
                <a:r>
                  <a:rPr lang="en-IN" sz="2400">
                    <a:solidFill>
                      <a:srgbClr val="111827"/>
                    </a:solidFill>
                    <a:latin typeface="Cambria Math" panose="02040503050406030204" pitchFamily="18" charset="0"/>
                  </a:rPr>
                  <a:t>$k$</a:t>
                </a:r>
                <a:r>
                  <a:rPr sz="2400" b="0">
                    <a:solidFill>
                      <a:srgbClr val="111827"/>
                    </a:solidFill>
                    <a:latin typeface="Arial"/>
                  </a:rPr>
                  <a:t> boxes) </a:t>
                </a:r>
                <a:r>
                  <a:rPr lang="en-IN" sz="2400">
                    <a:solidFill>
                      <a:srgbClr val="111827"/>
                    </a:solidFill>
                    <a:latin typeface="Cambria Math" panose="02040503050406030204" pitchFamily="18" charset="0"/>
                  </a:rPr>
                  <a:t>$=\sum_{j\le k}S(n,j)$</a:t>
                </a:r>
                <a:r>
                  <a:rPr sz="2400" b="0">
                    <a:solidFill>
                      <a:srgbClr val="111827"/>
                    </a:solidFill>
                    <a:latin typeface="Arial"/>
                  </a:rPr>
                  <a:t> with Stirling numbers of the second kind.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$S(5,j)=1,15,25,10,1$</a:t>
                </a:r>
                <a:r>
                  <a:rPr sz="2400" b="0">
                    <a:solidFill>
                      <a:srgbClr val="111827"/>
                    </a:solidFill>
                    <a:latin typeface="Arial"/>
                  </a:rPr>
                  <a:t> for </a:t>
                </a:r>
                <a:r>
                  <a:rPr lang="en-IN" sz="2400">
                    <a:solidFill>
                      <a:srgbClr val="111827"/>
                    </a:solidFill>
                    <a:latin typeface="Cambria Math" panose="02040503050406030204" pitchFamily="18" charset="0"/>
                  </a:rPr>
                  <a:t>$j=1,\dots,5$</a:t>
                </a:r>
                <a:r>
                  <a:rPr sz="2400" b="0">
                    <a:solidFill>
                      <a:srgbClr val="111827"/>
                    </a:solidFill>
                    <a:latin typeface="Arial"/>
                  </a:rPr>
                  <a:t> (recurrence </a:t>
                </a:r>
                <a:r>
                  <a:rPr lang="en-IN" sz="2400">
                    <a:solidFill>
                      <a:srgbClr val="111827"/>
                    </a:solidFill>
                    <a:latin typeface="Cambria Math" panose="02040503050406030204" pitchFamily="18" charset="0"/>
                  </a:rPr>
                  <a:t>$S(n,j)=jS(n-1,j)+S(n-1,j-1)$</a:t>
                </a:r>
                <a:r>
                  <a:rPr sz="2400" b="0">
                    <a:solidFill>
                      <a:srgbClr val="111827"/>
                    </a:solidFill>
                    <a:latin typeface="Arial"/>
                  </a:rPr>
                  <a:t>); </a:t>
                </a:r>
                <a:r>
                  <a:rPr lang="en-IN" sz="2400">
                    <a:solidFill>
                      <a:srgbClr val="111827"/>
                    </a:solidFill>
                    <a:latin typeface="Cambria Math" panose="02040503050406030204" pitchFamily="18" charset="0"/>
                  </a:rPr>
                  <a:t>$B_5=52$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Unlabelled equal-size groups: divide by the factorial of the number of groups of each size.</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Q44 – Q48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the letters of the word “GTWENTY” are written in all possible ways with or without meaning and these words are written as in a dictionary. The serial number of the word \"GTWENTY\" is ______. [JEE(Main) Jan 2024]</a:t>
            </a:r>
            <a:endParaRPr sz="2400">
              <a:solidFill>
                <a:srgbClr val="111827"/>
              </a:solidFill>
            </a:endParaRPr>
          </a:p>
        </p:txBody>
      </p:sp>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 (repeated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block sizes with the repeated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a block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has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words while a block </a:t>
                </a:r>
                <a14:m>
                  <m:oMath xmlns:m="http://schemas.openxmlformats.org/officeDocument/2006/math">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would have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block sizes with the repeated </a:t>
                </a:r>
                <a:r>
                  <a:rPr lang="en-IN" sz="2400">
                    <a:solidFill>
                      <a:srgbClr val="78350F"/>
                    </a:solidFill>
                    <a:latin typeface="Cambria Math" panose="02040503050406030204" pitchFamily="18" charset="0"/>
                  </a:rPr>
                  <a:t>$T$</a:t>
                </a:r>
                <a:r>
                  <a:rPr sz="2400" b="0">
                    <a:solidFill>
                      <a:srgbClr val="78350F"/>
                    </a:solidFill>
                    <a:latin typeface="Arial"/>
                  </a:rPr>
                  <a:t>: a block </a:t>
                </a:r>
                <a:r>
                  <a:rPr lang="en-IN" sz="2400">
                    <a:solidFill>
                      <a:srgbClr val="78350F"/>
                    </a:solidFill>
                    <a:latin typeface="Cambria Math" panose="02040503050406030204" pitchFamily="18" charset="0"/>
                  </a:rPr>
                  <a:t>$E\ldots$</a:t>
                </a:r>
                <a:r>
                  <a:rPr sz="2400" b="0">
                    <a:solidFill>
                      <a:srgbClr val="78350F"/>
                    </a:solidFill>
                    <a:latin typeface="Arial"/>
                  </a:rPr>
                  <a:t> has </a:t>
                </a:r>
                <a:r>
                  <a:rPr lang="en-IN" sz="2400">
                    <a:solidFill>
                      <a:srgbClr val="78350F"/>
                    </a:solidFill>
                    <a:latin typeface="Cambria Math" panose="02040503050406030204" pitchFamily="18" charset="0"/>
                  </a:rPr>
                  <a:t>$\frac{6!}{2!}$</a:t>
                </a:r>
                <a:r>
                  <a:rPr sz="2400" b="0">
                    <a:solidFill>
                      <a:srgbClr val="78350F"/>
                    </a:solidFill>
                    <a:latin typeface="Arial"/>
                  </a:rPr>
                  <a:t> words while a block </a:t>
                </a:r>
                <a:r>
                  <a:rPr lang="en-IN" sz="2400">
                    <a:solidFill>
                      <a:srgbClr val="78350F"/>
                    </a:solidFill>
                    <a:latin typeface="Cambria Math" panose="02040503050406030204" pitchFamily="18" charset="0"/>
                  </a:rPr>
                  <a:t>$T\ldots$</a:t>
                </a:r>
                <a:r>
                  <a:rPr sz="2400" b="0">
                    <a:solidFill>
                      <a:srgbClr val="78350F"/>
                    </a:solidFill>
                    <a:latin typeface="Arial"/>
                  </a:rPr>
                  <a:t> would have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occurs twice). The word is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𝑌</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the other six letters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second letter smaller than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r>
                  <a:rPr lang="en-IN" sz="2400">
                    <a:solidFill>
                      <a:srgbClr val="111827"/>
                    </a:solidFill>
                    <a:latin typeface="Cambria Math" panose="02040503050406030204" pitchFamily="18" charset="0"/>
                  </a:rPr>
                  <a:t>$E,G,N,T,T,W,Y$</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occurs twice). The word is </a:t>
                </a:r>
                <a:r>
                  <a:rPr lang="en-IN" sz="2400">
                    <a:solidFill>
                      <a:srgbClr val="111827"/>
                    </a:solidFill>
                    <a:latin typeface="Cambria Math" panose="02040503050406030204" pitchFamily="18" charset="0"/>
                  </a:rPr>
                  <a:t>$G\,T\,W\,E\,N\,T\,Y$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$E$</a:t>
                </a:r>
                <a:r>
                  <a:rPr sz="2400" b="0">
                    <a:solidFill>
                      <a:srgbClr val="111827"/>
                    </a:solidFill>
                    <a:latin typeface="Arial"/>
                  </a:rPr>
                  <a:t>: the other six letters </a:t>
                </a:r>
                <a:r>
                  <a:rPr lang="en-IN" sz="2400">
                    <a:solidFill>
                      <a:srgbClr val="111827"/>
                    </a:solidFill>
                    <a:latin typeface="Cambria Math" panose="02040503050406030204" pitchFamily="18" charset="0"/>
                  </a:rPr>
                  <a:t>$G,N,T,T,W,Y$</a:t>
                </a:r>
                <a:r>
                  <a:rPr sz="2400" b="0">
                    <a:solidFill>
                      <a:srgbClr val="111827"/>
                    </a:solidFill>
                    <a:latin typeface="Arial"/>
                  </a:rPr>
                  <a:t> give </a:t>
                </a:r>
                <a:r>
                  <a:rPr lang="en-IN" sz="2400">
                    <a:solidFill>
                      <a:srgbClr val="111827"/>
                    </a:solidFill>
                    <a:latin typeface="Cambria Math" panose="02040503050406030204" pitchFamily="18" charset="0"/>
                  </a:rPr>
                  <a:t>$\frac{6!}{2!}=360$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$G$</a:t>
                </a:r>
                <a:r>
                  <a:rPr sz="2400" b="0">
                    <a:solidFill>
                      <a:srgbClr val="111827"/>
                    </a:solidFill>
                    <a:latin typeface="Arial"/>
                  </a:rPr>
                  <a:t>: second letter smaller than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$GE\ldots$</a:t>
                </a:r>
                <a:r>
                  <a:rPr sz="2400" b="0">
                    <a:solidFill>
                      <a:srgbClr val="111827"/>
                    </a:solidFill>
                    <a:latin typeface="Arial"/>
                  </a:rPr>
                  <a:t>: </a:t>
                </a:r>
                <a:r>
                  <a:rPr lang="en-IN" sz="2400">
                    <a:solidFill>
                      <a:srgbClr val="111827"/>
                    </a:solidFill>
                    <a:latin typeface="Cambria Math" panose="02040503050406030204" pitchFamily="18" charset="0"/>
                  </a:rPr>
                  <a:t>$\frac{5!}{2!}=60$</a:t>
                </a:r>
                <a:r>
                  <a:rPr sz="2400" b="0">
                    <a:solidFill>
                      <a:srgbClr val="111827"/>
                    </a:solidFill>
                    <a:latin typeface="Arial"/>
                  </a:rPr>
                  <a:t>; </a:t>
                </a:r>
                <a:r>
                  <a:rPr lang="en-IN" sz="2400">
                    <a:solidFill>
                      <a:srgbClr val="111827"/>
                    </a:solidFill>
                    <a:latin typeface="Cambria Math" panose="02040503050406030204" pitchFamily="18" charset="0"/>
                  </a:rPr>
                  <a:t>$GN\ldots$</a:t>
                </a:r>
                <a:r>
                  <a:rPr sz="2400" b="0">
                    <a:solidFill>
                      <a:srgbClr val="111827"/>
                    </a:solidFill>
                    <a:latin typeface="Arial"/>
                  </a:rPr>
                  <a:t>: </a:t>
                </a:r>
                <a:r>
                  <a:rPr lang="en-IN" sz="2400">
                    <a:solidFill>
                      <a:srgbClr val="111827"/>
                    </a:solidFill>
                    <a:latin typeface="Cambria Math" panose="02040503050406030204" pitchFamily="18" charset="0"/>
                  </a:rPr>
                  <a:t>$\frac{5!}{2!}=60$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oMath>
                </a14:m>
                <a:r>
                  <a:rPr sz="2400" b="0">
                    <a:solidFill>
                      <a:srgbClr val="111827"/>
                    </a:solidFill>
                    <a:latin typeface="Arial"/>
                  </a:rPr>
                  <a:t>: third letter smaller than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oMath>
                </a14:m>
                <a:r>
                  <a:rPr sz="2400" b="0">
                    <a:solidFill>
                      <a:srgbClr val="111827"/>
                    </a:solidFill>
                    <a:latin typeface="Arial"/>
                  </a:rPr>
                  <a:t>: the fourth letter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the smallest, and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oMath>
                </a14:m>
                <a:r>
                  <a:rPr sz="2400" b="0">
                    <a:solidFill>
                      <a:srgbClr val="111827"/>
                    </a:solidFill>
                    <a:latin typeface="Arial"/>
                  </a:rPr>
                  <a:t> are forced onward to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𝑌</m:t>
                    </m:r>
                  </m:oMath>
                </a14:m>
                <a:r>
                  <a:rPr sz="2400" b="0">
                    <a:solidFill>
                      <a:srgbClr val="111827"/>
                    </a:solidFill>
                    <a:latin typeface="Arial"/>
                  </a:rPr>
                  <a:t> itself: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$GT$</a:t>
                </a:r>
                <a:r>
                  <a:rPr sz="2400" b="0">
                    <a:solidFill>
                      <a:srgbClr val="111827"/>
                    </a:solidFill>
                    <a:latin typeface="Arial"/>
                  </a:rPr>
                  <a:t>: third letter smaller than </a:t>
                </a:r>
                <a:r>
                  <a:rPr lang="en-IN" sz="2400">
                    <a:solidFill>
                      <a:srgbClr val="111827"/>
                    </a:solidFill>
                    <a:latin typeface="Cambria Math" panose="02040503050406030204" pitchFamily="18" charset="0"/>
                  </a:rPr>
                  <a:t>$W$</a:t>
                </a:r>
                <a:r>
                  <a:rPr sz="2400" b="0">
                    <a:solidFill>
                      <a:srgbClr val="111827"/>
                    </a:solidFill>
                    <a:latin typeface="Arial"/>
                  </a:rPr>
                  <a:t>: </a:t>
                </a:r>
                <a:r>
                  <a:rPr lang="en-IN" sz="2400">
                    <a:solidFill>
                      <a:srgbClr val="111827"/>
                    </a:solidFill>
                    <a:latin typeface="Cambria Math" panose="02040503050406030204" pitchFamily="18" charset="0"/>
                  </a:rPr>
                  <a:t>$GTE\ldots$</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a:t>
                </a:r>
                <a:r>
                  <a:rPr lang="en-IN" sz="2400">
                    <a:solidFill>
                      <a:srgbClr val="111827"/>
                    </a:solidFill>
                    <a:latin typeface="Cambria Math" panose="02040503050406030204" pitchFamily="18" charset="0"/>
                  </a:rPr>
                  <a:t>$GTN\ldots$</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$GTT\ldots$</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$GTW$</a:t>
                </a:r>
                <a:r>
                  <a:rPr sz="2400" b="0">
                    <a:solidFill>
                      <a:srgbClr val="111827"/>
                    </a:solidFill>
                    <a:latin typeface="Arial"/>
                  </a:rPr>
                  <a:t>: the fourth letter </a:t>
                </a:r>
                <a:r>
                  <a:rPr lang="en-IN" sz="2400">
                    <a:solidFill>
                      <a:srgbClr val="111827"/>
                    </a:solidFill>
                    <a:latin typeface="Cambria Math" panose="02040503050406030204" pitchFamily="18" charset="0"/>
                  </a:rPr>
                  <a:t>$E$</a:t>
                </a:r>
                <a:r>
                  <a:rPr sz="2400" b="0">
                    <a:solidFill>
                      <a:srgbClr val="111827"/>
                    </a:solidFill>
                    <a:latin typeface="Arial"/>
                  </a:rPr>
                  <a:t> is the smallest, and </a:t>
                </a:r>
                <a:r>
                  <a:rPr lang="en-IN" sz="2400">
                    <a:solidFill>
                      <a:srgbClr val="111827"/>
                    </a:solidFill>
                    <a:latin typeface="Cambria Math" panose="02040503050406030204" pitchFamily="18" charset="0"/>
                  </a:rPr>
                  <a:t>$GTWE$</a:t>
                </a:r>
                <a:r>
                  <a:rPr sz="2400" b="0">
                    <a:solidFill>
                      <a:srgbClr val="111827"/>
                    </a:solidFill>
                    <a:latin typeface="Arial"/>
                  </a:rPr>
                  <a:t>, </a:t>
                </a:r>
                <a:r>
                  <a:rPr lang="en-IN" sz="2400">
                    <a:solidFill>
                      <a:srgbClr val="111827"/>
                    </a:solidFill>
                    <a:latin typeface="Cambria Math" panose="02040503050406030204" pitchFamily="18" charset="0"/>
                  </a:rPr>
                  <a:t>$GTWEN$</a:t>
                </a:r>
                <a:r>
                  <a:rPr sz="2400" b="0">
                    <a:solidFill>
                      <a:srgbClr val="111827"/>
                    </a:solidFill>
                    <a:latin typeface="Arial"/>
                  </a:rPr>
                  <a:t> are forced onward to </a:t>
                </a:r>
                <a:r>
                  <a:rPr lang="en-IN" sz="2400">
                    <a:solidFill>
                      <a:srgbClr val="111827"/>
                    </a:solidFill>
                    <a:latin typeface="Cambria Math" panose="02040503050406030204" pitchFamily="18" charset="0"/>
                  </a:rPr>
                  <a:t>$GTWENTY$</a:t>
                </a:r>
                <a:r>
                  <a:rPr sz="2400" b="0">
                    <a:solidFill>
                      <a:srgbClr val="111827"/>
                    </a:solidFill>
                    <a:latin typeface="Arial"/>
                  </a:rPr>
                  <a:t> itself: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a:t>
                </a:r>
                <a:r>
                  <a:rPr lang="en-IN" sz="2400">
                    <a:solidFill>
                      <a:srgbClr val="111827"/>
                    </a:solidFill>
                    <a:latin typeface="Cambria Math" panose="02040503050406030204" pitchFamily="18" charset="0"/>
                  </a:rPr>
                  <a:t>$=360+60+60+24+24+24+1=553$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553</a:t>
            </a:r>
            <a:endParaRPr sz="2800">
              <a:solidFill>
                <a:srgbClr val="15803D"/>
              </a:solidFill>
            </a:endParaRP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from the other end: words after GTWENTY, subtracted from the total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2520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from the other end: words after GTWENTY, subtracted from the total </a:t>
                </a:r>
                <a:r>
                  <a:rPr lang="en-IN" sz="2400">
                    <a:solidFill>
                      <a:srgbClr val="78350F"/>
                    </a:solidFill>
                    <a:latin typeface="Cambria Math" panose="02040503050406030204" pitchFamily="18" charset="0"/>
                  </a:rPr>
                  <a:t>$\frac{7!}{2!}=2520$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360</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then second letter larger than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oMath>
                </a14:m>
                <a:r>
                  <a:rPr sz="2400" b="0">
                    <a:solidFill>
                      <a:srgbClr val="111827"/>
                    </a:solidFill>
                    <a:latin typeface="Arial"/>
                  </a:rPr>
                  <a:t> then third letter larger than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r>
                  <a:rPr lang="en-IN" sz="2400">
                    <a:solidFill>
                      <a:srgbClr val="111827"/>
                    </a:solidFill>
                    <a:latin typeface="Cambria Math" panose="02040503050406030204" pitchFamily="18" charset="0"/>
                  </a:rPr>
                  <a:t>$=\frac{7!}{2!}=2520$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larger than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$\frac{6!}{2!}=360$</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$6!=720$</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a:t>
                </a:r>
                <a:r>
                  <a:rPr lang="en-IN" sz="2400">
                    <a:solidFill>
                      <a:srgbClr val="111827"/>
                    </a:solidFill>
                    <a:latin typeface="Cambria Math" panose="02040503050406030204" pitchFamily="18" charset="0"/>
                  </a:rPr>
                  <a:t>$360$</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$360$</a:t>
                </a:r>
                <a:r>
                  <a:rPr sz="2400" b="0">
                    <a:solidFill>
                      <a:srgbClr val="111827"/>
                    </a:solidFill>
                    <a:latin typeface="Arial"/>
                  </a:rPr>
                  <a:t>. Sum </a:t>
                </a:r>
                <a:r>
                  <a:rPr lang="en-IN" sz="2400">
                    <a:solidFill>
                      <a:srgbClr val="111827"/>
                    </a:solidFill>
                    <a:latin typeface="Cambria Math" panose="02040503050406030204" pitchFamily="18" charset="0"/>
                  </a:rPr>
                  <a:t>$1800$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then second letter larger than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$\frac{5!}{2!}\times2=120$</a:t>
                </a:r>
                <a:r>
                  <a:rPr sz="2400" b="0">
                    <a:solidFill>
                      <a:srgbClr val="111827"/>
                    </a:solidFill>
                    <a:latin typeface="Arial"/>
                  </a:rPr>
                  <a:t>. </a:t>
                </a:r>
                <a:r>
                  <a:rPr lang="en-IN" sz="2400">
                    <a:solidFill>
                      <a:srgbClr val="111827"/>
                    </a:solidFill>
                    <a:latin typeface="Cambria Math" panose="02040503050406030204" pitchFamily="18" charset="0"/>
                  </a:rPr>
                  <a:t>$GT$</a:t>
                </a:r>
                <a:r>
                  <a:rPr sz="2400" b="0">
                    <a:solidFill>
                      <a:srgbClr val="111827"/>
                    </a:solidFill>
                    <a:latin typeface="Arial"/>
                  </a:rPr>
                  <a:t> then third letter larger than </a:t>
                </a:r>
                <a:r>
                  <a:rPr lang="en-IN" sz="2400">
                    <a:solidFill>
                      <a:srgbClr val="111827"/>
                    </a:solidFill>
                    <a:latin typeface="Cambria Math" panose="02040503050406030204" pitchFamily="18" charset="0"/>
                  </a:rPr>
                  <a:t>$W$</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oMath>
                </a14:m>
                <a:r>
                  <a:rPr sz="2400" b="0">
                    <a:solidFill>
                      <a:srgbClr val="111827"/>
                    </a:solidFill>
                    <a:latin typeface="Arial"/>
                  </a:rPr>
                  <a:t> then fourth letter larger than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oMath>
                </a14:m>
                <a:r>
                  <a:rPr sz="2400" b="0">
                    <a:solidFill>
                      <a:srgbClr val="111827"/>
                    </a:solidFill>
                    <a:latin typeface="Arial"/>
                  </a:rPr>
                  <a:t> then fifth letter larger than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oMath>
                </a14:m>
                <a:r>
                  <a:rPr sz="2400" b="0">
                    <a:solidFill>
                      <a:srgbClr val="111827"/>
                    </a:solidFill>
                    <a:latin typeface="Arial"/>
                  </a:rPr>
                  <a:t> then sixth letter larger than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1967</m:t>
                    </m:r>
                  </m:oMath>
                </a14:m>
                <a:r>
                  <a:rPr sz="2400" b="0">
                    <a:solidFill>
                      <a:srgbClr val="111827"/>
                    </a:solidFill>
                    <a:latin typeface="Arial"/>
                  </a:rPr>
                  <a:t>;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$GTW$</a:t>
                </a:r>
                <a:r>
                  <a:rPr sz="2400" b="0">
                    <a:solidFill>
                      <a:srgbClr val="111827"/>
                    </a:solidFill>
                    <a:latin typeface="Arial"/>
                  </a:rPr>
                  <a:t> then fourth letter larger than </a:t>
                </a:r>
                <a:r>
                  <a:rPr lang="en-IN" sz="2400">
                    <a:solidFill>
                      <a:srgbClr val="111827"/>
                    </a:solidFill>
                    <a:latin typeface="Cambria Math" panose="02040503050406030204" pitchFamily="18" charset="0"/>
                  </a:rPr>
                  <a:t>$E$</a:t>
                </a:r>
                <a:r>
                  <a:rPr sz="2400" b="0">
                    <a:solidFill>
                      <a:srgbClr val="111827"/>
                    </a:solidFill>
                    <a:latin typeface="Arial"/>
                  </a:rPr>
                  <a:t>: </a:t>
                </a:r>
                <a:r>
                  <a:rPr lang="en-IN" sz="2400">
                    <a:solidFill>
                      <a:srgbClr val="111827"/>
                    </a:solidFill>
                    <a:latin typeface="Cambria Math" panose="02040503050406030204" pitchFamily="18" charset="0"/>
                  </a:rPr>
                  <a:t>$N,T,Y$</a:t>
                </a:r>
                <a:r>
                  <a:rPr sz="2400" b="0">
                    <a:solidFill>
                      <a:srgbClr val="111827"/>
                    </a:solidFill>
                    <a:latin typeface="Arial"/>
                  </a:rPr>
                  <a:t>: </a:t>
                </a:r>
                <a:r>
                  <a:rPr lang="en-IN" sz="2400">
                    <a:solidFill>
                      <a:srgbClr val="111827"/>
                    </a:solidFill>
                    <a:latin typeface="Cambria Math" panose="02040503050406030204" pitchFamily="18" charset="0"/>
                  </a:rPr>
                  <a:t>$3!\times3=18$</a:t>
                </a:r>
                <a:r>
                  <a:rPr sz="2400" b="0">
                    <a:solidFill>
                      <a:srgbClr val="111827"/>
                    </a:solidFill>
                    <a:latin typeface="Arial"/>
                  </a:rPr>
                  <a:t>. </a:t>
                </a:r>
                <a:r>
                  <a:rPr lang="en-IN" sz="2400">
                    <a:solidFill>
                      <a:srgbClr val="111827"/>
                    </a:solidFill>
                    <a:latin typeface="Cambria Math" panose="02040503050406030204" pitchFamily="18" charset="0"/>
                  </a:rPr>
                  <a:t>$GTWE$</a:t>
                </a:r>
                <a:r>
                  <a:rPr sz="2400" b="0">
                    <a:solidFill>
                      <a:srgbClr val="111827"/>
                    </a:solidFill>
                    <a:latin typeface="Arial"/>
                  </a:rPr>
                  <a:t> then fifth letter larger than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$T,Y$</a:t>
                </a:r>
                <a:r>
                  <a:rPr sz="2400" b="0">
                    <a:solidFill>
                      <a:srgbClr val="111827"/>
                    </a:solidFill>
                    <a:latin typeface="Arial"/>
                  </a:rPr>
                  <a:t>: </a:t>
                </a:r>
                <a:r>
                  <a:rPr lang="en-IN" sz="2400">
                    <a:solidFill>
                      <a:srgbClr val="111827"/>
                    </a:solidFill>
                    <a:latin typeface="Cambria Math" panose="02040503050406030204" pitchFamily="18" charset="0"/>
                  </a:rPr>
                  <a:t>$2\times2=4$</a:t>
                </a:r>
                <a:r>
                  <a:rPr sz="2400" b="0">
                    <a:solidFill>
                      <a:srgbClr val="111827"/>
                    </a:solidFill>
                    <a:latin typeface="Arial"/>
                  </a:rPr>
                  <a:t>. </a:t>
                </a:r>
                <a:r>
                  <a:rPr lang="en-IN" sz="2400">
                    <a:solidFill>
                      <a:srgbClr val="111827"/>
                    </a:solidFill>
                    <a:latin typeface="Cambria Math" panose="02040503050406030204" pitchFamily="18" charset="0"/>
                  </a:rPr>
                  <a:t>$GTWEN$</a:t>
                </a:r>
                <a:r>
                  <a:rPr sz="2400" b="0">
                    <a:solidFill>
                      <a:srgbClr val="111827"/>
                    </a:solidFill>
                    <a:latin typeface="Arial"/>
                  </a:rPr>
                  <a:t> then sixth letter larger than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$=1800+120+24+18+4+1=1967$</a:t>
                </a:r>
                <a:r>
                  <a:rPr sz="2400" b="0">
                    <a:solidFill>
                      <a:srgbClr val="111827"/>
                    </a:solidFill>
                    <a:latin typeface="Arial"/>
                  </a:rPr>
                  <a:t>; rank </a:t>
                </a:r>
                <a:r>
                  <a:rPr lang="en-IN" sz="2400">
                    <a:solidFill>
                      <a:srgbClr val="111827"/>
                    </a:solidFill>
                    <a:latin typeface="Cambria Math" panose="02040503050406030204" pitchFamily="18" charset="0"/>
                  </a:rPr>
                  <a:t>$=2520-1967=553$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553</a:t>
            </a:r>
            <a:endParaRPr sz="2800">
              <a:solidFill>
                <a:srgbClr val="15803D"/>
              </a:solidFill>
            </a:endParaRP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repeated letters, a block's size is (remaining letters)!/(factorials of the repeats still present); recompute it for each prefix.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from the start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rank from the end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total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dictionary problems list the letters in alphabetical order once, with their multiplicities, and update the list as letters are used.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repeated letters, a block's size is (remaining letters)!/(factorials of the repeats still present); recompute it for each prefix.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Rank from the start </a:t>
                </a:r>
                <a:r>
                  <a:rPr lang="en-IN" sz="2400">
                    <a:solidFill>
                      <a:srgbClr val="111827"/>
                    </a:solidFill>
                    <a:latin typeface="Cambria Math" panose="02040503050406030204" pitchFamily="18" charset="0"/>
                  </a:rPr>
                  <a:t>$+$</a:t>
                </a:r>
                <a:r>
                  <a:rPr sz="2400" b="0">
                    <a:solidFill>
                      <a:srgbClr val="111827"/>
                    </a:solidFill>
                    <a:latin typeface="Arial"/>
                  </a:rPr>
                  <a:t> rank from the end </a:t>
                </a:r>
                <a:r>
                  <a:rPr lang="en-IN" sz="2400">
                    <a:solidFill>
                      <a:srgbClr val="111827"/>
                    </a:solidFill>
                    <a:latin typeface="Cambria Math" panose="02040503050406030204" pitchFamily="18" charset="0"/>
                  </a:rPr>
                  <a:t>$=$</a:t>
                </a:r>
                <a:r>
                  <a:rPr sz="2400" b="0">
                    <a:solidFill>
                      <a:srgbClr val="111827"/>
                    </a:solidFill>
                    <a:latin typeface="Arial"/>
                  </a:rPr>
                  <a:t> total words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dictionary problems list the letters in alphabetical order once, with their multiplicities, and update the list as letters are used.</a:t>
                </a:r>
                <a:endParaRPr sz="2400">
                  <a:solidFill>
                    <a:srgbClr val="111827"/>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of Mathematics paper, there are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questions of equal marks and the question paper is divided into three sections: A, B and C. A student is required to attempt total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questions taking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questions from each section. If section A has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questions, section B has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questions and section C has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questions, then the total number of ways a student can select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questions is ______. [JEE(Main) Jan 2024]</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of Mathematics paper, there are </a:t>
                </a:r>
                <a:r>
                  <a:rPr lang="en-IN" sz="2400">
                    <a:solidFill>
                      <a:srgbClr val="111827"/>
                    </a:solidFill>
                    <a:latin typeface="Cambria Math" panose="02040503050406030204" pitchFamily="18" charset="0"/>
                  </a:rPr>
                  <a:t>$20$</a:t>
                </a:r>
                <a:r>
                  <a:rPr sz="2400" b="0">
                    <a:solidFill>
                      <a:srgbClr val="111827"/>
                    </a:solidFill>
                    <a:latin typeface="Arial"/>
                  </a:rPr>
                  <a:t> questions of equal marks and the question paper is divided into three sections: A, B and C. A student is required to attempt total </a:t>
                </a:r>
                <a:r>
                  <a:rPr lang="en-IN" sz="2400">
                    <a:solidFill>
                      <a:srgbClr val="111827"/>
                    </a:solidFill>
                    <a:latin typeface="Cambria Math" panose="02040503050406030204" pitchFamily="18" charset="0"/>
                  </a:rPr>
                  <a:t>$15$</a:t>
                </a:r>
                <a:r>
                  <a:rPr sz="2400" b="0">
                    <a:solidFill>
                      <a:srgbClr val="111827"/>
                    </a:solidFill>
                    <a:latin typeface="Arial"/>
                  </a:rPr>
                  <a:t> questions taking at least </a:t>
                </a:r>
                <a:r>
                  <a:rPr lang="en-IN" sz="2400">
                    <a:solidFill>
                      <a:srgbClr val="111827"/>
                    </a:solidFill>
                    <a:latin typeface="Cambria Math" panose="02040503050406030204" pitchFamily="18" charset="0"/>
                  </a:rPr>
                  <a:t>$4$</a:t>
                </a:r>
                <a:r>
                  <a:rPr sz="2400" b="0">
                    <a:solidFill>
                      <a:srgbClr val="111827"/>
                    </a:solidFill>
                    <a:latin typeface="Arial"/>
                  </a:rPr>
                  <a:t> questions from each section. If section A has </a:t>
                </a:r>
                <a:r>
                  <a:rPr lang="en-IN" sz="2400">
                    <a:solidFill>
                      <a:srgbClr val="111827"/>
                    </a:solidFill>
                    <a:latin typeface="Cambria Math" panose="02040503050406030204" pitchFamily="18" charset="0"/>
                  </a:rPr>
                  <a:t>$8$</a:t>
                </a:r>
                <a:r>
                  <a:rPr sz="2400" b="0">
                    <a:solidFill>
                      <a:srgbClr val="111827"/>
                    </a:solidFill>
                    <a:latin typeface="Arial"/>
                  </a:rPr>
                  <a:t> questions, section B has </a:t>
                </a:r>
                <a:r>
                  <a:rPr lang="en-IN" sz="2400">
                    <a:solidFill>
                      <a:srgbClr val="111827"/>
                    </a:solidFill>
                    <a:latin typeface="Cambria Math" panose="02040503050406030204" pitchFamily="18" charset="0"/>
                  </a:rPr>
                  <a:t>$6$</a:t>
                </a:r>
                <a:r>
                  <a:rPr sz="2400" b="0">
                    <a:solidFill>
                      <a:srgbClr val="111827"/>
                    </a:solidFill>
                    <a:latin typeface="Arial"/>
                  </a:rPr>
                  <a:t> questions and section C has </a:t>
                </a:r>
                <a:r>
                  <a:rPr lang="en-IN" sz="2400">
                    <a:solidFill>
                      <a:srgbClr val="111827"/>
                    </a:solidFill>
                    <a:latin typeface="Cambria Math" panose="02040503050406030204" pitchFamily="18" charset="0"/>
                  </a:rPr>
                  <a:t>$6$</a:t>
                </a:r>
                <a:r>
                  <a:rPr sz="2400" b="0">
                    <a:solidFill>
                      <a:srgbClr val="111827"/>
                    </a:solidFill>
                    <a:latin typeface="Arial"/>
                  </a:rPr>
                  <a:t> questions, then the total number of ways a student can select </a:t>
                </a:r>
                <a:r>
                  <a:rPr lang="en-IN" sz="2400">
                    <a:solidFill>
                      <a:srgbClr val="111827"/>
                    </a:solidFill>
                    <a:latin typeface="Cambria Math" panose="02040503050406030204" pitchFamily="18" charset="0"/>
                  </a:rPr>
                  <a:t>$15$</a:t>
                </a:r>
                <a:r>
                  <a:rPr sz="2400" b="0">
                    <a:solidFill>
                      <a:srgbClr val="111827"/>
                    </a:solidFill>
                    <a:latin typeface="Arial"/>
                  </a:rPr>
                  <a:t> questions is ______. [JEE(Main) Jan 2024]</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from groups with minimum and maximum counts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After the compulsory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 extra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questions are distributed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over the sections, limited by section sizes.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After the compulsory </a:t>
                </a:r>
                <a:r>
                  <a:rPr lang="en-IN" sz="2400">
                    <a:solidFill>
                      <a:srgbClr val="78350F"/>
                    </a:solidFill>
                    <a:latin typeface="Cambria Math" panose="02040503050406030204" pitchFamily="18" charset="0"/>
                  </a:rPr>
                  <a:t>$4+4+4$</a:t>
                </a:r>
                <a:r>
                  <a:rPr sz="2400" b="0">
                    <a:solidFill>
                      <a:srgbClr val="78350F"/>
                    </a:solidFill>
                    <a:latin typeface="Arial"/>
                  </a:rPr>
                  <a:t>, the extra </a:t>
                </a:r>
                <a:r>
                  <a:rPr lang="en-IN" sz="2400">
                    <a:solidFill>
                      <a:srgbClr val="78350F"/>
                    </a:solidFill>
                    <a:latin typeface="Cambria Math" panose="02040503050406030204" pitchFamily="18" charset="0"/>
                  </a:rPr>
                  <a:t>$3$</a:t>
                </a:r>
                <a:r>
                  <a:rPr sz="2400" b="0">
                    <a:solidFill>
                      <a:srgbClr val="78350F"/>
                    </a:solidFill>
                    <a:latin typeface="Arial"/>
                  </a:rPr>
                  <a:t> questions are distributed as </a:t>
                </a:r>
                <a:r>
                  <a:rPr lang="en-IN" sz="2400">
                    <a:solidFill>
                      <a:srgbClr val="78350F"/>
                    </a:solidFill>
                    <a:latin typeface="Cambria Math" panose="02040503050406030204" pitchFamily="18" charset="0"/>
                  </a:rPr>
                  <a:t>$(1,1,1)$</a:t>
                </a:r>
                <a:r>
                  <a:rPr sz="2400" b="0">
                    <a:solidFill>
                      <a:srgbClr val="78350F"/>
                    </a:solidFill>
                    <a:latin typeface="Arial"/>
                  </a:rPr>
                  <a:t>, </a:t>
                </a:r>
                <a:r>
                  <a:rPr lang="en-IN" sz="2400">
                    <a:solidFill>
                      <a:srgbClr val="78350F"/>
                    </a:solidFill>
                    <a:latin typeface="Cambria Math" panose="02040503050406030204" pitchFamily="18" charset="0"/>
                  </a:rPr>
                  <a:t>$(3,0,0)$</a:t>
                </a:r>
                <a:r>
                  <a:rPr sz="2400" b="0">
                    <a:solidFill>
                      <a:srgbClr val="78350F"/>
                    </a:solidFill>
                    <a:latin typeface="Arial"/>
                  </a:rPr>
                  <a:t> or </a:t>
                </a:r>
                <a:r>
                  <a:rPr lang="en-IN" sz="2400">
                    <a:solidFill>
                      <a:srgbClr val="78350F"/>
                    </a:solidFill>
                    <a:latin typeface="Cambria Math" panose="02040503050406030204" pitchFamily="18" charset="0"/>
                  </a:rPr>
                  <a:t>$(2,1,0)$</a:t>
                </a:r>
                <a:r>
                  <a:rPr sz="2400" b="0">
                    <a:solidFill>
                      <a:srgbClr val="78350F"/>
                    </a:solidFill>
                    <a:latin typeface="Arial"/>
                  </a:rPr>
                  <a:t> over the sections, limited by section sizes.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 be the numbers attempted from A, B, C: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Three questions remain after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extra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questions are spread over the sections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-type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-type,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an arrangement of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over the sections;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impossible because B and C have only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questions.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$x_A,x_B,x_C$</a:t>
                </a:r>
                <a:r>
                  <a:rPr sz="2400" b="0">
                    <a:solidFill>
                      <a:srgbClr val="111827"/>
                    </a:solidFill>
                    <a:latin typeface="Arial"/>
                  </a:rPr>
                  <a:t> be the numbers attempted from A, B, C: </a:t>
                </a:r>
                <a:r>
                  <a:rPr lang="en-IN" sz="2400">
                    <a:solidFill>
                      <a:srgbClr val="111827"/>
                    </a:solidFill>
                    <a:latin typeface="Cambria Math" panose="02040503050406030204" pitchFamily="18" charset="0"/>
                  </a:rPr>
                  <a:t>$x_A+x_B+x_C=15$</a:t>
                </a:r>
                <a:r>
                  <a:rPr sz="2400" b="0">
                    <a:solidFill>
                      <a:srgbClr val="111827"/>
                    </a:solidFill>
                    <a:latin typeface="Arial"/>
                  </a:rPr>
                  <a:t>, each </a:t>
                </a:r>
                <a:r>
                  <a:rPr lang="en-IN" sz="2400">
                    <a:solidFill>
                      <a:srgbClr val="111827"/>
                    </a:solidFill>
                    <a:latin typeface="Cambria Math" panose="02040503050406030204" pitchFamily="18" charset="0"/>
                  </a:rPr>
                  <a:t>$\ge4$</a:t>
                </a:r>
                <a:r>
                  <a:rPr sz="2400" b="0">
                    <a:solidFill>
                      <a:srgbClr val="111827"/>
                    </a:solidFill>
                    <a:latin typeface="Arial"/>
                  </a:rPr>
                  <a:t>, with </a:t>
                </a:r>
                <a:r>
                  <a:rPr lang="en-IN" sz="2400">
                    <a:solidFill>
                      <a:srgbClr val="111827"/>
                    </a:solidFill>
                    <a:latin typeface="Cambria Math" panose="02040503050406030204" pitchFamily="18" charset="0"/>
                  </a:rPr>
                  <a:t>$x_A\le8$</a:t>
                </a:r>
                <a:r>
                  <a:rPr sz="2400" b="0">
                    <a:solidFill>
                      <a:srgbClr val="111827"/>
                    </a:solidFill>
                    <a:latin typeface="Arial"/>
                  </a:rPr>
                  <a:t>, </a:t>
                </a:r>
                <a:r>
                  <a:rPr lang="en-IN" sz="2400">
                    <a:solidFill>
                      <a:srgbClr val="111827"/>
                    </a:solidFill>
                    <a:latin typeface="Cambria Math" panose="02040503050406030204" pitchFamily="18" charset="0"/>
                  </a:rPr>
                  <a:t>$x_B\le6$</a:t>
                </a:r>
                <a:r>
                  <a:rPr sz="2400" b="0">
                    <a:solidFill>
                      <a:srgbClr val="111827"/>
                    </a:solidFill>
                    <a:latin typeface="Arial"/>
                  </a:rPr>
                  <a:t>, </a:t>
                </a:r>
                <a:r>
                  <a:rPr lang="en-IN" sz="2400">
                    <a:solidFill>
                      <a:srgbClr val="111827"/>
                    </a:solidFill>
                    <a:latin typeface="Cambria Math" panose="02040503050406030204" pitchFamily="18" charset="0"/>
                  </a:rPr>
                  <a:t>$x_C\le6$</a:t>
                </a:r>
                <a:r>
                  <a:rPr sz="2400" b="0">
                    <a:solidFill>
                      <a:srgbClr val="111827"/>
                    </a:solidFill>
                    <a:latin typeface="Arial"/>
                  </a:rPr>
                  <a:t>. Three questions remain after </a:t>
                </a:r>
                <a:r>
                  <a:rPr lang="en-IN" sz="2400">
                    <a:solidFill>
                      <a:srgbClr val="111827"/>
                    </a:solidFill>
                    <a:latin typeface="Cambria Math" panose="02040503050406030204" pitchFamily="18" charset="0"/>
                  </a:rPr>
                  <a:t>$4+4+4$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extra </a:t>
                </a:r>
                <a:r>
                  <a:rPr lang="en-IN" sz="2400">
                    <a:solidFill>
                      <a:srgbClr val="111827"/>
                    </a:solidFill>
                    <a:latin typeface="Cambria Math" panose="02040503050406030204" pitchFamily="18" charset="0"/>
                  </a:rPr>
                  <a:t>$3$</a:t>
                </a:r>
                <a:r>
                  <a:rPr sz="2400" b="0">
                    <a:solidFill>
                      <a:srgbClr val="111827"/>
                    </a:solidFill>
                    <a:latin typeface="Arial"/>
                  </a:rPr>
                  <a:t> questions are spread over the sections as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$(3,0,0)$</a:t>
                </a:r>
                <a:r>
                  <a:rPr sz="2400" b="0">
                    <a:solidFill>
                      <a:srgbClr val="111827"/>
                    </a:solidFill>
                    <a:latin typeface="Arial"/>
                  </a:rPr>
                  <a:t>-type or </a:t>
                </a:r>
                <a:r>
                  <a:rPr lang="en-IN" sz="2400">
                    <a:solidFill>
                      <a:srgbClr val="111827"/>
                    </a:solidFill>
                    <a:latin typeface="Cambria Math" panose="02040503050406030204" pitchFamily="18" charset="0"/>
                  </a:rPr>
                  <a:t>$(2,1,0)$</a:t>
                </a:r>
                <a:r>
                  <a:rPr sz="2400" b="0">
                    <a:solidFill>
                      <a:srgbClr val="111827"/>
                    </a:solidFill>
                    <a:latin typeface="Arial"/>
                  </a:rPr>
                  <a:t>-type, so </a:t>
                </a:r>
                <a:r>
                  <a:rPr lang="en-IN" sz="2400">
                    <a:solidFill>
                      <a:srgbClr val="111827"/>
                    </a:solidFill>
                    <a:latin typeface="Cambria Math" panose="02040503050406030204" pitchFamily="18" charset="0"/>
                  </a:rPr>
                  <a:t>$(x_A,x_B,x_C)=(5,5,5)$</a:t>
                </a:r>
                <a:r>
                  <a:rPr sz="2400" b="0">
                    <a:solidFill>
                      <a:srgbClr val="111827"/>
                    </a:solidFill>
                    <a:latin typeface="Arial"/>
                  </a:rPr>
                  <a:t>, </a:t>
                </a:r>
                <a:r>
                  <a:rPr lang="en-IN" sz="2400">
                    <a:solidFill>
                      <a:srgbClr val="111827"/>
                    </a:solidFill>
                    <a:latin typeface="Cambria Math" panose="02040503050406030204" pitchFamily="18" charset="0"/>
                  </a:rPr>
                  <a:t>$(7,4,4)$</a:t>
                </a:r>
                <a:r>
                  <a:rPr sz="2400" b="0">
                    <a:solidFill>
                      <a:srgbClr val="111827"/>
                    </a:solidFill>
                    <a:latin typeface="Arial"/>
                  </a:rPr>
                  <a:t>, or an arrangement of </a:t>
                </a:r>
                <a:r>
                  <a:rPr lang="en-IN" sz="2400">
                    <a:solidFill>
                      <a:srgbClr val="111827"/>
                    </a:solidFill>
                    <a:latin typeface="Cambria Math" panose="02040503050406030204" pitchFamily="18" charset="0"/>
                  </a:rPr>
                  <a:t>$6,5,4$</a:t>
                </a:r>
                <a:r>
                  <a:rPr sz="2400" b="0">
                    <a:solidFill>
                      <a:srgbClr val="111827"/>
                    </a:solidFill>
                    <a:latin typeface="Arial"/>
                  </a:rPr>
                  <a:t> over the sections; </a:t>
                </a:r>
                <a:r>
                  <a:rPr lang="en-IN" sz="2400">
                    <a:solidFill>
                      <a:srgbClr val="111827"/>
                    </a:solidFill>
                    <a:latin typeface="Cambria Math" panose="02040503050406030204" pitchFamily="18" charset="0"/>
                  </a:rPr>
                  <a:t>$(4,7,4)$</a:t>
                </a:r>
                <a:r>
                  <a:rPr sz="2400" b="0">
                    <a:solidFill>
                      <a:srgbClr val="111827"/>
                    </a:solidFill>
                    <a:latin typeface="Arial"/>
                  </a:rPr>
                  <a:t> and </a:t>
                </a:r>
                <a:r>
                  <a:rPr lang="en-IN" sz="2400">
                    <a:solidFill>
                      <a:srgbClr val="111827"/>
                    </a:solidFill>
                    <a:latin typeface="Cambria Math" panose="02040503050406030204" pitchFamily="18" charset="0"/>
                  </a:rPr>
                  <a:t>$(4,4,7)$</a:t>
                </a:r>
                <a:r>
                  <a:rPr sz="2400" b="0">
                    <a:solidFill>
                      <a:srgbClr val="111827"/>
                    </a:solidFill>
                    <a:latin typeface="Arial"/>
                  </a:rPr>
                  <a:t> are impossible because B and C have only </a:t>
                </a:r>
                <a:r>
                  <a:rPr lang="en-IN" sz="2400">
                    <a:solidFill>
                      <a:srgbClr val="111827"/>
                    </a:solidFill>
                    <a:latin typeface="Cambria Math" panose="02040503050406030204" pitchFamily="18" charset="0"/>
                  </a:rPr>
                  <a:t>$6$</a:t>
                </a:r>
                <a:r>
                  <a:rPr sz="2400" b="0">
                    <a:solidFill>
                      <a:srgbClr val="111827"/>
                    </a:solidFill>
                    <a:latin typeface="Arial"/>
                  </a:rPr>
                  <a:t> questions.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$(5,5,5)$</a:t>
                </a:r>
                <a:r>
                  <a:rPr sz="2400" b="0">
                    <a:solidFill>
                      <a:srgbClr val="111827"/>
                    </a:solidFill>
                    <a:latin typeface="Arial"/>
                  </a:rPr>
                  <a:t>: </a:t>
                </a:r>
                <a:r>
                  <a:rPr lang="en-IN" sz="2400">
                    <a:solidFill>
                      <a:srgbClr val="111827"/>
                    </a:solidFill>
                    <a:latin typeface="Cambria Math" panose="02040503050406030204" pitchFamily="18" charset="0"/>
                  </a:rPr>
                  <a:t>${}^8C_5\cdot{}^6C_5\cdot{}^6C_5=56\cdot6\cdot6=2016$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11376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$(7,4,4)$</a:t>
                </a:r>
                <a:r>
                  <a:rPr sz="2400" b="0">
                    <a:solidFill>
                      <a:srgbClr val="111827"/>
                    </a:solidFill>
                    <a:latin typeface="Arial"/>
                  </a:rPr>
                  <a:t>: </a:t>
                </a:r>
                <a:r>
                  <a:rPr lang="en-IN" sz="2400">
                    <a:solidFill>
                      <a:srgbClr val="111827"/>
                    </a:solidFill>
                    <a:latin typeface="Cambria Math" panose="02040503050406030204" pitchFamily="18" charset="0"/>
                  </a:rPr>
                  <a:t>${}^8C_7\cdot{}^6C_4\cdot{}^6C_4=8\cdot15\cdot15=1800$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$(6,5,4)$</a:t>
                </a:r>
                <a:r>
                  <a:rPr sz="2400" b="0">
                    <a:solidFill>
                      <a:srgbClr val="111827"/>
                    </a:solidFill>
                    <a:latin typeface="Arial"/>
                  </a:rPr>
                  <a:t> and </a:t>
                </a:r>
                <a:r>
                  <a:rPr lang="en-IN" sz="2400">
                    <a:solidFill>
                      <a:srgbClr val="111827"/>
                    </a:solidFill>
                    <a:latin typeface="Cambria Math" panose="02040503050406030204" pitchFamily="18" charset="0"/>
                  </a:rPr>
                  <a:t>$(6,4,5)$</a:t>
                </a:r>
                <a:r>
                  <a:rPr sz="2400" b="0">
                    <a:solidFill>
                      <a:srgbClr val="111827"/>
                    </a:solidFill>
                    <a:latin typeface="Arial"/>
                  </a:rPr>
                  <a:t>: </a:t>
                </a:r>
                <a:r>
                  <a:rPr lang="en-IN" sz="2400">
                    <a:solidFill>
                      <a:srgbClr val="111827"/>
                    </a:solidFill>
                    <a:latin typeface="Cambria Math" panose="02040503050406030204" pitchFamily="18" charset="0"/>
                  </a:rPr>
                  <a:t>${}^8C_6\cdot{}^6C_5\cdot{}^6C_4	imes2=28\cdot6\cdot15	imes2=5040$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$(5,6,4)$</a:t>
                </a:r>
                <a:r>
                  <a:rPr sz="2400" b="0">
                    <a:solidFill>
                      <a:srgbClr val="111827"/>
                    </a:solidFill>
                    <a:latin typeface="Arial"/>
                  </a:rPr>
                  <a:t> and </a:t>
                </a:r>
                <a:r>
                  <a:rPr lang="en-IN" sz="2400">
                    <a:solidFill>
                      <a:srgbClr val="111827"/>
                    </a:solidFill>
                    <a:latin typeface="Cambria Math" panose="02040503050406030204" pitchFamily="18" charset="0"/>
                  </a:rPr>
                  <a:t>$(5,4,6)$</a:t>
                </a:r>
                <a:r>
                  <a:rPr sz="2400" b="0">
                    <a:solidFill>
                      <a:srgbClr val="111827"/>
                    </a:solidFill>
                    <a:latin typeface="Arial"/>
                  </a:rPr>
                  <a:t>: </a:t>
                </a:r>
                <a:r>
                  <a:rPr lang="en-IN" sz="2400">
                    <a:solidFill>
                      <a:srgbClr val="111827"/>
                    </a:solidFill>
                    <a:latin typeface="Cambria Math" panose="02040503050406030204" pitchFamily="18" charset="0"/>
                  </a:rPr>
                  <a:t>${}^8C_5\cdot{}^6C_6\cdot{}^6C_4	imes2=56\cdot15	imes2=1680$</a:t>
                </a:r>
                <a:r>
                  <a:rPr sz="2400" b="0">
                    <a:solidFill>
                      <a:srgbClr val="111827"/>
                    </a:solidFill>
                    <a:latin typeface="Arial"/>
                  </a:rPr>
                  <a:t>. </a:t>
                </a:r>
                <a:r>
                  <a:rPr lang="en-IN" sz="2400">
                    <a:solidFill>
                      <a:srgbClr val="111827"/>
                    </a:solidFill>
                    <a:latin typeface="Cambria Math" panose="02040503050406030204" pitchFamily="18" charset="0"/>
                  </a:rPr>
                  <a:t>$(4,6,5)$</a:t>
                </a:r>
                <a:r>
                  <a:rPr sz="2400" b="0">
                    <a:solidFill>
                      <a:srgbClr val="111827"/>
                    </a:solidFill>
                    <a:latin typeface="Arial"/>
                  </a:rPr>
                  <a:t> and </a:t>
                </a:r>
                <a:r>
                  <a:rPr lang="en-IN" sz="2400">
                    <a:solidFill>
                      <a:srgbClr val="111827"/>
                    </a:solidFill>
                    <a:latin typeface="Cambria Math" panose="02040503050406030204" pitchFamily="18" charset="0"/>
                  </a:rPr>
                  <a:t>$(4,5,6)$</a:t>
                </a:r>
                <a:r>
                  <a:rPr sz="2400" b="0">
                    <a:solidFill>
                      <a:srgbClr val="111827"/>
                    </a:solidFill>
                    <a:latin typeface="Arial"/>
                  </a:rPr>
                  <a:t>: </a:t>
                </a:r>
                <a:r>
                  <a:rPr lang="en-IN" sz="2400">
                    <a:solidFill>
                      <a:srgbClr val="111827"/>
                    </a:solidFill>
                    <a:latin typeface="Cambria Math" panose="02040503050406030204" pitchFamily="18" charset="0"/>
                  </a:rPr>
                  <a:t>${}^8C_4\cdot{}^6C_6\cdot{}^6C_5	imes2=70\cdot6	imes2=840$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$=2016+1800+5040+1680+840=11376$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11376</a:t>
            </a:r>
            <a:endParaRPr sz="2800">
              <a:solidFill>
                <a:srgbClr val="15803D"/>
              </a:solidFill>
            </a:endParaRP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questions left out instead of the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attempted.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a:t>
                </a:r>
                <a:r>
                  <a:rPr lang="en-IN" sz="2400">
                    <a:solidFill>
                      <a:srgbClr val="78350F"/>
                    </a:solidFill>
                    <a:latin typeface="Cambria Math" panose="02040503050406030204" pitchFamily="18" charset="0"/>
                  </a:rPr>
                  <a:t>$5$</a:t>
                </a:r>
                <a:r>
                  <a:rPr sz="2400" b="0">
                    <a:solidFill>
                      <a:srgbClr val="78350F"/>
                    </a:solidFill>
                    <a:latin typeface="Arial"/>
                  </a:rPr>
                  <a:t> questions left out instead of the </a:t>
                </a:r>
                <a:r>
                  <a:rPr lang="en-IN" sz="2400">
                    <a:solidFill>
                      <a:srgbClr val="78350F"/>
                    </a:solidFill>
                    <a:latin typeface="Cambria Math" panose="02040503050406030204" pitchFamily="18" charset="0"/>
                  </a:rPr>
                  <a:t>$15$</a:t>
                </a:r>
                <a:r>
                  <a:rPr sz="2400" b="0">
                    <a:solidFill>
                      <a:srgbClr val="78350F"/>
                    </a:solidFill>
                    <a:latin typeface="Arial"/>
                  </a:rPr>
                  <a:t> attempted.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Leaving out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 questions: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each section keeps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Allowed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then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Leaving out </a:t>
                </a:r>
                <a:r>
                  <a:rPr lang="en-IN" sz="2400">
                    <a:solidFill>
                      <a:srgbClr val="111827"/>
                    </a:solidFill>
                    <a:latin typeface="Cambria Math" panose="02040503050406030204" pitchFamily="18" charset="0"/>
                  </a:rPr>
                  <a:t>$u_A,u_B,u_C$</a:t>
                </a:r>
                <a:r>
                  <a:rPr sz="2400" b="0">
                    <a:solidFill>
                      <a:srgbClr val="111827"/>
                    </a:solidFill>
                    <a:latin typeface="Arial"/>
                  </a:rPr>
                  <a:t> questions: </a:t>
                </a:r>
                <a:r>
                  <a:rPr lang="en-IN" sz="2400">
                    <a:solidFill>
                      <a:srgbClr val="111827"/>
                    </a:solidFill>
                    <a:latin typeface="Cambria Math" panose="02040503050406030204" pitchFamily="18" charset="0"/>
                  </a:rPr>
                  <a:t>$u_A+u_B+u_C=5$</a:t>
                </a:r>
                <a:r>
                  <a:rPr sz="2400" b="0">
                    <a:solidFill>
                      <a:srgbClr val="111827"/>
                    </a:solidFill>
                    <a:latin typeface="Arial"/>
                  </a:rPr>
                  <a:t> with </a:t>
                </a:r>
                <a:r>
                  <a:rPr lang="en-IN" sz="2400">
                    <a:solidFill>
                      <a:srgbClr val="111827"/>
                    </a:solidFill>
                    <a:latin typeface="Cambria Math" panose="02040503050406030204" pitchFamily="18" charset="0"/>
                  </a:rPr>
                  <a:t>$u_A\le4$</a:t>
                </a:r>
                <a:r>
                  <a:rPr sz="2400" b="0">
                    <a:solidFill>
                      <a:srgbClr val="111827"/>
                    </a:solidFill>
                    <a:latin typeface="Arial"/>
                  </a:rPr>
                  <a:t>, </a:t>
                </a:r>
                <a:r>
                  <a:rPr lang="en-IN" sz="2400">
                    <a:solidFill>
                      <a:srgbClr val="111827"/>
                    </a:solidFill>
                    <a:latin typeface="Cambria Math" panose="02040503050406030204" pitchFamily="18" charset="0"/>
                  </a:rPr>
                  <a:t>$u_B\le2$</a:t>
                </a:r>
                <a:r>
                  <a:rPr sz="2400" b="0">
                    <a:solidFill>
                      <a:srgbClr val="111827"/>
                    </a:solidFill>
                    <a:latin typeface="Arial"/>
                  </a:rPr>
                  <a:t>, </a:t>
                </a:r>
                <a:r>
                  <a:rPr lang="en-IN" sz="2400">
                    <a:solidFill>
                      <a:srgbClr val="111827"/>
                    </a:solidFill>
                    <a:latin typeface="Cambria Math" panose="02040503050406030204" pitchFamily="18" charset="0"/>
                  </a:rPr>
                  <a:t>$u_C\le2$</a:t>
                </a:r>
                <a:r>
                  <a:rPr sz="2400" b="0">
                    <a:solidFill>
                      <a:srgbClr val="111827"/>
                    </a:solidFill>
                    <a:latin typeface="Arial"/>
                  </a:rPr>
                  <a:t> (since each section keeps at least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Allowed </a:t>
                </a:r>
                <a:r>
                  <a:rPr lang="en-IN" sz="2400">
                    <a:solidFill>
                      <a:srgbClr val="111827"/>
                    </a:solidFill>
                    <a:latin typeface="Cambria Math" panose="02040503050406030204" pitchFamily="18" charset="0"/>
                  </a:rPr>
                  <a:t>$(u_B,u_C)$</a:t>
                </a:r>
                <a:r>
                  <a:rPr sz="2400" b="0">
                    <a:solidFill>
                      <a:srgbClr val="111827"/>
                    </a:solidFill>
                    <a:latin typeface="Arial"/>
                  </a:rPr>
                  <a:t> and then </a:t>
                </a:r>
                <a:r>
                  <a:rPr lang="en-IN" sz="2400">
                    <a:solidFill>
                      <a:srgbClr val="111827"/>
                    </a:solidFill>
                    <a:latin typeface="Cambria Math" panose="02040503050406030204" pitchFamily="18" charset="0"/>
                  </a:rPr>
                  <a:t>$u_A=5-u_B-u_C$</a:t>
                </a:r>
                <a:r>
                  <a:rPr sz="2400" b="0">
                    <a:solidFill>
                      <a:srgbClr val="111827"/>
                    </a:solidFill>
                    <a:latin typeface="Arial"/>
                  </a:rPr>
                  <a:t>: </a:t>
                </a:r>
                <a:r>
                  <a:rPr lang="en-IN" sz="2400">
                    <a:solidFill>
                      <a:srgbClr val="111827"/>
                    </a:solidFill>
                    <a:latin typeface="Cambria Math" panose="02040503050406030204" pitchFamily="18" charset="0"/>
                  </a:rPr>
                  <a:t>$(0,1),(1,0)$</a:t>
                </a:r>
                <a:r>
                  <a:rPr sz="2400" b="0">
                    <a:solidFill>
                      <a:srgbClr val="111827"/>
                    </a:solidFill>
                    <a:latin typeface="Arial"/>
                  </a:rPr>
                  <a:t> give </a:t>
                </a:r>
                <a:r>
                  <a:rPr lang="en-IN" sz="2400">
                    <a:solidFill>
                      <a:srgbClr val="111827"/>
                    </a:solidFill>
                    <a:latin typeface="Cambria Math" panose="02040503050406030204" pitchFamily="18" charset="0"/>
                  </a:rPr>
                  <a:t>$u_A=4$</a:t>
                </a:r>
                <a:r>
                  <a:rPr sz="2400" b="0">
                    <a:solidFill>
                      <a:srgbClr val="111827"/>
                    </a:solidFill>
                    <a:latin typeface="Arial"/>
                  </a:rPr>
                  <a:t>: </a:t>
                </a:r>
                <a:r>
                  <a:rPr lang="en-IN" sz="2400">
                    <a:solidFill>
                      <a:srgbClr val="111827"/>
                    </a:solidFill>
                    <a:latin typeface="Cambria Math" panose="02040503050406030204" pitchFamily="18" charset="0"/>
                  </a:rPr>
                  <a:t>$2\times{}^8C_4\cdot{}^6C_1=2\times420=840$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$(0,2),(2,0)$</a:t>
                </a:r>
                <a:r>
                  <a:rPr sz="2400" b="0">
                    <a:solidFill>
                      <a:srgbClr val="111827"/>
                    </a:solidFill>
                    <a:latin typeface="Arial"/>
                  </a:rPr>
                  <a:t> give </a:t>
                </a:r>
                <a:r>
                  <a:rPr lang="en-IN" sz="2400">
                    <a:solidFill>
                      <a:srgbClr val="111827"/>
                    </a:solidFill>
                    <a:latin typeface="Cambria Math" panose="02040503050406030204" pitchFamily="18" charset="0"/>
                  </a:rPr>
                  <a:t>$u_A=3$</a:t>
                </a:r>
                <a:r>
                  <a:rPr sz="2400" b="0">
                    <a:solidFill>
                      <a:srgbClr val="111827"/>
                    </a:solidFill>
                    <a:latin typeface="Arial"/>
                  </a:rPr>
                  <a:t>: </a:t>
                </a:r>
                <a:r>
                  <a:rPr lang="en-IN" sz="2400">
                    <a:solidFill>
                      <a:srgbClr val="111827"/>
                    </a:solidFill>
                    <a:latin typeface="Cambria Math" panose="02040503050406030204" pitchFamily="18" charset="0"/>
                  </a:rPr>
                  <a:t>$2\times{}^8C_3\cdot{}^6C_2=2\times840=1680$</a:t>
                </a:r>
                <a:r>
                  <a:rPr sz="2400" b="0">
                    <a:solidFill>
                      <a:srgbClr val="111827"/>
                    </a:solidFill>
                    <a:latin typeface="Arial"/>
                  </a:rPr>
                  <a:t>; </a:t>
                </a:r>
                <a:r>
                  <a:rPr lang="en-IN" sz="2400">
                    <a:solidFill>
                      <a:srgbClr val="111827"/>
                    </a:solidFill>
                    <a:latin typeface="Cambria Math" panose="02040503050406030204" pitchFamily="18" charset="0"/>
                  </a:rPr>
                  <a:t>$(1,1)$</a:t>
                </a:r>
                <a:r>
                  <a:rPr sz="2400" b="0">
                    <a:solidFill>
                      <a:srgbClr val="111827"/>
                    </a:solidFill>
                    <a:latin typeface="Arial"/>
                  </a:rPr>
                  <a:t> gives </a:t>
                </a:r>
                <a:r>
                  <a:rPr lang="en-IN" sz="2400">
                    <a:solidFill>
                      <a:srgbClr val="111827"/>
                    </a:solidFill>
                    <a:latin typeface="Cambria Math" panose="02040503050406030204" pitchFamily="18" charset="0"/>
                  </a:rPr>
                  <a:t>$u_A=3$</a:t>
                </a:r>
                <a:r>
                  <a:rPr sz="2400" b="0">
                    <a:solidFill>
                      <a:srgbClr val="111827"/>
                    </a:solidFill>
                    <a:latin typeface="Arial"/>
                  </a:rPr>
                  <a:t>: </a:t>
                </a:r>
                <a:r>
                  <a:rPr lang="en-IN" sz="2400">
                    <a:solidFill>
                      <a:srgbClr val="111827"/>
                    </a:solidFill>
                    <a:latin typeface="Cambria Math" panose="02040503050406030204" pitchFamily="18" charset="0"/>
                  </a:rPr>
                  <a:t>$56\cdot6\cdot6=2016$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11376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$(1,2),(2,1)$</a:t>
                </a:r>
                <a:r>
                  <a:rPr sz="2400" b="0">
                    <a:solidFill>
                      <a:srgbClr val="111827"/>
                    </a:solidFill>
                    <a:latin typeface="Arial"/>
                  </a:rPr>
                  <a:t> give </a:t>
                </a:r>
                <a:r>
                  <a:rPr lang="en-IN" sz="2400">
                    <a:solidFill>
                      <a:srgbClr val="111827"/>
                    </a:solidFill>
                    <a:latin typeface="Cambria Math" panose="02040503050406030204" pitchFamily="18" charset="0"/>
                  </a:rPr>
                  <a:t>$u_A=2$</a:t>
                </a:r>
                <a:r>
                  <a:rPr sz="2400" b="0">
                    <a:solidFill>
                      <a:srgbClr val="111827"/>
                    </a:solidFill>
                    <a:latin typeface="Arial"/>
                  </a:rPr>
                  <a:t>: </a:t>
                </a:r>
                <a:r>
                  <a:rPr lang="en-IN" sz="2400">
                    <a:solidFill>
                      <a:srgbClr val="111827"/>
                    </a:solidFill>
                    <a:latin typeface="Cambria Math" panose="02040503050406030204" pitchFamily="18" charset="0"/>
                  </a:rPr>
                  <a:t>$2\times28\cdot6\cdot15=5040$</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gives </a:t>
                </a:r>
                <a:r>
                  <a:rPr lang="en-IN" sz="2400">
                    <a:solidFill>
                      <a:srgbClr val="111827"/>
                    </a:solidFill>
                    <a:latin typeface="Cambria Math" panose="02040503050406030204" pitchFamily="18" charset="0"/>
                  </a:rPr>
                  <a:t>$u_A=1$</a:t>
                </a:r>
                <a:r>
                  <a:rPr sz="2400" b="0">
                    <a:solidFill>
                      <a:srgbClr val="111827"/>
                    </a:solidFill>
                    <a:latin typeface="Arial"/>
                  </a:rPr>
                  <a:t>: </a:t>
                </a:r>
                <a:r>
                  <a:rPr lang="en-IN" sz="2400">
                    <a:solidFill>
                      <a:srgbClr val="111827"/>
                    </a:solidFill>
                    <a:latin typeface="Cambria Math" panose="02040503050406030204" pitchFamily="18" charset="0"/>
                  </a:rPr>
                  <a:t>$8\cdot15\cdot15=1800$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$=840+1680+2016+5040+1800=11376$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11376</a:t>
            </a:r>
            <a:endParaRPr sz="2800">
              <a:solidFill>
                <a:srgbClr val="15803D"/>
              </a:solidFill>
            </a:endParaRP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'chosen' side is large, count the unchosen items: bounds become small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cases are easier to list.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conditions: pre-select the compulsory items and distribute the rest, but remember that section sizes cap each 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Selections from sections multiply 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𝐴</m:t>
                                </m:r>
                              </m:sub>
                            </m:sSub>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𝐵</m:t>
                                </m:r>
                              </m:sub>
                            </m:sSub>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𝐶</m:t>
                                </m:r>
                              </m:sub>
                            </m:sSub>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den>
                        </m:f>
                      </m:e>
                    </m:d>
                  </m:oMath>
                </a14:m>
                <a:r>
                  <a:rPr sz="2400" b="0">
                    <a:solidFill>
                      <a:srgbClr val="111827"/>
                    </a:solidFill>
                    <a:latin typeface="Arial"/>
                  </a:rPr>
                  <a:t> and add over the admissible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'chosen' side is large, count the unchosen items: bounds become small (</a:t>
                </a:r>
                <a:r>
                  <a:rPr lang="en-IN" sz="2400">
                    <a:solidFill>
                      <a:srgbClr val="111827"/>
                    </a:solidFill>
                    <a:latin typeface="Cambria Math" panose="02040503050406030204" pitchFamily="18" charset="0"/>
                  </a:rPr>
                  <a:t>$u_A\le4$</a:t>
                </a:r>
                <a:r>
                  <a:rPr sz="2400" b="0">
                    <a:solidFill>
                      <a:srgbClr val="111827"/>
                    </a:solidFill>
                    <a:latin typeface="Arial"/>
                  </a:rPr>
                  <a:t>, </a:t>
                </a:r>
                <a:r>
                  <a:rPr lang="en-IN" sz="2400">
                    <a:solidFill>
                      <a:srgbClr val="111827"/>
                    </a:solidFill>
                    <a:latin typeface="Cambria Math" panose="02040503050406030204" pitchFamily="18" charset="0"/>
                  </a:rPr>
                  <a:t>$u_B,u_C\le2$</a:t>
                </a:r>
                <a:r>
                  <a:rPr sz="2400" b="0">
                    <a:solidFill>
                      <a:srgbClr val="111827"/>
                    </a:solidFill>
                    <a:latin typeface="Arial"/>
                  </a:rPr>
                  <a:t>) and the cases are easier to list.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conditions: pre-select the compulsory items and distribute the rest, but remember that section sizes cap each 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Selections from sections multiply as </a:t>
                </a:r>
                <a:r>
                  <a:rPr lang="en-IN" sz="2400">
                    <a:solidFill>
                      <a:srgbClr val="111827"/>
                    </a:solidFill>
                    <a:latin typeface="Cambria Math" panose="02040503050406030204" pitchFamily="18" charset="0"/>
                  </a:rPr>
                  <a:t>$\binom{n_A}{x_A}\binom{n_B}{x_B}\binom{n_C}{x_C}$</a:t>
                </a:r>
                <a:r>
                  <a:rPr sz="2400" b="0">
                    <a:solidFill>
                      <a:srgbClr val="111827"/>
                    </a:solidFill>
                    <a:latin typeface="Arial"/>
                  </a:rPr>
                  <a:t> and add over the admissible </a:t>
                </a:r>
                <a:r>
                  <a:rPr lang="en-IN" sz="2400">
                    <a:solidFill>
                      <a:srgbClr val="111827"/>
                    </a:solidFill>
                    <a:latin typeface="Cambria Math" panose="02040503050406030204" pitchFamily="18" charset="0"/>
                  </a:rPr>
                  <a:t>$(x_A,x_B,x_C)$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words (with or without meaning) that can be formed out of the letters of the word “DISTRIBUTION” taken four at a time, is equal to ______. [JEE(Main) Jan 2024]</a:t>
            </a:r>
            <a:endParaRPr sz="2400">
              <a:solidFill>
                <a:srgbClr val="111827"/>
              </a:solidFill>
            </a:endParaRPr>
          </a:p>
        </p:txBody>
      </p:sp>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Words formed from some of the letters (with repeated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Letters </a:t>
                </a:r>
                <a14:m>
                  <m:oMath xmlns:m="http://schemas.openxmlformats.org/officeDocument/2006/math">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seven singles; split 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-letter selections into patterns </a:t>
                </a:r>
                <a14:m>
                  <m:oMath xmlns:m="http://schemas.openxmlformats.org/officeDocument/2006/math">
                    <m:r>
                      <a:rPr lang="en-IN" sz="2400" i="1">
                        <a:solidFill>
                          <a:srgbClr val="78350F"/>
                        </a:solidFill>
                        <a:latin typeface="Cambria Math" panose="02040503050406030204" pitchFamily="18" charset="0"/>
                      </a:rPr>
                      <m:t>1111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211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Letters </a:t>
                </a:r>
                <a:r>
                  <a:rPr lang="en-IN" sz="2400">
                    <a:solidFill>
                      <a:srgbClr val="78350F"/>
                    </a:solidFill>
                    <a:latin typeface="Cambria Math" panose="02040503050406030204" pitchFamily="18" charset="0"/>
                  </a:rPr>
                  <a:t>$I\times3,\ T\times2$</a:t>
                </a:r>
                <a:r>
                  <a:rPr sz="2400" b="0">
                    <a:solidFill>
                      <a:srgbClr val="78350F"/>
                    </a:solidFill>
                    <a:latin typeface="Arial"/>
                  </a:rPr>
                  <a:t> and seven singles; split the </a:t>
                </a:r>
                <a:r>
                  <a:rPr lang="en-IN" sz="2400">
                    <a:solidFill>
                      <a:srgbClr val="78350F"/>
                    </a:solidFill>
                    <a:latin typeface="Cambria Math" panose="02040503050406030204" pitchFamily="18" charset="0"/>
                  </a:rPr>
                  <a:t>$4$</a:t>
                </a:r>
                <a:r>
                  <a:rPr sz="2400" b="0">
                    <a:solidFill>
                      <a:srgbClr val="78350F"/>
                    </a:solidFill>
                    <a:latin typeface="Arial"/>
                  </a:rPr>
                  <a:t>-letter selections into patterns </a:t>
                </a:r>
                <a:r>
                  <a:rPr lang="en-IN" sz="2400">
                    <a:solidFill>
                      <a:srgbClr val="78350F"/>
                    </a:solidFill>
                    <a:latin typeface="Cambria Math" panose="02040503050406030204" pitchFamily="18" charset="0"/>
                  </a:rPr>
                  <a:t>$1111$</a:t>
                </a:r>
                <a:r>
                  <a:rPr sz="2400" b="0">
                    <a:solidFill>
                      <a:srgbClr val="78350F"/>
                    </a:solidFill>
                    <a:latin typeface="Arial"/>
                  </a:rPr>
                  <a:t>, </a:t>
                </a:r>
                <a:r>
                  <a:rPr lang="en-IN" sz="2400">
                    <a:solidFill>
                      <a:srgbClr val="78350F"/>
                    </a:solidFill>
                    <a:latin typeface="Cambria Math" panose="02040503050406030204" pitchFamily="18" charset="0"/>
                  </a:rPr>
                  <a:t>$211$</a:t>
                </a:r>
                <a:r>
                  <a:rPr sz="2400" b="0">
                    <a:solidFill>
                      <a:srgbClr val="78350F"/>
                    </a:solidFill>
                    <a:latin typeface="Arial"/>
                  </a:rPr>
                  <a:t>, </a:t>
                </a:r>
                <a:r>
                  <a:rPr lang="en-IN" sz="2400">
                    <a:solidFill>
                      <a:srgbClr val="78350F"/>
                    </a:solidFill>
                    <a:latin typeface="Cambria Math" panose="02040503050406030204" pitchFamily="18" charset="0"/>
                  </a:rPr>
                  <a:t>$22$</a:t>
                </a:r>
                <a:r>
                  <a:rPr sz="2400" b="0">
                    <a:solidFill>
                      <a:srgbClr val="78350F"/>
                    </a:solidFill>
                    <a:latin typeface="Arial"/>
                  </a:rPr>
                  <a:t>, </a:t>
                </a:r>
                <a:r>
                  <a:rPr lang="en-IN" sz="2400">
                    <a:solidFill>
                      <a:srgbClr val="78350F"/>
                    </a:solidFill>
                    <a:latin typeface="Cambria Math" panose="02040503050406030204" pitchFamily="18" charset="0"/>
                  </a:rPr>
                  <a:t>$31$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DISTRIBUTION has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letters: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thrice,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twice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once each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different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letters different: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letters alike and two different: the repeated letter is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 two others from the remaining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letters: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arrangements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Count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DISTRIBUTION has </a:t>
                </a:r>
                <a:r>
                  <a:rPr lang="en-IN" sz="2400">
                    <a:solidFill>
                      <a:srgbClr val="111827"/>
                    </a:solidFill>
                    <a:latin typeface="Cambria Math" panose="02040503050406030204" pitchFamily="18" charset="0"/>
                  </a:rPr>
                  <a:t>$12$</a:t>
                </a:r>
                <a:r>
                  <a:rPr sz="2400" b="0">
                    <a:solidFill>
                      <a:srgbClr val="111827"/>
                    </a:solidFill>
                    <a:latin typeface="Arial"/>
                  </a:rPr>
                  <a:t> letters: </a:t>
                </a:r>
                <a:r>
                  <a:rPr lang="en-IN" sz="2400">
                    <a:solidFill>
                      <a:srgbClr val="111827"/>
                    </a:solidFill>
                    <a:latin typeface="Cambria Math" panose="02040503050406030204" pitchFamily="18" charset="0"/>
                  </a:rPr>
                  <a:t>$I$</a:t>
                </a:r>
                <a:r>
                  <a:rPr sz="2400" b="0">
                    <a:solidFill>
                      <a:srgbClr val="111827"/>
                    </a:solidFill>
                    <a:latin typeface="Arial"/>
                  </a:rPr>
                  <a:t> thrice, </a:t>
                </a:r>
                <a:r>
                  <a:rPr lang="en-IN" sz="2400">
                    <a:solidFill>
                      <a:srgbClr val="111827"/>
                    </a:solidFill>
                    <a:latin typeface="Cambria Math" panose="02040503050406030204" pitchFamily="18" charset="0"/>
                  </a:rPr>
                  <a:t>$T$</a:t>
                </a:r>
                <a:r>
                  <a:rPr sz="2400" b="0">
                    <a:solidFill>
                      <a:srgbClr val="111827"/>
                    </a:solidFill>
                    <a:latin typeface="Arial"/>
                  </a:rPr>
                  <a:t> twice and </a:t>
                </a:r>
                <a:r>
                  <a:rPr lang="en-IN" sz="2400">
                    <a:solidFill>
                      <a:srgbClr val="111827"/>
                    </a:solidFill>
                    <a:latin typeface="Cambria Math" panose="02040503050406030204" pitchFamily="18" charset="0"/>
                  </a:rPr>
                  <a:t>$D,S,R,B,U,O,N$</a:t>
                </a:r>
                <a:r>
                  <a:rPr sz="2400" b="0">
                    <a:solidFill>
                      <a:srgbClr val="111827"/>
                    </a:solidFill>
                    <a:latin typeface="Arial"/>
                  </a:rPr>
                  <a:t> once each (</a:t>
                </a:r>
                <a:r>
                  <a:rPr lang="en-IN" sz="2400">
                    <a:solidFill>
                      <a:srgbClr val="111827"/>
                    </a:solidFill>
                    <a:latin typeface="Cambria Math" panose="02040503050406030204" pitchFamily="18" charset="0"/>
                  </a:rPr>
                  <a:t>$9$</a:t>
                </a:r>
                <a:r>
                  <a:rPr sz="2400" b="0">
                    <a:solidFill>
                      <a:srgbClr val="111827"/>
                    </a:solidFill>
                    <a:latin typeface="Arial"/>
                  </a:rPr>
                  <a:t> different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a:t>
                </a:r>
                <a:r>
                  <a:rPr lang="en-IN" sz="2400">
                    <a:solidFill>
                      <a:srgbClr val="111827"/>
                    </a:solidFill>
                    <a:latin typeface="Cambria Math" panose="02040503050406030204" pitchFamily="18" charset="0"/>
                  </a:rPr>
                  <a:t>$4$</a:t>
                </a:r>
                <a:r>
                  <a:rPr sz="2400" b="0">
                    <a:solidFill>
                      <a:srgbClr val="111827"/>
                    </a:solidFill>
                    <a:latin typeface="Arial"/>
                  </a:rPr>
                  <a:t> letters different: </a:t>
                </a:r>
                <a:r>
                  <a:rPr lang="en-IN" sz="2400">
                    <a:solidFill>
                      <a:srgbClr val="111827"/>
                    </a:solidFill>
                    <a:latin typeface="Cambria Math" panose="02040503050406030204" pitchFamily="18" charset="0"/>
                  </a:rPr>
                  <a:t>${}^9C_4\times4!=126\times24=3024$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letters alike and two different: the repeated letter is </a:t>
                </a:r>
                <a:r>
                  <a:rPr lang="en-IN" sz="2400">
                    <a:solidFill>
                      <a:srgbClr val="111827"/>
                    </a:solidFill>
                    <a:latin typeface="Cambria Math" panose="02040503050406030204" pitchFamily="18" charset="0"/>
                  </a:rPr>
                  <a:t>$I$</a:t>
                </a:r>
                <a:r>
                  <a:rPr sz="2400" b="0">
                    <a:solidFill>
                      <a:srgbClr val="111827"/>
                    </a:solidFill>
                    <a:latin typeface="Arial"/>
                  </a:rPr>
                  <a:t> or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ways), two others from the remaining </a:t>
                </a:r>
                <a:r>
                  <a:rPr lang="en-IN" sz="2400">
                    <a:solidFill>
                      <a:srgbClr val="111827"/>
                    </a:solidFill>
                    <a:latin typeface="Cambria Math" panose="02040503050406030204" pitchFamily="18" charset="0"/>
                  </a:rPr>
                  <a:t>$8$</a:t>
                </a:r>
                <a:r>
                  <a:rPr sz="2400" b="0">
                    <a:solidFill>
                      <a:srgbClr val="111827"/>
                    </a:solidFill>
                    <a:latin typeface="Arial"/>
                  </a:rPr>
                  <a:t> letters: </a:t>
                </a:r>
                <a:r>
                  <a:rPr lang="en-IN" sz="2400">
                    <a:solidFill>
                      <a:srgbClr val="111827"/>
                    </a:solidFill>
                    <a:latin typeface="Cambria Math" panose="02040503050406030204" pitchFamily="18" charset="0"/>
                  </a:rPr>
                  <a:t>${}^8C_2$</a:t>
                </a:r>
                <a:r>
                  <a:rPr sz="2400" b="0">
                    <a:solidFill>
                      <a:srgbClr val="111827"/>
                    </a:solidFill>
                    <a:latin typeface="Arial"/>
                  </a:rPr>
                  <a:t>; arrangements </a:t>
                </a:r>
                <a:r>
                  <a:rPr lang="en-IN" sz="2400">
                    <a:solidFill>
                      <a:srgbClr val="111827"/>
                    </a:solidFill>
                    <a:latin typeface="Cambria Math" panose="02040503050406030204" pitchFamily="18" charset="0"/>
                  </a:rPr>
                  <a:t>$\frac{4!}{2!}$</a:t>
                </a:r>
                <a:r>
                  <a:rPr sz="2400" b="0">
                    <a:solidFill>
                      <a:srgbClr val="111827"/>
                    </a:solidFill>
                    <a:latin typeface="Arial"/>
                  </a:rPr>
                  <a:t>. Count </a:t>
                </a:r>
                <a:r>
                  <a:rPr lang="en-IN" sz="2400">
                    <a:solidFill>
                      <a:srgbClr val="111827"/>
                    </a:solidFill>
                    <a:latin typeface="Cambria Math" panose="02040503050406030204" pitchFamily="18" charset="0"/>
                  </a:rPr>
                  <a:t>$={}^2C_1\cdot{}^8C_2\cdot\frac{4!}{2!}=2\cdot28\cdot12=672$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pairs: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alike and one different: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and one of the other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letters: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3734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pairs: </a:t>
                </a:r>
                <a:r>
                  <a:rPr lang="en-IN" sz="2400">
                    <a:solidFill>
                      <a:srgbClr val="111827"/>
                    </a:solidFill>
                    <a:latin typeface="Cambria Math" panose="02040503050406030204" pitchFamily="18" charset="0"/>
                  </a:rPr>
                  <a:t>$I,I,T,T$</a:t>
                </a:r>
                <a:r>
                  <a:rPr sz="2400" b="0">
                    <a:solidFill>
                      <a:srgbClr val="111827"/>
                    </a:solidFill>
                    <a:latin typeface="Arial"/>
                  </a:rPr>
                  <a:t>: </a:t>
                </a:r>
                <a:r>
                  <a:rPr lang="en-IN" sz="2400">
                    <a:solidFill>
                      <a:srgbClr val="111827"/>
                    </a:solidFill>
                    <a:latin typeface="Cambria Math" panose="02040503050406030204" pitchFamily="18" charset="0"/>
                  </a:rPr>
                  <a:t>${}^2C_2\times\frac{4!}{2!\,2!}=6$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alike and one different: </a:t>
                </a:r>
                <a:r>
                  <a:rPr lang="en-IN" sz="2400">
                    <a:solidFill>
                      <a:srgbClr val="111827"/>
                    </a:solidFill>
                    <a:latin typeface="Cambria Math" panose="02040503050406030204" pitchFamily="18" charset="0"/>
                  </a:rPr>
                  <a:t>$I,I,I$</a:t>
                </a:r>
                <a:r>
                  <a:rPr sz="2400" b="0">
                    <a:solidFill>
                      <a:srgbClr val="111827"/>
                    </a:solidFill>
                    <a:latin typeface="Arial"/>
                  </a:rPr>
                  <a:t> and one of the other </a:t>
                </a:r>
                <a:r>
                  <a:rPr lang="en-IN" sz="2400">
                    <a:solidFill>
                      <a:srgbClr val="111827"/>
                    </a:solidFill>
                    <a:latin typeface="Cambria Math" panose="02040503050406030204" pitchFamily="18" charset="0"/>
                  </a:rPr>
                  <a:t>$8$</a:t>
                </a:r>
                <a:r>
                  <a:rPr sz="2400" b="0">
                    <a:solidFill>
                      <a:srgbClr val="111827"/>
                    </a:solidFill>
                    <a:latin typeface="Arial"/>
                  </a:rPr>
                  <a:t> letters: </a:t>
                </a:r>
                <a:r>
                  <a:rPr lang="en-IN" sz="2400">
                    <a:solidFill>
                      <a:srgbClr val="111827"/>
                    </a:solidFill>
                    <a:latin typeface="Cambria Math" panose="02040503050406030204" pitchFamily="18" charset="0"/>
                  </a:rPr>
                  <a:t>${}^1C_1\cdot{}^8C_1\cdot\frac{4!}{3!}=32$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r>
                  <a:rPr lang="en-IN" sz="2400">
                    <a:solidFill>
                      <a:srgbClr val="111827"/>
                    </a:solidFill>
                    <a:latin typeface="Cambria Math" panose="02040503050406030204" pitchFamily="18" charset="0"/>
                  </a:rPr>
                  <a:t>$=3024+672+6+32=3734$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3734</a:t>
            </a:r>
            <a:endParaRPr sz="2800">
              <a:solidFill>
                <a:srgbClr val="15803D"/>
              </a:solidFill>
            </a:endParaRP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of the product of one factor per letter.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a:t>
                </a:r>
                <a:r>
                  <a:rPr lang="en-IN" sz="2400">
                    <a:solidFill>
                      <a:srgbClr val="78350F"/>
                    </a:solidFill>
                    <a:latin typeface="Cambria Math" panose="02040503050406030204" pitchFamily="18" charset="0"/>
                  </a:rPr>
                  <a:t>$4!\,[x^4]$</a:t>
                </a:r>
                <a:r>
                  <a:rPr sz="2400" b="0">
                    <a:solidFill>
                      <a:srgbClr val="78350F"/>
                    </a:solidFill>
                    <a:latin typeface="Arial"/>
                  </a:rPr>
                  <a:t> of the product of one factor per letter.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copies):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each of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single letters: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the first two: coefficients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a:t>
                </a:r>
                <a:r>
                  <a:rPr sz="2400" b="0">
                    <a:solidFill>
                      <a:srgbClr val="111827"/>
                    </a:solidFill>
                    <a:latin typeface="Arial"/>
                  </a:rPr>
                  <a:t> (up to </a:t>
                </a:r>
                <a:r>
                  <a:rPr lang="en-IN" sz="2400">
                    <a:solidFill>
                      <a:srgbClr val="111827"/>
                    </a:solidFill>
                    <a:latin typeface="Cambria Math" panose="02040503050406030204" pitchFamily="18" charset="0"/>
                  </a:rPr>
                  <a:t>$3$</a:t>
                </a:r>
                <a:r>
                  <a:rPr sz="2400" b="0">
                    <a:solidFill>
                      <a:srgbClr val="111827"/>
                    </a:solidFill>
                    <a:latin typeface="Arial"/>
                  </a:rPr>
                  <a:t> copies): </a:t>
                </a:r>
                <a:r>
                  <a:rPr lang="en-IN" sz="2400">
                    <a:solidFill>
                      <a:srgbClr val="111827"/>
                    </a:solidFill>
                    <a:latin typeface="Cambria Math" panose="02040503050406030204" pitchFamily="18" charset="0"/>
                  </a:rPr>
                  <a:t>$1+x+\frac{x^2}{2!}+\frac{x^3}{3!}$</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(up to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$1+x+\frac{x^2}{2!}$</a:t>
                </a:r>
                <a:r>
                  <a:rPr sz="2400" b="0">
                    <a:solidFill>
                      <a:srgbClr val="111827"/>
                    </a:solidFill>
                    <a:latin typeface="Arial"/>
                  </a:rPr>
                  <a:t>; each of the </a:t>
                </a:r>
                <a:r>
                  <a:rPr lang="en-IN" sz="2400">
                    <a:solidFill>
                      <a:srgbClr val="111827"/>
                    </a:solidFill>
                    <a:latin typeface="Cambria Math" panose="02040503050406030204" pitchFamily="18" charset="0"/>
                  </a:rPr>
                  <a:t>$7$</a:t>
                </a:r>
                <a:r>
                  <a:rPr sz="2400" b="0">
                    <a:solidFill>
                      <a:srgbClr val="111827"/>
                    </a:solidFill>
                    <a:latin typeface="Arial"/>
                  </a:rPr>
                  <a:t> single letters: </a:t>
                </a:r>
                <a:r>
                  <a:rPr lang="en-IN" sz="2400">
                    <a:solidFill>
                      <a:srgbClr val="111827"/>
                    </a:solidFill>
                    <a:latin typeface="Cambria Math" panose="02040503050406030204" pitchFamily="18" charset="0"/>
                  </a:rPr>
                  <a:t>$(1+x)^7$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the first two: coefficients </a:t>
                </a:r>
                <a:r>
                  <a:rPr lang="en-IN" sz="2400">
                    <a:solidFill>
                      <a:srgbClr val="111827"/>
                    </a:solidFill>
                    <a:latin typeface="Cambria Math" panose="02040503050406030204" pitchFamily="18" charset="0"/>
                  </a:rPr>
                  <a:t>$1,\,2,\,2,\,\frac76,\,\frac5{12}$</a:t>
                </a:r>
                <a:r>
                  <a:rPr sz="2400" b="0">
                    <a:solidFill>
                      <a:srgbClr val="111827"/>
                    </a:solidFill>
                    <a:latin typeface="Arial"/>
                  </a:rPr>
                  <a:t> for </a:t>
                </a:r>
                <a:r>
                  <a:rPr lang="en-IN" sz="2400">
                    <a:solidFill>
                      <a:srgbClr val="111827"/>
                    </a:solidFill>
                    <a:latin typeface="Cambria Math" panose="02040503050406030204" pitchFamily="18" charset="0"/>
                  </a:rPr>
                  <a:t>$x^0,\dots,x^4$</a:t>
                </a:r>
                <a:r>
                  <a:rPr sz="2400" b="0">
                    <a:solidFill>
                      <a:srgbClr val="111827"/>
                    </a:solidFill>
                    <a:latin typeface="Arial"/>
                  </a:rPr>
                  <a:t>. Also </a:t>
                </a:r>
                <a:r>
                  <a:rPr lang="en-IN" sz="2400">
                    <a:solidFill>
                      <a:srgbClr val="111827"/>
                    </a:solidFill>
                    <a:latin typeface="Cambria Math" panose="02040503050406030204" pitchFamily="18" charset="0"/>
                  </a:rPr>
                  <a:t>$(1+x)^7$</a:t>
                </a:r>
                <a:r>
                  <a:rPr sz="2400" b="0">
                    <a:solidFill>
                      <a:srgbClr val="111827"/>
                    </a:solidFill>
                    <a:latin typeface="Arial"/>
                  </a:rPr>
                  <a:t>: </a:t>
                </a:r>
                <a:r>
                  <a:rPr lang="en-IN" sz="2400">
                    <a:solidFill>
                      <a:srgbClr val="111827"/>
                    </a:solidFill>
                    <a:latin typeface="Cambria Math" panose="02040503050406030204" pitchFamily="18" charset="0"/>
                  </a:rPr>
                  <a:t>$1,7,21,35,35$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1867</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1867</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3734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$\frac5{12}\cdot1+\frac76\cdot7+2\cdot21+2\cdot35+1\cdot35=\frac{1867}{12}$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$=4!\times\frac{1867}{12}=3734$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3734</a:t>
            </a:r>
            <a:endParaRPr sz="2800">
              <a:solidFill>
                <a:srgbClr val="15803D"/>
              </a:solidFill>
            </a:endParaRP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of length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 multiset: EGF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𝑗</m:t>
                                        </m:r>
                                      </m:sup>
                                    </m:sSup>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en>
                                </m:f>
                              </m:e>
                            </m:nary>
                          </m:e>
                        </m:d>
                      </m:e>
                    </m:nary>
                  </m:oMath>
                </a14:m>
                <a:r>
                  <a:rPr sz="2400" b="0">
                    <a:solidFill>
                      <a:srgbClr val="111827"/>
                    </a:solidFill>
                    <a:latin typeface="Arial"/>
                  </a:rPr>
                  <a:t> and the answer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EGF: classify by repetition pattern and multiply (choose letters)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check: all patterns together must reproduce </a:t>
                </a:r>
                <a14:m>
                  <m:oMath xmlns:m="http://schemas.openxmlformats.org/officeDocument/2006/math">
                    <m:r>
                      <a:rPr lang="en-IN" sz="2400" i="1">
                        <a:solidFill>
                          <a:srgbClr val="111827"/>
                        </a:solidFill>
                        <a:latin typeface="Cambria Math" panose="02040503050406030204" pitchFamily="18" charset="0"/>
                      </a:rPr>
                      <m:t>3024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Words of length </a:t>
                </a:r>
                <a:r>
                  <a:rPr lang="en-IN" sz="2400">
                    <a:solidFill>
                      <a:srgbClr val="111827"/>
                    </a:solidFill>
                    <a:latin typeface="Cambria Math" panose="02040503050406030204" pitchFamily="18" charset="0"/>
                  </a:rPr>
                  <a:t>$r$</a:t>
                </a:r>
                <a:r>
                  <a:rPr sz="2400" b="0">
                    <a:solidFill>
                      <a:srgbClr val="111827"/>
                    </a:solidFill>
                    <a:latin typeface="Arial"/>
                  </a:rPr>
                  <a:t> from a multiset: EGF </a:t>
                </a:r>
                <a:r>
                  <a:rPr lang="en-IN" sz="2400">
                    <a:solidFill>
                      <a:srgbClr val="111827"/>
                    </a:solidFill>
                    <a:latin typeface="Cambria Math" panose="02040503050406030204" pitchFamily="18" charset="0"/>
                  </a:rPr>
                  <a:t>$\prod_i\left(\sum_{j\le c_i}\frac{x^j}{j!}\right)$</a:t>
                </a:r>
                <a:r>
                  <a:rPr sz="2400" b="0">
                    <a:solidFill>
                      <a:srgbClr val="111827"/>
                    </a:solidFill>
                    <a:latin typeface="Arial"/>
                  </a:rPr>
                  <a:t> and the answer is </a:t>
                </a:r>
                <a:r>
                  <a:rPr lang="en-IN" sz="2400">
                    <a:solidFill>
                      <a:srgbClr val="111827"/>
                    </a:solidFill>
                    <a:latin typeface="Cambria Math" panose="02040503050406030204" pitchFamily="18" charset="0"/>
                  </a:rPr>
                  <a:t>$r!\,[x^r]$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the EGF: classify by repetition pattern and multiply (choose letters) </a:t>
                </a:r>
                <a:r>
                  <a:rPr lang="en-IN" sz="2400">
                    <a:solidFill>
                      <a:srgbClr val="111827"/>
                    </a:solidFill>
                    <a:latin typeface="Cambria Math" panose="02040503050406030204" pitchFamily="18" charset="0"/>
                  </a:rPr>
                  <a:t>$\times$</a:t>
                </a:r>
                <a:r>
                  <a:rPr sz="2400" b="0">
                    <a:solidFill>
                      <a:srgbClr val="111827"/>
                    </a:solidFill>
                    <a:latin typeface="Arial"/>
                  </a:rPr>
                  <a:t> (arrangements </a:t>
                </a:r>
                <a:r>
                  <a:rPr lang="en-IN" sz="2400">
                    <a:solidFill>
                      <a:srgbClr val="111827"/>
                    </a:solidFill>
                    <a:latin typeface="Cambria Math" panose="02040503050406030204" pitchFamily="18" charset="0"/>
                  </a:rPr>
                  <a:t>$\frac{r!}{\prod m_i!}$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check: all patterns together must reproduce </a:t>
                </a:r>
                <a:r>
                  <a:rPr lang="en-IN" sz="2400">
                    <a:solidFill>
                      <a:srgbClr val="111827"/>
                    </a:solidFill>
                    <a:latin typeface="Cambria Math" panose="02040503050406030204" pitchFamily="18" charset="0"/>
                  </a:rPr>
                  <a:t>$3024+672+6+32$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______. [JEE(Main) Jan 2024]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$S=\{(x,y,z):x,y,z\in\mathbb Z,\ x+2y+3z=42,\ x,y,z\ge0\}$</a:t>
                </a:r>
                <a:r>
                  <a:rPr sz="2400" b="0">
                    <a:solidFill>
                      <a:srgbClr val="111827"/>
                    </a:solidFill>
                    <a:latin typeface="Arial"/>
                  </a:rPr>
                  <a:t> equals ______. [JEE(Main) Jan 2024]</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Non-negative integral solutions of a linear equation with unequal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each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 the equation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𝑧</m:t>
                    </m:r>
                  </m:oMath>
                </a14:m>
                <a:r>
                  <a:rPr sz="2400" b="0">
                    <a:solidFill>
                      <a:srgbClr val="78350F"/>
                    </a:solidFill>
                    <a:latin typeface="Arial"/>
                  </a:rPr>
                  <a:t> has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𝑧</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solutions; sum over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each </a:t>
                </a:r>
                <a:r>
                  <a:rPr lang="en-IN" sz="2400">
                    <a:solidFill>
                      <a:srgbClr val="78350F"/>
                    </a:solidFill>
                    <a:latin typeface="Cambria Math" panose="02040503050406030204" pitchFamily="18" charset="0"/>
                  </a:rPr>
                  <a:t>$z$</a:t>
                </a:r>
                <a:r>
                  <a:rPr sz="2400" b="0">
                    <a:solidFill>
                      <a:srgbClr val="78350F"/>
                    </a:solidFill>
                    <a:latin typeface="Arial"/>
                  </a:rPr>
                  <a:t> the equation </a:t>
                </a:r>
                <a:r>
                  <a:rPr lang="en-IN" sz="2400">
                    <a:solidFill>
                      <a:srgbClr val="78350F"/>
                    </a:solidFill>
                    <a:latin typeface="Cambria Math" panose="02040503050406030204" pitchFamily="18" charset="0"/>
                  </a:rPr>
                  <a:t>$x+2y=42-3z$</a:t>
                </a:r>
                <a:r>
                  <a:rPr sz="2400" b="0">
                    <a:solidFill>
                      <a:srgbClr val="78350F"/>
                    </a:solidFill>
                    <a:latin typeface="Arial"/>
                  </a:rPr>
                  <a:t> has </a:t>
                </a:r>
                <a:r>
                  <a:rPr lang="en-IN" sz="2400">
                    <a:solidFill>
                      <a:srgbClr val="78350F"/>
                    </a:solidFill>
                    <a:latin typeface="Cambria Math" panose="02040503050406030204" pitchFamily="18" charset="0"/>
                  </a:rPr>
                  <a:t>$\left\lfloor\frac{42-3z}{2}\right\rfloor+1$</a:t>
                </a:r>
                <a:r>
                  <a:rPr sz="2400" b="0">
                    <a:solidFill>
                      <a:srgbClr val="78350F"/>
                    </a:solidFill>
                    <a:latin typeface="Arial"/>
                  </a:rPr>
                  <a:t> solutions; sum over </a:t>
                </a:r>
                <a:r>
                  <a:rPr lang="en-IN" sz="2400">
                    <a:solidFill>
                      <a:srgbClr val="78350F"/>
                    </a:solidFill>
                    <a:latin typeface="Cambria Math" panose="02040503050406030204" pitchFamily="18" charset="0"/>
                  </a:rPr>
                  <a:t>$z=0..14$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fixed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oMath>
                </a14:m>
                <a:r>
                  <a:rPr sz="2400" b="0">
                    <a:solidFill>
                      <a:srgbClr val="111827"/>
                    </a:solidFill>
                    <a:latin typeface="Arial"/>
                  </a:rPr>
                  <a:t> has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non-negative solutions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solutions.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solutions.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Continuing, the counts 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one solution).</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fixed </a:t>
                </a:r>
                <a:r>
                  <a:rPr lang="en-IN" sz="2400">
                    <a:solidFill>
                      <a:srgbClr val="111827"/>
                    </a:solidFill>
                    <a:latin typeface="Cambria Math" panose="02040503050406030204" pitchFamily="18" charset="0"/>
                  </a:rPr>
                  <a:t>$z$</a:t>
                </a:r>
                <a:r>
                  <a:rPr sz="2400" b="0">
                    <a:solidFill>
                      <a:srgbClr val="111827"/>
                    </a:solidFill>
                    <a:latin typeface="Arial"/>
                  </a:rPr>
                  <a:t>, </a:t>
                </a:r>
                <a:r>
                  <a:rPr lang="en-IN" sz="2400">
                    <a:solidFill>
                      <a:srgbClr val="111827"/>
                    </a:solidFill>
                    <a:latin typeface="Cambria Math" panose="02040503050406030204" pitchFamily="18" charset="0"/>
                  </a:rPr>
                  <a:t>$x+2y=42-3z$</a:t>
                </a:r>
                <a:r>
                  <a:rPr sz="2400" b="0">
                    <a:solidFill>
                      <a:srgbClr val="111827"/>
                    </a:solidFill>
                    <a:latin typeface="Arial"/>
                  </a:rPr>
                  <a:t> has </a:t>
                </a:r>
                <a:r>
                  <a:rPr lang="en-IN" sz="2400">
                    <a:solidFill>
                      <a:srgbClr val="111827"/>
                    </a:solidFill>
                    <a:latin typeface="Cambria Math" panose="02040503050406030204" pitchFamily="18" charset="0"/>
                  </a:rPr>
                  <a:t>$\left\lfloor\frac{42-3z}{2}\right\rfloor+1$</a:t>
                </a:r>
                <a:r>
                  <a:rPr sz="2400" b="0">
                    <a:solidFill>
                      <a:srgbClr val="111827"/>
                    </a:solidFill>
                    <a:latin typeface="Arial"/>
                  </a:rPr>
                  <a:t> non-negative solutions (</a:t>
                </a:r>
                <a:r>
                  <a:rPr lang="en-IN" sz="2400">
                    <a:solidFill>
                      <a:srgbClr val="111827"/>
                    </a:solidFill>
                    <a:latin typeface="Cambria Math" panose="02040503050406030204" pitchFamily="18" charset="0"/>
                  </a:rPr>
                  <a:t>$y=0,1,\dots$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$z=0$</a:t>
                </a:r>
                <a:r>
                  <a:rPr sz="2400" b="0">
                    <a:solidFill>
                      <a:srgbClr val="111827"/>
                    </a:solidFill>
                    <a:latin typeface="Arial"/>
                  </a:rPr>
                  <a:t>: </a:t>
                </a:r>
                <a:r>
                  <a:rPr lang="en-IN" sz="2400">
                    <a:solidFill>
                      <a:srgbClr val="111827"/>
                    </a:solidFill>
                    <a:latin typeface="Cambria Math" panose="02040503050406030204" pitchFamily="18" charset="0"/>
                  </a:rPr>
                  <a:t>$x+2y=42$</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solutions.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$x+2y=39$</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 solutions. </a:t>
                </a:r>
                <a:r>
                  <a:rPr lang="en-IN" sz="2400">
                    <a:solidFill>
                      <a:srgbClr val="111827"/>
                    </a:solidFill>
                    <a:latin typeface="Cambria Math" panose="02040503050406030204" pitchFamily="18" charset="0"/>
                  </a:rPr>
                  <a:t>$z=2$</a:t>
                </a:r>
                <a:r>
                  <a:rPr sz="2400" b="0">
                    <a:solidFill>
                      <a:srgbClr val="111827"/>
                    </a:solidFill>
                    <a:latin typeface="Arial"/>
                  </a:rPr>
                  <a:t>: </a:t>
                </a:r>
                <a:r>
                  <a:rPr lang="en-IN" sz="2400">
                    <a:solidFill>
                      <a:srgbClr val="111827"/>
                    </a:solidFill>
                    <a:latin typeface="Cambria Math" panose="02040503050406030204" pitchFamily="18" charset="0"/>
                  </a:rPr>
                  <a:t>$x+2y=36$</a:t>
                </a:r>
                <a:r>
                  <a:rPr sz="2400" b="0">
                    <a:solidFill>
                      <a:srgbClr val="111827"/>
                    </a:solidFill>
                    <a:latin typeface="Arial"/>
                  </a:rPr>
                  <a:t>: </a:t>
                </a:r>
                <a:r>
                  <a:rPr lang="en-IN" sz="2400">
                    <a:solidFill>
                      <a:srgbClr val="111827"/>
                    </a:solidFill>
                    <a:latin typeface="Cambria Math" panose="02040503050406030204" pitchFamily="18" charset="0"/>
                  </a:rPr>
                  <a:t>$19$</a:t>
                </a:r>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Continuing, the counts for </a:t>
                </a:r>
                <a:r>
                  <a:rPr lang="en-IN" sz="2400">
                    <a:solidFill>
                      <a:srgbClr val="111827"/>
                    </a:solidFill>
                    <a:latin typeface="Cambria Math" panose="02040503050406030204" pitchFamily="18" charset="0"/>
                  </a:rPr>
                  <a:t>$z=0,1,\dots,14$</a:t>
                </a:r>
                <a:r>
                  <a:rPr sz="2400" b="0">
                    <a:solidFill>
                      <a:srgbClr val="111827"/>
                    </a:solidFill>
                    <a:latin typeface="Arial"/>
                  </a:rPr>
                  <a:t> are </a:t>
                </a:r>
                <a:r>
                  <a:rPr lang="en-IN" sz="2400">
                    <a:solidFill>
                      <a:srgbClr val="111827"/>
                    </a:solidFill>
                    <a:latin typeface="Cambria Math" panose="02040503050406030204" pitchFamily="18" charset="0"/>
                  </a:rPr>
                  <a:t>$22,20,19,17,16,14,13,11,10,8,7,5,4,2,1$</a:t>
                </a:r>
                <a:r>
                  <a:rPr sz="2400" b="0">
                    <a:solidFill>
                      <a:srgbClr val="111827"/>
                    </a:solidFill>
                    <a:latin typeface="Arial"/>
                  </a:rPr>
                  <a:t> (for </a:t>
                </a:r>
                <a:r>
                  <a:rPr lang="en-IN" sz="2400">
                    <a:solidFill>
                      <a:srgbClr val="111827"/>
                    </a:solidFill>
                    <a:latin typeface="Cambria Math" panose="02040503050406030204" pitchFamily="18" charset="0"/>
                  </a:rPr>
                  <a:t>$z=14$</a:t>
                </a:r>
                <a:r>
                  <a:rPr sz="2400" b="0">
                    <a:solidFill>
                      <a:srgbClr val="111827"/>
                    </a:solidFill>
                    <a:latin typeface="Arial"/>
                  </a:rPr>
                  <a:t>, </a:t>
                </a:r>
                <a:r>
                  <a:rPr lang="en-IN" sz="2400">
                    <a:solidFill>
                      <a:srgbClr val="111827"/>
                    </a:solidFill>
                    <a:latin typeface="Cambria Math" panose="02040503050406030204" pitchFamily="18" charset="0"/>
                  </a:rPr>
                  <a:t>$x+2y=0$</a:t>
                </a:r>
                <a:r>
                  <a:rPr sz="2400" b="0">
                    <a:solidFill>
                      <a:srgbClr val="111827"/>
                    </a:solidFill>
                    <a:latin typeface="Arial"/>
                  </a:rPr>
                  <a:t> has one solution).</a:t>
                </a:r>
                <a:endParaRPr sz="2400">
                  <a:solidFill>
                    <a:srgbClr val="111827"/>
                  </a:solidFill>
                </a:endParaRPr>
              </a:p>
            </p:txBody>
          </p:sp>
        </mc:Fallback>
      </mc:AlternateContent>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exactly the integers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that are not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exactly the integers </a:t>
                </a:r>
                <a:r>
                  <a:rPr lang="en-IN" sz="2400">
                    <a:solidFill>
                      <a:srgbClr val="111827"/>
                    </a:solidFill>
                    <a:latin typeface="Cambria Math" panose="02040503050406030204" pitchFamily="18" charset="0"/>
                  </a:rPr>
                  <a:t>$1,2,\dots,22$</a:t>
                </a:r>
                <a:r>
                  <a:rPr sz="2400" b="0">
                    <a:solidFill>
                      <a:srgbClr val="111827"/>
                    </a:solidFill>
                    <a:latin typeface="Arial"/>
                  </a:rPr>
                  <a:t> that are not multiples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$=(1+2+3+\cdots+22)-(3+6+9+\cdots+21)=253-84=169$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169</a:t>
            </a:r>
            <a:endParaRPr sz="2800">
              <a:solidFill>
                <a:srgbClr val="15803D"/>
              </a:solidFill>
            </a:endParaRP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Partitions of </a:t>
                </a:r>
                <a14:m>
                  <m:oMath xmlns:m="http://schemas.openxmlformats.org/officeDocument/2006/math">
                    <m:r>
                      <a:rPr lang="en-IN" sz="2400" i="1">
                        <a:solidFill>
                          <a:srgbClr val="78350F"/>
                        </a:solidFill>
                        <a:latin typeface="Cambria Math" panose="02040503050406030204" pitchFamily="18" charset="0"/>
                      </a:rPr>
                      <m:t>42</m:t>
                    </m:r>
                  </m:oMath>
                </a14:m>
                <a:r>
                  <a:rPr sz="2400" b="0">
                    <a:solidFill>
                      <a:srgbClr val="78350F"/>
                    </a:solidFill>
                    <a:latin typeface="Arial"/>
                  </a:rPr>
                  <a:t> into parts of sizes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use the closed form </a:t>
                </a:r>
                <a14:m>
                  <m:oMath xmlns:m="http://schemas.openxmlformats.org/officeDocument/2006/math">
                    <m:r>
                      <m:rPr>
                        <m:sty m:val="p"/>
                      </m:rPr>
                      <a:rPr lang="en-IN" sz="2400">
                        <a:solidFill>
                          <a:srgbClr val="78350F"/>
                        </a:solidFill>
                        <a:latin typeface="Cambria Math" panose="02040503050406030204" pitchFamily="18" charset="0"/>
                      </a:rPr>
                      <m:t>round</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Partitions of </a:t>
                </a:r>
                <a:r>
                  <a:rPr lang="en-IN" sz="2400">
                    <a:solidFill>
                      <a:srgbClr val="78350F"/>
                    </a:solidFill>
                    <a:latin typeface="Cambria Math" panose="02040503050406030204" pitchFamily="18" charset="0"/>
                  </a:rPr>
                  <a:t>$42$</a:t>
                </a:r>
                <a:r>
                  <a:rPr sz="2400" b="0">
                    <a:solidFill>
                      <a:srgbClr val="78350F"/>
                    </a:solidFill>
                    <a:latin typeface="Arial"/>
                  </a:rPr>
                  <a:t> into parts of sizes </a:t>
                </a:r>
                <a:r>
                  <a:rPr lang="en-IN" sz="2400">
                    <a:solidFill>
                      <a:srgbClr val="78350F"/>
                    </a:solidFill>
                    <a:latin typeface="Cambria Math" panose="02040503050406030204" pitchFamily="18" charset="0"/>
                  </a:rPr>
                  <a:t>$1,2,3$</a:t>
                </a:r>
                <a:r>
                  <a:rPr sz="2400" b="0">
                    <a:solidFill>
                      <a:srgbClr val="78350F"/>
                    </a:solidFill>
                    <a:latin typeface="Arial"/>
                  </a:rPr>
                  <a:t>: use the closed form </a:t>
                </a:r>
                <a:r>
                  <a:rPr lang="en-IN" sz="2400">
                    <a:solidFill>
                      <a:srgbClr val="78350F"/>
                    </a:solidFill>
                    <a:latin typeface="Cambria Math" panose="02040503050406030204" pitchFamily="18" charset="0"/>
                  </a:rPr>
                  <a:t>$\operatorname{round}\frac{(n+3)^2}{12}$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solution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partition of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ones,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twos and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at most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the nearest integer to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168.75</m:t>
                    </m:r>
                  </m:oMath>
                </a14:m>
                <a:r>
                  <a:rPr sz="2400" b="0">
                    <a:solidFill>
                      <a:srgbClr val="111827"/>
                    </a:solidFill>
                    <a:latin typeface="Arial"/>
                  </a:rPr>
                  <a:t>, the nearest integer is </a:t>
                </a:r>
                <a14:m>
                  <m:oMath xmlns:m="http://schemas.openxmlformats.org/officeDocument/2006/math">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solution </a:t>
                </a:r>
                <a:r>
                  <a:rPr lang="en-IN" sz="2400">
                    <a:solidFill>
                      <a:srgbClr val="111827"/>
                    </a:solidFill>
                    <a:latin typeface="Cambria Math" panose="02040503050406030204" pitchFamily="18" charset="0"/>
                  </a:rPr>
                  <a:t>$(x,y,z)$</a:t>
                </a:r>
                <a:r>
                  <a:rPr sz="2400" b="0">
                    <a:solidFill>
                      <a:srgbClr val="111827"/>
                    </a:solidFill>
                    <a:latin typeface="Arial"/>
                  </a:rPr>
                  <a:t> is a partition of </a:t>
                </a:r>
                <a:r>
                  <a:rPr lang="en-IN" sz="2400">
                    <a:solidFill>
                      <a:srgbClr val="111827"/>
                    </a:solidFill>
                    <a:latin typeface="Cambria Math" panose="02040503050406030204" pitchFamily="18" charset="0"/>
                  </a:rPr>
                  <a:t>$42$</a:t>
                </a:r>
                <a:r>
                  <a:rPr sz="2400" b="0">
                    <a:solidFill>
                      <a:srgbClr val="111827"/>
                    </a:solidFill>
                    <a:latin typeface="Arial"/>
                  </a:rPr>
                  <a:t> into </a:t>
                </a:r>
                <a:r>
                  <a:rPr lang="en-IN" sz="2400">
                    <a:solidFill>
                      <a:srgbClr val="111827"/>
                    </a:solidFill>
                    <a:latin typeface="Cambria Math" panose="02040503050406030204" pitchFamily="18" charset="0"/>
                  </a:rPr>
                  <a:t>$x$</a:t>
                </a:r>
                <a:r>
                  <a:rPr sz="2400" b="0">
                    <a:solidFill>
                      <a:srgbClr val="111827"/>
                    </a:solidFill>
                    <a:latin typeface="Arial"/>
                  </a:rPr>
                  <a:t> ones, </a:t>
                </a:r>
                <a:r>
                  <a:rPr lang="en-IN" sz="2400">
                    <a:solidFill>
                      <a:srgbClr val="111827"/>
                    </a:solidFill>
                    <a:latin typeface="Cambria Math" panose="02040503050406030204" pitchFamily="18" charset="0"/>
                  </a:rPr>
                  <a:t>$y$</a:t>
                </a:r>
                <a:r>
                  <a:rPr sz="2400" b="0">
                    <a:solidFill>
                      <a:srgbClr val="111827"/>
                    </a:solidFill>
                    <a:latin typeface="Arial"/>
                  </a:rPr>
                  <a:t> twos and </a:t>
                </a:r>
                <a:r>
                  <a:rPr lang="en-IN" sz="2400">
                    <a:solidFill>
                      <a:srgbClr val="111827"/>
                    </a:solidFill>
                    <a:latin typeface="Cambria Math" panose="02040503050406030204" pitchFamily="18" charset="0"/>
                  </a:rPr>
                  <a:t>$z$</a:t>
                </a:r>
                <a:r>
                  <a:rPr sz="2400" b="0">
                    <a:solidFill>
                      <a:srgbClr val="111827"/>
                    </a:solidFill>
                    <a:latin typeface="Arial"/>
                  </a:rPr>
                  <a:t> threes.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partitions of </a:t>
                </a:r>
                <a:r>
                  <a:rPr lang="en-IN" sz="2400">
                    <a:solidFill>
                      <a:srgbClr val="111827"/>
                    </a:solidFill>
                    <a:latin typeface="Cambria Math" panose="02040503050406030204" pitchFamily="18" charset="0"/>
                  </a:rPr>
                  <a:t>$n$</a:t>
                </a:r>
                <a:r>
                  <a:rPr sz="2400" b="0">
                    <a:solidFill>
                      <a:srgbClr val="111827"/>
                    </a:solidFill>
                    <a:latin typeface="Arial"/>
                  </a:rPr>
                  <a:t> into parts at most </a:t>
                </a:r>
                <a:r>
                  <a:rPr lang="en-IN" sz="2400">
                    <a:solidFill>
                      <a:srgbClr val="111827"/>
                    </a:solidFill>
                    <a:latin typeface="Cambria Math" panose="02040503050406030204" pitchFamily="18" charset="0"/>
                  </a:rPr>
                  <a:t>$3$</a:t>
                </a:r>
                <a:r>
                  <a:rPr sz="2400" b="0">
                    <a:solidFill>
                      <a:srgbClr val="111827"/>
                    </a:solidFill>
                    <a:latin typeface="Arial"/>
                  </a:rPr>
                  <a:t> is the nearest integer to </a:t>
                </a:r>
                <a:r>
                  <a:rPr lang="en-IN" sz="2400">
                    <a:solidFill>
                      <a:srgbClr val="111827"/>
                    </a:solidFill>
                    <a:latin typeface="Cambria Math" panose="02040503050406030204" pitchFamily="18" charset="0"/>
                  </a:rPr>
                  <a:t>$\frac{(n+3)^2}{12}$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$n=42$</a:t>
                </a:r>
                <a:r>
                  <a:rPr sz="2400" b="0">
                    <a:solidFill>
                      <a:srgbClr val="111827"/>
                    </a:solidFill>
                    <a:latin typeface="Arial"/>
                  </a:rPr>
                  <a:t>: </a:t>
                </a:r>
                <a:r>
                  <a:rPr lang="en-IN" sz="2400">
                    <a:solidFill>
                      <a:srgbClr val="111827"/>
                    </a:solidFill>
                    <a:latin typeface="Cambria Math" panose="02040503050406030204" pitchFamily="18" charset="0"/>
                  </a:rPr>
                  <a:t>$\frac{45^2}{12}=\frac{2025}{12}=168.75$</a:t>
                </a:r>
                <a:r>
                  <a:rPr sz="2400" b="0">
                    <a:solidFill>
                      <a:srgbClr val="111827"/>
                    </a:solidFill>
                    <a:latin typeface="Arial"/>
                  </a:rPr>
                  <a:t>, the nearest integer is </a:t>
                </a:r>
                <a:r>
                  <a:rPr lang="en-IN" sz="2400">
                    <a:solidFill>
                      <a:srgbClr val="111827"/>
                    </a:solidFill>
                    <a:latin typeface="Cambria Math" panose="02040503050406030204" pitchFamily="18" charset="0"/>
                  </a:rPr>
                  <a:t>$169$</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169</a:t>
            </a:r>
            <a:endParaRPr sz="2800">
              <a:solidFill>
                <a:srgbClr val="15803D"/>
              </a:solidFill>
            </a:endParaRP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round</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partitions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with coefficients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fix the largest coefficient's variable, then the problem reduces to coefficients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partitions of </a:t>
                </a:r>
                <a:r>
                  <a:rPr lang="en-IN" sz="2400">
                    <a:solidFill>
                      <a:srgbClr val="111827"/>
                    </a:solidFill>
                    <a:latin typeface="Cambria Math" panose="02040503050406030204" pitchFamily="18" charset="0"/>
                  </a:rPr>
                  <a:t>$n$</a:t>
                </a:r>
                <a:r>
                  <a:rPr sz="2400" b="0">
                    <a:solidFill>
                      <a:srgbClr val="111827"/>
                    </a:solidFill>
                    <a:latin typeface="Arial"/>
                  </a:rPr>
                  <a:t> into parts </a:t>
                </a:r>
                <a:r>
                  <a:rPr lang="en-IN" sz="2400">
                    <a:solidFill>
                      <a:srgbClr val="111827"/>
                    </a:solidFill>
                    <a:latin typeface="Cambria Math" panose="02040503050406030204" pitchFamily="18" charset="0"/>
                  </a:rPr>
                  <a:t>$\le3$</a:t>
                </a:r>
                <a:r>
                  <a:rPr sz="2400" b="0">
                    <a:solidFill>
                      <a:srgbClr val="111827"/>
                    </a:solidFill>
                    <a:latin typeface="Arial"/>
                  </a:rPr>
                  <a:t> is </a:t>
                </a:r>
                <a:r>
                  <a:rPr lang="en-IN" sz="2400">
                    <a:solidFill>
                      <a:srgbClr val="111827"/>
                    </a:solidFill>
                    <a:latin typeface="Cambria Math" panose="02040503050406030204" pitchFamily="18" charset="0"/>
                  </a:rPr>
                  <a:t>$\operatorname{round}\frac{(n+3)^2}{12}$</a:t>
                </a:r>
                <a:r>
                  <a:rPr sz="2400" b="0">
                    <a:solidFill>
                      <a:srgbClr val="111827"/>
                    </a:solidFill>
                    <a:latin typeface="Arial"/>
                  </a:rPr>
                  <a:t> (check </a:t>
                </a: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$\frac{81}{12}=6.75\to7$</a:t>
                </a:r>
                <a:r>
                  <a:rPr sz="2400" b="0">
                    <a:solidFill>
                      <a:srgbClr val="111827"/>
                    </a:solidFill>
                    <a:latin typeface="Arial"/>
                  </a:rPr>
                  <a:t>, partitions </a:t>
                </a:r>
                <a:r>
                  <a:rPr lang="en-IN" sz="2400">
                    <a:solidFill>
                      <a:srgbClr val="111827"/>
                    </a:solidFill>
                    <a:latin typeface="Cambria Math" panose="02040503050406030204" pitchFamily="18" charset="0"/>
                  </a:rPr>
                  <a:t>$6{=}3{+}3,3{+}2{+}1,3{+}1{+}1{+}1,2{+}2{+}2,\dots$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of </a:t>
                </a:r>
                <a:r>
                  <a:rPr lang="en-IN" sz="2400">
                    <a:solidFill>
                      <a:srgbClr val="111827"/>
                    </a:solidFill>
                    <a:latin typeface="Cambria Math" panose="02040503050406030204" pitchFamily="18" charset="0"/>
                  </a:rPr>
                  <a:t>$x+2y=m$</a:t>
                </a:r>
                <a:r>
                  <a:rPr sz="2400" b="0">
                    <a:solidFill>
                      <a:srgbClr val="111827"/>
                    </a:solidFill>
                    <a:latin typeface="Arial"/>
                  </a:rPr>
                  <a:t>: </a:t>
                </a:r>
                <a:r>
                  <a:rPr lang="en-IN" sz="2400">
                    <a:solidFill>
                      <a:srgbClr val="111827"/>
                    </a:solidFill>
                    <a:latin typeface="Cambria Math" panose="02040503050406030204" pitchFamily="18" charset="0"/>
                  </a:rPr>
                  <a:t>$\lfloor m/2\rfloor+1$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with coefficients </a:t>
                </a:r>
                <a:r>
                  <a:rPr lang="en-IN" sz="2400">
                    <a:solidFill>
                      <a:srgbClr val="111827"/>
                    </a:solidFill>
                    <a:latin typeface="Cambria Math" panose="02040503050406030204" pitchFamily="18" charset="0"/>
                  </a:rPr>
                  <a:t>$1,2,3$</a:t>
                </a:r>
                <a:r>
                  <a:rPr sz="2400" b="0">
                    <a:solidFill>
                      <a:srgbClr val="111827"/>
                    </a:solidFill>
                    <a:latin typeface="Arial"/>
                  </a:rPr>
                  <a:t>: fix the largest coefficient's variable, then the problem reduces to coefficients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are distinct.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all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are parallel to each other and all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oMath>
                </a14:m>
                <a:r>
                  <a:rPr sz="2400" b="0">
                    <a:solidFill>
                      <a:srgbClr val="111827"/>
                    </a:solidFill>
                    <a:latin typeface="Arial"/>
                  </a:rPr>
                  <a:t> pass through a given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The maximum number of points of intersection of pairs of lines from the set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 [JEE(Main) Jan 2024]</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lines </a:t>
                </a:r>
                <a:r>
                  <a:rPr lang="en-IN" sz="2400">
                    <a:solidFill>
                      <a:srgbClr val="111827"/>
                    </a:solidFill>
                    <a:latin typeface="Cambria Math" panose="02040503050406030204" pitchFamily="18" charset="0"/>
                  </a:rPr>
                  <a:t>$L_1,L_2,\dots,L_{20}$</a:t>
                </a:r>
                <a:r>
                  <a:rPr sz="2400" b="0">
                    <a:solidFill>
                      <a:srgbClr val="111827"/>
                    </a:solidFill>
                    <a:latin typeface="Arial"/>
                  </a:rPr>
                  <a:t> are distinct. For </a:t>
                </a:r>
                <a:r>
                  <a:rPr lang="en-IN" sz="2400">
                    <a:solidFill>
                      <a:srgbClr val="111827"/>
                    </a:solidFill>
                    <a:latin typeface="Cambria Math" panose="02040503050406030204" pitchFamily="18" charset="0"/>
                  </a:rPr>
                  <a:t>$n=1,2,3,\dots,10$</a:t>
                </a:r>
                <a:r>
                  <a:rPr sz="2400" b="0">
                    <a:solidFill>
                      <a:srgbClr val="111827"/>
                    </a:solidFill>
                    <a:latin typeface="Arial"/>
                  </a:rPr>
                  <a:t> all the lines </a:t>
                </a:r>
                <a:r>
                  <a:rPr lang="en-IN" sz="2400">
                    <a:solidFill>
                      <a:srgbClr val="111827"/>
                    </a:solidFill>
                    <a:latin typeface="Cambria Math" panose="02040503050406030204" pitchFamily="18" charset="0"/>
                  </a:rPr>
                  <a:t>$L_{2n-1}$</a:t>
                </a:r>
                <a:r>
                  <a:rPr sz="2400" b="0">
                    <a:solidFill>
                      <a:srgbClr val="111827"/>
                    </a:solidFill>
                    <a:latin typeface="Arial"/>
                  </a:rPr>
                  <a:t> are parallel to each other and all the lines </a:t>
                </a:r>
                <a:r>
                  <a:rPr lang="en-IN" sz="2400">
                    <a:solidFill>
                      <a:srgbClr val="111827"/>
                    </a:solidFill>
                    <a:latin typeface="Cambria Math" panose="02040503050406030204" pitchFamily="18" charset="0"/>
                  </a:rPr>
                  <a:t>$L_{2n}$</a:t>
                </a:r>
                <a:r>
                  <a:rPr sz="2400" b="0">
                    <a:solidFill>
                      <a:srgbClr val="111827"/>
                    </a:solidFill>
                    <a:latin typeface="Arial"/>
                  </a:rPr>
                  <a:t> pass through a given point </a:t>
                </a:r>
                <a:r>
                  <a:rPr lang="en-IN" sz="2400">
                    <a:solidFill>
                      <a:srgbClr val="111827"/>
                    </a:solidFill>
                    <a:latin typeface="Cambria Math" panose="02040503050406030204" pitchFamily="18" charset="0"/>
                  </a:rPr>
                  <a:t>$P$</a:t>
                </a:r>
                <a:r>
                  <a:rPr sz="2400" b="0">
                    <a:solidFill>
                      <a:srgbClr val="111827"/>
                    </a:solidFill>
                    <a:latin typeface="Arial"/>
                  </a:rPr>
                  <a:t>. The maximum number of points of intersection of pairs of lines from the set </a:t>
                </a:r>
                <a:r>
                  <a:rPr lang="en-IN" sz="2400">
                    <a:solidFill>
                      <a:srgbClr val="111827"/>
                    </a:solidFill>
                    <a:latin typeface="Cambria Math" panose="02040503050406030204" pitchFamily="18" charset="0"/>
                  </a:rPr>
                  <a:t>$\{L_1,L_2,\dots,L_{20}\}$</a:t>
                </a:r>
                <a:r>
                  <a:rPr sz="2400" b="0">
                    <a:solidFill>
                      <a:srgbClr val="111827"/>
                    </a:solidFill>
                    <a:latin typeface="Arial"/>
                  </a:rPr>
                  <a:t> is equal to ______. [JEE(Main) Jan 2024]</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Selecting pairs of objects (counting intersection points), Parallel and concurrent lines (Straight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Odd-odd pairs never meet, even-even pairs all meet 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and each odd-even pair gives its own point.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Odd-odd pairs never meet, even-even pairs all meet at </a:t>
                </a:r>
                <a:r>
                  <a:rPr lang="en-IN" sz="2400">
                    <a:solidFill>
                      <a:srgbClr val="78350F"/>
                    </a:solidFill>
                    <a:latin typeface="Cambria Math" panose="02040503050406030204" pitchFamily="18" charset="0"/>
                  </a:rPr>
                  <a:t>$P$</a:t>
                </a:r>
                <a:r>
                  <a:rPr sz="2400" b="0">
                    <a:solidFill>
                      <a:srgbClr val="78350F"/>
                    </a:solidFill>
                    <a:latin typeface="Arial"/>
                  </a:rPr>
                  <a:t>, and each odd-even pair gives its own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Odd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19</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lines) are parallel; even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lines) are concurrent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odd lines are parallel: no intersection,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points from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even lines meet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all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pairs give the same point,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point in all.</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Odd lines </a:t>
                </a:r>
                <a:r>
                  <a:rPr lang="en-IN" sz="2400">
                    <a:solidFill>
                      <a:srgbClr val="111827"/>
                    </a:solidFill>
                    <a:latin typeface="Cambria Math" panose="02040503050406030204" pitchFamily="18" charset="0"/>
                  </a:rPr>
                  <a:t>$L_1,L_3,\dots,L_{19}$</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lines) are parallel; even lines </a:t>
                </a:r>
                <a:r>
                  <a:rPr lang="en-IN" sz="2400">
                    <a:solidFill>
                      <a:srgbClr val="111827"/>
                    </a:solidFill>
                    <a:latin typeface="Cambria Math" panose="02040503050406030204" pitchFamily="18" charset="0"/>
                  </a:rPr>
                  <a:t>$L_2,L_4,\dots,L_{20}$</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lines) are concurrent at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odd lines are parallel: no intersection, </a:t>
                </a:r>
                <a:r>
                  <a:rPr lang="en-IN" sz="2400">
                    <a:solidFill>
                      <a:srgbClr val="111827"/>
                    </a:solidFill>
                    <a:latin typeface="Cambria Math" panose="02040503050406030204" pitchFamily="18" charset="0"/>
                  </a:rPr>
                  <a:t>$0$</a:t>
                </a:r>
                <a:r>
                  <a:rPr sz="2400" b="0">
                    <a:solidFill>
                      <a:srgbClr val="111827"/>
                    </a:solidFill>
                    <a:latin typeface="Arial"/>
                  </a:rPr>
                  <a:t> points from </a:t>
                </a:r>
                <a:r>
                  <a:rPr lang="en-IN" sz="2400">
                    <a:solidFill>
                      <a:srgbClr val="111827"/>
                    </a:solidFill>
                    <a:latin typeface="Cambria Math" panose="02040503050406030204" pitchFamily="18" charset="0"/>
                  </a:rPr>
                  <a:t>${}^{10}C_2$</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even lines meet at </a:t>
                </a:r>
                <a:r>
                  <a:rPr lang="en-IN" sz="2400">
                    <a:solidFill>
                      <a:srgbClr val="111827"/>
                    </a:solidFill>
                    <a:latin typeface="Cambria Math" panose="02040503050406030204" pitchFamily="18" charset="0"/>
                  </a:rPr>
                  <a:t>$P$</a:t>
                </a:r>
                <a:r>
                  <a:rPr sz="2400" b="0">
                    <a:solidFill>
                      <a:srgbClr val="111827"/>
                    </a:solidFill>
                    <a:latin typeface="Arial"/>
                  </a:rPr>
                  <a:t>: all </a:t>
                </a:r>
                <a:r>
                  <a:rPr lang="en-IN" sz="2400">
                    <a:solidFill>
                      <a:srgbClr val="111827"/>
                    </a:solidFill>
                    <a:latin typeface="Cambria Math" panose="02040503050406030204" pitchFamily="18" charset="0"/>
                  </a:rPr>
                  <a:t>${}^{10}C_2$</a:t>
                </a:r>
                <a:r>
                  <a:rPr sz="2400" b="0">
                    <a:solidFill>
                      <a:srgbClr val="111827"/>
                    </a:solidFill>
                    <a:latin typeface="Arial"/>
                  </a:rPr>
                  <a:t> pairs give the same point, </a:t>
                </a:r>
                <a:r>
                  <a:rPr lang="en-IN" sz="2400">
                    <a:solidFill>
                      <a:srgbClr val="111827"/>
                    </a:solidFill>
                    <a:latin typeface="Cambria Math" panose="02040503050406030204" pitchFamily="18" charset="0"/>
                  </a:rPr>
                  <a:t>$1$</a:t>
                </a:r>
                <a:r>
                  <a:rPr sz="2400" b="0">
                    <a:solidFill>
                      <a:srgbClr val="111827"/>
                    </a:solidFill>
                    <a:latin typeface="Arial"/>
                  </a:rPr>
                  <a:t> point in all.</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 line and an even line meet in one point; for the maximum these are all different: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 line and an even line meet in one point; for the maximum these are all different: </a:t>
                </a:r>
                <a:r>
                  <a:rPr lang="en-IN" sz="2400">
                    <a:solidFill>
                      <a:srgbClr val="111827"/>
                    </a:solidFill>
                    <a:latin typeface="Cambria Math" panose="02040503050406030204" pitchFamily="18" charset="0"/>
                  </a:rPr>
                  <a:t>${}^{10}C_1\times{}^{10}C_1=100$</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r>
                  <a:rPr lang="en-IN" sz="2400">
                    <a:solidFill>
                      <a:srgbClr val="111827"/>
                    </a:solidFill>
                    <a:latin typeface="Cambria Math" panose="02040503050406030204" pitchFamily="18" charset="0"/>
                  </a:rPr>
                  <a:t>$=0+1+100=101$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101</a:t>
            </a:r>
            <a:endParaRPr sz="2800">
              <a:solidFill>
                <a:srgbClr val="15803D"/>
              </a:solidFill>
            </a:endParaRP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Start from all pairs and correct for parallel and concurrent pairs.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pairs of lines: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 pairs give no point: remove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leaving </a:t>
                </a:r>
                <a14:m>
                  <m:oMath xmlns:m="http://schemas.openxmlformats.org/officeDocument/2006/math">
                    <m:r>
                      <a:rPr lang="en-IN" sz="2400" i="1">
                        <a:solidFill>
                          <a:srgbClr val="111827"/>
                        </a:solidFill>
                        <a:latin typeface="Cambria Math" panose="02040503050406030204" pitchFamily="18" charset="0"/>
                      </a:rPr>
                      <m:t>145</m:t>
                    </m:r>
                  </m:oMath>
                </a14:m>
                <a:r>
                  <a:rPr sz="2400" b="0">
                    <a:solidFill>
                      <a:srgbClr val="111827"/>
                    </a:solidFill>
                    <a:latin typeface="Arial"/>
                  </a:rPr>
                  <a:t> pairs, each giving a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concurrent pairs all give the same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so replace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points by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pairs of lines: </a:t>
                </a:r>
                <a:r>
                  <a:rPr lang="en-IN" sz="2400">
                    <a:solidFill>
                      <a:srgbClr val="111827"/>
                    </a:solidFill>
                    <a:latin typeface="Cambria Math" panose="02040503050406030204" pitchFamily="18" charset="0"/>
                  </a:rPr>
                  <a:t>${}^{20}C_2=190$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 pairs give no point: remove </a:t>
                </a:r>
                <a:r>
                  <a:rPr lang="en-IN" sz="2400">
                    <a:solidFill>
                      <a:srgbClr val="111827"/>
                    </a:solidFill>
                    <a:latin typeface="Cambria Math" panose="02040503050406030204" pitchFamily="18" charset="0"/>
                  </a:rPr>
                  <a:t>${}^{10}C_2=45$</a:t>
                </a:r>
                <a:r>
                  <a:rPr sz="2400" b="0">
                    <a:solidFill>
                      <a:srgbClr val="111827"/>
                    </a:solidFill>
                    <a:latin typeface="Arial"/>
                  </a:rPr>
                  <a:t>, leaving </a:t>
                </a:r>
                <a:r>
                  <a:rPr lang="en-IN" sz="2400">
                    <a:solidFill>
                      <a:srgbClr val="111827"/>
                    </a:solidFill>
                    <a:latin typeface="Cambria Math" panose="02040503050406030204" pitchFamily="18" charset="0"/>
                  </a:rPr>
                  <a:t>$145$</a:t>
                </a:r>
                <a:r>
                  <a:rPr sz="2400" b="0">
                    <a:solidFill>
                      <a:srgbClr val="111827"/>
                    </a:solidFill>
                    <a:latin typeface="Arial"/>
                  </a:rPr>
                  <a:t> pairs, each giving a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${}^{10}C_2=45$</a:t>
                </a:r>
                <a:r>
                  <a:rPr sz="2400" b="0">
                    <a:solidFill>
                      <a:srgbClr val="111827"/>
                    </a:solidFill>
                    <a:latin typeface="Arial"/>
                  </a:rPr>
                  <a:t> concurrent pairs all give the same point </a:t>
                </a:r>
                <a:r>
                  <a:rPr lang="en-IN" sz="2400">
                    <a:solidFill>
                      <a:srgbClr val="111827"/>
                    </a:solidFill>
                    <a:latin typeface="Cambria Math" panose="02040503050406030204" pitchFamily="18" charset="0"/>
                  </a:rPr>
                  <a:t>$P$</a:t>
                </a:r>
                <a:r>
                  <a:rPr sz="2400" b="0">
                    <a:solidFill>
                      <a:srgbClr val="111827"/>
                    </a:solidFill>
                    <a:latin typeface="Arial"/>
                  </a:rPr>
                  <a:t>, so replace </a:t>
                </a:r>
                <a:r>
                  <a:rPr lang="en-IN" sz="2400">
                    <a:solidFill>
                      <a:srgbClr val="111827"/>
                    </a:solidFill>
                    <a:latin typeface="Cambria Math" panose="02040503050406030204" pitchFamily="18" charset="0"/>
                  </a:rPr>
                  <a:t>$45$</a:t>
                </a:r>
                <a:r>
                  <a:rPr sz="2400" b="0">
                    <a:solidFill>
                      <a:srgbClr val="111827"/>
                    </a:solidFill>
                    <a:latin typeface="Arial"/>
                  </a:rPr>
                  <a:t> points by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$145-45+1$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r>
                  <a:rPr lang="en-IN" sz="2400">
                    <a:solidFill>
                      <a:srgbClr val="111827"/>
                    </a:solidFill>
                    <a:latin typeface="Cambria Math" panose="02040503050406030204" pitchFamily="18" charset="0"/>
                  </a:rPr>
                  <a:t>$=101$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101</a:t>
            </a:r>
            <a:endParaRPr sz="2800">
              <a:solidFill>
                <a:srgbClr val="15803D"/>
              </a:solidFill>
            </a:endParaRP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Maximum intersections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lines: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subtract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for each family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parallel lines and replace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concurrent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Formula: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when one parallel family and one concurrent family do not share lines (here </a:t>
                </a:r>
                <a14:m>
                  <m:oMath xmlns:m="http://schemas.openxmlformats.org/officeDocument/2006/math">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is achieved when no other three lines are concurrent and the parallel family is not parallel to the concurrent lines.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Maximum intersections of </a:t>
                </a:r>
                <a:r>
                  <a:rPr lang="en-IN" sz="2400">
                    <a:solidFill>
                      <a:srgbClr val="111827"/>
                    </a:solidFill>
                    <a:latin typeface="Cambria Math" panose="02040503050406030204" pitchFamily="18" charset="0"/>
                  </a:rPr>
                  <a:t>$n$</a:t>
                </a:r>
                <a:r>
                  <a:rPr sz="2400" b="0">
                    <a:solidFill>
                      <a:srgbClr val="111827"/>
                    </a:solidFill>
                    <a:latin typeface="Arial"/>
                  </a:rPr>
                  <a:t> lines: </a:t>
                </a:r>
                <a:r>
                  <a:rPr lang="en-IN" sz="2400">
                    <a:solidFill>
                      <a:srgbClr val="111827"/>
                    </a:solidFill>
                    <a:latin typeface="Cambria Math" panose="02040503050406030204" pitchFamily="18" charset="0"/>
                  </a:rPr>
                  <a:t>$\binom n2$</a:t>
                </a:r>
                <a:r>
                  <a:rPr sz="2400" b="0">
                    <a:solidFill>
                      <a:srgbClr val="111827"/>
                    </a:solidFill>
                    <a:latin typeface="Arial"/>
                  </a:rPr>
                  <a:t>; subtract </a:t>
                </a:r>
                <a:r>
                  <a:rPr lang="en-IN" sz="2400">
                    <a:solidFill>
                      <a:srgbClr val="111827"/>
                    </a:solidFill>
                    <a:latin typeface="Cambria Math" panose="02040503050406030204" pitchFamily="18" charset="0"/>
                  </a:rPr>
                  <a:t>$\binom p2$</a:t>
                </a:r>
                <a:r>
                  <a:rPr sz="2400" b="0">
                    <a:solidFill>
                      <a:srgbClr val="111827"/>
                    </a:solidFill>
                    <a:latin typeface="Arial"/>
                  </a:rPr>
                  <a:t> for each family of </a:t>
                </a:r>
                <a:r>
                  <a:rPr lang="en-IN" sz="2400">
                    <a:solidFill>
                      <a:srgbClr val="111827"/>
                    </a:solidFill>
                    <a:latin typeface="Cambria Math" panose="02040503050406030204" pitchFamily="18" charset="0"/>
                  </a:rPr>
                  <a:t>$p$</a:t>
                </a:r>
                <a:r>
                  <a:rPr sz="2400" b="0">
                    <a:solidFill>
                      <a:srgbClr val="111827"/>
                    </a:solidFill>
                    <a:latin typeface="Arial"/>
                  </a:rPr>
                  <a:t> parallel lines and replace </a:t>
                </a:r>
                <a:r>
                  <a:rPr lang="en-IN" sz="2400">
                    <a:solidFill>
                      <a:srgbClr val="111827"/>
                    </a:solidFill>
                    <a:latin typeface="Cambria Math" panose="02040503050406030204" pitchFamily="18" charset="0"/>
                  </a:rPr>
                  <a:t>$\binom q2$</a:t>
                </a:r>
                <a:r>
                  <a:rPr sz="2400" b="0">
                    <a:solidFill>
                      <a:srgbClr val="111827"/>
                    </a:solidFill>
                    <a:latin typeface="Arial"/>
                  </a:rPr>
                  <a:t> by </a:t>
                </a:r>
                <a:r>
                  <a:rPr lang="en-IN" sz="2400">
                    <a:solidFill>
                      <a:srgbClr val="111827"/>
                    </a:solidFill>
                    <a:latin typeface="Cambria Math" panose="02040503050406030204" pitchFamily="18" charset="0"/>
                  </a:rPr>
                  <a:t>$1$</a:t>
                </a:r>
                <a:r>
                  <a:rPr sz="2400" b="0">
                    <a:solidFill>
                      <a:srgbClr val="111827"/>
                    </a:solidFill>
                    <a:latin typeface="Arial"/>
                  </a:rPr>
                  <a:t> for </a:t>
                </a:r>
                <a:r>
                  <a:rPr lang="en-IN" sz="2400">
                    <a:solidFill>
                      <a:srgbClr val="111827"/>
                    </a:solidFill>
                    <a:latin typeface="Cambria Math" panose="02040503050406030204" pitchFamily="18" charset="0"/>
                  </a:rPr>
                  <a:t>$q$</a:t>
                </a:r>
                <a:r>
                  <a:rPr sz="2400" b="0">
                    <a:solidFill>
                      <a:srgbClr val="111827"/>
                    </a:solidFill>
                    <a:latin typeface="Arial"/>
                  </a:rPr>
                  <a:t> concurrent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Formula: </a:t>
                </a:r>
                <a:r>
                  <a:rPr lang="en-IN" sz="2400">
                    <a:solidFill>
                      <a:srgbClr val="111827"/>
                    </a:solidFill>
                    <a:latin typeface="Cambria Math" panose="02040503050406030204" pitchFamily="18" charset="0"/>
                  </a:rPr>
                  <a:t>$\binom n2-\binom p2-\binom q2+1$</a:t>
                </a:r>
                <a:r>
                  <a:rPr sz="2400" b="0">
                    <a:solidFill>
                      <a:srgbClr val="111827"/>
                    </a:solidFill>
                    <a:latin typeface="Arial"/>
                  </a:rPr>
                  <a:t> when one parallel family and one concurrent family do not share lines (here </a:t>
                </a:r>
                <a:r>
                  <a:rPr lang="en-IN" sz="2400">
                    <a:solidFill>
                      <a:srgbClr val="111827"/>
                    </a:solidFill>
                    <a:latin typeface="Cambria Math" panose="02040503050406030204" pitchFamily="18" charset="0"/>
                  </a:rPr>
                  <a:t>$190-45-45+1=101$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is achieved when no other three lines are concurrent and the parallel family is not parallel to the concurrent lines.</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Q49 – Q54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points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on the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excluding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of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Similarly, there are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points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11</m:t>
                        </m:r>
                      </m:sub>
                    </m:sSub>
                  </m:oMath>
                </a14:m>
                <a:r>
                  <a:rPr sz="2400" b="0">
                    <a:solidFill>
                      <a:srgbClr val="111827"/>
                    </a:solidFill>
                    <a:latin typeface="Arial"/>
                  </a:rPr>
                  <a:t> on the 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points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18</m:t>
                        </m:r>
                      </m:sub>
                    </m:sSub>
                  </m:oMath>
                </a14:m>
                <a:r>
                  <a:rPr sz="2400" b="0">
                    <a:solidFill>
                      <a:srgbClr val="111827"/>
                    </a:solidFill>
                    <a:latin typeface="Arial"/>
                  </a:rPr>
                  <a:t> on the side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of the triangle. The number of triangles, that can be formed using the points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18</m:t>
                        </m:r>
                      </m:sub>
                    </m:sSub>
                  </m:oMath>
                </a14:m>
                <a:r>
                  <a:rPr sz="2400" b="0">
                    <a:solidFill>
                      <a:srgbClr val="111827"/>
                    </a:solidFill>
                    <a:latin typeface="Arial"/>
                  </a:rPr>
                  <a:t> as vertices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751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776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771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796</m:t>
                    </m:r>
                  </m:oMath>
                </a14:m>
                <a:endParaRPr sz="2400">
                  <a:solidFill>
                    <a:srgbClr val="111827"/>
                  </a:solidFill>
                </a:endParaRPr>
              </a:p>
            </p:txBody>
          </p:sp>
        </mc:Choice>
        <mc:Fallback>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$5$</a:t>
                </a:r>
                <a:r>
                  <a:rPr sz="2400" b="0">
                    <a:solidFill>
                      <a:srgbClr val="111827"/>
                    </a:solidFill>
                    <a:latin typeface="Arial"/>
                  </a:rPr>
                  <a:t> points </a:t>
                </a:r>
                <a:r>
                  <a:rPr lang="en-IN" sz="2400">
                    <a:solidFill>
                      <a:srgbClr val="111827"/>
                    </a:solidFill>
                    <a:latin typeface="Cambria Math" panose="02040503050406030204" pitchFamily="18" charset="0"/>
                  </a:rPr>
                  <a:t>$P_1,P_2,P_3,P_4,P_5$</a:t>
                </a:r>
                <a:r>
                  <a:rPr sz="2400" b="0">
                    <a:solidFill>
                      <a:srgbClr val="111827"/>
                    </a:solidFill>
                    <a:latin typeface="Arial"/>
                  </a:rPr>
                  <a:t> on the side </a:t>
                </a:r>
                <a:r>
                  <a:rPr lang="en-IN" sz="2400">
                    <a:solidFill>
                      <a:srgbClr val="111827"/>
                    </a:solidFill>
                    <a:latin typeface="Cambria Math" panose="02040503050406030204" pitchFamily="18" charset="0"/>
                  </a:rPr>
                  <a:t>$AB$</a:t>
                </a:r>
                <a:r>
                  <a:rPr sz="2400" b="0">
                    <a:solidFill>
                      <a:srgbClr val="111827"/>
                    </a:solidFill>
                    <a:latin typeface="Arial"/>
                  </a:rPr>
                  <a:t>, excluding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of a triangle </a:t>
                </a:r>
                <a:r>
                  <a:rPr lang="en-IN" sz="2400">
                    <a:solidFill>
                      <a:srgbClr val="111827"/>
                    </a:solidFill>
                    <a:latin typeface="Cambria Math" panose="02040503050406030204" pitchFamily="18" charset="0"/>
                  </a:rPr>
                  <a:t>$ABC$</a:t>
                </a:r>
                <a:r>
                  <a:rPr sz="2400" b="0">
                    <a:solidFill>
                      <a:srgbClr val="111827"/>
                    </a:solidFill>
                    <a:latin typeface="Arial"/>
                  </a:rPr>
                  <a:t>. Similarly, there are </a:t>
                </a:r>
                <a:r>
                  <a:rPr lang="en-IN" sz="2400">
                    <a:solidFill>
                      <a:srgbClr val="111827"/>
                    </a:solidFill>
                    <a:latin typeface="Cambria Math" panose="02040503050406030204" pitchFamily="18" charset="0"/>
                  </a:rPr>
                  <a:t>$6$</a:t>
                </a:r>
                <a:r>
                  <a:rPr sz="2400" b="0">
                    <a:solidFill>
                      <a:srgbClr val="111827"/>
                    </a:solidFill>
                    <a:latin typeface="Arial"/>
                  </a:rPr>
                  <a:t> points </a:t>
                </a:r>
                <a:r>
                  <a:rPr lang="en-IN" sz="2400">
                    <a:solidFill>
                      <a:srgbClr val="111827"/>
                    </a:solidFill>
                    <a:latin typeface="Cambria Math" panose="02040503050406030204" pitchFamily="18" charset="0"/>
                  </a:rPr>
                  <a:t>$P_6,P_7,\dots,P_{11}$</a:t>
                </a:r>
                <a:r>
                  <a:rPr sz="2400" b="0">
                    <a:solidFill>
                      <a:srgbClr val="111827"/>
                    </a:solidFill>
                    <a:latin typeface="Arial"/>
                  </a:rPr>
                  <a:t> on the side </a:t>
                </a:r>
                <a:r>
                  <a:rPr lang="en-IN" sz="2400">
                    <a:solidFill>
                      <a:srgbClr val="111827"/>
                    </a:solidFill>
                    <a:latin typeface="Cambria Math" panose="02040503050406030204" pitchFamily="18" charset="0"/>
                  </a:rPr>
                  <a:t>$BC$</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points </a:t>
                </a:r>
                <a:r>
                  <a:rPr lang="en-IN" sz="2400">
                    <a:solidFill>
                      <a:srgbClr val="111827"/>
                    </a:solidFill>
                    <a:latin typeface="Cambria Math" panose="02040503050406030204" pitchFamily="18" charset="0"/>
                  </a:rPr>
                  <a:t>$P_{12},P_{13},\dots,P_{18}$</a:t>
                </a:r>
                <a:r>
                  <a:rPr sz="2400" b="0">
                    <a:solidFill>
                      <a:srgbClr val="111827"/>
                    </a:solidFill>
                    <a:latin typeface="Arial"/>
                  </a:rPr>
                  <a:t> on the side </a:t>
                </a:r>
                <a:r>
                  <a:rPr lang="en-IN" sz="2400">
                    <a:solidFill>
                      <a:srgbClr val="111827"/>
                    </a:solidFill>
                    <a:latin typeface="Cambria Math" panose="02040503050406030204" pitchFamily="18" charset="0"/>
                  </a:rPr>
                  <a:t>$CA$</a:t>
                </a:r>
                <a:r>
                  <a:rPr sz="2400" b="0">
                    <a:solidFill>
                      <a:srgbClr val="111827"/>
                    </a:solidFill>
                    <a:latin typeface="Arial"/>
                  </a:rPr>
                  <a:t> of the triangle. The number of triangles, that can be formed using the points </a:t>
                </a:r>
                <a:r>
                  <a:rPr lang="en-IN" sz="2400">
                    <a:solidFill>
                      <a:srgbClr val="111827"/>
                    </a:solidFill>
                    <a:latin typeface="Cambria Math" panose="02040503050406030204" pitchFamily="18" charset="0"/>
                  </a:rPr>
                  <a:t>$P_1,P_2,\dots,P_{18}$</a:t>
                </a:r>
                <a:r>
                  <a:rPr sz="2400" b="0">
                    <a:solidFill>
                      <a:srgbClr val="111827"/>
                    </a:solidFill>
                    <a:latin typeface="Arial"/>
                  </a:rPr>
                  <a:t> as vertices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$751$</a:t>
                </a:r>
                <a:r>
                  <a:rPr sz="2400" b="0">
                    <a:solidFill>
                      <a:srgbClr val="111827"/>
                    </a:solidFill>
                    <a:latin typeface="Arial"/>
                  </a:rPr>
                  <a:t>   (B) </a:t>
                </a:r>
                <a:r>
                  <a:rPr lang="en-IN" sz="2400">
                    <a:solidFill>
                      <a:srgbClr val="111827"/>
                    </a:solidFill>
                    <a:latin typeface="Cambria Math" panose="02040503050406030204" pitchFamily="18" charset="0"/>
                  </a:rPr>
                  <a:t>$776$</a:t>
                </a:r>
                <a:r>
                  <a:rPr sz="2400" b="0">
                    <a:solidFill>
                      <a:srgbClr val="111827"/>
                    </a:solidFill>
                    <a:latin typeface="Arial"/>
                  </a:rPr>
                  <a:t>   (C) </a:t>
                </a:r>
                <a:r>
                  <a:rPr lang="en-IN" sz="2400">
                    <a:solidFill>
                      <a:srgbClr val="111827"/>
                    </a:solidFill>
                    <a:latin typeface="Cambria Math" panose="02040503050406030204" pitchFamily="18" charset="0"/>
                  </a:rPr>
                  <a:t>$771$</a:t>
                </a:r>
                <a:r>
                  <a:rPr sz="2400" b="0">
                    <a:solidFill>
                      <a:srgbClr val="111827"/>
                    </a:solidFill>
                    <a:latin typeface="Arial"/>
                  </a:rPr>
                  <a:t>   (D) </a:t>
                </a:r>
                <a:r>
                  <a:rPr lang="en-IN" sz="2400">
                    <a:solidFill>
                      <a:srgbClr val="111827"/>
                    </a:solidFill>
                    <a:latin typeface="Cambria Math" panose="02040503050406030204" pitchFamily="18" charset="0"/>
                  </a:rPr>
                  <a:t>$796$</a:t>
                </a:r>
                <a:endParaRPr sz="2400">
                  <a:solidFill>
                    <a:srgbClr val="111827"/>
                  </a:solidFill>
                </a:endParaRPr>
              </a:p>
            </p:txBody>
          </p:sp>
        </mc:Fallback>
      </mc:AlternateContent>
      <p:sp>
        <p:nvSpPr>
          <p:cNvPr id="5" name="Rectangle 4"/>
          <p:cNvSpPr/>
          <p:nvPr/>
        </p:nvSpPr>
        <p:spPr>
          <a:xfrm>
            <a:off x="731520" y="46959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triangles from collinear point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Triangles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all triples of points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triples lying on one side (collinear).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Triangles </a:t>
                </a:r>
                <a:r>
                  <a:rPr lang="en-IN" sz="2400">
                    <a:solidFill>
                      <a:srgbClr val="78350F"/>
                    </a:solidFill>
                    <a:latin typeface="Cambria Math" panose="02040503050406030204" pitchFamily="18" charset="0"/>
                  </a:rPr>
                  <a:t>$=$</a:t>
                </a:r>
                <a:r>
                  <a:rPr sz="2400" b="0">
                    <a:solidFill>
                      <a:srgbClr val="78350F"/>
                    </a:solidFill>
                    <a:latin typeface="Arial"/>
                  </a:rPr>
                  <a:t> all triples of points </a:t>
                </a:r>
                <a:r>
                  <a:rPr lang="en-IN" sz="2400">
                    <a:solidFill>
                      <a:srgbClr val="78350F"/>
                    </a:solidFill>
                    <a:latin typeface="Cambria Math" panose="02040503050406030204" pitchFamily="18" charset="0"/>
                  </a:rPr>
                  <a:t>$-$</a:t>
                </a:r>
                <a:r>
                  <a:rPr sz="2400" b="0">
                    <a:solidFill>
                      <a:srgbClr val="78350F"/>
                    </a:solidFill>
                    <a:latin typeface="Arial"/>
                  </a:rPr>
                  <a:t> triples lying on one side (collinear).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any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points: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Collinear triples (all three on one side):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triangles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any </a:t>
                </a:r>
                <a:r>
                  <a:rPr lang="en-IN" sz="2400">
                    <a:solidFill>
                      <a:srgbClr val="111827"/>
                    </a:solidFill>
                    <a:latin typeface="Cambria Math" panose="02040503050406030204" pitchFamily="18" charset="0"/>
                  </a:rPr>
                  <a:t>$3$</a:t>
                </a:r>
                <a:r>
                  <a:rPr sz="2400" b="0">
                    <a:solidFill>
                      <a:srgbClr val="111827"/>
                    </a:solidFill>
                    <a:latin typeface="Arial"/>
                  </a:rPr>
                  <a:t> of the </a:t>
                </a:r>
                <a:r>
                  <a:rPr lang="en-IN" sz="2400">
                    <a:solidFill>
                      <a:srgbClr val="111827"/>
                    </a:solidFill>
                    <a:latin typeface="Cambria Math" panose="02040503050406030204" pitchFamily="18" charset="0"/>
                  </a:rPr>
                  <a:t>$18$</a:t>
                </a:r>
                <a:r>
                  <a:rPr sz="2400" b="0">
                    <a:solidFill>
                      <a:srgbClr val="111827"/>
                    </a:solidFill>
                    <a:latin typeface="Arial"/>
                  </a:rPr>
                  <a:t> points: </a:t>
                </a:r>
                <a:r>
                  <a:rPr lang="en-IN" sz="2400">
                    <a:solidFill>
                      <a:srgbClr val="111827"/>
                    </a:solidFill>
                    <a:latin typeface="Cambria Math" panose="02040503050406030204" pitchFamily="18" charset="0"/>
                  </a:rPr>
                  <a:t>${}^{18}C_3=\frac{18\times17\times16}{6}=816$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Collinear triples (all three on one side): </a:t>
                </a:r>
                <a:r>
                  <a:rPr lang="en-IN" sz="2400">
                    <a:solidFill>
                      <a:srgbClr val="111827"/>
                    </a:solidFill>
                    <a:latin typeface="Cambria Math" panose="02040503050406030204" pitchFamily="18" charset="0"/>
                  </a:rPr>
                  <a:t>${}^5C_3+{}^6C_3+{}^7C_3=10+20+35=65$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triangles </a:t>
                </a:r>
                <a:r>
                  <a:rPr lang="en-IN" sz="2400">
                    <a:solidFill>
                      <a:srgbClr val="111827"/>
                    </a:solidFill>
                    <a:latin typeface="Cambria Math" panose="02040503050406030204" pitchFamily="18" charset="0"/>
                  </a:rPr>
                  <a:t>$=816-65=751$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751</a:t>
            </a:r>
            <a:endParaRPr sz="2800">
              <a:solidFill>
                <a:srgbClr val="15803D"/>
              </a:solidFill>
            </a:endParaRP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triangles directly by how many vertices lie on each side.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vertex on each side: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one on another side: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oMath>
                </a14:m>
                <a:r>
                  <a:rPr sz="2400" b="0">
                    <a:solidFill>
                      <a:srgbClr val="111827"/>
                    </a:solidFill>
                    <a:latin typeface="Arial"/>
                  </a:rPr>
                  <a:t>. Two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 Two on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vertex on each side: </a:t>
                </a:r>
                <a:r>
                  <a:rPr lang="en-IN" sz="2400">
                    <a:solidFill>
                      <a:srgbClr val="111827"/>
                    </a:solidFill>
                    <a:latin typeface="Cambria Math" panose="02040503050406030204" pitchFamily="18" charset="0"/>
                  </a:rPr>
                  <a:t>$5\times6\times7=210$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on </a:t>
                </a:r>
                <a:r>
                  <a:rPr lang="en-IN" sz="2400">
                    <a:solidFill>
                      <a:srgbClr val="111827"/>
                    </a:solidFill>
                    <a:latin typeface="Cambria Math" panose="02040503050406030204" pitchFamily="18" charset="0"/>
                  </a:rPr>
                  <a:t>$AB$</a:t>
                </a:r>
                <a:r>
                  <a:rPr sz="2400" b="0">
                    <a:solidFill>
                      <a:srgbClr val="111827"/>
                    </a:solidFill>
                    <a:latin typeface="Arial"/>
                  </a:rPr>
                  <a:t>, one on another side: </a:t>
                </a:r>
                <a:r>
                  <a:rPr lang="en-IN" sz="2400">
                    <a:solidFill>
                      <a:srgbClr val="111827"/>
                    </a:solidFill>
                    <a:latin typeface="Cambria Math" panose="02040503050406030204" pitchFamily="18" charset="0"/>
                  </a:rPr>
                  <a:t>${}^5C_2\times(6+7)=10\times13=130$</a:t>
                </a:r>
                <a:r>
                  <a:rPr sz="2400" b="0">
                    <a:solidFill>
                      <a:srgbClr val="111827"/>
                    </a:solidFill>
                    <a:latin typeface="Arial"/>
                  </a:rPr>
                  <a:t>. Two on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${}^6C_2\times(5+7)=15\times12=180$</a:t>
                </a:r>
                <a:r>
                  <a:rPr sz="2400" b="0">
                    <a:solidFill>
                      <a:srgbClr val="111827"/>
                    </a:solidFill>
                    <a:latin typeface="Arial"/>
                  </a:rPr>
                  <a:t>. Two on </a:t>
                </a:r>
                <a:r>
                  <a:rPr lang="en-IN" sz="2400">
                    <a:solidFill>
                      <a:srgbClr val="111827"/>
                    </a:solidFill>
                    <a:latin typeface="Cambria Math" panose="02040503050406030204" pitchFamily="18" charset="0"/>
                  </a:rPr>
                  <a:t>$CA$</a:t>
                </a:r>
                <a:r>
                  <a:rPr sz="2400" b="0">
                    <a:solidFill>
                      <a:srgbClr val="111827"/>
                    </a:solidFill>
                    <a:latin typeface="Arial"/>
                  </a:rPr>
                  <a:t>: </a:t>
                </a:r>
                <a:r>
                  <a:rPr lang="en-IN" sz="2400">
                    <a:solidFill>
                      <a:srgbClr val="111827"/>
                    </a:solidFill>
                    <a:latin typeface="Cambria Math" panose="02040503050406030204" pitchFamily="18" charset="0"/>
                  </a:rPr>
                  <a:t>${}^7C_2\times(5+6)=21\times11=231$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$=210+130+180+231=751$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751</a:t>
            </a:r>
            <a:endParaRPr sz="2800">
              <a:solidFill>
                <a:srgbClr val="15803D"/>
              </a:solidFill>
            </a:endParaRP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Triangles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points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collinear: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(several collinear sets: subtract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count by distribution over the sides (one-one-one, two-one) is a good cross-check.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vertices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are excluded here, so no collinear triple spans two sides.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Triangles from </a:t>
                </a:r>
                <a:r>
                  <a:rPr lang="en-IN" sz="2400">
                    <a:solidFill>
                      <a:srgbClr val="111827"/>
                    </a:solidFill>
                    <a:latin typeface="Cambria Math" panose="02040503050406030204" pitchFamily="18" charset="0"/>
                  </a:rPr>
                  <a:t>$n$</a:t>
                </a:r>
                <a:r>
                  <a:rPr sz="2400" b="0">
                    <a:solidFill>
                      <a:srgbClr val="111827"/>
                    </a:solidFill>
                    <a:latin typeface="Arial"/>
                  </a:rPr>
                  <a:t> points with </a:t>
                </a:r>
                <a:r>
                  <a:rPr lang="en-IN" sz="2400">
                    <a:solidFill>
                      <a:srgbClr val="111827"/>
                    </a:solidFill>
                    <a:latin typeface="Cambria Math" panose="02040503050406030204" pitchFamily="18" charset="0"/>
                  </a:rPr>
                  <a:t>$k$</a:t>
                </a:r>
                <a:r>
                  <a:rPr sz="2400" b="0">
                    <a:solidFill>
                      <a:srgbClr val="111827"/>
                    </a:solidFill>
                    <a:latin typeface="Arial"/>
                  </a:rPr>
                  <a:t> collinear: </a:t>
                </a:r>
                <a:r>
                  <a:rPr lang="en-IN" sz="2400">
                    <a:solidFill>
                      <a:srgbClr val="111827"/>
                    </a:solidFill>
                    <a:latin typeface="Cambria Math" panose="02040503050406030204" pitchFamily="18" charset="0"/>
                  </a:rPr>
                  <a:t>$\binom n3-\binom k3$</a:t>
                </a:r>
                <a:r>
                  <a:rPr sz="2400" b="0">
                    <a:solidFill>
                      <a:srgbClr val="111827"/>
                    </a:solidFill>
                    <a:latin typeface="Arial"/>
                  </a:rPr>
                  <a:t> (several collinear sets: subtract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count by distribution over the sides (one-one-one, two-one) is a good cross-check.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vertices </a:t>
                </a:r>
                <a:r>
                  <a:rPr lang="en-IN" sz="2400">
                    <a:solidFill>
                      <a:srgbClr val="111827"/>
                    </a:solidFill>
                    <a:latin typeface="Cambria Math" panose="02040503050406030204" pitchFamily="18" charset="0"/>
                  </a:rPr>
                  <a:t>$A,B,C$</a:t>
                </a:r>
                <a:r>
                  <a:rPr sz="2400" b="0">
                    <a:solidFill>
                      <a:srgbClr val="111827"/>
                    </a:solidFill>
                    <a:latin typeface="Arial"/>
                  </a:rPr>
                  <a:t> are excluded here, so no collinear triple spans two sides.</a:t>
                </a:r>
                <a:endParaRPr sz="2400">
                  <a:solidFill>
                    <a:srgbClr val="111827"/>
                  </a:solidFill>
                </a:endParaRPr>
              </a:p>
            </p:txBody>
          </p:sp>
        </mc:Fallback>
      </mc:AlternateContent>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words can be made using all the letters of the word BHBJO, with or without meaning. If these words are written as in a dictionary, then the </a:t>
                </a:r>
                <a14:m>
                  <m:oMath xmlns:m="http://schemas.openxmlformats.org/officeDocument/2006/math">
                    <m:sSup>
                      <m:e>
                        <m:r>
                          <a:rPr lang="en-IN" sz="2400" i="1">
                            <a:solidFill>
                              <a:srgbClr val="111827"/>
                            </a:solidFill>
                            <a:latin typeface="Cambria Math" panose="02040503050406030204" pitchFamily="18" charset="0"/>
                          </a:rPr>
                          <m:t>50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word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JBBOH   (B) OBBJH   (C) OBBHJ   (D) HBBJO</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$60$</a:t>
                </a:r>
                <a:r>
                  <a:rPr sz="2400" b="0">
                    <a:solidFill>
                      <a:srgbClr val="111827"/>
                    </a:solidFill>
                    <a:latin typeface="Arial"/>
                  </a:rPr>
                  <a:t> words can be made using all the letters of the word BHBJO, with or without meaning. If these words are written as in a dictionary, then the </a:t>
                </a:r>
                <a:r>
                  <a:rPr lang="en-IN" sz="2400">
                    <a:solidFill>
                      <a:srgbClr val="111827"/>
                    </a:solidFill>
                    <a:latin typeface="Cambria Math" panose="02040503050406030204" pitchFamily="18" charset="0"/>
                  </a:rPr>
                  <a:t>$50^{\text{th}}$</a:t>
                </a:r>
                <a:r>
                  <a:rPr sz="2400" b="0">
                    <a:solidFill>
                      <a:srgbClr val="111827"/>
                    </a:solidFill>
                    <a:latin typeface="Arial"/>
                  </a:rPr>
                  <a:t> word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JBBOH   (B) OBBJH   (C) OBBHJ   (D) HBBJO</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the word at a given position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three blocks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𝐽</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hold </a:t>
                </a:r>
                <a14:m>
                  <m:oMath xmlns:m="http://schemas.openxmlformats.org/officeDocument/2006/math">
                    <m:r>
                      <a:rPr lang="en-IN" sz="2400" i="1">
                        <a:solidFill>
                          <a:srgbClr val="78350F"/>
                        </a:solidFill>
                        <a:latin typeface="Cambria Math" panose="02040503050406030204" pitchFamily="18" charset="0"/>
                      </a:rPr>
                      <m:t>48</m:t>
                    </m:r>
                  </m:oMath>
                </a14:m>
                <a:r>
                  <a:rPr sz="2400" b="0">
                    <a:solidFill>
                      <a:srgbClr val="78350F"/>
                    </a:solidFill>
                    <a:latin typeface="Arial"/>
                  </a:rPr>
                  <a:t> words, so the </a:t>
                </a:r>
                <a14:m>
                  <m:oMath xmlns:m="http://schemas.openxmlformats.org/officeDocument/2006/math">
                    <m:sSup>
                      <m:e>
                        <m:r>
                          <a:rPr lang="en-IN" sz="2400" i="1">
                            <a:solidFill>
                              <a:srgbClr val="78350F"/>
                            </a:solidFill>
                            <a:latin typeface="Cambria Math" panose="02040503050406030204" pitchFamily="18" charset="0"/>
                          </a:rPr>
                          <m:t>50</m:t>
                        </m:r>
                      </m:e>
                      <m:sup>
                        <m:r>
                          <m:rPr>
                            <m:nor/>
                          </m:rPr>
                          <a:rPr lang="en-IN" sz="2400" i="1">
                            <a:solidFill>
                              <a:srgbClr val="78350F"/>
                            </a:solidFill>
                            <a:latin typeface="Cambria Math" panose="02040503050406030204" pitchFamily="18" charset="0"/>
                          </a:rPr>
                          <m:t>𝑡ℎ</m:t>
                        </m:r>
                      </m:sup>
                    </m:sSup>
                  </m:oMath>
                </a14:m>
                <a:r>
                  <a:rPr sz="2400" b="0">
                    <a:solidFill>
                      <a:srgbClr val="78350F"/>
                    </a:solidFill>
                    <a:latin typeface="Arial"/>
                  </a:rPr>
                  <a:t> is the second word of the block starting with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first three blocks (</a:t>
                </a:r>
                <a:r>
                  <a:rPr lang="en-IN" sz="2400">
                    <a:solidFill>
                      <a:srgbClr val="78350F"/>
                    </a:solidFill>
                    <a:latin typeface="Cambria Math" panose="02040503050406030204" pitchFamily="18" charset="0"/>
                  </a:rPr>
                  <a:t>$B\ldots$</a:t>
                </a:r>
                <a:r>
                  <a:rPr sz="2400" b="0">
                    <a:solidFill>
                      <a:srgbClr val="78350F"/>
                    </a:solidFill>
                    <a:latin typeface="Arial"/>
                  </a:rPr>
                  <a:t>, </a:t>
                </a:r>
                <a:r>
                  <a:rPr lang="en-IN" sz="2400">
                    <a:solidFill>
                      <a:srgbClr val="78350F"/>
                    </a:solidFill>
                    <a:latin typeface="Cambria Math" panose="02040503050406030204" pitchFamily="18" charset="0"/>
                  </a:rPr>
                  <a:t>$H\ldots$</a:t>
                </a:r>
                <a:r>
                  <a:rPr sz="2400" b="0">
                    <a:solidFill>
                      <a:srgbClr val="78350F"/>
                    </a:solidFill>
                    <a:latin typeface="Arial"/>
                  </a:rPr>
                  <a:t>, </a:t>
                </a:r>
                <a:r>
                  <a:rPr lang="en-IN" sz="2400">
                    <a:solidFill>
                      <a:srgbClr val="78350F"/>
                    </a:solidFill>
                    <a:latin typeface="Cambria Math" panose="02040503050406030204" pitchFamily="18" charset="0"/>
                  </a:rPr>
                  <a:t>$J\ldots$</a:t>
                </a:r>
                <a:r>
                  <a:rPr sz="2400" b="0">
                    <a:solidFill>
                      <a:srgbClr val="78350F"/>
                    </a:solidFill>
                    <a:latin typeface="Arial"/>
                  </a:rPr>
                  <a:t>) hold </a:t>
                </a:r>
                <a:r>
                  <a:rPr lang="en-IN" sz="2400">
                    <a:solidFill>
                      <a:srgbClr val="78350F"/>
                    </a:solidFill>
                    <a:latin typeface="Cambria Math" panose="02040503050406030204" pitchFamily="18" charset="0"/>
                  </a:rPr>
                  <a:t>$48$</a:t>
                </a:r>
                <a:r>
                  <a:rPr sz="2400" b="0">
                    <a:solidFill>
                      <a:srgbClr val="78350F"/>
                    </a:solidFill>
                    <a:latin typeface="Arial"/>
                  </a:rPr>
                  <a:t> words, so the </a:t>
                </a:r>
                <a:r>
                  <a:rPr lang="en-IN" sz="2400">
                    <a:solidFill>
                      <a:srgbClr val="78350F"/>
                    </a:solidFill>
                    <a:latin typeface="Cambria Math" panose="02040503050406030204" pitchFamily="18" charset="0"/>
                  </a:rPr>
                  <a:t>$50^{\text{th}}$</a:t>
                </a:r>
                <a:r>
                  <a:rPr sz="2400" b="0">
                    <a:solidFill>
                      <a:srgbClr val="78350F"/>
                    </a:solidFill>
                    <a:latin typeface="Arial"/>
                  </a:rPr>
                  <a:t> is the second word of the block starting with </a:t>
                </a:r>
                <a:r>
                  <a:rPr lang="en-IN" sz="2400">
                    <a:solidFill>
                      <a:srgbClr val="78350F"/>
                    </a:solidFill>
                    <a:latin typeface="Cambria Math" panose="02040503050406030204" pitchFamily="18" charset="0"/>
                  </a:rPr>
                  <a:t>$O$</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𝐽</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total words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𝐽</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𝐽</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Words starting with </a:t>
                </a:r>
                <a14:m>
                  <m:oMath xmlns:m="http://schemas.openxmlformats.org/officeDocument/2006/math">
                    <m:r>
                      <a:rPr lang="en-IN" sz="2400" i="1">
                        <a:solidFill>
                          <a:srgbClr val="111827"/>
                        </a:solidFill>
                        <a:latin typeface="Cambria Math" panose="02040503050406030204" pitchFamily="18" charset="0"/>
                      </a:rPr>
                      <m:t>𝐽</m:t>
                    </m:r>
                  </m:oMath>
                </a14:m>
                <a:r>
                  <a:rPr sz="2400" b="0">
                    <a:solidFill>
                      <a:srgbClr val="111827"/>
                    </a:solidFill>
                    <a:latin typeface="Arial"/>
                  </a:rPr>
                  <a:t>: arrange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of the letters: </a:t>
                </a:r>
                <a:r>
                  <a:rPr lang="en-IN" sz="2400">
                    <a:solidFill>
                      <a:srgbClr val="111827"/>
                    </a:solidFill>
                    <a:latin typeface="Cambria Math" panose="02040503050406030204" pitchFamily="18" charset="0"/>
                  </a:rPr>
                  <a:t>$B,B,H,J,O$</a:t>
                </a:r>
                <a:r>
                  <a:rPr sz="2400" b="0">
                    <a:solidFill>
                      <a:srgbClr val="111827"/>
                    </a:solidFill>
                    <a:latin typeface="Arial"/>
                  </a:rPr>
                  <a:t>; total words </a:t>
                </a:r>
                <a:r>
                  <a:rPr lang="en-IN" sz="2400">
                    <a:solidFill>
                      <a:srgbClr val="111827"/>
                    </a:solidFill>
                    <a:latin typeface="Cambria Math" panose="02040503050406030204" pitchFamily="18" charset="0"/>
                  </a:rPr>
                  <a:t>$\frac{5!}{2!}=60$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$B$</a:t>
                </a:r>
                <a:r>
                  <a:rPr sz="2400" b="0">
                    <a:solidFill>
                      <a:srgbClr val="111827"/>
                    </a:solidFill>
                    <a:latin typeface="Arial"/>
                  </a:rPr>
                  <a:t>: arrange </a:t>
                </a:r>
                <a:r>
                  <a:rPr lang="en-IN" sz="2400">
                    <a:solidFill>
                      <a:srgbClr val="111827"/>
                    </a:solidFill>
                    <a:latin typeface="Cambria Math" panose="02040503050406030204" pitchFamily="18" charset="0"/>
                  </a:rPr>
                  <a:t>$B,H,J,O$</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$H$</a:t>
                </a:r>
                <a:r>
                  <a:rPr sz="2400" b="0">
                    <a:solidFill>
                      <a:srgbClr val="111827"/>
                    </a:solidFill>
                    <a:latin typeface="Arial"/>
                  </a:rPr>
                  <a:t>: arrange </a:t>
                </a:r>
                <a:r>
                  <a:rPr lang="en-IN" sz="2400">
                    <a:solidFill>
                      <a:srgbClr val="111827"/>
                    </a:solidFill>
                    <a:latin typeface="Cambria Math" panose="02040503050406030204" pitchFamily="18" charset="0"/>
                  </a:rPr>
                  <a:t>$B,B,J,O$</a:t>
                </a:r>
                <a:r>
                  <a:rPr sz="2400" b="0">
                    <a:solidFill>
                      <a:srgbClr val="111827"/>
                    </a:solidFill>
                    <a:latin typeface="Arial"/>
                  </a:rPr>
                  <a:t>: </a:t>
                </a:r>
                <a:r>
                  <a:rPr lang="en-IN" sz="2400">
                    <a:solidFill>
                      <a:srgbClr val="111827"/>
                    </a:solidFill>
                    <a:latin typeface="Cambria Math" panose="02040503050406030204" pitchFamily="18" charset="0"/>
                  </a:rPr>
                  <a:t>$\frac{4!}{2!}=12$</a:t>
                </a:r>
                <a:r>
                  <a:rPr sz="2400" b="0">
                    <a:solidFill>
                      <a:srgbClr val="111827"/>
                    </a:solidFill>
                    <a:latin typeface="Arial"/>
                  </a:rPr>
                  <a:t>. Words starting with </a:t>
                </a:r>
                <a:r>
                  <a:rPr lang="en-IN" sz="2400">
                    <a:solidFill>
                      <a:srgbClr val="111827"/>
                    </a:solidFill>
                    <a:latin typeface="Cambria Math" panose="02040503050406030204" pitchFamily="18" charset="0"/>
                  </a:rPr>
                  <a:t>$J$</a:t>
                </a:r>
                <a:r>
                  <a:rPr sz="2400" b="0">
                    <a:solidFill>
                      <a:srgbClr val="111827"/>
                    </a:solidFill>
                    <a:latin typeface="Arial"/>
                  </a:rPr>
                  <a:t>: arrange </a:t>
                </a:r>
                <a:r>
                  <a:rPr lang="en-IN" sz="2400">
                    <a:solidFill>
                      <a:srgbClr val="111827"/>
                    </a:solidFill>
                    <a:latin typeface="Cambria Math" panose="02040503050406030204" pitchFamily="18" charset="0"/>
                  </a:rPr>
                  <a:t>$B,B,H,O$</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blocks hold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words, so words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start with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-word is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𝐽</m:t>
                    </m:r>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49</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and the next is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𝐽</m:t>
                    </m:r>
                    <m:r>
                      <a:rPr lang="en-IN" sz="2400" i="1">
                        <a:solidFill>
                          <a:srgbClr val="111827"/>
                        </a:solidFill>
                        <a:latin typeface="Cambria Math" panose="02040503050406030204" pitchFamily="18" charset="0"/>
                      </a:rPr>
                      <m:t>𝐻</m:t>
                    </m:r>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50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blocks hold </a:t>
                </a:r>
                <a:r>
                  <a:rPr lang="en-IN" sz="2400">
                    <a:solidFill>
                      <a:srgbClr val="111827"/>
                    </a:solidFill>
                    <a:latin typeface="Cambria Math" panose="02040503050406030204" pitchFamily="18" charset="0"/>
                  </a:rPr>
                  <a:t>$24+12+12=48$</a:t>
                </a:r>
                <a:r>
                  <a:rPr sz="2400" b="0">
                    <a:solidFill>
                      <a:srgbClr val="111827"/>
                    </a:solidFill>
                    <a:latin typeface="Arial"/>
                  </a:rPr>
                  <a:t> words, so words </a:t>
                </a:r>
                <a:r>
                  <a:rPr lang="en-IN" sz="2400">
                    <a:solidFill>
                      <a:srgbClr val="111827"/>
                    </a:solidFill>
                    <a:latin typeface="Cambria Math" panose="02040503050406030204" pitchFamily="18" charset="0"/>
                  </a:rPr>
                  <a:t>$49$</a:t>
                </a:r>
                <a:r>
                  <a:rPr sz="2400" b="0">
                    <a:solidFill>
                      <a:srgbClr val="111827"/>
                    </a:solidFill>
                    <a:latin typeface="Arial"/>
                  </a:rPr>
                  <a:t> to </a:t>
                </a:r>
                <a:r>
                  <a:rPr lang="en-IN" sz="2400">
                    <a:solidFill>
                      <a:srgbClr val="111827"/>
                    </a:solidFill>
                    <a:latin typeface="Cambria Math" panose="02040503050406030204" pitchFamily="18" charset="0"/>
                  </a:rPr>
                  <a:t>$60$</a:t>
                </a:r>
                <a:r>
                  <a:rPr sz="2400" b="0">
                    <a:solidFill>
                      <a:srgbClr val="111827"/>
                    </a:solidFill>
                    <a:latin typeface="Arial"/>
                  </a:rPr>
                  <a:t> start with </a:t>
                </a:r>
                <a:r>
                  <a:rPr lang="en-IN" sz="2400">
                    <a:solidFill>
                      <a:srgbClr val="111827"/>
                    </a:solidFill>
                    <a:latin typeface="Cambria Math" panose="02040503050406030204" pitchFamily="18" charset="0"/>
                  </a:rPr>
                  <a:t>$O$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a:t>
                </a:r>
                <a:r>
                  <a:rPr lang="en-IN" sz="2400">
                    <a:solidFill>
                      <a:srgbClr val="111827"/>
                    </a:solidFill>
                    <a:latin typeface="Cambria Math" panose="02040503050406030204" pitchFamily="18" charset="0"/>
                  </a:rPr>
                  <a:t>$O$</a:t>
                </a:r>
                <a:r>
                  <a:rPr sz="2400" b="0">
                    <a:solidFill>
                      <a:srgbClr val="111827"/>
                    </a:solidFill>
                    <a:latin typeface="Arial"/>
                  </a:rPr>
                  <a:t>-word is </a:t>
                </a:r>
                <a:r>
                  <a:rPr lang="en-IN" sz="2400">
                    <a:solidFill>
                      <a:srgbClr val="111827"/>
                    </a:solidFill>
                    <a:latin typeface="Cambria Math" panose="02040503050406030204" pitchFamily="18" charset="0"/>
                  </a:rPr>
                  <a:t>$OBBHJ$</a:t>
                </a:r>
                <a:r>
                  <a:rPr sz="2400" b="0">
                    <a:solidFill>
                      <a:srgbClr val="111827"/>
                    </a:solidFill>
                    <a:latin typeface="Arial"/>
                  </a:rPr>
                  <a:t> (the </a:t>
                </a:r>
                <a:r>
                  <a:rPr lang="en-IN" sz="2400">
                    <a:solidFill>
                      <a:srgbClr val="111827"/>
                    </a:solidFill>
                    <a:latin typeface="Cambria Math" panose="02040503050406030204" pitchFamily="18" charset="0"/>
                  </a:rPr>
                  <a:t>$49^{\text{th}}$</a:t>
                </a:r>
                <a:r>
                  <a:rPr sz="2400" b="0">
                    <a:solidFill>
                      <a:srgbClr val="111827"/>
                    </a:solidFill>
                    <a:latin typeface="Arial"/>
                  </a:rPr>
                  <a:t>) and the next is </a:t>
                </a:r>
                <a:r>
                  <a:rPr lang="en-IN" sz="2400">
                    <a:solidFill>
                      <a:srgbClr val="111827"/>
                    </a:solidFill>
                    <a:latin typeface="Cambria Math" panose="02040503050406030204" pitchFamily="18" charset="0"/>
                  </a:rPr>
                  <a:t>$OBBJH$</a:t>
                </a:r>
                <a:r>
                  <a:rPr sz="2400" b="0">
                    <a:solidFill>
                      <a:srgbClr val="111827"/>
                    </a:solidFill>
                    <a:latin typeface="Arial"/>
                  </a:rPr>
                  <a:t> (the </a:t>
                </a:r>
                <a:r>
                  <a:rPr lang="en-IN" sz="2400">
                    <a:solidFill>
                      <a:srgbClr val="111827"/>
                    </a:solidFill>
                    <a:latin typeface="Cambria Math" panose="02040503050406030204" pitchFamily="18" charset="0"/>
                  </a:rPr>
                  <a:t>$50^{\text{th}}$</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OBBJH</a:t>
            </a:r>
            <a:endParaRPr sz="2800">
              <a:solidFill>
                <a:srgbClr val="15803D"/>
              </a:solidFill>
            </a:endParaRP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Block sizes in dictionary order: for each smaller letter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put first, count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𝑟𝑒𝑝𝑒𝑎𝑡𝑠 𝑙𝑒𝑓𝑡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word, subtract block sizes until the remaining index falls inside a block, then repeat on the next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letters with repeats: total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 last block is the one starting with the largest letter.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Block sizes in dictionary order: for each smaller letter </a:t>
                </a:r>
                <a:r>
                  <a:rPr lang="en-IN" sz="2400">
                    <a:solidFill>
                      <a:srgbClr val="111827"/>
                    </a:solidFill>
                    <a:latin typeface="Cambria Math" panose="02040503050406030204" pitchFamily="18" charset="0"/>
                  </a:rPr>
                  <a:t>$x$</a:t>
                </a:r>
                <a:r>
                  <a:rPr sz="2400" b="0">
                    <a:solidFill>
                      <a:srgbClr val="111827"/>
                    </a:solidFill>
                    <a:latin typeface="Arial"/>
                  </a:rPr>
                  <a:t> put first, count </a:t>
                </a:r>
                <a:r>
                  <a:rPr lang="en-IN" sz="2400">
                    <a:solidFill>
                      <a:srgbClr val="111827"/>
                    </a:solidFill>
                    <a:latin typeface="Cambria Math" panose="02040503050406030204" pitchFamily="18" charset="0"/>
                  </a:rPr>
                  <a:t>$\frac{(n-1)!}{\prod(\text{repeats left})!}$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the </a:t>
                </a:r>
                <a:r>
                  <a:rPr lang="en-IN" sz="2400">
                    <a:solidFill>
                      <a:srgbClr val="111827"/>
                    </a:solidFill>
                    <a:latin typeface="Cambria Math" panose="02040503050406030204" pitchFamily="18" charset="0"/>
                  </a:rPr>
                  <a:t>$k$</a:t>
                </a:r>
                <a:r>
                  <a:rPr sz="2400" b="0">
                    <a:solidFill>
                      <a:srgbClr val="111827"/>
                    </a:solidFill>
                    <a:latin typeface="Arial"/>
                  </a:rPr>
                  <a:t>-th word, subtract block sizes until the remaining index falls inside a block, then repeat on the next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of </a:t>
                </a:r>
                <a:r>
                  <a:rPr lang="en-IN" sz="2400">
                    <a:solidFill>
                      <a:srgbClr val="111827"/>
                    </a:solidFill>
                    <a:latin typeface="Cambria Math" panose="02040503050406030204" pitchFamily="18" charset="0"/>
                  </a:rPr>
                  <a:t>$n$</a:t>
                </a:r>
                <a:r>
                  <a:rPr sz="2400" b="0">
                    <a:solidFill>
                      <a:srgbClr val="111827"/>
                    </a:solidFill>
                    <a:latin typeface="Arial"/>
                  </a:rPr>
                  <a:t> letters with repeats: total </a:t>
                </a:r>
                <a:r>
                  <a:rPr lang="en-IN" sz="2400">
                    <a:solidFill>
                      <a:srgbClr val="111827"/>
                    </a:solidFill>
                    <a:latin typeface="Cambria Math" panose="02040503050406030204" pitchFamily="18" charset="0"/>
                  </a:rPr>
                  <a:t>$\frac{n!}{\prod m_i!}$</a:t>
                </a:r>
                <a:r>
                  <a:rPr sz="2400" b="0">
                    <a:solidFill>
                      <a:srgbClr val="111827"/>
                    </a:solidFill>
                    <a:latin typeface="Arial"/>
                  </a:rPr>
                  <a:t>; the last block is the one starting with the largest letter.</a:t>
                </a:r>
                <a:endParaRPr sz="2400">
                  <a:solidFill>
                    <a:srgbClr val="111827"/>
                  </a:solidFill>
                </a:endParaRPr>
              </a:p>
            </p:txBody>
          </p:sp>
        </mc:Fallback>
      </mc:AlternateContent>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partitioned into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sets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with equal number of elements such that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The maximum number of such possible partitions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1640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1680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1520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1710</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set </a:t>
                </a:r>
                <a:r>
                  <a:rPr lang="en-IN" sz="2400">
                    <a:solidFill>
                      <a:srgbClr val="111827"/>
                    </a:solidFill>
                    <a:latin typeface="Cambria Math" panose="02040503050406030204" pitchFamily="18" charset="0"/>
                  </a:rPr>
                  <a:t>$S=\{2,4,8,16,\dots,512\}$</a:t>
                </a:r>
                <a:r>
                  <a:rPr sz="2400" b="0">
                    <a:solidFill>
                      <a:srgbClr val="111827"/>
                    </a:solidFill>
                    <a:latin typeface="Arial"/>
                  </a:rPr>
                  <a:t> be partitioned into </a:t>
                </a:r>
                <a:r>
                  <a:rPr lang="en-IN" sz="2400">
                    <a:solidFill>
                      <a:srgbClr val="111827"/>
                    </a:solidFill>
                    <a:latin typeface="Cambria Math" panose="02040503050406030204" pitchFamily="18" charset="0"/>
                  </a:rPr>
                  <a:t>$3$</a:t>
                </a:r>
                <a:r>
                  <a:rPr sz="2400" b="0">
                    <a:solidFill>
                      <a:srgbClr val="111827"/>
                    </a:solidFill>
                    <a:latin typeface="Arial"/>
                  </a:rPr>
                  <a:t> sets </a:t>
                </a:r>
                <a:r>
                  <a:rPr lang="en-IN" sz="2400">
                    <a:solidFill>
                      <a:srgbClr val="111827"/>
                    </a:solidFill>
                    <a:latin typeface="Cambria Math" panose="02040503050406030204" pitchFamily="18" charset="0"/>
                  </a:rPr>
                  <a:t>$A,B,C$</a:t>
                </a:r>
                <a:r>
                  <a:rPr sz="2400" b="0">
                    <a:solidFill>
                      <a:srgbClr val="111827"/>
                    </a:solidFill>
                    <a:latin typeface="Arial"/>
                  </a:rPr>
                  <a:t> with equal number of elements such that </a:t>
                </a:r>
                <a:r>
                  <a:rPr lang="en-IN" sz="2400">
                    <a:solidFill>
                      <a:srgbClr val="111827"/>
                    </a:solidFill>
                    <a:latin typeface="Cambria Math" panose="02040503050406030204" pitchFamily="18" charset="0"/>
                  </a:rPr>
                  <a:t>$A\cup B\cup C=S$</a:t>
                </a:r>
                <a:r>
                  <a:rPr sz="2400" b="0">
                    <a:solidFill>
                      <a:srgbClr val="111827"/>
                    </a:solidFill>
                    <a:latin typeface="Arial"/>
                  </a:rPr>
                  <a:t> and </a:t>
                </a:r>
                <a:r>
                  <a:rPr lang="en-IN" sz="2400">
                    <a:solidFill>
                      <a:srgbClr val="111827"/>
                    </a:solidFill>
                    <a:latin typeface="Cambria Math" panose="02040503050406030204" pitchFamily="18" charset="0"/>
                  </a:rPr>
                  <a:t>$A\cap B=B\cap C=A\cap C=\phi$</a:t>
                </a:r>
                <a:r>
                  <a:rPr sz="2400" b="0">
                    <a:solidFill>
                      <a:srgbClr val="111827"/>
                    </a:solidFill>
                    <a:latin typeface="Arial"/>
                  </a:rPr>
                  <a:t>. The maximum number of such possible partitions of </a:t>
                </a:r>
                <a:r>
                  <a:rPr lang="en-IN" sz="2400">
                    <a:solidFill>
                      <a:srgbClr val="111827"/>
                    </a:solidFill>
                    <a:latin typeface="Cambria Math" panose="02040503050406030204" pitchFamily="18" charset="0"/>
                  </a:rPr>
                  <a:t>$S$</a:t>
                </a:r>
                <a:r>
                  <a:rPr sz="2400" b="0">
                    <a:solidFill>
                      <a:srgbClr val="111827"/>
                    </a:solidFill>
                    <a:latin typeface="Arial"/>
                  </a:rPr>
                  <a: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$1640$</a:t>
                </a:r>
                <a:r>
                  <a:rPr sz="2400" b="0">
                    <a:solidFill>
                      <a:srgbClr val="111827"/>
                    </a:solidFill>
                    <a:latin typeface="Arial"/>
                  </a:rPr>
                  <a:t>   (B) </a:t>
                </a:r>
                <a:r>
                  <a:rPr lang="en-IN" sz="2400">
                    <a:solidFill>
                      <a:srgbClr val="111827"/>
                    </a:solidFill>
                    <a:latin typeface="Cambria Math" panose="02040503050406030204" pitchFamily="18" charset="0"/>
                  </a:rPr>
                  <a:t>$1680$</a:t>
                </a:r>
                <a:r>
                  <a:rPr sz="2400" b="0">
                    <a:solidFill>
                      <a:srgbClr val="111827"/>
                    </a:solidFill>
                    <a:latin typeface="Arial"/>
                  </a:rPr>
                  <a:t>   (C) </a:t>
                </a:r>
                <a:r>
                  <a:rPr lang="en-IN" sz="2400">
                    <a:solidFill>
                      <a:srgbClr val="111827"/>
                    </a:solidFill>
                    <a:latin typeface="Cambria Math" panose="02040503050406030204" pitchFamily="18" charset="0"/>
                  </a:rPr>
                  <a:t>$1520$</a:t>
                </a:r>
                <a:r>
                  <a:rPr sz="2400" b="0">
                    <a:solidFill>
                      <a:srgbClr val="111827"/>
                    </a:solidFill>
                    <a:latin typeface="Arial"/>
                  </a:rPr>
                  <a:t>   (D) </a:t>
                </a:r>
                <a:r>
                  <a:rPr lang="en-IN" sz="2400">
                    <a:solidFill>
                      <a:srgbClr val="111827"/>
                    </a:solidFill>
                    <a:latin typeface="Cambria Math" panose="02040503050406030204" pitchFamily="18" charset="0"/>
                  </a:rPr>
                  <a:t>$1710$</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Partition of a set into labelled subsets of equal size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9</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elements, so the sets have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each;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are named, so no division by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unlabelled sets.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$S=\{2^1,\dots,2^9\}$</a:t>
                </a:r>
                <a:r>
                  <a:rPr sz="2400" b="0">
                    <a:solidFill>
                      <a:srgbClr val="78350F"/>
                    </a:solidFill>
                    <a:latin typeface="Arial"/>
                  </a:rPr>
                  <a:t> has </a:t>
                </a:r>
                <a:r>
                  <a:rPr lang="en-IN" sz="2400">
                    <a:solidFill>
                      <a:srgbClr val="78350F"/>
                    </a:solidFill>
                    <a:latin typeface="Cambria Math" panose="02040503050406030204" pitchFamily="18" charset="0"/>
                  </a:rPr>
                  <a:t>$9$</a:t>
                </a:r>
                <a:r>
                  <a:rPr sz="2400" b="0">
                    <a:solidFill>
                      <a:srgbClr val="78350F"/>
                    </a:solidFill>
                    <a:latin typeface="Arial"/>
                  </a:rPr>
                  <a:t> elements, so the sets have </a:t>
                </a:r>
                <a:r>
                  <a:rPr lang="en-IN" sz="2400">
                    <a:solidFill>
                      <a:srgbClr val="78350F"/>
                    </a:solidFill>
                    <a:latin typeface="Cambria Math" panose="02040503050406030204" pitchFamily="18" charset="0"/>
                  </a:rPr>
                  <a:t>$3$</a:t>
                </a:r>
                <a:r>
                  <a:rPr sz="2400" b="0">
                    <a:solidFill>
                      <a:srgbClr val="78350F"/>
                    </a:solidFill>
                    <a:latin typeface="Arial"/>
                  </a:rPr>
                  <a:t> each; </a:t>
                </a:r>
                <a:r>
                  <a:rPr lang="en-IN" sz="2400">
                    <a:solidFill>
                      <a:srgbClr val="78350F"/>
                    </a:solidFill>
                    <a:latin typeface="Cambria Math" panose="02040503050406030204" pitchFamily="18" charset="0"/>
                  </a:rPr>
                  <a:t>$A,B,C$</a:t>
                </a:r>
                <a:r>
                  <a:rPr sz="2400" b="0">
                    <a:solidFill>
                      <a:srgbClr val="78350F"/>
                    </a:solidFill>
                    <a:latin typeface="Arial"/>
                  </a:rPr>
                  <a:t> are named, so no division by </a:t>
                </a:r>
                <a:r>
                  <a:rPr lang="en-IN" sz="2400">
                    <a:solidFill>
                      <a:srgbClr val="78350F"/>
                    </a:solidFill>
                    <a:latin typeface="Cambria Math" panose="02040503050406030204" pitchFamily="18" charset="0"/>
                  </a:rPr>
                  <a:t>$3!$</a:t>
                </a:r>
                <a:r>
                  <a:rPr sz="2400" b="0">
                    <a:solidFill>
                      <a:srgbClr val="78350F"/>
                    </a:solidFill>
                    <a:latin typeface="Arial"/>
                  </a:rPr>
                  <a:t> for unlabelled sets.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elements. Equal sizes and disjoint union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from the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remaining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three sets were unlabelled the number of divisions would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$S=\{2^1,2^2,\dots,2^9\}$</a:t>
                </a:r>
                <a:r>
                  <a:rPr sz="2400" b="0">
                    <a:solidFill>
                      <a:srgbClr val="111827"/>
                    </a:solidFill>
                    <a:latin typeface="Arial"/>
                  </a:rPr>
                  <a:t> has </a:t>
                </a:r>
                <a:r>
                  <a:rPr lang="en-IN" sz="2400">
                    <a:solidFill>
                      <a:srgbClr val="111827"/>
                    </a:solidFill>
                    <a:latin typeface="Cambria Math" panose="02040503050406030204" pitchFamily="18" charset="0"/>
                  </a:rPr>
                  <a:t>$9$</a:t>
                </a:r>
                <a:r>
                  <a:rPr sz="2400" b="0">
                    <a:solidFill>
                      <a:srgbClr val="111827"/>
                    </a:solidFill>
                    <a:latin typeface="Arial"/>
                  </a:rPr>
                  <a:t> elements. Equal sizes and disjoint union mean </a:t>
                </a:r>
                <a:r>
                  <a:rPr lang="en-IN" sz="2400">
                    <a:solidFill>
                      <a:srgbClr val="111827"/>
                    </a:solidFill>
                    <a:latin typeface="Cambria Math" panose="02040503050406030204" pitchFamily="18" charset="0"/>
                  </a:rPr>
                  <a:t>$|A|=|B|=|C|=3$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${}^9C_3=84$</a:t>
                </a:r>
                <a:r>
                  <a:rPr sz="2400" b="0">
                    <a:solidFill>
                      <a:srgbClr val="111827"/>
                    </a:solidFill>
                    <a:latin typeface="Arial"/>
                  </a:rPr>
                  <a:t>. Choose </a:t>
                </a:r>
                <a:r>
                  <a:rPr lang="en-IN" sz="2400">
                    <a:solidFill>
                      <a:srgbClr val="111827"/>
                    </a:solidFill>
                    <a:latin typeface="Cambria Math" panose="02040503050406030204" pitchFamily="18" charset="0"/>
                  </a:rPr>
                  <a:t>$B$</a:t>
                </a:r>
                <a:r>
                  <a:rPr sz="2400" b="0">
                    <a:solidFill>
                      <a:srgbClr val="111827"/>
                    </a:solidFill>
                    <a:latin typeface="Arial"/>
                  </a:rPr>
                  <a:t> from the remaining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${}^6C_3=20$</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is the remaining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three sets were unlabelled the number of divisions would be </a:t>
                </a:r>
                <a:r>
                  <a:rPr lang="en-IN" sz="2400">
                    <a:solidFill>
                      <a:srgbClr val="111827"/>
                    </a:solidFill>
                    <a:latin typeface="Cambria Math" panose="02040503050406030204" pitchFamily="18" charset="0"/>
                  </a:rPr>
                  <a:t>$\frac{9!}{(3!)^3\,3!}=280$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are distinct named sets, multiply by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partitions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$A,B,C$</a:t>
                </a:r>
                <a:r>
                  <a:rPr sz="2400" b="0">
                    <a:solidFill>
                      <a:srgbClr val="111827"/>
                    </a:solidFill>
                    <a:latin typeface="Arial"/>
                  </a:rPr>
                  <a:t> are distinct named sets, multiply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$280\times6=\frac{9!}{(3!)^3}$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partitions </a:t>
                </a:r>
                <a:r>
                  <a:rPr lang="en-IN" sz="2400">
                    <a:solidFill>
                      <a:srgbClr val="111827"/>
                    </a:solidFill>
                    <a:latin typeface="Cambria Math" panose="02040503050406030204" pitchFamily="18" charset="0"/>
                  </a:rPr>
                  <a:t>$=84\times20=1680$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1680</a:t>
            </a:r>
            <a:endParaRPr sz="2800">
              <a:solidFill>
                <a:srgbClr val="15803D"/>
              </a:solidFill>
            </a:endParaRP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Splitting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labelled groups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en>
                    </m:f>
                  </m:oMath>
                </a14:m>
                <a:r>
                  <a:rPr sz="2400" b="0">
                    <a:solidFill>
                      <a:srgbClr val="111827"/>
                    </a:solidFill>
                    <a:latin typeface="Arial"/>
                  </a:rPr>
                  <a:t>; unlabelled: divide further by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Whether groups are labelled is decided by the wording ('sets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are labelled; 'teams' or 'identical boxes' are not).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cardinality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matters; the elements being powers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irrelevant.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Splitting </a:t>
                </a:r>
                <a:r>
                  <a:rPr lang="en-IN" sz="2400">
                    <a:solidFill>
                      <a:srgbClr val="111827"/>
                    </a:solidFill>
                    <a:latin typeface="Cambria Math" panose="02040503050406030204" pitchFamily="18" charset="0"/>
                  </a:rPr>
                  <a:t>$n=km$</a:t>
                </a:r>
                <a:r>
                  <a:rPr sz="2400" b="0">
                    <a:solidFill>
                      <a:srgbClr val="111827"/>
                    </a:solidFill>
                    <a:latin typeface="Arial"/>
                  </a:rPr>
                  <a:t> distinct objects into </a:t>
                </a:r>
                <a:r>
                  <a:rPr lang="en-IN" sz="2400">
                    <a:solidFill>
                      <a:srgbClr val="111827"/>
                    </a:solidFill>
                    <a:latin typeface="Cambria Math" panose="02040503050406030204" pitchFamily="18" charset="0"/>
                  </a:rPr>
                  <a:t>$k$</a:t>
                </a:r>
                <a:r>
                  <a:rPr sz="2400" b="0">
                    <a:solidFill>
                      <a:srgbClr val="111827"/>
                    </a:solidFill>
                    <a:latin typeface="Arial"/>
                  </a:rPr>
                  <a:t> labelled groups of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$\frac{n!}{(m!)^k}$</a:t>
                </a:r>
                <a:r>
                  <a:rPr sz="2400" b="0">
                    <a:solidFill>
                      <a:srgbClr val="111827"/>
                    </a:solidFill>
                    <a:latin typeface="Arial"/>
                  </a:rPr>
                  <a:t>; unlabelled: divide further by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Whether groups are labelled is decided by the wording ('sets </a:t>
                </a:r>
                <a:r>
                  <a:rPr lang="en-IN" sz="2400">
                    <a:solidFill>
                      <a:srgbClr val="111827"/>
                    </a:solidFill>
                    <a:latin typeface="Cambria Math" panose="02040503050406030204" pitchFamily="18" charset="0"/>
                  </a:rPr>
                  <a:t>$A,B,C$</a:t>
                </a:r>
                <a:r>
                  <a:rPr sz="2400" b="0">
                    <a:solidFill>
                      <a:srgbClr val="111827"/>
                    </a:solidFill>
                    <a:latin typeface="Arial"/>
                  </a:rPr>
                  <a:t>' are labelled; 'teams' or 'identical boxes' are not).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the cardinality of </a:t>
                </a:r>
                <a:r>
                  <a:rPr lang="en-IN" sz="2400">
                    <a:solidFill>
                      <a:srgbClr val="111827"/>
                    </a:solidFill>
                    <a:latin typeface="Cambria Math" panose="02040503050406030204" pitchFamily="18" charset="0"/>
                  </a:rPr>
                  <a:t>$S$</a:t>
                </a:r>
                <a:r>
                  <a:rPr sz="2400" b="0">
                    <a:solidFill>
                      <a:srgbClr val="111827"/>
                    </a:solidFill>
                    <a:latin typeface="Arial"/>
                  </a:rPr>
                  <a:t> matters; the elements being powers of </a:t>
                </a:r>
                <a:r>
                  <a:rPr lang="en-IN" sz="2400">
                    <a:solidFill>
                      <a:srgbClr val="111827"/>
                    </a:solidFill>
                    <a:latin typeface="Cambria Math" panose="02040503050406030204" pitchFamily="18" charset="0"/>
                  </a:rPr>
                  <a:t>$2$</a:t>
                </a:r>
                <a:r>
                  <a:rPr sz="2400" b="0">
                    <a:solidFill>
                      <a:srgbClr val="111827"/>
                    </a:solidFill>
                    <a:latin typeface="Arial"/>
                  </a:rPr>
                  <a:t> is irrelevant.</a:t>
                </a:r>
                <a:endParaRPr sz="2400">
                  <a:solidFill>
                    <a:srgbClr val="111827"/>
                  </a:solidFill>
                </a:endParaRPr>
              </a:p>
            </p:txBody>
          </p:sp>
        </mc:Fallback>
      </mc:AlternateContent>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triangles whose vertices are at the vertices of a regular octagon but none of whose sides is a side of the octagon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triangles whose vertices are at the vertices of a regular octagon but none of whose sides is a side of the octagon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$56$</a:t>
                </a:r>
                <a:r>
                  <a:rPr sz="2400" b="0">
                    <a:solidFill>
                      <a:srgbClr val="111827"/>
                    </a:solidFill>
                    <a:latin typeface="Arial"/>
                  </a:rPr>
                  <a:t>   (B) </a:t>
                </a:r>
                <a:r>
                  <a:rPr lang="en-IN" sz="2400">
                    <a:solidFill>
                      <a:srgbClr val="111827"/>
                    </a:solidFill>
                    <a:latin typeface="Cambria Math" panose="02040503050406030204" pitchFamily="18" charset="0"/>
                  </a:rPr>
                  <a:t>$16$</a:t>
                </a:r>
                <a:r>
                  <a:rPr sz="2400" b="0">
                    <a:solidFill>
                      <a:srgbClr val="111827"/>
                    </a:solidFill>
                    <a:latin typeface="Arial"/>
                  </a:rPr>
                  <a:t>   (C) </a:t>
                </a:r>
                <a:r>
                  <a:rPr lang="en-IN" sz="2400">
                    <a:solidFill>
                      <a:srgbClr val="111827"/>
                    </a:solidFill>
                    <a:latin typeface="Cambria Math" panose="02040503050406030204" pitchFamily="18" charset="0"/>
                  </a:rPr>
                  <a:t>$48$</a:t>
                </a:r>
                <a:r>
                  <a:rPr sz="2400" b="0">
                    <a:solidFill>
                      <a:srgbClr val="111827"/>
                    </a:solidFill>
                    <a:latin typeface="Arial"/>
                  </a:rPr>
                  <a:t>   (D) </a:t>
                </a:r>
                <a:r>
                  <a:rPr lang="en-IN" sz="2400">
                    <a:solidFill>
                      <a:srgbClr val="111827"/>
                    </a:solidFill>
                    <a:latin typeface="Cambria Math" panose="02040503050406030204" pitchFamily="18" charset="0"/>
                  </a:rPr>
                  <a:t>$24$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Selecting non-adjacent vertices of a polygon (geometry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side of the octagon means no two chosen vertices are adjacent; counting by a first vertex counts each triangle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times.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 side of the octagon means no two chosen vertices are adjacent; counting by a first vertex counts each triangle </a:t>
                </a:r>
                <a:r>
                  <a:rPr lang="en-IN" sz="2400">
                    <a:solidFill>
                      <a:srgbClr val="78350F"/>
                    </a:solidFill>
                    <a:latin typeface="Cambria Math" panose="02040503050406030204" pitchFamily="18" charset="0"/>
                  </a:rPr>
                  <a:t>$3$</a:t>
                </a:r>
                <a:r>
                  <a:rPr sz="2400" b="0">
                    <a:solidFill>
                      <a:srgbClr val="78350F"/>
                    </a:solidFill>
                    <a:latin typeface="Arial"/>
                  </a:rPr>
                  <a:t> times.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side of the triangle is a side of the octagon exactly when two chosen vertices are adjacent, so we need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vertices of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with no two 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Pick a first vertex: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ways. The other two cannot be this vertex or its two neighbours, leaving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consecutive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these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vertices, which must also be non-adjacent: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ways (choosing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non-adjacent from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in a row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side of the triangle is a side of the octagon exactly when two chosen vertices are adjacent, so we need </a:t>
                </a:r>
                <a:r>
                  <a:rPr lang="en-IN" sz="2400">
                    <a:solidFill>
                      <a:srgbClr val="111827"/>
                    </a:solidFill>
                    <a:latin typeface="Cambria Math" panose="02040503050406030204" pitchFamily="18" charset="0"/>
                  </a:rPr>
                  <a:t>$3$</a:t>
                </a:r>
                <a:r>
                  <a:rPr sz="2400" b="0">
                    <a:solidFill>
                      <a:srgbClr val="111827"/>
                    </a:solidFill>
                    <a:latin typeface="Arial"/>
                  </a:rPr>
                  <a:t> vertices of the </a:t>
                </a:r>
                <a:r>
                  <a:rPr lang="en-IN" sz="2400">
                    <a:solidFill>
                      <a:srgbClr val="111827"/>
                    </a:solidFill>
                    <a:latin typeface="Cambria Math" panose="02040503050406030204" pitchFamily="18" charset="0"/>
                  </a:rPr>
                  <a:t>$8$</a:t>
                </a:r>
                <a:r>
                  <a:rPr sz="2400" b="0">
                    <a:solidFill>
                      <a:srgbClr val="111827"/>
                    </a:solidFill>
                    <a:latin typeface="Arial"/>
                  </a:rPr>
                  <a:t> with no two 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Pick a first vertex: </a:t>
                </a:r>
                <a:r>
                  <a:rPr lang="en-IN" sz="2400">
                    <a:solidFill>
                      <a:srgbClr val="111827"/>
                    </a:solidFill>
                    <a:latin typeface="Cambria Math" panose="02040503050406030204" pitchFamily="18" charset="0"/>
                  </a:rPr>
                  <a:t>$8$</a:t>
                </a:r>
                <a:r>
                  <a:rPr sz="2400" b="0">
                    <a:solidFill>
                      <a:srgbClr val="111827"/>
                    </a:solidFill>
                    <a:latin typeface="Arial"/>
                  </a:rPr>
                  <a:t> ways. The other two cannot be this vertex or its two neighbours, leaving </a:t>
                </a:r>
                <a:r>
                  <a:rPr lang="en-IN" sz="2400">
                    <a:solidFill>
                      <a:srgbClr val="111827"/>
                    </a:solidFill>
                    <a:latin typeface="Cambria Math" panose="02040503050406030204" pitchFamily="18" charset="0"/>
                  </a:rPr>
                  <a:t>$5$</a:t>
                </a:r>
                <a:r>
                  <a:rPr sz="2400" b="0">
                    <a:solidFill>
                      <a:srgbClr val="111827"/>
                    </a:solidFill>
                    <a:latin typeface="Arial"/>
                  </a:rPr>
                  <a:t> consecutive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$2$</a:t>
                </a:r>
                <a:r>
                  <a:rPr sz="2400" b="0">
                    <a:solidFill>
                      <a:srgbClr val="111827"/>
                    </a:solidFill>
                    <a:latin typeface="Arial"/>
                  </a:rPr>
                  <a:t> of these </a:t>
                </a:r>
                <a:r>
                  <a:rPr lang="en-IN" sz="2400">
                    <a:solidFill>
                      <a:srgbClr val="111827"/>
                    </a:solidFill>
                    <a:latin typeface="Cambria Math" panose="02040503050406030204" pitchFamily="18" charset="0"/>
                  </a:rPr>
                  <a:t>$5$</a:t>
                </a:r>
                <a:r>
                  <a:rPr sz="2400" b="0">
                    <a:solidFill>
                      <a:srgbClr val="111827"/>
                    </a:solidFill>
                    <a:latin typeface="Arial"/>
                  </a:rPr>
                  <a:t> vertices, which must also be non-adjacent: </a:t>
                </a:r>
                <a:r>
                  <a:rPr lang="en-IN" sz="2400">
                    <a:solidFill>
                      <a:srgbClr val="111827"/>
                    </a:solidFill>
                    <a:latin typeface="Cambria Math" panose="02040503050406030204" pitchFamily="18" charset="0"/>
                  </a:rPr>
                  <a:t>${}^4C_2=6$</a:t>
                </a:r>
                <a:r>
                  <a:rPr sz="2400" b="0">
                    <a:solidFill>
                      <a:srgbClr val="111827"/>
                    </a:solidFill>
                    <a:latin typeface="Arial"/>
                  </a:rPr>
                  <a:t> ways (choosing </a:t>
                </a:r>
                <a:r>
                  <a:rPr lang="en-IN" sz="2400">
                    <a:solidFill>
                      <a:srgbClr val="111827"/>
                    </a:solidFill>
                    <a:latin typeface="Cambria Math" panose="02040503050406030204" pitchFamily="18" charset="0"/>
                  </a:rPr>
                  <a:t>$2$</a:t>
                </a:r>
                <a:r>
                  <a:rPr sz="2400" b="0">
                    <a:solidFill>
                      <a:srgbClr val="111827"/>
                    </a:solidFill>
                    <a:latin typeface="Arial"/>
                  </a:rPr>
                  <a:t> non-adjacent from </a:t>
                </a:r>
                <a:r>
                  <a:rPr lang="en-IN" sz="2400">
                    <a:solidFill>
                      <a:srgbClr val="111827"/>
                    </a:solidFill>
                    <a:latin typeface="Cambria Math" panose="02040503050406030204" pitchFamily="18" charset="0"/>
                  </a:rPr>
                  <a:t>$5$</a:t>
                </a:r>
                <a:r>
                  <a:rPr sz="2400" b="0">
                    <a:solidFill>
                      <a:srgbClr val="111827"/>
                    </a:solidFill>
                    <a:latin typeface="Arial"/>
                  </a:rPr>
                  <a:t> in a row is </a:t>
                </a:r>
                <a:r>
                  <a:rPr lang="en-IN" sz="2400">
                    <a:solidFill>
                      <a:srgbClr val="111827"/>
                    </a:solidFill>
                    <a:latin typeface="Cambria Math" panose="02040503050406030204" pitchFamily="18" charset="0"/>
                  </a:rPr>
                  <a:t>${}^{5-2+1}C_2$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but each triangle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vertices and was counted once for each as the 'first' vertex.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triangles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$8\times6=48$</a:t>
                </a:r>
                <a:r>
                  <a:rPr sz="2400" b="0">
                    <a:solidFill>
                      <a:srgbClr val="111827"/>
                    </a:solidFill>
                    <a:latin typeface="Arial"/>
                  </a:rPr>
                  <a:t>, but each triangle has </a:t>
                </a:r>
                <a:r>
                  <a:rPr lang="en-IN" sz="2400">
                    <a:solidFill>
                      <a:srgbClr val="111827"/>
                    </a:solidFill>
                    <a:latin typeface="Cambria Math" panose="02040503050406030204" pitchFamily="18" charset="0"/>
                  </a:rPr>
                  <a:t>$3$</a:t>
                </a:r>
                <a:r>
                  <a:rPr sz="2400" b="0">
                    <a:solidFill>
                      <a:srgbClr val="111827"/>
                    </a:solidFill>
                    <a:latin typeface="Arial"/>
                  </a:rPr>
                  <a:t> vertices and was counted once for each as the 'first' vertex.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triangles </a:t>
                </a:r>
                <a:r>
                  <a:rPr lang="en-IN" sz="2400">
                    <a:solidFill>
                      <a:srgbClr val="111827"/>
                    </a:solidFill>
                    <a:latin typeface="Cambria Math" panose="02040503050406030204" pitchFamily="18" charset="0"/>
                  </a:rPr>
                  <a:t>$=\frac{48}{3}=16$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16</a:t>
            </a:r>
            <a:endParaRPr sz="2800">
              <a:solidFill>
                <a:srgbClr val="15803D"/>
              </a:solidFill>
            </a:endParaRP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from all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8</m:t>
                            </m:r>
                          </m:num>
                          <m:den>
                            <m:r>
                              <a:rPr lang="en-IN" sz="2400" i="1">
                                <a:solidFill>
                                  <a:srgbClr val="78350F"/>
                                </a:solidFill>
                                <a:latin typeface="Cambria Math" panose="02040503050406030204" pitchFamily="18" charset="0"/>
                              </a:rPr>
                              <m:t>3</m:t>
                            </m:r>
                          </m:den>
                        </m:f>
                      </m:e>
                    </m:d>
                  </m:oMath>
                </a14:m>
                <a:r>
                  <a:rPr sz="2400" b="0">
                    <a:solidFill>
                      <a:srgbClr val="78350F"/>
                    </a:solidFill>
                    <a:latin typeface="Arial"/>
                  </a:rPr>
                  <a:t> triangles remove those having one or two octagon sides.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from all </a:t>
                </a:r>
                <a:r>
                  <a:rPr lang="en-IN" sz="2400">
                    <a:solidFill>
                      <a:srgbClr val="78350F"/>
                    </a:solidFill>
                    <a:latin typeface="Cambria Math" panose="02040503050406030204" pitchFamily="18" charset="0"/>
                  </a:rPr>
                  <a:t>$\binom83$</a:t>
                </a:r>
                <a:r>
                  <a:rPr sz="2400" b="0">
                    <a:solidFill>
                      <a:srgbClr val="78350F"/>
                    </a:solidFill>
                    <a:latin typeface="Arial"/>
                  </a:rPr>
                  <a:t> triangles remove those having one or two octagon sides.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triangles: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two octagon sides (three consecutive vertices):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exactly one octagon side: choose the side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ways), the third vertex must not be adjacent to its ends: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choices: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no octagon 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triangles: </a:t>
                </a:r>
                <a:r>
                  <a:rPr lang="en-IN" sz="2400">
                    <a:solidFill>
                      <a:srgbClr val="111827"/>
                    </a:solidFill>
                    <a:latin typeface="Cambria Math" panose="02040503050406030204" pitchFamily="18" charset="0"/>
                  </a:rPr>
                  <a:t>${}^8C_3=56$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two octagon sides (three consecutive vertices):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exactly one octagon side: choose the side (</a:t>
                </a:r>
                <a:r>
                  <a:rPr lang="en-IN" sz="2400">
                    <a:solidFill>
                      <a:srgbClr val="111827"/>
                    </a:solidFill>
                    <a:latin typeface="Cambria Math" panose="02040503050406030204" pitchFamily="18" charset="0"/>
                  </a:rPr>
                  <a:t>$8$</a:t>
                </a:r>
                <a:r>
                  <a:rPr sz="2400" b="0">
                    <a:solidFill>
                      <a:srgbClr val="111827"/>
                    </a:solidFill>
                    <a:latin typeface="Arial"/>
                  </a:rPr>
                  <a:t> ways), the third vertex must not be adjacent to its ends: </a:t>
                </a:r>
                <a:r>
                  <a:rPr lang="en-IN" sz="2400">
                    <a:solidFill>
                      <a:srgbClr val="111827"/>
                    </a:solidFill>
                    <a:latin typeface="Cambria Math" panose="02040503050406030204" pitchFamily="18" charset="0"/>
                  </a:rPr>
                  <a:t>$8-2-2=4$</a:t>
                </a:r>
                <a:r>
                  <a:rPr sz="2400" b="0">
                    <a:solidFill>
                      <a:srgbClr val="111827"/>
                    </a:solidFill>
                    <a:latin typeface="Arial"/>
                  </a:rPr>
                  <a:t> choices: </a:t>
                </a:r>
                <a:r>
                  <a:rPr lang="en-IN" sz="2400">
                    <a:solidFill>
                      <a:srgbClr val="111827"/>
                    </a:solidFill>
                    <a:latin typeface="Cambria Math" panose="02040503050406030204" pitchFamily="18" charset="0"/>
                  </a:rPr>
                  <a:t>$8\times4=32$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with no octagon side </a:t>
                </a:r>
                <a:r>
                  <a:rPr lang="en-IN" sz="2400">
                    <a:solidFill>
                      <a:srgbClr val="111827"/>
                    </a:solidFill>
                    <a:latin typeface="Cambria Math" panose="02040503050406030204" pitchFamily="18" charset="0"/>
                  </a:rPr>
                  <a:t>$=56-8-32=16$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16</a:t>
            </a:r>
            <a:endParaRPr sz="2800">
              <a:solidFill>
                <a:srgbClr val="15803D"/>
              </a:solidFill>
            </a:endParaRP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Arc lengths: the three arcs between chosen vertices must each have at least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edges.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Arc lengths: the three arcs between chosen vertices must each have at least </a:t>
                </a:r>
                <a:r>
                  <a:rPr lang="en-IN" sz="2400">
                    <a:solidFill>
                      <a:srgbClr val="78350F"/>
                    </a:solidFill>
                    <a:latin typeface="Cambria Math" panose="02040503050406030204" pitchFamily="18" charset="0"/>
                  </a:rPr>
                  <a:t>$2$</a:t>
                </a:r>
                <a:r>
                  <a:rPr sz="2400" b="0">
                    <a:solidFill>
                      <a:srgbClr val="78350F"/>
                    </a:solidFill>
                    <a:latin typeface="Arial"/>
                  </a:rPr>
                  <a:t> edges.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arcs (numbers of octagon edges) between consecutive chosen vertices be </a:t>
                </a:r>
                <a14:m>
                  <m:oMath xmlns:m="http://schemas.openxmlformats.org/officeDocument/2006/math">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solutions (as ordered arcs starting from a marked vertex).</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arcs (numbers of octagon edges) between consecutive chosen vertices be </a:t>
                </a:r>
                <a:r>
                  <a:rPr lang="en-IN" sz="2400">
                    <a:solidFill>
                      <a:srgbClr val="111827"/>
                    </a:solidFill>
                    <a:latin typeface="Cambria Math" panose="02040503050406030204" pitchFamily="18" charset="0"/>
                  </a:rPr>
                  <a:t>$g_1,g_2,g_3\ge2$</a:t>
                </a:r>
                <a:r>
                  <a:rPr sz="2400" b="0">
                    <a:solidFill>
                      <a:srgbClr val="111827"/>
                    </a:solidFill>
                    <a:latin typeface="Arial"/>
                  </a:rPr>
                  <a:t> with </a:t>
                </a:r>
                <a:r>
                  <a:rPr lang="en-IN" sz="2400">
                    <a:solidFill>
                      <a:srgbClr val="111827"/>
                    </a:solidFill>
                    <a:latin typeface="Cambria Math" panose="02040503050406030204" pitchFamily="18" charset="0"/>
                  </a:rPr>
                  <a:t>$g_1+g_2+g_3=8$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$g_i=2+h_i$</a:t>
                </a:r>
                <a:r>
                  <a:rPr sz="2400" b="0">
                    <a:solidFill>
                      <a:srgbClr val="111827"/>
                    </a:solidFill>
                    <a:latin typeface="Arial"/>
                  </a:rPr>
                  <a:t>: </a:t>
                </a:r>
                <a:r>
                  <a:rPr lang="en-IN" sz="2400">
                    <a:solidFill>
                      <a:srgbClr val="111827"/>
                    </a:solidFill>
                    <a:latin typeface="Cambria Math" panose="02040503050406030204" pitchFamily="18" charset="0"/>
                  </a:rPr>
                  <a:t>$h_1+h_2+h_3=2$</a:t>
                </a:r>
                <a:r>
                  <a:rPr sz="2400" b="0">
                    <a:solidFill>
                      <a:srgbClr val="111827"/>
                    </a:solidFill>
                    <a:latin typeface="Arial"/>
                  </a:rPr>
                  <a:t> has </a:t>
                </a:r>
                <a:r>
                  <a:rPr lang="en-IN" sz="2400">
                    <a:solidFill>
                      <a:srgbClr val="111827"/>
                    </a:solidFill>
                    <a:latin typeface="Cambria Math" panose="02040503050406030204" pitchFamily="18" charset="0"/>
                  </a:rPr>
                  <a:t>${}^4C_2=6$</a:t>
                </a:r>
                <a:r>
                  <a:rPr sz="2400" b="0">
                    <a:solidFill>
                      <a:srgbClr val="111827"/>
                    </a:solidFill>
                    <a:latin typeface="Arial"/>
                  </a:rPr>
                  <a:t> solutions (as ordered arcs starting from a marked vertex).</a:t>
                </a:r>
                <a:endParaRPr sz="2400">
                  <a:solidFill>
                    <a:srgbClr val="111827"/>
                  </a:solidFill>
                </a:endParaRPr>
              </a:p>
            </p:txBody>
          </p:sp>
        </mc:Fallback>
      </mc:AlternateContent>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Marking a vertex of the triangle among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positions: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marked triangles; each triangle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marked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Marking a vertex of the triangle among </a:t>
                </a:r>
                <a:r>
                  <a:rPr lang="en-IN" sz="2400">
                    <a:solidFill>
                      <a:srgbClr val="111827"/>
                    </a:solidFill>
                    <a:latin typeface="Cambria Math" panose="02040503050406030204" pitchFamily="18" charset="0"/>
                  </a:rPr>
                  <a:t>$8$</a:t>
                </a:r>
                <a:r>
                  <a:rPr sz="2400" b="0">
                    <a:solidFill>
                      <a:srgbClr val="111827"/>
                    </a:solidFill>
                    <a:latin typeface="Arial"/>
                  </a:rPr>
                  <a:t> positions: </a:t>
                </a:r>
                <a:r>
                  <a:rPr lang="en-IN" sz="2400">
                    <a:solidFill>
                      <a:srgbClr val="111827"/>
                    </a:solidFill>
                    <a:latin typeface="Cambria Math" panose="02040503050406030204" pitchFamily="18" charset="0"/>
                  </a:rPr>
                  <a:t>$8\times6=48$</a:t>
                </a:r>
                <a:r>
                  <a:rPr sz="2400" b="0">
                    <a:solidFill>
                      <a:srgbClr val="111827"/>
                    </a:solidFill>
                    <a:latin typeface="Arial"/>
                  </a:rPr>
                  <a:t> marked triangles; each triangle has </a:t>
                </a:r>
                <a:r>
                  <a:rPr lang="en-IN" sz="2400">
                    <a:solidFill>
                      <a:srgbClr val="111827"/>
                    </a:solidFill>
                    <a:latin typeface="Cambria Math" panose="02040503050406030204" pitchFamily="18" charset="0"/>
                  </a:rPr>
                  <a:t>$3$</a:t>
                </a:r>
                <a:r>
                  <a:rPr sz="2400" b="0">
                    <a:solidFill>
                      <a:srgbClr val="111827"/>
                    </a:solidFill>
                    <a:latin typeface="Arial"/>
                  </a:rPr>
                  <a:t> marked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a:t>
                </a:r>
                <a:r>
                  <a:rPr lang="en-IN" sz="2400">
                    <a:solidFill>
                      <a:srgbClr val="111827"/>
                    </a:solidFill>
                    <a:latin typeface="Cambria Math" panose="02040503050406030204" pitchFamily="18" charset="0"/>
                  </a:rPr>
                  <a:t>$=\frac{48}{3}=16$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16</a:t>
            </a:r>
            <a:endParaRPr sz="2800">
              <a:solidFill>
                <a:srgbClr val="15803D"/>
              </a:solidFill>
            </a:endParaRP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non-adjacent vertices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from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with no polygon side: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 count starts from a chosen 'first' object, divide by the number of objects in the final configuration that could have been first.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$k$</a:t>
                </a:r>
                <a:r>
                  <a:rPr sz="2400" b="0">
                    <a:solidFill>
                      <a:srgbClr val="111827"/>
                    </a:solidFill>
                    <a:latin typeface="Arial"/>
                  </a:rPr>
                  <a:t> non-adjacent vertices of an </a:t>
                </a:r>
                <a:r>
                  <a:rPr lang="en-IN" sz="2400">
                    <a:solidFill>
                      <a:srgbClr val="111827"/>
                    </a:solidFill>
                    <a:latin typeface="Cambria Math" panose="02040503050406030204" pitchFamily="18" charset="0"/>
                  </a:rPr>
                  <a:t>$n$</a:t>
                </a:r>
                <a:r>
                  <a:rPr sz="2400" b="0">
                    <a:solidFill>
                      <a:srgbClr val="111827"/>
                    </a:solidFill>
                    <a:latin typeface="Arial"/>
                  </a:rPr>
                  <a:t>-gon: </a:t>
                </a:r>
                <a:r>
                  <a:rPr lang="en-IN" sz="2400">
                    <a:solidFill>
                      <a:srgbClr val="111827"/>
                    </a:solidFill>
                    <a:latin typeface="Cambria Math" panose="02040503050406030204" pitchFamily="18" charset="0"/>
                  </a:rPr>
                  <a:t>$\frac{n}{n-k}\binom{n-k}{k}$</a:t>
                </a:r>
                <a:r>
                  <a:rPr sz="2400" b="0">
                    <a:solidFill>
                      <a:srgbClr val="111827"/>
                    </a:solidFill>
                    <a:latin typeface="Arial"/>
                  </a:rPr>
                  <a:t>; here </a:t>
                </a:r>
                <a:r>
                  <a:rPr lang="en-IN" sz="2400">
                    <a:solidFill>
                      <a:srgbClr val="111827"/>
                    </a:solidFill>
                    <a:latin typeface="Cambria Math" panose="02040503050406030204" pitchFamily="18" charset="0"/>
                  </a:rPr>
                  <a:t>$\frac{8}{5}\binom53=16$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from an </a:t>
                </a:r>
                <a:r>
                  <a:rPr lang="en-IN" sz="2400">
                    <a:solidFill>
                      <a:srgbClr val="111827"/>
                    </a:solidFill>
                    <a:latin typeface="Cambria Math" panose="02040503050406030204" pitchFamily="18" charset="0"/>
                  </a:rPr>
                  <a:t>$n$</a:t>
                </a:r>
                <a:r>
                  <a:rPr sz="2400" b="0">
                    <a:solidFill>
                      <a:srgbClr val="111827"/>
                    </a:solidFill>
                    <a:latin typeface="Arial"/>
                  </a:rPr>
                  <a:t>-gon with no polygon side: </a:t>
                </a:r>
                <a:r>
                  <a:rPr lang="en-IN" sz="2400">
                    <a:solidFill>
                      <a:srgbClr val="111827"/>
                    </a:solidFill>
                    <a:latin typeface="Cambria Math" panose="02040503050406030204" pitchFamily="18" charset="0"/>
                  </a:rPr>
                  <a:t>$\frac{n(n-4)(n-5)}{6}$</a:t>
                </a:r>
                <a:r>
                  <a:rPr sz="2400" b="0">
                    <a:solidFill>
                      <a:srgbClr val="111827"/>
                    </a:solidFill>
                    <a:latin typeface="Arial"/>
                  </a:rPr>
                  <a:t>; for </a:t>
                </a:r>
                <a:r>
                  <a:rPr lang="en-IN" sz="2400">
                    <a:solidFill>
                      <a:srgbClr val="111827"/>
                    </a:solidFill>
                    <a:latin typeface="Cambria Math" panose="02040503050406030204" pitchFamily="18" charset="0"/>
                  </a:rPr>
                  <a:t>$n=8$</a:t>
                </a:r>
                <a:r>
                  <a:rPr sz="2400" b="0">
                    <a:solidFill>
                      <a:srgbClr val="111827"/>
                    </a:solidFill>
                    <a:latin typeface="Arial"/>
                  </a:rPr>
                  <a:t>: </a:t>
                </a:r>
                <a:r>
                  <a:rPr lang="en-IN" sz="2400">
                    <a:solidFill>
                      <a:srgbClr val="111827"/>
                    </a:solidFill>
                    <a:latin typeface="Cambria Math" panose="02040503050406030204" pitchFamily="18" charset="0"/>
                  </a:rPr>
                  <a:t>$\frac{8\cdot4\cdot3}{6}=16$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 count starts from a chosen 'first' object, divide by the number of objects in the final configuration that could have been first.</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words with or without meaning made using all the letters of the word “NAGPUR” are arranged as in a dictionary, then the word at </a:t>
                </a:r>
                <a14:m>
                  <m:oMath xmlns:m="http://schemas.openxmlformats.org/officeDocument/2006/math">
                    <m:sSup>
                      <m:e>
                        <m:r>
                          <a:rPr lang="en-IN" sz="2400" i="1">
                            <a:solidFill>
                              <a:srgbClr val="111827"/>
                            </a:solidFill>
                            <a:latin typeface="Cambria Math" panose="02040503050406030204" pitchFamily="18" charset="0"/>
                          </a:rPr>
                          <m:t>315</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position in this arrangement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NRAGUP   (B) NRAPUG   (C) NRAGPU   (D) NRAPGU</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all the words with or without meaning made using all the letters of the word “NAGPUR” are arranged as in a dictionary, then the word at </a:t>
                </a:r>
                <a:r>
                  <a:rPr lang="en-IN" sz="2400">
                    <a:solidFill>
                      <a:srgbClr val="111827"/>
                    </a:solidFill>
                    <a:latin typeface="Cambria Math" panose="02040503050406030204" pitchFamily="18" charset="0"/>
                  </a:rPr>
                  <a:t>$315^{\text{th}}$</a:t>
                </a:r>
                <a:r>
                  <a:rPr sz="2400" b="0">
                    <a:solidFill>
                      <a:srgbClr val="111827"/>
                    </a:solidFill>
                    <a:latin typeface="Arial"/>
                  </a:rPr>
                  <a:t> position in this arrangement is: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NRAGUP   (B) NRAPUG   (C) NRAGPU   (D) NRAPGU</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Finding the word at a given position in dictionary order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block sizes of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315</m:t>
                    </m:r>
                  </m:oMath>
                </a14:m>
                <a:r>
                  <a:rPr sz="2400" b="0">
                    <a:solidFill>
                      <a:srgbClr val="78350F"/>
                    </a:solidFill>
                    <a:latin typeface="Arial"/>
                  </a:rPr>
                  <a:t> to find the letter at each place.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block sizes of </a:t>
                </a:r>
                <a:r>
                  <a:rPr lang="en-IN" sz="2400">
                    <a:solidFill>
                      <a:srgbClr val="78350F"/>
                    </a:solidFill>
                    <a:latin typeface="Cambria Math" panose="02040503050406030204" pitchFamily="18" charset="0"/>
                  </a:rPr>
                  <a:t>$5!$</a:t>
                </a:r>
                <a:r>
                  <a:rPr sz="2400" b="0">
                    <a:solidFill>
                      <a:srgbClr val="78350F"/>
                    </a:solidFill>
                    <a:latin typeface="Arial"/>
                  </a:rPr>
                  <a:t>, </a:t>
                </a:r>
                <a:r>
                  <a:rPr lang="en-IN" sz="2400">
                    <a:solidFill>
                      <a:srgbClr val="78350F"/>
                    </a:solidFill>
                    <a:latin typeface="Cambria Math" panose="02040503050406030204" pitchFamily="18" charset="0"/>
                  </a:rPr>
                  <a:t>$4!$</a:t>
                </a:r>
                <a:r>
                  <a:rPr sz="2400" b="0">
                    <a:solidFill>
                      <a:srgbClr val="78350F"/>
                    </a:solidFill>
                    <a:latin typeface="Arial"/>
                  </a:rPr>
                  <a:t>, </a:t>
                </a:r>
                <a:r>
                  <a:rPr lang="en-IN" sz="2400">
                    <a:solidFill>
                      <a:srgbClr val="78350F"/>
                    </a:solidFill>
                    <a:latin typeface="Cambria Math" panose="02040503050406030204" pitchFamily="18" charset="0"/>
                  </a:rPr>
                  <a:t>$3!,\dots$</a:t>
                </a:r>
                <a:r>
                  <a:rPr sz="2400" b="0">
                    <a:solidFill>
                      <a:srgbClr val="78350F"/>
                    </a:solidFill>
                    <a:latin typeface="Arial"/>
                  </a:rPr>
                  <a:t> from </a:t>
                </a:r>
                <a:r>
                  <a:rPr lang="en-IN" sz="2400">
                    <a:solidFill>
                      <a:srgbClr val="78350F"/>
                    </a:solidFill>
                    <a:latin typeface="Cambria Math" panose="02040503050406030204" pitchFamily="18" charset="0"/>
                  </a:rPr>
                  <a:t>$315$</a:t>
                </a:r>
                <a:r>
                  <a:rPr sz="2400" b="0">
                    <a:solidFill>
                      <a:srgbClr val="78350F"/>
                    </a:solidFill>
                    <a:latin typeface="Arial"/>
                  </a:rPr>
                  <a:t> to find the letter at each place.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Words starting with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Running total </a:t>
                </a:r>
                <a14:m>
                  <m:oMath xmlns:m="http://schemas.openxmlformats.org/officeDocument/2006/math">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the second letter in order is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Running total </a:t>
                </a:r>
                <a14:m>
                  <m:oMath xmlns:m="http://schemas.openxmlformats.org/officeDocument/2006/math">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Alphabetical order: </a:t>
                </a:r>
                <a:r>
                  <a:rPr lang="en-IN" sz="2400">
                    <a:solidFill>
                      <a:srgbClr val="111827"/>
                    </a:solidFill>
                    <a:latin typeface="Cambria Math" panose="02040503050406030204" pitchFamily="18" charset="0"/>
                  </a:rPr>
                  <a:t>$A,G,N,P,R,U$</a:t>
                </a:r>
                <a:r>
                  <a:rPr sz="2400" b="0">
                    <a:solidFill>
                      <a:srgbClr val="111827"/>
                    </a:solidFill>
                    <a:latin typeface="Arial"/>
                  </a:rPr>
                  <a:t>; total </a:t>
                </a:r>
                <a:r>
                  <a:rPr lang="en-IN" sz="2400">
                    <a:solidFill>
                      <a:srgbClr val="111827"/>
                    </a:solidFill>
                    <a:latin typeface="Cambria Math" panose="02040503050406030204" pitchFamily="18" charset="0"/>
                  </a:rPr>
                  <a:t>$6!=720$</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 Words starting with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$5!=120$</a:t>
                </a:r>
                <a:r>
                  <a:rPr sz="2400" b="0">
                    <a:solidFill>
                      <a:srgbClr val="111827"/>
                    </a:solidFill>
                    <a:latin typeface="Arial"/>
                  </a:rPr>
                  <a:t>. Running total </a:t>
                </a:r>
                <a:r>
                  <a:rPr lang="en-IN" sz="2400">
                    <a:solidFill>
                      <a:srgbClr val="111827"/>
                    </a:solidFill>
                    <a:latin typeface="Cambria Math" panose="02040503050406030204" pitchFamily="18" charset="0"/>
                  </a:rPr>
                  <a:t>$240$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starting with </a:t>
                </a:r>
                <a:r>
                  <a:rPr lang="en-IN" sz="2400">
                    <a:solidFill>
                      <a:srgbClr val="111827"/>
                    </a:solidFill>
                    <a:latin typeface="Cambria Math" panose="02040503050406030204" pitchFamily="18" charset="0"/>
                  </a:rPr>
                  <a:t>$N$</a:t>
                </a:r>
                <a:r>
                  <a:rPr sz="2400" b="0">
                    <a:solidFill>
                      <a:srgbClr val="111827"/>
                    </a:solidFill>
                    <a:latin typeface="Arial"/>
                  </a:rPr>
                  <a:t>: the second letter in order is </a:t>
                </a:r>
                <a:r>
                  <a:rPr lang="en-IN" sz="2400">
                    <a:solidFill>
                      <a:srgbClr val="111827"/>
                    </a:solidFill>
                    <a:latin typeface="Cambria Math" panose="02040503050406030204" pitchFamily="18" charset="0"/>
                  </a:rPr>
                  <a:t>$A,G,P,R,U$</a:t>
                </a:r>
                <a:r>
                  <a:rPr sz="2400" b="0">
                    <a:solidFill>
                      <a:srgbClr val="111827"/>
                    </a:solidFill>
                    <a:latin typeface="Arial"/>
                  </a:rPr>
                  <a:t>. </a:t>
                </a:r>
                <a:r>
                  <a:rPr lang="en-IN" sz="2400">
                    <a:solidFill>
                      <a:srgbClr val="111827"/>
                    </a:solidFill>
                    <a:latin typeface="Cambria Math" panose="02040503050406030204" pitchFamily="18" charset="0"/>
                  </a:rPr>
                  <a:t>$NA\ldots$</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 </a:t>
                </a:r>
                <a:r>
                  <a:rPr lang="en-IN" sz="2400">
                    <a:solidFill>
                      <a:srgbClr val="111827"/>
                    </a:solidFill>
                    <a:latin typeface="Cambria Math" panose="02040503050406030204" pitchFamily="18" charset="0"/>
                  </a:rPr>
                  <a:t>$NG\ldots$</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$NP\ldots$</a:t>
                </a:r>
                <a:r>
                  <a:rPr sz="2400" b="0">
                    <a:solidFill>
                      <a:srgbClr val="111827"/>
                    </a:solidFill>
                    <a:latin typeface="Arial"/>
                  </a:rPr>
                  <a:t>: </a:t>
                </a:r>
                <a:r>
                  <a:rPr lang="en-IN" sz="2400">
                    <a:solidFill>
                      <a:srgbClr val="111827"/>
                    </a:solidFill>
                    <a:latin typeface="Cambria Math" panose="02040503050406030204" pitchFamily="18" charset="0"/>
                  </a:rPr>
                  <a:t>$24$</a:t>
                </a:r>
                <a:r>
                  <a:rPr sz="2400" b="0">
                    <a:solidFill>
                      <a:srgbClr val="111827"/>
                    </a:solidFill>
                    <a:latin typeface="Arial"/>
                  </a:rPr>
                  <a:t>. Running total </a:t>
                </a:r>
                <a:r>
                  <a:rPr lang="en-IN" sz="2400">
                    <a:solidFill>
                      <a:srgbClr val="111827"/>
                    </a:solidFill>
                    <a:latin typeface="Cambria Math" panose="02040503050406030204" pitchFamily="18" charset="0"/>
                  </a:rPr>
                  <a:t>$240+72=312$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next block is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words begin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𝑈</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313</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314</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𝑈</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315</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315</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word is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𝑈</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next block is </a:t>
                </a:r>
                <a:r>
                  <a:rPr lang="en-IN" sz="2400">
                    <a:solidFill>
                      <a:srgbClr val="111827"/>
                    </a:solidFill>
                    <a:latin typeface="Cambria Math" panose="02040503050406030204" pitchFamily="18" charset="0"/>
                  </a:rPr>
                  <a:t>$NR\ldots$</a:t>
                </a:r>
                <a:r>
                  <a:rPr sz="2400" b="0">
                    <a:solidFill>
                      <a:srgbClr val="111827"/>
                    </a:solidFill>
                    <a:latin typeface="Arial"/>
                  </a:rPr>
                  <a:t>; its words begin </a:t>
                </a:r>
                <a:r>
                  <a:rPr lang="en-IN" sz="2400">
                    <a:solidFill>
                      <a:srgbClr val="111827"/>
                    </a:solidFill>
                    <a:latin typeface="Cambria Math" panose="02040503050406030204" pitchFamily="18" charset="0"/>
                  </a:rPr>
                  <a:t>$NRAGPU$</a:t>
                </a:r>
                <a:r>
                  <a:rPr sz="2400" b="0">
                    <a:solidFill>
                      <a:srgbClr val="111827"/>
                    </a:solidFill>
                    <a:latin typeface="Arial"/>
                  </a:rPr>
                  <a:t> (</a:t>
                </a:r>
                <a:r>
                  <a:rPr lang="en-IN" sz="2400">
                    <a:solidFill>
                      <a:srgbClr val="111827"/>
                    </a:solidFill>
                    <a:latin typeface="Cambria Math" panose="02040503050406030204" pitchFamily="18" charset="0"/>
                  </a:rPr>
                  <a:t>$313^{\text{th}}$</a:t>
                </a:r>
                <a:r>
                  <a:rPr sz="2400" b="0">
                    <a:solidFill>
                      <a:srgbClr val="111827"/>
                    </a:solidFill>
                    <a:latin typeface="Arial"/>
                  </a:rPr>
                  <a:t>), </a:t>
                </a:r>
                <a:r>
                  <a:rPr lang="en-IN" sz="2400">
                    <a:solidFill>
                      <a:srgbClr val="111827"/>
                    </a:solidFill>
                    <a:latin typeface="Cambria Math" panose="02040503050406030204" pitchFamily="18" charset="0"/>
                  </a:rPr>
                  <a:t>$NRAGUP$</a:t>
                </a:r>
                <a:r>
                  <a:rPr sz="2400" b="0">
                    <a:solidFill>
                      <a:srgbClr val="111827"/>
                    </a:solidFill>
                    <a:latin typeface="Arial"/>
                  </a:rPr>
                  <a:t> (</a:t>
                </a:r>
                <a:r>
                  <a:rPr lang="en-IN" sz="2400">
                    <a:solidFill>
                      <a:srgbClr val="111827"/>
                    </a:solidFill>
                    <a:latin typeface="Cambria Math" panose="02040503050406030204" pitchFamily="18" charset="0"/>
                  </a:rPr>
                  <a:t>$314^{\text{th}}$</a:t>
                </a:r>
                <a:r>
                  <a:rPr sz="2400" b="0">
                    <a:solidFill>
                      <a:srgbClr val="111827"/>
                    </a:solidFill>
                    <a:latin typeface="Arial"/>
                  </a:rPr>
                  <a:t>), </a:t>
                </a:r>
                <a:r>
                  <a:rPr lang="en-IN" sz="2400">
                    <a:solidFill>
                      <a:srgbClr val="111827"/>
                    </a:solidFill>
                    <a:latin typeface="Cambria Math" panose="02040503050406030204" pitchFamily="18" charset="0"/>
                  </a:rPr>
                  <a:t>$NRAPGU$</a:t>
                </a:r>
                <a:r>
                  <a:rPr sz="2400" b="0">
                    <a:solidFill>
                      <a:srgbClr val="111827"/>
                    </a:solidFill>
                    <a:latin typeface="Arial"/>
                  </a:rPr>
                  <a:t> (</a:t>
                </a:r>
                <a:r>
                  <a:rPr lang="en-IN" sz="2400">
                    <a:solidFill>
                      <a:srgbClr val="111827"/>
                    </a:solidFill>
                    <a:latin typeface="Cambria Math" panose="02040503050406030204" pitchFamily="18" charset="0"/>
                  </a:rPr>
                  <a:t>$315^{\text{th}}$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$315^{\text{th}}$</a:t>
                </a:r>
                <a:r>
                  <a:rPr sz="2400" b="0">
                    <a:solidFill>
                      <a:srgbClr val="111827"/>
                    </a:solidFill>
                    <a:latin typeface="Arial"/>
                  </a:rPr>
                  <a:t> word is </a:t>
                </a:r>
                <a:r>
                  <a:rPr lang="en-IN" sz="2400">
                    <a:solidFill>
                      <a:srgbClr val="111827"/>
                    </a:solidFill>
                    <a:latin typeface="Cambria Math" panose="02040503050406030204" pitchFamily="18" charset="0"/>
                  </a:rPr>
                  <a:t>$NRAPGU$</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NRAPGU</a:t>
            </a:r>
            <a:endParaRPr sz="2800">
              <a:solidFill>
                <a:srgbClr val="15803D"/>
              </a:solidFill>
            </a:endParaRP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Factorial number system: write </a:t>
                </a:r>
                <a14:m>
                  <m:oMath xmlns:m="http://schemas.openxmlformats.org/officeDocument/2006/math">
                    <m:r>
                      <a:rPr lang="en-IN" sz="2400" i="1">
                        <a:solidFill>
                          <a:srgbClr val="78350F"/>
                        </a:solidFill>
                        <a:latin typeface="Cambria Math" panose="02040503050406030204" pitchFamily="18" charset="0"/>
                      </a:rPr>
                      <m:t>315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314</m:t>
                    </m:r>
                  </m:oMath>
                </a14:m>
                <a:r>
                  <a:rPr sz="2400" b="0">
                    <a:solidFill>
                      <a:srgbClr val="78350F"/>
                    </a:solidFill>
                    <a:latin typeface="Arial"/>
                  </a:rPr>
                  <a:t> in the digits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read letters by their index.</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Factorial number system: write </a:t>
                </a:r>
                <a:r>
                  <a:rPr lang="en-IN" sz="2400">
                    <a:solidFill>
                      <a:srgbClr val="78350F"/>
                    </a:solidFill>
                    <a:latin typeface="Cambria Math" panose="02040503050406030204" pitchFamily="18" charset="0"/>
                  </a:rPr>
                  <a:t>$315-1=314$</a:t>
                </a:r>
                <a:r>
                  <a:rPr sz="2400" b="0">
                    <a:solidFill>
                      <a:srgbClr val="78350F"/>
                    </a:solidFill>
                    <a:latin typeface="Arial"/>
                  </a:rPr>
                  <a:t> in the digits </a:t>
                </a:r>
                <a:r>
                  <a:rPr lang="en-IN" sz="2400">
                    <a:solidFill>
                      <a:srgbClr val="78350F"/>
                    </a:solidFill>
                    <a:latin typeface="Cambria Math" panose="02040503050406030204" pitchFamily="18" charset="0"/>
                  </a:rPr>
                  <a:t>$5!,4!,3!,2!,1!$</a:t>
                </a:r>
                <a:r>
                  <a:rPr sz="2400" b="0">
                    <a:solidFill>
                      <a:srgbClr val="78350F"/>
                    </a:solidFill>
                    <a:latin typeface="Arial"/>
                  </a:rPr>
                  <a:t> and read letters by their index.</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digits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for the last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Sorted letters with indices: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a:rPr lang="en-IN" sz="2400" i="1">
                        <a:solidFill>
                          <a:srgbClr val="111827"/>
                        </a:solidFill>
                        <a:latin typeface="Cambria Math" panose="02040503050406030204" pitchFamily="18" charset="0"/>
                      </a:rPr>
                      <m:t>5</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Remaining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Remaining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oMath>
                </a14:m>
                <a:r>
                  <a:rPr sz="2400" b="0">
                    <a:solidFill>
                      <a:srgbClr val="111827"/>
                    </a:solidFill>
                    <a:latin typeface="Arial"/>
                  </a:rPr>
                  <a:t>: digit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oMath>
                </a14:m>
                <a:r>
                  <a:rPr sz="2400" b="0">
                    <a:solidFill>
                      <a:srgbClr val="111827"/>
                    </a:solidFill>
                    <a:latin typeface="Arial"/>
                  </a:rPr>
                  <a:t>; last letter </a:t>
                </a:r>
                <a14:m>
                  <m:oMath xmlns:m="http://schemas.openxmlformats.org/officeDocument/2006/math">
                    <m:r>
                      <a:rPr lang="en-IN" sz="2400" i="1">
                        <a:solidFill>
                          <a:srgbClr val="111827"/>
                        </a:solidFill>
                        <a:latin typeface="Cambria Math" panose="02040503050406030204" pitchFamily="18" charset="0"/>
                      </a:rPr>
                      <m:t>𝑈</m:t>
                    </m:r>
                  </m:oMath>
                </a14:m>
                <a:r>
                  <a:rPr sz="2400" b="0">
                    <a:solidFill>
                      <a:srgbClr val="111827"/>
                    </a:solidFill>
                    <a:latin typeface="Arial"/>
                  </a:rPr>
                  <a:t>. The word is </a:t>
                </a:r>
                <a14:m>
                  <m:oMath xmlns:m="http://schemas.openxmlformats.org/officeDocument/2006/math">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𝑈</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$314=2\cdot120+3\cdot24+0\cdot6+1\cdot2+0\cdot1$</a:t>
                </a:r>
                <a:r>
                  <a:rPr sz="2400" b="0">
                    <a:solidFill>
                      <a:srgbClr val="111827"/>
                    </a:solidFill>
                    <a:latin typeface="Arial"/>
                  </a:rPr>
                  <a:t>, so the digits are </a:t>
                </a:r>
                <a:r>
                  <a:rPr lang="en-IN" sz="2400">
                    <a:solidFill>
                      <a:srgbClr val="111827"/>
                    </a:solidFill>
                    <a:latin typeface="Cambria Math" panose="02040503050406030204" pitchFamily="18" charset="0"/>
                  </a:rPr>
                  <a:t>$2,3,0,1,0$</a:t>
                </a:r>
                <a:r>
                  <a:rPr sz="2400" b="0">
                    <a:solidFill>
                      <a:srgbClr val="111827"/>
                    </a:solidFill>
                    <a:latin typeface="Arial"/>
                  </a:rPr>
                  <a:t> (and </a:t>
                </a:r>
                <a:r>
                  <a:rPr lang="en-IN" sz="2400">
                    <a:solidFill>
                      <a:srgbClr val="111827"/>
                    </a:solidFill>
                    <a:latin typeface="Cambria Math" panose="02040503050406030204" pitchFamily="18" charset="0"/>
                  </a:rPr>
                  <a:t>$0$</a:t>
                </a:r>
                <a:r>
                  <a:rPr sz="2400" b="0">
                    <a:solidFill>
                      <a:srgbClr val="111827"/>
                    </a:solidFill>
                    <a:latin typeface="Arial"/>
                  </a:rPr>
                  <a:t> for the last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Sorted letters with indices: </a:t>
                </a:r>
                <a:r>
                  <a:rPr lang="en-IN" sz="2400">
                    <a:solidFill>
                      <a:srgbClr val="111827"/>
                    </a:solidFill>
                    <a:latin typeface="Cambria Math" panose="02040503050406030204" pitchFamily="18" charset="0"/>
                  </a:rPr>
                  <a:t>$A0,G1,N2,P3,R4,U5$</a:t>
                </a:r>
                <a:r>
                  <a:rPr sz="2400" b="0">
                    <a:solidFill>
                      <a:srgbClr val="111827"/>
                    </a:solidFill>
                    <a:latin typeface="Arial"/>
                  </a:rPr>
                  <a:t>. Digit </a:t>
                </a:r>
                <a:r>
                  <a:rPr lang="en-IN" sz="2400">
                    <a:solidFill>
                      <a:srgbClr val="111827"/>
                    </a:solidFill>
                    <a:latin typeface="Cambria Math" panose="02040503050406030204" pitchFamily="18" charset="0"/>
                  </a:rPr>
                  <a:t>$2\to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a:t>
                </a:r>
                <a:r>
                  <a:rPr lang="en-IN" sz="2400">
                    <a:solidFill>
                      <a:srgbClr val="111827"/>
                    </a:solidFill>
                    <a:latin typeface="Cambria Math" panose="02040503050406030204" pitchFamily="18" charset="0"/>
                  </a:rPr>
                  <a:t>$A,G,P,R,U$</a:t>
                </a:r>
                <a:r>
                  <a:rPr sz="2400" b="0">
                    <a:solidFill>
                      <a:srgbClr val="111827"/>
                    </a:solidFill>
                    <a:latin typeface="Arial"/>
                  </a:rPr>
                  <a:t>: digit </a:t>
                </a:r>
                <a:r>
                  <a:rPr lang="en-IN" sz="2400">
                    <a:solidFill>
                      <a:srgbClr val="111827"/>
                    </a:solidFill>
                    <a:latin typeface="Cambria Math" panose="02040503050406030204" pitchFamily="18" charset="0"/>
                  </a:rPr>
                  <a:t>$3\to R$</a:t>
                </a:r>
                <a:r>
                  <a:rPr sz="2400" b="0">
                    <a:solidFill>
                      <a:srgbClr val="111827"/>
                    </a:solidFill>
                    <a:latin typeface="Arial"/>
                  </a:rPr>
                  <a:t>. Remaining </a:t>
                </a:r>
                <a:r>
                  <a:rPr lang="en-IN" sz="2400">
                    <a:solidFill>
                      <a:srgbClr val="111827"/>
                    </a:solidFill>
                    <a:latin typeface="Cambria Math" panose="02040503050406030204" pitchFamily="18" charset="0"/>
                  </a:rPr>
                  <a:t>$A,G,P,U$</a:t>
                </a:r>
                <a:r>
                  <a:rPr sz="2400" b="0">
                    <a:solidFill>
                      <a:srgbClr val="111827"/>
                    </a:solidFill>
                    <a:latin typeface="Arial"/>
                  </a:rPr>
                  <a:t>: digit </a:t>
                </a:r>
                <a:r>
                  <a:rPr lang="en-IN" sz="2400">
                    <a:solidFill>
                      <a:srgbClr val="111827"/>
                    </a:solidFill>
                    <a:latin typeface="Cambria Math" panose="02040503050406030204" pitchFamily="18" charset="0"/>
                  </a:rPr>
                  <a:t>$0\to A$</a:t>
                </a:r>
                <a:r>
                  <a:rPr sz="2400" b="0">
                    <a:solidFill>
                      <a:srgbClr val="111827"/>
                    </a:solidFill>
                    <a:latin typeface="Arial"/>
                  </a:rPr>
                  <a:t>. Remaining </a:t>
                </a:r>
                <a:r>
                  <a:rPr lang="en-IN" sz="2400">
                    <a:solidFill>
                      <a:srgbClr val="111827"/>
                    </a:solidFill>
                    <a:latin typeface="Cambria Math" panose="02040503050406030204" pitchFamily="18" charset="0"/>
                  </a:rPr>
                  <a:t>$G,P,U$</a:t>
                </a:r>
                <a:r>
                  <a:rPr sz="2400" b="0">
                    <a:solidFill>
                      <a:srgbClr val="111827"/>
                    </a:solidFill>
                    <a:latin typeface="Arial"/>
                  </a:rPr>
                  <a:t>: digit </a:t>
                </a:r>
                <a:r>
                  <a:rPr lang="en-IN" sz="2400">
                    <a:solidFill>
                      <a:srgbClr val="111827"/>
                    </a:solidFill>
                    <a:latin typeface="Cambria Math" panose="02040503050406030204" pitchFamily="18" charset="0"/>
                  </a:rPr>
                  <a:t>$1\to 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Remaining </a:t>
                </a:r>
                <a:r>
                  <a:rPr lang="en-IN" sz="2400">
                    <a:solidFill>
                      <a:srgbClr val="111827"/>
                    </a:solidFill>
                    <a:latin typeface="Cambria Math" panose="02040503050406030204" pitchFamily="18" charset="0"/>
                  </a:rPr>
                  <a:t>$G,U$</a:t>
                </a:r>
                <a:r>
                  <a:rPr sz="2400" b="0">
                    <a:solidFill>
                      <a:srgbClr val="111827"/>
                    </a:solidFill>
                    <a:latin typeface="Arial"/>
                  </a:rPr>
                  <a:t>: digit </a:t>
                </a:r>
                <a:r>
                  <a:rPr lang="en-IN" sz="2400">
                    <a:solidFill>
                      <a:srgbClr val="111827"/>
                    </a:solidFill>
                    <a:latin typeface="Cambria Math" panose="02040503050406030204" pitchFamily="18" charset="0"/>
                  </a:rPr>
                  <a:t>$0\to G$</a:t>
                </a:r>
                <a:r>
                  <a:rPr sz="2400" b="0">
                    <a:solidFill>
                      <a:srgbClr val="111827"/>
                    </a:solidFill>
                    <a:latin typeface="Arial"/>
                  </a:rPr>
                  <a:t>; last letter </a:t>
                </a:r>
                <a:r>
                  <a:rPr lang="en-IN" sz="2400">
                    <a:solidFill>
                      <a:srgbClr val="111827"/>
                    </a:solidFill>
                    <a:latin typeface="Cambria Math" panose="02040503050406030204" pitchFamily="18" charset="0"/>
                  </a:rPr>
                  <a:t>$U$</a:t>
                </a:r>
                <a:r>
                  <a:rPr sz="2400" b="0">
                    <a:solidFill>
                      <a:srgbClr val="111827"/>
                    </a:solidFill>
                    <a:latin typeface="Arial"/>
                  </a:rPr>
                  <a:t>. The word is </a:t>
                </a:r>
                <a:r>
                  <a:rPr lang="en-IN" sz="2400">
                    <a:solidFill>
                      <a:srgbClr val="111827"/>
                    </a:solidFill>
                    <a:latin typeface="Cambria Math" panose="02040503050406030204" pitchFamily="18" charset="0"/>
                  </a:rPr>
                  <a:t>$NRAPGU$</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NRAPGU</a:t>
            </a:r>
            <a:endParaRPr sz="2800">
              <a:solidFill>
                <a:srgbClr val="15803D"/>
              </a:solidFill>
            </a:endParaRP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word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letters: write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and take the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-th unused letter (counting from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place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 of rank: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same factorial-base number read from the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first and last words: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all zeros (alphabetical word);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the reverse.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$k$</a:t>
                </a:r>
                <a:r>
                  <a:rPr sz="2400" b="0">
                    <a:solidFill>
                      <a:srgbClr val="111827"/>
                    </a:solidFill>
                    <a:latin typeface="Arial"/>
                  </a:rPr>
                  <a:t>-th word of </a:t>
                </a:r>
                <a:r>
                  <a:rPr lang="en-IN" sz="2400">
                    <a:solidFill>
                      <a:srgbClr val="111827"/>
                    </a:solidFill>
                    <a:latin typeface="Cambria Math" panose="02040503050406030204" pitchFamily="18" charset="0"/>
                  </a:rPr>
                  <a:t>$n$</a:t>
                </a:r>
                <a:r>
                  <a:rPr sz="2400" b="0">
                    <a:solidFill>
                      <a:srgbClr val="111827"/>
                    </a:solidFill>
                    <a:latin typeface="Arial"/>
                  </a:rPr>
                  <a:t> distinct letters: write </a:t>
                </a:r>
                <a:r>
                  <a:rPr lang="en-IN" sz="2400">
                    <a:solidFill>
                      <a:srgbClr val="111827"/>
                    </a:solidFill>
                    <a:latin typeface="Cambria Math" panose="02040503050406030204" pitchFamily="18" charset="0"/>
                  </a:rPr>
                  <a:t>$k-1=\sum d_i\,(n-i)!$</a:t>
                </a:r>
                <a:r>
                  <a:rPr sz="2400" b="0">
                    <a:solidFill>
                      <a:srgbClr val="111827"/>
                    </a:solidFill>
                    <a:latin typeface="Arial"/>
                  </a:rPr>
                  <a:t> with </a:t>
                </a:r>
                <a:r>
                  <a:rPr lang="en-IN" sz="2400">
                    <a:solidFill>
                      <a:srgbClr val="111827"/>
                    </a:solidFill>
                    <a:latin typeface="Cambria Math" panose="02040503050406030204" pitchFamily="18" charset="0"/>
                  </a:rPr>
                  <a:t>$0\le d_i\le n-i$</a:t>
                </a:r>
                <a:r>
                  <a:rPr sz="2400" b="0">
                    <a:solidFill>
                      <a:srgbClr val="111827"/>
                    </a:solidFill>
                    <a:latin typeface="Arial"/>
                  </a:rPr>
                  <a:t> and take the </a:t>
                </a:r>
                <a:r>
                  <a:rPr lang="en-IN" sz="2400">
                    <a:solidFill>
                      <a:srgbClr val="111827"/>
                    </a:solidFill>
                    <a:latin typeface="Cambria Math" panose="02040503050406030204" pitchFamily="18" charset="0"/>
                  </a:rPr>
                  <a:t>$d_i$</a:t>
                </a:r>
                <a:r>
                  <a:rPr sz="2400" b="0">
                    <a:solidFill>
                      <a:srgbClr val="111827"/>
                    </a:solidFill>
                    <a:latin typeface="Arial"/>
                  </a:rPr>
                  <a:t>-th unused letter (counting from </a:t>
                </a:r>
                <a:r>
                  <a:rPr lang="en-IN" sz="2400">
                    <a:solidFill>
                      <a:srgbClr val="111827"/>
                    </a:solidFill>
                    <a:latin typeface="Cambria Math" panose="02040503050406030204" pitchFamily="18" charset="0"/>
                  </a:rPr>
                  <a:t>$0$</a:t>
                </a:r>
                <a:r>
                  <a:rPr sz="2400" b="0">
                    <a:solidFill>
                      <a:srgbClr val="111827"/>
                    </a:solidFill>
                    <a:latin typeface="Arial"/>
                  </a:rPr>
                  <a:t>) at place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 of rank: rank </a:t>
                </a:r>
                <a:r>
                  <a:rPr lang="en-IN" sz="2400">
                    <a:solidFill>
                      <a:srgbClr val="111827"/>
                    </a:solidFill>
                    <a:latin typeface="Cambria Math" panose="02040503050406030204" pitchFamily="18" charset="0"/>
                  </a:rPr>
                  <a:t>$-1$</a:t>
                </a:r>
                <a:r>
                  <a:rPr sz="2400" b="0">
                    <a:solidFill>
                      <a:srgbClr val="111827"/>
                    </a:solidFill>
                    <a:latin typeface="Arial"/>
                  </a:rPr>
                  <a:t> is the same factorial-base number read from the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first and last words: </a:t>
                </a:r>
                <a:r>
                  <a:rPr lang="en-IN" sz="2400">
                    <a:solidFill>
                      <a:srgbClr val="111827"/>
                    </a:solidFill>
                    <a:latin typeface="Cambria Math" panose="02040503050406030204" pitchFamily="18" charset="0"/>
                  </a:rPr>
                  <a:t>$k=1$</a:t>
                </a:r>
                <a:r>
                  <a:rPr sz="2400" b="0">
                    <a:solidFill>
                      <a:srgbClr val="111827"/>
                    </a:solidFill>
                    <a:latin typeface="Arial"/>
                  </a:rPr>
                  <a:t> gives all zeros (alphabetical word); </a:t>
                </a:r>
                <a:r>
                  <a:rPr lang="en-IN" sz="2400">
                    <a:solidFill>
                      <a:srgbClr val="111827"/>
                    </a:solidFill>
                    <a:latin typeface="Cambria Math" panose="02040503050406030204" pitchFamily="18" charset="0"/>
                  </a:rPr>
                  <a:t>$k=n!$</a:t>
                </a:r>
                <a:r>
                  <a:rPr sz="2400" b="0">
                    <a:solidFill>
                      <a:srgbClr val="111827"/>
                    </a:solidFill>
                    <a:latin typeface="Arial"/>
                  </a:rPr>
                  <a:t> gives the reverse.</a:t>
                </a:r>
                <a:endParaRPr sz="2400">
                  <a:solidFill>
                    <a:srgbClr val="111827"/>
                  </a:solidFill>
                </a:endParaRPr>
              </a:p>
            </p:txBody>
          </p:sp>
        </mc:Fallback>
      </mc:AlternateContent>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five alphabets can be chosen from the alphabets of the word MATHEMATICS, where the chosen alphabets are not necessarily distinct,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177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179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175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five alphabets can be chosen from the alphabets of the word MATHEMATICS, where the chosen alphabets are not necessarily distinct, is equal to: [JEE(Main) April 2024]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$181$</a:t>
                </a:r>
                <a:r>
                  <a:rPr sz="2400" b="0">
                    <a:solidFill>
                      <a:srgbClr val="111827"/>
                    </a:solidFill>
                    <a:latin typeface="Arial"/>
                  </a:rPr>
                  <a:t>   (B) </a:t>
                </a:r>
                <a:r>
                  <a:rPr lang="en-IN" sz="2400">
                    <a:solidFill>
                      <a:srgbClr val="111827"/>
                    </a:solidFill>
                    <a:latin typeface="Cambria Math" panose="02040503050406030204" pitchFamily="18" charset="0"/>
                  </a:rPr>
                  <a:t>$177$</a:t>
                </a:r>
                <a:r>
                  <a:rPr sz="2400" b="0">
                    <a:solidFill>
                      <a:srgbClr val="111827"/>
                    </a:solidFill>
                    <a:latin typeface="Arial"/>
                  </a:rPr>
                  <a:t>   (C) </a:t>
                </a:r>
                <a:r>
                  <a:rPr lang="en-IN" sz="2400">
                    <a:solidFill>
                      <a:srgbClr val="111827"/>
                    </a:solidFill>
                    <a:latin typeface="Cambria Math" panose="02040503050406030204" pitchFamily="18" charset="0"/>
                  </a:rPr>
                  <a:t>$179$</a:t>
                </a:r>
                <a:r>
                  <a:rPr sz="2400" b="0">
                    <a:solidFill>
                      <a:srgbClr val="111827"/>
                    </a:solidFill>
                    <a:latin typeface="Arial"/>
                  </a:rPr>
                  <a:t>   (D) </a:t>
                </a:r>
                <a:r>
                  <a:rPr lang="en-IN" sz="2400">
                    <a:solidFill>
                      <a:srgbClr val="111827"/>
                    </a:solidFill>
                    <a:latin typeface="Cambria Math" panose="02040503050406030204" pitchFamily="18" charset="0"/>
                  </a:rPr>
                  <a:t>$175$</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from a multiset (letters of a word, not necessarily distinct)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by repetition pattern: five different, one pair plus three different, or two pairs plus one more.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MATHEMATICS has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different letters: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(each twice) and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(once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different: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letter taken twice (it must be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and three other different letters from the remaining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MATHEMATICS has </a:t>
                </a:r>
                <a:r>
                  <a:rPr lang="en-IN" sz="2400">
                    <a:solidFill>
                      <a:srgbClr val="111827"/>
                    </a:solidFill>
                    <a:latin typeface="Cambria Math" panose="02040503050406030204" pitchFamily="18" charset="0"/>
                  </a:rPr>
                  <a:t>$8$</a:t>
                </a:r>
                <a:r>
                  <a:rPr sz="2400" b="0">
                    <a:solidFill>
                      <a:srgbClr val="111827"/>
                    </a:solidFill>
                    <a:latin typeface="Arial"/>
                  </a:rPr>
                  <a:t> different letters: </a:t>
                </a:r>
                <a:r>
                  <a:rPr lang="en-IN" sz="2400">
                    <a:solidFill>
                      <a:srgbClr val="111827"/>
                    </a:solidFill>
                    <a:latin typeface="Cambria Math" panose="02040503050406030204" pitchFamily="18" charset="0"/>
                  </a:rPr>
                  <a:t>$M,A,T$</a:t>
                </a:r>
                <a:r>
                  <a:rPr sz="2400" b="0">
                    <a:solidFill>
                      <a:srgbClr val="111827"/>
                    </a:solidFill>
                    <a:latin typeface="Arial"/>
                  </a:rPr>
                  <a:t> (each twice) and </a:t>
                </a:r>
                <a:r>
                  <a:rPr lang="en-IN" sz="2400">
                    <a:solidFill>
                      <a:srgbClr val="111827"/>
                    </a:solidFill>
                    <a:latin typeface="Cambria Math" panose="02040503050406030204" pitchFamily="18" charset="0"/>
                  </a:rPr>
                  <a:t>$H,E,I,C,S$</a:t>
                </a:r>
                <a:r>
                  <a:rPr sz="2400" b="0">
                    <a:solidFill>
                      <a:srgbClr val="111827"/>
                    </a:solidFill>
                    <a:latin typeface="Arial"/>
                  </a:rPr>
                  <a:t> (once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different: </a:t>
                </a:r>
                <a:r>
                  <a:rPr lang="en-IN" sz="2400">
                    <a:solidFill>
                      <a:srgbClr val="111827"/>
                    </a:solidFill>
                    <a:latin typeface="Cambria Math" panose="02040503050406030204" pitchFamily="18" charset="0"/>
                  </a:rPr>
                  <a:t>${}^8C_5=56$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letter taken twice (it must be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$A$</a:t>
                </a:r>
                <a:r>
                  <a:rPr sz="2400" b="0">
                    <a:solidFill>
                      <a:srgbClr val="111827"/>
                    </a:solidFill>
                    <a:latin typeface="Arial"/>
                  </a:rPr>
                  <a:t> or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ways) and three other different letters from the remaining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${}^3C_1\times{}^7C_3=3\times35=105$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letters taken twice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ways) and one more letter from the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different letters: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letters taken twice (</a:t>
                </a:r>
                <a:r>
                  <a:rPr lang="en-IN" sz="2400">
                    <a:solidFill>
                      <a:srgbClr val="111827"/>
                    </a:solidFill>
                    <a:latin typeface="Cambria Math" panose="02040503050406030204" pitchFamily="18" charset="0"/>
                  </a:rPr>
                  <a:t>$\{M,A\},\{M,T\},\{A,T\}$</a:t>
                </a:r>
                <a:r>
                  <a:rPr sz="2400" b="0">
                    <a:solidFill>
                      <a:srgbClr val="111827"/>
                    </a:solidFill>
                    <a:latin typeface="Arial"/>
                  </a:rPr>
                  <a:t>: </a:t>
                </a:r>
                <a:r>
                  <a:rPr lang="en-IN" sz="2400">
                    <a:solidFill>
                      <a:srgbClr val="111827"/>
                    </a:solidFill>
                    <a:latin typeface="Cambria Math" panose="02040503050406030204" pitchFamily="18" charset="0"/>
                  </a:rPr>
                  <a:t>${}^3C_2=3$</a:t>
                </a:r>
                <a:r>
                  <a:rPr sz="2400" b="0">
                    <a:solidFill>
                      <a:srgbClr val="111827"/>
                    </a:solidFill>
                    <a:latin typeface="Arial"/>
                  </a:rPr>
                  <a:t> ways) and one more letter from the remaining </a:t>
                </a:r>
                <a:r>
                  <a:rPr lang="en-IN" sz="2400">
                    <a:solidFill>
                      <a:srgbClr val="111827"/>
                    </a:solidFill>
                    <a:latin typeface="Cambria Math" panose="02040503050406030204" pitchFamily="18" charset="0"/>
                  </a:rPr>
                  <a:t>$6$</a:t>
                </a:r>
                <a:r>
                  <a:rPr sz="2400" b="0">
                    <a:solidFill>
                      <a:srgbClr val="111827"/>
                    </a:solidFill>
                    <a:latin typeface="Arial"/>
                  </a:rPr>
                  <a:t> different letters: </a:t>
                </a:r>
                <a:r>
                  <a:rPr lang="en-IN" sz="2400">
                    <a:solidFill>
                      <a:srgbClr val="111827"/>
                    </a:solidFill>
                    <a:latin typeface="Cambria Math" panose="02040503050406030204" pitchFamily="18" charset="0"/>
                  </a:rPr>
                  <a:t>$3\times6=18$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$=56+105+18=179$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179</a:t>
            </a:r>
            <a:endParaRPr sz="2800">
              <a:solidFill>
                <a:srgbClr val="15803D"/>
              </a:solidFill>
            </a:endParaRP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letter contributes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up to its multiplicity; take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letter contributes </a:t>
                </a:r>
                <a:r>
                  <a:rPr lang="en-IN" sz="2400">
                    <a:solidFill>
                      <a:srgbClr val="78350F"/>
                    </a:solidFill>
                    <a:latin typeface="Cambria Math" panose="02040503050406030204" pitchFamily="18" charset="0"/>
                  </a:rPr>
                  <a:t>$(1+x+\cdots)$</a:t>
                </a:r>
                <a:r>
                  <a:rPr sz="2400" b="0">
                    <a:solidFill>
                      <a:srgbClr val="78350F"/>
                    </a:solidFill>
                    <a:latin typeface="Arial"/>
                  </a:rPr>
                  <a:t> up to its multiplicity; take the coefficient of </a:t>
                </a:r>
                <a:r>
                  <a:rPr lang="en-IN" sz="2400">
                    <a:solidFill>
                      <a:srgbClr val="78350F"/>
                    </a:solidFill>
                    <a:latin typeface="Cambria Math" panose="02040503050406030204" pitchFamily="18" charset="0"/>
                  </a:rPr>
                  <a:t>$x^5$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each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each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count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(pairing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a:t>
                </a:r>
                <a:r>
                  <a:rPr sz="2400" b="0">
                    <a:solidFill>
                      <a:srgbClr val="111827"/>
                    </a:solidFill>
                    <a:latin typeface="Arial"/>
                  </a:rPr>
                  <a:t> each give </a:t>
                </a:r>
                <a:r>
                  <a:rPr lang="en-IN" sz="2400">
                    <a:solidFill>
                      <a:srgbClr val="111827"/>
                    </a:solidFill>
                    <a:latin typeface="Cambria Math" panose="02040503050406030204" pitchFamily="18" charset="0"/>
                  </a:rPr>
                  <a:t>$(1+x+x^2)$</a:t>
                </a:r>
                <a:r>
                  <a:rPr sz="2400" b="0">
                    <a:solidFill>
                      <a:srgbClr val="111827"/>
                    </a:solidFill>
                    <a:latin typeface="Arial"/>
                  </a:rPr>
                  <a:t> and </a:t>
                </a:r>
                <a:r>
                  <a:rPr lang="en-IN" sz="2400">
                    <a:solidFill>
                      <a:srgbClr val="111827"/>
                    </a:solidFill>
                    <a:latin typeface="Cambria Math" panose="02040503050406030204" pitchFamily="18" charset="0"/>
                  </a:rPr>
                  <a:t>$H,E,I,C,S$</a:t>
                </a:r>
                <a:r>
                  <a:rPr sz="2400" b="0">
                    <a:solidFill>
                      <a:srgbClr val="111827"/>
                    </a:solidFill>
                    <a:latin typeface="Arial"/>
                  </a:rPr>
                  <a:t> each give </a:t>
                </a:r>
                <a:r>
                  <a:rPr lang="en-IN" sz="2400">
                    <a:solidFill>
                      <a:srgbClr val="111827"/>
                    </a:solidFill>
                    <a:latin typeface="Cambria Math" panose="02040503050406030204" pitchFamily="18" charset="0"/>
                  </a:rPr>
                  <a:t>$(1+x)$</a:t>
                </a:r>
                <a:r>
                  <a:rPr sz="2400" b="0">
                    <a:solidFill>
                      <a:srgbClr val="111827"/>
                    </a:solidFill>
                    <a:latin typeface="Arial"/>
                  </a:rPr>
                  <a:t>, so the count is the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$(1+x+x^2)^3(1+x)^5$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$(1+x+x^2)^3=1+3x+6x^2+7x^3+6x^4+3x^5+x^6$</a:t>
                </a:r>
                <a:r>
                  <a:rPr sz="2400" b="0">
                    <a:solidFill>
                      <a:srgbClr val="111827"/>
                    </a:solidFill>
                    <a:latin typeface="Arial"/>
                  </a:rPr>
                  <a:t> and </a:t>
                </a:r>
                <a:r>
                  <a:rPr lang="en-IN" sz="2400">
                    <a:solidFill>
                      <a:srgbClr val="111827"/>
                    </a:solidFill>
                    <a:latin typeface="Cambria Math" panose="02040503050406030204" pitchFamily="18" charset="0"/>
                  </a:rPr>
                  <a:t>$(1+x)^5=1+5x+10x^2+10x^3+5x^4+x^5$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$1\cdot1+3\cdot5+6\cdot10+7\cdot10+6\cdot5+3\cdot1$</a:t>
                </a:r>
                <a:r>
                  <a:rPr sz="2400" b="0">
                    <a:solidFill>
                      <a:srgbClr val="111827"/>
                    </a:solidFill>
                    <a:latin typeface="Arial"/>
                  </a:rPr>
                  <a:t> (pairing </a:t>
                </a:r>
                <a:r>
                  <a:rPr lang="en-IN" sz="2400">
                    <a:solidFill>
                      <a:srgbClr val="111827"/>
                    </a:solidFill>
                    <a:latin typeface="Cambria Math" panose="02040503050406030204" pitchFamily="18" charset="0"/>
                  </a:rPr>
                  <a:t>$x^0\!\cdot\!x^5,\ x^1\!\cdot\!x^4,\dots$</a:t>
                </a:r>
                <a:r>
                  <a:rPr sz="2400" b="0">
                    <a:solidFill>
                      <a:srgbClr val="111827"/>
                    </a:solidFill>
                    <a:latin typeface="Arial"/>
                  </a:rPr>
                  <a:t>) </a:t>
                </a:r>
                <a:r>
                  <a:rPr lang="en-IN" sz="2400">
                    <a:solidFill>
                      <a:srgbClr val="111827"/>
                    </a:solidFill>
                    <a:latin typeface="Cambria Math" panose="02040503050406030204" pitchFamily="18" charset="0"/>
                  </a:rPr>
                  <a:t>$=1+15+60+70+30+3=179$</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179</a:t>
            </a:r>
            <a:endParaRPr sz="2800">
              <a:solidFill>
                <a:srgbClr val="15803D"/>
              </a:solidFill>
            </a:endParaRP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Selections (unordered) from a multiset: ordinary generating function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sup>
                        </m:sSup>
                      </m:e>
                    </m:d>
                  </m:oMath>
                </a14:m>
                <a:r>
                  <a:rPr sz="2400" b="0">
                    <a:solidFill>
                      <a:srgbClr val="111827"/>
                    </a:solidFill>
                    <a:latin typeface="Arial"/>
                  </a:rPr>
                  <a:t>, answer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need the exponential version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necessarily distinct' with limited copies means the available multiplicities cap the repeats.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coefficient list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179</m:t>
                    </m:r>
                  </m:oMath>
                </a14:m>
                <a:r>
                  <a:rPr sz="2400" b="0">
                    <a:solidFill>
                      <a:srgbClr val="111827"/>
                    </a:solidFill>
                    <a:latin typeface="Arial"/>
                  </a:rPr>
                  <a:t> gives the number of selections of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letters.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Selections (unordered) from a multiset: ordinary generating function </a:t>
                </a:r>
                <a:r>
                  <a:rPr lang="en-IN" sz="2400">
                    <a:solidFill>
                      <a:srgbClr val="111827"/>
                    </a:solidFill>
                    <a:latin typeface="Cambria Math" panose="02040503050406030204" pitchFamily="18" charset="0"/>
                  </a:rPr>
                  <a:t>$\prod\left(1+x+\cdots+x^{m_i}\right)$</a:t>
                </a:r>
                <a:r>
                  <a:rPr sz="2400" b="0">
                    <a:solidFill>
                      <a:srgbClr val="111827"/>
                    </a:solidFill>
                    <a:latin typeface="Arial"/>
                  </a:rPr>
                  <a:t>, answer </a:t>
                </a:r>
                <a:r>
                  <a:rPr lang="en-IN" sz="2400">
                    <a:solidFill>
                      <a:srgbClr val="111827"/>
                    </a:solidFill>
                    <a:latin typeface="Cambria Math" panose="02040503050406030204" pitchFamily="18" charset="0"/>
                  </a:rPr>
                  <a:t>$[x^r]$</a:t>
                </a:r>
                <a:r>
                  <a:rPr sz="2400" b="0">
                    <a:solidFill>
                      <a:srgbClr val="111827"/>
                    </a:solidFill>
                    <a:latin typeface="Arial"/>
                  </a:rPr>
                  <a:t>; arrangements need the exponential version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necessarily distinct' with limited copies means the available multiplicities cap the repeats.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coefficient list </a:t>
                </a:r>
                <a:r>
                  <a:rPr lang="en-IN" sz="2400">
                    <a:solidFill>
                      <a:srgbClr val="111827"/>
                    </a:solidFill>
                    <a:latin typeface="Cambria Math" panose="02040503050406030204" pitchFamily="18" charset="0"/>
                  </a:rPr>
                  <a:t>$1,8,31,77,136,179$</a:t>
                </a:r>
                <a:r>
                  <a:rPr sz="2400" b="0">
                    <a:solidFill>
                      <a:srgbClr val="111827"/>
                    </a:solidFill>
                    <a:latin typeface="Arial"/>
                  </a:rPr>
                  <a:t> gives the number of selections of </a:t>
                </a:r>
                <a:r>
                  <a:rPr lang="en-IN" sz="2400">
                    <a:solidFill>
                      <a:srgbClr val="111827"/>
                    </a:solidFill>
                    <a:latin typeface="Cambria Math" panose="02040503050406030204" pitchFamily="18" charset="0"/>
                  </a:rPr>
                  <a:t>$0,1,\dots,5$</a:t>
                </a:r>
                <a:r>
                  <a:rPr sz="2400" b="0">
                    <a:solidFill>
                      <a:srgbClr val="111827"/>
                    </a:solidFill>
                    <a:latin typeface="Arial"/>
                  </a:rPr>
                  <a:t> letters.</a:t>
                </a:r>
                <a:endParaRPr sz="2400">
                  <a:solidFill>
                    <a:srgbClr val="111827"/>
                  </a:solidFill>
                </a:endParaRPr>
              </a:p>
            </p:txBody>
          </p:sp>
        </mc:Fallback>
      </mc:AlternateContent>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Q55 – Q58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women in Group A,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in Group B. If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persons are selected from each group, then the number of ways of selecting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is ______. [JEE(Main) April 2024]</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$4$</a:t>
                </a:r>
                <a:r>
                  <a:rPr sz="2400" b="0">
                    <a:solidFill>
                      <a:srgbClr val="111827"/>
                    </a:solidFill>
                    <a:latin typeface="Arial"/>
                  </a:rPr>
                  <a:t> men and </a:t>
                </a:r>
                <a:r>
                  <a:rPr lang="en-IN" sz="2400">
                    <a:solidFill>
                      <a:srgbClr val="111827"/>
                    </a:solidFill>
                    <a:latin typeface="Cambria Math" panose="02040503050406030204" pitchFamily="18" charset="0"/>
                  </a:rPr>
                  <a:t>$5$</a:t>
                </a:r>
                <a:r>
                  <a:rPr sz="2400" b="0">
                    <a:solidFill>
                      <a:srgbClr val="111827"/>
                    </a:solidFill>
                    <a:latin typeface="Arial"/>
                  </a:rPr>
                  <a:t> women in Group A, and </a:t>
                </a:r>
                <a:r>
                  <a:rPr lang="en-IN" sz="2400">
                    <a:solidFill>
                      <a:srgbClr val="111827"/>
                    </a:solidFill>
                    <a:latin typeface="Cambria Math" panose="02040503050406030204" pitchFamily="18" charset="0"/>
                  </a:rPr>
                  <a:t>$5$</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in Group B. If </a:t>
                </a:r>
                <a:r>
                  <a:rPr lang="en-IN" sz="2400">
                    <a:solidFill>
                      <a:srgbClr val="111827"/>
                    </a:solidFill>
                    <a:latin typeface="Cambria Math" panose="02040503050406030204" pitchFamily="18" charset="0"/>
                  </a:rPr>
                  <a:t>$4$</a:t>
                </a:r>
                <a:r>
                  <a:rPr sz="2400" b="0">
                    <a:solidFill>
                      <a:srgbClr val="111827"/>
                    </a:solidFill>
                    <a:latin typeface="Arial"/>
                  </a:rPr>
                  <a:t> persons are selected from each group, then the number of ways of selecting </a:t>
                </a:r>
                <a:r>
                  <a:rPr lang="en-IN" sz="2400">
                    <a:solidFill>
                      <a:srgbClr val="111827"/>
                    </a:solidFill>
                    <a:latin typeface="Cambria Math" panose="02040503050406030204" pitchFamily="18" charset="0"/>
                  </a:rPr>
                  <a:t>$4$</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is ______. [JEE(Main) April 2024]</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from two groups with a combined composition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group A contributes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men then it contributes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oMath>
                </a14:m>
                <a:r>
                  <a:rPr sz="2400" b="0">
                    <a:solidFill>
                      <a:srgbClr val="78350F"/>
                    </a:solidFill>
                    <a:latin typeface="Arial"/>
                  </a:rPr>
                  <a:t> women, and group B must contribute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oMath>
                </a14:m>
                <a:r>
                  <a:rPr sz="2400" b="0">
                    <a:solidFill>
                      <a:srgbClr val="78350F"/>
                    </a:solidFill>
                    <a:latin typeface="Arial"/>
                  </a:rPr>
                  <a:t> men and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women.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group A contributes </a:t>
                </a:r>
                <a:r>
                  <a:rPr lang="en-IN" sz="2400">
                    <a:solidFill>
                      <a:srgbClr val="78350F"/>
                    </a:solidFill>
                    <a:latin typeface="Cambria Math" panose="02040503050406030204" pitchFamily="18" charset="0"/>
                  </a:rPr>
                  <a:t>$a$</a:t>
                </a:r>
                <a:r>
                  <a:rPr sz="2400" b="0">
                    <a:solidFill>
                      <a:srgbClr val="78350F"/>
                    </a:solidFill>
                    <a:latin typeface="Arial"/>
                  </a:rPr>
                  <a:t> men then it contributes </a:t>
                </a:r>
                <a:r>
                  <a:rPr lang="en-IN" sz="2400">
                    <a:solidFill>
                      <a:srgbClr val="78350F"/>
                    </a:solidFill>
                    <a:latin typeface="Cambria Math" panose="02040503050406030204" pitchFamily="18" charset="0"/>
                  </a:rPr>
                  <a:t>$4-a$</a:t>
                </a:r>
                <a:r>
                  <a:rPr sz="2400" b="0">
                    <a:solidFill>
                      <a:srgbClr val="78350F"/>
                    </a:solidFill>
                    <a:latin typeface="Arial"/>
                  </a:rPr>
                  <a:t> women, and group B must contribute </a:t>
                </a:r>
                <a:r>
                  <a:rPr lang="en-IN" sz="2400">
                    <a:solidFill>
                      <a:srgbClr val="78350F"/>
                    </a:solidFill>
                    <a:latin typeface="Cambria Math" panose="02040503050406030204" pitchFamily="18" charset="0"/>
                  </a:rPr>
                  <a:t>$4-a$</a:t>
                </a:r>
                <a:r>
                  <a:rPr sz="2400" b="0">
                    <a:solidFill>
                      <a:srgbClr val="78350F"/>
                    </a:solidFill>
                    <a:latin typeface="Arial"/>
                  </a:rPr>
                  <a:t> men and </a:t>
                </a:r>
                <a:r>
                  <a:rPr lang="en-IN" sz="2400">
                    <a:solidFill>
                      <a:srgbClr val="78350F"/>
                    </a:solidFill>
                    <a:latin typeface="Cambria Math" panose="02040503050406030204" pitchFamily="18" charset="0"/>
                  </a:rPr>
                  <a:t>$a$</a:t>
                </a:r>
                <a:r>
                  <a:rPr sz="2400" b="0">
                    <a:solidFill>
                      <a:srgbClr val="78350F"/>
                    </a:solidFill>
                    <a:latin typeface="Arial"/>
                  </a:rPr>
                  <a:t> women.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from each group so that the total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If A gives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women, then B gives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no woman; B: no man,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woman;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women: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a:t>
                </a:r>
                <a:r>
                  <a:rPr lang="en-IN" sz="2400">
                    <a:solidFill>
                      <a:srgbClr val="111827"/>
                    </a:solidFill>
                    <a:latin typeface="Cambria Math" panose="02040503050406030204" pitchFamily="18" charset="0"/>
                  </a:rPr>
                  <a:t>$4$</a:t>
                </a:r>
                <a:r>
                  <a:rPr sz="2400" b="0">
                    <a:solidFill>
                      <a:srgbClr val="111827"/>
                    </a:solidFill>
                    <a:latin typeface="Arial"/>
                  </a:rPr>
                  <a:t> from each group so that the total is </a:t>
                </a:r>
                <a:r>
                  <a:rPr lang="en-IN" sz="2400">
                    <a:solidFill>
                      <a:srgbClr val="111827"/>
                    </a:solidFill>
                    <a:latin typeface="Cambria Math" panose="02040503050406030204" pitchFamily="18" charset="0"/>
                  </a:rPr>
                  <a:t>$4$</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If A gives </a:t>
                </a:r>
                <a:r>
                  <a:rPr lang="en-IN" sz="2400">
                    <a:solidFill>
                      <a:srgbClr val="111827"/>
                    </a:solidFill>
                    <a:latin typeface="Cambria Math" panose="02040503050406030204" pitchFamily="18" charset="0"/>
                  </a:rPr>
                  <a:t>$a$</a:t>
                </a:r>
                <a:r>
                  <a:rPr sz="2400" b="0">
                    <a:solidFill>
                      <a:srgbClr val="111827"/>
                    </a:solidFill>
                    <a:latin typeface="Arial"/>
                  </a:rPr>
                  <a:t> men and </a:t>
                </a:r>
                <a:r>
                  <a:rPr lang="en-IN" sz="2400">
                    <a:solidFill>
                      <a:srgbClr val="111827"/>
                    </a:solidFill>
                    <a:latin typeface="Cambria Math" panose="02040503050406030204" pitchFamily="18" charset="0"/>
                  </a:rPr>
                  <a:t>$4-a$</a:t>
                </a:r>
                <a:r>
                  <a:rPr sz="2400" b="0">
                    <a:solidFill>
                      <a:srgbClr val="111827"/>
                    </a:solidFill>
                    <a:latin typeface="Arial"/>
                  </a:rPr>
                  <a:t> women, then B gives </a:t>
                </a:r>
                <a:r>
                  <a:rPr lang="en-IN" sz="2400">
                    <a:solidFill>
                      <a:srgbClr val="111827"/>
                    </a:solidFill>
                    <a:latin typeface="Cambria Math" panose="02040503050406030204" pitchFamily="18" charset="0"/>
                  </a:rPr>
                  <a:t>$4-a$</a:t>
                </a:r>
                <a:r>
                  <a:rPr sz="2400" b="0">
                    <a:solidFill>
                      <a:srgbClr val="111827"/>
                    </a:solidFill>
                    <a:latin typeface="Arial"/>
                  </a:rPr>
                  <a:t> men and </a:t>
                </a:r>
                <a:r>
                  <a:rPr lang="en-IN" sz="2400">
                    <a:solidFill>
                      <a:srgbClr val="111827"/>
                    </a:solidFill>
                    <a:latin typeface="Cambria Math" panose="02040503050406030204" pitchFamily="18" charset="0"/>
                  </a:rPr>
                  <a:t>$a$</a:t>
                </a:r>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$a=4$</a:t>
                </a:r>
                <a:r>
                  <a:rPr sz="2400" b="0">
                    <a:solidFill>
                      <a:srgbClr val="111827"/>
                    </a:solidFill>
                    <a:latin typeface="Arial"/>
                  </a:rPr>
                  <a:t>: A: </a:t>
                </a:r>
                <a:r>
                  <a:rPr lang="en-IN" sz="2400">
                    <a:solidFill>
                      <a:srgbClr val="111827"/>
                    </a:solidFill>
                    <a:latin typeface="Cambria Math" panose="02040503050406030204" pitchFamily="18" charset="0"/>
                  </a:rPr>
                  <a:t>$4$</a:t>
                </a:r>
                <a:r>
                  <a:rPr sz="2400" b="0">
                    <a:solidFill>
                      <a:srgbClr val="111827"/>
                    </a:solidFill>
                    <a:latin typeface="Arial"/>
                  </a:rPr>
                  <a:t> men, no woman; B: no man, </a:t>
                </a:r>
                <a:r>
                  <a:rPr lang="en-IN" sz="2400">
                    <a:solidFill>
                      <a:srgbClr val="111827"/>
                    </a:solidFill>
                    <a:latin typeface="Cambria Math" panose="02040503050406030204" pitchFamily="18" charset="0"/>
                  </a:rPr>
                  <a:t>$4$</a:t>
                </a:r>
                <a:r>
                  <a:rPr sz="2400" b="0">
                    <a:solidFill>
                      <a:srgbClr val="111827"/>
                    </a:solidFill>
                    <a:latin typeface="Arial"/>
                  </a:rPr>
                  <a:t> women: </a:t>
                </a:r>
                <a:r>
                  <a:rPr lang="en-IN" sz="2400">
                    <a:solidFill>
                      <a:srgbClr val="111827"/>
                    </a:solidFill>
                    <a:latin typeface="Cambria Math" panose="02040503050406030204" pitchFamily="18" charset="0"/>
                  </a:rPr>
                  <a:t>${}^4C_4\cdot{}^4C_4=1$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a:t>
                </a:r>
                <a:r>
                  <a:rPr sz="2400" b="0">
                    <a:solidFill>
                      <a:srgbClr val="111827"/>
                    </a:solidFill>
                    <a:latin typeface="Arial"/>
                  </a:rPr>
                  <a:t>: A: </a:t>
                </a:r>
                <a:r>
                  <a:rPr lang="en-IN" sz="2400">
                    <a:solidFill>
                      <a:srgbClr val="111827"/>
                    </a:solidFill>
                    <a:latin typeface="Cambria Math" panose="02040503050406030204" pitchFamily="18" charset="0"/>
                  </a:rPr>
                  <a:t>$3$</a:t>
                </a:r>
                <a:r>
                  <a:rPr sz="2400" b="0">
                    <a:solidFill>
                      <a:srgbClr val="111827"/>
                    </a:solidFill>
                    <a:latin typeface="Arial"/>
                  </a:rPr>
                  <a:t> men, </a:t>
                </a:r>
                <a:r>
                  <a:rPr lang="en-IN" sz="2400">
                    <a:solidFill>
                      <a:srgbClr val="111827"/>
                    </a:solidFill>
                    <a:latin typeface="Cambria Math" panose="02040503050406030204" pitchFamily="18" charset="0"/>
                  </a:rPr>
                  <a:t>$1$</a:t>
                </a:r>
                <a:r>
                  <a:rPr sz="2400" b="0">
                    <a:solidFill>
                      <a:srgbClr val="111827"/>
                    </a:solidFill>
                    <a:latin typeface="Arial"/>
                  </a:rPr>
                  <a:t> woman; B: </a:t>
                </a:r>
                <a:r>
                  <a:rPr lang="en-IN" sz="2400">
                    <a:solidFill>
                      <a:srgbClr val="111827"/>
                    </a:solidFill>
                    <a:latin typeface="Cambria Math" panose="02040503050406030204" pitchFamily="18" charset="0"/>
                  </a:rPr>
                  <a:t>$1$</a:t>
                </a:r>
                <a:r>
                  <a:rPr sz="2400" b="0">
                    <a:solidFill>
                      <a:srgbClr val="111827"/>
                    </a:solidFill>
                    <a:latin typeface="Arial"/>
                  </a:rPr>
                  <a:t> man, </a:t>
                </a:r>
                <a:r>
                  <a:rPr lang="en-IN" sz="2400">
                    <a:solidFill>
                      <a:srgbClr val="111827"/>
                    </a:solidFill>
                    <a:latin typeface="Cambria Math" panose="02040503050406030204" pitchFamily="18" charset="0"/>
                  </a:rPr>
                  <a:t>$3$</a:t>
                </a:r>
                <a:r>
                  <a:rPr sz="2400" b="0">
                    <a:solidFill>
                      <a:srgbClr val="111827"/>
                    </a:solidFill>
                    <a:latin typeface="Arial"/>
                  </a:rPr>
                  <a:t> women: </a:t>
                </a:r>
                <a:r>
                  <a:rPr lang="en-IN" sz="2400">
                    <a:solidFill>
                      <a:srgbClr val="111827"/>
                    </a:solidFill>
                    <a:latin typeface="Cambria Math" panose="02040503050406030204" pitchFamily="18" charset="0"/>
                  </a:rPr>
                  <a:t>$({}^4C_3\cdot{}^5C_1)({}^5C_1\cdot{}^4C_3)=20\times20=400$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a:t>
                </a:r>
                <a:r>
                  <a:rPr sz="2400" b="0">
                    <a:solidFill>
                      <a:srgbClr val="111827"/>
                    </a:solidFill>
                    <a:latin typeface="Arial"/>
                  </a:rPr>
                  <a:t>: A: </a:t>
                </a:r>
                <a:r>
                  <a:rPr lang="en-IN" sz="2400">
                    <a:solidFill>
                      <a:srgbClr val="111827"/>
                    </a:solidFill>
                    <a:latin typeface="Cambria Math" panose="02040503050406030204" pitchFamily="18" charset="0"/>
                  </a:rPr>
                  <a:t>$2$</a:t>
                </a:r>
                <a:r>
                  <a:rPr sz="2400" b="0">
                    <a:solidFill>
                      <a:srgbClr val="111827"/>
                    </a:solidFill>
                    <a:latin typeface="Arial"/>
                  </a:rPr>
                  <a:t> men, </a:t>
                </a:r>
                <a:r>
                  <a:rPr lang="en-IN" sz="2400">
                    <a:solidFill>
                      <a:srgbClr val="111827"/>
                    </a:solidFill>
                    <a:latin typeface="Cambria Math" panose="02040503050406030204" pitchFamily="18" charset="0"/>
                  </a:rPr>
                  <a:t>$2$</a:t>
                </a:r>
                <a:r>
                  <a:rPr sz="2400" b="0">
                    <a:solidFill>
                      <a:srgbClr val="111827"/>
                    </a:solidFill>
                    <a:latin typeface="Arial"/>
                  </a:rPr>
                  <a:t> women; B: </a:t>
                </a:r>
                <a:r>
                  <a:rPr lang="en-IN" sz="2400">
                    <a:solidFill>
                      <a:srgbClr val="111827"/>
                    </a:solidFill>
                    <a:latin typeface="Cambria Math" panose="02040503050406030204" pitchFamily="18" charset="0"/>
                  </a:rPr>
                  <a:t>$2$</a:t>
                </a:r>
                <a:r>
                  <a:rPr sz="2400" b="0">
                    <a:solidFill>
                      <a:srgbClr val="111827"/>
                    </a:solidFill>
                    <a:latin typeface="Arial"/>
                  </a:rPr>
                  <a:t> men, </a:t>
                </a:r>
                <a:r>
                  <a:rPr lang="en-IN" sz="2400">
                    <a:solidFill>
                      <a:srgbClr val="111827"/>
                    </a:solidFill>
                    <a:latin typeface="Cambria Math" panose="02040503050406030204" pitchFamily="18" charset="0"/>
                  </a:rPr>
                  <a:t>$2$</a:t>
                </a:r>
                <a:r>
                  <a:rPr sz="2400" b="0">
                    <a:solidFill>
                      <a:srgbClr val="111827"/>
                    </a:solidFill>
                    <a:latin typeface="Arial"/>
                  </a:rPr>
                  <a:t> women: </a:t>
                </a:r>
                <a:r>
                  <a:rPr lang="en-IN" sz="2400">
                    <a:solidFill>
                      <a:srgbClr val="111827"/>
                    </a:solidFill>
                    <a:latin typeface="Cambria Math" panose="02040503050406030204" pitchFamily="18" charset="0"/>
                  </a:rPr>
                  <a:t>$({}^4C_2\cdot{}^5C_2)({}^5C_2\cdot{}^4C_2)=60\times60=3600$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women; B: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woman: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B: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a:t>
                </a:r>
                <a:r>
                  <a:rPr sz="2400" b="0">
                    <a:solidFill>
                      <a:srgbClr val="111827"/>
                    </a:solidFill>
                    <a:latin typeface="Arial"/>
                  </a:rPr>
                  <a:t>: A: </a:t>
                </a:r>
                <a:r>
                  <a:rPr lang="en-IN" sz="2400">
                    <a:solidFill>
                      <a:srgbClr val="111827"/>
                    </a:solidFill>
                    <a:latin typeface="Cambria Math" panose="02040503050406030204" pitchFamily="18" charset="0"/>
                  </a:rPr>
                  <a:t>$1$</a:t>
                </a:r>
                <a:r>
                  <a:rPr sz="2400" b="0">
                    <a:solidFill>
                      <a:srgbClr val="111827"/>
                    </a:solidFill>
                    <a:latin typeface="Arial"/>
                  </a:rPr>
                  <a:t> man, </a:t>
                </a:r>
                <a:r>
                  <a:rPr lang="en-IN" sz="2400">
                    <a:solidFill>
                      <a:srgbClr val="111827"/>
                    </a:solidFill>
                    <a:latin typeface="Cambria Math" panose="02040503050406030204" pitchFamily="18" charset="0"/>
                  </a:rPr>
                  <a:t>$3$</a:t>
                </a:r>
                <a:r>
                  <a:rPr sz="2400" b="0">
                    <a:solidFill>
                      <a:srgbClr val="111827"/>
                    </a:solidFill>
                    <a:latin typeface="Arial"/>
                  </a:rPr>
                  <a:t> women; B: </a:t>
                </a:r>
                <a:r>
                  <a:rPr lang="en-IN" sz="2400">
                    <a:solidFill>
                      <a:srgbClr val="111827"/>
                    </a:solidFill>
                    <a:latin typeface="Cambria Math" panose="02040503050406030204" pitchFamily="18" charset="0"/>
                  </a:rPr>
                  <a:t>$3$</a:t>
                </a:r>
                <a:r>
                  <a:rPr sz="2400" b="0">
                    <a:solidFill>
                      <a:srgbClr val="111827"/>
                    </a:solidFill>
                    <a:latin typeface="Arial"/>
                  </a:rPr>
                  <a:t> men, </a:t>
                </a:r>
                <a:r>
                  <a:rPr lang="en-IN" sz="2400">
                    <a:solidFill>
                      <a:srgbClr val="111827"/>
                    </a:solidFill>
                    <a:latin typeface="Cambria Math" panose="02040503050406030204" pitchFamily="18" charset="0"/>
                  </a:rPr>
                  <a:t>$1$</a:t>
                </a:r>
                <a:r>
                  <a:rPr sz="2400" b="0">
                    <a:solidFill>
                      <a:srgbClr val="111827"/>
                    </a:solidFill>
                    <a:latin typeface="Arial"/>
                  </a:rPr>
                  <a:t> woman: </a:t>
                </a:r>
                <a:r>
                  <a:rPr lang="en-IN" sz="2400">
                    <a:solidFill>
                      <a:srgbClr val="111827"/>
                    </a:solidFill>
                    <a:latin typeface="Cambria Math" panose="02040503050406030204" pitchFamily="18" charset="0"/>
                  </a:rPr>
                  <a:t>$({}^4C_1\cdot{}^5C_3)({}^5C_3\cdot{}^4C_1)=40\times40=1600$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$a=0$</a:t>
                </a:r>
                <a:r>
                  <a:rPr sz="2400" b="0">
                    <a:solidFill>
                      <a:srgbClr val="111827"/>
                    </a:solidFill>
                    <a:latin typeface="Arial"/>
                  </a:rPr>
                  <a:t>: A: </a:t>
                </a:r>
                <a:r>
                  <a:rPr lang="en-IN" sz="2400">
                    <a:solidFill>
                      <a:srgbClr val="111827"/>
                    </a:solidFill>
                    <a:latin typeface="Cambria Math" panose="02040503050406030204" pitchFamily="18" charset="0"/>
                  </a:rPr>
                  <a:t>$4$</a:t>
                </a:r>
                <a:r>
                  <a:rPr sz="2400" b="0">
                    <a:solidFill>
                      <a:srgbClr val="111827"/>
                    </a:solidFill>
                    <a:latin typeface="Arial"/>
                  </a:rPr>
                  <a:t> women; B: </a:t>
                </a:r>
                <a:r>
                  <a:rPr lang="en-IN" sz="2400">
                    <a:solidFill>
                      <a:srgbClr val="111827"/>
                    </a:solidFill>
                    <a:latin typeface="Cambria Math" panose="02040503050406030204" pitchFamily="18" charset="0"/>
                  </a:rPr>
                  <a:t>$4$</a:t>
                </a:r>
                <a:r>
                  <a:rPr sz="2400" b="0">
                    <a:solidFill>
                      <a:srgbClr val="111827"/>
                    </a:solidFill>
                    <a:latin typeface="Arial"/>
                  </a:rPr>
                  <a:t> men: </a:t>
                </a:r>
                <a:r>
                  <a:rPr lang="en-IN" sz="2400">
                    <a:solidFill>
                      <a:srgbClr val="111827"/>
                    </a:solidFill>
                    <a:latin typeface="Cambria Math" panose="02040503050406030204" pitchFamily="18" charset="0"/>
                  </a:rPr>
                  <a:t>${}^5C_4\cdot{}^5C_4=25$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ways </a:t>
                </a:r>
                <a:r>
                  <a:rPr lang="en-IN" sz="2400">
                    <a:solidFill>
                      <a:srgbClr val="111827"/>
                    </a:solidFill>
                    <a:latin typeface="Cambria Math" panose="02040503050406030204" pitchFamily="18" charset="0"/>
                  </a:rPr>
                  <a:t>$=1+400+3600+1600+25=5626$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5626</a:t>
            </a:r>
            <a:endParaRPr sz="2800">
              <a:solidFill>
                <a:srgbClr val="15803D"/>
              </a:solidFill>
            </a:endParaRP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B is the mirror image of group A (men and women swapped), so the two selections have the same count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𝑎</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Sub>
                  </m:oMath>
                </a14:m>
                <a:r>
                  <a:rPr sz="2400" b="0">
                    <a:solidFill>
                      <a:srgbClr val="111827"/>
                    </a:solidFill>
                    <a:latin typeface="Arial"/>
                  </a:rPr>
                  <a:t> and the answer is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check: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(all ways of choosing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people from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combined composition target, parametrise one group's composition and let the other group's follow.</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B is the mirror image of group A (men and women swapped), so the two selections have the same count </a:t>
                </a:r>
                <a:r>
                  <a:rPr lang="en-IN" sz="2400">
                    <a:solidFill>
                      <a:srgbClr val="111827"/>
                    </a:solidFill>
                    <a:latin typeface="Cambria Math" panose="02040503050406030204" pitchFamily="18" charset="0"/>
                  </a:rPr>
                  <a:t>$N_a={}^4C_a\,{}^5C_{4-a}$</a:t>
                </a:r>
                <a:r>
                  <a:rPr sz="2400" b="0">
                    <a:solidFill>
                      <a:srgbClr val="111827"/>
                    </a:solidFill>
                    <a:latin typeface="Arial"/>
                  </a:rPr>
                  <a:t> and the answer is </a:t>
                </a:r>
                <a:r>
                  <a:rPr lang="en-IN" sz="2400">
                    <a:solidFill>
                      <a:srgbClr val="111827"/>
                    </a:solidFill>
                    <a:latin typeface="Cambria Math" panose="02040503050406030204" pitchFamily="18" charset="0"/>
                  </a:rPr>
                  <a:t>$\sum N_a^2=25+1600+3600+400+1=5626$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check: </a:t>
                </a:r>
                <a:r>
                  <a:rPr lang="en-IN" sz="2400">
                    <a:solidFill>
                      <a:srgbClr val="111827"/>
                    </a:solidFill>
                    <a:latin typeface="Cambria Math" panose="02040503050406030204" pitchFamily="18" charset="0"/>
                  </a:rPr>
                  <a:t>$\sum N_a={}^9C_4=126$</a:t>
                </a:r>
                <a:r>
                  <a:rPr sz="2400" b="0">
                    <a:solidFill>
                      <a:srgbClr val="111827"/>
                    </a:solidFill>
                    <a:latin typeface="Arial"/>
                  </a:rPr>
                  <a:t> (all ways of choosing </a:t>
                </a:r>
                <a:r>
                  <a:rPr lang="en-IN" sz="2400">
                    <a:solidFill>
                      <a:srgbClr val="111827"/>
                    </a:solidFill>
                    <a:latin typeface="Cambria Math" panose="02040503050406030204" pitchFamily="18" charset="0"/>
                  </a:rPr>
                  <a:t>$4$</a:t>
                </a:r>
                <a:r>
                  <a:rPr sz="2400" b="0">
                    <a:solidFill>
                      <a:srgbClr val="111827"/>
                    </a:solidFill>
                    <a:latin typeface="Arial"/>
                  </a:rPr>
                  <a:t> people from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combined composition target, parametrise one group's composition and let the other group's follow.</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getting a sum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on throwing a dice four times is ______. [JEE(Main) April 2024]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getting a sum </a:t>
                </a:r>
                <a:r>
                  <a:rPr lang="en-IN" sz="2400">
                    <a:solidFill>
                      <a:srgbClr val="111827"/>
                    </a:solidFill>
                    <a:latin typeface="Cambria Math" panose="02040503050406030204" pitchFamily="18" charset="0"/>
                  </a:rPr>
                  <a:t>$16$</a:t>
                </a:r>
                <a:r>
                  <a:rPr sz="2400" b="0">
                    <a:solidFill>
                      <a:srgbClr val="111827"/>
                    </a:solidFill>
                    <a:latin typeface="Arial"/>
                  </a:rPr>
                  <a:t> on throwing a dice four times is ______. [JEE(Main) April 2024]</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outcomes with a given sum (bounded integral solutions)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Solutions of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4</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12</m:t>
                        </m:r>
                      </m:sup>
                    </m:sSup>
                  </m:oMath>
                </a14:m>
                <a:r>
                  <a:rPr sz="2400" b="0">
                    <a:solidFill>
                      <a:srgbClr val="78350F"/>
                    </a:solidFill>
                    <a:latin typeface="Arial"/>
                  </a:rPr>
                  <a:t>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6</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Solutions of </a:t>
                </a:r>
                <a:r>
                  <a:rPr lang="en-IN" sz="2400">
                    <a:solidFill>
                      <a:srgbClr val="78350F"/>
                    </a:solidFill>
                    <a:latin typeface="Cambria Math" panose="02040503050406030204" pitchFamily="18" charset="0"/>
                  </a:rPr>
                  <a:t>$x_1+\dots+x_4=16$</a:t>
                </a:r>
                <a:r>
                  <a:rPr sz="2400" b="0">
                    <a:solidFill>
                      <a:srgbClr val="78350F"/>
                    </a:solidFill>
                    <a:latin typeface="Arial"/>
                  </a:rPr>
                  <a:t> with </a:t>
                </a:r>
                <a:r>
                  <a:rPr lang="en-IN" sz="2400">
                    <a:solidFill>
                      <a:srgbClr val="78350F"/>
                    </a:solidFill>
                    <a:latin typeface="Cambria Math" panose="02040503050406030204" pitchFamily="18" charset="0"/>
                  </a:rPr>
                  <a:t>$1\le x_i\le6$</a:t>
                </a:r>
                <a:r>
                  <a:rPr sz="2400" b="0">
                    <a:solidFill>
                      <a:srgbClr val="78350F"/>
                    </a:solidFill>
                    <a:latin typeface="Arial"/>
                  </a:rPr>
                  <a:t>: coefficient of </a:t>
                </a:r>
                <a:r>
                  <a:rPr lang="en-IN" sz="2400">
                    <a:solidFill>
                      <a:srgbClr val="78350F"/>
                    </a:solidFill>
                    <a:latin typeface="Cambria Math" panose="02040503050406030204" pitchFamily="18" charset="0"/>
                  </a:rPr>
                  <a:t>$x^{12}$</a:t>
                </a:r>
                <a:r>
                  <a:rPr sz="2400" b="0">
                    <a:solidFill>
                      <a:srgbClr val="78350F"/>
                    </a:solidFill>
                    <a:latin typeface="Arial"/>
                  </a:rPr>
                  <a:t> in </a:t>
                </a:r>
                <a:r>
                  <a:rPr lang="en-IN" sz="2400">
                    <a:solidFill>
                      <a:srgbClr val="78350F"/>
                    </a:solidFill>
                    <a:latin typeface="Cambria Math" panose="02040503050406030204" pitchFamily="18" charset="0"/>
                  </a:rPr>
                  <a:t>$(1-x^6)^4(1-x)^{-4}$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outcomes be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outcomes be </a:t>
                </a:r>
                <a:r>
                  <a:rPr lang="en-IN" sz="2400">
                    <a:solidFill>
                      <a:srgbClr val="111827"/>
                    </a:solidFill>
                    <a:latin typeface="Cambria Math" panose="02040503050406030204" pitchFamily="18" charset="0"/>
                  </a:rPr>
                  <a:t>$x_1,\dots,x_4\in\{1,\dots,6\}$</a:t>
                </a:r>
                <a:r>
                  <a:rPr sz="2400" b="0">
                    <a:solidFill>
                      <a:srgbClr val="111827"/>
                    </a:solidFill>
                    <a:latin typeface="Arial"/>
                  </a:rPr>
                  <a:t> with </a:t>
                </a:r>
                <a:r>
                  <a:rPr lang="en-IN" sz="2400">
                    <a:solidFill>
                      <a:srgbClr val="111827"/>
                    </a:solidFill>
                    <a:latin typeface="Cambria Math" panose="02040503050406030204" pitchFamily="18" charset="0"/>
                  </a:rPr>
                  <a:t>$x_1+x_2+x_3+x_4=16$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$x^{16}$</a:t>
                </a:r>
                <a:r>
                  <a:rPr sz="2400" b="0">
                    <a:solidFill>
                      <a:srgbClr val="111827"/>
                    </a:solidFill>
                    <a:latin typeface="Arial"/>
                  </a:rPr>
                  <a:t> in </a:t>
                </a:r>
                <a:r>
                  <a:rPr lang="en-IN" sz="2400">
                    <a:solidFill>
                      <a:srgbClr val="111827"/>
                    </a:solidFill>
                    <a:latin typeface="Cambria Math" panose="02040503050406030204" pitchFamily="18" charset="0"/>
                  </a:rPr>
                  <a:t>$(x+x^2+\cdots+x^6)^4=x^4\left(\frac{1-x^6}{1-x}\right)^4$</a:t>
                </a:r>
                <a:r>
                  <a:rPr sz="2400" b="0">
                    <a:solidFill>
                      <a:srgbClr val="111827"/>
                    </a:solidFill>
                    <a:latin typeface="Arial"/>
                  </a:rPr>
                  <a:t>, i.e. coefficient of </a:t>
                </a:r>
                <a:r>
                  <a:rPr lang="en-IN" sz="2400">
                    <a:solidFill>
                      <a:srgbClr val="111827"/>
                    </a:solidFill>
                    <a:latin typeface="Cambria Math" panose="02040503050406030204" pitchFamily="18" charset="0"/>
                  </a:rPr>
                  <a:t>$x^{12}$</a:t>
                </a:r>
                <a:r>
                  <a:rPr sz="2400" b="0">
                    <a:solidFill>
                      <a:srgbClr val="111827"/>
                    </a:solidFill>
                    <a:latin typeface="Arial"/>
                  </a:rPr>
                  <a:t> in </a:t>
                </a:r>
                <a:r>
                  <a:rPr lang="en-IN" sz="2400">
                    <a:solidFill>
                      <a:srgbClr val="111827"/>
                    </a:solidFill>
                    <a:latin typeface="Cambria Math" panose="02040503050406030204" pitchFamily="18" charset="0"/>
                  </a:rPr>
                  <a:t>$(1-x^6)^4(1-x)^{-4}$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$(1-x^6)^4=1-{}^4C_1x^6+{}^4C_2x^{12}-\cdots$</a:t>
                </a:r>
                <a:r>
                  <a:rPr sz="2400" b="0">
                    <a:solidFill>
                      <a:srgbClr val="111827"/>
                    </a:solidFill>
                    <a:latin typeface="Arial"/>
                  </a:rPr>
                  <a:t> and </a:t>
                </a:r>
                <a:r>
                  <a:rPr lang="en-IN" sz="2400">
                    <a:solidFill>
                      <a:srgbClr val="111827"/>
                    </a:solidFill>
                    <a:latin typeface="Cambria Math" panose="02040503050406030204" pitchFamily="18" charset="0"/>
                  </a:rPr>
                  <a:t>$(1-x)^{-4}=\sum{}^{r+3}C_3\,x^r$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$x^{12}$</a:t>
                </a:r>
                <a:r>
                  <a:rPr sz="2400" b="0">
                    <a:solidFill>
                      <a:srgbClr val="111827"/>
                    </a:solidFill>
                    <a:latin typeface="Arial"/>
                  </a:rPr>
                  <a:t>: </a:t>
                </a:r>
                <a:r>
                  <a:rPr lang="en-IN" sz="2400">
                    <a:solidFill>
                      <a:srgbClr val="111827"/>
                    </a:solidFill>
                    <a:latin typeface="Cambria Math" panose="02040503050406030204" pitchFamily="18" charset="0"/>
                  </a:rPr>
                  <a:t>${}^{15}C_3-4\cdot{}^{9}C_3+6\cdot{}^3C_3$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$=455-336+6=125$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125</a:t>
            </a:r>
            <a:endParaRPr sz="2800">
              <a:solidFill>
                <a:srgbClr val="15803D"/>
              </a:solidFill>
            </a:endParaRP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symmetry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to turn the sum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into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which needs only one correction term.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symmetry </a:t>
                </a:r>
                <a:r>
                  <a:rPr lang="en-IN" sz="2400">
                    <a:solidFill>
                      <a:srgbClr val="78350F"/>
                    </a:solidFill>
                    <a:latin typeface="Cambria Math" panose="02040503050406030204" pitchFamily="18" charset="0"/>
                  </a:rPr>
                  <a:t>$x_i\to7-x_i$</a:t>
                </a:r>
                <a:r>
                  <a:rPr sz="2400" b="0">
                    <a:solidFill>
                      <a:srgbClr val="78350F"/>
                    </a:solidFill>
                    <a:latin typeface="Arial"/>
                  </a:rPr>
                  <a:t> to turn the sum </a:t>
                </a:r>
                <a:r>
                  <a:rPr lang="en-IN" sz="2400">
                    <a:solidFill>
                      <a:srgbClr val="78350F"/>
                    </a:solidFill>
                    <a:latin typeface="Cambria Math" panose="02040503050406030204" pitchFamily="18" charset="0"/>
                  </a:rPr>
                  <a:t>$16$</a:t>
                </a:r>
                <a:r>
                  <a:rPr sz="2400" b="0">
                    <a:solidFill>
                      <a:srgbClr val="78350F"/>
                    </a:solidFill>
                    <a:latin typeface="Arial"/>
                  </a:rPr>
                  <a:t> into </a:t>
                </a:r>
                <a:r>
                  <a:rPr lang="en-IN" sz="2400">
                    <a:solidFill>
                      <a:srgbClr val="78350F"/>
                    </a:solidFill>
                    <a:latin typeface="Cambria Math" panose="02040503050406030204" pitchFamily="18" charset="0"/>
                  </a:rPr>
                  <a:t>$12$</a:t>
                </a:r>
                <a:r>
                  <a:rPr sz="2400" b="0">
                    <a:solidFill>
                      <a:srgbClr val="78350F"/>
                    </a:solidFill>
                    <a:latin typeface="Arial"/>
                  </a:rPr>
                  <a:t>, which needs only one correction term.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map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sends outcomes with sum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to outcomes with sum </a:t>
                </a:r>
                <a14:m>
                  <m:oMath xmlns:m="http://schemas.openxmlformats.org/officeDocument/2006/math">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and is a bijection.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outcomes with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put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solutions: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oMath>
                </a14:m>
                <a:r>
                  <a:rPr sz="2400" b="0">
                    <a:solidFill>
                      <a:srgbClr val="111827"/>
                    </a:solidFill>
                    <a:latin typeface="Arial"/>
                  </a:rPr>
                  <a:t>; solutions with some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(two of them cannot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map </a:t>
                </a:r>
                <a:r>
                  <a:rPr lang="en-IN" sz="2400">
                    <a:solidFill>
                      <a:srgbClr val="111827"/>
                    </a:solidFill>
                    <a:latin typeface="Cambria Math" panose="02040503050406030204" pitchFamily="18" charset="0"/>
                  </a:rPr>
                  <a:t>$x_i\mapsto7-x_i$</a:t>
                </a:r>
                <a:r>
                  <a:rPr sz="2400" b="0">
                    <a:solidFill>
                      <a:srgbClr val="111827"/>
                    </a:solidFill>
                    <a:latin typeface="Arial"/>
                  </a:rPr>
                  <a:t> sends outcomes with sum </a:t>
                </a:r>
                <a:r>
                  <a:rPr lang="en-IN" sz="2400">
                    <a:solidFill>
                      <a:srgbClr val="111827"/>
                    </a:solidFill>
                    <a:latin typeface="Cambria Math" panose="02040503050406030204" pitchFamily="18" charset="0"/>
                  </a:rPr>
                  <a:t>$16$</a:t>
                </a:r>
                <a:r>
                  <a:rPr sz="2400" b="0">
                    <a:solidFill>
                      <a:srgbClr val="111827"/>
                    </a:solidFill>
                    <a:latin typeface="Arial"/>
                  </a:rPr>
                  <a:t> to outcomes with sum </a:t>
                </a:r>
                <a:r>
                  <a:rPr lang="en-IN" sz="2400">
                    <a:solidFill>
                      <a:srgbClr val="111827"/>
                    </a:solidFill>
                    <a:latin typeface="Cambria Math" panose="02040503050406030204" pitchFamily="18" charset="0"/>
                  </a:rPr>
                  <a:t>$28-16=12$</a:t>
                </a:r>
                <a:r>
                  <a:rPr sz="2400" b="0">
                    <a:solidFill>
                      <a:srgbClr val="111827"/>
                    </a:solidFill>
                    <a:latin typeface="Arial"/>
                  </a:rPr>
                  <a:t> and is a bijection.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outcomes with sum </a:t>
                </a:r>
                <a:r>
                  <a:rPr lang="en-IN" sz="2400">
                    <a:solidFill>
                      <a:srgbClr val="111827"/>
                    </a:solidFill>
                    <a:latin typeface="Cambria Math" panose="02040503050406030204" pitchFamily="18" charset="0"/>
                  </a:rPr>
                  <a:t>$12$</a:t>
                </a:r>
                <a:r>
                  <a:rPr sz="2400" b="0">
                    <a:solidFill>
                      <a:srgbClr val="111827"/>
                    </a:solidFill>
                    <a:latin typeface="Arial"/>
                  </a:rPr>
                  <a:t>: put </a:t>
                </a:r>
                <a:r>
                  <a:rPr lang="en-IN" sz="2400">
                    <a:solidFill>
                      <a:srgbClr val="111827"/>
                    </a:solidFill>
                    <a:latin typeface="Cambria Math" panose="02040503050406030204" pitchFamily="18" charset="0"/>
                  </a:rPr>
                  <a:t>$y_i=x_i-1\in\{0,\dots,5\}$</a:t>
                </a:r>
                <a:r>
                  <a:rPr sz="2400" b="0">
                    <a:solidFill>
                      <a:srgbClr val="111827"/>
                    </a:solidFill>
                    <a:latin typeface="Arial"/>
                  </a:rPr>
                  <a:t> with </a:t>
                </a:r>
                <a:r>
                  <a:rPr lang="en-IN" sz="2400">
                    <a:solidFill>
                      <a:srgbClr val="111827"/>
                    </a:solidFill>
                    <a:latin typeface="Cambria Math" panose="02040503050406030204" pitchFamily="18" charset="0"/>
                  </a:rPr>
                  <a:t>$y_1+\dots+y_4=8$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solutions: </a:t>
                </a:r>
                <a:r>
                  <a:rPr lang="en-IN" sz="2400">
                    <a:solidFill>
                      <a:srgbClr val="111827"/>
                    </a:solidFill>
                    <a:latin typeface="Cambria Math" panose="02040503050406030204" pitchFamily="18" charset="0"/>
                  </a:rPr>
                  <a:t>${}^{11}C_3=165$</a:t>
                </a:r>
                <a:r>
                  <a:rPr sz="2400" b="0">
                    <a:solidFill>
                      <a:srgbClr val="111827"/>
                    </a:solidFill>
                    <a:latin typeface="Arial"/>
                  </a:rPr>
                  <a:t>; solutions with some </a:t>
                </a:r>
                <a:r>
                  <a:rPr lang="en-IN" sz="2400">
                    <a:solidFill>
                      <a:srgbClr val="111827"/>
                    </a:solidFill>
                    <a:latin typeface="Cambria Math" panose="02040503050406030204" pitchFamily="18" charset="0"/>
                  </a:rPr>
                  <a:t>$y_i\ge6$</a:t>
                </a:r>
                <a:r>
                  <a:rPr sz="2400" b="0">
                    <a:solidFill>
                      <a:srgbClr val="111827"/>
                    </a:solidFill>
                    <a:latin typeface="Arial"/>
                  </a:rPr>
                  <a:t>: </a:t>
                </a:r>
                <a:r>
                  <a:rPr lang="en-IN" sz="2400">
                    <a:solidFill>
                      <a:srgbClr val="111827"/>
                    </a:solidFill>
                    <a:latin typeface="Cambria Math" panose="02040503050406030204" pitchFamily="18" charset="0"/>
                  </a:rPr>
                  <a:t>$4\times{}^{5}C_3=40$</a:t>
                </a:r>
                <a:r>
                  <a:rPr sz="2400" b="0">
                    <a:solidFill>
                      <a:srgbClr val="111827"/>
                    </a:solidFill>
                    <a:latin typeface="Arial"/>
                  </a:rPr>
                  <a:t> (two of them cannot be </a:t>
                </a:r>
                <a:r>
                  <a:rPr lang="en-IN" sz="2400">
                    <a:solidFill>
                      <a:srgbClr val="111827"/>
                    </a:solidFill>
                    <a:latin typeface="Cambria Math" panose="02040503050406030204" pitchFamily="18" charset="0"/>
                  </a:rPr>
                  <a:t>$\ge6$</a:t>
                </a:r>
                <a:r>
                  <a:rPr sz="2400" b="0">
                    <a:solidFill>
                      <a:srgbClr val="111827"/>
                    </a:solidFill>
                    <a:latin typeface="Arial"/>
                  </a:rPr>
                  <a:t> since </a:t>
                </a:r>
                <a:r>
                  <a:rPr lang="en-IN" sz="2400">
                    <a:solidFill>
                      <a:srgbClr val="111827"/>
                    </a:solidFill>
                    <a:latin typeface="Cambria Math" panose="02040503050406030204" pitchFamily="18" charset="0"/>
                  </a:rPr>
                  <a:t>$12&gt;8$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$=165-40=125$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125</a:t>
            </a:r>
            <a:endParaRPr sz="2800">
              <a:solidFill>
                <a:srgbClr val="15803D"/>
              </a:solidFill>
            </a:endParaRP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of the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dice is symmetric about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number of ways for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equals that for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for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total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symmetric partner of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closer to the minimum to cut the inclusion-exclusion terms.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of the sum of </a:t>
                </a:r>
                <a:r>
                  <a:rPr lang="en-IN" sz="2400">
                    <a:solidFill>
                      <a:srgbClr val="111827"/>
                    </a:solidFill>
                    <a:latin typeface="Cambria Math" panose="02040503050406030204" pitchFamily="18" charset="0"/>
                  </a:rPr>
                  <a:t>$n$</a:t>
                </a:r>
                <a:r>
                  <a:rPr sz="2400" b="0">
                    <a:solidFill>
                      <a:srgbClr val="111827"/>
                    </a:solidFill>
                    <a:latin typeface="Arial"/>
                  </a:rPr>
                  <a:t> dice is symmetric about </a:t>
                </a:r>
                <a:r>
                  <a:rPr lang="en-IN" sz="2400">
                    <a:solidFill>
                      <a:srgbClr val="111827"/>
                    </a:solidFill>
                    <a:latin typeface="Cambria Math" panose="02040503050406030204" pitchFamily="18" charset="0"/>
                  </a:rPr>
                  <a:t>$\frac{7n}{2}$</a:t>
                </a:r>
                <a:r>
                  <a:rPr sz="2400" b="0">
                    <a:solidFill>
                      <a:srgbClr val="111827"/>
                    </a:solidFill>
                    <a:latin typeface="Arial"/>
                  </a:rPr>
                  <a:t>: the number of ways for sum </a:t>
                </a:r>
                <a:r>
                  <a:rPr lang="en-IN" sz="2400">
                    <a:solidFill>
                      <a:srgbClr val="111827"/>
                    </a:solidFill>
                    <a:latin typeface="Cambria Math" panose="02040503050406030204" pitchFamily="18" charset="0"/>
                  </a:rPr>
                  <a:t>$s$</a:t>
                </a:r>
                <a:r>
                  <a:rPr sz="2400" b="0">
                    <a:solidFill>
                      <a:srgbClr val="111827"/>
                    </a:solidFill>
                    <a:latin typeface="Arial"/>
                  </a:rPr>
                  <a:t> equals that for </a:t>
                </a:r>
                <a:r>
                  <a:rPr lang="en-IN" sz="2400">
                    <a:solidFill>
                      <a:srgbClr val="111827"/>
                    </a:solidFill>
                    <a:latin typeface="Cambria Math" panose="02040503050406030204" pitchFamily="18" charset="0"/>
                  </a:rPr>
                  <a:t>$7n-s$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a:t>
                </a:r>
                <a:r>
                  <a:rPr lang="en-IN" sz="2400">
                    <a:solidFill>
                      <a:srgbClr val="111827"/>
                    </a:solidFill>
                    <a:latin typeface="Cambria Math" panose="02040503050406030204" pitchFamily="18" charset="0"/>
                  </a:rPr>
                  <a:t>$\sum_k(-1)^k\binom nk\binom{s-k m-1}{n-1}$</a:t>
                </a:r>
                <a:r>
                  <a:rPr sz="2400" b="0">
                    <a:solidFill>
                      <a:srgbClr val="111827"/>
                    </a:solidFill>
                    <a:latin typeface="Arial"/>
                  </a:rPr>
                  <a:t> for </a:t>
                </a:r>
                <a:r>
                  <a:rPr lang="en-IN" sz="2400">
                    <a:solidFill>
                      <a:srgbClr val="111827"/>
                    </a:solidFill>
                    <a:latin typeface="Cambria Math" panose="02040503050406030204" pitchFamily="18" charset="0"/>
                  </a:rPr>
                  <a:t>$x_i\in[1,m]$</a:t>
                </a:r>
                <a:r>
                  <a:rPr sz="2400" b="0">
                    <a:solidFill>
                      <a:srgbClr val="111827"/>
                    </a:solidFill>
                    <a:latin typeface="Arial"/>
                  </a:rPr>
                  <a:t> and total </a:t>
                </a:r>
                <a:r>
                  <a:rPr lang="en-IN" sz="2400">
                    <a:solidFill>
                      <a:srgbClr val="111827"/>
                    </a:solidFill>
                    <a:latin typeface="Cambria Math" panose="02040503050406030204" pitchFamily="18" charset="0"/>
                  </a:rPr>
                  <a:t>$s$</a:t>
                </a:r>
                <a:r>
                  <a:rPr sz="2400" b="0">
                    <a:solidFill>
                      <a:srgbClr val="111827"/>
                    </a:solidFill>
                    <a:latin typeface="Arial"/>
                  </a:rPr>
                  <a:t> (here </a:t>
                </a:r>
                <a:r>
                  <a:rPr lang="en-IN" sz="2400">
                    <a:solidFill>
                      <a:srgbClr val="111827"/>
                    </a:solidFill>
                    <a:latin typeface="Cambria Math" panose="02040503050406030204" pitchFamily="18" charset="0"/>
                  </a:rPr>
                  <a:t>$m=6$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symmetric partner of </a:t>
                </a:r>
                <a:r>
                  <a:rPr lang="en-IN" sz="2400">
                    <a:solidFill>
                      <a:srgbClr val="111827"/>
                    </a:solidFill>
                    <a:latin typeface="Cambria Math" panose="02040503050406030204" pitchFamily="18" charset="0"/>
                  </a:rPr>
                  <a:t>$s$</a:t>
                </a:r>
                <a:r>
                  <a:rPr sz="2400" b="0">
                    <a:solidFill>
                      <a:srgbClr val="111827"/>
                    </a:solidFill>
                    <a:latin typeface="Arial"/>
                  </a:rPr>
                  <a:t> closer to the minimum to cut the inclusion-exclusion terms.</a:t>
                </a:r>
                <a:endParaRPr sz="2400">
                  <a:solidFill>
                    <a:srgbClr val="111827"/>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formed using the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when the repetition of digits is not allowed, and which are not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equal to ______. [JEE(Main) April 2024]</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$3$</a:t>
                </a:r>
                <a:r>
                  <a:rPr sz="2400" b="0">
                    <a:solidFill>
                      <a:srgbClr val="111827"/>
                    </a:solidFill>
                    <a:latin typeface="Arial"/>
                  </a:rPr>
                  <a:t>-digit numbers, formed using the digits </a:t>
                </a:r>
                <a:r>
                  <a:rPr lang="en-IN" sz="2400">
                    <a:solidFill>
                      <a:srgbClr val="111827"/>
                    </a:solidFill>
                    <a:latin typeface="Cambria Math" panose="02040503050406030204" pitchFamily="18" charset="0"/>
                  </a:rPr>
                  <a:t>$2,3,4,5$</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when the repetition of digits is not allowed, and which are not divisible by </a:t>
                </a:r>
                <a:r>
                  <a:rPr lang="en-IN" sz="2400">
                    <a:solidFill>
                      <a:srgbClr val="111827"/>
                    </a:solidFill>
                    <a:latin typeface="Cambria Math" panose="02040503050406030204" pitchFamily="18" charset="0"/>
                  </a:rPr>
                  <a:t>$3$</a:t>
                </a:r>
                <a:r>
                  <a:rPr sz="2400" b="0">
                    <a:solidFill>
                      <a:srgbClr val="111827"/>
                    </a:solidFill>
                    <a:latin typeface="Arial"/>
                  </a:rPr>
                  <a:t>, is equal to ______. [JEE(Main) April 2024]</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Digit arrangements without repetition and divisibility by 3</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Not divisible by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all arrangements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those from triples whose digit sum is a multiple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Not divisible by </a:t>
                </a:r>
                <a:r>
                  <a:rPr lang="en-IN" sz="2400">
                    <a:solidFill>
                      <a:srgbClr val="78350F"/>
                    </a:solidFill>
                    <a:latin typeface="Cambria Math" panose="02040503050406030204" pitchFamily="18" charset="0"/>
                  </a:rPr>
                  <a:t>$3$</a:t>
                </a:r>
                <a:r>
                  <a:rPr sz="2400" b="0">
                    <a:solidFill>
                      <a:srgbClr val="78350F"/>
                    </a:solidFill>
                    <a:latin typeface="Arial"/>
                  </a:rPr>
                  <a:t> </a:t>
                </a:r>
                <a:r>
                  <a:rPr lang="en-IN" sz="2400">
                    <a:solidFill>
                      <a:srgbClr val="78350F"/>
                    </a:solidFill>
                    <a:latin typeface="Cambria Math" panose="02040503050406030204" pitchFamily="18" charset="0"/>
                  </a:rPr>
                  <a:t>$=$</a:t>
                </a:r>
                <a:r>
                  <a:rPr sz="2400" b="0">
                    <a:solidFill>
                      <a:srgbClr val="78350F"/>
                    </a:solidFill>
                    <a:latin typeface="Arial"/>
                  </a:rPr>
                  <a:t> all arrangements </a:t>
                </a:r>
                <a:r>
                  <a:rPr lang="en-IN" sz="2400">
                    <a:solidFill>
                      <a:srgbClr val="78350F"/>
                    </a:solidFill>
                    <a:latin typeface="Cambria Math" panose="02040503050406030204" pitchFamily="18" charset="0"/>
                  </a:rPr>
                  <a:t>$-$</a:t>
                </a:r>
                <a:r>
                  <a:rPr sz="2400" b="0">
                    <a:solidFill>
                      <a:srgbClr val="78350F"/>
                    </a:solidFill>
                    <a:latin typeface="Arial"/>
                  </a:rPr>
                  <a:t> those from triples whose digit sum is a multiple of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from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with no repetition: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when its digit sum is. Triples with such a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a:t>
                </a:r>
                <a:r>
                  <a:rPr sz="2400" b="0">
                    <a:solidFill>
                      <a:srgbClr val="111827"/>
                    </a:solidFill>
                    <a:latin typeface="Arial"/>
                  </a:rPr>
                  <a:t>-digit numbers from </a:t>
                </a:r>
                <a:r>
                  <a:rPr lang="en-IN" sz="2400">
                    <a:solidFill>
                      <a:srgbClr val="111827"/>
                    </a:solidFill>
                    <a:latin typeface="Cambria Math" panose="02040503050406030204" pitchFamily="18" charset="0"/>
                  </a:rPr>
                  <a:t>$2,3,4,5,7$</a:t>
                </a:r>
                <a:r>
                  <a:rPr sz="2400" b="0">
                    <a:solidFill>
                      <a:srgbClr val="111827"/>
                    </a:solidFill>
                    <a:latin typeface="Arial"/>
                  </a:rPr>
                  <a:t> with no repetition: </a:t>
                </a:r>
                <a:r>
                  <a:rPr lang="en-IN" sz="2400">
                    <a:solidFill>
                      <a:srgbClr val="111827"/>
                    </a:solidFill>
                    <a:latin typeface="Cambria Math" panose="02040503050406030204" pitchFamily="18" charset="0"/>
                  </a:rPr>
                  <a:t>${}^5P_3={}^5C_3\times3!=60$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r>
                  <a:rPr lang="en-IN" sz="2400">
                    <a:solidFill>
                      <a:srgbClr val="111827"/>
                    </a:solidFill>
                    <a:latin typeface="Cambria Math" panose="02040503050406030204" pitchFamily="18" charset="0"/>
                  </a:rPr>
                  <a:t>$3$</a:t>
                </a:r>
                <a:r>
                  <a:rPr sz="2400" b="0">
                    <a:solidFill>
                      <a:srgbClr val="111827"/>
                    </a:solidFill>
                    <a:latin typeface="Arial"/>
                  </a:rPr>
                  <a:t> when its digit sum is. Triples with such a sum: </a:t>
                </a:r>
                <a:r>
                  <a:rPr lang="en-IN" sz="2400">
                    <a:solidFill>
                      <a:srgbClr val="111827"/>
                    </a:solidFill>
                    <a:latin typeface="Cambria Math" panose="02040503050406030204" pitchFamily="18" charset="0"/>
                  </a:rPr>
                  <a:t>$\{2,3,4\}$</a:t>
                </a:r>
                <a:r>
                  <a:rPr sz="2400" b="0">
                    <a:solidFill>
                      <a:srgbClr val="111827"/>
                    </a:solidFill>
                    <a:latin typeface="Arial"/>
                  </a:rPr>
                  <a:t> (sum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$\{2,3,7\}$</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$\{3,4,5\}$</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$\{3,5,7\}$</a:t>
                </a:r>
                <a:r>
                  <a:rPr sz="2400" b="0">
                    <a:solidFill>
                      <a:srgbClr val="111827"/>
                    </a:solidFill>
                    <a:latin typeface="Arial"/>
                  </a:rPr>
                  <a:t> (sum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triple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numbers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not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triple gives </a:t>
                </a:r>
                <a:r>
                  <a:rPr lang="en-IN" sz="2400">
                    <a:solidFill>
                      <a:srgbClr val="111827"/>
                    </a:solidFill>
                    <a:latin typeface="Cambria Math" panose="02040503050406030204" pitchFamily="18" charset="0"/>
                  </a:rPr>
                  <a:t>$3!=6$</a:t>
                </a:r>
                <a:r>
                  <a:rPr sz="2400" b="0">
                    <a:solidFill>
                      <a:srgbClr val="111827"/>
                    </a:solidFill>
                    <a:latin typeface="Arial"/>
                  </a:rPr>
                  <a:t> numbers: numbers 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$=6\times4=24$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not 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$=60-24=36$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digits by remainder mod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 triple has sum divisible by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only if its remainders are all different or all equal.</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digits by remainder mod </a:t>
                </a:r>
                <a:r>
                  <a:rPr lang="en-IN" sz="2400">
                    <a:solidFill>
                      <a:srgbClr val="78350F"/>
                    </a:solidFill>
                    <a:latin typeface="Cambria Math" panose="02040503050406030204" pitchFamily="18" charset="0"/>
                  </a:rPr>
                  <a:t>$3$</a:t>
                </a:r>
                <a:r>
                  <a:rPr sz="2400" b="0">
                    <a:solidFill>
                      <a:srgbClr val="78350F"/>
                    </a:solidFill>
                    <a:latin typeface="Arial"/>
                  </a:rPr>
                  <a:t>; a triple has sum divisible by </a:t>
                </a:r>
                <a:r>
                  <a:rPr lang="en-IN" sz="2400">
                    <a:solidFill>
                      <a:srgbClr val="78350F"/>
                    </a:solidFill>
                    <a:latin typeface="Cambria Math" panose="02040503050406030204" pitchFamily="18" charset="0"/>
                  </a:rPr>
                  <a:t>$3$</a:t>
                </a:r>
                <a:r>
                  <a:rPr sz="2400" b="0">
                    <a:solidFill>
                      <a:srgbClr val="78350F"/>
                    </a:solidFill>
                    <a:latin typeface="Arial"/>
                  </a:rPr>
                  <a:t> only if its remainders are all different or all equal.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Remainders: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Class sizes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needs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from each class: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triples) or three equal residues (impossible, no class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triples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numbers are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are not.</a:t>
                </a:r>
                <a:endParaRPr sz="2400">
                  <a:solidFill>
                    <a:srgbClr val="111827"/>
                  </a:solidFill>
                </a:endParaRPr>
              </a:p>
            </p:txBody>
          </p:sp>
        </mc:Choice>
        <mc:Fallback>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Remainders: </a:t>
                </a:r>
                <a:r>
                  <a:rPr lang="en-IN" sz="2400">
                    <a:solidFill>
                      <a:srgbClr val="111827"/>
                    </a:solidFill>
                    <a:latin typeface="Cambria Math" panose="02040503050406030204" pitchFamily="18" charset="0"/>
                  </a:rPr>
                  <a:t>$3\to0$</a:t>
                </a:r>
                <a:r>
                  <a:rPr sz="2400" b="0">
                    <a:solidFill>
                      <a:srgbClr val="111827"/>
                    </a:solidFill>
                    <a:latin typeface="Arial"/>
                  </a:rPr>
                  <a:t>; </a:t>
                </a:r>
                <a:r>
                  <a:rPr lang="en-IN" sz="2400">
                    <a:solidFill>
                      <a:srgbClr val="111827"/>
                    </a:solidFill>
                    <a:latin typeface="Cambria Math" panose="02040503050406030204" pitchFamily="18" charset="0"/>
                  </a:rPr>
                  <a:t>$4,7\to1$</a:t>
                </a:r>
                <a:r>
                  <a:rPr sz="2400" b="0">
                    <a:solidFill>
                      <a:srgbClr val="111827"/>
                    </a:solidFill>
                    <a:latin typeface="Arial"/>
                  </a:rPr>
                  <a:t>; </a:t>
                </a:r>
                <a:r>
                  <a:rPr lang="en-IN" sz="2400">
                    <a:solidFill>
                      <a:srgbClr val="111827"/>
                    </a:solidFill>
                    <a:latin typeface="Cambria Math" panose="02040503050406030204" pitchFamily="18" charset="0"/>
                  </a:rPr>
                  <a:t>$2,5\to2$</a:t>
                </a:r>
                <a:r>
                  <a:rPr sz="2400" b="0">
                    <a:solidFill>
                      <a:srgbClr val="111827"/>
                    </a:solidFill>
                    <a:latin typeface="Arial"/>
                  </a:rPr>
                  <a:t>. Class sizes </a:t>
                </a:r>
                <a:r>
                  <a:rPr lang="en-IN" sz="2400">
                    <a:solidFill>
                      <a:srgbClr val="111827"/>
                    </a:solidFill>
                    <a:latin typeface="Cambria Math" panose="02040503050406030204" pitchFamily="18" charset="0"/>
                  </a:rPr>
                  <a:t>$1,2,2$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divisible by </a:t>
                </a:r>
                <a:r>
                  <a:rPr lang="en-IN" sz="2400">
                    <a:solidFill>
                      <a:srgbClr val="111827"/>
                    </a:solidFill>
                    <a:latin typeface="Cambria Math" panose="02040503050406030204" pitchFamily="18" charset="0"/>
                  </a:rPr>
                  <a:t>$3$</a:t>
                </a:r>
                <a:r>
                  <a:rPr sz="2400" b="0">
                    <a:solidFill>
                      <a:srgbClr val="111827"/>
                    </a:solidFill>
                    <a:latin typeface="Arial"/>
                  </a:rPr>
                  <a:t> needs residues </a:t>
                </a:r>
                <a:r>
                  <a:rPr lang="en-IN" sz="2400">
                    <a:solidFill>
                      <a:srgbClr val="111827"/>
                    </a:solidFill>
                    <a:latin typeface="Cambria Math" panose="02040503050406030204" pitchFamily="18" charset="0"/>
                  </a:rPr>
                  <a:t>$\{0,1,2\}$</a:t>
                </a:r>
                <a:r>
                  <a:rPr sz="2400" b="0">
                    <a:solidFill>
                      <a:srgbClr val="111827"/>
                    </a:solidFill>
                    <a:latin typeface="Arial"/>
                  </a:rPr>
                  <a:t> (one from each class: </a:t>
                </a:r>
                <a:r>
                  <a:rPr lang="en-IN" sz="2400">
                    <a:solidFill>
                      <a:srgbClr val="111827"/>
                    </a:solidFill>
                    <a:latin typeface="Cambria Math" panose="02040503050406030204" pitchFamily="18" charset="0"/>
                  </a:rPr>
                  <a:t>$1\times2\times2=4$</a:t>
                </a:r>
                <a:r>
                  <a:rPr sz="2400" b="0">
                    <a:solidFill>
                      <a:srgbClr val="111827"/>
                    </a:solidFill>
                    <a:latin typeface="Arial"/>
                  </a:rPr>
                  <a:t> triples) or three equal residues (impossible, no class has </a:t>
                </a:r>
                <a:r>
                  <a:rPr lang="en-IN" sz="2400">
                    <a:solidFill>
                      <a:srgbClr val="111827"/>
                    </a:solidFill>
                    <a:latin typeface="Cambria Math" panose="02040503050406030204" pitchFamily="18" charset="0"/>
                  </a:rPr>
                  <a:t>$3$</a:t>
                </a:r>
                <a:r>
                  <a:rPr sz="2400" b="0">
                    <a:solidFill>
                      <a:srgbClr val="111827"/>
                    </a:solidFill>
                    <a:latin typeface="Arial"/>
                  </a:rPr>
                  <a:t>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$4$</a:t>
                </a:r>
                <a:r>
                  <a:rPr sz="2400" b="0">
                    <a:solidFill>
                      <a:srgbClr val="111827"/>
                    </a:solidFill>
                    <a:latin typeface="Arial"/>
                  </a:rPr>
                  <a:t> triples </a:t>
                </a:r>
                <a:r>
                  <a:rPr lang="en-IN" sz="2400">
                    <a:solidFill>
                      <a:srgbClr val="111827"/>
                    </a:solidFill>
                    <a:latin typeface="Cambria Math" panose="02040503050406030204" pitchFamily="18" charset="0"/>
                  </a:rPr>
                  <a:t>$\times3!=24$</a:t>
                </a:r>
                <a:r>
                  <a:rPr sz="2400" b="0">
                    <a:solidFill>
                      <a:srgbClr val="111827"/>
                    </a:solidFill>
                    <a:latin typeface="Arial"/>
                  </a:rPr>
                  <a:t> numbers are divisible by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$60-24=36$</a:t>
                </a:r>
                <a:r>
                  <a:rPr sz="2400" b="0">
                    <a:solidFill>
                      <a:srgbClr val="111827"/>
                    </a:solidFill>
                    <a:latin typeface="Arial"/>
                  </a:rPr>
                  <a:t> are not.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divisibility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 triple works iff its residues are all different or all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counting is shortest when the 'divisible' event involves few triples; classify digits by residue to see how many.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direct count: number of triples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are bad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are good, giving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divisibility by </a:t>
                </a:r>
                <a:r>
                  <a:rPr lang="en-IN" sz="2400">
                    <a:solidFill>
                      <a:srgbClr val="111827"/>
                    </a:solidFill>
                    <a:latin typeface="Cambria Math" panose="02040503050406030204" pitchFamily="18" charset="0"/>
                  </a:rPr>
                  <a:t>$3$</a:t>
                </a:r>
                <a:r>
                  <a:rPr sz="2400" b="0">
                    <a:solidFill>
                      <a:srgbClr val="111827"/>
                    </a:solidFill>
                    <a:latin typeface="Arial"/>
                  </a:rPr>
                  <a:t>: a triple works iff its residues are all different or all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counting is shortest when the 'divisible' event involves few triples; classify digits by residue to see how many.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direct count: number of triples is </a:t>
                </a:r>
                <a:r>
                  <a:rPr lang="en-IN" sz="2400">
                    <a:solidFill>
                      <a:srgbClr val="111827"/>
                    </a:solidFill>
                    <a:latin typeface="Cambria Math" panose="02040503050406030204" pitchFamily="18" charset="0"/>
                  </a:rPr>
                  <a:t>$\binom53=10$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are bad and </a:t>
                </a:r>
                <a:r>
                  <a:rPr lang="en-IN" sz="2400">
                    <a:solidFill>
                      <a:srgbClr val="111827"/>
                    </a:solidFill>
                    <a:latin typeface="Cambria Math" panose="02040503050406030204" pitchFamily="18" charset="0"/>
                  </a:rPr>
                  <a:t>$6$</a:t>
                </a:r>
                <a:r>
                  <a:rPr sz="2400" b="0">
                    <a:solidFill>
                      <a:srgbClr val="111827"/>
                    </a:solidFill>
                    <a:latin typeface="Arial"/>
                  </a:rPr>
                  <a:t> are good, giving </a:t>
                </a:r>
                <a:r>
                  <a:rPr lang="en-IN" sz="2400">
                    <a:solidFill>
                      <a:srgbClr val="111827"/>
                    </a:solidFill>
                    <a:latin typeface="Cambria Math" panose="02040503050406030204" pitchFamily="18" charset="0"/>
                  </a:rPr>
                  <a:t>$6\times6=36$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integers between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1000</m:t>
                    </m:r>
                  </m:oMath>
                </a14:m>
                <a:r>
                  <a:rPr sz="2400" b="0">
                    <a:solidFill>
                      <a:srgbClr val="111827"/>
                    </a:solidFill>
                    <a:latin typeface="Arial"/>
                  </a:rPr>
                  <a:t> having the sum of their digits equals to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is ______. [JEE(Main) April 2024]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integers between </a:t>
                </a:r>
                <a:r>
                  <a:rPr lang="en-IN" sz="2400">
                    <a:solidFill>
                      <a:srgbClr val="111827"/>
                    </a:solidFill>
                    <a:latin typeface="Cambria Math" panose="02040503050406030204" pitchFamily="18" charset="0"/>
                  </a:rPr>
                  <a:t>$100$</a:t>
                </a:r>
                <a:r>
                  <a:rPr sz="2400" b="0">
                    <a:solidFill>
                      <a:srgbClr val="111827"/>
                    </a:solidFill>
                    <a:latin typeface="Arial"/>
                  </a:rPr>
                  <a:t> and </a:t>
                </a:r>
                <a:r>
                  <a:rPr lang="en-IN" sz="2400">
                    <a:solidFill>
                      <a:srgbClr val="111827"/>
                    </a:solidFill>
                    <a:latin typeface="Cambria Math" panose="02040503050406030204" pitchFamily="18" charset="0"/>
                  </a:rPr>
                  <a:t>$1000$</a:t>
                </a:r>
                <a:r>
                  <a:rPr sz="2400" b="0">
                    <a:solidFill>
                      <a:srgbClr val="111827"/>
                    </a:solidFill>
                    <a:latin typeface="Arial"/>
                  </a:rPr>
                  <a:t> having the sum of their digits equals to </a:t>
                </a:r>
                <a:r>
                  <a:rPr lang="en-IN" sz="2400">
                    <a:solidFill>
                      <a:srgbClr val="111827"/>
                    </a:solidFill>
                    <a:latin typeface="Cambria Math" panose="02040503050406030204" pitchFamily="18" charset="0"/>
                  </a:rPr>
                  <a:t>$14$</a:t>
                </a:r>
                <a:r>
                  <a:rPr sz="2400" b="0">
                    <a:solidFill>
                      <a:srgbClr val="111827"/>
                    </a:solidFill>
                    <a:latin typeface="Arial"/>
                  </a:rPr>
                  <a:t>, is ______. [JEE(Main) April 2024]</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Digit-sum counting (integral solutions with bounds)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the three-digit numbers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m:t>
                    </m:r>
                  </m:oMath>
                </a14:m>
                <a:r>
                  <a:rPr sz="2400" b="0">
                    <a:solidFill>
                      <a:srgbClr val="78350F"/>
                    </a:solidFill>
                    <a:latin typeface="Arial"/>
                  </a:rPr>
                  <a:t> by digit pattern and remember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the three-digit numbers </a:t>
                </a:r>
                <a:r>
                  <a:rPr lang="en-IN" sz="2400">
                    <a:solidFill>
                      <a:srgbClr val="78350F"/>
                    </a:solidFill>
                    <a:latin typeface="Cambria Math" panose="02040503050406030204" pitchFamily="18" charset="0"/>
                  </a:rPr>
                  <a:t>$abc$</a:t>
                </a:r>
                <a:r>
                  <a:rPr sz="2400" b="0">
                    <a:solidFill>
                      <a:srgbClr val="78350F"/>
                    </a:solidFill>
                    <a:latin typeface="Arial"/>
                  </a:rPr>
                  <a:t> with </a:t>
                </a:r>
                <a:r>
                  <a:rPr lang="en-IN" sz="2400">
                    <a:solidFill>
                      <a:srgbClr val="78350F"/>
                    </a:solidFill>
                    <a:latin typeface="Cambria Math" panose="02040503050406030204" pitchFamily="18" charset="0"/>
                  </a:rPr>
                  <a:t>$a+b+c=14$</a:t>
                </a:r>
                <a:r>
                  <a:rPr sz="2400" b="0">
                    <a:solidFill>
                      <a:srgbClr val="78350F"/>
                    </a:solidFill>
                    <a:latin typeface="Arial"/>
                  </a:rPr>
                  <a:t> by digit pattern and remember </a:t>
                </a:r>
                <a:r>
                  <a:rPr lang="en-IN" sz="2400">
                    <a:solidFill>
                      <a:srgbClr val="78350F"/>
                    </a:solidFill>
                    <a:latin typeface="Cambria Math" panose="02040503050406030204" pitchFamily="18" charset="0"/>
                  </a:rPr>
                  <a:t>$a\ne0$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 be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all digits at most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digits different, no zero: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triples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digits different with a zero: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zero cannot lead,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numbers each: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number be </a:t>
                </a:r>
                <a:r>
                  <a:rPr lang="en-IN" sz="2400">
                    <a:solidFill>
                      <a:srgbClr val="111827"/>
                    </a:solidFill>
                    <a:latin typeface="Cambria Math" panose="02040503050406030204" pitchFamily="18" charset="0"/>
                  </a:rPr>
                  <a:t>$abc$</a:t>
                </a:r>
                <a:r>
                  <a:rPr sz="2400" b="0">
                    <a:solidFill>
                      <a:srgbClr val="111827"/>
                    </a:solidFill>
                    <a:latin typeface="Arial"/>
                  </a:rPr>
                  <a:t> with </a:t>
                </a:r>
                <a:r>
                  <a:rPr lang="en-IN" sz="2400">
                    <a:solidFill>
                      <a:srgbClr val="111827"/>
                    </a:solidFill>
                    <a:latin typeface="Cambria Math" panose="02040503050406030204" pitchFamily="18" charset="0"/>
                  </a:rPr>
                  <a:t>$a\ge1$</a:t>
                </a:r>
                <a:r>
                  <a:rPr sz="2400" b="0">
                    <a:solidFill>
                      <a:srgbClr val="111827"/>
                    </a:solidFill>
                    <a:latin typeface="Arial"/>
                  </a:rPr>
                  <a:t> and </a:t>
                </a:r>
                <a:r>
                  <a:rPr lang="en-IN" sz="2400">
                    <a:solidFill>
                      <a:srgbClr val="111827"/>
                    </a:solidFill>
                    <a:latin typeface="Cambria Math" panose="02040503050406030204" pitchFamily="18" charset="0"/>
                  </a:rPr>
                  <a:t>$a+b+c=14$</a:t>
                </a:r>
                <a:r>
                  <a:rPr sz="2400" b="0">
                    <a:solidFill>
                      <a:srgbClr val="111827"/>
                    </a:solidFill>
                    <a:latin typeface="Arial"/>
                  </a:rPr>
                  <a:t>, all digits at most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digits different, no zero: </a:t>
                </a:r>
                <a:r>
                  <a:rPr lang="en-IN" sz="2400">
                    <a:solidFill>
                      <a:srgbClr val="111827"/>
                    </a:solidFill>
                    <a:latin typeface="Cambria Math" panose="02040503050406030204" pitchFamily="18" charset="0"/>
                  </a:rPr>
                  <a:t>$\{6,5,3\},\{7,6,1\},\{7,5,2\},\{7,4,3\},\{8,5,1\},\{8,4,2\},\{9,4,1\},\{9,3,2\}$</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triples </a:t>
                </a:r>
                <a:r>
                  <a:rPr lang="en-IN" sz="2400">
                    <a:solidFill>
                      <a:srgbClr val="111827"/>
                    </a:solidFill>
                    <a:latin typeface="Cambria Math" panose="02040503050406030204" pitchFamily="18" charset="0"/>
                  </a:rPr>
                  <a:t>$\times\,3!=48$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digits different with a zero: </a:t>
                </a:r>
                <a:r>
                  <a:rPr lang="en-IN" sz="2400">
                    <a:solidFill>
                      <a:srgbClr val="111827"/>
                    </a:solidFill>
                    <a:latin typeface="Cambria Math" panose="02040503050406030204" pitchFamily="18" charset="0"/>
                  </a:rPr>
                  <a:t>$\{8,6,0\}$</a:t>
                </a:r>
                <a:r>
                  <a:rPr sz="2400" b="0">
                    <a:solidFill>
                      <a:srgbClr val="111827"/>
                    </a:solidFill>
                    <a:latin typeface="Arial"/>
                  </a:rPr>
                  <a:t> and </a:t>
                </a:r>
                <a:r>
                  <a:rPr lang="en-IN" sz="2400">
                    <a:solidFill>
                      <a:srgbClr val="111827"/>
                    </a:solidFill>
                    <a:latin typeface="Cambria Math" panose="02040503050406030204" pitchFamily="18" charset="0"/>
                  </a:rPr>
                  <a:t>$\{9,5,0\}$</a:t>
                </a:r>
                <a:r>
                  <a:rPr sz="2400" b="0">
                    <a:solidFill>
                      <a:srgbClr val="111827"/>
                    </a:solidFill>
                    <a:latin typeface="Arial"/>
                  </a:rPr>
                  <a:t>: the zero cannot lead, so </a:t>
                </a:r>
                <a:r>
                  <a:rPr lang="en-IN" sz="2400">
                    <a:solidFill>
                      <a:srgbClr val="111827"/>
                    </a:solidFill>
                    <a:latin typeface="Cambria Math" panose="02040503050406030204" pitchFamily="18" charset="0"/>
                  </a:rPr>
                  <a:t>$3!-2!=4$</a:t>
                </a:r>
                <a:r>
                  <a:rPr sz="2400" b="0">
                    <a:solidFill>
                      <a:srgbClr val="111827"/>
                    </a:solidFill>
                    <a:latin typeface="Arial"/>
                  </a:rPr>
                  <a:t> numbers each: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two digits alike, digits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each,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only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numbers (</a:t>
                </a:r>
                <a14:m>
                  <m:oMath xmlns:m="http://schemas.openxmlformats.org/officeDocument/2006/math">
                    <m:r>
                      <a:rPr lang="en-IN" sz="2400" i="1">
                        <a:solidFill>
                          <a:srgbClr val="111827"/>
                        </a:solidFill>
                        <a:latin typeface="Cambria Math" panose="02040503050406030204" pitchFamily="18" charset="0"/>
                      </a:rPr>
                      <m:t>770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707</m:t>
                    </m:r>
                  </m:oMath>
                </a14:m>
                <a:r>
                  <a:rPr sz="2400" b="0">
                    <a:solidFill>
                      <a:srgbClr val="111827"/>
                    </a:solidFill>
                    <a:latin typeface="Arial"/>
                  </a:rPr>
                  <a:t>; the arrangement </a:t>
                </a:r>
                <a14:m>
                  <m:oMath xmlns:m="http://schemas.openxmlformats.org/officeDocument/2006/math">
                    <m:r>
                      <a:rPr lang="en-IN" sz="2400" i="1">
                        <a:solidFill>
                          <a:srgbClr val="111827"/>
                        </a:solidFill>
                        <a:latin typeface="Cambria Math" panose="02040503050406030204" pitchFamily="18" charset="0"/>
                      </a:rPr>
                      <m:t>077</m:t>
                    </m:r>
                  </m:oMath>
                </a14:m>
                <a:r>
                  <a:rPr sz="2400" b="0">
                    <a:solidFill>
                      <a:srgbClr val="111827"/>
                    </a:solidFill>
                    <a:latin typeface="Arial"/>
                  </a:rPr>
                  <a:t> is not allowed):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three alike: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is impossible: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Exactly two digits alike, digits </a:t>
                </a:r>
                <a:r>
                  <a:rPr lang="en-IN" sz="2400">
                    <a:solidFill>
                      <a:srgbClr val="111827"/>
                    </a:solidFill>
                    <a:latin typeface="Cambria Math" panose="02040503050406030204" pitchFamily="18" charset="0"/>
                  </a:rPr>
                  <a:t>$a,a,c$</a:t>
                </a:r>
                <a:r>
                  <a:rPr sz="2400" b="0">
                    <a:solidFill>
                      <a:srgbClr val="111827"/>
                    </a:solidFill>
                    <a:latin typeface="Arial"/>
                  </a:rPr>
                  <a:t> with </a:t>
                </a:r>
                <a:r>
                  <a:rPr lang="en-IN" sz="2400">
                    <a:solidFill>
                      <a:srgbClr val="111827"/>
                    </a:solidFill>
                    <a:latin typeface="Cambria Math" panose="02040503050406030204" pitchFamily="18" charset="0"/>
                  </a:rPr>
                  <a:t>$2a+c=14$</a:t>
                </a:r>
                <a:r>
                  <a:rPr sz="2400" b="0">
                    <a:solidFill>
                      <a:srgbClr val="111827"/>
                    </a:solidFill>
                    <a:latin typeface="Arial"/>
                  </a:rPr>
                  <a:t>: </a:t>
                </a:r>
                <a:r>
                  <a:rPr lang="en-IN" sz="2400">
                    <a:solidFill>
                      <a:srgbClr val="111827"/>
                    </a:solidFill>
                    <a:latin typeface="Cambria Math" panose="02040503050406030204" pitchFamily="18" charset="0"/>
                  </a:rPr>
                  <a:t>$(a,c)=(3,8),(4,6),(5,4),(6,2),(7,0)$</a:t>
                </a:r>
                <a:r>
                  <a:rPr sz="2400" b="0">
                    <a:solidFill>
                      <a:srgbClr val="111827"/>
                    </a:solidFill>
                    <a:latin typeface="Arial"/>
                  </a:rPr>
                  <a:t>; arrangements </a:t>
                </a:r>
                <a:r>
                  <a:rPr lang="en-IN" sz="2400">
                    <a:solidFill>
                      <a:srgbClr val="111827"/>
                    </a:solidFill>
                    <a:latin typeface="Cambria Math" panose="02040503050406030204" pitchFamily="18" charset="0"/>
                  </a:rPr>
                  <a:t>$\frac{3!}{2!}=3$</a:t>
                </a:r>
                <a:r>
                  <a:rPr sz="2400" b="0">
                    <a:solidFill>
                      <a:srgbClr val="111827"/>
                    </a:solidFill>
                    <a:latin typeface="Arial"/>
                  </a:rPr>
                  <a:t> each, but </a:t>
                </a:r>
                <a:r>
                  <a:rPr lang="en-IN" sz="2400">
                    <a:solidFill>
                      <a:srgbClr val="111827"/>
                    </a:solidFill>
                    <a:latin typeface="Cambria Math" panose="02040503050406030204" pitchFamily="18" charset="0"/>
                  </a:rPr>
                  <a:t>$(7,0)$</a:t>
                </a:r>
                <a:r>
                  <a:rPr sz="2400" b="0">
                    <a:solidFill>
                      <a:srgbClr val="111827"/>
                    </a:solidFill>
                    <a:latin typeface="Arial"/>
                  </a:rPr>
                  <a:t> gives only </a:t>
                </a:r>
                <a:r>
                  <a:rPr lang="en-IN" sz="2400">
                    <a:solidFill>
                      <a:srgbClr val="111827"/>
                    </a:solidFill>
                    <a:latin typeface="Cambria Math" panose="02040503050406030204" pitchFamily="18" charset="0"/>
                  </a:rPr>
                  <a:t>$2$</a:t>
                </a:r>
                <a:r>
                  <a:rPr sz="2400" b="0">
                    <a:solidFill>
                      <a:srgbClr val="111827"/>
                    </a:solidFill>
                    <a:latin typeface="Arial"/>
                  </a:rPr>
                  <a:t> numbers (</a:t>
                </a:r>
                <a:r>
                  <a:rPr lang="en-IN" sz="2400">
                    <a:solidFill>
                      <a:srgbClr val="111827"/>
                    </a:solidFill>
                    <a:latin typeface="Cambria Math" panose="02040503050406030204" pitchFamily="18" charset="0"/>
                  </a:rPr>
                  <a:t>$770,707$</a:t>
                </a:r>
                <a:r>
                  <a:rPr sz="2400" b="0">
                    <a:solidFill>
                      <a:srgbClr val="111827"/>
                    </a:solidFill>
                    <a:latin typeface="Arial"/>
                  </a:rPr>
                  <a:t>; the arrangement </a:t>
                </a:r>
                <a:r>
                  <a:rPr lang="en-IN" sz="2400">
                    <a:solidFill>
                      <a:srgbClr val="111827"/>
                    </a:solidFill>
                    <a:latin typeface="Cambria Math" panose="02040503050406030204" pitchFamily="18" charset="0"/>
                  </a:rPr>
                  <a:t>$077$</a:t>
                </a:r>
                <a:r>
                  <a:rPr sz="2400" b="0">
                    <a:solidFill>
                      <a:srgbClr val="111827"/>
                    </a:solidFill>
                    <a:latin typeface="Arial"/>
                  </a:rPr>
                  <a:t> is not allowed): </a:t>
                </a:r>
                <a:r>
                  <a:rPr lang="en-IN" sz="2400">
                    <a:solidFill>
                      <a:srgbClr val="111827"/>
                    </a:solidFill>
                    <a:latin typeface="Cambria Math" panose="02040503050406030204" pitchFamily="18" charset="0"/>
                  </a:rPr>
                  <a:t>$4\times3+2=14$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three alike: </a:t>
                </a:r>
                <a:r>
                  <a:rPr lang="en-IN" sz="2400">
                    <a:solidFill>
                      <a:srgbClr val="111827"/>
                    </a:solidFill>
                    <a:latin typeface="Cambria Math" panose="02040503050406030204" pitchFamily="18" charset="0"/>
                  </a:rPr>
                  <a:t>$3a=14$</a:t>
                </a:r>
                <a:r>
                  <a:rPr sz="2400" b="0">
                    <a:solidFill>
                      <a:srgbClr val="111827"/>
                    </a:solidFill>
                    <a:latin typeface="Arial"/>
                  </a:rPr>
                  <a:t> is impossible: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$=48+8+14=70$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70</a:t>
            </a:r>
            <a:endParaRPr sz="2800">
              <a:solidFill>
                <a:srgbClr val="15803D"/>
              </a:solidFill>
            </a:endParaRP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Stars and bars with the bounds </a:t>
                </a:r>
                <a14:m>
                  <m:oMath xmlns:m="http://schemas.openxmlformats.org/officeDocument/2006/math">
                    <m:sSup>
                      <m:e>
                        <m:r>
                          <a:rPr lang="en-IN" sz="2400" i="1">
                            <a:solidFill>
                              <a:srgbClr val="78350F"/>
                            </a:solidFill>
                            <a:latin typeface="Cambria Math" panose="02040503050406030204" pitchFamily="18" charset="0"/>
                          </a:rPr>
                          <m:t>𝑎</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Stars and bars with the bounds </a:t>
                </a:r>
                <a:r>
                  <a:rPr lang="en-IN" sz="2400">
                    <a:solidFill>
                      <a:srgbClr val="78350F"/>
                    </a:solidFill>
                    <a:latin typeface="Cambria Math" panose="02040503050406030204" pitchFamily="18" charset="0"/>
                  </a:rPr>
                  <a:t>$a'=a-1\le8$</a:t>
                </a:r>
                <a:r>
                  <a:rPr sz="2400" b="0">
                    <a:solidFill>
                      <a:srgbClr val="78350F"/>
                    </a:solidFill>
                    <a:latin typeface="Arial"/>
                  </a:rPr>
                  <a:t>, </a:t>
                </a:r>
                <a:r>
                  <a:rPr lang="en-IN" sz="2400">
                    <a:solidFill>
                      <a:srgbClr val="78350F"/>
                    </a:solidFill>
                    <a:latin typeface="Cambria Math" panose="02040503050406030204" pitchFamily="18" charset="0"/>
                  </a:rPr>
                  <a:t>$b,c\le9$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solutions: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Violations: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set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Two violations at once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13</m:t>
                    </m:r>
                  </m:oMath>
                </a14:m>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$a'=a-1\ge0$</a:t>
                </a:r>
                <a:r>
                  <a:rPr sz="2400" b="0">
                    <a:solidFill>
                      <a:srgbClr val="111827"/>
                    </a:solidFill>
                    <a:latin typeface="Arial"/>
                  </a:rPr>
                  <a:t>: </a:t>
                </a:r>
                <a:r>
                  <a:rPr lang="en-IN" sz="2400">
                    <a:solidFill>
                      <a:srgbClr val="111827"/>
                    </a:solidFill>
                    <a:latin typeface="Cambria Math" panose="02040503050406030204" pitchFamily="18" charset="0"/>
                  </a:rPr>
                  <a:t>$a'+b+c=13$</a:t>
                </a:r>
                <a:r>
                  <a:rPr sz="2400" b="0">
                    <a:solidFill>
                      <a:srgbClr val="111827"/>
                    </a:solidFill>
                    <a:latin typeface="Arial"/>
                  </a:rPr>
                  <a:t> with </a:t>
                </a:r>
                <a:r>
                  <a:rPr lang="en-IN" sz="2400">
                    <a:solidFill>
                      <a:srgbClr val="111827"/>
                    </a:solidFill>
                    <a:latin typeface="Cambria Math" panose="02040503050406030204" pitchFamily="18" charset="0"/>
                  </a:rPr>
                  <a:t>$a'\le8$</a:t>
                </a:r>
                <a:r>
                  <a:rPr sz="2400" b="0">
                    <a:solidFill>
                      <a:srgbClr val="111827"/>
                    </a:solidFill>
                    <a:latin typeface="Arial"/>
                  </a:rPr>
                  <a:t>, </a:t>
                </a:r>
                <a:r>
                  <a:rPr lang="en-IN" sz="2400">
                    <a:solidFill>
                      <a:srgbClr val="111827"/>
                    </a:solidFill>
                    <a:latin typeface="Cambria Math" panose="02040503050406030204" pitchFamily="18" charset="0"/>
                  </a:rPr>
                  <a:t>$b\le9$</a:t>
                </a:r>
                <a:r>
                  <a:rPr sz="2400" b="0">
                    <a:solidFill>
                      <a:srgbClr val="111827"/>
                    </a:solidFill>
                    <a:latin typeface="Arial"/>
                  </a:rPr>
                  <a:t>, </a:t>
                </a:r>
                <a:r>
                  <a:rPr lang="en-IN" sz="2400">
                    <a:solidFill>
                      <a:srgbClr val="111827"/>
                    </a:solidFill>
                    <a:latin typeface="Cambria Math" panose="02040503050406030204" pitchFamily="18" charset="0"/>
                  </a:rPr>
                  <a:t>$c\le9$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solutions: </a:t>
                </a:r>
                <a:r>
                  <a:rPr lang="en-IN" sz="2400">
                    <a:solidFill>
                      <a:srgbClr val="111827"/>
                    </a:solidFill>
                    <a:latin typeface="Cambria Math" panose="02040503050406030204" pitchFamily="18" charset="0"/>
                  </a:rPr>
                  <a:t>${}^{15}C_2=105$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Violations: </a:t>
                </a:r>
                <a:r>
                  <a:rPr lang="en-IN" sz="2400">
                    <a:solidFill>
                      <a:srgbClr val="111827"/>
                    </a:solidFill>
                    <a:latin typeface="Cambria Math" panose="02040503050406030204" pitchFamily="18" charset="0"/>
                  </a:rPr>
                  <a:t>$a'\ge9$</a:t>
                </a:r>
                <a:r>
                  <a:rPr sz="2400" b="0">
                    <a:solidFill>
                      <a:srgbClr val="111827"/>
                    </a:solidFill>
                    <a:latin typeface="Arial"/>
                  </a:rPr>
                  <a:t>: set </a:t>
                </a:r>
                <a:r>
                  <a:rPr lang="en-IN" sz="2400">
                    <a:solidFill>
                      <a:srgbClr val="111827"/>
                    </a:solidFill>
                    <a:latin typeface="Cambria Math" panose="02040503050406030204" pitchFamily="18" charset="0"/>
                  </a:rPr>
                  <a:t>$a'=9+a''$</a:t>
                </a:r>
                <a:r>
                  <a:rPr sz="2400" b="0">
                    <a:solidFill>
                      <a:srgbClr val="111827"/>
                    </a:solidFill>
                    <a:latin typeface="Arial"/>
                  </a:rPr>
                  <a:t>, </a:t>
                </a:r>
                <a:r>
                  <a:rPr lang="en-IN" sz="2400">
                    <a:solidFill>
                      <a:srgbClr val="111827"/>
                    </a:solidFill>
                    <a:latin typeface="Cambria Math" panose="02040503050406030204" pitchFamily="18" charset="0"/>
                  </a:rPr>
                  <a:t>$a''+b+c=4$</a:t>
                </a:r>
                <a:r>
                  <a:rPr sz="2400" b="0">
                    <a:solidFill>
                      <a:srgbClr val="111827"/>
                    </a:solidFill>
                    <a:latin typeface="Arial"/>
                  </a:rPr>
                  <a:t>: </a:t>
                </a:r>
                <a:r>
                  <a:rPr lang="en-IN" sz="2400">
                    <a:solidFill>
                      <a:srgbClr val="111827"/>
                    </a:solidFill>
                    <a:latin typeface="Cambria Math" panose="02040503050406030204" pitchFamily="18" charset="0"/>
                  </a:rPr>
                  <a:t>${}^6C_2=15$</a:t>
                </a:r>
                <a:r>
                  <a:rPr sz="2400" b="0">
                    <a:solidFill>
                      <a:srgbClr val="111827"/>
                    </a:solidFill>
                    <a:latin typeface="Arial"/>
                  </a:rPr>
                  <a:t>; </a:t>
                </a:r>
                <a:r>
                  <a:rPr lang="en-IN" sz="2400">
                    <a:solidFill>
                      <a:srgbClr val="111827"/>
                    </a:solidFill>
                    <a:latin typeface="Cambria Math" panose="02040503050406030204" pitchFamily="18" charset="0"/>
                  </a:rPr>
                  <a:t>$b\ge10$</a:t>
                </a:r>
                <a:r>
                  <a:rPr sz="2400" b="0">
                    <a:solidFill>
                      <a:srgbClr val="111827"/>
                    </a:solidFill>
                    <a:latin typeface="Arial"/>
                  </a:rPr>
                  <a:t>: </a:t>
                </a:r>
                <a:r>
                  <a:rPr lang="en-IN" sz="2400">
                    <a:solidFill>
                      <a:srgbClr val="111827"/>
                    </a:solidFill>
                    <a:latin typeface="Cambria Math" panose="02040503050406030204" pitchFamily="18" charset="0"/>
                  </a:rPr>
                  <a:t>$a'+b'+c=3$</a:t>
                </a:r>
                <a:r>
                  <a:rPr sz="2400" b="0">
                    <a:solidFill>
                      <a:srgbClr val="111827"/>
                    </a:solidFill>
                    <a:latin typeface="Arial"/>
                  </a:rPr>
                  <a:t>: </a:t>
                </a:r>
                <a:r>
                  <a:rPr lang="en-IN" sz="2400">
                    <a:solidFill>
                      <a:srgbClr val="111827"/>
                    </a:solidFill>
                    <a:latin typeface="Cambria Math" panose="02040503050406030204" pitchFamily="18" charset="0"/>
                  </a:rPr>
                  <a:t>${}^5C_2=10$</a:t>
                </a:r>
                <a:r>
                  <a:rPr sz="2400" b="0">
                    <a:solidFill>
                      <a:srgbClr val="111827"/>
                    </a:solidFill>
                    <a:latin typeface="Arial"/>
                  </a:rPr>
                  <a:t>; </a:t>
                </a:r>
                <a:r>
                  <a:rPr lang="en-IN" sz="2400">
                    <a:solidFill>
                      <a:srgbClr val="111827"/>
                    </a:solidFill>
                    <a:latin typeface="Cambria Math" panose="02040503050406030204" pitchFamily="18" charset="0"/>
                  </a:rPr>
                  <a:t>$c\ge10$</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Two violations at once need </a:t>
                </a:r>
                <a:r>
                  <a:rPr lang="en-IN" sz="2400">
                    <a:solidFill>
                      <a:srgbClr val="111827"/>
                    </a:solidFill>
                    <a:latin typeface="Cambria Math" panose="02040503050406030204" pitchFamily="18" charset="0"/>
                  </a:rPr>
                  <a:t>$\ge18&gt;13$</a:t>
                </a:r>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$=105-15-10-10=70$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70</a:t>
            </a:r>
            <a:endParaRPr sz="2800">
              <a:solidFill>
                <a:srgbClr val="15803D"/>
              </a:solidFill>
            </a:endParaRP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problems 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numbers: substitute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the leading digit and count bounded non-negative solutions by inclusion-exclusion.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Violating a digit bound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most once or twice - check whether two violations can coexist.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the casework </a:t>
                </a:r>
                <a14:m>
                  <m:oMath xmlns:m="http://schemas.openxmlformats.org/officeDocument/2006/math">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the bounded stars and bars </a:t>
                </a:r>
                <a14:m>
                  <m:oMath xmlns:m="http://schemas.openxmlformats.org/officeDocument/2006/math">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both give </a:t>
                </a:r>
                <a14:m>
                  <m:oMath xmlns:m="http://schemas.openxmlformats.org/officeDocument/2006/math">
                    <m:r>
                      <a:rPr lang="en-IN" sz="2400" i="1">
                        <a:solidFill>
                          <a:srgbClr val="111827"/>
                        </a:solidFill>
                        <a:latin typeface="Cambria Math" panose="02040503050406030204" pitchFamily="18" charset="0"/>
                      </a:rPr>
                      <m:t>70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problems for </a:t>
                </a:r>
                <a:r>
                  <a:rPr lang="en-IN" sz="2400">
                    <a:solidFill>
                      <a:srgbClr val="111827"/>
                    </a:solidFill>
                    <a:latin typeface="Cambria Math" panose="02040503050406030204" pitchFamily="18" charset="0"/>
                  </a:rPr>
                  <a:t>$n$</a:t>
                </a:r>
                <a:r>
                  <a:rPr sz="2400" b="0">
                    <a:solidFill>
                      <a:srgbClr val="111827"/>
                    </a:solidFill>
                    <a:latin typeface="Arial"/>
                  </a:rPr>
                  <a:t>-digit numbers: substitute </a:t>
                </a:r>
                <a:r>
                  <a:rPr lang="en-IN" sz="2400">
                    <a:solidFill>
                      <a:srgbClr val="111827"/>
                    </a:solidFill>
                    <a:latin typeface="Cambria Math" panose="02040503050406030204" pitchFamily="18" charset="0"/>
                  </a:rPr>
                  <a:t>$a'=a-1$</a:t>
                </a:r>
                <a:r>
                  <a:rPr sz="2400" b="0">
                    <a:solidFill>
                      <a:srgbClr val="111827"/>
                    </a:solidFill>
                    <a:latin typeface="Arial"/>
                  </a:rPr>
                  <a:t> for the leading digit and count bounded non-negative solutions by inclusion-exclusion.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Violating a digit bound (</a:t>
                </a:r>
                <a:r>
                  <a:rPr lang="en-IN" sz="2400">
                    <a:solidFill>
                      <a:srgbClr val="111827"/>
                    </a:solidFill>
                    <a:latin typeface="Cambria Math" panose="02040503050406030204" pitchFamily="18" charset="0"/>
                  </a:rPr>
                  <a:t>$\ge10$</a:t>
                </a:r>
                <a:r>
                  <a:rPr sz="2400" b="0">
                    <a:solidFill>
                      <a:srgbClr val="111827"/>
                    </a:solidFill>
                    <a:latin typeface="Arial"/>
                  </a:rPr>
                  <a:t>) at most once or twice - check whether two violations can coexist.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the casework </a:t>
                </a:r>
                <a:r>
                  <a:rPr lang="en-IN" sz="2400">
                    <a:solidFill>
                      <a:srgbClr val="111827"/>
                    </a:solidFill>
                    <a:latin typeface="Cambria Math" panose="02040503050406030204" pitchFamily="18" charset="0"/>
                  </a:rPr>
                  <a:t>$48+8+14$</a:t>
                </a:r>
                <a:r>
                  <a:rPr sz="2400" b="0">
                    <a:solidFill>
                      <a:srgbClr val="111827"/>
                    </a:solidFill>
                    <a:latin typeface="Arial"/>
                  </a:rPr>
                  <a:t> and the bounded stars and bars </a:t>
                </a:r>
                <a:r>
                  <a:rPr lang="en-IN" sz="2400">
                    <a:solidFill>
                      <a:srgbClr val="111827"/>
                    </a:solidFill>
                    <a:latin typeface="Cambria Math" panose="02040503050406030204" pitchFamily="18" charset="0"/>
                  </a:rPr>
                  <a:t>$105-35$</a:t>
                </a:r>
                <a:r>
                  <a:rPr sz="2400" b="0">
                    <a:solidFill>
                      <a:srgbClr val="111827"/>
                    </a:solidFill>
                    <a:latin typeface="Arial"/>
                  </a:rPr>
                  <a:t> both give </a:t>
                </a:r>
                <a:r>
                  <a:rPr lang="en-IN" sz="2400">
                    <a:solidFill>
                      <a:srgbClr val="111827"/>
                    </a:solidFill>
                    <a:latin typeface="Cambria Math" panose="02040503050406030204" pitchFamily="18" charset="0"/>
                  </a:rPr>
                  <a:t>$70$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1.81</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20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30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1 question</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58 questions, 232 marks.  Index = Σ(marks × level) ÷ Σ marks, on the 0-5 scale.</a:t>
            </a:r>
            <a:endParaRPr sz="2400">
              <a:solidFill>
                <a:srgbClr val="111827"/>
              </a:solidFill>
            </a:endParaRP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P&amp;C Exercise J-M</a:t>
                      </a:r>
                    </a:p>
                  </a:txBody>
                  <a:tcPr anchor="ctr" marL="137160" marR="137160">
                    <a:solidFill>
                      <a:srgbClr val="E0ECFF"/>
                    </a:solidFill>
                  </a:tcPr>
                </a:tc>
                <a:tc>
                  <a:txBody>
                    <a:bodyPr/>
                    <a:lstStyle/>
                    <a:p>
                      <a:pPr algn="ctr"/>
                      <a:r>
                        <a:rPr sz="2600" b="1">
                          <a:solidFill>
                            <a:srgbClr val="0B1F3A"/>
                          </a:solidFill>
                          <a:latin typeface="Arial"/>
                        </a:rPr>
                        <a:t>1.81</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