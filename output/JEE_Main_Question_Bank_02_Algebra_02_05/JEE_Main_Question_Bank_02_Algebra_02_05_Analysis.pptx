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FFD966"/>
              </a:solidFill>
              <a:ln w="9525">
                <a:solidFill>
                  <a:srgbClr val="111827"/>
                </a:solidFill>
              </a:ln>
            </c:spPr>
          </c:dPt>
          <c:dPt>
            <c:idx val="2"/>
            <c:spPr>
              <a:solidFill>
                <a:srgbClr val="B6D7A8"/>
              </a:solidFill>
              <a:ln w="9525">
                <a:solidFill>
                  <a:srgbClr val="111827"/>
                </a:solidFill>
              </a:ln>
            </c:spPr>
          </c:dPt>
          <c:dPt>
            <c:idx val="3"/>
            <c:spPr>
              <a:solidFill>
                <a:srgbClr val="B6D7A8"/>
              </a:solidFill>
              <a:ln w="9525">
                <a:solidFill>
                  <a:srgbClr val="111827"/>
                </a:solidFill>
              </a:ln>
            </c:spPr>
          </c:dPt>
          <c:dPt>
            <c:idx val="4"/>
            <c:spPr>
              <a:solidFill>
                <a:srgbClr val="FFD966"/>
              </a:solidFill>
              <a:ln w="9525">
                <a:solidFill>
                  <a:srgbClr val="111827"/>
                </a:solidFill>
              </a:ln>
            </c:spPr>
          </c:dPt>
          <c:dPt>
            <c:idx val="5"/>
            <c:spPr>
              <a:solidFill>
                <a:srgbClr val="FFD966"/>
              </a:solidFill>
              <a:ln w="9525">
                <a:solidFill>
                  <a:srgbClr val="111827"/>
                </a:solidFill>
              </a:ln>
            </c:spPr>
          </c:dPt>
          <c:dPt>
            <c:idx val="6"/>
            <c:spPr>
              <a:solidFill>
                <a:srgbClr val="FFD966"/>
              </a:solidFill>
              <a:ln w="9525">
                <a:solidFill>
                  <a:srgbClr val="111827"/>
                </a:solidFill>
              </a:ln>
            </c:spPr>
          </c:dPt>
          <c:dPt>
            <c:idx val="7"/>
            <c:spPr>
              <a:solidFill>
                <a:srgbClr val="B6D7A8"/>
              </a:solidFill>
              <a:ln w="9525">
                <a:solidFill>
                  <a:srgbClr val="111827"/>
                </a:solidFill>
              </a:ln>
            </c:spPr>
          </c:dPt>
          <c:dPt>
            <c:idx val="8"/>
            <c:spPr>
              <a:solidFill>
                <a:srgbClr val="FFD966"/>
              </a:solidFill>
              <a:ln w="9525">
                <a:solidFill>
                  <a:srgbClr val="111827"/>
                </a:solidFill>
              </a:ln>
            </c:spPr>
          </c:dPt>
          <c:dPt>
            <c:idx val="9"/>
            <c:spPr>
              <a:solidFill>
                <a:srgbClr val="FFD966"/>
              </a:solidFill>
              <a:ln w="9525">
                <a:solidFill>
                  <a:srgbClr val="111827"/>
                </a:solidFill>
              </a:ln>
            </c:spPr>
          </c:dPt>
          <c:dPt>
            <c:idx val="10"/>
            <c:spPr>
              <a:solidFill>
                <a:srgbClr val="B6D7A8"/>
              </a:solidFill>
              <a:ln w="9525">
                <a:solidFill>
                  <a:srgbClr val="111827"/>
                </a:solidFill>
              </a:ln>
            </c:spPr>
          </c:dPt>
          <c:dPt>
            <c:idx val="11"/>
            <c:spPr>
              <a:solidFill>
                <a:srgbClr val="B6D7A8"/>
              </a:solidFill>
              <a:ln w="9525">
                <a:solidFill>
                  <a:srgbClr val="111827"/>
                </a:solidFill>
              </a:ln>
            </c:spPr>
          </c:dPt>
          <c:dPt>
            <c:idx val="12"/>
            <c:spPr>
              <a:solidFill>
                <a:srgbClr val="F6B26B"/>
              </a:solidFill>
              <a:ln w="9525">
                <a:solidFill>
                  <a:srgbClr val="111827"/>
                </a:solidFill>
              </a:ln>
            </c:spPr>
          </c:dPt>
          <c:dPt>
            <c:idx val="13"/>
            <c:spPr>
              <a:solidFill>
                <a:srgbClr val="F6B26B"/>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FFD966"/>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6B26B"/>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1.0</c:v>
                </c:pt>
                <c:pt idx="1">
                  <c:v>2.0</c:v>
                </c:pt>
                <c:pt idx="2">
                  <c:v>1.0</c:v>
                </c:pt>
                <c:pt idx="3">
                  <c:v>1.0</c:v>
                </c:pt>
                <c:pt idx="4">
                  <c:v>2.0</c:v>
                </c:pt>
                <c:pt idx="5">
                  <c:v>2.0</c:v>
                </c:pt>
                <c:pt idx="6">
                  <c:v>2.0</c:v>
                </c:pt>
                <c:pt idx="7">
                  <c:v>1.0</c:v>
                </c:pt>
                <c:pt idx="8">
                  <c:v>2.0</c:v>
                </c:pt>
                <c:pt idx="9">
                  <c:v>2.0</c:v>
                </c:pt>
                <c:pt idx="10">
                  <c:v>1.0</c:v>
                </c:pt>
                <c:pt idx="11">
                  <c:v>1.0</c:v>
                </c:pt>
                <c:pt idx="12">
                  <c:v>3.0</c:v>
                </c:pt>
                <c:pt idx="13">
                  <c:v>3.0</c:v>
                </c:pt>
                <c:pt idx="14">
                  <c:v>2.0</c:v>
                </c:pt>
                <c:pt idx="15">
                  <c:v>2.0</c:v>
                </c:pt>
                <c:pt idx="16">
                  <c:v>2.0</c:v>
                </c:pt>
                <c:pt idx="17">
                  <c:v>2.0</c:v>
                </c:pt>
                <c:pt idx="18">
                  <c:v>2.0</c:v>
                </c:pt>
                <c:pt idx="19">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Gap in the PDF: for b it writes b = e^2 without stating why. Added the step that the numerator of the r-th term is sum of rCk = 2^r, so b = sum 2^r/r! = e^2. Every other step and the answer 8 agree with the PDF.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Typo in the PDF: the x = -1 line is printed as a0 - a1 + a2 + ... + a19 + a20 = 1 (signs of the odd terms not alternating). It should be a0 - a1 + a2 - a3 + ... - a19 + a20 = 1; the subtraction that follows and the answer 239 are unaffected.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Typo in the PDF's last line: it adds 2 + 4 + 5 + 6 + 8 (the digit 7 of 245678 is missing, which would give 25) but states 32. The correct sum 2+4+5+6+7+8 = 32 matches the answer; also the PDF's phrase 'Next number at 72nd option' is expanded into the explicit positions 1-56 and 57-71.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02 Algebra 02 (Set 05) — Paper Analysis</a:t>
            </a:r>
            <a:endParaRPr sz="4000">
              <a:solidFill>
                <a:srgbClr val="FFFFFF"/>
              </a:solidFill>
            </a:endParaRPr>
          </a:p>
          <a:p>
            <a:pPr algn="ctr"/>
            <a:r>
              <a:rPr sz="2200">
                <a:solidFill>
                  <a:srgbClr val="FFFFFF"/>
                </a:solidFill>
                <a:latin typeface="Arial"/>
              </a:rPr>
              <a:t>Questions 1–20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Q09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for a correct answer (assumed) · no negative marking assumed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100</m:t>
                        </m:r>
                      </m:sup>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up>
                        </m:sSup>
                      </m:e>
                    </m:nary>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100</m:t>
                        </m:r>
                      </m:sup>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sup>
                        </m:sSup>
                      </m:e>
                    </m:nary>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are the roots of the quadratic equation: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$\alpha=\frac{-1+i\sqrt3}{2}$</a:t>
                </a:r>
                <a:r>
                  <a:rPr sz="2400" b="0">
                    <a:solidFill>
                      <a:srgbClr val="111827"/>
                    </a:solidFill>
                    <a:latin typeface="Arial"/>
                  </a:rPr>
                  <a:t>. If </a:t>
                </a:r>
                <a:r>
                  <a:rPr lang="en-IN" sz="2400">
                    <a:solidFill>
                      <a:srgbClr val="111827"/>
                    </a:solidFill>
                    <a:latin typeface="Cambria Math" panose="02040503050406030204" pitchFamily="18" charset="0"/>
                  </a:rPr>
                  <a:t>$a=(1+\alpha)\sum_{k=0}^{100}\alpha^{2k}$</a:t>
                </a:r>
                <a:r>
                  <a:rPr sz="2400" b="0">
                    <a:solidFill>
                      <a:srgbClr val="111827"/>
                    </a:solidFill>
                    <a:latin typeface="Arial"/>
                  </a:rPr>
                  <a:t> and </a:t>
                </a:r>
                <a:r>
                  <a:rPr lang="en-IN" sz="2400">
                    <a:solidFill>
                      <a:srgbClr val="111827"/>
                    </a:solidFill>
                    <a:latin typeface="Cambria Math" panose="02040503050406030204" pitchFamily="18" charset="0"/>
                  </a:rPr>
                  <a:t>$b=\sum_{k=0}^{100}\alpha^{3k}$</a:t>
                </a:r>
                <a:r>
                  <a:rPr sz="2400" b="0">
                    <a:solidFill>
                      <a:srgbClr val="111827"/>
                    </a:solidFill>
                    <a:latin typeface="Arial"/>
                  </a:rPr>
                  <a:t>, then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the roots of the quadratic equation: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$x^2+102x+101=0$</a:t>
                </a:r>
                <a:r>
                  <a:rPr sz="2400" b="0">
                    <a:solidFill>
                      <a:srgbClr val="111827"/>
                    </a:solidFill>
                    <a:latin typeface="Arial"/>
                  </a:rPr>
                  <a:t>   (B) </a:t>
                </a:r>
                <a:r>
                  <a:rPr lang="en-IN" sz="2400">
                    <a:solidFill>
                      <a:srgbClr val="111827"/>
                    </a:solidFill>
                    <a:latin typeface="Cambria Math" panose="02040503050406030204" pitchFamily="18" charset="0"/>
                  </a:rPr>
                  <a:t>$x^2-101x+100=0$</a:t>
                </a:r>
                <a:r>
                  <a:rPr sz="2400" b="0">
                    <a:solidFill>
                      <a:srgbClr val="111827"/>
                    </a:solidFill>
                    <a:latin typeface="Arial"/>
                  </a:rPr>
                  <a:t>   (C) </a:t>
                </a:r>
                <a:r>
                  <a:rPr lang="en-IN" sz="2400">
                    <a:solidFill>
                      <a:srgbClr val="111827"/>
                    </a:solidFill>
                    <a:latin typeface="Cambria Math" panose="02040503050406030204" pitchFamily="18" charset="0"/>
                  </a:rPr>
                  <a:t>$x^2-102x+101=0$</a:t>
                </a:r>
                <a:r>
                  <a:rPr sz="2400" b="0">
                    <a:solidFill>
                      <a:srgbClr val="111827"/>
                    </a:solidFill>
                    <a:latin typeface="Arial"/>
                  </a:rPr>
                  <a:t>   (D) </a:t>
                </a:r>
                <a:r>
                  <a:rPr lang="en-IN" sz="2400">
                    <a:solidFill>
                      <a:srgbClr val="111827"/>
                    </a:solidFill>
                    <a:latin typeface="Cambria Math" panose="02040503050406030204" pitchFamily="18" charset="0"/>
                  </a:rPr>
                  <a:t>$x^2+101x+100=0$</a:t>
                </a:r>
                <a:endParaRPr sz="2400">
                  <a:solidFill>
                    <a:srgbClr val="111827"/>
                  </a:solidFill>
                </a:endParaRPr>
              </a:p>
            </p:txBody>
          </p:sp>
        </mc:Fallback>
      </mc:AlternateContent>
      <p:sp>
        <p:nvSpPr>
          <p:cNvPr id="5" name="Rectangle 4"/>
          <p:cNvSpPr/>
          <p:nvPr/>
        </p:nvSpPr>
        <p:spPr>
          <a:xfrm>
            <a:off x="731520" y="406196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Cube roots of unity and G.P. sum, Relation between roots and coefficients of a quadratic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ω</m:t>
                    </m:r>
                  </m:oMath>
                </a14:m>
                <a:r>
                  <a:rPr sz="2400" b="0">
                    <a:solidFill>
                      <a:srgbClr val="78350F"/>
                    </a:solidFill>
                    <a:latin typeface="Arial"/>
                  </a:rPr>
                  <a:t> is a cube root of unity, so the G.P. collapses using </a:t>
                </a:r>
                <a14:m>
                  <m:oMath xmlns:m="http://schemas.openxmlformats.org/officeDocument/2006/math">
                    <m:sSup>
                      <m:e>
                        <m:r>
                          <a:rPr lang="en-IN" sz="2400" i="1">
                            <a:solidFill>
                              <a:srgbClr val="78350F"/>
                            </a:solidFill>
                            <a:latin typeface="Cambria Math" panose="02040503050406030204" pitchFamily="18" charset="0"/>
                          </a:rPr>
                          <m:t>ω</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ω</m:t>
                        </m:r>
                      </m:e>
                      <m:sup>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$\alpha=\omega$</a:t>
                </a:r>
                <a:r>
                  <a:rPr sz="2400" b="0">
                    <a:solidFill>
                      <a:srgbClr val="78350F"/>
                    </a:solidFill>
                    <a:latin typeface="Arial"/>
                  </a:rPr>
                  <a:t> is a cube root of unity, so the G.P. collapses using </a:t>
                </a:r>
                <a:r>
                  <a:rPr lang="en-IN" sz="2400">
                    <a:solidFill>
                      <a:srgbClr val="78350F"/>
                    </a:solidFill>
                    <a:latin typeface="Cambria Math" panose="02040503050406030204" pitchFamily="18" charset="0"/>
                  </a:rPr>
                  <a:t>$\omega^{3}=1$</a:t>
                </a:r>
                <a:r>
                  <a:rPr sz="2400" b="0">
                    <a:solidFill>
                      <a:srgbClr val="78350F"/>
                    </a:solidFill>
                    <a:latin typeface="Arial"/>
                  </a:rPr>
                  <a:t> and </a:t>
                </a:r>
                <a:r>
                  <a:rPr lang="en-IN" sz="2400">
                    <a:solidFill>
                      <a:srgbClr val="78350F"/>
                    </a:solidFill>
                    <a:latin typeface="Cambria Math" panose="02040503050406030204" pitchFamily="18" charset="0"/>
                  </a:rPr>
                  <a:t>$\omega^{3k}=1$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a primitive cube root of unity: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200</m:t>
                            </m:r>
                          </m:sup>
                        </m:sSup>
                      </m:e>
                    </m:d>
                  </m:oMath>
                </a14:m>
                <a:r>
                  <a:rPr sz="2400" b="0">
                    <a:solidFill>
                      <a:srgbClr val="111827"/>
                    </a:solidFill>
                    <a:latin typeface="Arial"/>
                  </a:rPr>
                  <a:t>, a G.P. of 101 terms with ratio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101</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202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$\alpha=\frac{-1+i\sqrt3}{2}=\omega$</a:t>
                </a:r>
                <a:r>
                  <a:rPr sz="2400" b="0">
                    <a:solidFill>
                      <a:srgbClr val="111827"/>
                    </a:solidFill>
                    <a:latin typeface="Arial"/>
                  </a:rPr>
                  <a:t>, a primitive cube root of unity: </a:t>
                </a:r>
                <a:r>
                  <a:rPr lang="en-IN" sz="2400">
                    <a:solidFill>
                      <a:srgbClr val="111827"/>
                    </a:solidFill>
                    <a:latin typeface="Cambria Math" panose="02040503050406030204" pitchFamily="18" charset="0"/>
                  </a:rPr>
                  <a:t>$\omega^3=1$</a:t>
                </a:r>
                <a:r>
                  <a:rPr sz="2400" b="0">
                    <a:solidFill>
                      <a:srgbClr val="111827"/>
                    </a:solidFill>
                    <a:latin typeface="Arial"/>
                  </a:rPr>
                  <a:t>, </a:t>
                </a:r>
                <a:r>
                  <a:rPr lang="en-IN" sz="2400">
                    <a:solidFill>
                      <a:srgbClr val="111827"/>
                    </a:solidFill>
                    <a:latin typeface="Cambria Math" panose="02040503050406030204" pitchFamily="18" charset="0"/>
                  </a:rPr>
                  <a:t>$1+\omega+\omega^2=0$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$a=(1+\omega)\left(1+\omega^2+\omega^4+\dots+\omega^{200}\right)$</a:t>
                </a:r>
                <a:r>
                  <a:rPr sz="2400" b="0">
                    <a:solidFill>
                      <a:srgbClr val="111827"/>
                    </a:solidFill>
                    <a:latin typeface="Arial"/>
                  </a:rPr>
                  <a:t>, a G.P. of 101 terms with ratio </a:t>
                </a:r>
                <a:r>
                  <a:rPr lang="en-IN" sz="2400">
                    <a:solidFill>
                      <a:srgbClr val="111827"/>
                    </a:solidFill>
                    <a:latin typeface="Cambria Math" panose="02040503050406030204" pitchFamily="18" charset="0"/>
                  </a:rPr>
                  <a:t>$\omega^2$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$a=(1+\omega)\,\frac{1-(\omega^2)^{101}}{1-\omega^2}$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$1-\omega^2=(1-\omega)(1+\omega)$</a:t>
                </a:r>
                <a:r>
                  <a:rPr sz="2400" b="0">
                    <a:solidFill>
                      <a:srgbClr val="111827"/>
                    </a:solidFill>
                    <a:latin typeface="Arial"/>
                  </a:rPr>
                  <a:t>: </a:t>
                </a:r>
                <a:r>
                  <a:rPr lang="en-IN" sz="2400">
                    <a:solidFill>
                      <a:srgbClr val="111827"/>
                    </a:solidFill>
                    <a:latin typeface="Cambria Math" panose="02040503050406030204" pitchFamily="18" charset="0"/>
                  </a:rPr>
                  <a:t>$a=\frac{1-\omega^{202}}{1-\omega}$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202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300</m:t>
                        </m:r>
                      </m:sup>
                    </m:sSup>
                  </m:oMath>
                </a14:m>
                <a:r>
                  <a:rPr sz="2400" b="0">
                    <a:solidFill>
                      <a:srgbClr val="111827"/>
                    </a:solidFill>
                    <a:latin typeface="Arial"/>
                  </a:rPr>
                  <a:t>: every term equals 1 and there are 101 terms,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oMath>
                </a14:m>
                <a:r>
                  <a:rPr sz="2400" b="0">
                    <a:solidFill>
                      <a:srgbClr val="111827"/>
                    </a:solidFill>
                    <a:latin typeface="Arial"/>
                  </a:rPr>
                  <a:t> and product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$\omega^{202}=\omega^{3\cdot67+1}=\omega$</a:t>
                </a:r>
                <a:r>
                  <a:rPr sz="2400" b="0">
                    <a:solidFill>
                      <a:srgbClr val="111827"/>
                    </a:solidFill>
                    <a:latin typeface="Arial"/>
                  </a:rPr>
                  <a:t>, so </a:t>
                </a:r>
                <a:r>
                  <a:rPr lang="en-IN" sz="2400">
                    <a:solidFill>
                      <a:srgbClr val="111827"/>
                    </a:solidFill>
                    <a:latin typeface="Cambria Math" panose="02040503050406030204" pitchFamily="18" charset="0"/>
                  </a:rPr>
                  <a:t>$a=\frac{1-\omega}{1-\omega}=1$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$b=1+\omega^3+\omega^6+\dots+\omega^{300}$</a:t>
                </a:r>
                <a:r>
                  <a:rPr sz="2400" b="0">
                    <a:solidFill>
                      <a:srgbClr val="111827"/>
                    </a:solidFill>
                    <a:latin typeface="Arial"/>
                  </a:rPr>
                  <a:t>: every term equals 1 and there are 101 terms, so </a:t>
                </a:r>
                <a:r>
                  <a:rPr lang="en-IN" sz="2400">
                    <a:solidFill>
                      <a:srgbClr val="111827"/>
                    </a:solidFill>
                    <a:latin typeface="Cambria Math" panose="02040503050406030204" pitchFamily="18" charset="0"/>
                  </a:rPr>
                  <a:t>$b=101$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$a+b=102$</a:t>
                </a:r>
                <a:r>
                  <a:rPr sz="2400" b="0">
                    <a:solidFill>
                      <a:srgbClr val="111827"/>
                    </a:solidFill>
                    <a:latin typeface="Arial"/>
                  </a:rPr>
                  <a:t> and product </a:t>
                </a:r>
                <a:r>
                  <a:rPr lang="en-IN" sz="2400">
                    <a:solidFill>
                      <a:srgbClr val="111827"/>
                    </a:solidFill>
                    <a:latin typeface="Cambria Math" panose="02040503050406030204" pitchFamily="18" charset="0"/>
                  </a:rPr>
                  <a:t>$ab=101$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$x^2-102x+101=0$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102</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$x^2-102x+101=0$</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period 3 of </a:t>
                </a:r>
                <a14:m>
                  <m:oMath xmlns:m="http://schemas.openxmlformats.org/officeDocument/2006/math">
                    <m:sSup>
                      <m:e>
                        <m:r>
                          <a:rPr lang="en-IN" sz="2400" i="1">
                            <a:solidFill>
                              <a:srgbClr val="78350F"/>
                            </a:solidFill>
                            <a:latin typeface="Cambria Math" panose="02040503050406030204" pitchFamily="18" charset="0"/>
                          </a:rPr>
                          <m:t>ω</m:t>
                        </m:r>
                      </m:e>
                      <m:sup>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sup>
                    </m:sSup>
                  </m:oMath>
                </a14:m>
                <a:r>
                  <a:rPr sz="2400" b="0">
                    <a:solidFill>
                      <a:srgbClr val="78350F"/>
                    </a:solidFill>
                    <a:latin typeface="Arial"/>
                  </a:rPr>
                  <a:t>: full blocks of three consecutive powers add to 0, only the leftover terms survive.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period 3 of </a:t>
                </a:r>
                <a:r>
                  <a:rPr lang="en-IN" sz="2400">
                    <a:solidFill>
                      <a:srgbClr val="78350F"/>
                    </a:solidFill>
                    <a:latin typeface="Cambria Math" panose="02040503050406030204" pitchFamily="18" charset="0"/>
                  </a:rPr>
                  <a:t>$\omega^{2k}$</a:t>
                </a:r>
                <a:r>
                  <a:rPr sz="2400" b="0">
                    <a:solidFill>
                      <a:srgbClr val="78350F"/>
                    </a:solidFill>
                    <a:latin typeface="Arial"/>
                  </a:rPr>
                  <a:t>: full blocks of three consecutive powers add to 0, only the leftover terms survive.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repeats with period 3: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then again,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each block of three consecutive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101 terms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33 blocks vanish and only the last two terms remain: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give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198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100</m:t>
                        </m:r>
                      </m:sup>
                      <m:e>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up>
                        </m:s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$\omega^{2k}$</a:t>
                </a:r>
                <a:r>
                  <a:rPr sz="2400" b="0">
                    <a:solidFill>
                      <a:srgbClr val="111827"/>
                    </a:solidFill>
                    <a:latin typeface="Arial"/>
                  </a:rPr>
                  <a:t> repeats with period 3: </a:t>
                </a:r>
                <a:r>
                  <a:rPr lang="en-IN" sz="2400">
                    <a:solidFill>
                      <a:srgbClr val="111827"/>
                    </a:solidFill>
                    <a:latin typeface="Cambria Math" panose="02040503050406030204" pitchFamily="18" charset="0"/>
                  </a:rPr>
                  <a:t>$\omega^0,\omega^2,\omega^4=\omega$</a:t>
                </a:r>
                <a:r>
                  <a:rPr sz="2400" b="0">
                    <a:solidFill>
                      <a:srgbClr val="111827"/>
                    </a:solidFill>
                    <a:latin typeface="Arial"/>
                  </a:rPr>
                  <a:t>, then again, and </a:t>
                </a:r>
                <a:r>
                  <a:rPr lang="en-IN" sz="2400">
                    <a:solidFill>
                      <a:srgbClr val="111827"/>
                    </a:solidFill>
                    <a:latin typeface="Cambria Math" panose="02040503050406030204" pitchFamily="18" charset="0"/>
                  </a:rPr>
                  <a:t>$1+\omega^2+\omega=0$</a:t>
                </a:r>
                <a:r>
                  <a:rPr sz="2400" b="0">
                    <a:solidFill>
                      <a:srgbClr val="111827"/>
                    </a:solidFill>
                    <a:latin typeface="Arial"/>
                  </a:rPr>
                  <a:t> for each block of three consecutive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101 terms </a:t>
                </a:r>
                <a:r>
                  <a:rPr lang="en-IN" sz="2400">
                    <a:solidFill>
                      <a:srgbClr val="111827"/>
                    </a:solidFill>
                    <a:latin typeface="Cambria Math" panose="02040503050406030204" pitchFamily="18" charset="0"/>
                  </a:rPr>
                  <a:t>$=3\cdot33+2$</a:t>
                </a:r>
                <a:r>
                  <a:rPr sz="2400" b="0">
                    <a:solidFill>
                      <a:srgbClr val="111827"/>
                    </a:solidFill>
                    <a:latin typeface="Arial"/>
                  </a:rPr>
                  <a:t>, so 33 blocks vanish and only the last two terms remain: </a:t>
                </a:r>
                <a:r>
                  <a:rPr lang="en-IN" sz="2400">
                    <a:solidFill>
                      <a:srgbClr val="111827"/>
                    </a:solidFill>
                    <a:latin typeface="Cambria Math" panose="02040503050406030204" pitchFamily="18" charset="0"/>
                  </a:rPr>
                  <a:t>$k=99,100$</a:t>
                </a:r>
                <a:r>
                  <a:rPr sz="2400" b="0">
                    <a:solidFill>
                      <a:srgbClr val="111827"/>
                    </a:solidFill>
                    <a:latin typeface="Arial"/>
                  </a:rPr>
                  <a:t> give </a:t>
                </a:r>
                <a:r>
                  <a:rPr lang="en-IN" sz="2400">
                    <a:solidFill>
                      <a:srgbClr val="111827"/>
                    </a:solidFill>
                    <a:latin typeface="Cambria Math" panose="02040503050406030204" pitchFamily="18" charset="0"/>
                  </a:rPr>
                  <a:t>$\omega^{198}=1$</a:t>
                </a:r>
                <a:r>
                  <a:rPr sz="2400" b="0">
                    <a:solidFill>
                      <a:srgbClr val="111827"/>
                    </a:solidFill>
                    <a:latin typeface="Arial"/>
                  </a:rPr>
                  <a:t> and </a:t>
                </a:r>
                <a:r>
                  <a:rPr lang="en-IN" sz="2400">
                    <a:solidFill>
                      <a:srgbClr val="111827"/>
                    </a:solidFill>
                    <a:latin typeface="Cambria Math" panose="02040503050406030204" pitchFamily="18" charset="0"/>
                  </a:rPr>
                  <a:t>$\omega^{200}=\omega^{2}$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$\sum_{k=0}^{100}\omega^{2k}=1+\omega^2=-\omega$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 the equation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(C),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$1+\omega=-\omega^2$</a:t>
                </a:r>
                <a:r>
                  <a:rPr sz="2400" b="0">
                    <a:solidFill>
                      <a:srgbClr val="111827"/>
                    </a:solidFill>
                    <a:latin typeface="Arial"/>
                  </a:rPr>
                  <a:t>: </a:t>
                </a:r>
                <a:r>
                  <a:rPr lang="en-IN" sz="2400">
                    <a:solidFill>
                      <a:srgbClr val="111827"/>
                    </a:solidFill>
                    <a:latin typeface="Cambria Math" panose="02040503050406030204" pitchFamily="18" charset="0"/>
                  </a:rPr>
                  <a:t>$a=(1+\omega)(1+\omega^2)=(-\omega^2)(-\omega)=\omega^3=1$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$\omega^{3k}=1$</a:t>
                </a:r>
                <a:r>
                  <a:rPr sz="2400" b="0">
                    <a:solidFill>
                      <a:srgbClr val="111827"/>
                    </a:solidFill>
                    <a:latin typeface="Arial"/>
                  </a:rPr>
                  <a:t> for all </a:t>
                </a:r>
                <a:r>
                  <a:rPr lang="en-IN" sz="2400">
                    <a:solidFill>
                      <a:srgbClr val="111827"/>
                    </a:solidFill>
                    <a:latin typeface="Cambria Math" panose="02040503050406030204" pitchFamily="18" charset="0"/>
                  </a:rPr>
                  <a:t>$k$</a:t>
                </a:r>
                <a:r>
                  <a:rPr sz="2400" b="0">
                    <a:solidFill>
                      <a:srgbClr val="111827"/>
                    </a:solidFill>
                    <a:latin typeface="Arial"/>
                  </a:rPr>
                  <a:t>, so </a:t>
                </a:r>
                <a:r>
                  <a:rPr lang="en-IN" sz="2400">
                    <a:solidFill>
                      <a:srgbClr val="111827"/>
                    </a:solidFill>
                    <a:latin typeface="Cambria Math" panose="02040503050406030204" pitchFamily="18" charset="0"/>
                  </a:rPr>
                  <a:t>$b=101$</a:t>
                </a:r>
                <a:r>
                  <a:rPr sz="2400" b="0">
                    <a:solidFill>
                      <a:srgbClr val="111827"/>
                    </a:solidFill>
                    <a:latin typeface="Arial"/>
                  </a:rPr>
                  <a:t>; the equation is </a:t>
                </a:r>
                <a:r>
                  <a:rPr lang="en-IN" sz="2400">
                    <a:solidFill>
                      <a:srgbClr val="111827"/>
                    </a:solidFill>
                    <a:latin typeface="Cambria Math" panose="02040503050406030204" pitchFamily="18" charset="0"/>
                  </a:rPr>
                  <a:t>$x^2-102x+101=0$</a:t>
                </a:r>
                <a:r>
                  <a:rPr sz="2400" b="0">
                    <a:solidFill>
                      <a:srgbClr val="111827"/>
                    </a:solidFill>
                    <a:latin typeface="Arial"/>
                  </a:rPr>
                  <a:t>. Option (C),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102</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$x^2-102x+101=0$</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𝑘</m:t>
                            </m:r>
                          </m:sup>
                        </m:sSup>
                      </m:e>
                    </m:nary>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according 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use them to remove brackets like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sum of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is just a count of terms; any sum of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over a block of 3 consecutive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0.</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$\omega^3=1,\ \omega\ne1$</a:t>
                </a:r>
                <a:r>
                  <a:rPr sz="2400" b="0">
                    <a:solidFill>
                      <a:srgbClr val="111827"/>
                    </a:solidFill>
                    <a:latin typeface="Arial"/>
                  </a:rPr>
                  <a:t>: </a:t>
                </a:r>
                <a:r>
                  <a:rPr lang="en-IN" sz="2400">
                    <a:solidFill>
                      <a:srgbClr val="111827"/>
                    </a:solidFill>
                    <a:latin typeface="Cambria Math" panose="02040503050406030204" pitchFamily="18" charset="0"/>
                  </a:rPr>
                  <a:t>$\sum_{k=0}^{n-1}\omega^{k}$</a:t>
                </a:r>
                <a:r>
                  <a:rPr sz="2400" b="0">
                    <a:solidFill>
                      <a:srgbClr val="111827"/>
                    </a:solidFill>
                    <a:latin typeface="Arial"/>
                  </a:rPr>
                  <a:t> equals </a:t>
                </a:r>
                <a:r>
                  <a:rPr lang="en-IN" sz="2400">
                    <a:solidFill>
                      <a:srgbClr val="111827"/>
                    </a:solidFill>
                    <a:latin typeface="Cambria Math" panose="02040503050406030204" pitchFamily="18" charset="0"/>
                  </a:rPr>
                  <a:t>$0,1,1+\omega=-\omega^2$</a:t>
                </a:r>
                <a:r>
                  <a:rPr sz="2400" b="0">
                    <a:solidFill>
                      <a:srgbClr val="111827"/>
                    </a:solidFill>
                    <a:latin typeface="Arial"/>
                  </a:rPr>
                  <a:t> according as </a:t>
                </a:r>
                <a:r>
                  <a:rPr lang="en-IN" sz="2400">
                    <a:solidFill>
                      <a:srgbClr val="111827"/>
                    </a:solidFill>
                    <a:latin typeface="Cambria Math" panose="02040503050406030204" pitchFamily="18" charset="0"/>
                  </a:rPr>
                  <a:t>$n\equiv0,1,2\pmod 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$1+\omega=-\omega^2$</a:t>
                </a:r>
                <a:r>
                  <a:rPr sz="2400" b="0">
                    <a:solidFill>
                      <a:srgbClr val="111827"/>
                    </a:solidFill>
                    <a:latin typeface="Arial"/>
                  </a:rPr>
                  <a:t> and </a:t>
                </a:r>
                <a:r>
                  <a:rPr lang="en-IN" sz="2400">
                    <a:solidFill>
                      <a:srgbClr val="111827"/>
                    </a:solidFill>
                    <a:latin typeface="Cambria Math" panose="02040503050406030204" pitchFamily="18" charset="0"/>
                  </a:rPr>
                  <a:t>$1+\omega^2=-\omega$</a:t>
                </a:r>
                <a:r>
                  <a:rPr sz="2400" b="0">
                    <a:solidFill>
                      <a:srgbClr val="111827"/>
                    </a:solidFill>
                    <a:latin typeface="Arial"/>
                  </a:rPr>
                  <a:t>: use them to remove brackets like </a:t>
                </a:r>
                <a:r>
                  <a:rPr lang="en-IN" sz="2400">
                    <a:solidFill>
                      <a:srgbClr val="111827"/>
                    </a:solidFill>
                    <a:latin typeface="Cambria Math" panose="02040503050406030204" pitchFamily="18" charset="0"/>
                  </a:rPr>
                  <a:t>$(1+\omega)$</a:t>
                </a:r>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sum of </a:t>
                </a:r>
                <a:r>
                  <a:rPr lang="en-IN" sz="2400">
                    <a:solidFill>
                      <a:srgbClr val="111827"/>
                    </a:solidFill>
                    <a:latin typeface="Cambria Math" panose="02040503050406030204" pitchFamily="18" charset="0"/>
                  </a:rPr>
                  <a:t>$\omega^{3k}$</a:t>
                </a:r>
                <a:r>
                  <a:rPr sz="2400" b="0">
                    <a:solidFill>
                      <a:srgbClr val="111827"/>
                    </a:solidFill>
                    <a:latin typeface="Arial"/>
                  </a:rPr>
                  <a:t> is just a count of terms; any sum of </a:t>
                </a:r>
                <a:r>
                  <a:rPr lang="en-IN" sz="2400">
                    <a:solidFill>
                      <a:srgbClr val="111827"/>
                    </a:solidFill>
                    <a:latin typeface="Cambria Math" panose="02040503050406030204" pitchFamily="18" charset="0"/>
                  </a:rPr>
                  <a:t>$\omega^{k}$</a:t>
                </a:r>
                <a:r>
                  <a:rPr sz="2400" b="0">
                    <a:solidFill>
                      <a:srgbClr val="111827"/>
                    </a:solidFill>
                    <a:latin typeface="Arial"/>
                  </a:rPr>
                  <a:t> over a block of 3 consecutive </a:t>
                </a:r>
                <a:r>
                  <a:rPr lang="en-IN" sz="2400">
                    <a:solidFill>
                      <a:srgbClr val="111827"/>
                    </a:solidFill>
                    <a:latin typeface="Cambria Math" panose="02040503050406030204" pitchFamily="18" charset="0"/>
                  </a:rPr>
                  <a:t>$k$</a:t>
                </a:r>
                <a:r>
                  <a:rPr sz="2400" b="0">
                    <a:solidFill>
                      <a:srgbClr val="111827"/>
                    </a:solidFill>
                    <a:latin typeface="Arial"/>
                  </a:rPr>
                  <a:t> is 0.</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set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 is equal to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27   (B) 42   (C) 36   (D) 30</a:t>
                </a:r>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set </a:t>
                </a:r>
                <a:r>
                  <a:rPr lang="en-IN" sz="2400">
                    <a:solidFill>
                      <a:srgbClr val="111827"/>
                    </a:solidFill>
                    <a:latin typeface="Cambria Math" panose="02040503050406030204" pitchFamily="18" charset="0"/>
                  </a:rPr>
                  <a:t>$\left\{\mathrm{Re}\left(\frac{z-\bar z+z\bar z}{2-3z+5\bar z}\right):z\in\mathbb{C},\ \mathrm{Re}(z)=3\right\}$</a:t>
                </a:r>
                <a:r>
                  <a:rPr sz="2400" b="0">
                    <a:solidFill>
                      <a:srgbClr val="111827"/>
                    </a:solidFill>
                    <a:latin typeface="Arial"/>
                  </a:rPr>
                  <a:t> is equal to the interval </a:t>
                </a:r>
                <a:r>
                  <a:rPr lang="en-IN" sz="2400">
                    <a:solidFill>
                      <a:srgbClr val="111827"/>
                    </a:solidFill>
                    <a:latin typeface="Cambria Math" panose="02040503050406030204" pitchFamily="18" charset="0"/>
                  </a:rPr>
                  <a:t>$(\alpha,\beta]$</a:t>
                </a:r>
                <a:r>
                  <a:rPr sz="2400" b="0">
                    <a:solidFill>
                      <a:srgbClr val="111827"/>
                    </a:solidFill>
                    <a:latin typeface="Arial"/>
                  </a:rPr>
                  <a:t>, then </a:t>
                </a:r>
                <a:r>
                  <a:rPr lang="en-IN" sz="2400">
                    <a:solidFill>
                      <a:srgbClr val="111827"/>
                    </a:solidFill>
                    <a:latin typeface="Cambria Math" panose="02040503050406030204" pitchFamily="18" charset="0"/>
                  </a:rPr>
                  <a:t>$24(\beta-\alpha)$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27   (B) 42   (C) 36   (D) 30</a:t>
                </a:r>
                <a:endParaRPr sz="2400">
                  <a:solidFill>
                    <a:srgbClr val="111827"/>
                  </a:solidFill>
                </a:endParaRPr>
              </a:p>
            </p:txBody>
          </p:sp>
        </mc:Fallback>
      </mc:AlternateContent>
      <p:sp>
        <p:nvSpPr>
          <p:cNvPr id="5" name="Rectangle 4"/>
          <p:cNvSpPr/>
          <p:nvPr/>
        </p:nvSpPr>
        <p:spPr>
          <a:xfrm>
            <a:off x="731520" y="406196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Real part of a complex expression and its range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𝑦</m:t>
                    </m:r>
                  </m:oMath>
                </a14:m>
                <a:r>
                  <a:rPr sz="2400" b="0">
                    <a:solidFill>
                      <a:srgbClr val="78350F"/>
                    </a:solidFill>
                    <a:latin typeface="Arial"/>
                  </a:rPr>
                  <a:t> the real part becomes a function of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alone,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8</m:t>
                        </m:r>
                      </m:den>
                    </m:f>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$z=3+iy$</a:t>
                </a:r>
                <a:r>
                  <a:rPr sz="2400" b="0">
                    <a:solidFill>
                      <a:srgbClr val="78350F"/>
                    </a:solidFill>
                    <a:latin typeface="Arial"/>
                  </a:rPr>
                  <a:t> the real part becomes a function of </a:t>
                </a:r>
                <a:r>
                  <a:rPr lang="en-IN" sz="2400">
                    <a:solidFill>
                      <a:srgbClr val="78350F"/>
                    </a:solidFill>
                    <a:latin typeface="Cambria Math" panose="02040503050406030204" pitchFamily="18" charset="0"/>
                  </a:rPr>
                  <a:t>$y^2$</a:t>
                </a:r>
                <a:r>
                  <a:rPr sz="2400" b="0">
                    <a:solidFill>
                      <a:srgbClr val="78350F"/>
                    </a:solidFill>
                    <a:latin typeface="Arial"/>
                  </a:rPr>
                  <a:t> alone, </a:t>
                </a:r>
                <a:r>
                  <a:rPr lang="en-IN" sz="2400">
                    <a:solidFill>
                      <a:srgbClr val="78350F"/>
                    </a:solidFill>
                    <a:latin typeface="Cambria Math" panose="02040503050406030204" pitchFamily="18" charset="0"/>
                  </a:rPr>
                  <a:t>$\frac{1}{8}\left(\frac{10}{1+y^2}-1\right)$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Multiply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den>
                    </m:f>
                  </m:oMath>
                </a14:m>
                <a:r>
                  <a:rPr sz="2400" b="0">
                    <a:solidFill>
                      <a:srgbClr val="111827"/>
                    </a:solidFill>
                    <a:latin typeface="Arial"/>
                  </a:rPr>
                  <a:t> and take the real part: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$z=3+iy$</a:t>
                </a:r>
                <a:r>
                  <a:rPr sz="2400" b="0">
                    <a:solidFill>
                      <a:srgbClr val="111827"/>
                    </a:solidFill>
                    <a:latin typeface="Arial"/>
                  </a:rPr>
                  <a:t>, so </a:t>
                </a:r>
                <a:r>
                  <a:rPr lang="en-IN" sz="2400">
                    <a:solidFill>
                      <a:srgbClr val="111827"/>
                    </a:solidFill>
                    <a:latin typeface="Cambria Math" panose="02040503050406030204" pitchFamily="18" charset="0"/>
                  </a:rPr>
                  <a:t>$\bar z=3-iy$</a:t>
                </a:r>
                <a:r>
                  <a:rPr sz="2400" b="0">
                    <a:solidFill>
                      <a:srgbClr val="111827"/>
                    </a:solidFill>
                    <a:latin typeface="Arial"/>
                  </a:rPr>
                  <a:t> and </a:t>
                </a:r>
                <a:r>
                  <a:rPr lang="en-IN" sz="2400">
                    <a:solidFill>
                      <a:srgbClr val="111827"/>
                    </a:solidFill>
                    <a:latin typeface="Cambria Math" panose="02040503050406030204" pitchFamily="18" charset="0"/>
                  </a:rPr>
                  <a:t>$z_1=\frac{z-\bar z+z\bar z}{2-3z+5\bar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r>
                  <a:rPr lang="en-IN" sz="2400">
                    <a:solidFill>
                      <a:srgbClr val="111827"/>
                    </a:solidFill>
                    <a:latin typeface="Cambria Math" panose="02040503050406030204" pitchFamily="18" charset="0"/>
                  </a:rPr>
                  <a:t>$z-\bar z+z\bar z=2iy+(9+y^2)$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r>
                  <a:rPr lang="en-IN" sz="2400">
                    <a:solidFill>
                      <a:srgbClr val="111827"/>
                    </a:solidFill>
                    <a:latin typeface="Cambria Math" panose="02040503050406030204" pitchFamily="18" charset="0"/>
                  </a:rPr>
                  <a:t>$2-3(3+iy)+5(3-iy)=8-8iy=8(1-iy)$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$z_1=\frac{(9+y^2)+i(2y)}{8(1-iy)}$</a:t>
                </a:r>
                <a:r>
                  <a:rPr sz="2400" b="0">
                    <a:solidFill>
                      <a:srgbClr val="111827"/>
                    </a:solidFill>
                    <a:latin typeface="Arial"/>
                  </a:rPr>
                  <a:t>. Multiply by </a:t>
                </a:r>
                <a:r>
                  <a:rPr lang="en-IN" sz="2400">
                    <a:solidFill>
                      <a:srgbClr val="111827"/>
                    </a:solidFill>
                    <a:latin typeface="Cambria Math" panose="02040503050406030204" pitchFamily="18" charset="0"/>
                  </a:rPr>
                  <a:t>$\frac{1+iy}{1+iy}$</a:t>
                </a:r>
                <a:r>
                  <a:rPr sz="2400" b="0">
                    <a:solidFill>
                      <a:srgbClr val="111827"/>
                    </a:solidFill>
                    <a:latin typeface="Arial"/>
                  </a:rPr>
                  <a:t> and take the real part: </a:t>
                </a:r>
                <a:r>
                  <a:rPr lang="en-IN" sz="2400">
                    <a:solidFill>
                      <a:srgbClr val="111827"/>
                    </a:solidFill>
                    <a:latin typeface="Cambria Math" panose="02040503050406030204" pitchFamily="18" charset="0"/>
                  </a:rPr>
                  <a:t>$\mathrm{Re}(z_1)=\frac{(9+y^2)-2y^2}{8(1+y^2)}$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$\mathrm{Re}(z_1)=\frac{9-y^2}{8(1+y^2)}=\frac18\left[\frac{10-(1+y^2)}{1+y^2}\right]=\frac18\left[\frac{10}{1+y^2}-1\right]$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$1+y^2\in[1,\infty)\Rightarrow\frac{1}{1+y^2}\in(0,1]\Rightarrow\frac{10}{1+y^2}\in(0,10]\Rightarrow\frac{10}{1+y^2}-1\in(-1,9]$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$\mathrm{Re}(z_1)\in\left(-\frac18,\frac98\right]$</a:t>
                </a:r>
                <a:r>
                  <a:rPr sz="2400" b="0">
                    <a:solidFill>
                      <a:srgbClr val="111827"/>
                    </a:solidFill>
                    <a:latin typeface="Arial"/>
                  </a:rPr>
                  <a:t>: </a:t>
                </a:r>
                <a:r>
                  <a:rPr lang="en-IN" sz="2400">
                    <a:solidFill>
                      <a:srgbClr val="111827"/>
                    </a:solidFill>
                    <a:latin typeface="Cambria Math" panose="02040503050406030204" pitchFamily="18" charset="0"/>
                  </a:rPr>
                  <a:t>$\alpha=-\frac18,\ \beta=\frac98$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$24(\beta-\alpha)=24\left(\frac98+\frac18\right)=30$</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30</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oMath>
                </a14:m>
                <a:r>
                  <a:rPr sz="2400" b="0">
                    <a:solidFill>
                      <a:srgbClr val="78350F"/>
                    </a:solidFill>
                    <a:latin typeface="Arial"/>
                  </a:rPr>
                  <a:t> so that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sec</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oMath>
                </a14:m>
                <a:r>
                  <a:rPr sz="2400" b="0">
                    <a:solidFill>
                      <a:srgbClr val="78350F"/>
                    </a:solidFill>
                    <a:latin typeface="Arial"/>
                  </a:rPr>
                  <a:t> and the real part becomes a linear function of </a:t>
                </a:r>
                <a14:m>
                  <m:oMath xmlns:m="http://schemas.openxmlformats.org/officeDocument/2006/math">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$y=\tan\theta$</a:t>
                </a:r>
                <a:r>
                  <a:rPr sz="2400" b="0">
                    <a:solidFill>
                      <a:srgbClr val="78350F"/>
                    </a:solidFill>
                    <a:latin typeface="Arial"/>
                  </a:rPr>
                  <a:t> so that </a:t>
                </a:r>
                <a:r>
                  <a:rPr lang="en-IN" sz="2400">
                    <a:solidFill>
                      <a:srgbClr val="78350F"/>
                    </a:solidFill>
                    <a:latin typeface="Cambria Math" panose="02040503050406030204" pitchFamily="18" charset="0"/>
                  </a:rPr>
                  <a:t>$1+y^2=\sec^2\theta$</a:t>
                </a:r>
                <a:r>
                  <a:rPr sz="2400" b="0">
                    <a:solidFill>
                      <a:srgbClr val="78350F"/>
                    </a:solidFill>
                    <a:latin typeface="Arial"/>
                  </a:rPr>
                  <a:t> and the real part becomes a linear function of </a:t>
                </a:r>
                <a:r>
                  <a:rPr lang="en-IN" sz="2400">
                    <a:solidFill>
                      <a:srgbClr val="78350F"/>
                    </a:solidFill>
                    <a:latin typeface="Cambria Math" panose="02040503050406030204" pitchFamily="18" charset="0"/>
                  </a:rPr>
                  <a:t>$\cos^2\theta$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 we have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(as before).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runs over all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8</m:t>
                        </m:r>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$z=3+iy$</a:t>
                </a:r>
                <a:r>
                  <a:rPr sz="2400" b="0">
                    <a:solidFill>
                      <a:srgbClr val="111827"/>
                    </a:solidFill>
                    <a:latin typeface="Arial"/>
                  </a:rPr>
                  <a:t> we have </a:t>
                </a:r>
                <a:r>
                  <a:rPr lang="en-IN" sz="2400">
                    <a:solidFill>
                      <a:srgbClr val="111827"/>
                    </a:solidFill>
                    <a:latin typeface="Cambria Math" panose="02040503050406030204" pitchFamily="18" charset="0"/>
                  </a:rPr>
                  <a:t>$\mathrm{Re}(z_1)=\frac{9-y^2}{8(1+y^2)}$</a:t>
                </a:r>
                <a:r>
                  <a:rPr sz="2400" b="0">
                    <a:solidFill>
                      <a:srgbClr val="111827"/>
                    </a:solidFill>
                    <a:latin typeface="Arial"/>
                  </a:rPr>
                  <a:t> (as before).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$y=\tan\theta$</a:t>
                </a:r>
                <a:r>
                  <a:rPr sz="2400" b="0">
                    <a:solidFill>
                      <a:srgbClr val="111827"/>
                    </a:solidFill>
                    <a:latin typeface="Arial"/>
                  </a:rPr>
                  <a:t>, </a:t>
                </a:r>
                <a:r>
                  <a:rPr lang="en-IN" sz="2400">
                    <a:solidFill>
                      <a:srgbClr val="111827"/>
                    </a:solidFill>
                    <a:latin typeface="Cambria Math" panose="02040503050406030204" pitchFamily="18" charset="0"/>
                  </a:rPr>
                  <a:t>$\theta\in\left(-\frac\pi2,\frac\pi2\right)$</a:t>
                </a:r>
                <a:r>
                  <a:rPr sz="2400" b="0">
                    <a:solidFill>
                      <a:srgbClr val="111827"/>
                    </a:solidFill>
                    <a:latin typeface="Arial"/>
                  </a:rPr>
                  <a:t>, so </a:t>
                </a:r>
                <a:r>
                  <a:rPr lang="en-IN" sz="2400">
                    <a:solidFill>
                      <a:srgbClr val="111827"/>
                    </a:solidFill>
                    <a:latin typeface="Cambria Math" panose="02040503050406030204" pitchFamily="18" charset="0"/>
                  </a:rPr>
                  <a:t>$y$</a:t>
                </a:r>
                <a:r>
                  <a:rPr sz="2400" b="0">
                    <a:solidFill>
                      <a:srgbClr val="111827"/>
                    </a:solidFill>
                    <a:latin typeface="Arial"/>
                  </a:rPr>
                  <a:t> runs over all of </a:t>
                </a:r>
                <a:r>
                  <a:rPr lang="en-IN" sz="2400">
                    <a:solidFill>
                      <a:srgbClr val="111827"/>
                    </a:solidFill>
                    <a:latin typeface="Cambria Math" panose="02040503050406030204" pitchFamily="18" charset="0"/>
                  </a:rPr>
                  <a:t>$\mathbb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$\mathrm{Re}(z_1)=\frac{9-\tan^2\theta}{8\sec^2\theta}=\frac{9\cos^2\theta-\sin^2\theta}{8}=\frac{10\cos^2\theta-1}{8}$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0 never reached).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Option (D),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$\theta\in\left(-\frac\pi2,\frac\pi2\right)$</a:t>
                </a:r>
                <a:r>
                  <a:rPr sz="2400" b="0">
                    <a:solidFill>
                      <a:srgbClr val="111827"/>
                    </a:solidFill>
                    <a:latin typeface="Arial"/>
                  </a:rPr>
                  <a:t>: </a:t>
                </a:r>
                <a:r>
                  <a:rPr lang="en-IN" sz="2400">
                    <a:solidFill>
                      <a:srgbClr val="111827"/>
                    </a:solidFill>
                    <a:latin typeface="Cambria Math" panose="02040503050406030204" pitchFamily="18" charset="0"/>
                  </a:rPr>
                  <a:t>$\cos^2\theta\in(0,1]$</a:t>
                </a:r>
                <a:r>
                  <a:rPr sz="2400" b="0">
                    <a:solidFill>
                      <a:srgbClr val="111827"/>
                    </a:solidFill>
                    <a:latin typeface="Arial"/>
                  </a:rPr>
                  <a:t> (1 at </a:t>
                </a:r>
                <a:r>
                  <a:rPr lang="en-IN" sz="2400">
                    <a:solidFill>
                      <a:srgbClr val="111827"/>
                    </a:solidFill>
                    <a:latin typeface="Cambria Math" panose="02040503050406030204" pitchFamily="18" charset="0"/>
                  </a:rPr>
                  <a:t>$\theta=0$</a:t>
                </a:r>
                <a:r>
                  <a:rPr sz="2400" b="0">
                    <a:solidFill>
                      <a:srgbClr val="111827"/>
                    </a:solidFill>
                    <a:latin typeface="Arial"/>
                  </a:rPr>
                  <a:t>, 0 never reached).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$\mathrm{Re}(z_1)\in\left(-\frac18,\frac98\right]$</a:t>
                </a:r>
                <a:r>
                  <a:rPr sz="2400" b="0">
                    <a:solidFill>
                      <a:srgbClr val="111827"/>
                    </a:solidFill>
                    <a:latin typeface="Arial"/>
                  </a:rPr>
                  <a:t> and </a:t>
                </a:r>
                <a:r>
                  <a:rPr lang="en-IN" sz="2400">
                    <a:solidFill>
                      <a:srgbClr val="111827"/>
                    </a:solidFill>
                    <a:latin typeface="Cambria Math" panose="02040503050406030204" pitchFamily="18" charset="0"/>
                  </a:rPr>
                  <a:t>$24(\beta-\alpha)=24\cdot\frac{10}{8}=30$</a:t>
                </a:r>
                <a:r>
                  <a:rPr sz="2400" b="0">
                    <a:solidFill>
                      <a:srgbClr val="111827"/>
                    </a:solidFill>
                    <a:latin typeface="Arial"/>
                  </a:rPr>
                  <a:t>. Option (D),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30</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 with fixed real part, real and imaginary parts of a rational expression in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are rational in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the range follows from the range of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type expressions: write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or use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to get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approached but never attained, which is why the interval is open at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closed at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(attained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$z=x_0+iy$</a:t>
                </a:r>
                <a:r>
                  <a:rPr sz="2400" b="0">
                    <a:solidFill>
                      <a:srgbClr val="111827"/>
                    </a:solidFill>
                    <a:latin typeface="Arial"/>
                  </a:rPr>
                  <a:t> with fixed real part, real and imaginary parts of a rational expression in </a:t>
                </a:r>
                <a:r>
                  <a:rPr lang="en-IN" sz="2400">
                    <a:solidFill>
                      <a:srgbClr val="111827"/>
                    </a:solidFill>
                    <a:latin typeface="Cambria Math" panose="02040503050406030204" pitchFamily="18" charset="0"/>
                  </a:rPr>
                  <a:t>$z,\bar z$</a:t>
                </a:r>
                <a:r>
                  <a:rPr sz="2400" b="0">
                    <a:solidFill>
                      <a:srgbClr val="111827"/>
                    </a:solidFill>
                    <a:latin typeface="Arial"/>
                  </a:rPr>
                  <a:t> are rational in </a:t>
                </a:r>
                <a:r>
                  <a:rPr lang="en-IN" sz="2400">
                    <a:solidFill>
                      <a:srgbClr val="111827"/>
                    </a:solidFill>
                    <a:latin typeface="Cambria Math" panose="02040503050406030204" pitchFamily="18" charset="0"/>
                  </a:rPr>
                  <a:t>$y$</a:t>
                </a:r>
                <a:r>
                  <a:rPr sz="2400" b="0">
                    <a:solidFill>
                      <a:srgbClr val="111827"/>
                    </a:solidFill>
                    <a:latin typeface="Arial"/>
                  </a:rPr>
                  <a:t>; the range follows from the range of </a:t>
                </a:r>
                <a:r>
                  <a:rPr lang="en-IN" sz="2400">
                    <a:solidFill>
                      <a:srgbClr val="111827"/>
                    </a:solidFill>
                    <a:latin typeface="Cambria Math" panose="02040503050406030204" pitchFamily="18" charset="0"/>
                  </a:rPr>
                  <a:t>$y^2$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$\frac{a-y^2}{b(1+y^2)}$</a:t>
                </a:r>
                <a:r>
                  <a:rPr sz="2400" b="0">
                    <a:solidFill>
                      <a:srgbClr val="111827"/>
                    </a:solidFill>
                    <a:latin typeface="Arial"/>
                  </a:rPr>
                  <a:t> type expressions: write as </a:t>
                </a:r>
                <a:r>
                  <a:rPr lang="en-IN" sz="2400">
                    <a:solidFill>
                      <a:srgbClr val="111827"/>
                    </a:solidFill>
                    <a:latin typeface="Cambria Math" panose="02040503050406030204" pitchFamily="18" charset="0"/>
                  </a:rPr>
                  <a:t>$\frac{a+1}{b}\cdot\frac1{1+y^2}-\frac1b$</a:t>
                </a:r>
                <a:r>
                  <a:rPr sz="2400" b="0">
                    <a:solidFill>
                      <a:srgbClr val="111827"/>
                    </a:solidFill>
                    <a:latin typeface="Arial"/>
                  </a:rPr>
                  <a:t>; or use </a:t>
                </a:r>
                <a:r>
                  <a:rPr lang="en-IN" sz="2400">
                    <a:solidFill>
                      <a:srgbClr val="111827"/>
                    </a:solidFill>
                    <a:latin typeface="Cambria Math" panose="02040503050406030204" pitchFamily="18" charset="0"/>
                  </a:rPr>
                  <a:t>$y=\tan\theta$</a:t>
                </a:r>
                <a:r>
                  <a:rPr sz="2400" b="0">
                    <a:solidFill>
                      <a:srgbClr val="111827"/>
                    </a:solidFill>
                    <a:latin typeface="Arial"/>
                  </a:rPr>
                  <a:t> to get </a:t>
                </a:r>
                <a:r>
                  <a:rPr lang="en-IN" sz="2400">
                    <a:solidFill>
                      <a:srgbClr val="111827"/>
                    </a:solidFill>
                    <a:latin typeface="Cambria Math" panose="02040503050406030204" pitchFamily="18" charset="0"/>
                  </a:rPr>
                  <a:t>$\frac{(a+1)\cos^2\theta-1}{b}$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a:t>
                </a:r>
                <a:r>
                  <a:rPr lang="en-IN" sz="2400">
                    <a:solidFill>
                      <a:srgbClr val="111827"/>
                    </a:solidFill>
                    <a:latin typeface="Cambria Math" panose="02040503050406030204" pitchFamily="18" charset="0"/>
                  </a:rPr>
                  <a:t>$y\to\infty$</a:t>
                </a:r>
                <a:r>
                  <a:rPr sz="2400" b="0">
                    <a:solidFill>
                      <a:srgbClr val="111827"/>
                    </a:solidFill>
                    <a:latin typeface="Arial"/>
                  </a:rPr>
                  <a:t> is approached but never attained, which is why the interval is open at </a:t>
                </a:r>
                <a:r>
                  <a:rPr lang="en-IN" sz="2400">
                    <a:solidFill>
                      <a:srgbClr val="111827"/>
                    </a:solidFill>
                    <a:latin typeface="Cambria Math" panose="02040503050406030204" pitchFamily="18" charset="0"/>
                  </a:rPr>
                  <a:t>$\alpha$</a:t>
                </a:r>
                <a:r>
                  <a:rPr sz="2400" b="0">
                    <a:solidFill>
                      <a:srgbClr val="111827"/>
                    </a:solidFill>
                    <a:latin typeface="Arial"/>
                  </a:rPr>
                  <a:t> and closed at </a:t>
                </a:r>
                <a:r>
                  <a:rPr lang="en-IN" sz="2400">
                    <a:solidFill>
                      <a:srgbClr val="111827"/>
                    </a:solidFill>
                    <a:latin typeface="Cambria Math" panose="02040503050406030204" pitchFamily="18" charset="0"/>
                  </a:rPr>
                  <a:t>$\beta$</a:t>
                </a:r>
                <a:r>
                  <a:rPr sz="2400" b="0">
                    <a:solidFill>
                      <a:srgbClr val="111827"/>
                    </a:solidFill>
                    <a:latin typeface="Arial"/>
                  </a:rPr>
                  <a:t> (attained at </a:t>
                </a:r>
                <a:r>
                  <a:rPr lang="en-IN" sz="2400">
                    <a:solidFill>
                      <a:srgbClr val="111827"/>
                    </a:solidFill>
                    <a:latin typeface="Cambria Math" panose="02040503050406030204" pitchFamily="18" charset="0"/>
                  </a:rPr>
                  <a:t>$y=0$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7</m:t>
                        </m:r>
                      </m:sub>
                    </m:sSub>
                  </m:oMath>
                </a14:m>
                <a:r>
                  <a:rPr sz="2400" b="0">
                    <a:solidFill>
                      <a:srgbClr val="111827"/>
                    </a:solidFill>
                    <a:latin typeface="Arial"/>
                  </a:rPr>
                  <a:t> be in an A.P. with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If the standard deviation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7</m:t>
                        </m:r>
                      </m:sub>
                    </m:sSub>
                  </m:oMath>
                </a14:m>
                <a:r>
                  <a:rPr sz="2400" b="0">
                    <a:solidFill>
                      <a:srgbClr val="111827"/>
                    </a:solidFill>
                    <a:latin typeface="Arial"/>
                  </a:rPr>
                  <a:t> is 4 and the mean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25   (B)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den>
                        </m:f>
                      </m:e>
                    </m: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18</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oMath>
                </a14:m>
                <a:r>
                  <a:rPr sz="2400" b="0">
                    <a:solidFill>
                      <a:srgbClr val="111827"/>
                    </a:solidFill>
                    <a:latin typeface="Arial"/>
                  </a:rPr>
                  <a:t>   (D) 34</a:t>
                </a:r>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$9=x_1&lt;x_2&lt;\dots&lt;x_7$</a:t>
                </a:r>
                <a:r>
                  <a:rPr sz="2400" b="0">
                    <a:solidFill>
                      <a:srgbClr val="111827"/>
                    </a:solidFill>
                    <a:latin typeface="Arial"/>
                  </a:rPr>
                  <a:t> be in an A.P. with common difference </a:t>
                </a:r>
                <a:r>
                  <a:rPr lang="en-IN" sz="2400">
                    <a:solidFill>
                      <a:srgbClr val="111827"/>
                    </a:solidFill>
                    <a:latin typeface="Cambria Math" panose="02040503050406030204" pitchFamily="18" charset="0"/>
                  </a:rPr>
                  <a:t>$d$</a:t>
                </a:r>
                <a:r>
                  <a:rPr sz="2400" b="0">
                    <a:solidFill>
                      <a:srgbClr val="111827"/>
                    </a:solidFill>
                    <a:latin typeface="Arial"/>
                  </a:rPr>
                  <a:t>. If the standard deviation of </a:t>
                </a:r>
                <a:r>
                  <a:rPr lang="en-IN" sz="2400">
                    <a:solidFill>
                      <a:srgbClr val="111827"/>
                    </a:solidFill>
                    <a:latin typeface="Cambria Math" panose="02040503050406030204" pitchFamily="18" charset="0"/>
                  </a:rPr>
                  <a:t>$x_1,x_2,\dots,x_7$</a:t>
                </a:r>
                <a:r>
                  <a:rPr sz="2400" b="0">
                    <a:solidFill>
                      <a:srgbClr val="111827"/>
                    </a:solidFill>
                    <a:latin typeface="Arial"/>
                  </a:rPr>
                  <a:t> is 4 and the mean is </a:t>
                </a:r>
                <a:r>
                  <a:rPr lang="en-IN" sz="2400">
                    <a:solidFill>
                      <a:srgbClr val="111827"/>
                    </a:solidFill>
                    <a:latin typeface="Cambria Math" panose="02040503050406030204" pitchFamily="18" charset="0"/>
                  </a:rPr>
                  <a:t>$\bar x$</a:t>
                </a:r>
                <a:r>
                  <a:rPr sz="2400" b="0">
                    <a:solidFill>
                      <a:srgbClr val="111827"/>
                    </a:solidFill>
                    <a:latin typeface="Arial"/>
                  </a:rPr>
                  <a:t>, then </a:t>
                </a:r>
                <a:r>
                  <a:rPr lang="en-IN" sz="2400">
                    <a:solidFill>
                      <a:srgbClr val="111827"/>
                    </a:solidFill>
                    <a:latin typeface="Cambria Math" panose="02040503050406030204" pitchFamily="18" charset="0"/>
                  </a:rPr>
                  <a:t>$\bar x+x_6$</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25   (B) </a:t>
                </a:r>
                <a:r>
                  <a:rPr lang="en-IN" sz="2400">
                    <a:solidFill>
                      <a:srgbClr val="111827"/>
                    </a:solidFill>
                    <a:latin typeface="Cambria Math" panose="02040503050406030204" pitchFamily="18" charset="0"/>
                  </a:rPr>
                  <a:t>$2\left(9+\frac{8}{\sqrt7}\right)$</a:t>
                </a:r>
                <a:r>
                  <a:rPr sz="2400" b="0">
                    <a:solidFill>
                      <a:srgbClr val="111827"/>
                    </a:solidFill>
                    <a:latin typeface="Arial"/>
                  </a:rPr>
                  <a:t>   (C) </a:t>
                </a:r>
                <a:r>
                  <a:rPr lang="en-IN" sz="2400">
                    <a:solidFill>
                      <a:srgbClr val="111827"/>
                    </a:solidFill>
                    <a:latin typeface="Cambria Math" panose="02040503050406030204" pitchFamily="18" charset="0"/>
                  </a:rPr>
                  <a:t>$18\left(1+\frac1{\sqrt3}\right)$</a:t>
                </a:r>
                <a:r>
                  <a:rPr sz="2400" b="0">
                    <a:solidFill>
                      <a:srgbClr val="111827"/>
                    </a:solidFill>
                    <a:latin typeface="Arial"/>
                  </a:rPr>
                  <a:t>   (D) 34</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and mean of an A.P.</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7 terms in A.P. the mean is the middle term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4</m:t>
                        </m:r>
                      </m:sub>
                    </m:sSub>
                  </m:oMath>
                </a14:m>
                <a:r>
                  <a:rPr sz="2400" b="0">
                    <a:solidFill>
                      <a:srgbClr val="78350F"/>
                    </a:solidFill>
                    <a:latin typeface="Arial"/>
                  </a:rPr>
                  <a:t>, and the deviations from it are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𝑑</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7 terms in A.P. the mean is the middle term </a:t>
                </a:r>
                <a:r>
                  <a:rPr lang="en-IN" sz="2400">
                    <a:solidFill>
                      <a:srgbClr val="78350F"/>
                    </a:solidFill>
                    <a:latin typeface="Cambria Math" panose="02040503050406030204" pitchFamily="18" charset="0"/>
                  </a:rPr>
                  <a:t>$x_4$</a:t>
                </a:r>
                <a:r>
                  <a:rPr sz="2400" b="0">
                    <a:solidFill>
                      <a:srgbClr val="78350F"/>
                    </a:solidFill>
                    <a:latin typeface="Arial"/>
                  </a:rPr>
                  <a:t>, and the deviations from it are </a:t>
                </a:r>
                <a:r>
                  <a:rPr lang="en-IN" sz="2400">
                    <a:solidFill>
                      <a:srgbClr val="78350F"/>
                    </a:solidFill>
                    <a:latin typeface="Cambria Math" panose="02040503050406030204" pitchFamily="18" charset="0"/>
                  </a:rPr>
                  <a:t>$0,\pm d,\pm2d,\pm3d$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Deviations from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$\bar x=\frac{\frac72(2a+6d)}{7}=a+3d=x_4$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$=\frac{\sum(x_i-\bar x)^2}{7}=\frac{\sum(x_i-x_4)^2}{7}=4^2=16$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Deviations from </a:t>
                </a:r>
                <a:r>
                  <a:rPr lang="en-IN" sz="2400">
                    <a:solidFill>
                      <a:srgbClr val="111827"/>
                    </a:solidFill>
                    <a:latin typeface="Cambria Math" panose="02040503050406030204" pitchFamily="18" charset="0"/>
                  </a:rPr>
                  <a:t>$x_4$</a:t>
                </a:r>
                <a:r>
                  <a:rPr sz="2400" b="0">
                    <a:solidFill>
                      <a:srgbClr val="111827"/>
                    </a:solidFill>
                    <a:latin typeface="Arial"/>
                  </a:rPr>
                  <a:t> are </a:t>
                </a:r>
                <a:r>
                  <a:rPr lang="en-IN" sz="2400">
                    <a:solidFill>
                      <a:srgbClr val="111827"/>
                    </a:solidFill>
                    <a:latin typeface="Cambria Math" panose="02040503050406030204" pitchFamily="18" charset="0"/>
                  </a:rPr>
                  <a:t>$-3d,-2d,-d,0,d,2d,3d$</a:t>
                </a:r>
                <a:r>
                  <a:rPr sz="2400" b="0">
                    <a:solidFill>
                      <a:srgbClr val="111827"/>
                    </a:solidFill>
                    <a:latin typeface="Arial"/>
                  </a:rPr>
                  <a:t>, so </a:t>
                </a:r>
                <a:r>
                  <a:rPr lang="en-IN" sz="2400">
                    <a:solidFill>
                      <a:srgbClr val="111827"/>
                    </a:solidFill>
                    <a:latin typeface="Cambria Math" panose="02040503050406030204" pitchFamily="18" charset="0"/>
                  </a:rPr>
                  <a:t>$\frac{(3d)^2+(2d)^2+d^2+0+d^2+(2d)^2+(3d)^2}{7}=16$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$\frac{28d^2}{7}=4d^2=16\Rightarrow d=2$</a:t>
                </a:r>
                <a:r>
                  <a:rPr sz="2400" b="0">
                    <a:solidFill>
                      <a:srgbClr val="111827"/>
                    </a:solidFill>
                    <a:latin typeface="Arial"/>
                  </a:rPr>
                  <a:t> (since </a:t>
                </a:r>
                <a:r>
                  <a:rPr lang="en-IN" sz="2400">
                    <a:solidFill>
                      <a:srgbClr val="111827"/>
                    </a:solidFill>
                    <a:latin typeface="Cambria Math" panose="02040503050406030204" pitchFamily="18" charset="0"/>
                  </a:rPr>
                  <a:t>$x_1&lt;x_2$</a:t>
                </a:r>
                <a:r>
                  <a:rPr sz="2400" b="0">
                    <a:solidFill>
                      <a:srgbClr val="111827"/>
                    </a:solidFill>
                    <a:latin typeface="Arial"/>
                  </a:rPr>
                  <a:t>, </a:t>
                </a:r>
                <a:r>
                  <a:rPr lang="en-IN" sz="2400">
                    <a:solidFill>
                      <a:srgbClr val="111827"/>
                    </a:solidFill>
                    <a:latin typeface="Cambria Math" panose="02040503050406030204" pitchFamily="18" charset="0"/>
                  </a:rPr>
                  <a:t>$d&gt;0$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 x=9+3(2)=15$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$x_6=a+5d=9+5(2)=19$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 x+x_6=15+19=34$</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34</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standard variance formula for an A.P. of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terms,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standard variance formula for an A.P. of </a:t>
                </a:r>
                <a:r>
                  <a:rPr lang="en-IN" sz="2400">
                    <a:solidFill>
                      <a:srgbClr val="78350F"/>
                    </a:solidFill>
                    <a:latin typeface="Cambria Math" panose="02040503050406030204" pitchFamily="18" charset="0"/>
                  </a:rPr>
                  <a:t>$n$</a:t>
                </a:r>
                <a:r>
                  <a:rPr sz="2400" b="0">
                    <a:solidFill>
                      <a:srgbClr val="78350F"/>
                    </a:solidFill>
                    <a:latin typeface="Arial"/>
                  </a:rPr>
                  <a:t> terms, </a:t>
                </a:r>
                <a:r>
                  <a:rPr lang="en-IN" sz="2400">
                    <a:solidFill>
                      <a:srgbClr val="78350F"/>
                    </a:solidFill>
                    <a:latin typeface="Cambria Math" panose="02040503050406030204" pitchFamily="18" charset="0"/>
                  </a:rPr>
                  <a:t>$\sigma^2=\frac{d^2(n^2-1)}{12}$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in A.P. with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(variance of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scaled by </a:t>
                </a:r>
                <a14:m>
                  <m:oMath xmlns:m="http://schemas.openxmlformats.org/officeDocument/2006/math">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a:t>
                </a:r>
                <a:r>
                  <a:rPr sz="2400" b="0">
                    <a:solidFill>
                      <a:srgbClr val="111827"/>
                    </a:solidFill>
                    <a:latin typeface="Arial"/>
                  </a:rPr>
                  <a:t> terms in A.P. with common difference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$\sigma^2=\frac{(n^2-1)d^2}{12}$</a:t>
                </a:r>
                <a:r>
                  <a:rPr sz="2400" b="0">
                    <a:solidFill>
                      <a:srgbClr val="111827"/>
                    </a:solidFill>
                    <a:latin typeface="Arial"/>
                  </a:rPr>
                  <a:t> (variance of </a:t>
                </a:r>
                <a:r>
                  <a:rPr lang="en-IN" sz="2400">
                    <a:solidFill>
                      <a:srgbClr val="111827"/>
                    </a:solidFill>
                    <a:latin typeface="Cambria Math" panose="02040503050406030204" pitchFamily="18" charset="0"/>
                  </a:rPr>
                  <a:t>$0,1,\dots,n-1$</a:t>
                </a:r>
                <a:r>
                  <a:rPr sz="2400" b="0">
                    <a:solidFill>
                      <a:srgbClr val="111827"/>
                    </a:solidFill>
                    <a:latin typeface="Arial"/>
                  </a:rPr>
                  <a:t> is </a:t>
                </a:r>
                <a:r>
                  <a:rPr lang="en-IN" sz="2400">
                    <a:solidFill>
                      <a:srgbClr val="111827"/>
                    </a:solidFill>
                    <a:latin typeface="Cambria Math" panose="02040503050406030204" pitchFamily="18" charset="0"/>
                  </a:rPr>
                  <a:t>$\frac{n^2-1}{12}$</a:t>
                </a:r>
                <a:r>
                  <a:rPr sz="2400" b="0">
                    <a:solidFill>
                      <a:srgbClr val="111827"/>
                    </a:solidFill>
                    <a:latin typeface="Arial"/>
                  </a:rPr>
                  <a:t>, scaled by </a:t>
                </a:r>
                <a:r>
                  <a:rPr lang="en-IN" sz="2400">
                    <a:solidFill>
                      <a:srgbClr val="111827"/>
                    </a:solidFill>
                    <a:latin typeface="Cambria Math" panose="02040503050406030204" pitchFamily="18" charset="0"/>
                  </a:rPr>
                  <a:t>$d^2$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$n=7$</a:t>
                </a:r>
                <a:r>
                  <a:rPr sz="2400" b="0">
                    <a:solidFill>
                      <a:srgbClr val="111827"/>
                    </a:solidFill>
                    <a:latin typeface="Arial"/>
                  </a:rPr>
                  <a:t>: </a:t>
                </a:r>
                <a:r>
                  <a:rPr lang="en-IN" sz="2400">
                    <a:solidFill>
                      <a:srgbClr val="111827"/>
                    </a:solidFill>
                    <a:latin typeface="Cambria Math" panose="02040503050406030204" pitchFamily="18" charset="0"/>
                  </a:rPr>
                  <a:t>$\sigma^2=\frac{48d^2}{12}=4d^2=16$</a:t>
                </a:r>
                <a:r>
                  <a:rPr sz="2400" b="0">
                    <a:solidFill>
                      <a:srgbClr val="111827"/>
                    </a:solidFill>
                    <a:latin typeface="Arial"/>
                  </a:rPr>
                  <a:t>, so </a:t>
                </a:r>
                <a:r>
                  <a:rPr lang="en-IN" sz="2400">
                    <a:solidFill>
                      <a:srgbClr val="111827"/>
                    </a:solidFill>
                    <a:latin typeface="Cambria Math" panose="02040503050406030204" pitchFamily="18" charset="0"/>
                  </a:rPr>
                  <a:t>$d=2$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an A.P.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average of first and last term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Option (D),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an A.P. </a:t>
                </a:r>
                <a:r>
                  <a:rPr lang="en-IN" sz="2400">
                    <a:solidFill>
                      <a:srgbClr val="111827"/>
                    </a:solidFill>
                    <a:latin typeface="Cambria Math" panose="02040503050406030204" pitchFamily="18" charset="0"/>
                  </a:rPr>
                  <a:t>$=$</a:t>
                </a:r>
                <a:r>
                  <a:rPr sz="2400" b="0">
                    <a:solidFill>
                      <a:srgbClr val="111827"/>
                    </a:solidFill>
                    <a:latin typeface="Arial"/>
                  </a:rPr>
                  <a:t> average of first and last term </a:t>
                </a:r>
                <a:r>
                  <a:rPr lang="en-IN" sz="2400">
                    <a:solidFill>
                      <a:srgbClr val="111827"/>
                    </a:solidFill>
                    <a:latin typeface="Cambria Math" panose="02040503050406030204" pitchFamily="18" charset="0"/>
                  </a:rPr>
                  <a:t>$=\frac{9+(9+12)}{2}=15$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$x_6=9+10=19$</a:t>
                </a:r>
                <a:r>
                  <a:rPr sz="2400" b="0">
                    <a:solidFill>
                      <a:srgbClr val="111827"/>
                    </a:solidFill>
                    <a:latin typeface="Arial"/>
                  </a:rPr>
                  <a:t>, so </a:t>
                </a:r>
                <a:r>
                  <a:rPr lang="en-IN" sz="2400">
                    <a:solidFill>
                      <a:srgbClr val="111827"/>
                    </a:solidFill>
                    <a:latin typeface="Cambria Math" panose="02040503050406030204" pitchFamily="18" charset="0"/>
                  </a:rPr>
                  <a:t>$\bar x+x_6=34$</a:t>
                </a:r>
                <a:r>
                  <a:rPr sz="2400" b="0">
                    <a:solidFill>
                      <a:srgbClr val="111827"/>
                    </a:solidFill>
                    <a:latin typeface="Arial"/>
                  </a:rPr>
                  <a:t>. Option (D),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34</a:t>
            </a:r>
            <a:endParaRPr sz="2800">
              <a:solidFill>
                <a:srgbClr val="15803D"/>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equally spaced numbers with spacing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is unaffected by a shift and scales by </a:t>
                </a:r>
                <a14:m>
                  <m:oMath xmlns:m="http://schemas.openxmlformats.org/officeDocument/2006/math">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under multiplication by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 mean of an A.P. is the average of the first and last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mean of an A.P. with an odd number of terms equals its middle term.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$n$</a:t>
                </a:r>
                <a:r>
                  <a:rPr sz="2400" b="0">
                    <a:solidFill>
                      <a:srgbClr val="111827"/>
                    </a:solidFill>
                    <a:latin typeface="Arial"/>
                  </a:rPr>
                  <a:t> equally spaced numbers with spacing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$\sigma^2=\frac{d^2(n^2-1)}{12}$</a:t>
                </a:r>
                <a:r>
                  <a:rPr sz="2400" b="0">
                    <a:solidFill>
                      <a:srgbClr val="111827"/>
                    </a:solidFill>
                    <a:latin typeface="Arial"/>
                  </a:rPr>
                  <a:t>; check </a:t>
                </a:r>
                <a:r>
                  <a:rPr lang="en-IN" sz="2400">
                    <a:solidFill>
                      <a:srgbClr val="111827"/>
                    </a:solidFill>
                    <a:latin typeface="Cambria Math" panose="02040503050406030204" pitchFamily="18" charset="0"/>
                  </a:rPr>
                  <a:t>$n=7$</a:t>
                </a:r>
                <a:r>
                  <a:rPr sz="2400" b="0">
                    <a:solidFill>
                      <a:srgbClr val="111827"/>
                    </a:solidFill>
                    <a:latin typeface="Arial"/>
                  </a:rPr>
                  <a:t>: </a:t>
                </a:r>
                <a:r>
                  <a:rPr lang="en-IN" sz="2400">
                    <a:solidFill>
                      <a:srgbClr val="111827"/>
                    </a:solidFill>
                    <a:latin typeface="Cambria Math" panose="02040503050406030204" pitchFamily="18" charset="0"/>
                  </a:rPr>
                  <a:t>$\frac{28d^2}{7}=4d^2=\frac{48d^2}{12}$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is unaffected by a shift and scales by </a:t>
                </a:r>
                <a:r>
                  <a:rPr lang="en-IN" sz="2400">
                    <a:solidFill>
                      <a:srgbClr val="111827"/>
                    </a:solidFill>
                    <a:latin typeface="Cambria Math" panose="02040503050406030204" pitchFamily="18" charset="0"/>
                  </a:rPr>
                  <a:t>$d^2$</a:t>
                </a:r>
                <a:r>
                  <a:rPr sz="2400" b="0">
                    <a:solidFill>
                      <a:srgbClr val="111827"/>
                    </a:solidFill>
                    <a:latin typeface="Arial"/>
                  </a:rPr>
                  <a:t> under multiplication by </a:t>
                </a:r>
                <a:r>
                  <a:rPr lang="en-IN" sz="2400">
                    <a:solidFill>
                      <a:srgbClr val="111827"/>
                    </a:solidFill>
                    <a:latin typeface="Cambria Math" panose="02040503050406030204" pitchFamily="18" charset="0"/>
                  </a:rPr>
                  <a:t>$d$</a:t>
                </a:r>
                <a:r>
                  <a:rPr sz="2400" b="0">
                    <a:solidFill>
                      <a:srgbClr val="111827"/>
                    </a:solidFill>
                    <a:latin typeface="Arial"/>
                  </a:rPr>
                  <a:t>; the mean of an A.P. is the average of the first and last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r>
                  <a:rPr lang="en-IN" sz="2400">
                    <a:solidFill>
                      <a:srgbClr val="111827"/>
                    </a:solidFill>
                    <a:latin typeface="Cambria Math" panose="02040503050406030204" pitchFamily="18" charset="0"/>
                  </a:rPr>
                  <a:t>$0,1,\dots,n-1$</a:t>
                </a:r>
                <a:r>
                  <a:rPr sz="2400" b="0">
                    <a:solidFill>
                      <a:srgbClr val="111827"/>
                    </a:solidFill>
                    <a:latin typeface="Arial"/>
                  </a:rPr>
                  <a:t> is </a:t>
                </a:r>
                <a:r>
                  <a:rPr lang="en-IN" sz="2400">
                    <a:solidFill>
                      <a:srgbClr val="111827"/>
                    </a:solidFill>
                    <a:latin typeface="Cambria Math" panose="02040503050406030204" pitchFamily="18" charset="0"/>
                  </a:rPr>
                  <a:t>$\frac{n-1}{2}$</a:t>
                </a:r>
                <a:r>
                  <a:rPr sz="2400" b="0">
                    <a:solidFill>
                      <a:srgbClr val="111827"/>
                    </a:solidFill>
                    <a:latin typeface="Arial"/>
                  </a:rPr>
                  <a:t>; mean of an A.P. with an odd number of terms equals its middle term.</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positive integral solutions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24   (B) 36   (C) 45   (D) 30</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positive integral solutions </a:t>
                </a:r>
                <a:r>
                  <a:rPr lang="en-IN" sz="2400">
                    <a:solidFill>
                      <a:srgbClr val="111827"/>
                    </a:solidFill>
                    <a:latin typeface="Cambria Math" panose="02040503050406030204" pitchFamily="18" charset="0"/>
                  </a:rPr>
                  <a:t>$(x,y,z)$</a:t>
                </a:r>
                <a:r>
                  <a:rPr sz="2400" b="0">
                    <a:solidFill>
                      <a:srgbClr val="111827"/>
                    </a:solidFill>
                    <a:latin typeface="Arial"/>
                  </a:rPr>
                  <a:t> such that </a:t>
                </a:r>
                <a:r>
                  <a:rPr lang="en-IN" sz="2400">
                    <a:solidFill>
                      <a:srgbClr val="111827"/>
                    </a:solidFill>
                    <a:latin typeface="Cambria Math" panose="02040503050406030204" pitchFamily="18" charset="0"/>
                  </a:rPr>
                  <a:t>$xyz=24$</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24   (B) 36   (C) 45   (D) 30</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ordered factorisations (distribution of prime powers)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prime's power is distributed independently among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stars-and-bars for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and for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1</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prime's power is distributed independently among </a:t>
                </a:r>
                <a:r>
                  <a:rPr lang="en-IN" sz="2400">
                    <a:solidFill>
                      <a:srgbClr val="78350F"/>
                    </a:solidFill>
                    <a:latin typeface="Cambria Math" panose="02040503050406030204" pitchFamily="18" charset="0"/>
                  </a:rPr>
                  <a:t>$x,y,z$</a:t>
                </a:r>
                <a:r>
                  <a:rPr sz="2400" b="0">
                    <a:solidFill>
                      <a:srgbClr val="78350F"/>
                    </a:solidFill>
                    <a:latin typeface="Arial"/>
                  </a:rPr>
                  <a:t>: stars-and-bars for </a:t>
                </a:r>
                <a:r>
                  <a:rPr lang="en-IN" sz="2400">
                    <a:solidFill>
                      <a:srgbClr val="78350F"/>
                    </a:solidFill>
                    <a:latin typeface="Cambria Math" panose="02040503050406030204" pitchFamily="18" charset="0"/>
                  </a:rPr>
                  <a:t>$2^3$</a:t>
                </a:r>
                <a:r>
                  <a:rPr sz="2400" b="0">
                    <a:solidFill>
                      <a:srgbClr val="78350F"/>
                    </a:solidFill>
                    <a:latin typeface="Arial"/>
                  </a:rPr>
                  <a:t> and for </a:t>
                </a:r>
                <a:r>
                  <a:rPr lang="en-IN" sz="2400">
                    <a:solidFill>
                      <a:srgbClr val="78350F"/>
                    </a:solidFill>
                    <a:latin typeface="Cambria Math" panose="02040503050406030204" pitchFamily="18" charset="0"/>
                  </a:rPr>
                  <a:t>$3^1$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up>
                    </m:sSup>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up>
                    </m:sSup>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sup>
                    </m:sSup>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sup>
                    </m:sSup>
                  </m:oMath>
                </a14:m>
                <a:r>
                  <a:rPr sz="2400" b="0">
                    <a:solidFill>
                      <a:srgbClr val="111827"/>
                    </a:solidFill>
                    <a:latin typeface="Arial"/>
                  </a:rPr>
                  <a:t>; the powers of 2 and of 3 are distributed among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independently.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2: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in non-negative integers: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$xyz=24=2^3\cdot3$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$x=2^{a_1}3^{b_1}$</a:t>
                </a:r>
                <a:r>
                  <a:rPr sz="2400" b="0">
                    <a:solidFill>
                      <a:srgbClr val="111827"/>
                    </a:solidFill>
                    <a:latin typeface="Arial"/>
                  </a:rPr>
                  <a:t>, </a:t>
                </a:r>
                <a:r>
                  <a:rPr lang="en-IN" sz="2400">
                    <a:solidFill>
                      <a:srgbClr val="111827"/>
                    </a:solidFill>
                    <a:latin typeface="Cambria Math" panose="02040503050406030204" pitchFamily="18" charset="0"/>
                  </a:rPr>
                  <a:t>$y=2^{a_2}3^{b_2}$</a:t>
                </a:r>
                <a:r>
                  <a:rPr sz="2400" b="0">
                    <a:solidFill>
                      <a:srgbClr val="111827"/>
                    </a:solidFill>
                    <a:latin typeface="Arial"/>
                  </a:rPr>
                  <a:t>, </a:t>
                </a:r>
                <a:r>
                  <a:rPr lang="en-IN" sz="2400">
                    <a:solidFill>
                      <a:srgbClr val="111827"/>
                    </a:solidFill>
                    <a:latin typeface="Cambria Math" panose="02040503050406030204" pitchFamily="18" charset="0"/>
                  </a:rPr>
                  <a:t>$z=2^{a_3}3^{b_3}$</a:t>
                </a:r>
                <a:r>
                  <a:rPr sz="2400" b="0">
                    <a:solidFill>
                      <a:srgbClr val="111827"/>
                    </a:solidFill>
                    <a:latin typeface="Arial"/>
                  </a:rPr>
                  <a:t>; the powers of 2 and of 3 are distributed among </a:t>
                </a:r>
                <a:r>
                  <a:rPr lang="en-IN" sz="2400">
                    <a:solidFill>
                      <a:srgbClr val="111827"/>
                    </a:solidFill>
                    <a:latin typeface="Cambria Math" panose="02040503050406030204" pitchFamily="18" charset="0"/>
                  </a:rPr>
                  <a:t>$x,y,z$</a:t>
                </a:r>
                <a:r>
                  <a:rPr sz="2400" b="0">
                    <a:solidFill>
                      <a:srgbClr val="111827"/>
                    </a:solidFill>
                    <a:latin typeface="Arial"/>
                  </a:rPr>
                  <a:t> independently.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2: </a:t>
                </a:r>
                <a:r>
                  <a:rPr lang="en-IN" sz="2400">
                    <a:solidFill>
                      <a:srgbClr val="111827"/>
                    </a:solidFill>
                    <a:latin typeface="Cambria Math" panose="02040503050406030204" pitchFamily="18" charset="0"/>
                  </a:rPr>
                  <a:t>$a_1+a_2+a_3=3$</a:t>
                </a:r>
                <a:r>
                  <a:rPr sz="2400" b="0">
                    <a:solidFill>
                      <a:srgbClr val="111827"/>
                    </a:solidFill>
                    <a:latin typeface="Arial"/>
                  </a:rPr>
                  <a:t> in non-negative integers: </a:t>
                </a:r>
                <a:r>
                  <a:rPr lang="en-IN" sz="2400">
                    <a:solidFill>
                      <a:srgbClr val="111827"/>
                    </a:solidFill>
                    <a:latin typeface="Cambria Math" panose="02040503050406030204" pitchFamily="18" charset="0"/>
                  </a:rPr>
                  <a:t>$\binom{3+2}{2}=\binom52=10$</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Powers of 3: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of solutions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Powers of 3: </a:t>
                </a:r>
                <a:r>
                  <a:rPr lang="en-IN" sz="2400">
                    <a:solidFill>
                      <a:srgbClr val="111827"/>
                    </a:solidFill>
                    <a:latin typeface="Cambria Math" panose="02040503050406030204" pitchFamily="18" charset="0"/>
                  </a:rPr>
                  <a:t>$b_1+b_2+b_3=1$</a:t>
                </a:r>
                <a:r>
                  <a:rPr sz="2400" b="0">
                    <a:solidFill>
                      <a:srgbClr val="111827"/>
                    </a:solidFill>
                    <a:latin typeface="Arial"/>
                  </a:rPr>
                  <a:t>: </a:t>
                </a:r>
                <a:r>
                  <a:rPr lang="en-IN" sz="2400">
                    <a:solidFill>
                      <a:srgbClr val="111827"/>
                    </a:solidFill>
                    <a:latin typeface="Cambria Math" panose="02040503050406030204" pitchFamily="18" charset="0"/>
                  </a:rPr>
                  <a:t>$\binom{1+2}{2}=\binom32=3$</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of solutions </a:t>
                </a:r>
                <a:r>
                  <a:rPr lang="en-IN" sz="2400">
                    <a:solidFill>
                      <a:srgbClr val="111827"/>
                    </a:solidFill>
                    <a:latin typeface="Cambria Math" panose="02040503050406030204" pitchFamily="18" charset="0"/>
                  </a:rPr>
                  <a:t>$=10\times3=30$</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30</a:t>
            </a:r>
            <a:endParaRPr sz="2800">
              <a:solidFill>
                <a:srgbClr val="15803D"/>
              </a:solidFil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by the value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for each divisor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of 24 the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number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by the value of </a:t>
                </a:r>
                <a:r>
                  <a:rPr lang="en-IN" sz="2400">
                    <a:solidFill>
                      <a:srgbClr val="78350F"/>
                    </a:solidFill>
                    <a:latin typeface="Cambria Math" panose="02040503050406030204" pitchFamily="18" charset="0"/>
                  </a:rPr>
                  <a:t>$x$</a:t>
                </a:r>
                <a:r>
                  <a:rPr sz="2400" b="0">
                    <a:solidFill>
                      <a:srgbClr val="78350F"/>
                    </a:solidFill>
                    <a:latin typeface="Arial"/>
                  </a:rPr>
                  <a:t>: for each divisor </a:t>
                </a:r>
                <a:r>
                  <a:rPr lang="en-IN" sz="2400">
                    <a:solidFill>
                      <a:srgbClr val="78350F"/>
                    </a:solidFill>
                    <a:latin typeface="Cambria Math" panose="02040503050406030204" pitchFamily="18" charset="0"/>
                  </a:rPr>
                  <a:t>$x$</a:t>
                </a:r>
                <a:r>
                  <a:rPr sz="2400" b="0">
                    <a:solidFill>
                      <a:srgbClr val="78350F"/>
                    </a:solidFill>
                    <a:latin typeface="Arial"/>
                  </a:rPr>
                  <a:t> of 24 the pairs </a:t>
                </a:r>
                <a:r>
                  <a:rPr lang="en-IN" sz="2400">
                    <a:solidFill>
                      <a:srgbClr val="78350F"/>
                    </a:solidFill>
                    <a:latin typeface="Cambria Math" panose="02040503050406030204" pitchFamily="18" charset="0"/>
                  </a:rPr>
                  <a:t>$(y,z)$</a:t>
                </a:r>
                <a:r>
                  <a:rPr sz="2400" b="0">
                    <a:solidFill>
                      <a:srgbClr val="78350F"/>
                    </a:solidFill>
                    <a:latin typeface="Arial"/>
                  </a:rPr>
                  <a:t> with </a:t>
                </a:r>
                <a:r>
                  <a:rPr lang="en-IN" sz="2400">
                    <a:solidFill>
                      <a:srgbClr val="78350F"/>
                    </a:solidFill>
                    <a:latin typeface="Cambria Math" panose="02040503050406030204" pitchFamily="18" charset="0"/>
                  </a:rPr>
                  <a:t>$yz=24/x$</a:t>
                </a:r>
                <a:r>
                  <a:rPr sz="2400" b="0">
                    <a:solidFill>
                      <a:srgbClr val="78350F"/>
                    </a:solidFill>
                    <a:latin typeface="Arial"/>
                  </a:rPr>
                  <a:t> number </a:t>
                </a:r>
                <a:r>
                  <a:rPr lang="en-IN" sz="2400">
                    <a:solidFill>
                      <a:srgbClr val="78350F"/>
                    </a:solidFill>
                    <a:latin typeface="Cambria Math" panose="02040503050406030204" pitchFamily="18" charset="0"/>
                  </a:rPr>
                  <a:t>$d(24/x)$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as a divisor of 24;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ordered factorisation of </a:t>
                </a: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 number of divisors).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Option (D),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$x$</a:t>
                </a:r>
                <a:r>
                  <a:rPr sz="2400" b="0">
                    <a:solidFill>
                      <a:srgbClr val="111827"/>
                    </a:solidFill>
                    <a:latin typeface="Arial"/>
                  </a:rPr>
                  <a:t> as a divisor of 24; then </a:t>
                </a:r>
                <a:r>
                  <a:rPr lang="en-IN" sz="2400">
                    <a:solidFill>
                      <a:srgbClr val="111827"/>
                    </a:solidFill>
                    <a:latin typeface="Cambria Math" panose="02040503050406030204" pitchFamily="18" charset="0"/>
                  </a:rPr>
                  <a:t>$(y,z)$</a:t>
                </a:r>
                <a:r>
                  <a:rPr sz="2400" b="0">
                    <a:solidFill>
                      <a:srgbClr val="111827"/>
                    </a:solidFill>
                    <a:latin typeface="Arial"/>
                  </a:rPr>
                  <a:t> is an ordered factorisation of </a:t>
                </a:r>
                <a:r>
                  <a:rPr lang="en-IN" sz="2400">
                    <a:solidFill>
                      <a:srgbClr val="111827"/>
                    </a:solidFill>
                    <a:latin typeface="Cambria Math" panose="02040503050406030204" pitchFamily="18" charset="0"/>
                  </a:rPr>
                  <a:t>$24/x$</a:t>
                </a:r>
                <a:r>
                  <a:rPr sz="2400" b="0">
                    <a:solidFill>
                      <a:srgbClr val="111827"/>
                    </a:solidFill>
                    <a:latin typeface="Arial"/>
                  </a:rPr>
                  <a:t>, in </a:t>
                </a:r>
                <a:r>
                  <a:rPr lang="en-IN" sz="2400">
                    <a:solidFill>
                      <a:srgbClr val="111827"/>
                    </a:solidFill>
                    <a:latin typeface="Cambria Math" panose="02040503050406030204" pitchFamily="18" charset="0"/>
                  </a:rPr>
                  <a:t>$d(24/x)$</a:t>
                </a:r>
                <a:r>
                  <a:rPr sz="2400" b="0">
                    <a:solidFill>
                      <a:srgbClr val="111827"/>
                    </a:solidFill>
                    <a:latin typeface="Arial"/>
                  </a:rPr>
                  <a:t> ways (</a:t>
                </a:r>
                <a:r>
                  <a:rPr lang="en-IN" sz="2400">
                    <a:solidFill>
                      <a:srgbClr val="111827"/>
                    </a:solidFill>
                    <a:latin typeface="Cambria Math" panose="02040503050406030204" pitchFamily="18" charset="0"/>
                  </a:rPr>
                  <a:t>$d$</a:t>
                </a:r>
                <a:r>
                  <a:rPr sz="2400" b="0">
                    <a:solidFill>
                      <a:srgbClr val="111827"/>
                    </a:solidFill>
                    <a:latin typeface="Arial"/>
                  </a:rPr>
                  <a:t> = number of divisors).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 d(24)=8$</a:t>
                </a:r>
                <a:r>
                  <a:rPr sz="2400" b="0">
                    <a:solidFill>
                      <a:srgbClr val="111827"/>
                    </a:solidFill>
                    <a:latin typeface="Arial"/>
                  </a:rPr>
                  <a:t>; </a:t>
                </a:r>
                <a:r>
                  <a:rPr lang="en-IN" sz="2400">
                    <a:solidFill>
                      <a:srgbClr val="111827"/>
                    </a:solidFill>
                    <a:latin typeface="Cambria Math" panose="02040503050406030204" pitchFamily="18" charset="0"/>
                  </a:rPr>
                  <a:t>$x=2:\ d(12)=6$</a:t>
                </a:r>
                <a:r>
                  <a:rPr sz="2400" b="0">
                    <a:solidFill>
                      <a:srgbClr val="111827"/>
                    </a:solidFill>
                    <a:latin typeface="Arial"/>
                  </a:rPr>
                  <a:t>; </a:t>
                </a:r>
                <a:r>
                  <a:rPr lang="en-IN" sz="2400">
                    <a:solidFill>
                      <a:srgbClr val="111827"/>
                    </a:solidFill>
                    <a:latin typeface="Cambria Math" panose="02040503050406030204" pitchFamily="18" charset="0"/>
                  </a:rPr>
                  <a:t>$x=3:\ d(8)=4$</a:t>
                </a:r>
                <a:r>
                  <a:rPr sz="2400" b="0">
                    <a:solidFill>
                      <a:srgbClr val="111827"/>
                    </a:solidFill>
                    <a:latin typeface="Arial"/>
                  </a:rPr>
                  <a:t>; </a:t>
                </a:r>
                <a:r>
                  <a:rPr lang="en-IN" sz="2400">
                    <a:solidFill>
                      <a:srgbClr val="111827"/>
                    </a:solidFill>
                    <a:latin typeface="Cambria Math" panose="02040503050406030204" pitchFamily="18" charset="0"/>
                  </a:rPr>
                  <a:t>$x=4:\ d(6)=4$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$x=6:\ d(4)=3$</a:t>
                </a:r>
                <a:r>
                  <a:rPr sz="2400" b="0">
                    <a:solidFill>
                      <a:srgbClr val="111827"/>
                    </a:solidFill>
                    <a:latin typeface="Arial"/>
                  </a:rPr>
                  <a:t>; </a:t>
                </a:r>
                <a:r>
                  <a:rPr lang="en-IN" sz="2400">
                    <a:solidFill>
                      <a:srgbClr val="111827"/>
                    </a:solidFill>
                    <a:latin typeface="Cambria Math" panose="02040503050406030204" pitchFamily="18" charset="0"/>
                  </a:rPr>
                  <a:t>$x=8:\ d(3)=2$</a:t>
                </a:r>
                <a:r>
                  <a:rPr sz="2400" b="0">
                    <a:solidFill>
                      <a:srgbClr val="111827"/>
                    </a:solidFill>
                    <a:latin typeface="Arial"/>
                  </a:rPr>
                  <a:t>; </a:t>
                </a:r>
                <a:r>
                  <a:rPr lang="en-IN" sz="2400">
                    <a:solidFill>
                      <a:srgbClr val="111827"/>
                    </a:solidFill>
                    <a:latin typeface="Cambria Math" panose="02040503050406030204" pitchFamily="18" charset="0"/>
                  </a:rPr>
                  <a:t>$x=12:\ d(2)=2$</a:t>
                </a:r>
                <a:r>
                  <a:rPr sz="2400" b="0">
                    <a:solidFill>
                      <a:srgbClr val="111827"/>
                    </a:solidFill>
                    <a:latin typeface="Arial"/>
                  </a:rPr>
                  <a:t>; </a:t>
                </a:r>
                <a:r>
                  <a:rPr lang="en-IN" sz="2400">
                    <a:solidFill>
                      <a:srgbClr val="111827"/>
                    </a:solidFill>
                    <a:latin typeface="Cambria Math" panose="02040503050406030204" pitchFamily="18" charset="0"/>
                  </a:rPr>
                  <a:t>$x=24:\ d(1)=1$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$=8+6+4+4+3+2+2+1=30$</a:t>
                </a:r>
                <a:r>
                  <a:rPr sz="2400" b="0">
                    <a:solidFill>
                      <a:srgbClr val="111827"/>
                    </a:solidFill>
                    <a:latin typeface="Arial"/>
                  </a:rPr>
                  <a:t>. Option (D),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30</a:t>
            </a:r>
            <a:endParaRPr sz="2800">
              <a:solidFill>
                <a:srgbClr val="15803D"/>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ordered factorisations of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up>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1</m:t>
                            </m:r>
                          </m:sub>
                        </m:sSub>
                      </m:sup>
                    </m:sSubSup>
                    <m:sSubSup>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up>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2</m:t>
                            </m:r>
                          </m:sub>
                        </m:sSub>
                      </m:sup>
                    </m:sSub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positive factors is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for three factors of </a:t>
                </a:r>
                <a14:m>
                  <m:oMath xmlns:m="http://schemas.openxmlformats.org/officeDocument/2006/math">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it would be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check: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𝑑</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counts ordered pairs, and iterating it counts ordered triples.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ordered factorisations of </a:t>
                </a:r>
                <a:r>
                  <a:rPr lang="en-IN" sz="2400">
                    <a:solidFill>
                      <a:srgbClr val="111827"/>
                    </a:solidFill>
                    <a:latin typeface="Cambria Math" panose="02040503050406030204" pitchFamily="18" charset="0"/>
                  </a:rPr>
                  <a:t>$N=p_1^{e_1}p_2^{e_2}\cdots$</a:t>
                </a:r>
                <a:r>
                  <a:rPr sz="2400" b="0">
                    <a:solidFill>
                      <a:srgbClr val="111827"/>
                    </a:solidFill>
                    <a:latin typeface="Arial"/>
                  </a:rPr>
                  <a:t> into </a:t>
                </a:r>
                <a:r>
                  <a:rPr lang="en-IN" sz="2400">
                    <a:solidFill>
                      <a:srgbClr val="111827"/>
                    </a:solidFill>
                    <a:latin typeface="Cambria Math" panose="02040503050406030204" pitchFamily="18" charset="0"/>
                  </a:rPr>
                  <a:t>$k$</a:t>
                </a:r>
                <a:r>
                  <a:rPr sz="2400" b="0">
                    <a:solidFill>
                      <a:srgbClr val="111827"/>
                    </a:solidFill>
                    <a:latin typeface="Arial"/>
                  </a:rPr>
                  <a:t> positive factors is </a:t>
                </a:r>
                <a:r>
                  <a:rPr lang="en-IN" sz="2400">
                    <a:solidFill>
                      <a:srgbClr val="111827"/>
                    </a:solidFill>
                    <a:latin typeface="Cambria Math" panose="02040503050406030204" pitchFamily="18" charset="0"/>
                  </a:rPr>
                  <a:t>$\prod_i\binom{e_i+k-1}{k-1}$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$\binom52\binom32=30$</a:t>
                </a:r>
                <a:r>
                  <a:rPr sz="2400" b="0">
                    <a:solidFill>
                      <a:srgbClr val="111827"/>
                    </a:solidFill>
                    <a:latin typeface="Arial"/>
                  </a:rPr>
                  <a:t>; for three factors of </a:t>
                </a:r>
                <a:r>
                  <a:rPr lang="en-IN" sz="2400">
                    <a:solidFill>
                      <a:srgbClr val="111827"/>
                    </a:solidFill>
                    <a:latin typeface="Cambria Math" panose="02040503050406030204" pitchFamily="18" charset="0"/>
                  </a:rPr>
                  <a:t>$360=2^3\cdot3^2\cdot5$</a:t>
                </a:r>
                <a:r>
                  <a:rPr sz="2400" b="0">
                    <a:solidFill>
                      <a:srgbClr val="111827"/>
                    </a:solidFill>
                    <a:latin typeface="Arial"/>
                  </a:rPr>
                  <a:t> it would be </a:t>
                </a:r>
                <a:r>
                  <a:rPr lang="en-IN" sz="2400">
                    <a:solidFill>
                      <a:srgbClr val="111827"/>
                    </a:solidFill>
                    <a:latin typeface="Cambria Math" panose="02040503050406030204" pitchFamily="18" charset="0"/>
                  </a:rPr>
                  <a:t>$10\cdot6\cdot3=180$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check: </a:t>
                </a:r>
                <a:r>
                  <a:rPr lang="en-IN" sz="2400">
                    <a:solidFill>
                      <a:srgbClr val="111827"/>
                    </a:solidFill>
                    <a:latin typeface="Cambria Math" panose="02040503050406030204" pitchFamily="18" charset="0"/>
                  </a:rPr>
                  <a:t>$\sum_{x\mid N}d(N/x)$</a:t>
                </a:r>
                <a:r>
                  <a:rPr sz="2400" b="0">
                    <a:solidFill>
                      <a:srgbClr val="111827"/>
                    </a:solidFill>
                    <a:latin typeface="Arial"/>
                  </a:rPr>
                  <a:t> counts ordered pairs, and iterating it counts ordered triples.</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probability that a randomly chosen 5-digit number is made from exactly two digits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150</m:t>
                        </m:r>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134</m:t>
                        </m:r>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135</m:t>
                        </m:r>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probability that a randomly chosen 5-digit number is made from exactly two digits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$\frac{150}{10^4}$</a:t>
                </a:r>
                <a:r>
                  <a:rPr sz="2400" b="0">
                    <a:solidFill>
                      <a:srgbClr val="111827"/>
                    </a:solidFill>
                    <a:latin typeface="Arial"/>
                  </a:rPr>
                  <a:t>   (B) </a:t>
                </a:r>
                <a:r>
                  <a:rPr lang="en-IN" sz="2400">
                    <a:solidFill>
                      <a:srgbClr val="111827"/>
                    </a:solidFill>
                    <a:latin typeface="Cambria Math" panose="02040503050406030204" pitchFamily="18" charset="0"/>
                  </a:rPr>
                  <a:t>$\frac{121}{10^4}$</a:t>
                </a:r>
                <a:r>
                  <a:rPr sz="2400" b="0">
                    <a:solidFill>
                      <a:srgbClr val="111827"/>
                    </a:solidFill>
                    <a:latin typeface="Arial"/>
                  </a:rPr>
                  <a:t>   (C) </a:t>
                </a:r>
                <a:r>
                  <a:rPr lang="en-IN" sz="2400">
                    <a:solidFill>
                      <a:srgbClr val="111827"/>
                    </a:solidFill>
                    <a:latin typeface="Cambria Math" panose="02040503050406030204" pitchFamily="18" charset="0"/>
                  </a:rPr>
                  <a:t>$\frac{134}{10^4}$</a:t>
                </a:r>
                <a:r>
                  <a:rPr sz="2400" b="0">
                    <a:solidFill>
                      <a:srgbClr val="111827"/>
                    </a:solidFill>
                    <a:latin typeface="Arial"/>
                  </a:rPr>
                  <a:t>   (D) </a:t>
                </a:r>
                <a:r>
                  <a:rPr lang="en-IN" sz="2400">
                    <a:solidFill>
                      <a:srgbClr val="111827"/>
                    </a:solidFill>
                    <a:latin typeface="Cambria Math" panose="02040503050406030204" pitchFamily="18" charset="0"/>
                  </a:rPr>
                  <a:t>$\frac{135}{10^4}$</a:t>
                </a:r>
                <a:endParaRPr sz="2400">
                  <a:solidFill>
                    <a:srgbClr val="111827"/>
                  </a:solidFill>
                </a:endParaRPr>
              </a:p>
            </p:txBody>
          </p:sp>
        </mc:Fallback>
      </mc:AlternateContent>
      <p:sp>
        <p:nvSpPr>
          <p:cNvPr id="5" name="Rectangle 4"/>
          <p:cNvSpPr/>
          <p:nvPr/>
        </p:nvSpPr>
        <p:spPr>
          <a:xfrm>
            <a:off x="731520" y="37998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numbers formed by exactly two digits, Probability as favourable over total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whether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is one of the two digits, because a 5-digit number cannot begin with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whether </a:t>
                </a:r>
                <a:r>
                  <a:rPr lang="en-IN" sz="2400">
                    <a:solidFill>
                      <a:srgbClr val="78350F"/>
                    </a:solidFill>
                    <a:latin typeface="Cambria Math" panose="02040503050406030204" pitchFamily="18" charset="0"/>
                  </a:rPr>
                  <a:t>$0$</a:t>
                </a:r>
                <a:r>
                  <a:rPr sz="2400" b="0">
                    <a:solidFill>
                      <a:srgbClr val="78350F"/>
                    </a:solidFill>
                    <a:latin typeface="Arial"/>
                  </a:rPr>
                  <a:t> is one of the two digits, because a 5-digit number cannot begin with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5-digit numbers: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digits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only (no 0): choose the two digits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ways and fill 5 places with both used: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in Case 1: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the digits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one non-zero digit: choose the non-zero digit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5-digit numbers: </a:t>
                </a:r>
                <a:r>
                  <a:rPr lang="en-IN" sz="2400">
                    <a:solidFill>
                      <a:srgbClr val="111827"/>
                    </a:solidFill>
                    <a:latin typeface="Cambria Math" panose="02040503050406030204" pitchFamily="18" charset="0"/>
                  </a:rPr>
                  <a:t>$9\times10\times10\times10\times10=9\times10^4$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digits from </a:t>
                </a:r>
                <a:r>
                  <a:rPr lang="en-IN" sz="2400">
                    <a:solidFill>
                      <a:srgbClr val="111827"/>
                    </a:solidFill>
                    <a:latin typeface="Cambria Math" panose="02040503050406030204" pitchFamily="18" charset="0"/>
                  </a:rPr>
                  <a:t>$1,\dots,9$</a:t>
                </a:r>
                <a:r>
                  <a:rPr sz="2400" b="0">
                    <a:solidFill>
                      <a:srgbClr val="111827"/>
                    </a:solidFill>
                    <a:latin typeface="Arial"/>
                  </a:rPr>
                  <a:t> only (no 0): choose the two digits in </a:t>
                </a:r>
                <a:r>
                  <a:rPr lang="en-IN" sz="2400">
                    <a:solidFill>
                      <a:srgbClr val="111827"/>
                    </a:solidFill>
                    <a:latin typeface="Cambria Math" panose="02040503050406030204" pitchFamily="18" charset="0"/>
                  </a:rPr>
                  <a:t>$\binom92$</a:t>
                </a:r>
                <a:r>
                  <a:rPr sz="2400" b="0">
                    <a:solidFill>
                      <a:srgbClr val="111827"/>
                    </a:solidFill>
                    <a:latin typeface="Arial"/>
                  </a:rPr>
                  <a:t> ways and fill 5 places with both used: </a:t>
                </a:r>
                <a:r>
                  <a:rPr lang="en-IN" sz="2400">
                    <a:solidFill>
                      <a:srgbClr val="111827"/>
                    </a:solidFill>
                    <a:latin typeface="Cambria Math" panose="02040503050406030204" pitchFamily="18" charset="0"/>
                  </a:rPr>
                  <a:t>$2^5-2$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in Case 1: </a:t>
                </a:r>
                <a:r>
                  <a:rPr lang="en-IN" sz="2400">
                    <a:solidFill>
                      <a:srgbClr val="111827"/>
                    </a:solidFill>
                    <a:latin typeface="Cambria Math" panose="02040503050406030204" pitchFamily="18" charset="0"/>
                  </a:rPr>
                  <a:t>$\binom92(2^5-2)=36\times30=1080$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the digits are </a:t>
                </a:r>
                <a:r>
                  <a:rPr lang="en-IN" sz="2400">
                    <a:solidFill>
                      <a:srgbClr val="111827"/>
                    </a:solidFill>
                    <a:latin typeface="Cambria Math" panose="02040503050406030204" pitchFamily="18" charset="0"/>
                  </a:rPr>
                  <a:t>$0$</a:t>
                </a:r>
                <a:r>
                  <a:rPr sz="2400" b="0">
                    <a:solidFill>
                      <a:srgbClr val="111827"/>
                    </a:solidFill>
                    <a:latin typeface="Arial"/>
                  </a:rPr>
                  <a:t> and one non-zero digit: choose the non-zero digit in </a:t>
                </a:r>
                <a:r>
                  <a:rPr lang="en-IN" sz="2400">
                    <a:solidFill>
                      <a:srgbClr val="111827"/>
                    </a:solidFill>
                    <a:latin typeface="Cambria Math" panose="02040503050406030204" pitchFamily="18" charset="0"/>
                  </a:rPr>
                  <a:t>$\binom91=9$</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place must be the non-zero digit; each of the other 4 places is either digit, excluding the case where all 4 are the non-zero digit: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in Case 2: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1215</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135</m:t>
                        </m:r>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place must be the non-zero digit; each of the other 4 places is either digit, excluding the case where all 4 are the non-zero digit: </a:t>
                </a:r>
                <a:r>
                  <a:rPr lang="en-IN" sz="2400">
                    <a:solidFill>
                      <a:srgbClr val="111827"/>
                    </a:solidFill>
                    <a:latin typeface="Cambria Math" panose="02040503050406030204" pitchFamily="18" charset="0"/>
                  </a:rPr>
                  <a:t>$1\times(2^4-1)=15$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in Case 2: </a:t>
                </a:r>
                <a:r>
                  <a:rPr lang="en-IN" sz="2400">
                    <a:solidFill>
                      <a:srgbClr val="111827"/>
                    </a:solidFill>
                    <a:latin typeface="Cambria Math" panose="02040503050406030204" pitchFamily="18" charset="0"/>
                  </a:rPr>
                  <a:t>$9\times15=135$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$=\frac{1080+135}{9\times10^4}=\frac{1215}{9\times10^4}=\frac{135}{10^4}$</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135</m:t>
                        </m:r>
                      </m:num>
                      <m:den>
                        <m:sSup>
                          <m:e>
                            <m:r>
                              <a:rPr lang="en-IN" sz="2800" i="1">
                                <a:solidFill>
                                  <a:srgbClr val="15803D"/>
                                </a:solidFill>
                                <a:latin typeface="Cambria Math" panose="02040503050406030204" pitchFamily="18" charset="0"/>
                              </a:rPr>
                              <m:t>10</m:t>
                            </m:r>
                          </m:e>
                          <m:sup>
                            <m:r>
                              <a:rPr lang="en-IN" sz="2800" i="1">
                                <a:solidFill>
                                  <a:srgbClr val="15803D"/>
                                </a:solidFill>
                                <a:latin typeface="Cambria Math" panose="02040503050406030204" pitchFamily="18" charset="0"/>
                              </a:rPr>
                              <m:t>4</m:t>
                            </m:r>
                          </m:sup>
                        </m:sSup>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$\frac{135}{10^4}$</a:t>
                </a:r>
                <a:endParaRPr sz="2800">
                  <a:solidFill>
                    <a:srgbClr val="15803D"/>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first digit; then the second digit </a:t>
                </a:r>
                <a14:m>
                  <m:oMath xmlns:m="http://schemas.openxmlformats.org/officeDocument/2006/math">
                    <m:r>
                      <a:rPr lang="en-IN" sz="2400" i="1">
                        <a:solidFill>
                          <a:srgbClr val="78350F"/>
                        </a:solidFill>
                        <a:latin typeface="Cambria Math" panose="02040503050406030204" pitchFamily="18" charset="0"/>
                      </a:rPr>
                      <m:t>𝑒</m:t>
                    </m:r>
                  </m:oMath>
                </a14:m>
                <a:r>
                  <a:rPr sz="2400" b="0">
                    <a:solidFill>
                      <a:srgbClr val="78350F"/>
                    </a:solidFill>
                    <a:latin typeface="Arial"/>
                  </a:rPr>
                  <a:t> may be any of the other 9 digits (including 0), which removes the case split.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first digit; then the second digit </a:t>
                </a:r>
                <a:r>
                  <a:rPr lang="en-IN" sz="2400">
                    <a:solidFill>
                      <a:srgbClr val="78350F"/>
                    </a:solidFill>
                    <a:latin typeface="Cambria Math" panose="02040503050406030204" pitchFamily="18" charset="0"/>
                  </a:rPr>
                  <a:t>$e$</a:t>
                </a:r>
                <a:r>
                  <a:rPr sz="2400" b="0">
                    <a:solidFill>
                      <a:srgbClr val="78350F"/>
                    </a:solidFill>
                    <a:latin typeface="Arial"/>
                  </a:rPr>
                  <a:t> may be any of the other 9 digits (including 0), which removes the case split.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digit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can be any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9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digits means the other four places use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and one other digit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must appear at least once.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can be any of the remaining 9 digits (0 is allowed here because it is not in the first place): 9 choices.</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digit </a:t>
                </a:r>
                <a:r>
                  <a:rPr lang="en-IN" sz="2400">
                    <a:solidFill>
                      <a:srgbClr val="111827"/>
                    </a:solidFill>
                    <a:latin typeface="Cambria Math" panose="02040503050406030204" pitchFamily="18" charset="0"/>
                  </a:rPr>
                  <a:t>$d$</a:t>
                </a:r>
                <a:r>
                  <a:rPr sz="2400" b="0">
                    <a:solidFill>
                      <a:srgbClr val="111827"/>
                    </a:solidFill>
                    <a:latin typeface="Arial"/>
                  </a:rPr>
                  <a:t> can be any of </a:t>
                </a:r>
                <a:r>
                  <a:rPr lang="en-IN" sz="2400">
                    <a:solidFill>
                      <a:srgbClr val="111827"/>
                    </a:solidFill>
                    <a:latin typeface="Cambria Math" panose="02040503050406030204" pitchFamily="18" charset="0"/>
                  </a:rPr>
                  <a:t>$1,\dots,9$</a:t>
                </a:r>
                <a:r>
                  <a:rPr sz="2400" b="0">
                    <a:solidFill>
                      <a:srgbClr val="111827"/>
                    </a:solidFill>
                    <a:latin typeface="Arial"/>
                  </a:rPr>
                  <a:t>: 9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digits means the other four places use </a:t>
                </a:r>
                <a:r>
                  <a:rPr lang="en-IN" sz="2400">
                    <a:solidFill>
                      <a:srgbClr val="111827"/>
                    </a:solidFill>
                    <a:latin typeface="Cambria Math" panose="02040503050406030204" pitchFamily="18" charset="0"/>
                  </a:rPr>
                  <a:t>$d$</a:t>
                </a:r>
                <a:r>
                  <a:rPr sz="2400" b="0">
                    <a:solidFill>
                      <a:srgbClr val="111827"/>
                    </a:solidFill>
                    <a:latin typeface="Arial"/>
                  </a:rPr>
                  <a:t> and one other digit </a:t>
                </a:r>
                <a:r>
                  <a:rPr lang="en-IN" sz="2400">
                    <a:solidFill>
                      <a:srgbClr val="111827"/>
                    </a:solidFill>
                    <a:latin typeface="Cambria Math" panose="02040503050406030204" pitchFamily="18" charset="0"/>
                  </a:rPr>
                  <a:t>$e\ne d$</a:t>
                </a:r>
                <a:r>
                  <a:rPr sz="2400" b="0">
                    <a:solidFill>
                      <a:srgbClr val="111827"/>
                    </a:solidFill>
                    <a:latin typeface="Arial"/>
                  </a:rPr>
                  <a:t>, and </a:t>
                </a:r>
                <a:r>
                  <a:rPr lang="en-IN" sz="2400">
                    <a:solidFill>
                      <a:srgbClr val="111827"/>
                    </a:solidFill>
                    <a:latin typeface="Cambria Math" panose="02040503050406030204" pitchFamily="18" charset="0"/>
                  </a:rPr>
                  <a:t>$e$</a:t>
                </a:r>
                <a:r>
                  <a:rPr sz="2400" b="0">
                    <a:solidFill>
                      <a:srgbClr val="111827"/>
                    </a:solidFill>
                    <a:latin typeface="Arial"/>
                  </a:rPr>
                  <a:t> must appear at least once.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a:t>
                </a:r>
                <a:r>
                  <a:rPr sz="2400" b="0">
                    <a:solidFill>
                      <a:srgbClr val="111827"/>
                    </a:solidFill>
                    <a:latin typeface="Arial"/>
                  </a:rPr>
                  <a:t> can be any of the remaining 9 digits (0 is allowed here because it is not in the first place): 9 choices.</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remaining places are each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not all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1215</m:t>
                    </m:r>
                  </m:oMath>
                </a14:m>
                <a:r>
                  <a:rPr sz="2400" b="0">
                    <a:solidFill>
                      <a:srgbClr val="111827"/>
                    </a:solidFill>
                    <a:latin typeface="Arial"/>
                  </a:rPr>
                  <a:t>, 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1215</m:t>
                        </m:r>
                      </m:num>
                      <m:den>
                        <m:r>
                          <a:rPr lang="en-IN" sz="2400" i="1">
                            <a:solidFill>
                              <a:srgbClr val="111827"/>
                            </a:solidFill>
                            <a:latin typeface="Cambria Math" panose="02040503050406030204" pitchFamily="18" charset="0"/>
                          </a:rPr>
                          <m:t>90000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135</m:t>
                        </m:r>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Option (D),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remaining places are each </a:t>
                </a:r>
                <a:r>
                  <a:rPr lang="en-IN" sz="2400">
                    <a:solidFill>
                      <a:srgbClr val="111827"/>
                    </a:solidFill>
                    <a:latin typeface="Cambria Math" panose="02040503050406030204" pitchFamily="18" charset="0"/>
                  </a:rPr>
                  <a:t>$d$</a:t>
                </a:r>
                <a:r>
                  <a:rPr sz="2400" b="0">
                    <a:solidFill>
                      <a:srgbClr val="111827"/>
                    </a:solidFill>
                    <a:latin typeface="Arial"/>
                  </a:rPr>
                  <a:t> or </a:t>
                </a:r>
                <a:r>
                  <a:rPr lang="en-IN" sz="2400">
                    <a:solidFill>
                      <a:srgbClr val="111827"/>
                    </a:solidFill>
                    <a:latin typeface="Cambria Math" panose="02040503050406030204" pitchFamily="18" charset="0"/>
                  </a:rPr>
                  <a:t>$e$</a:t>
                </a:r>
                <a:r>
                  <a:rPr sz="2400" b="0">
                    <a:solidFill>
                      <a:srgbClr val="111827"/>
                    </a:solidFill>
                    <a:latin typeface="Arial"/>
                  </a:rPr>
                  <a:t>, not all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$2^4-1=15$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a:t>
                </a:r>
                <a:r>
                  <a:rPr lang="en-IN" sz="2400">
                    <a:solidFill>
                      <a:srgbClr val="111827"/>
                    </a:solidFill>
                    <a:latin typeface="Cambria Math" panose="02040503050406030204" pitchFamily="18" charset="0"/>
                  </a:rPr>
                  <a:t>$=9\times9\times15=1215$</a:t>
                </a:r>
                <a:r>
                  <a:rPr sz="2400" b="0">
                    <a:solidFill>
                      <a:srgbClr val="111827"/>
                    </a:solidFill>
                    <a:latin typeface="Arial"/>
                  </a:rPr>
                  <a:t>, probability </a:t>
                </a:r>
                <a:r>
                  <a:rPr lang="en-IN" sz="2400">
                    <a:solidFill>
                      <a:srgbClr val="111827"/>
                    </a:solidFill>
                    <a:latin typeface="Cambria Math" panose="02040503050406030204" pitchFamily="18" charset="0"/>
                  </a:rPr>
                  <a:t>$=\frac{1215}{90000}=\frac{135}{10^4}$</a:t>
                </a:r>
                <a:r>
                  <a:rPr sz="2400" b="0">
                    <a:solidFill>
                      <a:srgbClr val="111827"/>
                    </a:solidFill>
                    <a:latin typeface="Arial"/>
                  </a:rPr>
                  <a:t>. Option (D),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135</m:t>
                        </m:r>
                      </m:num>
                      <m:den>
                        <m:sSup>
                          <m:e>
                            <m:r>
                              <a:rPr lang="en-IN" sz="2800" i="1">
                                <a:solidFill>
                                  <a:srgbClr val="15803D"/>
                                </a:solidFill>
                                <a:latin typeface="Cambria Math" panose="02040503050406030204" pitchFamily="18" charset="0"/>
                              </a:rPr>
                              <m:t>10</m:t>
                            </m:r>
                          </m:e>
                          <m:sup>
                            <m:r>
                              <a:rPr lang="en-IN" sz="2800" i="1">
                                <a:solidFill>
                                  <a:srgbClr val="15803D"/>
                                </a:solidFill>
                                <a:latin typeface="Cambria Math" panose="02040503050406030204" pitchFamily="18" charset="0"/>
                              </a:rPr>
                              <m:t>4</m:t>
                            </m:r>
                          </m:sup>
                        </m:sSup>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$\frac{135}{10^4}$</a:t>
                </a:r>
                <a:endParaRPr sz="2800">
                  <a:solidFill>
                    <a:srgbClr val="15803D"/>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Strings of length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over an alphabet using exactly 2 given symbols: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using 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given symbols: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(inclusion-exclusion).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numbers, fixing the leading digit first handles the 'no leading zero' rule without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1215</m:t>
                        </m:r>
                      </m:num>
                      <m:den>
                        <m:r>
                          <a:rPr lang="en-IN" sz="2400" i="1">
                            <a:solidFill>
                              <a:srgbClr val="111827"/>
                            </a:solidFill>
                            <a:latin typeface="Cambria Math" panose="02040503050406030204" pitchFamily="18" charset="0"/>
                          </a:rPr>
                          <m:t>90000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while the 9 numbers with a single repeated digit are only </a:t>
                </a:r>
                <a14:m>
                  <m:oMath xmlns:m="http://schemas.openxmlformats.org/officeDocument/2006/math">
                    <m:r>
                      <a:rPr lang="en-IN" sz="2400" i="1">
                        <a:solidFill>
                          <a:srgbClr val="111827"/>
                        </a:solidFill>
                        <a:latin typeface="Cambria Math" panose="02040503050406030204" pitchFamily="18" charset="0"/>
                      </a:rPr>
                      <m:t>0.01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Strings of length </a:t>
                </a:r>
                <a:r>
                  <a:rPr lang="en-IN" sz="2400">
                    <a:solidFill>
                      <a:srgbClr val="111827"/>
                    </a:solidFill>
                    <a:latin typeface="Cambria Math" panose="02040503050406030204" pitchFamily="18" charset="0"/>
                  </a:rPr>
                  <a:t>$n$</a:t>
                </a:r>
                <a:r>
                  <a:rPr sz="2400" b="0">
                    <a:solidFill>
                      <a:srgbClr val="111827"/>
                    </a:solidFill>
                    <a:latin typeface="Arial"/>
                  </a:rPr>
                  <a:t> over an alphabet using exactly 2 given symbols: </a:t>
                </a:r>
                <a:r>
                  <a:rPr lang="en-IN" sz="2400">
                    <a:solidFill>
                      <a:srgbClr val="111827"/>
                    </a:solidFill>
                    <a:latin typeface="Cambria Math" panose="02040503050406030204" pitchFamily="18" charset="0"/>
                  </a:rPr>
                  <a:t>$2^n-2$</a:t>
                </a:r>
                <a:r>
                  <a:rPr sz="2400" b="0">
                    <a:solidFill>
                      <a:srgbClr val="111827"/>
                    </a:solidFill>
                    <a:latin typeface="Arial"/>
                  </a:rPr>
                  <a:t>; using exactly </a:t>
                </a:r>
                <a:r>
                  <a:rPr lang="en-IN" sz="2400">
                    <a:solidFill>
                      <a:srgbClr val="111827"/>
                    </a:solidFill>
                    <a:latin typeface="Cambria Math" panose="02040503050406030204" pitchFamily="18" charset="0"/>
                  </a:rPr>
                  <a:t>$k$</a:t>
                </a:r>
                <a:r>
                  <a:rPr sz="2400" b="0">
                    <a:solidFill>
                      <a:srgbClr val="111827"/>
                    </a:solidFill>
                    <a:latin typeface="Arial"/>
                  </a:rPr>
                  <a:t> given symbols: </a:t>
                </a:r>
                <a:r>
                  <a:rPr lang="en-IN" sz="2400">
                    <a:solidFill>
                      <a:srgbClr val="111827"/>
                    </a:solidFill>
                    <a:latin typeface="Cambria Math" panose="02040503050406030204" pitchFamily="18" charset="0"/>
                  </a:rPr>
                  <a:t>$k^n-\binom k1(k-1)^n+\binom k2(k-2)^n-\dots$</a:t>
                </a:r>
                <a:r>
                  <a:rPr sz="2400" b="0">
                    <a:solidFill>
                      <a:srgbClr val="111827"/>
                    </a:solidFill>
                    <a:latin typeface="Arial"/>
                  </a:rPr>
                  <a:t> (inclusion-exclusion).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numbers, fixing the leading digit first handles the 'no leading zero' rule without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a:t>
                </a:r>
                <a:r>
                  <a:rPr lang="en-IN" sz="2400">
                    <a:solidFill>
                      <a:srgbClr val="111827"/>
                    </a:solidFill>
                    <a:latin typeface="Cambria Math" panose="02040503050406030204" pitchFamily="18" charset="0"/>
                  </a:rPr>
                  <a:t>$\frac{1215}{90000}=1.35\%$</a:t>
                </a:r>
                <a:r>
                  <a:rPr sz="2400" b="0">
                    <a:solidFill>
                      <a:srgbClr val="111827"/>
                    </a:solidFill>
                    <a:latin typeface="Arial"/>
                  </a:rPr>
                  <a:t>, while the 9 numbers with a single repeated digit are only </a:t>
                </a:r>
                <a:r>
                  <a:rPr lang="en-IN" sz="2400">
                    <a:solidFill>
                      <a:srgbClr val="111827"/>
                    </a:solidFill>
                    <a:latin typeface="Cambria Math" panose="02040503050406030204" pitchFamily="18" charset="0"/>
                  </a:rPr>
                  <a:t>$0.01\%$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denote the event that a 6 digit integer formed by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without repetitions, be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Then probability of event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56</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denote the event that a 6 digit integer formed by </a:t>
                </a:r>
                <a:r>
                  <a:rPr lang="en-IN" sz="2400">
                    <a:solidFill>
                      <a:srgbClr val="111827"/>
                    </a:solidFill>
                    <a:latin typeface="Cambria Math" panose="02040503050406030204" pitchFamily="18" charset="0"/>
                  </a:rPr>
                  <a:t>$0,1,2,3,4,5,6$</a:t>
                </a:r>
                <a:r>
                  <a:rPr sz="2400" b="0">
                    <a:solidFill>
                      <a:srgbClr val="111827"/>
                    </a:solidFill>
                    <a:latin typeface="Arial"/>
                  </a:rPr>
                  <a:t> without repetitions, be divisible by </a:t>
                </a:r>
                <a:r>
                  <a:rPr lang="en-IN" sz="2400">
                    <a:solidFill>
                      <a:srgbClr val="111827"/>
                    </a:solidFill>
                    <a:latin typeface="Cambria Math" panose="02040503050406030204" pitchFamily="18" charset="0"/>
                  </a:rPr>
                  <a:t>$3$</a:t>
                </a:r>
                <a:r>
                  <a:rPr sz="2400" b="0">
                    <a:solidFill>
                      <a:srgbClr val="111827"/>
                    </a:solidFill>
                    <a:latin typeface="Arial"/>
                  </a:rPr>
                  <a:t>. Then probability of event </a:t>
                </a:r>
                <a:r>
                  <a:rPr lang="en-IN" sz="2400">
                    <a:solidFill>
                      <a:srgbClr val="111827"/>
                    </a:solidFill>
                    <a:latin typeface="Cambria Math" panose="02040503050406030204" pitchFamily="18" charset="0"/>
                  </a:rPr>
                  <a:t>$A$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$\frac{11}{27}$</a:t>
                </a:r>
                <a:r>
                  <a:rPr sz="2400" b="0">
                    <a:solidFill>
                      <a:srgbClr val="111827"/>
                    </a:solidFill>
                    <a:latin typeface="Arial"/>
                  </a:rPr>
                  <a:t>   (B) </a:t>
                </a:r>
                <a:r>
                  <a:rPr lang="en-IN" sz="2400">
                    <a:solidFill>
                      <a:srgbClr val="111827"/>
                    </a:solidFill>
                    <a:latin typeface="Cambria Math" panose="02040503050406030204" pitchFamily="18" charset="0"/>
                  </a:rPr>
                  <a:t>$\frac{9}{56}$</a:t>
                </a:r>
                <a:r>
                  <a:rPr sz="2400" b="0">
                    <a:solidFill>
                      <a:srgbClr val="111827"/>
                    </a:solidFill>
                    <a:latin typeface="Arial"/>
                  </a:rPr>
                  <a:t>   (C) </a:t>
                </a:r>
                <a:r>
                  <a:rPr lang="en-IN" sz="2400">
                    <a:solidFill>
                      <a:srgbClr val="111827"/>
                    </a:solidFill>
                    <a:latin typeface="Cambria Math" panose="02040503050406030204" pitchFamily="18" charset="0"/>
                  </a:rPr>
                  <a:t>$\frac37$</a:t>
                </a:r>
                <a:r>
                  <a:rPr sz="2400" b="0">
                    <a:solidFill>
                      <a:srgbClr val="111827"/>
                    </a:solidFill>
                    <a:latin typeface="Arial"/>
                  </a:rPr>
                  <a:t>   (D) </a:t>
                </a:r>
                <a:r>
                  <a:rPr lang="en-IN" sz="2400">
                    <a:solidFill>
                      <a:srgbClr val="111827"/>
                    </a:solidFill>
                    <a:latin typeface="Cambria Math" panose="02040503050406030204" pitchFamily="18" charset="0"/>
                  </a:rPr>
                  <a:t>$\frac49$</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by 3 using digit sum, Probability with arrangements without repetition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Divisibility by 3 depends only on the digit sum: the omitted digit must be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Divisibility by 3 depends only on the digit sum: the omitted digit must be </a:t>
                </a:r>
                <a:r>
                  <a:rPr lang="en-IN" sz="2400">
                    <a:solidFill>
                      <a:srgbClr val="78350F"/>
                    </a:solidFill>
                    <a:latin typeface="Cambria Math" panose="02040503050406030204" pitchFamily="18" charset="0"/>
                  </a:rPr>
                  <a:t>$0$</a:t>
                </a:r>
                <a:r>
                  <a:rPr sz="2400" b="0">
                    <a:solidFill>
                      <a:srgbClr val="78350F"/>
                    </a:solidFill>
                    <a:latin typeface="Arial"/>
                  </a:rPr>
                  <a:t>, </a:t>
                </a:r>
                <a:r>
                  <a:rPr lang="en-IN" sz="2400">
                    <a:solidFill>
                      <a:srgbClr val="78350F"/>
                    </a:solidFill>
                    <a:latin typeface="Cambria Math" panose="02040503050406030204" pitchFamily="18" charset="0"/>
                  </a:rPr>
                  <a:t>$3$</a:t>
                </a:r>
                <a:r>
                  <a:rPr sz="2400" b="0">
                    <a:solidFill>
                      <a:srgbClr val="78350F"/>
                    </a:solidFill>
                    <a:latin typeface="Arial"/>
                  </a:rPr>
                  <a:t> or </a:t>
                </a:r>
                <a:r>
                  <a:rPr lang="en-IN" sz="2400">
                    <a:solidFill>
                      <a:srgbClr val="78350F"/>
                    </a:solidFill>
                    <a:latin typeface="Cambria Math" panose="02040503050406030204" pitchFamily="18" charset="0"/>
                  </a:rPr>
                  <a: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6-digit numbers (no repetition, first digit non-zero):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add to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the six digits used must add to a multiple of 3, so the omitted digit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(omit 0): all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arrangements are valid, total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(omit 3): 0 cannot be first, total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6-digit numbers (no repetition, first digit non-zero): </a:t>
                </a:r>
                <a:r>
                  <a:rPr lang="en-IN" sz="2400">
                    <a:solidFill>
                      <a:srgbClr val="111827"/>
                    </a:solidFill>
                    <a:latin typeface="Cambria Math" panose="02040503050406030204" pitchFamily="18" charset="0"/>
                  </a:rPr>
                  <a:t>$6\times(6\cdot5\cdot4\cdot3\cdot2)=6\times720=4320$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a:t>
                </a:r>
                <a:r>
                  <a:rPr lang="en-IN" sz="2400">
                    <a:solidFill>
                      <a:srgbClr val="111827"/>
                    </a:solidFill>
                    <a:latin typeface="Cambria Math" panose="02040503050406030204" pitchFamily="18" charset="0"/>
                  </a:rPr>
                  <a:t>$0$</a:t>
                </a:r>
                <a:r>
                  <a:rPr sz="2400" b="0">
                    <a:solidFill>
                      <a:srgbClr val="111827"/>
                    </a:solidFill>
                    <a:latin typeface="Arial"/>
                  </a:rPr>
                  <a:t> to </a:t>
                </a:r>
                <a:r>
                  <a:rPr lang="en-IN" sz="2400">
                    <a:solidFill>
                      <a:srgbClr val="111827"/>
                    </a:solidFill>
                    <a:latin typeface="Cambria Math" panose="02040503050406030204" pitchFamily="18" charset="0"/>
                  </a:rPr>
                  <a:t>$6$</a:t>
                </a:r>
                <a:r>
                  <a:rPr sz="2400" b="0">
                    <a:solidFill>
                      <a:srgbClr val="111827"/>
                    </a:solidFill>
                    <a:latin typeface="Arial"/>
                  </a:rPr>
                  <a:t> add to </a:t>
                </a:r>
                <a:r>
                  <a:rPr lang="en-IN" sz="2400">
                    <a:solidFill>
                      <a:srgbClr val="111827"/>
                    </a:solidFill>
                    <a:latin typeface="Cambria Math" panose="02040503050406030204" pitchFamily="18" charset="0"/>
                  </a:rPr>
                  <a:t>$21$</a:t>
                </a:r>
                <a:r>
                  <a:rPr sz="2400" b="0">
                    <a:solidFill>
                      <a:srgbClr val="111827"/>
                    </a:solidFill>
                    <a:latin typeface="Arial"/>
                  </a:rPr>
                  <a:t>; the six digits used must add to a multiple of 3, so the omitted digit is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digits </a:t>
                </a:r>
                <a:r>
                  <a:rPr lang="en-IN" sz="2400">
                    <a:solidFill>
                      <a:srgbClr val="111827"/>
                    </a:solidFill>
                    <a:latin typeface="Cambria Math" panose="02040503050406030204" pitchFamily="18" charset="0"/>
                  </a:rPr>
                  <a:t>$1,2,3,4,5,6$</a:t>
                </a:r>
                <a:r>
                  <a:rPr sz="2400" b="0">
                    <a:solidFill>
                      <a:srgbClr val="111827"/>
                    </a:solidFill>
                    <a:latin typeface="Arial"/>
                  </a:rPr>
                  <a:t> (omit 0): all </a:t>
                </a:r>
                <a:r>
                  <a:rPr lang="en-IN" sz="2400">
                    <a:solidFill>
                      <a:srgbClr val="111827"/>
                    </a:solidFill>
                    <a:latin typeface="Cambria Math" panose="02040503050406030204" pitchFamily="18" charset="0"/>
                  </a:rPr>
                  <a:t>$6!$</a:t>
                </a:r>
                <a:r>
                  <a:rPr sz="2400" b="0">
                    <a:solidFill>
                      <a:srgbClr val="111827"/>
                    </a:solidFill>
                    <a:latin typeface="Arial"/>
                  </a:rPr>
                  <a:t> arrangements are valid, total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digits </a:t>
                </a:r>
                <a:r>
                  <a:rPr lang="en-IN" sz="2400">
                    <a:solidFill>
                      <a:srgbClr val="111827"/>
                    </a:solidFill>
                    <a:latin typeface="Cambria Math" panose="02040503050406030204" pitchFamily="18" charset="0"/>
                  </a:rPr>
                  <a:t>$0,1,2,4,5,6$</a:t>
                </a:r>
                <a:r>
                  <a:rPr sz="2400" b="0">
                    <a:solidFill>
                      <a:srgbClr val="111827"/>
                    </a:solidFill>
                    <a:latin typeface="Arial"/>
                  </a:rPr>
                  <a:t> (omit 3): 0 cannot be first, total </a:t>
                </a:r>
                <a:r>
                  <a:rPr lang="en-IN" sz="2400">
                    <a:solidFill>
                      <a:srgbClr val="111827"/>
                    </a:solidFill>
                    <a:latin typeface="Cambria Math" panose="02040503050406030204" pitchFamily="18" charset="0"/>
                  </a:rPr>
                  <a:t>$5\times5!$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(omit 6): total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4320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digits </a:t>
                </a:r>
                <a:r>
                  <a:rPr lang="en-IN" sz="2400">
                    <a:solidFill>
                      <a:srgbClr val="111827"/>
                    </a:solidFill>
                    <a:latin typeface="Cambria Math" panose="02040503050406030204" pitchFamily="18" charset="0"/>
                  </a:rPr>
                  <a:t>$0,1,2,3,4,5$</a:t>
                </a:r>
                <a:r>
                  <a:rPr sz="2400" b="0">
                    <a:solidFill>
                      <a:srgbClr val="111827"/>
                    </a:solidFill>
                    <a:latin typeface="Arial"/>
                  </a:rPr>
                  <a:t> (omit 6): total </a:t>
                </a:r>
                <a:r>
                  <a:rPr lang="en-IN" sz="2400">
                    <a:solidFill>
                      <a:srgbClr val="111827"/>
                    </a:solidFill>
                    <a:latin typeface="Cambria Math" panose="02040503050406030204" pitchFamily="18" charset="0"/>
                  </a:rPr>
                  <a:t>$5\times5!$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a:t>
                </a:r>
                <a:r>
                  <a:rPr lang="en-IN" sz="2400">
                    <a:solidFill>
                      <a:srgbClr val="111827"/>
                    </a:solidFill>
                    <a:latin typeface="Cambria Math" panose="02040503050406030204" pitchFamily="18" charset="0"/>
                  </a:rPr>
                  <a:t>$=6!+5\times5!+5\times5!=16\times5!$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$P(A)=\frac{16\times5!}{6\times(6\cdot5\cdot4\cdot3\cdot2)}=\frac{16\times120}{4320}=\frac49$</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$\frac49$</a:t>
                </a:r>
                <a:endParaRPr sz="2800">
                  <a:solidFill>
                    <a:srgbClr val="15803D"/>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all 6-digit strings first (leading zero allowed) and subtract those starting with 0, in both the favourable and the total count.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omitted digit (7 ways) and arrange the 6 remaining digits: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 strings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Strings starting with 0 need 0 to be used: omitted digit one of the other six, then the other 5 digits arranged: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oMath>
                </a14:m>
                <a:r>
                  <a:rPr sz="2400" b="0">
                    <a:solidFill>
                      <a:srgbClr val="111827"/>
                    </a:solidFill>
                    <a:latin typeface="Arial"/>
                  </a:rPr>
                  <a:t>. Valid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3 strings: omitted digit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omitted digit (7 ways) and arrange the 6 remaining digits: </a:t>
                </a:r>
                <a:r>
                  <a:rPr lang="en-IN" sz="2400">
                    <a:solidFill>
                      <a:srgbClr val="111827"/>
                    </a:solidFill>
                    <a:latin typeface="Cambria Math" panose="02040503050406030204" pitchFamily="18" charset="0"/>
                  </a:rPr>
                  <a:t>$7\times6!=5040$</a:t>
                </a:r>
                <a:r>
                  <a:rPr sz="2400" b="0">
                    <a:solidFill>
                      <a:srgbClr val="111827"/>
                    </a:solidFill>
                    <a:latin typeface="Arial"/>
                  </a:rPr>
                  <a:t> strings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Strings starting with 0 need 0 to be used: omitted digit one of the other six, then the other 5 digits arranged: </a:t>
                </a:r>
                <a:r>
                  <a:rPr lang="en-IN" sz="2400">
                    <a:solidFill>
                      <a:srgbClr val="111827"/>
                    </a:solidFill>
                    <a:latin typeface="Cambria Math" panose="02040503050406030204" pitchFamily="18" charset="0"/>
                  </a:rPr>
                  <a:t>$6\times5!=720$</a:t>
                </a:r>
                <a:r>
                  <a:rPr sz="2400" b="0">
                    <a:solidFill>
                      <a:srgbClr val="111827"/>
                    </a:solidFill>
                    <a:latin typeface="Arial"/>
                  </a:rPr>
                  <a:t>. Valid numbers </a:t>
                </a:r>
                <a:r>
                  <a:rPr lang="en-IN" sz="2400">
                    <a:solidFill>
                      <a:srgbClr val="111827"/>
                    </a:solidFill>
                    <a:latin typeface="Cambria Math" panose="02040503050406030204" pitchFamily="18" charset="0"/>
                  </a:rPr>
                  <a:t>$=5040-720=4320$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3 strings: omitted digit in </a:t>
                </a:r>
                <a:r>
                  <a:rPr lang="en-IN" sz="2400">
                    <a:solidFill>
                      <a:srgbClr val="111827"/>
                    </a:solidFill>
                    <a:latin typeface="Cambria Math" panose="02040503050406030204" pitchFamily="18" charset="0"/>
                  </a:rPr>
                  <a:t>$\{0,3,6\}$</a:t>
                </a:r>
                <a:r>
                  <a:rPr sz="2400" b="0">
                    <a:solidFill>
                      <a:srgbClr val="111827"/>
                    </a:solidFill>
                    <a:latin typeface="Arial"/>
                  </a:rPr>
                  <a:t>: </a:t>
                </a:r>
                <a:r>
                  <a:rPr lang="en-IN" sz="2400">
                    <a:solidFill>
                      <a:srgbClr val="111827"/>
                    </a:solidFill>
                    <a:latin typeface="Cambria Math" panose="02040503050406030204" pitchFamily="18" charset="0"/>
                  </a:rPr>
                  <a:t>$3\times6!=2160$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Among these, strings starting with 0 occur only when the omitted digit is 3 or 6: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 Favourable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1920</m:t>
                        </m:r>
                      </m:num>
                      <m:den>
                        <m:r>
                          <a:rPr lang="en-IN" sz="2400" i="1">
                            <a:solidFill>
                              <a:srgbClr val="111827"/>
                            </a:solidFill>
                            <a:latin typeface="Cambria Math" panose="02040503050406030204" pitchFamily="18" charset="0"/>
                          </a:rPr>
                          <m:t>4320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Option (D),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Among these, strings starting with 0 occur only when the omitted digit is 3 or 6: </a:t>
                </a:r>
                <a:r>
                  <a:rPr lang="en-IN" sz="2400">
                    <a:solidFill>
                      <a:srgbClr val="111827"/>
                    </a:solidFill>
                    <a:latin typeface="Cambria Math" panose="02040503050406030204" pitchFamily="18" charset="0"/>
                  </a:rPr>
                  <a:t>$2\times5!=240$</a:t>
                </a:r>
                <a:r>
                  <a:rPr sz="2400" b="0">
                    <a:solidFill>
                      <a:srgbClr val="111827"/>
                    </a:solidFill>
                    <a:latin typeface="Arial"/>
                  </a:rPr>
                  <a:t>. Favourable numbers </a:t>
                </a:r>
                <a:r>
                  <a:rPr lang="en-IN" sz="2400">
                    <a:solidFill>
                      <a:srgbClr val="111827"/>
                    </a:solidFill>
                    <a:latin typeface="Cambria Math" panose="02040503050406030204" pitchFamily="18" charset="0"/>
                  </a:rPr>
                  <a:t>$=2160-240=1920$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$P(A)=\frac{1920}{4320}=\frac49$</a:t>
                </a:r>
                <a:r>
                  <a:rPr sz="2400" b="0">
                    <a:solidFill>
                      <a:srgbClr val="111827"/>
                    </a:solidFill>
                    <a:latin typeface="Arial"/>
                  </a:rPr>
                  <a:t>. Option (D),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$\frac49$</a:t>
                </a:r>
                <a:endParaRPr sz="2800">
                  <a:solidFill>
                    <a:srgbClr val="15803D"/>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3 (or 9) iff its digit sum is; with distinct digits chosen from a set whose total is known, the condition becomes a condition on the omitted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Handle 'first digit non-zero' either by case split or by subtracting the leading-zero strings from the free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7 digits sum to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 6-digit selection is divisible by 3 iff the omitted digit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that is 3 of the 7 choices.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3 (or 9) iff its digit sum is; with distinct digits chosen from a set whose total is known, the condition becomes a condition on the omitted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Handle 'first digit non-zero' either by case split or by subtracting the leading-zero strings from the free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7 digits sum to </a:t>
                </a:r>
                <a:r>
                  <a:rPr lang="en-IN" sz="2400">
                    <a:solidFill>
                      <a:srgbClr val="111827"/>
                    </a:solidFill>
                    <a:latin typeface="Cambria Math" panose="02040503050406030204" pitchFamily="18" charset="0"/>
                  </a:rPr>
                  <a:t>$21\equiv0\pmod3$</a:t>
                </a:r>
                <a:r>
                  <a:rPr sz="2400" b="0">
                    <a:solidFill>
                      <a:srgbClr val="111827"/>
                    </a:solidFill>
                    <a:latin typeface="Arial"/>
                  </a:rPr>
                  <a:t>, so a 6-digit selection is divisible by 3 iff the omitted digit is </a:t>
                </a:r>
                <a:r>
                  <a:rPr lang="en-IN" sz="2400">
                    <a:solidFill>
                      <a:srgbClr val="111827"/>
                    </a:solidFill>
                    <a:latin typeface="Cambria Math" panose="02040503050406030204" pitchFamily="18" charset="0"/>
                  </a:rPr>
                  <a:t>$\equiv0\pmod3$</a:t>
                </a:r>
                <a:r>
                  <a:rPr sz="2400" b="0">
                    <a:solidFill>
                      <a:srgbClr val="111827"/>
                    </a:solidFill>
                    <a:latin typeface="Arial"/>
                  </a:rPr>
                  <a:t>: </a:t>
                </a:r>
                <a:r>
                  <a:rPr lang="en-IN" sz="2400">
                    <a:solidFill>
                      <a:srgbClr val="111827"/>
                    </a:solidFill>
                    <a:latin typeface="Cambria Math" panose="02040503050406030204" pitchFamily="18" charset="0"/>
                  </a:rPr>
                  <a:t>$0,3,6$</a:t>
                </a:r>
                <a:r>
                  <a:rPr sz="2400" b="0">
                    <a:solidFill>
                      <a:srgbClr val="111827"/>
                    </a:solidFill>
                    <a:latin typeface="Arial"/>
                  </a:rPr>
                  <a:t>, that is 3 of the 7 choices.</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an unbiased die, marked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on its faces, is thrown five times, then the probability that the product of the outcomes is positive,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440</m:t>
                        </m:r>
                      </m:num>
                      <m:den>
                        <m:r>
                          <a:rPr lang="en-IN" sz="2400" i="1">
                            <a:solidFill>
                              <a:srgbClr val="111827"/>
                            </a:solidFill>
                            <a:latin typeface="Cambria Math" panose="02040503050406030204" pitchFamily="18" charset="0"/>
                          </a:rPr>
                          <m:t>2592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288</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521</m:t>
                        </m:r>
                      </m:num>
                      <m:den>
                        <m:r>
                          <a:rPr lang="en-IN" sz="2400" i="1">
                            <a:solidFill>
                              <a:srgbClr val="111827"/>
                            </a:solidFill>
                            <a:latin typeface="Cambria Math" panose="02040503050406030204" pitchFamily="18" charset="0"/>
                          </a:rPr>
                          <m:t>2592</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881</m:t>
                        </m:r>
                      </m:num>
                      <m:den>
                        <m:r>
                          <a:rPr lang="en-IN" sz="2400" i="1">
                            <a:solidFill>
                              <a:srgbClr val="111827"/>
                            </a:solidFill>
                            <a:latin typeface="Cambria Math" panose="02040503050406030204" pitchFamily="18" charset="0"/>
                          </a:rPr>
                          <m:t>2592</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an unbiased die, marked with </a:t>
                </a:r>
                <a:r>
                  <a:rPr lang="en-IN" sz="2400">
                    <a:solidFill>
                      <a:srgbClr val="111827"/>
                    </a:solidFill>
                    <a:latin typeface="Cambria Math" panose="02040503050406030204" pitchFamily="18" charset="0"/>
                  </a:rPr>
                  <a:t>$-2,-1,0,1,2,3$</a:t>
                </a:r>
                <a:r>
                  <a:rPr sz="2400" b="0">
                    <a:solidFill>
                      <a:srgbClr val="111827"/>
                    </a:solidFill>
                    <a:latin typeface="Arial"/>
                  </a:rPr>
                  <a:t> on its faces, is thrown five times, then the probability that the product of the outcomes is positive,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$\frac{440}{2592}$</a:t>
                </a:r>
                <a:r>
                  <a:rPr sz="2400" b="0">
                    <a:solidFill>
                      <a:srgbClr val="111827"/>
                    </a:solidFill>
                    <a:latin typeface="Arial"/>
                  </a:rPr>
                  <a:t>   (B) </a:t>
                </a:r>
                <a:r>
                  <a:rPr lang="en-IN" sz="2400">
                    <a:solidFill>
                      <a:srgbClr val="111827"/>
                    </a:solidFill>
                    <a:latin typeface="Cambria Math" panose="02040503050406030204" pitchFamily="18" charset="0"/>
                  </a:rPr>
                  <a:t>$\frac{27}{288}$</a:t>
                </a:r>
                <a:r>
                  <a:rPr sz="2400" b="0">
                    <a:solidFill>
                      <a:srgbClr val="111827"/>
                    </a:solidFill>
                    <a:latin typeface="Arial"/>
                  </a:rPr>
                  <a:t>   (C) </a:t>
                </a:r>
                <a:r>
                  <a:rPr lang="en-IN" sz="2400">
                    <a:solidFill>
                      <a:srgbClr val="111827"/>
                    </a:solidFill>
                    <a:latin typeface="Cambria Math" panose="02040503050406030204" pitchFamily="18" charset="0"/>
                  </a:rPr>
                  <a:t>$\frac{521}{2592}$</a:t>
                </a:r>
                <a:r>
                  <a:rPr sz="2400" b="0">
                    <a:solidFill>
                      <a:srgbClr val="111827"/>
                    </a:solidFill>
                    <a:latin typeface="Arial"/>
                  </a:rPr>
                  <a:t>   (D) </a:t>
                </a:r>
                <a:r>
                  <a:rPr lang="en-IN" sz="2400">
                    <a:solidFill>
                      <a:srgbClr val="111827"/>
                    </a:solidFill>
                    <a:latin typeface="Cambria Math" panose="02040503050406030204" pitchFamily="18" charset="0"/>
                  </a:rPr>
                  <a:t>$\frac{881}{2592}$</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product of outcomes being positive, Binomial distribution of independent trials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product is positive iff no throw is 0 and the number of negative outcomes is even (0, 2 or 4).</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positive product needs no zero outcome, and an even number of negative outcomes.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𝑝𝑜𝑠𝑖𝑡𝑖𝑣𝑒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(faces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𝑛𝑒𝑔𝑎𝑡𝑖𝑣𝑒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(faces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five positive: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positive product needs no zero outcome, and an even number of negative outcomes.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$p=P(\text{positive})=\frac36=\frac12$</a:t>
                </a:r>
                <a:r>
                  <a:rPr sz="2400" b="0">
                    <a:solidFill>
                      <a:srgbClr val="111827"/>
                    </a:solidFill>
                    <a:latin typeface="Arial"/>
                  </a:rPr>
                  <a:t> (faces </a:t>
                </a:r>
                <a:r>
                  <a:rPr lang="en-IN" sz="2400">
                    <a:solidFill>
                      <a:srgbClr val="111827"/>
                    </a:solidFill>
                    <a:latin typeface="Cambria Math" panose="02040503050406030204" pitchFamily="18" charset="0"/>
                  </a:rPr>
                  <a:t>$1,2,3$</a:t>
                </a:r>
                <a:r>
                  <a:rPr sz="2400" b="0">
                    <a:solidFill>
                      <a:srgbClr val="111827"/>
                    </a:solidFill>
                    <a:latin typeface="Arial"/>
                  </a:rPr>
                  <a:t>) and </a:t>
                </a:r>
                <a:r>
                  <a:rPr lang="en-IN" sz="2400">
                    <a:solidFill>
                      <a:srgbClr val="111827"/>
                    </a:solidFill>
                    <a:latin typeface="Cambria Math" panose="02040503050406030204" pitchFamily="18" charset="0"/>
                  </a:rPr>
                  <a:t>$q=P(\text{negative})=\frac26=\frac13$</a:t>
                </a:r>
                <a:r>
                  <a:rPr sz="2400" b="0">
                    <a:solidFill>
                      <a:srgbClr val="111827"/>
                    </a:solidFill>
                    <a:latin typeface="Arial"/>
                  </a:rPr>
                  <a:t> (faces </a:t>
                </a:r>
                <a:r>
                  <a:rPr lang="en-IN" sz="2400">
                    <a:solidFill>
                      <a:srgbClr val="111827"/>
                    </a:solidFill>
                    <a:latin typeface="Cambria Math" panose="02040503050406030204" pitchFamily="18" charset="0"/>
                  </a:rPr>
                  <a:t>$-2,-1$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five positive: </a:t>
                </a:r>
                <a:r>
                  <a:rPr lang="en-IN" sz="2400">
                    <a:solidFill>
                      <a:srgbClr val="111827"/>
                    </a:solidFill>
                    <a:latin typeface="Cambria Math" panose="02040503050406030204" pitchFamily="18" charset="0"/>
                  </a:rPr>
                  <a:t>$\binom55\left(\frac12\right)^5=\frac1{32}$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two negative: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four negative: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4</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162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162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num>
                      <m:den>
                        <m:r>
                          <a:rPr lang="en-IN" sz="2400" i="1">
                            <a:solidFill>
                              <a:srgbClr val="111827"/>
                            </a:solidFill>
                            <a:latin typeface="Cambria Math" panose="02040503050406030204" pitchFamily="18" charset="0"/>
                          </a:rPr>
                          <m:t>2592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521</m:t>
                        </m:r>
                      </m:num>
                      <m:den>
                        <m:r>
                          <a:rPr lang="en-IN" sz="2400" i="1">
                            <a:solidFill>
                              <a:srgbClr val="111827"/>
                            </a:solidFill>
                            <a:latin typeface="Cambria Math" panose="02040503050406030204" pitchFamily="18" charset="0"/>
                          </a:rPr>
                          <m:t>2592</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two negative: </a:t>
                </a:r>
                <a:r>
                  <a:rPr lang="en-IN" sz="2400">
                    <a:solidFill>
                      <a:srgbClr val="111827"/>
                    </a:solidFill>
                    <a:latin typeface="Cambria Math" panose="02040503050406030204" pitchFamily="18" charset="0"/>
                  </a:rPr>
                  <a:t>$\binom52\left(\frac13\right)^2\left(\frac12\right)^3=\frac{10}{72}$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four negative: </a:t>
                </a:r>
                <a:r>
                  <a:rPr lang="en-IN" sz="2400">
                    <a:solidFill>
                      <a:srgbClr val="111827"/>
                    </a:solidFill>
                    <a:latin typeface="Cambria Math" panose="02040503050406030204" pitchFamily="18" charset="0"/>
                  </a:rPr>
                  <a:t>$\binom54\left(\frac13\right)^4\left(\frac12\right)^1=\frac{5}{162}$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r>
                  <a:rPr lang="en-IN" sz="2400">
                    <a:solidFill>
                      <a:srgbClr val="111827"/>
                    </a:solidFill>
                    <a:latin typeface="Cambria Math" panose="02040503050406030204" pitchFamily="18" charset="0"/>
                  </a:rPr>
                  <a:t>$=\frac1{32}+\frac{10}{72}+\frac5{162}=\frac{81+360+80}{2592}=\frac{521}{2592}$</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521</m:t>
                        </m:r>
                      </m:num>
                      <m:den>
                        <m:r>
                          <a:rPr lang="en-IN" sz="2800" i="1">
                            <a:solidFill>
                              <a:srgbClr val="15803D"/>
                            </a:solidFill>
                            <a:latin typeface="Cambria Math" panose="02040503050406030204" pitchFamily="18" charset="0"/>
                          </a:rPr>
                          <m:t>2592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$\frac{521}{2592}$</a:t>
                </a:r>
                <a:endParaRPr sz="2800">
                  <a:solidFill>
                    <a:srgbClr val="15803D"/>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Even-number-of-negatives probability: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m:t>
                            </m:r>
                          </m:sup>
                        </m:sSup>
                      </m:num>
                      <m:den>
                        <m:r>
                          <a:rPr lang="en-IN" sz="2400" i="1">
                            <a:solidFill>
                              <a:srgbClr val="78350F"/>
                            </a:solidFill>
                            <a:latin typeface="Cambria Math" panose="02040503050406030204" pitchFamily="18" charset="0"/>
                          </a:rPr>
                          <m:t>2</m:t>
                        </m:r>
                      </m:den>
                    </m:f>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oMath>
                </a14:m>
                <a:r>
                  <a:rPr sz="2400" b="0">
                    <a:solidFill>
                      <a:srgbClr val="78350F"/>
                    </a:solidFill>
                    <a:latin typeface="Arial"/>
                  </a:rPr>
                  <a:t> the positive and negative probabilities (zeros excluded automatically).</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Even-number-of-negatives probability: </a:t>
                </a:r>
                <a:r>
                  <a:rPr lang="en-IN" sz="2400">
                    <a:solidFill>
                      <a:srgbClr val="78350F"/>
                    </a:solidFill>
                    <a:latin typeface="Cambria Math" panose="02040503050406030204" pitchFamily="18" charset="0"/>
                  </a:rPr>
                  <a:t>$\frac{(p+q)^5+(p-q)^5}{2}$</a:t>
                </a:r>
                <a:r>
                  <a:rPr sz="2400" b="0">
                    <a:solidFill>
                      <a:srgbClr val="78350F"/>
                    </a:solidFill>
                    <a:latin typeface="Arial"/>
                  </a:rPr>
                  <a:t> with </a:t>
                </a:r>
                <a:r>
                  <a:rPr lang="en-IN" sz="2400">
                    <a:solidFill>
                      <a:srgbClr val="78350F"/>
                    </a:solidFill>
                    <a:latin typeface="Cambria Math" panose="02040503050406030204" pitchFamily="18" charset="0"/>
                  </a:rPr>
                  <a:t>$p,q$</a:t>
                </a:r>
                <a:r>
                  <a:rPr sz="2400" b="0">
                    <a:solidFill>
                      <a:srgbClr val="78350F"/>
                    </a:solidFill>
                    <a:latin typeface="Arial"/>
                  </a:rPr>
                  <a:t> the positive and negative probabilities (zeros excluded automatically).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(positive)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(negative); a zero (prob.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kills the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adding them keeps only even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$p=\frac12$</a:t>
                </a:r>
                <a:r>
                  <a:rPr sz="2400" b="0">
                    <a:solidFill>
                      <a:srgbClr val="111827"/>
                    </a:solidFill>
                    <a:latin typeface="Arial"/>
                  </a:rPr>
                  <a:t> (positive) and </a:t>
                </a:r>
                <a:r>
                  <a:rPr lang="en-IN" sz="2400">
                    <a:solidFill>
                      <a:srgbClr val="111827"/>
                    </a:solidFill>
                    <a:latin typeface="Cambria Math" panose="02040503050406030204" pitchFamily="18" charset="0"/>
                  </a:rPr>
                  <a:t>$q=\frac13$</a:t>
                </a:r>
                <a:r>
                  <a:rPr sz="2400" b="0">
                    <a:solidFill>
                      <a:srgbClr val="111827"/>
                    </a:solidFill>
                    <a:latin typeface="Arial"/>
                  </a:rPr>
                  <a:t> (negative); a zero (prob. </a:t>
                </a:r>
                <a:r>
                  <a:rPr lang="en-IN" sz="2400">
                    <a:solidFill>
                      <a:srgbClr val="111827"/>
                    </a:solidFill>
                    <a:latin typeface="Cambria Math" panose="02040503050406030204" pitchFamily="18" charset="0"/>
                  </a:rPr>
                  <a:t>$\frac16$</a:t>
                </a:r>
                <a:r>
                  <a:rPr sz="2400" b="0">
                    <a:solidFill>
                      <a:srgbClr val="111827"/>
                    </a:solidFill>
                    <a:latin typeface="Arial"/>
                  </a:rPr>
                  <a:t>) kills the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$(p+q)^5=\sum\binom5k q^kp^{5-k}$</a:t>
                </a:r>
                <a:r>
                  <a:rPr sz="2400" b="0">
                    <a:solidFill>
                      <a:srgbClr val="111827"/>
                    </a:solidFill>
                    <a:latin typeface="Arial"/>
                  </a:rPr>
                  <a:t> and </a:t>
                </a:r>
                <a:r>
                  <a:rPr lang="en-IN" sz="2400">
                    <a:solidFill>
                      <a:srgbClr val="111827"/>
                    </a:solidFill>
                    <a:latin typeface="Cambria Math" panose="02040503050406030204" pitchFamily="18" charset="0"/>
                  </a:rPr>
                  <a:t>$(p-q)^5=\sum\binom5k(-q)^kp^{5-k}$</a:t>
                </a:r>
                <a:r>
                  <a:rPr sz="2400" b="0">
                    <a:solidFill>
                      <a:srgbClr val="111827"/>
                    </a:solidFill>
                    <a:latin typeface="Arial"/>
                  </a:rPr>
                  <a:t>; adding them keeps only even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𝑝𝑜𝑠𝑖𝑡𝑖𝑣𝑒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3125</m:t>
                            </m:r>
                          </m:num>
                          <m:den>
                            <m:r>
                              <a:rPr lang="en-IN" sz="2400" i="1">
                                <a:solidFill>
                                  <a:srgbClr val="111827"/>
                                </a:solidFill>
                                <a:latin typeface="Cambria Math" panose="02040503050406030204" pitchFamily="18" charset="0"/>
                              </a:rPr>
                              <m:t>7776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7776</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3126</m:t>
                        </m:r>
                      </m:num>
                      <m:den>
                        <m:r>
                          <a:rPr lang="en-IN" sz="2400" i="1">
                            <a:solidFill>
                              <a:srgbClr val="111827"/>
                            </a:solidFill>
                            <a:latin typeface="Cambria Math" panose="02040503050406030204" pitchFamily="18" charset="0"/>
                          </a:rPr>
                          <m:t>15552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521</m:t>
                        </m:r>
                      </m:num>
                      <m:den>
                        <m:r>
                          <a:rPr lang="en-IN" sz="2400" i="1">
                            <a:solidFill>
                              <a:srgbClr val="111827"/>
                            </a:solidFill>
                            <a:latin typeface="Cambria Math" panose="02040503050406030204" pitchFamily="18" charset="0"/>
                          </a:rPr>
                          <m:t>2592</m:t>
                        </m:r>
                      </m:den>
                    </m:f>
                  </m:oMath>
                </a14:m>
                <a:r>
                  <a:rPr sz="2400" b="0">
                    <a:solidFill>
                      <a:srgbClr val="111827"/>
                    </a:solidFill>
                    <a:latin typeface="Arial"/>
                  </a:rPr>
                  <a:t>. Option (C),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$P(\text{positive})=\frac{(p+q)^5+(p-q)^5}{2}$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$p+q=\frac56$</a:t>
                </a:r>
                <a:r>
                  <a:rPr sz="2400" b="0">
                    <a:solidFill>
                      <a:srgbClr val="111827"/>
                    </a:solidFill>
                    <a:latin typeface="Arial"/>
                  </a:rPr>
                  <a:t>, </a:t>
                </a:r>
                <a:r>
                  <a:rPr lang="en-IN" sz="2400">
                    <a:solidFill>
                      <a:srgbClr val="111827"/>
                    </a:solidFill>
                    <a:latin typeface="Cambria Math" panose="02040503050406030204" pitchFamily="18" charset="0"/>
                  </a:rPr>
                  <a:t>$p-q=\frac16$</a:t>
                </a:r>
                <a:r>
                  <a:rPr sz="2400" b="0">
                    <a:solidFill>
                      <a:srgbClr val="111827"/>
                    </a:solidFill>
                    <a:latin typeface="Arial"/>
                  </a:rPr>
                  <a:t>: </a:t>
                </a:r>
                <a:r>
                  <a:rPr lang="en-IN" sz="2400">
                    <a:solidFill>
                      <a:srgbClr val="111827"/>
                    </a:solidFill>
                    <a:latin typeface="Cambria Math" panose="02040503050406030204" pitchFamily="18" charset="0"/>
                  </a:rPr>
                  <a:t>$P=\frac12\left[\frac{3125}{7776}+\frac{1}{7776}\right]=\frac{3126}{15552}=\frac{521}{2592}$</a:t>
                </a:r>
                <a:r>
                  <a:rPr sz="2400" b="0">
                    <a:solidFill>
                      <a:srgbClr val="111827"/>
                    </a:solidFill>
                    <a:latin typeface="Arial"/>
                  </a:rPr>
                  <a:t>. Option (C),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521</m:t>
                        </m:r>
                      </m:num>
                      <m:den>
                        <m:r>
                          <a:rPr lang="en-IN" sz="2800" i="1">
                            <a:solidFill>
                              <a:srgbClr val="15803D"/>
                            </a:solidFill>
                            <a:latin typeface="Cambria Math" panose="02040503050406030204" pitchFamily="18" charset="0"/>
                          </a:rPr>
                          <m:t>2592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$\frac{521}{2592}$</a:t>
                </a:r>
                <a:endParaRPr sz="2800">
                  <a:solidFill>
                    <a:srgbClr val="15803D"/>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each trial gives 'type P' with probability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'type Q' with probability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(and anything else with the rest),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𝑛𝑜 𝑜𝑡ℎ𝑒𝑟 𝑡𝑦𝑝𝑒 𝑎𝑛𝑑 𝑎𝑛 𝑒𝑣𝑒𝑛 𝑛𝑢𝑚𝑏𝑒𝑟 𝑜𝑓 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an odd number use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 product depends only on the parity of the number of negative factors; zeros must be excluded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negative product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781</m:t>
                        </m:r>
                      </m:num>
                      <m:den>
                        <m:r>
                          <a:rPr lang="en-IN" sz="2400" i="1">
                            <a:solidFill>
                              <a:srgbClr val="111827"/>
                            </a:solidFill>
                            <a:latin typeface="Cambria Math" panose="02040503050406030204" pitchFamily="18" charset="0"/>
                          </a:rPr>
                          <m:t>3888</m:t>
                        </m:r>
                      </m:den>
                    </m:f>
                  </m:oMath>
                </a14:m>
                <a:r>
                  <a:rPr sz="2400" b="0">
                    <a:solidFill>
                      <a:srgbClr val="111827"/>
                    </a:solidFill>
                    <a:latin typeface="Arial"/>
                  </a:rPr>
                  <a:t>; positive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negative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(some zero,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each trial gives 'type P' with probability </a:t>
                </a:r>
                <a:r>
                  <a:rPr lang="en-IN" sz="2400">
                    <a:solidFill>
                      <a:srgbClr val="111827"/>
                    </a:solidFill>
                    <a:latin typeface="Cambria Math" panose="02040503050406030204" pitchFamily="18" charset="0"/>
                  </a:rPr>
                  <a:t>$p$</a:t>
                </a:r>
                <a:r>
                  <a:rPr sz="2400" b="0">
                    <a:solidFill>
                      <a:srgbClr val="111827"/>
                    </a:solidFill>
                    <a:latin typeface="Arial"/>
                  </a:rPr>
                  <a:t>, 'type Q' with probability </a:t>
                </a:r>
                <a:r>
                  <a:rPr lang="en-IN" sz="2400">
                    <a:solidFill>
                      <a:srgbClr val="111827"/>
                    </a:solidFill>
                    <a:latin typeface="Cambria Math" panose="02040503050406030204" pitchFamily="18" charset="0"/>
                  </a:rPr>
                  <a:t>$q$</a:t>
                </a:r>
                <a:r>
                  <a:rPr sz="2400" b="0">
                    <a:solidFill>
                      <a:srgbClr val="111827"/>
                    </a:solidFill>
                    <a:latin typeface="Arial"/>
                  </a:rPr>
                  <a:t> (and anything else with the rest), then </a:t>
                </a:r>
                <a:r>
                  <a:rPr lang="en-IN" sz="2400">
                    <a:solidFill>
                      <a:srgbClr val="111827"/>
                    </a:solidFill>
                    <a:latin typeface="Cambria Math" panose="02040503050406030204" pitchFamily="18" charset="0"/>
                  </a:rPr>
                  <a:t>$P(\text{no other type and an even number of Q})=\frac{(p+q)^n+(p-q)^n}{2}$</a:t>
                </a:r>
                <a:r>
                  <a:rPr sz="2400" b="0">
                    <a:solidFill>
                      <a:srgbClr val="111827"/>
                    </a:solidFill>
                    <a:latin typeface="Arial"/>
                  </a:rPr>
                  <a:t>; for an odd number use </a:t>
                </a:r>
                <a:r>
                  <a:rPr lang="en-IN" sz="2400">
                    <a:solidFill>
                      <a:srgbClr val="111827"/>
                    </a:solidFill>
                    <a:latin typeface="Cambria Math" panose="02040503050406030204" pitchFamily="18" charset="0"/>
                  </a:rPr>
                  <a:t>$\frac{(p+q)^n-(p-q)^n}{2}$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 product depends only on the parity of the number of negative factors; zeros must be excluded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negative product </a:t>
                </a:r>
                <a:r>
                  <a:rPr lang="en-IN" sz="2400">
                    <a:solidFill>
                      <a:srgbClr val="111827"/>
                    </a:solidFill>
                    <a:latin typeface="Cambria Math" panose="02040503050406030204" pitchFamily="18" charset="0"/>
                  </a:rPr>
                  <a:t>$=\frac{(5/6)^5-(1/6)^5}{2}=\frac{781}{3888}$</a:t>
                </a:r>
                <a:r>
                  <a:rPr sz="2400" b="0">
                    <a:solidFill>
                      <a:srgbClr val="111827"/>
                    </a:solidFill>
                    <a:latin typeface="Arial"/>
                  </a:rPr>
                  <a:t>; positive </a:t>
                </a:r>
                <a:r>
                  <a:rPr lang="en-IN" sz="2400">
                    <a:solidFill>
                      <a:srgbClr val="111827"/>
                    </a:solidFill>
                    <a:latin typeface="Cambria Math" panose="02040503050406030204" pitchFamily="18" charset="0"/>
                  </a:rPr>
                  <a:t>$+$</a:t>
                </a:r>
                <a:r>
                  <a:rPr sz="2400" b="0">
                    <a:solidFill>
                      <a:srgbClr val="111827"/>
                    </a:solidFill>
                    <a:latin typeface="Arial"/>
                  </a:rPr>
                  <a:t> negative </a:t>
                </a:r>
                <a:r>
                  <a:rPr lang="en-IN" sz="2400">
                    <a:solidFill>
                      <a:srgbClr val="111827"/>
                    </a:solidFill>
                    <a:latin typeface="Cambria Math" panose="02040503050406030204" pitchFamily="18" charset="0"/>
                  </a:rPr>
                  <a:t>$+$</a:t>
                </a:r>
                <a:r>
                  <a:rPr sz="2400" b="0">
                    <a:solidFill>
                      <a:srgbClr val="111827"/>
                    </a:solidFill>
                    <a:latin typeface="Arial"/>
                  </a:rPr>
                  <a:t> (some zero, </a:t>
                </a:r>
                <a:r>
                  <a:rPr lang="en-IN" sz="2400">
                    <a:solidFill>
                      <a:srgbClr val="111827"/>
                    </a:solidFill>
                    <a:latin typeface="Cambria Math" panose="02040503050406030204" pitchFamily="18" charset="0"/>
                  </a:rPr>
                  <a:t>$1-(5/6)^5$</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data consists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observations: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If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oMath>
                </a14:m>
                <a:r>
                  <a:rPr sz="2400" b="0">
                    <a:solidFill>
                      <a:srgbClr val="111827"/>
                    </a:solidFill>
                    <a:latin typeface="Arial"/>
                  </a:rPr>
                  <a:t>, then standard deviation of this data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(B) 5   (C)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(D) 2</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data consists of </a:t>
                </a:r>
                <a:r>
                  <a:rPr lang="en-IN" sz="2400">
                    <a:solidFill>
                      <a:srgbClr val="111827"/>
                    </a:solidFill>
                    <a:latin typeface="Cambria Math" panose="02040503050406030204" pitchFamily="18" charset="0"/>
                  </a:rPr>
                  <a:t>$n$</a:t>
                </a:r>
                <a:r>
                  <a:rPr sz="2400" b="0">
                    <a:solidFill>
                      <a:srgbClr val="111827"/>
                    </a:solidFill>
                    <a:latin typeface="Arial"/>
                  </a:rPr>
                  <a:t> observations: </a:t>
                </a:r>
                <a:r>
                  <a:rPr lang="en-IN" sz="2400">
                    <a:solidFill>
                      <a:srgbClr val="111827"/>
                    </a:solidFill>
                    <a:latin typeface="Cambria Math" panose="02040503050406030204" pitchFamily="18" charset="0"/>
                  </a:rPr>
                  <a:t>$x_1,x_2,\dots,x_n$</a:t>
                </a:r>
                <a:r>
                  <a:rPr sz="2400" b="0">
                    <a:solidFill>
                      <a:srgbClr val="111827"/>
                    </a:solidFill>
                    <a:latin typeface="Arial"/>
                  </a:rPr>
                  <a:t>. If </a:t>
                </a:r>
                <a:r>
                  <a:rPr lang="en-IN" sz="2400">
                    <a:solidFill>
                      <a:srgbClr val="111827"/>
                    </a:solidFill>
                    <a:latin typeface="Cambria Math" panose="02040503050406030204" pitchFamily="18" charset="0"/>
                  </a:rPr>
                  <a:t>$\sum_{i=1}^n(x_i+1)^2=9n$</a:t>
                </a:r>
                <a:r>
                  <a:rPr sz="2400" b="0">
                    <a:solidFill>
                      <a:srgbClr val="111827"/>
                    </a:solidFill>
                    <a:latin typeface="Arial"/>
                  </a:rPr>
                  <a:t> and </a:t>
                </a:r>
                <a:r>
                  <a:rPr lang="en-IN" sz="2400">
                    <a:solidFill>
                      <a:srgbClr val="111827"/>
                    </a:solidFill>
                    <a:latin typeface="Cambria Math" panose="02040503050406030204" pitchFamily="18" charset="0"/>
                  </a:rPr>
                  <a:t>$\sum_{i=1}^n(x_i-1)^2=5n$</a:t>
                </a:r>
                <a:r>
                  <a:rPr sz="2400" b="0">
                    <a:solidFill>
                      <a:srgbClr val="111827"/>
                    </a:solidFill>
                    <a:latin typeface="Arial"/>
                  </a:rPr>
                  <a:t>, then standard deviation of this data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$\sqrt5$</a:t>
                </a:r>
                <a:r>
                  <a:rPr sz="2400" b="0">
                    <a:solidFill>
                      <a:srgbClr val="111827"/>
                    </a:solidFill>
                    <a:latin typeface="Arial"/>
                  </a:rPr>
                  <a:t>   (B) 5   (C) </a:t>
                </a:r>
                <a:r>
                  <a:rPr lang="en-IN" sz="2400">
                    <a:solidFill>
                      <a:srgbClr val="111827"/>
                    </a:solidFill>
                    <a:latin typeface="Cambria Math" panose="02040503050406030204" pitchFamily="18" charset="0"/>
                  </a:rPr>
                  <a:t>$\sqrt7$</a:t>
                </a:r>
                <a:r>
                  <a:rPr sz="2400" b="0">
                    <a:solidFill>
                      <a:srgbClr val="111827"/>
                    </a:solidFill>
                    <a:latin typeface="Arial"/>
                  </a:rPr>
                  <a:t>   (D) 2</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standard deviation from sums of squares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Expanding both sums and adding/subtracting gives </a:t>
                </a:r>
                <a14:m>
                  <m:oMath xmlns:m="http://schemas.openxmlformats.org/officeDocument/2006/math">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2</m:t>
                        </m:r>
                      </m:sup>
                    </m:sSubSup>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directly.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Expanding both sums and adding/subtracting gives </a:t>
                </a:r>
                <a:r>
                  <a:rPr lang="en-IN" sz="2400">
                    <a:solidFill>
                      <a:srgbClr val="78350F"/>
                    </a:solidFill>
                    <a:latin typeface="Cambria Math" panose="02040503050406030204" pitchFamily="18" charset="0"/>
                  </a:rPr>
                  <a:t>$\sum x_i^2$</a:t>
                </a:r>
                <a:r>
                  <a:rPr sz="2400" b="0">
                    <a:solidFill>
                      <a:srgbClr val="78350F"/>
                    </a:solidFill>
                    <a:latin typeface="Arial"/>
                  </a:rPr>
                  <a:t> and </a:t>
                </a:r>
                <a:r>
                  <a:rPr lang="en-IN" sz="2400">
                    <a:solidFill>
                      <a:srgbClr val="78350F"/>
                    </a:solidFill>
                    <a:latin typeface="Cambria Math" panose="02040503050406030204" pitchFamily="18" charset="0"/>
                  </a:rPr>
                  <a:t>$\sum x_i$</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$\sum(x_i+1)^2=\sum x_i^2+2\sum x_i+n=9n$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$\sum(x_i-1)^2=\sum x_i^2-2\sum x_i+n=5n$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t>
                </a:r>
                <a:r>
                  <a:rPr lang="en-IN" sz="2400">
                    <a:solidFill>
                      <a:srgbClr val="111827"/>
                    </a:solidFill>
                    <a:latin typeface="Cambria Math" panose="02040503050406030204" pitchFamily="18" charset="0"/>
                  </a:rPr>
                  <a:t>$2\sum x_i^2+2n=14n\Rightarrow\sum x_i^2=6n$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$4\sum x_i=4n\Rightarrow\sum x_i=n$</a:t>
                </a:r>
                <a:r>
                  <a:rPr sz="2400" b="0">
                    <a:solidFill>
                      <a:srgbClr val="111827"/>
                    </a:solidFill>
                    <a:latin typeface="Arial"/>
                  </a:rPr>
                  <a:t>, so </a:t>
                </a:r>
                <a:r>
                  <a:rPr lang="en-IN" sz="2400">
                    <a:solidFill>
                      <a:srgbClr val="111827"/>
                    </a:solidFill>
                    <a:latin typeface="Cambria Math" panose="02040503050406030204" pitchFamily="18" charset="0"/>
                  </a:rPr>
                  <a:t>$\bar x=\frac{\sum x_i}{n}=1$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x_i^2}{n}-\bar x^2=\frac{6n}{n}-1=5$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$\sigma=\sqrt5$</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5</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$\sqrt5$</a:t>
                </a:r>
                <a:endParaRPr sz="2800">
                  <a:solidFill>
                    <a:srgbClr val="15803D"/>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Parallel-axis identity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turns the two given sums into two equations in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Parallel-axis identity </a:t>
                </a:r>
                <a:r>
                  <a:rPr lang="en-IN" sz="2400">
                    <a:solidFill>
                      <a:srgbClr val="78350F"/>
                    </a:solidFill>
                    <a:latin typeface="Cambria Math" panose="02040503050406030204" pitchFamily="18" charset="0"/>
                  </a:rPr>
                  <a:t>$\sum(x_i-a)^2=n\sigma^2+n(\bar x-a)^2$</a:t>
                </a:r>
                <a:r>
                  <a:rPr sz="2400" b="0">
                    <a:solidFill>
                      <a:srgbClr val="78350F"/>
                    </a:solidFill>
                    <a:latin typeface="Arial"/>
                  </a:rPr>
                  <a:t> turns the two given sums into two equations in </a:t>
                </a:r>
                <a:r>
                  <a:rPr lang="en-IN" sz="2400">
                    <a:solidFill>
                      <a:srgbClr val="78350F"/>
                    </a:solidFill>
                    <a:latin typeface="Cambria Math" panose="02040503050406030204" pitchFamily="18" charset="0"/>
                  </a:rPr>
                  <a:t>$\sigma^2$</a:t>
                </a:r>
                <a:r>
                  <a:rPr sz="2400" b="0">
                    <a:solidFill>
                      <a:srgbClr val="78350F"/>
                    </a:solidFill>
                    <a:latin typeface="Arial"/>
                  </a:rPr>
                  <a:t> and </a:t>
                </a:r>
                <a:r>
                  <a:rPr lang="en-IN" sz="2400">
                    <a:solidFill>
                      <a:srgbClr val="78350F"/>
                    </a:solidFill>
                    <a:latin typeface="Cambria Math" panose="02040503050406030204" pitchFamily="18" charset="0"/>
                  </a:rPr>
                  <a:t>$\bar 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constant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Option (A),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constant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$\sum(x_i-a)^2=n\left[\sigma^2+(\bar x-a)^2\right]$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$a=-1$</a:t>
                </a:r>
                <a:r>
                  <a:rPr sz="2400" b="0">
                    <a:solidFill>
                      <a:srgbClr val="111827"/>
                    </a:solidFill>
                    <a:latin typeface="Arial"/>
                  </a:rPr>
                  <a:t> and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$\sigma^2+(\bar x+1)^2=9$</a:t>
                </a:r>
                <a:r>
                  <a:rPr sz="2400" b="0">
                    <a:solidFill>
                      <a:srgbClr val="111827"/>
                    </a:solidFill>
                    <a:latin typeface="Arial"/>
                  </a:rPr>
                  <a:t> and </a:t>
                </a:r>
                <a:r>
                  <a:rPr lang="en-IN" sz="2400">
                    <a:solidFill>
                      <a:srgbClr val="111827"/>
                    </a:solidFill>
                    <a:latin typeface="Cambria Math" panose="02040503050406030204" pitchFamily="18" charset="0"/>
                  </a:rPr>
                  <a:t>$\sigma^2+(\bar x-1)^2=5$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$4\bar x=4$</a:t>
                </a:r>
                <a:r>
                  <a:rPr sz="2400" b="0">
                    <a:solidFill>
                      <a:srgbClr val="111827"/>
                    </a:solidFill>
                    <a:latin typeface="Arial"/>
                  </a:rPr>
                  <a:t>, so </a:t>
                </a:r>
                <a:r>
                  <a:rPr lang="en-IN" sz="2400">
                    <a:solidFill>
                      <a:srgbClr val="111827"/>
                    </a:solidFill>
                    <a:latin typeface="Cambria Math" panose="02040503050406030204" pitchFamily="18" charset="0"/>
                  </a:rPr>
                  <a:t>$\bar 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$\sigma^2=5-(1-1)^2=5$</a:t>
                </a:r>
                <a:r>
                  <a:rPr sz="2400" b="0">
                    <a:solidFill>
                      <a:srgbClr val="111827"/>
                    </a:solidFill>
                    <a:latin typeface="Arial"/>
                  </a:rPr>
                  <a:t>, so </a:t>
                </a:r>
                <a:r>
                  <a:rPr lang="en-IN" sz="2400">
                    <a:solidFill>
                      <a:srgbClr val="111827"/>
                    </a:solidFill>
                    <a:latin typeface="Cambria Math" panose="02040503050406030204" pitchFamily="18" charset="0"/>
                  </a:rPr>
                  <a:t>$\sigma=\sqrt5$</a:t>
                </a:r>
                <a:r>
                  <a:rPr sz="2400" b="0">
                    <a:solidFill>
                      <a:srgbClr val="111827"/>
                    </a:solidFill>
                    <a:latin typeface="Arial"/>
                  </a:rPr>
                  <a:t>. Option (A),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5</m:t>
                        </m:r>
                      </m:e>
                    </m:rad>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$\sqrt5$</a:t>
                </a:r>
                <a:endParaRPr sz="2800">
                  <a:solidFill>
                    <a:srgbClr val="15803D"/>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sum of squared deviations is least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where it equals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variance is unchanged by shifting the data.</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$\sum(x_i-a)^2=n\sigma^2+n(\bar x-a)^2$</a:t>
                </a:r>
                <a:r>
                  <a:rPr sz="2400" b="0">
                    <a:solidFill>
                      <a:srgbClr val="111827"/>
                    </a:solidFill>
                    <a:latin typeface="Arial"/>
                  </a:rPr>
                  <a:t>: the sum of squared deviations is least at </a:t>
                </a:r>
                <a:r>
                  <a:rPr lang="en-IN" sz="2400">
                    <a:solidFill>
                      <a:srgbClr val="111827"/>
                    </a:solidFill>
                    <a:latin typeface="Cambria Math" panose="02040503050406030204" pitchFamily="18" charset="0"/>
                  </a:rPr>
                  <a:t>$a=\bar x$</a:t>
                </a:r>
                <a:r>
                  <a:rPr sz="2400" b="0">
                    <a:solidFill>
                      <a:srgbClr val="111827"/>
                    </a:solidFill>
                    <a:latin typeface="Arial"/>
                  </a:rPr>
                  <a:t>, where it equals </a:t>
                </a:r>
                <a:r>
                  <a:rPr lang="en-IN" sz="2400">
                    <a:solidFill>
                      <a:srgbClr val="111827"/>
                    </a:solidFill>
                    <a:latin typeface="Cambria Math" panose="02040503050406030204" pitchFamily="18" charset="0"/>
                  </a:rPr>
                  <a:t>$n\sigma^2$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$S_a=\sum(x_i-a)^2$</a:t>
                </a:r>
                <a:r>
                  <a:rPr sz="2400" b="0">
                    <a:solidFill>
                      <a:srgbClr val="111827"/>
                    </a:solidFill>
                    <a:latin typeface="Arial"/>
                  </a:rPr>
                  <a:t>: </a:t>
                </a:r>
                <a:r>
                  <a:rPr lang="en-IN" sz="2400">
                    <a:solidFill>
                      <a:srgbClr val="111827"/>
                    </a:solidFill>
                    <a:latin typeface="Cambria Math" panose="02040503050406030204" pitchFamily="18" charset="0"/>
                  </a:rPr>
                  <a:t>$S_{-1}-S_{1}=4n\bar x$</a:t>
                </a:r>
                <a:r>
                  <a:rPr sz="2400" b="0">
                    <a:solidFill>
                      <a:srgbClr val="111827"/>
                    </a:solidFill>
                    <a:latin typeface="Arial"/>
                  </a:rPr>
                  <a:t> (here </a:t>
                </a:r>
                <a:r>
                  <a:rPr lang="en-IN" sz="2400">
                    <a:solidFill>
                      <a:srgbClr val="111827"/>
                    </a:solidFill>
                    <a:latin typeface="Cambria Math" panose="02040503050406030204" pitchFamily="18" charset="0"/>
                  </a:rPr>
                  <a:t>$9n-5n=4n$</a:t>
                </a:r>
                <a:r>
                  <a:rPr sz="2400" b="0">
                    <a:solidFill>
                      <a:srgbClr val="111827"/>
                    </a:solidFill>
                    <a:latin typeface="Arial"/>
                  </a:rPr>
                  <a:t>, so </a:t>
                </a:r>
                <a:r>
                  <a:rPr lang="en-IN" sz="2400">
                    <a:solidFill>
                      <a:srgbClr val="111827"/>
                    </a:solidFill>
                    <a:latin typeface="Cambria Math" panose="02040503050406030204" pitchFamily="18" charset="0"/>
                  </a:rPr>
                  <a:t>$\bar 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x_i^2}{n}-\bar x^2$</a:t>
                </a:r>
                <a:r>
                  <a:rPr sz="2400" b="0">
                    <a:solidFill>
                      <a:srgbClr val="111827"/>
                    </a:solidFill>
                    <a:latin typeface="Arial"/>
                  </a:rPr>
                  <a:t>; variance is unchanged by shifting the data.</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 𝑢𝑝 𝑡𝑜 </m:t>
                        </m:r>
                        <m:sSup>
                          <m:e>
                            <m:r>
                              <a:rPr lang="en-IN" sz="2400" i="1">
                                <a:solidFill>
                                  <a:srgbClr val="111827"/>
                                </a:solidFill>
                                <a:latin typeface="Cambria Math" panose="02040503050406030204" pitchFamily="18" charset="0"/>
                              </a:rPr>
                              <m:t>51</m:t>
                            </m:r>
                          </m:e>
                          <m:sup>
                            <m:r>
                              <m:rPr>
                                <m:nor/>
                              </m:rPr>
                              <a:rPr lang="en-IN" sz="2400" i="1">
                                <a:solidFill>
                                  <a:srgbClr val="111827"/>
                                </a:solidFill>
                                <a:latin typeface="Cambria Math" panose="02040503050406030204" pitchFamily="18" charset="0"/>
                              </a:rPr>
                              <m:t>𝑡ℎ</m:t>
                            </m:r>
                          </m:sup>
                        </m:sSup>
                        <m:r>
                          <m:rPr>
                            <m:nor/>
                          </m:rPr>
                          <a:rPr lang="en-IN" sz="2400" i="1">
                            <a:solidFill>
                              <a:srgbClr val="111827"/>
                            </a:solidFill>
                            <a:latin typeface="Cambria Math" panose="02040503050406030204" pitchFamily="18" charset="0"/>
                          </a:rPr>
                          <m:t> 𝑡𝑒𝑟𝑚</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 𝑢𝑝 𝑡𝑜 </m:t>
                        </m:r>
                        <m:sSup>
                          <m:e>
                            <m:r>
                              <a:rPr lang="en-IN" sz="2400" i="1">
                                <a:solidFill>
                                  <a:srgbClr val="111827"/>
                                </a:solidFill>
                                <a:latin typeface="Cambria Math" panose="02040503050406030204" pitchFamily="18" charset="0"/>
                              </a:rPr>
                              <m:t>51</m:t>
                            </m:r>
                          </m:e>
                          <m:sup>
                            <m:r>
                              <m:rPr>
                                <m:nor/>
                              </m:rPr>
                              <a:rPr lang="en-IN" sz="2400" i="1">
                                <a:solidFill>
                                  <a:srgbClr val="111827"/>
                                </a:solidFill>
                                <a:latin typeface="Cambria Math" panose="02040503050406030204" pitchFamily="18" charset="0"/>
                              </a:rPr>
                              <m:t>𝑡ℎ</m:t>
                            </m:r>
                          </m:sup>
                        </m:sSup>
                        <m:r>
                          <m:rPr>
                            <m:nor/>
                          </m:rPr>
                          <a:rPr lang="en-IN" sz="2400" i="1">
                            <a:solidFill>
                              <a:srgbClr val="111827"/>
                            </a:solidFill>
                            <a:latin typeface="Cambria Math" panose="02040503050406030204" pitchFamily="18" charset="0"/>
                          </a:rPr>
                          <m:t> 𝑡𝑒𝑟𝑚</m:t>
                        </m:r>
                      </m:e>
                    </m:d>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1   (D)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$\left(2\cdot{}^1P_0-3\cdot{}^2P_1+4\cdot{}^3P_2-\dots\text{ up to }51^{\text{th}}\text{ term}\right)+\left(1!-2!+3!-\dots\text{ up to }51^{\text{th}}\text{ term}\right)$</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$1-51(51)!$</a:t>
                </a:r>
                <a:r>
                  <a:rPr sz="2400" b="0">
                    <a:solidFill>
                      <a:srgbClr val="111827"/>
                    </a:solidFill>
                    <a:latin typeface="Arial"/>
                  </a:rPr>
                  <a:t>   (B) </a:t>
                </a:r>
                <a:r>
                  <a:rPr lang="en-IN" sz="2400">
                    <a:solidFill>
                      <a:srgbClr val="111827"/>
                    </a:solidFill>
                    <a:latin typeface="Cambria Math" panose="02040503050406030204" pitchFamily="18" charset="0"/>
                  </a:rPr>
                  <a:t>$1+(52)!$</a:t>
                </a:r>
                <a:r>
                  <a:rPr sz="2400" b="0">
                    <a:solidFill>
                      <a:srgbClr val="111827"/>
                    </a:solidFill>
                    <a:latin typeface="Arial"/>
                  </a:rPr>
                  <a:t>   (C) 1   (D) </a:t>
                </a:r>
                <a:r>
                  <a:rPr lang="en-IN" sz="2400">
                    <a:solidFill>
                      <a:srgbClr val="111827"/>
                    </a:solidFill>
                    <a:latin typeface="Cambria Math" panose="02040503050406030204" pitchFamily="18" charset="0"/>
                  </a:rPr>
                  <a:t>$1+(51)!$</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Permutations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and factorials, Telescoping of alternating series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Permutations </a:t>
                </a:r>
                <a:r>
                  <a:rPr lang="en-IN" sz="2400">
                    <a:solidFill>
                      <a:srgbClr val="111827"/>
                    </a:solidFill>
                    <a:latin typeface="Cambria Math" panose="02040503050406030204" pitchFamily="18" charset="0"/>
                  </a:rPr>
                  <a:t>$^nP_r$</a:t>
                </a:r>
                <a:r>
                  <a:rPr sz="2400" b="0">
                    <a:solidFill>
                      <a:srgbClr val="111827"/>
                    </a:solidFill>
                    <a:latin typeface="Arial"/>
                  </a:rPr>
                  <a:t> and factorials, Telescoping of alternating series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𝑘</m:t>
                        </m:r>
                      </m:sup>
                    </m:sSup>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alternating factorials telescope against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$(k+1)\cdot{}^kP_{k-1}=(k+1)\,k!=(k+1)!$</a:t>
                </a:r>
                <a:r>
                  <a:rPr sz="2400" b="0">
                    <a:solidFill>
                      <a:srgbClr val="78350F"/>
                    </a:solidFill>
                    <a:latin typeface="Arial"/>
                  </a:rPr>
                  <a:t>, so the alternating factorials telescope against </a:t>
                </a:r>
                <a:r>
                  <a:rPr lang="en-IN" sz="2400">
                    <a:solidFill>
                      <a:srgbClr val="78350F"/>
                    </a:solidFill>
                    <a:latin typeface="Cambria Math" panose="02040503050406030204" pitchFamily="18" charset="0"/>
                  </a:rPr>
                  <a:t>$1!-2!+\dots$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term of the first bracket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first bracket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(51 terms;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so 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bracket: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$k$</a:t>
                </a:r>
                <a:r>
                  <a:rPr sz="2400" b="0">
                    <a:solidFill>
                      <a:srgbClr val="111827"/>
                    </a:solidFill>
                    <a:latin typeface="Arial"/>
                  </a:rPr>
                  <a:t>-th term of the first bracket is </a:t>
                </a:r>
                <a:r>
                  <a:rPr lang="en-IN" sz="2400">
                    <a:solidFill>
                      <a:srgbClr val="111827"/>
                    </a:solidFill>
                    <a:latin typeface="Cambria Math" panose="02040503050406030204" pitchFamily="18" charset="0"/>
                  </a:rPr>
                  <a:t>$(-1)^{k+1}(k+1)\,{}^kP_{k-1}=(-1)^{k+1}(k+1)\,k!=(-1)^{k+1}(k+1)!$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first bracket is </a:t>
                </a:r>
                <a:r>
                  <a:rPr lang="en-IN" sz="2400">
                    <a:solidFill>
                      <a:srgbClr val="111827"/>
                    </a:solidFill>
                    <a:latin typeface="Cambria Math" panose="02040503050406030204" pitchFamily="18" charset="0"/>
                  </a:rPr>
                  <a:t>$2!-3!+4!-5!+\dots+52!$</a:t>
                </a:r>
                <a:r>
                  <a:rPr sz="2400" b="0">
                    <a:solidFill>
                      <a:srgbClr val="111827"/>
                    </a:solidFill>
                    <a:latin typeface="Arial"/>
                  </a:rPr>
                  <a:t> (51 terms; </a:t>
                </a:r>
                <a:r>
                  <a:rPr lang="en-IN" sz="2400">
                    <a:solidFill>
                      <a:srgbClr val="111827"/>
                    </a:solidFill>
                    <a:latin typeface="Cambria Math" panose="02040503050406030204" pitchFamily="18" charset="0"/>
                  </a:rPr>
                  <a:t>$2\cdot1=2!$</a:t>
                </a:r>
                <a:r>
                  <a:rPr sz="2400" b="0">
                    <a:solidFill>
                      <a:srgbClr val="111827"/>
                    </a:solidFill>
                    <a:latin typeface="Arial"/>
                  </a:rPr>
                  <a:t>, </a:t>
                </a:r>
                <a:r>
                  <a:rPr lang="en-IN" sz="2400">
                    <a:solidFill>
                      <a:srgbClr val="111827"/>
                    </a:solidFill>
                    <a:latin typeface="Cambria Math" panose="02040503050406030204" pitchFamily="18" charset="0"/>
                  </a:rPr>
                  <a:t>$3\cdot2!=3!$</a:t>
                </a:r>
                <a:r>
                  <a:rPr sz="2400" b="0">
                    <a:solidFill>
                      <a:srgbClr val="111827"/>
                    </a:solidFill>
                    <a:latin typeface="Arial"/>
                  </a:rPr>
                  <a:t>, and so 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bracket: </a:t>
                </a:r>
                <a:r>
                  <a:rPr lang="en-IN" sz="2400">
                    <a:solidFill>
                      <a:srgbClr val="111827"/>
                    </a:solidFill>
                    <a:latin typeface="Cambria Math" panose="02040503050406030204" pitchFamily="18" charset="0"/>
                  </a:rPr>
                  <a:t>$1!-2!+3!-4!+\dots+51!$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 the brackets: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(first) cancels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(second),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cancels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so on up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term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first bracket cancels the term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second.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first term of the second bracket,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last term of the first bracket, </a:t>
                </a:r>
                <a14:m>
                  <m:oMath xmlns:m="http://schemas.openxmlformats.org/officeDocument/2006/math">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(positive since 51 is odd), survive.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 the brackets: </a:t>
                </a:r>
                <a:r>
                  <a:rPr lang="en-IN" sz="2400">
                    <a:solidFill>
                      <a:srgbClr val="111827"/>
                    </a:solidFill>
                    <a:latin typeface="Cambria Math" panose="02040503050406030204" pitchFamily="18" charset="0"/>
                  </a:rPr>
                  <a:t>$+2!$</a:t>
                </a:r>
                <a:r>
                  <a:rPr sz="2400" b="0">
                    <a:solidFill>
                      <a:srgbClr val="111827"/>
                    </a:solidFill>
                    <a:latin typeface="Arial"/>
                  </a:rPr>
                  <a:t> (first) cancels </a:t>
                </a:r>
                <a:r>
                  <a:rPr lang="en-IN" sz="2400">
                    <a:solidFill>
                      <a:srgbClr val="111827"/>
                    </a:solidFill>
                    <a:latin typeface="Cambria Math" panose="02040503050406030204" pitchFamily="18" charset="0"/>
                  </a:rPr>
                  <a:t>$-2!$</a:t>
                </a:r>
                <a:r>
                  <a:rPr sz="2400" b="0">
                    <a:solidFill>
                      <a:srgbClr val="111827"/>
                    </a:solidFill>
                    <a:latin typeface="Arial"/>
                  </a:rPr>
                  <a:t> (second), </a:t>
                </a:r>
                <a:r>
                  <a:rPr lang="en-IN" sz="2400">
                    <a:solidFill>
                      <a:srgbClr val="111827"/>
                    </a:solidFill>
                    <a:latin typeface="Cambria Math" panose="02040503050406030204" pitchFamily="18" charset="0"/>
                  </a:rPr>
                  <a:t>$-3!$</a:t>
                </a:r>
                <a:r>
                  <a:rPr sz="2400" b="0">
                    <a:solidFill>
                      <a:srgbClr val="111827"/>
                    </a:solidFill>
                    <a:latin typeface="Arial"/>
                  </a:rPr>
                  <a:t> cancels </a:t>
                </a:r>
                <a:r>
                  <a:rPr lang="en-IN" sz="2400">
                    <a:solidFill>
                      <a:srgbClr val="111827"/>
                    </a:solidFill>
                    <a:latin typeface="Cambria Math" panose="02040503050406030204" pitchFamily="18" charset="0"/>
                  </a:rPr>
                  <a:t>$+3!$</a:t>
                </a:r>
                <a:r>
                  <a:rPr sz="2400" b="0">
                    <a:solidFill>
                      <a:srgbClr val="111827"/>
                    </a:solidFill>
                    <a:latin typeface="Arial"/>
                  </a:rPr>
                  <a:t>, and so on up to </a:t>
                </a:r>
                <a:r>
                  <a:rPr lang="en-IN" sz="2400">
                    <a:solidFill>
                      <a:srgbClr val="111827"/>
                    </a:solidFill>
                    <a:latin typeface="Cambria Math" panose="02040503050406030204" pitchFamily="18" charset="0"/>
                  </a:rPr>
                  <a:t>$\pm51!$</a:t>
                </a:r>
                <a:r>
                  <a:rPr sz="2400" b="0">
                    <a:solidFill>
                      <a:srgbClr val="111827"/>
                    </a:solidFill>
                    <a:latin typeface="Arial"/>
                  </a:rPr>
                  <a:t>; the term </a:t>
                </a:r>
                <a:r>
                  <a:rPr lang="en-IN" sz="2400">
                    <a:solidFill>
                      <a:srgbClr val="111827"/>
                    </a:solidFill>
                    <a:latin typeface="Cambria Math" panose="02040503050406030204" pitchFamily="18" charset="0"/>
                  </a:rPr>
                  <a:t>$(-1)^{k+1}(k+1)!$</a:t>
                </a:r>
                <a:r>
                  <a:rPr sz="2400" b="0">
                    <a:solidFill>
                      <a:srgbClr val="111827"/>
                    </a:solidFill>
                    <a:latin typeface="Arial"/>
                  </a:rPr>
                  <a:t> of the first bracket cancels the term </a:t>
                </a:r>
                <a:r>
                  <a:rPr lang="en-IN" sz="2400">
                    <a:solidFill>
                      <a:srgbClr val="111827"/>
                    </a:solidFill>
                    <a:latin typeface="Cambria Math" panose="02040503050406030204" pitchFamily="18" charset="0"/>
                  </a:rPr>
                  <a:t>$(-1)^{k+2}(k+1)!$</a:t>
                </a:r>
                <a:r>
                  <a:rPr sz="2400" b="0">
                    <a:solidFill>
                      <a:srgbClr val="111827"/>
                    </a:solidFill>
                    <a:latin typeface="Arial"/>
                  </a:rPr>
                  <a:t> of the second.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first term of the second bracket, </a:t>
                </a:r>
                <a:r>
                  <a:rPr lang="en-IN" sz="2400">
                    <a:solidFill>
                      <a:srgbClr val="111827"/>
                    </a:solidFill>
                    <a:latin typeface="Cambria Math" panose="02040503050406030204" pitchFamily="18" charset="0"/>
                  </a:rPr>
                  <a:t>$1!$</a:t>
                </a:r>
                <a:r>
                  <a:rPr sz="2400" b="0">
                    <a:solidFill>
                      <a:srgbClr val="111827"/>
                    </a:solidFill>
                    <a:latin typeface="Arial"/>
                  </a:rPr>
                  <a:t>, and the last term of the first bracket, </a:t>
                </a:r>
                <a:r>
                  <a:rPr lang="en-IN" sz="2400">
                    <a:solidFill>
                      <a:srgbClr val="111827"/>
                    </a:solidFill>
                    <a:latin typeface="Cambria Math" panose="02040503050406030204" pitchFamily="18" charset="0"/>
                  </a:rPr>
                  <a:t>$52!$</a:t>
                </a:r>
                <a:r>
                  <a:rPr sz="2400" b="0">
                    <a:solidFill>
                      <a:srgbClr val="111827"/>
                    </a:solidFill>
                    <a:latin typeface="Arial"/>
                  </a:rPr>
                  <a:t> (positive since 51 is odd), survive.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$=1!+52!=1+52!$</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52</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$1+(52)!$</a:t>
                </a:r>
                <a:endParaRPr sz="2800">
                  <a:solidFill>
                    <a:srgbClr val="15803D"/>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 closed form for the first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terms by small cases, then prove it by induction.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 closed form for the first </a:t>
                </a:r>
                <a:r>
                  <a:rPr lang="en-IN" sz="2400">
                    <a:solidFill>
                      <a:srgbClr val="78350F"/>
                    </a:solidFill>
                    <a:latin typeface="Cambria Math" panose="02040503050406030204" pitchFamily="18" charset="0"/>
                  </a:rPr>
                  <a:t>$n$</a:t>
                </a:r>
                <a:r>
                  <a:rPr sz="2400" b="0">
                    <a:solidFill>
                      <a:srgbClr val="78350F"/>
                    </a:solidFill>
                    <a:latin typeface="Arial"/>
                  </a:rPr>
                  <a:t> terms by small cases, then prove it by induction.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the sum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both series together. Using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Conjecture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$S_n$</a:t>
                </a:r>
                <a:r>
                  <a:rPr sz="2400" b="0">
                    <a:solidFill>
                      <a:srgbClr val="111827"/>
                    </a:solidFill>
                    <a:latin typeface="Arial"/>
                  </a:rPr>
                  <a:t> be the sum of the first </a:t>
                </a:r>
                <a:r>
                  <a:rPr lang="en-IN" sz="2400">
                    <a:solidFill>
                      <a:srgbClr val="111827"/>
                    </a:solidFill>
                    <a:latin typeface="Cambria Math" panose="02040503050406030204" pitchFamily="18" charset="0"/>
                  </a:rPr>
                  <a:t>$n$</a:t>
                </a:r>
                <a:r>
                  <a:rPr sz="2400" b="0">
                    <a:solidFill>
                      <a:srgbClr val="111827"/>
                    </a:solidFill>
                    <a:latin typeface="Arial"/>
                  </a:rPr>
                  <a:t> terms of both series together. Using </a:t>
                </a:r>
                <a:r>
                  <a:rPr lang="en-IN" sz="2400">
                    <a:solidFill>
                      <a:srgbClr val="111827"/>
                    </a:solidFill>
                    <a:latin typeface="Cambria Math" panose="02040503050406030204" pitchFamily="18" charset="0"/>
                  </a:rPr>
                  <a:t>$(k+1)\,{}^kP_{k-1}=(k+1)!$</a:t>
                </a:r>
                <a:r>
                  <a:rPr sz="2400" b="0">
                    <a:solidFill>
                      <a:srgbClr val="111827"/>
                    </a:solidFill>
                    <a:latin typeface="Arial"/>
                  </a:rPr>
                  <a:t>, </a:t>
                </a:r>
                <a:r>
                  <a:rPr lang="en-IN" sz="2400">
                    <a:solidFill>
                      <a:srgbClr val="111827"/>
                    </a:solidFill>
                    <a:latin typeface="Cambria Math" panose="02040503050406030204" pitchFamily="18" charset="0"/>
                  </a:rPr>
                  <a:t>$S_n=\sum_{k=1}^n(-1)^{k+1}\left[(k+1)!+k!\right]$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$S_1=2!+1!=3=1+2!$</a:t>
                </a:r>
                <a:r>
                  <a:rPr sz="2400" b="0">
                    <a:solidFill>
                      <a:srgbClr val="111827"/>
                    </a:solidFill>
                    <a:latin typeface="Arial"/>
                  </a:rPr>
                  <a:t>; </a:t>
                </a:r>
                <a:r>
                  <a:rPr lang="en-IN" sz="2400">
                    <a:solidFill>
                      <a:srgbClr val="111827"/>
                    </a:solidFill>
                    <a:latin typeface="Cambria Math" panose="02040503050406030204" pitchFamily="18" charset="0"/>
                  </a:rPr>
                  <a:t>$S_2=3-(3!+2!)=3-8=-5=1-3!$</a:t>
                </a:r>
                <a:r>
                  <a:rPr sz="2400" b="0">
                    <a:solidFill>
                      <a:srgbClr val="111827"/>
                    </a:solidFill>
                    <a:latin typeface="Arial"/>
                  </a:rPr>
                  <a:t>; </a:t>
                </a:r>
                <a:r>
                  <a:rPr lang="en-IN" sz="2400">
                    <a:solidFill>
                      <a:srgbClr val="111827"/>
                    </a:solidFill>
                    <a:latin typeface="Cambria Math" panose="02040503050406030204" pitchFamily="18" charset="0"/>
                  </a:rPr>
                  <a:t>$S_3=-5+(4!+3!)=25=1+4!$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Conjecture </a:t>
                </a:r>
                <a:r>
                  <a:rPr lang="en-IN" sz="2400">
                    <a:solidFill>
                      <a:srgbClr val="111827"/>
                    </a:solidFill>
                    <a:latin typeface="Cambria Math" panose="02040503050406030204" pitchFamily="18" charset="0"/>
                  </a:rPr>
                  <a:t>$S_n=1+(-1)^{n+1}(n+1)!$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Induction step: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the first and last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(B),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Induction step: </a:t>
                </a:r>
                <a:r>
                  <a:rPr lang="en-IN" sz="2400">
                    <a:solidFill>
                      <a:srgbClr val="111827"/>
                    </a:solidFill>
                    <a:latin typeface="Cambria Math" panose="02040503050406030204" pitchFamily="18" charset="0"/>
                  </a:rPr>
                  <a:t>$S_{n+1}=S_n+(-1)^{n+2}\left[(n+2)!+(n+1)!\right]=1+(-1)^{n+1}(n+1)!+(-1)^{n}(n+2)!+(-1)^n(n+1)!=1+(-1)^n(n+2)!$</a:t>
                </a:r>
                <a:r>
                  <a:rPr sz="2400" b="0">
                    <a:solidFill>
                      <a:srgbClr val="111827"/>
                    </a:solidFill>
                    <a:latin typeface="Arial"/>
                  </a:rPr>
                  <a:t>, since the first and last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$n=51$</a:t>
                </a:r>
                <a:r>
                  <a:rPr sz="2400" b="0">
                    <a:solidFill>
                      <a:srgbClr val="111827"/>
                    </a:solidFill>
                    <a:latin typeface="Arial"/>
                  </a:rPr>
                  <a:t>: </a:t>
                </a:r>
                <a:r>
                  <a:rPr lang="en-IN" sz="2400">
                    <a:solidFill>
                      <a:srgbClr val="111827"/>
                    </a:solidFill>
                    <a:latin typeface="Cambria Math" panose="02040503050406030204" pitchFamily="18" charset="0"/>
                  </a:rPr>
                  <a:t>$S_{51}=1+52!$</a:t>
                </a:r>
                <a:r>
                  <a:rPr sz="2400" b="0">
                    <a:solidFill>
                      <a:srgbClr val="111827"/>
                    </a:solidFill>
                    <a:latin typeface="Arial"/>
                  </a:rPr>
                  <a:t>. Option (B),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52</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$1+(52)!$</a:t>
                </a:r>
                <a:endParaRPr sz="2800">
                  <a:solidFill>
                    <a:srgbClr val="15803D"/>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in particular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Alternating sums of factorial-type terms telescope: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𝑘</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(write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${}^nP_r=\frac{n!}{(n-r)!}$</a:t>
                </a:r>
                <a:r>
                  <a:rPr sz="2400" b="0">
                    <a:solidFill>
                      <a:srgbClr val="111827"/>
                    </a:solidFill>
                    <a:latin typeface="Arial"/>
                  </a:rPr>
                  <a:t>; in particular </a:t>
                </a:r>
                <a:r>
                  <a:rPr lang="en-IN" sz="2400">
                    <a:solidFill>
                      <a:srgbClr val="111827"/>
                    </a:solidFill>
                    <a:latin typeface="Cambria Math" panose="02040503050406030204" pitchFamily="18" charset="0"/>
                  </a:rPr>
                  <a:t>${}^kP_{k-1}=k!$</a:t>
                </a:r>
                <a:r>
                  <a:rPr sz="2400" b="0">
                    <a:solidFill>
                      <a:srgbClr val="111827"/>
                    </a:solidFill>
                    <a:latin typeface="Arial"/>
                  </a:rPr>
                  <a:t> and </a:t>
                </a:r>
                <a:r>
                  <a:rPr lang="en-IN" sz="2400">
                    <a:solidFill>
                      <a:srgbClr val="111827"/>
                    </a:solidFill>
                    <a:latin typeface="Cambria Math" panose="02040503050406030204" pitchFamily="18" charset="0"/>
                  </a:rPr>
                  <a:t>$(k+1)\,k!=(k+1)!$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Alternating sums of factorial-type terms telescope: </a:t>
                </a:r>
                <a:r>
                  <a:rPr lang="en-IN" sz="2400">
                    <a:solidFill>
                      <a:srgbClr val="111827"/>
                    </a:solidFill>
                    <a:latin typeface="Cambria Math" panose="02040503050406030204" pitchFamily="18" charset="0"/>
                  </a:rPr>
                  <a:t>$\sum_{k=1}^n(-1)^{k+1}\left[(k+1)!+k!\right]=1+(-1)^{n+1}(n+1)!$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a:t>
                </a:r>
                <a:r>
                  <a:rPr lang="en-IN" sz="2400">
                    <a:solidFill>
                      <a:srgbClr val="111827"/>
                    </a:solidFill>
                    <a:latin typeface="Cambria Math" panose="02040503050406030204" pitchFamily="18" charset="0"/>
                  </a:rPr>
                  <a:t>$\sum_{k=1}^n k\cdot k!=(n+1)!-1$</a:t>
                </a:r>
                <a:r>
                  <a:rPr sz="2400" b="0">
                    <a:solidFill>
                      <a:srgbClr val="111827"/>
                    </a:solidFill>
                    <a:latin typeface="Arial"/>
                  </a:rPr>
                  <a:t> (write </a:t>
                </a:r>
                <a:r>
                  <a:rPr lang="en-IN" sz="2400">
                    <a:solidFill>
                      <a:srgbClr val="111827"/>
                    </a:solidFill>
                    <a:latin typeface="Cambria Math" panose="02040503050406030204" pitchFamily="18" charset="0"/>
                  </a:rPr>
                  <a:t>$k\cdot k!=(k+1)!-k!$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Q10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for a correct answer (assumed) · no negative marking assumed</a:t>
            </a:r>
            <a:endParaRPr sz="2800">
              <a:solidFill>
                <a:srgbClr val="FFFFFF"/>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den>
                    </m:f>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$z=1+i$</a:t>
                </a:r>
                <a:r>
                  <a:rPr sz="2400" b="0">
                    <a:solidFill>
                      <a:srgbClr val="111827"/>
                    </a:solidFill>
                    <a:latin typeface="Arial"/>
                  </a:rPr>
                  <a:t> and </a:t>
                </a:r>
                <a:r>
                  <a:rPr lang="en-IN" sz="2400">
                    <a:solidFill>
                      <a:srgbClr val="111827"/>
                    </a:solidFill>
                    <a:latin typeface="Cambria Math" panose="02040503050406030204" pitchFamily="18" charset="0"/>
                  </a:rPr>
                  <a:t>$z_1=\frac{1+i\bar z}{\bar z(1-z)+\frac1z}$</a:t>
                </a:r>
                <a:r>
                  <a:rPr sz="2400" b="0">
                    <a:solidFill>
                      <a:srgbClr val="111827"/>
                    </a:solidFill>
                    <a:latin typeface="Arial"/>
                  </a:rPr>
                  <a:t>. Then </a:t>
                </a:r>
                <a:r>
                  <a:rPr lang="en-IN" sz="2400">
                    <a:solidFill>
                      <a:srgbClr val="111827"/>
                    </a:solidFill>
                    <a:latin typeface="Cambria Math" panose="02040503050406030204" pitchFamily="18" charset="0"/>
                  </a:rPr>
                  <a:t>$\frac{12}{\pi}\arg(z_1)$</a:t>
                </a:r>
                <a:r>
                  <a:rPr sz="2400" b="0">
                    <a:solidFill>
                      <a:srgbClr val="111827"/>
                    </a:solidFill>
                    <a:latin typeface="Arial"/>
                  </a:rPr>
                  <a:t> is equal to ______ .</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Argument of a complex number and its arithmetic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Substitute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 reduce </a:t>
                </a:r>
                <a14:m>
                  <m:oMath xmlns:m="http://schemas.openxmlformats.org/officeDocument/2006/math">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 by rationalising, and read off its argument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Substitute </a:t>
                </a:r>
                <a:r>
                  <a:rPr lang="en-IN" sz="2400">
                    <a:solidFill>
                      <a:srgbClr val="78350F"/>
                    </a:solidFill>
                    <a:latin typeface="Cambria Math" panose="02040503050406030204" pitchFamily="18" charset="0"/>
                  </a:rPr>
                  <a:t>$z=1+i$</a:t>
                </a:r>
                <a:r>
                  <a:rPr sz="2400" b="0">
                    <a:solidFill>
                      <a:srgbClr val="78350F"/>
                    </a:solidFill>
                    <a:latin typeface="Arial"/>
                  </a:rPr>
                  <a:t>, reduce </a:t>
                </a:r>
                <a:r>
                  <a:rPr lang="en-IN" sz="2400">
                    <a:solidFill>
                      <a:srgbClr val="78350F"/>
                    </a:solidFill>
                    <a:latin typeface="Cambria Math" panose="02040503050406030204" pitchFamily="18" charset="0"/>
                  </a:rPr>
                  <a:t>$z_1$</a:t>
                </a:r>
                <a:r>
                  <a:rPr sz="2400" b="0">
                    <a:solidFill>
                      <a:srgbClr val="78350F"/>
                    </a:solidFill>
                    <a:latin typeface="Arial"/>
                  </a:rPr>
                  <a:t> to </a:t>
                </a:r>
                <a:r>
                  <a:rPr lang="en-IN" sz="2400">
                    <a:solidFill>
                      <a:srgbClr val="78350F"/>
                    </a:solidFill>
                    <a:latin typeface="Cambria Math" panose="02040503050406030204" pitchFamily="18" charset="0"/>
                  </a:rPr>
                  <a:t>$-1+i$</a:t>
                </a:r>
                <a:r>
                  <a:rPr sz="2400" b="0">
                    <a:solidFill>
                      <a:srgbClr val="78350F"/>
                    </a:solidFill>
                    <a:latin typeface="Arial"/>
                  </a:rPr>
                  <a:t> by rationalising, and read off its argument </a:t>
                </a:r>
                <a:r>
                  <a:rPr lang="en-IN" sz="2400">
                    <a:solidFill>
                      <a:srgbClr val="78350F"/>
                    </a:solidFill>
                    <a:latin typeface="Cambria Math" panose="02040503050406030204" pitchFamily="18" charset="0"/>
                  </a:rPr>
                  <a:t>$\frac{3\pi}4$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$z=1+i$</a:t>
                </a:r>
                <a:r>
                  <a:rPr sz="2400" b="0">
                    <a:solidFill>
                      <a:srgbClr val="111827"/>
                    </a:solidFill>
                    <a:latin typeface="Arial"/>
                  </a:rPr>
                  <a:t>, </a:t>
                </a:r>
                <a:r>
                  <a:rPr lang="en-IN" sz="2400">
                    <a:solidFill>
                      <a:srgbClr val="111827"/>
                    </a:solidFill>
                    <a:latin typeface="Cambria Math" panose="02040503050406030204" pitchFamily="18" charset="0"/>
                  </a:rPr>
                  <a:t>$\bar z=1-i$</a:t>
                </a:r>
                <a:r>
                  <a:rPr sz="2400" b="0">
                    <a:solidFill>
                      <a:srgbClr val="111827"/>
                    </a:solidFill>
                    <a:latin typeface="Arial"/>
                  </a:rPr>
                  <a:t>, </a:t>
                </a:r>
                <a:r>
                  <a:rPr lang="en-IN" sz="2400">
                    <a:solidFill>
                      <a:srgbClr val="111827"/>
                    </a:solidFill>
                    <a:latin typeface="Cambria Math" panose="02040503050406030204" pitchFamily="18" charset="0"/>
                  </a:rPr>
                  <a:t>$\frac1z=\frac{1-i}{2}$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r>
                  <a:rPr lang="en-IN" sz="2400">
                    <a:solidFill>
                      <a:srgbClr val="111827"/>
                    </a:solidFill>
                    <a:latin typeface="Cambria Math" panose="02040503050406030204" pitchFamily="18" charset="0"/>
                  </a:rPr>
                  <a:t>$1+i\bar z=1+i(1-i)=1+i+1=2+i$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 z(1-z)=(1-i)(-i)=-i+i^2=-1-i$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r>
                  <a:rPr lang="en-IN" sz="2400">
                    <a:solidFill>
                      <a:srgbClr val="111827"/>
                    </a:solidFill>
                    <a:latin typeface="Cambria Math" panose="02040503050406030204" pitchFamily="18" charset="0"/>
                  </a:rPr>
                  <a:t>$-1-i+\frac{1-i}{2}=\frac{-1-3i}{2}$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Rationalise: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lies in the second quadrant, so </a:t>
                </a:r>
                <a14:m>
                  <m:oMath xmlns:m="http://schemas.openxmlformats.org/officeDocument/2006/math">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$z_1=\frac{2+i}{\frac{-1-3i}{2}}=\frac{4+2i}{-3i-1}$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Rationalise: </a:t>
                </a:r>
                <a:r>
                  <a:rPr lang="en-IN" sz="2400">
                    <a:solidFill>
                      <a:srgbClr val="111827"/>
                    </a:solidFill>
                    <a:latin typeface="Cambria Math" panose="02040503050406030204" pitchFamily="18" charset="0"/>
                  </a:rPr>
                  <a:t>$z_1=\frac{-(4+2i)(3i-1)}{(3i)^2-1^2}=\frac{(4+2i)(3i-1)}{10}=\frac{-10+10i}{10}=-1+i$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$-1+i$</a:t>
                </a:r>
                <a:r>
                  <a:rPr sz="2400" b="0">
                    <a:solidFill>
                      <a:srgbClr val="111827"/>
                    </a:solidFill>
                    <a:latin typeface="Arial"/>
                  </a:rPr>
                  <a:t> lies in the second quadrant, so </a:t>
                </a:r>
                <a:r>
                  <a:rPr lang="en-IN" sz="2400">
                    <a:solidFill>
                      <a:srgbClr val="111827"/>
                    </a:solidFill>
                    <a:latin typeface="Cambria Math" panose="02040503050406030204" pitchFamily="18" charset="0"/>
                  </a:rPr>
                  <a:t>$\arg(z_1)=\frac{3\pi}{4}$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$\frac{12}{\pi}\arg(z_1)=\frac{12}{\pi}\cdot\frac{3\pi}{4}=9$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Notice </a:t>
                </a:r>
                <a14:m>
                  <m:oMath xmlns:m="http://schemas.openxmlformats.org/officeDocument/2006/math">
                    <m:r>
                      <a:rPr lang="en-IN" sz="2400" i="1">
                        <a:solidFill>
                          <a:srgbClr val="78350F"/>
                        </a:solidFill>
                        <a:latin typeface="Cambria Math" panose="02040503050406030204" pitchFamily="18" charset="0"/>
                      </a:rPr>
                      <m:t>𝑖</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𝑧</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num>
                      <m:den>
                        <m:r>
                          <a:rPr lang="en-IN" sz="2400" i="1">
                            <a:solidFill>
                              <a:srgbClr val="78350F"/>
                            </a:solidFill>
                            <a:latin typeface="Cambria Math" panose="02040503050406030204" pitchFamily="18" charset="0"/>
                          </a:rPr>
                          <m:t>2</m:t>
                        </m:r>
                      </m:den>
                    </m:f>
                  </m:oMath>
                </a14:m>
                <a:r>
                  <a:rPr sz="2400" b="0">
                    <a:solidFill>
                      <a:srgbClr val="78350F"/>
                    </a:solidFill>
                    <a:latin typeface="Arial"/>
                  </a:rPr>
                  <a:t>, so the expression simplifies symbolically and the argument comes from </a:t>
                </a:r>
                <a14:m>
                  <m:oMath xmlns:m="http://schemas.openxmlformats.org/officeDocument/2006/math">
                    <m:r>
                      <m:rPr>
                        <m:sty m:val="p"/>
                      </m:rPr>
                      <a:rPr lang="en-IN" sz="2400">
                        <a:solidFill>
                          <a:srgbClr val="78350F"/>
                        </a:solidFill>
                        <a:latin typeface="Cambria Math" panose="02040503050406030204" pitchFamily="18" charset="0"/>
                      </a:rPr>
                      <m:t>arg</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arg</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addition.</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Notice </a:t>
                </a:r>
                <a:r>
                  <a:rPr lang="en-IN" sz="2400">
                    <a:solidFill>
                      <a:srgbClr val="78350F"/>
                    </a:solidFill>
                    <a:latin typeface="Cambria Math" panose="02040503050406030204" pitchFamily="18" charset="0"/>
                  </a:rPr>
                  <a:t>$i\bar z=z$</a:t>
                </a:r>
                <a:r>
                  <a:rPr sz="2400" b="0">
                    <a:solidFill>
                      <a:srgbClr val="78350F"/>
                    </a:solidFill>
                    <a:latin typeface="Arial"/>
                  </a:rPr>
                  <a:t> and </a:t>
                </a:r>
                <a:r>
                  <a:rPr lang="en-IN" sz="2400">
                    <a:solidFill>
                      <a:srgbClr val="78350F"/>
                    </a:solidFill>
                    <a:latin typeface="Cambria Math" panose="02040503050406030204" pitchFamily="18" charset="0"/>
                  </a:rPr>
                  <a:t>$\frac1z=\frac{\bar z}{2}$</a:t>
                </a:r>
                <a:r>
                  <a:rPr sz="2400" b="0">
                    <a:solidFill>
                      <a:srgbClr val="78350F"/>
                    </a:solidFill>
                    <a:latin typeface="Arial"/>
                  </a:rPr>
                  <a:t>, so the expression simplifies symbolically and the argument comes from </a:t>
                </a:r>
                <a:r>
                  <a:rPr lang="en-IN" sz="2400">
                    <a:solidFill>
                      <a:srgbClr val="78350F"/>
                    </a:solidFill>
                    <a:latin typeface="Cambria Math" panose="02040503050406030204" pitchFamily="18" charset="0"/>
                  </a:rPr>
                  <a:t>$\arg(2+i)-\arg(1+3i)$</a:t>
                </a:r>
                <a:r>
                  <a:rPr sz="2400" b="0">
                    <a:solidFill>
                      <a:srgbClr val="78350F"/>
                    </a:solidFill>
                    <a:latin typeface="Arial"/>
                  </a:rPr>
                  <a:t> with </a:t>
                </a:r>
                <a:r>
                  <a:rPr lang="en-IN" sz="2400">
                    <a:solidFill>
                      <a:srgbClr val="78350F"/>
                    </a:solidFill>
                    <a:latin typeface="Cambria Math" panose="02040503050406030204" pitchFamily="18" charset="0"/>
                  </a:rPr>
                  <a:t>$\tan^{-1}$</a:t>
                </a:r>
                <a:r>
                  <a:rPr sz="2400" b="0">
                    <a:solidFill>
                      <a:srgbClr val="78350F"/>
                    </a:solidFill>
                    <a:latin typeface="Arial"/>
                  </a:rPr>
                  <a:t> addition.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𝑖</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so the numerator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the denominator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$z=1+i$</a:t>
                </a:r>
                <a:r>
                  <a:rPr sz="2400" b="0">
                    <a:solidFill>
                      <a:srgbClr val="111827"/>
                    </a:solidFill>
                    <a:latin typeface="Arial"/>
                  </a:rPr>
                  <a:t>: </a:t>
                </a:r>
                <a:r>
                  <a:rPr lang="en-IN" sz="2400">
                    <a:solidFill>
                      <a:srgbClr val="111827"/>
                    </a:solidFill>
                    <a:latin typeface="Cambria Math" panose="02040503050406030204" pitchFamily="18" charset="0"/>
                  </a:rPr>
                  <a:t>$i\bar z=i(1-i)=1+i=z$</a:t>
                </a:r>
                <a:r>
                  <a:rPr sz="2400" b="0">
                    <a:solidFill>
                      <a:srgbClr val="111827"/>
                    </a:solidFill>
                    <a:latin typeface="Arial"/>
                  </a:rPr>
                  <a:t>, so the numerator is </a:t>
                </a:r>
                <a:r>
                  <a:rPr lang="en-IN" sz="2400">
                    <a:solidFill>
                      <a:srgbClr val="111827"/>
                    </a:solidFill>
                    <a:latin typeface="Cambria Math" panose="02040503050406030204" pitchFamily="18" charset="0"/>
                  </a:rPr>
                  <a:t>$1+z=2+i$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$\frac1z=\frac{\bar z}{|z|^2}=\frac{\bar z}{2}$</a:t>
                </a:r>
                <a:r>
                  <a:rPr sz="2400" b="0">
                    <a:solidFill>
                      <a:srgbClr val="111827"/>
                    </a:solidFill>
                    <a:latin typeface="Arial"/>
                  </a:rPr>
                  <a:t>, so the denominator is </a:t>
                </a:r>
                <a:r>
                  <a:rPr lang="en-IN" sz="2400">
                    <a:solidFill>
                      <a:srgbClr val="111827"/>
                    </a:solidFill>
                    <a:latin typeface="Cambria Math" panose="02040503050406030204" pitchFamily="18" charset="0"/>
                  </a:rPr>
                  <a:t>$\bar z(1-z)+\frac{\bar z}2=\bar z\left(\frac32-z\right)=(1-i)\left(\frac12-i\right)=-\frac12-\frac{3i}{2}$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$z_1=\frac{2+i}{-\frac12(1+3i)}=-2\,\frac{2+i}{1+3i}$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(the difference lies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$\arg(z_1)=\pi+\arg(2+i)-\arg(1+3i)=\pi+\tan^{-1}\frac12-\tan^{-1}3$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$\tan^{-1}\frac12-\tan^{-1}3=\tan^{-1}\frac{\frac12-3}{1+\frac32}=\tan^{-1}(-1)=-\frac\pi4$</a:t>
                </a:r>
                <a:r>
                  <a:rPr sz="2400" b="0">
                    <a:solidFill>
                      <a:srgbClr val="111827"/>
                    </a:solidFill>
                    <a:latin typeface="Arial"/>
                  </a:rPr>
                  <a:t> (the difference lies in </a:t>
                </a:r>
                <a:r>
                  <a:rPr lang="en-IN" sz="2400">
                    <a:solidFill>
                      <a:srgbClr val="111827"/>
                    </a:solidFill>
                    <a:latin typeface="Cambria Math" panose="02040503050406030204" pitchFamily="18" charset="0"/>
                  </a:rPr>
                  <a:t>$(-\frac\pi2,0)$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$\arg(z_1)=\pi-\frac\pi4=\frac{3\pi}4$</a:t>
                </a:r>
                <a:r>
                  <a:rPr sz="2400" b="0">
                    <a:solidFill>
                      <a:srgbClr val="111827"/>
                    </a:solidFill>
                    <a:latin typeface="Arial"/>
                  </a:rPr>
                  <a:t> and </a:t>
                </a:r>
                <a:r>
                  <a:rPr lang="en-IN" sz="2400">
                    <a:solidFill>
                      <a:srgbClr val="111827"/>
                    </a:solidFill>
                    <a:latin typeface="Cambria Math" panose="02040503050406030204" pitchFamily="18" charset="0"/>
                  </a:rPr>
                  <a:t>$\frac{12}\pi\arg(z_1)=9$</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arg</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arg</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arg</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always bring the result back to the principal range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locating the quadrant.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by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rotates by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we get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𝑧</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𝑖</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which shortens such expressions.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den>
                    </m:f>
                  </m:oMath>
                </a14:m>
                <a:r>
                  <a:rPr sz="2400" b="0">
                    <a:solidFill>
                      <a:srgbClr val="111827"/>
                    </a:solidFill>
                    <a:latin typeface="Arial"/>
                  </a:rPr>
                  <a:t> only when the result stays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otherwise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$\arg\frac{z_1}{z_2}=\arg z_1-\arg z_2\pmod{2\pi}$</a:t>
                </a:r>
                <a:r>
                  <a:rPr sz="2400" b="0">
                    <a:solidFill>
                      <a:srgbClr val="111827"/>
                    </a:solidFill>
                    <a:latin typeface="Arial"/>
                  </a:rPr>
                  <a:t>; always bring the result back to the principal range </a:t>
                </a:r>
                <a:r>
                  <a:rPr lang="en-IN" sz="2400">
                    <a:solidFill>
                      <a:srgbClr val="111827"/>
                    </a:solidFill>
                    <a:latin typeface="Cambria Math" panose="02040503050406030204" pitchFamily="18" charset="0"/>
                  </a:rPr>
                  <a:t>$(-\pi,\pi]$</a:t>
                </a:r>
                <a:r>
                  <a:rPr sz="2400" b="0">
                    <a:solidFill>
                      <a:srgbClr val="111827"/>
                    </a:solidFill>
                    <a:latin typeface="Arial"/>
                  </a:rPr>
                  <a:t> by locating the quadrant.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by </a:t>
                </a:r>
                <a:r>
                  <a:rPr lang="en-IN" sz="2400">
                    <a:solidFill>
                      <a:srgbClr val="111827"/>
                    </a:solidFill>
                    <a:latin typeface="Cambria Math" panose="02040503050406030204" pitchFamily="18" charset="0"/>
                  </a:rPr>
                  <a:t>$i$</a:t>
                </a:r>
                <a:r>
                  <a:rPr sz="2400" b="0">
                    <a:solidFill>
                      <a:srgbClr val="111827"/>
                    </a:solidFill>
                    <a:latin typeface="Arial"/>
                  </a:rPr>
                  <a:t> rotates by </a:t>
                </a:r>
                <a:r>
                  <a:rPr lang="en-IN" sz="2400">
                    <a:solidFill>
                      <a:srgbClr val="111827"/>
                    </a:solidFill>
                    <a:latin typeface="Cambria Math" panose="02040503050406030204" pitchFamily="18" charset="0"/>
                  </a:rPr>
                  <a:t>$90^\circ$</a:t>
                </a:r>
                <a:r>
                  <a:rPr sz="2400" b="0">
                    <a:solidFill>
                      <a:srgbClr val="111827"/>
                    </a:solidFill>
                    <a:latin typeface="Arial"/>
                  </a:rPr>
                  <a:t>; for </a:t>
                </a:r>
                <a:r>
                  <a:rPr lang="en-IN" sz="2400">
                    <a:solidFill>
                      <a:srgbClr val="111827"/>
                    </a:solidFill>
                    <a:latin typeface="Cambria Math" panose="02040503050406030204" pitchFamily="18" charset="0"/>
                  </a:rPr>
                  <a:t>$z=1+i$</a:t>
                </a:r>
                <a:r>
                  <a:rPr sz="2400" b="0">
                    <a:solidFill>
                      <a:srgbClr val="111827"/>
                    </a:solidFill>
                    <a:latin typeface="Arial"/>
                  </a:rPr>
                  <a:t> we get </a:t>
                </a:r>
                <a:r>
                  <a:rPr lang="en-IN" sz="2400">
                    <a:solidFill>
                      <a:srgbClr val="111827"/>
                    </a:solidFill>
                    <a:latin typeface="Cambria Math" panose="02040503050406030204" pitchFamily="18" charset="0"/>
                  </a:rPr>
                  <a:t>$\bar z=-iz$</a:t>
                </a:r>
                <a:r>
                  <a:rPr sz="2400" b="0">
                    <a:solidFill>
                      <a:srgbClr val="111827"/>
                    </a:solidFill>
                    <a:latin typeface="Arial"/>
                  </a:rPr>
                  <a:t>, i.e. </a:t>
                </a:r>
                <a:r>
                  <a:rPr lang="en-IN" sz="2400">
                    <a:solidFill>
                      <a:srgbClr val="111827"/>
                    </a:solidFill>
                    <a:latin typeface="Cambria Math" panose="02040503050406030204" pitchFamily="18" charset="0"/>
                  </a:rPr>
                  <a:t>$i\bar z=z$</a:t>
                </a:r>
                <a:r>
                  <a:rPr sz="2400" b="0">
                    <a:solidFill>
                      <a:srgbClr val="111827"/>
                    </a:solidFill>
                    <a:latin typeface="Arial"/>
                  </a:rPr>
                  <a:t>, which shortens such expressions.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$\tan^{-1}u-\tan^{-1}v=\tan^{-1}\frac{u-v}{1+uv}$</a:t>
                </a:r>
                <a:r>
                  <a:rPr sz="2400" b="0">
                    <a:solidFill>
                      <a:srgbClr val="111827"/>
                    </a:solidFill>
                    <a:latin typeface="Arial"/>
                  </a:rPr>
                  <a:t> only when the result stays in </a:t>
                </a:r>
                <a:r>
                  <a:rPr lang="en-IN" sz="2400">
                    <a:solidFill>
                      <a:srgbClr val="111827"/>
                    </a:solidFill>
                    <a:latin typeface="Cambria Math" panose="02040503050406030204" pitchFamily="18" charset="0"/>
                  </a:rPr>
                  <a:t>$(-\frac\pi2,\frac\pi2)$</a:t>
                </a:r>
                <a:r>
                  <a:rPr sz="2400" b="0">
                    <a:solidFill>
                      <a:srgbClr val="111827"/>
                    </a:solidFill>
                    <a:latin typeface="Arial"/>
                  </a:rPr>
                  <a:t>; otherwise add </a:t>
                </a:r>
                <a:r>
                  <a:rPr lang="en-IN" sz="2400">
                    <a:solidFill>
                      <a:srgbClr val="111827"/>
                    </a:solidFill>
                    <a:latin typeface="Cambria Math" panose="02040503050406030204" pitchFamily="18" charset="0"/>
                  </a:rPr>
                  <a:t>$\pm\pi$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times the digit 3 will be written when listing the integers from 1 to 1000 is ______ .</a:t>
            </a:r>
            <a:endParaRPr sz="2400">
              <a:solidFill>
                <a:srgbClr val="111827"/>
              </a:solidFill>
            </a:endParaRPr>
          </a:p>
        </p:txBody>
      </p:sp>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occurrences of a digit in a range of integers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position by position: fix the digit 3 in one place and let the other two places vary freely.</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numbers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999</m:t>
                    </m:r>
                  </m:oMath>
                </a14:m>
                <a:r>
                  <a:rPr sz="2400" b="0">
                    <a:solidFill>
                      <a:srgbClr val="111827"/>
                    </a:solidFill>
                    <a:latin typeface="Arial"/>
                  </a:rPr>
                  <a:t> as three-place strings (leading zeros add no digit 3); </a:t>
                </a:r>
                <a14:m>
                  <m:oMath xmlns:m="http://schemas.openxmlformats.org/officeDocument/2006/math">
                    <m:r>
                      <a:rPr lang="en-IN" sz="2400" i="1">
                        <a:solidFill>
                          <a:srgbClr val="111827"/>
                        </a:solidFill>
                        <a:latin typeface="Cambria Math" panose="02040503050406030204" pitchFamily="18" charset="0"/>
                      </a:rPr>
                      <m:t>1000</m:t>
                    </m:r>
                  </m:oMath>
                </a14:m>
                <a:r>
                  <a:rPr sz="2400" b="0">
                    <a:solidFill>
                      <a:srgbClr val="111827"/>
                    </a:solidFill>
                    <a:latin typeface="Arial"/>
                  </a:rPr>
                  <a:t> contains no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Units place is 3: the tens and hundreds places are free,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Tens place is 3: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numbers.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numbers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$999$</a:t>
                </a:r>
                <a:r>
                  <a:rPr sz="2400" b="0">
                    <a:solidFill>
                      <a:srgbClr val="111827"/>
                    </a:solidFill>
                    <a:latin typeface="Arial"/>
                  </a:rPr>
                  <a:t> as three-place strings (leading zeros add no digit 3); </a:t>
                </a:r>
                <a:r>
                  <a:rPr lang="en-IN" sz="2400">
                    <a:solidFill>
                      <a:srgbClr val="111827"/>
                    </a:solidFill>
                    <a:latin typeface="Cambria Math" panose="02040503050406030204" pitchFamily="18" charset="0"/>
                  </a:rPr>
                  <a:t>$1000$</a:t>
                </a:r>
                <a:r>
                  <a:rPr sz="2400" b="0">
                    <a:solidFill>
                      <a:srgbClr val="111827"/>
                    </a:solidFill>
                    <a:latin typeface="Arial"/>
                  </a:rPr>
                  <a:t> contains no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Units place is 3: the tens and hundreds places are free, </a:t>
                </a:r>
                <a:r>
                  <a:rPr lang="en-IN" sz="2400">
                    <a:solidFill>
                      <a:srgbClr val="111827"/>
                    </a:solidFill>
                    <a:latin typeface="Cambria Math" panose="02040503050406030204" pitchFamily="18" charset="0"/>
                  </a:rPr>
                  <a:t>$10\times10=100$</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Tens place is 3: </a:t>
                </a:r>
                <a:r>
                  <a:rPr lang="en-IN" sz="2400">
                    <a:solidFill>
                      <a:srgbClr val="111827"/>
                    </a:solidFill>
                    <a:latin typeface="Cambria Math" panose="02040503050406030204" pitchFamily="18" charset="0"/>
                  </a:rPr>
                  <a:t>$10\times10=100$</a:t>
                </a:r>
                <a:r>
                  <a:rPr sz="2400" b="0">
                    <a:solidFill>
                      <a:srgbClr val="111827"/>
                    </a:solidFill>
                    <a:latin typeface="Arial"/>
                  </a:rPr>
                  <a:t> numbers.</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Hundreds place is 3: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digit 3 is therefore written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times.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Hundreds place is 3: </a:t>
                </a:r>
                <a:r>
                  <a:rPr lang="en-IN" sz="2400">
                    <a:solidFill>
                      <a:srgbClr val="111827"/>
                    </a:solidFill>
                    <a:latin typeface="Cambria Math" panose="02040503050406030204" pitchFamily="18" charset="0"/>
                  </a:rPr>
                  <a:t>$10\times10=100$</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digit 3 is therefore written </a:t>
                </a:r>
                <a:r>
                  <a:rPr lang="en-IN" sz="2400">
                    <a:solidFill>
                      <a:srgbClr val="111827"/>
                    </a:solidFill>
                    <a:latin typeface="Cambria Math" panose="02040503050406030204" pitchFamily="18" charset="0"/>
                  </a:rPr>
                  <a:t>$100+100+100=300$</a:t>
                </a:r>
                <a:r>
                  <a:rPr sz="2400" b="0">
                    <a:solidFill>
                      <a:srgbClr val="111827"/>
                    </a:solidFill>
                    <a:latin typeface="Arial"/>
                  </a:rPr>
                  <a:t> times.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300</a:t>
            </a:r>
            <a:endParaRPr sz="2800">
              <a:solidFill>
                <a:srgbClr val="15803D"/>
              </a:solidFill>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Classify the strings </a:t>
                </a:r>
                <a14:m>
                  <m:oMath xmlns:m="http://schemas.openxmlformats.org/officeDocument/2006/math">
                    <m:r>
                      <a:rPr lang="en-IN" sz="2400" i="1">
                        <a:solidFill>
                          <a:srgbClr val="78350F"/>
                        </a:solidFill>
                        <a:latin typeface="Cambria Math" panose="02040503050406030204" pitchFamily="18" charset="0"/>
                      </a:rPr>
                      <m:t>000</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999</m:t>
                    </m:r>
                  </m:oMath>
                </a14:m>
                <a:r>
                  <a:rPr sz="2400" b="0">
                    <a:solidFill>
                      <a:srgbClr val="78350F"/>
                    </a:solidFill>
                    <a:latin typeface="Arial"/>
                  </a:rPr>
                  <a:t> by how many 3's they contain and add up the 3's.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Classify the strings </a:t>
                </a:r>
                <a:r>
                  <a:rPr lang="en-IN" sz="2400">
                    <a:solidFill>
                      <a:srgbClr val="78350F"/>
                    </a:solidFill>
                    <a:latin typeface="Cambria Math" panose="02040503050406030204" pitchFamily="18" charset="0"/>
                  </a:rPr>
                  <a:t>$000$</a:t>
                </a:r>
                <a:r>
                  <a:rPr sz="2400" b="0">
                    <a:solidFill>
                      <a:srgbClr val="78350F"/>
                    </a:solidFill>
                    <a:latin typeface="Arial"/>
                  </a:rPr>
                  <a:t> to </a:t>
                </a:r>
                <a:r>
                  <a:rPr lang="en-IN" sz="2400">
                    <a:solidFill>
                      <a:srgbClr val="78350F"/>
                    </a:solidFill>
                    <a:latin typeface="Cambria Math" panose="02040503050406030204" pitchFamily="18" charset="0"/>
                  </a:rPr>
                  <a:t>$999$</a:t>
                </a:r>
                <a:r>
                  <a:rPr sz="2400" b="0">
                    <a:solidFill>
                      <a:srgbClr val="78350F"/>
                    </a:solidFill>
                    <a:latin typeface="Arial"/>
                  </a:rPr>
                  <a:t> by how many 3's they contain and add up the 3's.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1000 strings </a:t>
                </a:r>
                <a14:m>
                  <m:oMath xmlns:m="http://schemas.openxmlformats.org/officeDocument/2006/math">
                    <m:r>
                      <a:rPr lang="en-IN" sz="2400" i="1">
                        <a:solidFill>
                          <a:srgbClr val="111827"/>
                        </a:solidFill>
                        <a:latin typeface="Cambria Math" panose="02040503050406030204" pitchFamily="18" charset="0"/>
                      </a:rPr>
                      <m:t>000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999</m:t>
                    </m:r>
                  </m:oMath>
                </a14:m>
                <a:r>
                  <a:rPr sz="2400" b="0">
                    <a:solidFill>
                      <a:srgbClr val="111827"/>
                    </a:solidFill>
                    <a:latin typeface="Arial"/>
                  </a:rPr>
                  <a:t> has three places; a place is a non-3 digit in 9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one 3: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strings, contributing </a:t>
                </a:r>
                <a14:m>
                  <m:oMath xmlns:m="http://schemas.openxmlformats.org/officeDocument/2006/math">
                    <m:r>
                      <a:rPr lang="en-IN" sz="2400" i="1">
                        <a:solidFill>
                          <a:srgbClr val="111827"/>
                        </a:solidFill>
                        <a:latin typeface="Cambria Math" panose="02040503050406030204" pitchFamily="18" charset="0"/>
                      </a:rPr>
                      <m:t>243</m:t>
                    </m:r>
                  </m:oMath>
                </a14:m>
                <a:r>
                  <a:rPr sz="2400" b="0">
                    <a:solidFill>
                      <a:srgbClr val="111827"/>
                    </a:solidFill>
                    <a:latin typeface="Arial"/>
                  </a:rPr>
                  <a:t> threes.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3's: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strings, contributing </a:t>
                </a:r>
                <a14:m>
                  <m:oMath xmlns:m="http://schemas.openxmlformats.org/officeDocument/2006/math">
                    <m:r>
                      <a:rPr lang="en-IN" sz="2400" i="1">
                        <a:solidFill>
                          <a:srgbClr val="111827"/>
                        </a:solidFill>
                        <a:latin typeface="Cambria Math" panose="02040503050406030204" pitchFamily="18" charset="0"/>
                      </a:rPr>
                      <m:t>54</m:t>
                    </m:r>
                  </m:oMath>
                </a14:m>
                <a:r>
                  <a:rPr sz="2400" b="0">
                    <a:solidFill>
                      <a:srgbClr val="111827"/>
                    </a:solidFill>
                    <a:latin typeface="Arial"/>
                  </a:rPr>
                  <a:t> threes.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1000 strings </a:t>
                </a:r>
                <a:r>
                  <a:rPr lang="en-IN" sz="2400">
                    <a:solidFill>
                      <a:srgbClr val="111827"/>
                    </a:solidFill>
                    <a:latin typeface="Cambria Math" panose="02040503050406030204" pitchFamily="18" charset="0"/>
                  </a:rPr>
                  <a:t>$000$</a:t>
                </a:r>
                <a:r>
                  <a:rPr sz="2400" b="0">
                    <a:solidFill>
                      <a:srgbClr val="111827"/>
                    </a:solidFill>
                    <a:latin typeface="Arial"/>
                  </a:rPr>
                  <a:t> to </a:t>
                </a:r>
                <a:r>
                  <a:rPr lang="en-IN" sz="2400">
                    <a:solidFill>
                      <a:srgbClr val="111827"/>
                    </a:solidFill>
                    <a:latin typeface="Cambria Math" panose="02040503050406030204" pitchFamily="18" charset="0"/>
                  </a:rPr>
                  <a:t>$999$</a:t>
                </a:r>
                <a:r>
                  <a:rPr sz="2400" b="0">
                    <a:solidFill>
                      <a:srgbClr val="111827"/>
                    </a:solidFill>
                    <a:latin typeface="Arial"/>
                  </a:rPr>
                  <a:t> has three places; a place is a non-3 digit in 9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one 3: </a:t>
                </a:r>
                <a:r>
                  <a:rPr lang="en-IN" sz="2400">
                    <a:solidFill>
                      <a:srgbClr val="111827"/>
                    </a:solidFill>
                    <a:latin typeface="Cambria Math" panose="02040503050406030204" pitchFamily="18" charset="0"/>
                  </a:rPr>
                  <a:t>$\binom31\cdot9^2=243$</a:t>
                </a:r>
                <a:r>
                  <a:rPr sz="2400" b="0">
                    <a:solidFill>
                      <a:srgbClr val="111827"/>
                    </a:solidFill>
                    <a:latin typeface="Arial"/>
                  </a:rPr>
                  <a:t> strings, contributing </a:t>
                </a:r>
                <a:r>
                  <a:rPr lang="en-IN" sz="2400">
                    <a:solidFill>
                      <a:srgbClr val="111827"/>
                    </a:solidFill>
                    <a:latin typeface="Cambria Math" panose="02040503050406030204" pitchFamily="18" charset="0"/>
                  </a:rPr>
                  <a:t>$243$</a:t>
                </a:r>
                <a:r>
                  <a:rPr sz="2400" b="0">
                    <a:solidFill>
                      <a:srgbClr val="111827"/>
                    </a:solidFill>
                    <a:latin typeface="Arial"/>
                  </a:rPr>
                  <a:t> threes.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3's: </a:t>
                </a:r>
                <a:r>
                  <a:rPr lang="en-IN" sz="2400">
                    <a:solidFill>
                      <a:srgbClr val="111827"/>
                    </a:solidFill>
                    <a:latin typeface="Cambria Math" panose="02040503050406030204" pitchFamily="18" charset="0"/>
                  </a:rPr>
                  <a:t>$\binom32\cdot9=27$</a:t>
                </a:r>
                <a:r>
                  <a:rPr sz="2400" b="0">
                    <a:solidFill>
                      <a:srgbClr val="111827"/>
                    </a:solidFill>
                    <a:latin typeface="Arial"/>
                  </a:rPr>
                  <a:t> strings, contributing </a:t>
                </a:r>
                <a:r>
                  <a:rPr lang="en-IN" sz="2400">
                    <a:solidFill>
                      <a:srgbClr val="111827"/>
                    </a:solidFill>
                    <a:latin typeface="Cambria Math" panose="02040503050406030204" pitchFamily="18" charset="0"/>
                  </a:rPr>
                  <a:t>$54$</a:t>
                </a:r>
                <a:r>
                  <a:rPr sz="2400" b="0">
                    <a:solidFill>
                      <a:srgbClr val="111827"/>
                    </a:solidFill>
                    <a:latin typeface="Arial"/>
                  </a:rPr>
                  <a:t> threes.</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three 3's: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string (</a:t>
                </a:r>
                <a14:m>
                  <m:oMath xmlns:m="http://schemas.openxmlformats.org/officeDocument/2006/math">
                    <m:r>
                      <a:rPr lang="en-IN" sz="2400" i="1">
                        <a:solidFill>
                          <a:srgbClr val="111827"/>
                        </a:solidFill>
                        <a:latin typeface="Cambria Math" panose="02040503050406030204" pitchFamily="18" charset="0"/>
                      </a:rPr>
                      <m:t>333</m:t>
                    </m:r>
                  </m:oMath>
                </a14:m>
                <a:r>
                  <a:rPr sz="2400" b="0">
                    <a:solidFill>
                      <a:srgbClr val="111827"/>
                    </a:solidFill>
                    <a:latin typeface="Arial"/>
                  </a:rPr>
                  <a:t>), contributing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threes.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the same answer (000 and 1000 contain no 3).</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three 3's: </a:t>
                </a:r>
                <a:r>
                  <a:rPr lang="en-IN" sz="2400">
                    <a:solidFill>
                      <a:srgbClr val="111827"/>
                    </a:solidFill>
                    <a:latin typeface="Cambria Math" panose="02040503050406030204" pitchFamily="18" charset="0"/>
                  </a:rPr>
                  <a:t>$1$</a:t>
                </a:r>
                <a:r>
                  <a:rPr sz="2400" b="0">
                    <a:solidFill>
                      <a:srgbClr val="111827"/>
                    </a:solidFill>
                    <a:latin typeface="Arial"/>
                  </a:rPr>
                  <a:t> string (</a:t>
                </a:r>
                <a:r>
                  <a:rPr lang="en-IN" sz="2400">
                    <a:solidFill>
                      <a:srgbClr val="111827"/>
                    </a:solidFill>
                    <a:latin typeface="Cambria Math" panose="02040503050406030204" pitchFamily="18" charset="0"/>
                  </a:rPr>
                  <a:t>$333$</a:t>
                </a:r>
                <a:r>
                  <a:rPr sz="2400" b="0">
                    <a:solidFill>
                      <a:srgbClr val="111827"/>
                    </a:solidFill>
                    <a:latin typeface="Arial"/>
                  </a:rPr>
                  <a:t>), contributing </a:t>
                </a:r>
                <a:r>
                  <a:rPr lang="en-IN" sz="2400">
                    <a:solidFill>
                      <a:srgbClr val="111827"/>
                    </a:solidFill>
                    <a:latin typeface="Cambria Math" panose="02040503050406030204" pitchFamily="18" charset="0"/>
                  </a:rPr>
                  <a:t>$3$</a:t>
                </a:r>
                <a:r>
                  <a:rPr sz="2400" b="0">
                    <a:solidFill>
                      <a:srgbClr val="111827"/>
                    </a:solidFill>
                    <a:latin typeface="Arial"/>
                  </a:rPr>
                  <a:t> threes.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$=243+54+3=300$</a:t>
                </a:r>
                <a:r>
                  <a:rPr sz="2400" b="0">
                    <a:solidFill>
                      <a:srgbClr val="111827"/>
                    </a:solidFill>
                    <a:latin typeface="Arial"/>
                  </a:rPr>
                  <a:t>, the same answer (000 and 1000 contain no 3).</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300</a:t>
            </a:r>
            <a:endParaRPr sz="2800">
              <a:solidFill>
                <a:srgbClr val="15803D"/>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strings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of length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each digit appears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times in total;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this is 300.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digit 0 this fails (leading zeros are not written); for a non-zero digit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 count from 1 to </a:t>
                </a:r>
                <a14:m>
                  <m:oMath xmlns:m="http://schemas.openxmlformats.org/officeDocument/2006/math">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from 1 to </a:t>
                </a:r>
                <a14:m>
                  <m:oMath xmlns:m="http://schemas.openxmlformats.org/officeDocument/2006/math">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add 1 only if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𝑘</m:t>
                        </m:r>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𝑘</m:t>
                            </m:r>
                          </m:den>
                        </m:f>
                      </m:e>
                    </m:d>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since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𝑘</m:t>
                        </m:r>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oMath>
                </a14:m>
                <a:r>
                  <a:rPr sz="2400" b="0">
                    <a:solidFill>
                      <a:srgbClr val="111827"/>
                    </a:solidFill>
                    <a:latin typeface="Arial"/>
                  </a:rPr>
                  <a:t> scaled by </a:t>
                </a:r>
                <a14:m>
                  <m:oMath xmlns:m="http://schemas.openxmlformats.org/officeDocument/2006/math">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strings </a:t>
                </a:r>
                <a:r>
                  <a:rPr lang="en-IN" sz="2400">
                    <a:solidFill>
                      <a:srgbClr val="111827"/>
                    </a:solidFill>
                    <a:latin typeface="Cambria Math" panose="02040503050406030204" pitchFamily="18" charset="0"/>
                  </a:rPr>
                  <a:t>$0\ldots0$</a:t>
                </a:r>
                <a:r>
                  <a:rPr sz="2400" b="0">
                    <a:solidFill>
                      <a:srgbClr val="111827"/>
                    </a:solidFill>
                    <a:latin typeface="Arial"/>
                  </a:rPr>
                  <a:t> to </a:t>
                </a:r>
                <a:r>
                  <a:rPr lang="en-IN" sz="2400">
                    <a:solidFill>
                      <a:srgbClr val="111827"/>
                    </a:solidFill>
                    <a:latin typeface="Cambria Math" panose="02040503050406030204" pitchFamily="18" charset="0"/>
                  </a:rPr>
                  <a:t>$9\ldots9$</a:t>
                </a:r>
                <a:r>
                  <a:rPr sz="2400" b="0">
                    <a:solidFill>
                      <a:srgbClr val="111827"/>
                    </a:solidFill>
                    <a:latin typeface="Arial"/>
                  </a:rPr>
                  <a:t> of length </a:t>
                </a:r>
                <a:r>
                  <a:rPr lang="en-IN" sz="2400">
                    <a:solidFill>
                      <a:srgbClr val="111827"/>
                    </a:solidFill>
                    <a:latin typeface="Cambria Math" panose="02040503050406030204" pitchFamily="18" charset="0"/>
                  </a:rPr>
                  <a:t>$n$</a:t>
                </a:r>
                <a:r>
                  <a:rPr sz="2400" b="0">
                    <a:solidFill>
                      <a:srgbClr val="111827"/>
                    </a:solidFill>
                    <a:latin typeface="Arial"/>
                  </a:rPr>
                  <a:t>, each digit appears </a:t>
                </a:r>
                <a:r>
                  <a:rPr lang="en-IN" sz="2400">
                    <a:solidFill>
                      <a:srgbClr val="111827"/>
                    </a:solidFill>
                    <a:latin typeface="Cambria Math" panose="02040503050406030204" pitchFamily="18" charset="0"/>
                  </a:rPr>
                  <a:t>$n\cdot10^{n-1}$</a:t>
                </a:r>
                <a:r>
                  <a:rPr sz="2400" b="0">
                    <a:solidFill>
                      <a:srgbClr val="111827"/>
                    </a:solidFill>
                    <a:latin typeface="Arial"/>
                  </a:rPr>
                  <a:t> times in total; for </a:t>
                </a:r>
                <a:r>
                  <a:rPr lang="en-IN" sz="2400">
                    <a:solidFill>
                      <a:srgbClr val="111827"/>
                    </a:solidFill>
                    <a:latin typeface="Cambria Math" panose="02040503050406030204" pitchFamily="18" charset="0"/>
                  </a:rPr>
                  <a:t>$n=3$</a:t>
                </a:r>
                <a:r>
                  <a:rPr sz="2400" b="0">
                    <a:solidFill>
                      <a:srgbClr val="111827"/>
                    </a:solidFill>
                    <a:latin typeface="Arial"/>
                  </a:rPr>
                  <a:t> this is 300.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digit 0 this fails (leading zeros are not written); for a non-zero digit </a:t>
                </a:r>
                <a:r>
                  <a:rPr lang="en-IN" sz="2400">
                    <a:solidFill>
                      <a:srgbClr val="111827"/>
                    </a:solidFill>
                    <a:latin typeface="Cambria Math" panose="02040503050406030204" pitchFamily="18" charset="0"/>
                  </a:rPr>
                  <a:t>$d$</a:t>
                </a:r>
                <a:r>
                  <a:rPr sz="2400" b="0">
                    <a:solidFill>
                      <a:srgbClr val="111827"/>
                    </a:solidFill>
                    <a:latin typeface="Arial"/>
                  </a:rPr>
                  <a:t> the count from 1 to </a:t>
                </a:r>
                <a:r>
                  <a:rPr lang="en-IN" sz="2400">
                    <a:solidFill>
                      <a:srgbClr val="111827"/>
                    </a:solidFill>
                    <a:latin typeface="Cambria Math" panose="02040503050406030204" pitchFamily="18" charset="0"/>
                  </a:rPr>
                  <a:t>$10^n-1$</a:t>
                </a:r>
                <a:r>
                  <a:rPr sz="2400" b="0">
                    <a:solidFill>
                      <a:srgbClr val="111827"/>
                    </a:solidFill>
                    <a:latin typeface="Arial"/>
                  </a:rPr>
                  <a:t> is </a:t>
                </a:r>
                <a:r>
                  <a:rPr lang="en-IN" sz="2400">
                    <a:solidFill>
                      <a:srgbClr val="111827"/>
                    </a:solidFill>
                    <a:latin typeface="Cambria Math" panose="02040503050406030204" pitchFamily="18" charset="0"/>
                  </a:rPr>
                  <a:t>$n\cdot10^{n-1}$</a:t>
                </a:r>
                <a:r>
                  <a:rPr sz="2400" b="0">
                    <a:solidFill>
                      <a:srgbClr val="111827"/>
                    </a:solidFill>
                    <a:latin typeface="Arial"/>
                  </a:rPr>
                  <a:t>, from 1 to </a:t>
                </a:r>
                <a:r>
                  <a:rPr lang="en-IN" sz="2400">
                    <a:solidFill>
                      <a:srgbClr val="111827"/>
                    </a:solidFill>
                    <a:latin typeface="Cambria Math" panose="02040503050406030204" pitchFamily="18" charset="0"/>
                  </a:rPr>
                  <a:t>$10^n$</a:t>
                </a:r>
                <a:r>
                  <a:rPr sz="2400" b="0">
                    <a:solidFill>
                      <a:srgbClr val="111827"/>
                    </a:solidFill>
                    <a:latin typeface="Arial"/>
                  </a:rPr>
                  <a:t> add 1 only if </a:t>
                </a:r>
                <a:r>
                  <a:rPr lang="en-IN" sz="2400">
                    <a:solidFill>
                      <a:srgbClr val="111827"/>
                    </a:solidFill>
                    <a:latin typeface="Cambria Math" panose="02040503050406030204" pitchFamily="18" charset="0"/>
                  </a:rPr>
                  <a:t>$d=1$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$\sum_k k\binom3k9^{3-k}=3\cdot100=300$</a:t>
                </a:r>
                <a:r>
                  <a:rPr sz="2400" b="0">
                    <a:solidFill>
                      <a:srgbClr val="111827"/>
                    </a:solidFill>
                    <a:latin typeface="Arial"/>
                  </a:rPr>
                  <a:t>, since </a:t>
                </a:r>
                <a:r>
                  <a:rPr lang="en-IN" sz="2400">
                    <a:solidFill>
                      <a:srgbClr val="111827"/>
                    </a:solidFill>
                    <a:latin typeface="Cambria Math" panose="02040503050406030204" pitchFamily="18" charset="0"/>
                  </a:rPr>
                  <a:t>$\sum_k k\binom nk p^kq^{n-k}=np$</a:t>
                </a:r>
                <a:r>
                  <a:rPr sz="2400" b="0">
                    <a:solidFill>
                      <a:srgbClr val="111827"/>
                    </a:solidFill>
                    <a:latin typeface="Arial"/>
                  </a:rPr>
                  <a:t> scaled by </a:t>
                </a:r>
                <a:r>
                  <a:rPr lang="en-IN" sz="2400">
                    <a:solidFill>
                      <a:srgbClr val="111827"/>
                    </a:solidFill>
                    <a:latin typeface="Cambria Math" panose="02040503050406030204" pitchFamily="18" charset="0"/>
                  </a:rPr>
                  <a:t>$10^3$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e>
                        </m:d>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greatest common divisor of the least values of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______ .</a:t>
                </a:r>
                <a:endParaRPr sz="2400">
                  <a:solidFill>
                    <a:srgbClr val="111827"/>
                  </a:solidFill>
                </a:endParaRPr>
              </a:p>
            </p:txBody>
          </p:sp>
        </mc:Choice>
        <mc:Fallback>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$\left(\frac{1+i}{1-i}\right)^{m/2}=\left(\frac{1+i}{i-1}\right)^{n/3}=1$</a:t>
                </a:r>
                <a:r>
                  <a:rPr sz="2400" b="0">
                    <a:solidFill>
                      <a:srgbClr val="111827"/>
                    </a:solidFill>
                    <a:latin typeface="Arial"/>
                  </a:rPr>
                  <a:t>, </a:t>
                </a:r>
                <a:r>
                  <a:rPr lang="en-IN" sz="2400">
                    <a:solidFill>
                      <a:srgbClr val="111827"/>
                    </a:solidFill>
                    <a:latin typeface="Cambria Math" panose="02040503050406030204" pitchFamily="18" charset="0"/>
                  </a:rPr>
                  <a:t>$(m,n\in\mathbb N)$</a:t>
                </a:r>
                <a:r>
                  <a:rPr sz="2400" b="0">
                    <a:solidFill>
                      <a:srgbClr val="111827"/>
                    </a:solidFill>
                    <a:latin typeface="Arial"/>
                  </a:rPr>
                  <a:t>, then the greatest common divisor of the least values of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is ______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3644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Powers of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and periodicity, G.C.D. of two integers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3644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Powers of </a:t>
                </a:r>
                <a:r>
                  <a:rPr lang="en-IN" sz="2400">
                    <a:solidFill>
                      <a:srgbClr val="111827"/>
                    </a:solidFill>
                    <a:latin typeface="Cambria Math" panose="02040503050406030204" pitchFamily="18" charset="0"/>
                  </a:rPr>
                  <a:t>$i$</a:t>
                </a:r>
                <a:r>
                  <a:rPr sz="2400" b="0">
                    <a:solidFill>
                      <a:srgbClr val="111827"/>
                    </a:solidFill>
                    <a:latin typeface="Arial"/>
                  </a:rPr>
                  <a:t> and periodicity, G.C.D. of two integers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 and both have order 4, so the exponents must be multiples of 4.</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$\frac{1+i}{1-i}=i$</a:t>
                </a:r>
                <a:r>
                  <a:rPr sz="2400" b="0">
                    <a:solidFill>
                      <a:srgbClr val="78350F"/>
                    </a:solidFill>
                    <a:latin typeface="Arial"/>
                  </a:rPr>
                  <a:t> and </a:t>
                </a:r>
                <a:r>
                  <a:rPr lang="en-IN" sz="2400">
                    <a:solidFill>
                      <a:srgbClr val="78350F"/>
                    </a:solidFill>
                    <a:latin typeface="Cambria Math" panose="02040503050406030204" pitchFamily="18" charset="0"/>
                  </a:rPr>
                  <a:t>$\frac{1+i}{i-1}=-i$</a:t>
                </a:r>
                <a:r>
                  <a:rPr sz="2400" b="0">
                    <a:solidFill>
                      <a:srgbClr val="78350F"/>
                    </a:solidFill>
                    <a:latin typeface="Arial"/>
                  </a:rPr>
                  <a:t>, and both have order 4, so the exponents must be multiples of 4.</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becomes </a:t>
                </a: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 multiple of 4, and the same holds for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a multiple of 4: least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$\frac{1+i}{1-i}=\frac{(1+i)^2}{2}=i$</a:t>
                </a:r>
                <a:r>
                  <a:rPr sz="2400" b="0">
                    <a:solidFill>
                      <a:srgbClr val="111827"/>
                    </a:solidFill>
                    <a:latin typeface="Arial"/>
                  </a:rPr>
                  <a:t> and </a:t>
                </a:r>
                <a:r>
                  <a:rPr lang="en-IN" sz="2400">
                    <a:solidFill>
                      <a:srgbClr val="111827"/>
                    </a:solidFill>
                    <a:latin typeface="Cambria Math" panose="02040503050406030204" pitchFamily="18" charset="0"/>
                  </a:rPr>
                  <a:t>$\frac{1+i}{i-1}=\frac{1+i}{-1+i}=-i$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becomes </a:t>
                </a:r>
                <a:r>
                  <a:rPr lang="en-IN" sz="2400">
                    <a:solidFill>
                      <a:srgbClr val="111827"/>
                    </a:solidFill>
                    <a:latin typeface="Cambria Math" panose="02040503050406030204" pitchFamily="18" charset="0"/>
                  </a:rPr>
                  <a:t>$i^{m/2}=(-i)^{n/3}=1$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$i^{k}=1$</a:t>
                </a:r>
                <a:r>
                  <a:rPr sz="2400" b="0">
                    <a:solidFill>
                      <a:srgbClr val="111827"/>
                    </a:solidFill>
                    <a:latin typeface="Arial"/>
                  </a:rPr>
                  <a:t> exactly when </a:t>
                </a:r>
                <a:r>
                  <a:rPr lang="en-IN" sz="2400">
                    <a:solidFill>
                      <a:srgbClr val="111827"/>
                    </a:solidFill>
                    <a:latin typeface="Cambria Math" panose="02040503050406030204" pitchFamily="18" charset="0"/>
                  </a:rPr>
                  <a:t>$k$</a:t>
                </a:r>
                <a:r>
                  <a:rPr sz="2400" b="0">
                    <a:solidFill>
                      <a:srgbClr val="111827"/>
                    </a:solidFill>
                    <a:latin typeface="Arial"/>
                  </a:rPr>
                  <a:t> is a multiple of 4, and the same holds for </a:t>
                </a:r>
                <a:r>
                  <a:rPr lang="en-IN" sz="2400">
                    <a:solidFill>
                      <a:srgbClr val="111827"/>
                    </a:solidFill>
                    <a:latin typeface="Cambria Math" panose="02040503050406030204" pitchFamily="18" charset="0"/>
                  </a:rPr>
                  <a:t>$(-i)^k$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 m2$</a:t>
                </a:r>
                <a:r>
                  <a:rPr sz="2400" b="0">
                    <a:solidFill>
                      <a:srgbClr val="111827"/>
                    </a:solidFill>
                    <a:latin typeface="Arial"/>
                  </a:rPr>
                  <a:t> is a multiple of 4: least </a:t>
                </a:r>
                <a:r>
                  <a:rPr lang="en-IN" sz="2400">
                    <a:solidFill>
                      <a:srgbClr val="111827"/>
                    </a:solidFill>
                    <a:latin typeface="Cambria Math" panose="02040503050406030204" pitchFamily="18" charset="0"/>
                  </a:rPr>
                  <a:t>$m=8$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a multiple of 4: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exponents are taken as real powers with the principal value, </a:t>
                </a: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which equals 1 only when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consistent with the above.)</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And </a:t>
                </a:r>
                <a:r>
                  <a:rPr lang="en-IN" sz="2400">
                    <a:solidFill>
                      <a:srgbClr val="111827"/>
                    </a:solidFill>
                    <a:latin typeface="Cambria Math" panose="02040503050406030204" pitchFamily="18" charset="0"/>
                  </a:rPr>
                  <a:t>$\frac n3$</a:t>
                </a:r>
                <a:r>
                  <a:rPr sz="2400" b="0">
                    <a:solidFill>
                      <a:srgbClr val="111827"/>
                    </a:solidFill>
                    <a:latin typeface="Arial"/>
                  </a:rPr>
                  <a:t> is a multiple of 4: least </a:t>
                </a:r>
                <a:r>
                  <a:rPr lang="en-IN" sz="2400">
                    <a:solidFill>
                      <a:srgbClr val="111827"/>
                    </a:solidFill>
                    <a:latin typeface="Cambria Math" panose="02040503050406030204" pitchFamily="18" charset="0"/>
                  </a:rPr>
                  <a:t>$n=12$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$\gcd(8,12)=4$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exponents are taken as real powers with the principal value, </a:t>
                </a:r>
                <a:r>
                  <a:rPr lang="en-IN" sz="2400">
                    <a:solidFill>
                      <a:srgbClr val="111827"/>
                    </a:solidFill>
                    <a:latin typeface="Cambria Math" panose="02040503050406030204" pitchFamily="18" charset="0"/>
                  </a:rPr>
                  <a:t>$i^{m/2}=e^{i\pi m/4}$</a:t>
                </a:r>
                <a:r>
                  <a:rPr sz="2400" b="0">
                    <a:solidFill>
                      <a:srgbClr val="111827"/>
                    </a:solidFill>
                    <a:latin typeface="Arial"/>
                  </a:rPr>
                  <a:t>, which equals 1 only when </a:t>
                </a:r>
                <a:r>
                  <a:rPr lang="en-IN" sz="2400">
                    <a:solidFill>
                      <a:srgbClr val="111827"/>
                    </a:solidFill>
                    <a:latin typeface="Cambria Math" panose="02040503050406030204" pitchFamily="18" charset="0"/>
                  </a:rPr>
                  <a:t>$8\mid m$</a:t>
                </a:r>
                <a:r>
                  <a:rPr sz="2400" b="0">
                    <a:solidFill>
                      <a:srgbClr val="111827"/>
                    </a:solidFill>
                    <a:latin typeface="Arial"/>
                  </a:rPr>
                  <a:t>, consistent with the above.)</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polar form: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oMath>
                </a14:m>
                <a:r>
                  <a:rPr sz="2400" b="0">
                    <a:solidFill>
                      <a:srgbClr val="78350F"/>
                    </a:solidFill>
                    <a:latin typeface="Arial"/>
                  </a:rPr>
                  <a:t>, so each condition is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θ</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i.e. </a:t>
                </a:r>
                <a14:m>
                  <m:oMath xmlns:m="http://schemas.openxmlformats.org/officeDocument/2006/math">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π</m:t>
                    </m:r>
                    <m:r>
                      <m:rPr>
                        <m:scr m:val="double-struck"/>
                        <m:sty m:val="p"/>
                      </m:rPr>
                      <a:rPr lang="en-IN" sz="2400">
                        <a:solidFill>
                          <a:srgbClr val="78350F"/>
                        </a:solidFill>
                        <a:latin typeface="Cambria Math" panose="02040503050406030204" pitchFamily="18" charset="0"/>
                      </a:rPr>
                      <m:t>Z</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polar form: </a:t>
                </a:r>
                <a:r>
                  <a:rPr lang="en-IN" sz="2400">
                    <a:solidFill>
                      <a:srgbClr val="78350F"/>
                    </a:solidFill>
                    <a:latin typeface="Cambria Math" panose="02040503050406030204" pitchFamily="18" charset="0"/>
                  </a:rPr>
                  <a:t>$\frac{1+i}{1-i}=e^{i\pi/2}$</a:t>
                </a:r>
                <a:r>
                  <a:rPr sz="2400" b="0">
                    <a:solidFill>
                      <a:srgbClr val="78350F"/>
                    </a:solidFill>
                    <a:latin typeface="Arial"/>
                  </a:rPr>
                  <a:t> and </a:t>
                </a:r>
                <a:r>
                  <a:rPr lang="en-IN" sz="2400">
                    <a:solidFill>
                      <a:srgbClr val="78350F"/>
                    </a:solidFill>
                    <a:latin typeface="Cambria Math" panose="02040503050406030204" pitchFamily="18" charset="0"/>
                  </a:rPr>
                  <a:t>$\frac{1+i}{i-1}=e^{-i\pi/2}$</a:t>
                </a:r>
                <a:r>
                  <a:rPr sz="2400" b="0">
                    <a:solidFill>
                      <a:srgbClr val="78350F"/>
                    </a:solidFill>
                    <a:latin typeface="Arial"/>
                  </a:rPr>
                  <a:t>, so each condition is </a:t>
                </a:r>
                <a:r>
                  <a:rPr lang="en-IN" sz="2400">
                    <a:solidFill>
                      <a:srgbClr val="78350F"/>
                    </a:solidFill>
                    <a:latin typeface="Cambria Math" panose="02040503050406030204" pitchFamily="18" charset="0"/>
                  </a:rPr>
                  <a:t>$e^{i\theta}=1$</a:t>
                </a:r>
                <a:r>
                  <a:rPr sz="2400" b="0">
                    <a:solidFill>
                      <a:srgbClr val="78350F"/>
                    </a:solidFill>
                    <a:latin typeface="Arial"/>
                  </a:rPr>
                  <a:t>, i.e. </a:t>
                </a:r>
                <a:r>
                  <a:rPr lang="en-IN" sz="2400">
                    <a:solidFill>
                      <a:srgbClr val="78350F"/>
                    </a:solidFill>
                    <a:latin typeface="Cambria Math" panose="02040503050406030204" pitchFamily="18" charset="0"/>
                  </a:rPr>
                  <a:t>$\theta\in2\pi\mathbb Z$</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arg</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modulus 1, so it is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𝑡</m:t>
                    </m:r>
                  </m:oMath>
                </a14:m>
                <a:r>
                  <a:rPr sz="2400" b="0">
                    <a:solidFill>
                      <a:srgbClr val="111827"/>
                    </a:solidFill>
                    <a:latin typeface="Arial"/>
                  </a:rPr>
                  <a:t>: least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$\arg\frac{1+i}{1-i}=\frac\pi4-\left(-\frac\pi4\right)=\frac\pi2$</a:t>
                </a:r>
                <a:r>
                  <a:rPr sz="2400" b="0">
                    <a:solidFill>
                      <a:srgbClr val="111827"/>
                    </a:solidFill>
                    <a:latin typeface="Arial"/>
                  </a:rPr>
                  <a:t> and modulus 1, so it is </a:t>
                </a:r>
                <a:r>
                  <a:rPr lang="en-IN" sz="2400">
                    <a:solidFill>
                      <a:srgbClr val="111827"/>
                    </a:solidFill>
                    <a:latin typeface="Cambria Math" panose="02040503050406030204" pitchFamily="18" charset="0"/>
                  </a:rPr>
                  <a:t>$e^{i\pi/2}$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$e^{i\pi m/4}=1\iff\frac{\pi m}{4}=2\pi t\iff m=8t$</a:t>
                </a:r>
                <a:r>
                  <a:rPr sz="2400" b="0">
                    <a:solidFill>
                      <a:srgbClr val="111827"/>
                    </a:solidFill>
                    <a:latin typeface="Arial"/>
                  </a:rPr>
                  <a:t>: least </a:t>
                </a:r>
                <a:r>
                  <a:rPr lang="en-IN" sz="2400">
                    <a:solidFill>
                      <a:srgbClr val="111827"/>
                    </a:solidFill>
                    <a:latin typeface="Cambria Math" panose="02040503050406030204" pitchFamily="18" charset="0"/>
                  </a:rPr>
                  <a:t>$m=8$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arg</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the base is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𝑠</m:t>
                    </m:r>
                  </m:oMath>
                </a14:m>
                <a:r>
                  <a:rPr sz="2400" b="0">
                    <a:solidFill>
                      <a:srgbClr val="111827"/>
                    </a:solidFill>
                    <a:latin typeface="Arial"/>
                  </a:rPr>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$\arg\frac{1+i}{i-1}=\frac\pi4-\frac{3\pi}4=-\frac\pi2$</a:t>
                </a:r>
                <a:r>
                  <a:rPr sz="2400" b="0">
                    <a:solidFill>
                      <a:srgbClr val="111827"/>
                    </a:solidFill>
                    <a:latin typeface="Arial"/>
                  </a:rPr>
                  <a:t>, so the base is </a:t>
                </a:r>
                <a:r>
                  <a:rPr lang="en-IN" sz="2400">
                    <a:solidFill>
                      <a:srgbClr val="111827"/>
                    </a:solidFill>
                    <a:latin typeface="Cambria Math" panose="02040503050406030204" pitchFamily="18" charset="0"/>
                  </a:rPr>
                  <a:t>$e^{-i\pi/2}$</a:t>
                </a:r>
                <a:r>
                  <a:rPr sz="2400" b="0">
                    <a:solidFill>
                      <a:srgbClr val="111827"/>
                    </a:solidFill>
                    <a:latin typeface="Arial"/>
                  </a:rPr>
                  <a:t> and </a:t>
                </a:r>
                <a:r>
                  <a:rPr lang="en-IN" sz="2400">
                    <a:solidFill>
                      <a:srgbClr val="111827"/>
                    </a:solidFill>
                    <a:latin typeface="Cambria Math" panose="02040503050406030204" pitchFamily="18" charset="0"/>
                  </a:rPr>
                  <a:t>$e^{-i\pi n/6}=1\iff n=12s$</a:t>
                </a:r>
                <a:r>
                  <a:rPr sz="2400" b="0">
                    <a:solidFill>
                      <a:srgbClr val="111827"/>
                    </a:solidFill>
                    <a:latin typeface="Arial"/>
                  </a:rPr>
                  <a:t>: least </a:t>
                </a:r>
                <a:r>
                  <a:rPr lang="en-IN" sz="2400">
                    <a:solidFill>
                      <a:srgbClr val="111827"/>
                    </a:solidFill>
                    <a:latin typeface="Cambria Math" panose="02040503050406030204" pitchFamily="18" charset="0"/>
                  </a:rPr>
                  <a:t>$n=12$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$\gcd(8,12)=4$</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a:t>
            </a:r>
            <a:endParaRPr sz="2800">
              <a:solidFill>
                <a:srgbClr val="15803D"/>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the least positive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the order of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oMath>
                </a14:m>
                <a:r>
                  <a:rPr sz="2400" b="0">
                    <a:solidFill>
                      <a:srgbClr val="111827"/>
                    </a:solidFill>
                    <a:latin typeface="Arial"/>
                  </a:rPr>
                  <a:t> in lowest terms, the order is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non-integer exponent, specify the branch (principal value); the condition then becomes one on the argument.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$\frac{1+i}{1-i}=i$</a:t>
                </a:r>
                <a:r>
                  <a:rPr sz="2400" b="0">
                    <a:solidFill>
                      <a:srgbClr val="111827"/>
                    </a:solidFill>
                    <a:latin typeface="Arial"/>
                  </a:rPr>
                  <a:t>, </a:t>
                </a:r>
                <a:r>
                  <a:rPr lang="en-IN" sz="2400">
                    <a:solidFill>
                      <a:srgbClr val="111827"/>
                    </a:solidFill>
                    <a:latin typeface="Cambria Math" panose="02040503050406030204" pitchFamily="18" charset="0"/>
                  </a:rPr>
                  <a:t>$\frac{1-i}{1+i}=-i$</a:t>
                </a:r>
                <a:r>
                  <a:rPr sz="2400" b="0">
                    <a:solidFill>
                      <a:srgbClr val="111827"/>
                    </a:solidFill>
                    <a:latin typeface="Arial"/>
                  </a:rPr>
                  <a:t>; </a:t>
                </a:r>
                <a:r>
                  <a:rPr lang="en-IN" sz="2400">
                    <a:solidFill>
                      <a:srgbClr val="111827"/>
                    </a:solidFill>
                    <a:latin typeface="Cambria Math" panose="02040503050406030204" pitchFamily="18" charset="0"/>
                  </a:rPr>
                  <a:t>$i^k=1\iff 4\mid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$e^{i\theta}=1\iff\theta\in2\pi\mathbb Z$</a:t>
                </a:r>
                <a:r>
                  <a:rPr sz="2400" b="0">
                    <a:solidFill>
                      <a:srgbClr val="111827"/>
                    </a:solidFill>
                    <a:latin typeface="Arial"/>
                  </a:rPr>
                  <a:t>; </a:t>
                </a:r>
                <a:r>
                  <a:rPr lang="en-IN" sz="2400">
                    <a:solidFill>
                      <a:srgbClr val="111827"/>
                    </a:solidFill>
                    <a:latin typeface="Cambria Math" panose="02040503050406030204" pitchFamily="18" charset="0"/>
                  </a:rPr>
                  <a:t>$z^k=1$</a:t>
                </a:r>
                <a:r>
                  <a:rPr sz="2400" b="0">
                    <a:solidFill>
                      <a:srgbClr val="111827"/>
                    </a:solidFill>
                    <a:latin typeface="Arial"/>
                  </a:rPr>
                  <a:t> for the least positive </a:t>
                </a:r>
                <a:r>
                  <a:rPr lang="en-IN" sz="2400">
                    <a:solidFill>
                      <a:srgbClr val="111827"/>
                    </a:solidFill>
                    <a:latin typeface="Cambria Math" panose="02040503050406030204" pitchFamily="18" charset="0"/>
                  </a:rPr>
                  <a:t>$k$</a:t>
                </a:r>
                <a:r>
                  <a:rPr sz="2400" b="0">
                    <a:solidFill>
                      <a:srgbClr val="111827"/>
                    </a:solidFill>
                    <a:latin typeface="Arial"/>
                  </a:rPr>
                  <a:t> means </a:t>
                </a:r>
                <a:r>
                  <a:rPr lang="en-IN" sz="2400">
                    <a:solidFill>
                      <a:srgbClr val="111827"/>
                    </a:solidFill>
                    <a:latin typeface="Cambria Math" panose="02040503050406030204" pitchFamily="18" charset="0"/>
                  </a:rPr>
                  <a:t>$k$</a:t>
                </a:r>
                <a:r>
                  <a:rPr sz="2400" b="0">
                    <a:solidFill>
                      <a:srgbClr val="111827"/>
                    </a:solidFill>
                    <a:latin typeface="Arial"/>
                  </a:rPr>
                  <a:t> is the order of </a:t>
                </a:r>
                <a:r>
                  <a:rPr lang="en-IN" sz="2400">
                    <a:solidFill>
                      <a:srgbClr val="111827"/>
                    </a:solidFill>
                    <a:latin typeface="Cambria Math" panose="02040503050406030204" pitchFamily="18" charset="0"/>
                  </a:rPr>
                  <a:t>$z$</a:t>
                </a:r>
                <a:r>
                  <a:rPr sz="2400" b="0">
                    <a:solidFill>
                      <a:srgbClr val="111827"/>
                    </a:solidFill>
                    <a:latin typeface="Arial"/>
                  </a:rPr>
                  <a:t> (for </a:t>
                </a:r>
                <a:r>
                  <a:rPr lang="en-IN" sz="2400">
                    <a:solidFill>
                      <a:srgbClr val="111827"/>
                    </a:solidFill>
                    <a:latin typeface="Cambria Math" panose="02040503050406030204" pitchFamily="18" charset="0"/>
                  </a:rPr>
                  <a:t>$z=e^{2\pi i p/q}$</a:t>
                </a:r>
                <a:r>
                  <a:rPr sz="2400" b="0">
                    <a:solidFill>
                      <a:srgbClr val="111827"/>
                    </a:solidFill>
                    <a:latin typeface="Arial"/>
                  </a:rPr>
                  <a:t> in lowest terms, the order is </a:t>
                </a:r>
                <a:r>
                  <a:rPr lang="en-IN" sz="2400">
                    <a:solidFill>
                      <a:srgbClr val="111827"/>
                    </a:solidFill>
                    <a:latin typeface="Cambria Math" panose="02040503050406030204" pitchFamily="18" charset="0"/>
                  </a:rPr>
                  <a:t>$q$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non-integer exponent, specify the branch (principal value); the condition then becomes one on the argument.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series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20</m:t>
                        </m:r>
                      </m:sub>
                    </m:sSub>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series </a:t>
                </a:r>
                <a:r>
                  <a:rPr lang="en-IN" sz="2400">
                    <a:solidFill>
                      <a:srgbClr val="111827"/>
                    </a:solidFill>
                    <a:latin typeface="Cambria Math" panose="02040503050406030204" pitchFamily="18" charset="0"/>
                  </a:rPr>
                  <a:t>$2\times1\times{}^{20}C_4-3\times2\times{}^{20}C_5+4\times3\times{}^{20}C_6-5\times4\times{}^{20}C_7+\dots+18\times17\times{}^{20}C_{20}$</a:t>
                </a:r>
                <a:r>
                  <a:rPr sz="2400" b="0">
                    <a:solidFill>
                      <a:srgbClr val="111827"/>
                    </a:solidFill>
                    <a:latin typeface="Arial"/>
                  </a:rPr>
                  <a:t> is equal to ______ .</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series with binomial coefficients and alternating signs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powers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20</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19</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e>
                    </m:d>
                  </m:oMath>
                </a14:m>
                <a:r>
                  <a:rPr sz="2400" b="0">
                    <a:solidFill>
                      <a:srgbClr val="78350F"/>
                    </a:solidFill>
                    <a:latin typeface="Arial"/>
                  </a:rPr>
                  <a:t> to shift to alternating sums of binomial coefficients.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$r(r+1)$</a:t>
                </a:r>
                <a:r>
                  <a:rPr sz="2400" b="0">
                    <a:solidFill>
                      <a:srgbClr val="78350F"/>
                    </a:solidFill>
                    <a:latin typeface="Arial"/>
                  </a:rPr>
                  <a:t> in powers of </a:t>
                </a:r>
                <a:r>
                  <a:rPr lang="en-IN" sz="2400">
                    <a:solidFill>
                      <a:srgbClr val="78350F"/>
                    </a:solidFill>
                    <a:latin typeface="Cambria Math" panose="02040503050406030204" pitchFamily="18" charset="0"/>
                  </a:rPr>
                  <a:t>$(r+3)$</a:t>
                </a:r>
                <a:r>
                  <a:rPr sz="2400" b="0">
                    <a:solidFill>
                      <a:srgbClr val="78350F"/>
                    </a:solidFill>
                    <a:latin typeface="Arial"/>
                  </a:rPr>
                  <a:t> and use </a:t>
                </a:r>
                <a:r>
                  <a:rPr lang="en-IN" sz="2400">
                    <a:solidFill>
                      <a:srgbClr val="78350F"/>
                    </a:solidFill>
                    <a:latin typeface="Cambria Math" panose="02040503050406030204" pitchFamily="18" charset="0"/>
                  </a:rPr>
                  <a:t>$(r+3)\binom{20}{r+3}=20\binom{19}{r+2}$</a:t>
                </a:r>
                <a:r>
                  <a:rPr sz="2400" b="0">
                    <a:solidFill>
                      <a:srgbClr val="78350F"/>
                    </a:solidFill>
                    <a:latin typeface="Arial"/>
                  </a:rPr>
                  <a:t> to shift to alternating sums of binomial coefficients.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call the sum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...(ii)</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r>
                  <a:rPr lang="en-IN" sz="2400">
                    <a:solidFill>
                      <a:srgbClr val="111827"/>
                    </a:solidFill>
                    <a:latin typeface="Cambria Math" panose="02040503050406030204" pitchFamily="18" charset="0"/>
                  </a:rPr>
                  <a:t>$(-1)^{r+1}\,r(r+1)\,{}^{20}C_{r+3}$</a:t>
                </a:r>
                <a:r>
                  <a:rPr sz="2400" b="0">
                    <a:solidFill>
                      <a:srgbClr val="111827"/>
                    </a:solidFill>
                    <a:latin typeface="Arial"/>
                  </a:rPr>
                  <a:t> for </a:t>
                </a:r>
                <a:r>
                  <a:rPr lang="en-IN" sz="2400">
                    <a:solidFill>
                      <a:srgbClr val="111827"/>
                    </a:solidFill>
                    <a:latin typeface="Cambria Math" panose="02040503050406030204" pitchFamily="18" charset="0"/>
                  </a:rPr>
                  <a:t>$r=1,\dots,17$</a:t>
                </a:r>
                <a:r>
                  <a:rPr sz="2400" b="0">
                    <a:solidFill>
                      <a:srgbClr val="111827"/>
                    </a:solidFill>
                    <a:latin typeface="Arial"/>
                  </a:rPr>
                  <a:t>; call the sum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$r(r+1)=(r+3-3)(r+3-2)=(r+3)^2-5(r+3)+6$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$(r+3)\,{}^{20}C_{r+3}=20\,{}^{19}C_{r+2}$</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$(r+3)^2\,{}^{20}C_{r+3}=20(r+3)\,{}^{19}C_{r+2}=20\left[(r+2)+1\right]{}^{19}C_{r+2}=380\,{}^{18}C_{r+1}+20\,{}^{19}C_{r+2}$</a:t>
                </a:r>
                <a:r>
                  <a:rPr sz="2400" b="0">
                    <a:solidFill>
                      <a:srgbClr val="111827"/>
                    </a:solidFill>
                    <a:latin typeface="Arial"/>
                  </a:rPr>
                  <a:t> ...(ii)</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380</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18</m:t>
                            </m:r>
                          </m:sub>
                        </m:sSub>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19</m:t>
                            </m:r>
                          </m:sub>
                        </m:sSub>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20</m:t>
                            </m:r>
                          </m:sub>
                        </m:sSub>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alternating sum is completed using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first bracket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 with </a:t>
                </a:r>
                <a:r>
                  <a:rPr lang="en-IN" sz="2400">
                    <a:solidFill>
                      <a:srgbClr val="111827"/>
                    </a:solidFill>
                    <a:latin typeface="Cambria Math" panose="02040503050406030204" pitchFamily="18" charset="0"/>
                  </a:rPr>
                  <a:t>$(r+3)^2-5(r+3)+6$</a:t>
                </a:r>
                <a:r>
                  <a:rPr sz="2400" b="0">
                    <a:solidFill>
                      <a:srgbClr val="111827"/>
                    </a:solidFill>
                    <a:latin typeface="Arial"/>
                  </a:rPr>
                  <a:t>: </a:t>
                </a:r>
                <a:r>
                  <a:rPr lang="en-IN" sz="2400">
                    <a:solidFill>
                      <a:srgbClr val="111827"/>
                    </a:solidFill>
                    <a:latin typeface="Cambria Math" panose="02040503050406030204" pitchFamily="18" charset="0"/>
                  </a:rPr>
                  <a:t>$r(r+1)\,{}^{20}C_{r+3}=380\,{}^{18}C_{r+1}+20\,{}^{19}C_{r+2}-100\,{}^{19}C_{r+2}+6\,{}^{20}C_{r+3}=380\,{}^{18}C_{r+1}-80\,{}^{19}C_{r+2}+6\,{}^{20}C_{r+3}$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$p=380\left({}^{18}C_2-{}^{18}C_3+\dots+{}^{18}C_{18}\right)-80\left({}^{19}C_3-{}^{19}C_4+\dots+{}^{19}C_{19}\right)+6\left({}^{20}C_4-{}^{20}C_5+\dots+{}^{20}C_{20}\right)$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alternating sum is completed using </a:t>
                </a:r>
                <a:r>
                  <a:rPr lang="en-IN" sz="2400">
                    <a:solidFill>
                      <a:srgbClr val="111827"/>
                    </a:solidFill>
                    <a:latin typeface="Cambria Math" panose="02040503050406030204" pitchFamily="18" charset="0"/>
                  </a:rPr>
                  <a:t>$\sum(-1)^j{}^nC_j=0$</a:t>
                </a:r>
                <a:r>
                  <a:rPr sz="2400" b="0">
                    <a:solidFill>
                      <a:srgbClr val="111827"/>
                    </a:solidFill>
                    <a:latin typeface="Arial"/>
                  </a:rPr>
                  <a:t>: first bracket </a:t>
                </a:r>
                <a:r>
                  <a:rPr lang="en-IN" sz="2400">
                    <a:solidFill>
                      <a:srgbClr val="111827"/>
                    </a:solidFill>
                    <a:latin typeface="Cambria Math" panose="02040503050406030204" pitchFamily="18" charset="0"/>
                  </a:rPr>
                  <a:t>$={}^{18}C_1-{}^{18}C_0=17$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Second bracket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bracket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Second bracket </a:t>
                </a:r>
                <a:r>
                  <a:rPr lang="en-IN" sz="2400">
                    <a:solidFill>
                      <a:srgbClr val="111827"/>
                    </a:solidFill>
                    <a:latin typeface="Cambria Math" panose="02040503050406030204" pitchFamily="18" charset="0"/>
                  </a:rPr>
                  <a:t>$={}^{19}C_0-{}^{19}C_1+{}^{19}C_2=1-19+171=153$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bracket </a:t>
                </a:r>
                <a:r>
                  <a:rPr lang="en-IN" sz="2400">
                    <a:solidFill>
                      <a:srgbClr val="111827"/>
                    </a:solidFill>
                    <a:latin typeface="Cambria Math" panose="02040503050406030204" pitchFamily="18" charset="0"/>
                  </a:rPr>
                  <a:t>$=-{}^{20}C_0+{}^{20}C_1-{}^{20}C_2+{}^{20}C_3=-1+20-190+1140=969$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$p=380(17)-80(153)+6(969)=6460-12240+5814=34$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34</a:t>
            </a:r>
            <a:endParaRPr sz="2800">
              <a:solidFill>
                <a:srgbClr val="15803D"/>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Finite-difference identity: </a:t>
                </a:r>
                <a14:m>
                  <m:oMath xmlns:m="http://schemas.openxmlformats.org/officeDocument/2006/math">
                    <m:nary>
                      <m:naryPr>
                        <m:chr m:val="∑"/>
                        <m:limLoc m:val="undOvr"/>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𝑗</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sub>
                      <m:sup>
                        <m:r>
                          <a:rPr lang="en-IN" sz="2400" i="1">
                            <a:solidFill>
                              <a:srgbClr val="78350F"/>
                            </a:solidFill>
                            <a:latin typeface="Cambria Math" panose="02040503050406030204" pitchFamily="18" charset="0"/>
                          </a:rPr>
                          <m:t>𝑛</m:t>
                        </m:r>
                      </m:sup>
                      <m:e>
                        <m:r>
                          <m:rPr>
                            <m:sty m:val="p"/>
                          </m:rPr>
                          <a:rPr lang="en-IN" sz="2400">
                            <a:solidFill>
                              <a:srgbClr val="78350F"/>
                            </a:solidFill>
                            <a:latin typeface="Cambria Math" panose="02040503050406030204" pitchFamily="18" charset="0"/>
                          </a:rPr>
                          <m:t>(</m:t>
                        </m:r>
                      </m:e>
                    </m:nary>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𝑗</m:t>
                        </m:r>
                      </m:sup>
                    </m:sSup>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𝑗</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𝑗</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 any polynomial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of degree </a:t>
                </a:r>
                <a14:m>
                  <m:oMath xmlns:m="http://schemas.openxmlformats.org/officeDocument/2006/math">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𝑛</m:t>
                    </m:r>
                  </m:oMath>
                </a14:m>
                <a:r>
                  <a:rPr sz="2400" b="0">
                    <a:solidFill>
                      <a:srgbClr val="78350F"/>
                    </a:solidFill>
                    <a:latin typeface="Arial"/>
                  </a:rPr>
                  <a:t>; extend the sum to </a:t>
                </a:r>
                <a14:m>
                  <m:oMath xmlns:m="http://schemas.openxmlformats.org/officeDocument/2006/math">
                    <m:r>
                      <a:rPr lang="en-IN" sz="2400" i="1">
                        <a:solidFill>
                          <a:srgbClr val="78350F"/>
                        </a:solidFill>
                        <a:latin typeface="Cambria Math" panose="02040503050406030204" pitchFamily="18" charset="0"/>
                      </a:rPr>
                      <m:t>𝑗</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subtract the extra terms.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Finite-difference identity: </a:t>
                </a:r>
                <a:r>
                  <a:rPr lang="en-IN" sz="2400">
                    <a:solidFill>
                      <a:srgbClr val="78350F"/>
                    </a:solidFill>
                    <a:latin typeface="Cambria Math" panose="02040503050406030204" pitchFamily="18" charset="0"/>
                  </a:rPr>
                  <a:t>$\sum_{j=0}^{n}(-1)^jP(j)\binom nj=0$</a:t>
                </a:r>
                <a:r>
                  <a:rPr sz="2400" b="0">
                    <a:solidFill>
                      <a:srgbClr val="78350F"/>
                    </a:solidFill>
                    <a:latin typeface="Arial"/>
                  </a:rPr>
                  <a:t> for any polynomial </a:t>
                </a:r>
                <a:r>
                  <a:rPr lang="en-IN" sz="2400">
                    <a:solidFill>
                      <a:srgbClr val="78350F"/>
                    </a:solidFill>
                    <a:latin typeface="Cambria Math" panose="02040503050406030204" pitchFamily="18" charset="0"/>
                  </a:rPr>
                  <a:t>$P$</a:t>
                </a:r>
                <a:r>
                  <a:rPr sz="2400" b="0">
                    <a:solidFill>
                      <a:srgbClr val="78350F"/>
                    </a:solidFill>
                    <a:latin typeface="Arial"/>
                  </a:rPr>
                  <a:t> of degree </a:t>
                </a:r>
                <a:r>
                  <a:rPr lang="en-IN" sz="2400">
                    <a:solidFill>
                      <a:srgbClr val="78350F"/>
                    </a:solidFill>
                    <a:latin typeface="Cambria Math" panose="02040503050406030204" pitchFamily="18" charset="0"/>
                  </a:rPr>
                  <a:t>$&lt;n$</a:t>
                </a:r>
                <a:r>
                  <a:rPr sz="2400" b="0">
                    <a:solidFill>
                      <a:srgbClr val="78350F"/>
                    </a:solidFill>
                    <a:latin typeface="Arial"/>
                  </a:rPr>
                  <a:t>; extend the sum to </a:t>
                </a:r>
                <a:r>
                  <a:rPr lang="en-IN" sz="2400">
                    <a:solidFill>
                      <a:srgbClr val="78350F"/>
                    </a:solidFill>
                    <a:latin typeface="Cambria Math" panose="02040503050406030204" pitchFamily="18" charset="0"/>
                  </a:rPr>
                  <a:t>$j=0$</a:t>
                </a:r>
                <a:r>
                  <a:rPr sz="2400" b="0">
                    <a:solidFill>
                      <a:srgbClr val="78350F"/>
                    </a:solidFill>
                    <a:latin typeface="Arial"/>
                  </a:rPr>
                  <a:t> and subtract the extra terms.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b>
                      <m:sup>
                        <m:r>
                          <a:rPr lang="en-IN" sz="2400" i="1">
                            <a:solidFill>
                              <a:srgbClr val="111827"/>
                            </a:solidFill>
                            <a:latin typeface="Cambria Math" panose="02040503050406030204" pitchFamily="18" charset="0"/>
                          </a:rPr>
                          <m:t>20</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𝑗</m:t>
                            </m:r>
                          </m:den>
                        </m:f>
                      </m:e>
                    </m:d>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degree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20</m:t>
                    </m:r>
                  </m:oMath>
                </a14:m>
                <a:r>
                  <a:rPr sz="2400" b="0">
                    <a:solidFill>
                      <a:srgbClr val="111827"/>
                    </a:solidFill>
                    <a:latin typeface="Arial"/>
                  </a:rPr>
                  <a:t>, so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20</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3</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𝑗</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$j=r+3$</a:t>
                </a:r>
                <a:r>
                  <a:rPr sz="2400" b="0">
                    <a:solidFill>
                      <a:srgbClr val="111827"/>
                    </a:solidFill>
                    <a:latin typeface="Arial"/>
                  </a:rPr>
                  <a:t>: the sum is </a:t>
                </a:r>
                <a:r>
                  <a:rPr lang="en-IN" sz="2400">
                    <a:solidFill>
                      <a:srgbClr val="111827"/>
                    </a:solidFill>
                    <a:latin typeface="Cambria Math" panose="02040503050406030204" pitchFamily="18" charset="0"/>
                  </a:rPr>
                  <a:t>$S=\sum_{j=4}^{20}(-1)^{j}(j-3)(j-2)\binom{20}{j}$</a:t>
                </a:r>
                <a:r>
                  <a:rPr sz="2400" b="0">
                    <a:solidFill>
                      <a:srgbClr val="111827"/>
                    </a:solidFill>
                    <a:latin typeface="Arial"/>
                  </a:rPr>
                  <a:t>, because </a:t>
                </a:r>
                <a:r>
                  <a:rPr lang="en-IN" sz="2400">
                    <a:solidFill>
                      <a:srgbClr val="111827"/>
                    </a:solidFill>
                    <a:latin typeface="Cambria Math" panose="02040503050406030204" pitchFamily="18" charset="0"/>
                  </a:rPr>
                  <a:t>$(-1)^{r+1}=(-1)^{j-2}=(-1)^j$</a:t>
                </a:r>
                <a:r>
                  <a:rPr sz="2400" b="0">
                    <a:solidFill>
                      <a:srgbClr val="111827"/>
                    </a:solidFill>
                    <a:latin typeface="Arial"/>
                  </a:rPr>
                  <a:t> and </a:t>
                </a:r>
                <a:r>
                  <a:rPr lang="en-IN" sz="2400">
                    <a:solidFill>
                      <a:srgbClr val="111827"/>
                    </a:solidFill>
                    <a:latin typeface="Cambria Math" panose="02040503050406030204" pitchFamily="18" charset="0"/>
                  </a:rPr>
                  <a:t>$r(r+1)=(j-3)(j-2)$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$P(j)=(j-3)(j-2)$</a:t>
                </a:r>
                <a:r>
                  <a:rPr sz="2400" b="0">
                    <a:solidFill>
                      <a:srgbClr val="111827"/>
                    </a:solidFill>
                    <a:latin typeface="Arial"/>
                  </a:rPr>
                  <a:t> has degree </a:t>
                </a:r>
                <a:r>
                  <a:rPr lang="en-IN" sz="2400">
                    <a:solidFill>
                      <a:srgbClr val="111827"/>
                    </a:solidFill>
                    <a:latin typeface="Cambria Math" panose="02040503050406030204" pitchFamily="18" charset="0"/>
                  </a:rPr>
                  <a:t>$2&lt;20$</a:t>
                </a:r>
                <a:r>
                  <a:rPr sz="2400" b="0">
                    <a:solidFill>
                      <a:srgbClr val="111827"/>
                    </a:solidFill>
                    <a:latin typeface="Arial"/>
                  </a:rPr>
                  <a:t>, so </a:t>
                </a:r>
                <a:r>
                  <a:rPr lang="en-IN" sz="2400">
                    <a:solidFill>
                      <a:srgbClr val="111827"/>
                    </a:solidFill>
                    <a:latin typeface="Cambria Math" panose="02040503050406030204" pitchFamily="18" charset="0"/>
                  </a:rPr>
                  <a:t>$\sum_{j=0}^{20}(-1)^jP(j)\binom{20}{j}=0$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$S=-\sum_{j=0}^{3}(-1)^jP(j)\binom{20}{j}$</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term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omitted part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$j=0:\ P=6$</a:t>
                </a:r>
                <a:r>
                  <a:rPr sz="2400" b="0">
                    <a:solidFill>
                      <a:srgbClr val="111827"/>
                    </a:solidFill>
                    <a:latin typeface="Arial"/>
                  </a:rPr>
                  <a:t>, term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$j=1:\ P=2$</a:t>
                </a:r>
                <a:r>
                  <a:rPr sz="2400" b="0">
                    <a:solidFill>
                      <a:srgbClr val="111827"/>
                    </a:solidFill>
                    <a:latin typeface="Arial"/>
                  </a:rPr>
                  <a:t>, term </a:t>
                </a:r>
                <a:r>
                  <a:rPr lang="en-IN" sz="2400">
                    <a:solidFill>
                      <a:srgbClr val="111827"/>
                    </a:solidFill>
                    <a:latin typeface="Cambria Math" panose="02040503050406030204" pitchFamily="18" charset="0"/>
                  </a:rPr>
                  <a:t>$-2\cdot20=-40$</a:t>
                </a:r>
                <a:r>
                  <a:rPr sz="2400" b="0">
                    <a:solidFill>
                      <a:srgbClr val="111827"/>
                    </a:solidFill>
                    <a:latin typeface="Arial"/>
                  </a:rPr>
                  <a:t>; </a:t>
                </a:r>
                <a:r>
                  <a:rPr lang="en-IN" sz="2400">
                    <a:solidFill>
                      <a:srgbClr val="111827"/>
                    </a:solidFill>
                    <a:latin typeface="Cambria Math" panose="02040503050406030204" pitchFamily="18" charset="0"/>
                  </a:rPr>
                  <a:t>$j=2:\ P=0$</a:t>
                </a:r>
                <a:r>
                  <a:rPr sz="2400" b="0">
                    <a:solidFill>
                      <a:srgbClr val="111827"/>
                    </a:solidFill>
                    <a:latin typeface="Arial"/>
                  </a:rPr>
                  <a:t>; </a:t>
                </a:r>
                <a:r>
                  <a:rPr lang="en-IN" sz="2400">
                    <a:solidFill>
                      <a:srgbClr val="111827"/>
                    </a:solidFill>
                    <a:latin typeface="Cambria Math" panose="02040503050406030204" pitchFamily="18" charset="0"/>
                  </a:rPr>
                  <a:t>$j=3:\ P=0$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omitted part is </a:t>
                </a:r>
                <a:r>
                  <a:rPr lang="en-IN" sz="2400">
                    <a:solidFill>
                      <a:srgbClr val="111827"/>
                    </a:solidFill>
                    <a:latin typeface="Cambria Math" panose="02040503050406030204" pitchFamily="18" charset="0"/>
                  </a:rPr>
                  <a:t>$6-40=-34$</a:t>
                </a:r>
                <a:r>
                  <a:rPr sz="2400" b="0">
                    <a:solidFill>
                      <a:srgbClr val="111827"/>
                    </a:solidFill>
                    <a:latin typeface="Arial"/>
                  </a:rPr>
                  <a:t> and </a:t>
                </a:r>
                <a:r>
                  <a:rPr lang="en-IN" sz="2400">
                    <a:solidFill>
                      <a:srgbClr val="111827"/>
                    </a:solidFill>
                    <a:latin typeface="Cambria Math" panose="02040503050406030204" pitchFamily="18" charset="0"/>
                  </a:rPr>
                  <a:t>$S=-(-34)=34$</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34</a:t>
            </a:r>
            <a:endParaRPr sz="2800">
              <a:solidFill>
                <a:srgbClr val="15803D"/>
              </a:solidFil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polynomial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of degree less than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-th finite difference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vanishes).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Absorption identity </a:t>
                </a:r>
                <a14:m>
                  <m:oMath xmlns:m="http://schemas.openxmlformats.org/officeDocument/2006/math">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applying it twice gives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alternating sum: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𝑚</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polynomial </a:t>
                </a:r>
                <a:r>
                  <a:rPr lang="en-IN" sz="2400">
                    <a:solidFill>
                      <a:srgbClr val="111827"/>
                    </a:solidFill>
                    <a:latin typeface="Cambria Math" panose="02040503050406030204" pitchFamily="18" charset="0"/>
                  </a:rPr>
                  <a:t>$P$</a:t>
                </a:r>
                <a:r>
                  <a:rPr sz="2400" b="0">
                    <a:solidFill>
                      <a:srgbClr val="111827"/>
                    </a:solidFill>
                    <a:latin typeface="Arial"/>
                  </a:rPr>
                  <a:t> of degree less than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$\sum_{j=0}^n(-1)^jP(j)\binom nj=0$</a:t>
                </a:r>
                <a:r>
                  <a:rPr sz="2400" b="0">
                    <a:solidFill>
                      <a:srgbClr val="111827"/>
                    </a:solidFill>
                    <a:latin typeface="Arial"/>
                  </a:rPr>
                  <a:t> (the </a:t>
                </a:r>
                <a:r>
                  <a:rPr lang="en-IN" sz="2400">
                    <a:solidFill>
                      <a:srgbClr val="111827"/>
                    </a:solidFill>
                    <a:latin typeface="Cambria Math" panose="02040503050406030204" pitchFamily="18" charset="0"/>
                  </a:rPr>
                  <a:t>$n$</a:t>
                </a:r>
                <a:r>
                  <a:rPr sz="2400" b="0">
                    <a:solidFill>
                      <a:srgbClr val="111827"/>
                    </a:solidFill>
                    <a:latin typeface="Arial"/>
                  </a:rPr>
                  <a:t>-th finite difference of </a:t>
                </a:r>
                <a:r>
                  <a:rPr lang="en-IN" sz="2400">
                    <a:solidFill>
                      <a:srgbClr val="111827"/>
                    </a:solidFill>
                    <a:latin typeface="Cambria Math" panose="02040503050406030204" pitchFamily="18" charset="0"/>
                  </a:rPr>
                  <a:t>$P$</a:t>
                </a:r>
                <a:r>
                  <a:rPr sz="2400" b="0">
                    <a:solidFill>
                      <a:srgbClr val="111827"/>
                    </a:solidFill>
                    <a:latin typeface="Arial"/>
                  </a:rPr>
                  <a:t> vanishes).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Absorption identity </a:t>
                </a:r>
                <a:r>
                  <a:rPr lang="en-IN" sz="2400">
                    <a:solidFill>
                      <a:srgbClr val="111827"/>
                    </a:solidFill>
                    <a:latin typeface="Cambria Math" panose="02040503050406030204" pitchFamily="18" charset="0"/>
                  </a:rPr>
                  <a:t>$k\binom nk=n\binom{n-1}{k-1}$</a:t>
                </a:r>
                <a:r>
                  <a:rPr sz="2400" b="0">
                    <a:solidFill>
                      <a:srgbClr val="111827"/>
                    </a:solidFill>
                    <a:latin typeface="Arial"/>
                  </a:rPr>
                  <a:t>; applying it twice gives </a:t>
                </a:r>
                <a:r>
                  <a:rPr lang="en-IN" sz="2400">
                    <a:solidFill>
                      <a:srgbClr val="111827"/>
                    </a:solidFill>
                    <a:latin typeface="Cambria Math" panose="02040503050406030204" pitchFamily="18" charset="0"/>
                  </a:rPr>
                  <a:t>$k(k-1)\binom nk=n(n-1)\binom{n-2}{k-2}$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alternating sum: </a:t>
                </a:r>
                <a:r>
                  <a:rPr lang="en-IN" sz="2400">
                    <a:solidFill>
                      <a:srgbClr val="111827"/>
                    </a:solidFill>
                    <a:latin typeface="Cambria Math" panose="02040503050406030204" pitchFamily="18" charset="0"/>
                  </a:rPr>
                  <a:t>$\sum_{j=0}^{m}(-1)^j\binom nj=(-1)^m\binom{n-1}{m}$</a:t>
                </a:r>
                <a:r>
                  <a:rPr sz="2400" b="0">
                    <a:solidFill>
                      <a:srgbClr val="111827"/>
                    </a:solidFill>
                    <a:latin typeface="Arial"/>
                  </a:rPr>
                  <a:t> (here </a:t>
                </a:r>
                <a:r>
                  <a:rPr lang="en-IN" sz="2400">
                    <a:solidFill>
                      <a:srgbClr val="111827"/>
                    </a:solidFill>
                    <a:latin typeface="Cambria Math" panose="02040503050406030204" pitchFamily="18" charset="0"/>
                  </a:rPr>
                  <a:t>$1-20+190-1140=-969$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$a=1+\frac{{}^2C_2}{3!}+\frac{{}^3C_2}{4!}+\frac{{}^4C_2}{5!}+\dots$</a:t>
                </a:r>
                <a:r>
                  <a:rPr sz="2400" b="0">
                    <a:solidFill>
                      <a:srgbClr val="111827"/>
                    </a:solidFill>
                    <a:latin typeface="Arial"/>
                  </a:rPr>
                  <a:t>, </a:t>
                </a:r>
                <a:r>
                  <a:rPr lang="en-IN" sz="2400">
                    <a:solidFill>
                      <a:srgbClr val="111827"/>
                    </a:solidFill>
                    <a:latin typeface="Cambria Math" panose="02040503050406030204" pitchFamily="18" charset="0"/>
                  </a:rPr>
                  <a:t>$\ b=1+\frac{{}^1C_0+{}^1C_1}{1!}+\frac{{}^2C_0+{}^2C_1+{}^2C_2}{2!}+\frac{{}^3C_0+{}^3C_1+{}^3C_2+{}^3C_3}{3!}+\dots$</a:t>
                </a:r>
                <a:r>
                  <a:rPr sz="2400" b="0">
                    <a:solidFill>
                      <a:srgbClr val="111827"/>
                    </a:solidFill>
                    <a:latin typeface="Arial"/>
                  </a:rPr>
                  <a:t> Then </a:t>
                </a:r>
                <a:r>
                  <a:rPr lang="en-IN" sz="2400">
                    <a:solidFill>
                      <a:srgbClr val="111827"/>
                    </a:solidFill>
                    <a:latin typeface="Cambria Math" panose="02040503050406030204" pitchFamily="18" charset="0"/>
                  </a:rPr>
                  <a:t>$\frac{2b}{a^2}$</a:t>
                </a:r>
                <a:r>
                  <a:rPr sz="2400" b="0">
                    <a:solidFill>
                      <a:srgbClr val="111827"/>
                    </a:solidFill>
                    <a:latin typeface="Arial"/>
                  </a:rPr>
                  <a:t> is equal to ______ .</a:t>
                </a:r>
                <a:endParaRPr sz="2400">
                  <a:solidFill>
                    <a:srgbClr val="111827"/>
                  </a:solidFill>
                </a:endParaRPr>
              </a:p>
            </p:txBody>
          </p:sp>
        </mc:Fallback>
      </mc:AlternateContent>
      <p:sp>
        <p:nvSpPr>
          <p:cNvPr id="5" name="Rectangle 4"/>
          <p:cNvSpPr/>
          <p:nvPr/>
        </p:nvSpPr>
        <p:spPr>
          <a:xfrm>
            <a:off x="731520" y="39557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Exponential series, Binomial coefficients and series of reciprocals of factorials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14:m>
                  <m:oMath xmlns:m="http://schemas.openxmlformats.org/officeDocument/2006/math">
                    <m:f>
                      <m:fPr>
                        <m:type m:val="bar"/>
                        <m:ctrlPr>
                          <a:rPr lang="en-IN" sz="2400" i="1">
                            <a:solidFill>
                              <a:srgbClr val="78350F"/>
                            </a:solidFill>
                            <a:latin typeface="Cambria Math" panose="02040503050406030204" pitchFamily="18" charset="0"/>
                          </a:rPr>
                        </m:ctrlPr>
                      </m:fPr>
                      <m:num>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2</m:t>
                                </m:r>
                              </m:den>
                            </m:f>
                          </m:e>
                        </m:d>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into three factorial series, and recognise </a:t>
                </a:r>
                <a14:m>
                  <m:oMath xmlns:m="http://schemas.openxmlformats.org/officeDocument/2006/math">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sub>
                      <m:sup>
                        <m:r>
                          <a:rPr lang="en-IN" sz="2400" i="1">
                            <a:solidFill>
                              <a:srgbClr val="78350F"/>
                            </a:solidFill>
                            <a:latin typeface="Cambria Math" panose="02040503050406030204" pitchFamily="18" charset="0"/>
                          </a:rPr>
                          <m:t>​</m:t>
                        </m:r>
                      </m:sup>
                      <m:e>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𝑘</m:t>
                                </m:r>
                              </m:den>
                            </m:f>
                          </m:e>
                        </m:d>
                      </m:e>
                    </m:nary>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𝑟</m:t>
                        </m:r>
                      </m:sup>
                    </m:sSup>
                  </m:oMath>
                </a14:m>
                <a:r>
                  <a:rPr sz="2400" b="0">
                    <a:solidFill>
                      <a:srgbClr val="78350F"/>
                    </a:solidFill>
                    <a:latin typeface="Arial"/>
                  </a:rPr>
                  <a:t> so that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𝑟</m:t>
                            </m:r>
                          </m:sup>
                        </m:sSup>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r>
                  <a:rPr lang="en-IN" sz="2400">
                    <a:solidFill>
                      <a:srgbClr val="78350F"/>
                    </a:solidFill>
                    <a:latin typeface="Cambria Math" panose="02040503050406030204" pitchFamily="18" charset="0"/>
                  </a:rPr>
                  <a:t>$\frac{\binom r2}{(r+1)!}$</a:t>
                </a:r>
                <a:r>
                  <a:rPr sz="2400" b="0">
                    <a:solidFill>
                      <a:srgbClr val="78350F"/>
                    </a:solidFill>
                    <a:latin typeface="Arial"/>
                  </a:rPr>
                  <a:t> into three factorial series, and recognise </a:t>
                </a:r>
                <a:r>
                  <a:rPr lang="en-IN" sz="2400">
                    <a:solidFill>
                      <a:srgbClr val="78350F"/>
                    </a:solidFill>
                    <a:latin typeface="Cambria Math" panose="02040503050406030204" pitchFamily="18" charset="0"/>
                  </a:rPr>
                  <a:t>$\sum_k\binom rk=2^r$</a:t>
                </a:r>
                <a:r>
                  <a:rPr sz="2400" b="0">
                    <a:solidFill>
                      <a:srgbClr val="78350F"/>
                    </a:solidFill>
                    <a:latin typeface="Arial"/>
                  </a:rPr>
                  <a:t> so that </a:t>
                </a:r>
                <a:r>
                  <a:rPr lang="en-IN" sz="2400">
                    <a:solidFill>
                      <a:srgbClr val="78350F"/>
                    </a:solidFill>
                    <a:latin typeface="Cambria Math" panose="02040503050406030204" pitchFamily="18" charset="0"/>
                  </a:rPr>
                  <a:t>$b=\sum\frac{2^r}{r!}=e^2$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(the term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so the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$a=1+\sum_{r=2}^{\infty}\frac{{}^rC_2}{(r+1)!}$</a:t>
                </a:r>
                <a:r>
                  <a:rPr sz="2400" b="0">
                    <a:solidFill>
                      <a:srgbClr val="111827"/>
                    </a:solidFill>
                    <a:latin typeface="Arial"/>
                  </a:rPr>
                  <a:t> (the term for </a:t>
                </a:r>
                <a:r>
                  <a:rPr lang="en-IN" sz="2400">
                    <a:solidFill>
                      <a:srgbClr val="111827"/>
                    </a:solidFill>
                    <a:latin typeface="Cambria Math" panose="02040503050406030204" pitchFamily="18" charset="0"/>
                  </a:rPr>
                  <a:t>$r=2$</a:t>
                </a:r>
                <a:r>
                  <a:rPr sz="2400" b="0">
                    <a:solidFill>
                      <a:srgbClr val="111827"/>
                    </a:solidFill>
                    <a:latin typeface="Arial"/>
                  </a:rPr>
                  <a:t> is </a:t>
                </a:r>
                <a:r>
                  <a:rPr lang="en-IN" sz="2400">
                    <a:solidFill>
                      <a:srgbClr val="111827"/>
                    </a:solidFill>
                    <a:latin typeface="Cambria Math" panose="02040503050406030204" pitchFamily="18" charset="0"/>
                  </a:rPr>
                  <a:t>$\frac{{}^2C_2}{3!}$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$\frac{{}^rC_2}{(r+1)!}=\frac{r(r-1)}{2\,(r+1)!}=\frac12\cdot\frac{r(r+1)-2r}{(r+1)!}$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$\frac{r(r+1)}{(r+1)!}=\frac1{(r-1)!}$</a:t>
                </a:r>
                <a:r>
                  <a:rPr sz="2400" b="0">
                    <a:solidFill>
                      <a:srgbClr val="111827"/>
                    </a:solidFill>
                    <a:latin typeface="Arial"/>
                  </a:rPr>
                  <a:t> and </a:t>
                </a:r>
                <a:r>
                  <a:rPr lang="en-IN" sz="2400">
                    <a:solidFill>
                      <a:srgbClr val="111827"/>
                    </a:solidFill>
                    <a:latin typeface="Cambria Math" panose="02040503050406030204" pitchFamily="18" charset="0"/>
                  </a:rPr>
                  <a:t>$\frac{2r}{(r+1)!}=\frac{2}{r!}-\frac{2}{(r+1)!}$</a:t>
                </a:r>
                <a:r>
                  <a:rPr sz="2400" b="0">
                    <a:solidFill>
                      <a:srgbClr val="111827"/>
                    </a:solidFill>
                    <a:latin typeface="Arial"/>
                  </a:rPr>
                  <a:t>, so the term is </a:t>
                </a:r>
                <a:r>
                  <a:rPr lang="en-IN" sz="2400">
                    <a:solidFill>
                      <a:srgbClr val="111827"/>
                    </a:solidFill>
                    <a:latin typeface="Cambria Math" panose="02040503050406030204" pitchFamily="18" charset="0"/>
                  </a:rPr>
                  <a:t>$\frac12\left[\frac1{(r-1)!}-\frac2{r!}+\frac2{(r+1)!}\right]$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$\sum_{r\ge2}\frac1{(r-1)!}=e-1,\quad\sum_{r\ge2}\frac1{r!}=e-2,\quad\sum_{r\ge2}\frac1{(r+1)!}=e-2-\frac12$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the numerator of the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-th term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𝑟</m:t>
                        </m:r>
                      </m:sup>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e>
                    </m:nary>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(term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the leading 1).</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$a=1+\frac12\left[(e-1)-2(e-2)+2\left(e-2-\frac12\right)\right]=1+\frac12\left[e-2\right]=\frac 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$b$</a:t>
                </a:r>
                <a:r>
                  <a:rPr sz="2400" b="0">
                    <a:solidFill>
                      <a:srgbClr val="111827"/>
                    </a:solidFill>
                    <a:latin typeface="Arial"/>
                  </a:rPr>
                  <a:t> the numerator of the </a:t>
                </a:r>
                <a:r>
                  <a:rPr lang="en-IN" sz="2400">
                    <a:solidFill>
                      <a:srgbClr val="111827"/>
                    </a:solidFill>
                    <a:latin typeface="Cambria Math" panose="02040503050406030204" pitchFamily="18" charset="0"/>
                  </a:rPr>
                  <a:t>$r$</a:t>
                </a:r>
                <a:r>
                  <a:rPr sz="2400" b="0">
                    <a:solidFill>
                      <a:srgbClr val="111827"/>
                    </a:solidFill>
                    <a:latin typeface="Arial"/>
                  </a:rPr>
                  <a:t>-th term is </a:t>
                </a:r>
                <a:r>
                  <a:rPr lang="en-IN" sz="2400">
                    <a:solidFill>
                      <a:srgbClr val="111827"/>
                    </a:solidFill>
                    <a:latin typeface="Cambria Math" panose="02040503050406030204" pitchFamily="18" charset="0"/>
                  </a:rPr>
                  <a:t>$\sum_{k=0}^r{}^rC_k=2^r$</a:t>
                </a:r>
                <a:r>
                  <a:rPr sz="2400" b="0">
                    <a:solidFill>
                      <a:srgbClr val="111827"/>
                    </a:solidFill>
                    <a:latin typeface="Arial"/>
                  </a:rPr>
                  <a:t> (term </a:t>
                </a:r>
                <a:r>
                  <a:rPr lang="en-IN" sz="2400">
                    <a:solidFill>
                      <a:srgbClr val="111827"/>
                    </a:solidFill>
                    <a:latin typeface="Cambria Math" panose="02040503050406030204" pitchFamily="18" charset="0"/>
                  </a:rPr>
                  <a:t>$r=0$</a:t>
                </a:r>
                <a:r>
                  <a:rPr sz="2400" b="0">
                    <a:solidFill>
                      <a:srgbClr val="111827"/>
                    </a:solidFill>
                    <a:latin typeface="Arial"/>
                  </a:rPr>
                  <a:t> is the leading 1).</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$b=\sum_{r=0}^\infty\frac{2^r}{r!}=e^2$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$\frac{2b}{a^2}=\frac{2e^2}{e^2/4}=8$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a:t>
            </a:r>
            <a:endParaRPr sz="2800">
              <a:solidFill>
                <a:srgbClr val="15803D"/>
              </a:solidFil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Sum the series for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by integrating the exponential generating function </a:t>
                </a:r>
                <a14:m>
                  <m:oMath xmlns:m="http://schemas.openxmlformats.org/officeDocument/2006/math">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2</m:t>
                            </m:r>
                          </m:den>
                        </m:f>
                      </m:e>
                    </m:d>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𝑟</m:t>
                            </m:r>
                          </m:sup>
                        </m:sSup>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m:t>
                        </m:r>
                      </m:den>
                    </m:f>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 from 0 to 1.</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Sum the series for </a:t>
                </a:r>
                <a:r>
                  <a:rPr lang="en-IN" sz="2400">
                    <a:solidFill>
                      <a:srgbClr val="78350F"/>
                    </a:solidFill>
                    <a:latin typeface="Cambria Math" panose="02040503050406030204" pitchFamily="18" charset="0"/>
                  </a:rPr>
                  <a:t>$a$</a:t>
                </a:r>
                <a:r>
                  <a:rPr sz="2400" b="0">
                    <a:solidFill>
                      <a:srgbClr val="78350F"/>
                    </a:solidFill>
                    <a:latin typeface="Arial"/>
                  </a:rPr>
                  <a:t> by integrating the exponential generating function </a:t>
                </a:r>
                <a:r>
                  <a:rPr lang="en-IN" sz="2400">
                    <a:solidFill>
                      <a:srgbClr val="78350F"/>
                    </a:solidFill>
                    <a:latin typeface="Cambria Math" panose="02040503050406030204" pitchFamily="18" charset="0"/>
                  </a:rPr>
                  <a:t>$\sum\binom r2\frac{x^r}{r!}=\frac{x^2}{2}e^x$</a:t>
                </a:r>
                <a:r>
                  <a:rPr sz="2400" b="0">
                    <a:solidFill>
                      <a:srgbClr val="78350F"/>
                    </a:solidFill>
                    <a:latin typeface="Arial"/>
                  </a:rPr>
                  <a:t> from 0 to 1.</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so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e>
                    </m:nary>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𝑠</m:t>
                                </m:r>
                              </m:sup>
                            </m:sSup>
                          </m:num>
                          <m:den>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term by term over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e>
                    </m:nary>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num>
                          <m:den>
                            <m:r>
                              <a:rPr lang="en-IN" sz="2400" i="1">
                                <a:solidFill>
                                  <a:srgbClr val="111827"/>
                                </a:solidFill>
                                <a:latin typeface="Cambria Math" panose="02040503050406030204" pitchFamily="18" charset="0"/>
                              </a:rPr>
                              <m:t>2</m:t>
                            </m:r>
                          </m:den>
                        </m:f>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Sup>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 r2\frac1{r!}=\frac1{2\,(r-2)!}$</a:t>
                </a:r>
                <a:r>
                  <a:rPr sz="2400" b="0">
                    <a:solidFill>
                      <a:srgbClr val="111827"/>
                    </a:solidFill>
                    <a:latin typeface="Arial"/>
                  </a:rPr>
                  <a:t>, so </a:t>
                </a:r>
                <a:r>
                  <a:rPr lang="en-IN" sz="2400">
                    <a:solidFill>
                      <a:srgbClr val="111827"/>
                    </a:solidFill>
                    <a:latin typeface="Cambria Math" panose="02040503050406030204" pitchFamily="18" charset="0"/>
                  </a:rPr>
                  <a:t>$\sum_{r\ge2}\binom r2\frac{x^r}{r!}=\frac{x^2}{2}\sum_{s\ge0}\frac{x^s}{s!}=\frac{x^2e^x}{2}$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term by term over </a:t>
                </a:r>
                <a:r>
                  <a:rPr lang="en-IN" sz="2400">
                    <a:solidFill>
                      <a:srgbClr val="111827"/>
                    </a:solidFill>
                    <a:latin typeface="Cambria Math" panose="02040503050406030204" pitchFamily="18" charset="0"/>
                  </a:rPr>
                  <a:t>$[0,1]$</a:t>
                </a:r>
                <a:r>
                  <a:rPr sz="2400" b="0">
                    <a:solidFill>
                      <a:srgbClr val="111827"/>
                    </a:solidFill>
                    <a:latin typeface="Arial"/>
                  </a:rPr>
                  <a:t> gives </a:t>
                </a:r>
                <a:r>
                  <a:rPr lang="en-IN" sz="2400">
                    <a:solidFill>
                      <a:srgbClr val="111827"/>
                    </a:solidFill>
                    <a:latin typeface="Cambria Math" panose="02040503050406030204" pitchFamily="18" charset="0"/>
                  </a:rPr>
                  <a:t>$\int_0^1\binom r2\frac{x^r}{r!}\,dx=\frac{\binom r2}{(r+1)!}$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$a-1=\int_0^1\frac{x^2e^x}{2}\,dx=\frac12\Big[e^x(x^2-2x+2)\Big]_0^1=\frac12(e-2)$</a:t>
                </a:r>
                <a:r>
                  <a:rPr sz="2400" b="0">
                    <a:solidFill>
                      <a:srgbClr val="111827"/>
                    </a:solidFill>
                    <a:latin typeface="Arial"/>
                  </a:rPr>
                  <a:t> and </a:t>
                </a:r>
                <a:r>
                  <a:rPr lang="en-IN" sz="2400">
                    <a:solidFill>
                      <a:srgbClr val="111827"/>
                    </a:solidFill>
                    <a:latin typeface="Cambria Math" panose="02040503050406030204" pitchFamily="18" charset="0"/>
                  </a:rPr>
                  <a:t>$a=\frac e2$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𝑘</m:t>
                                </m:r>
                              </m:den>
                            </m:f>
                          </m:e>
                        </m:d>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$\sum_k\binom rk=(1+1)^r=2^r$</a:t>
                </a:r>
                <a:r>
                  <a:rPr sz="2400" b="0">
                    <a:solidFill>
                      <a:srgbClr val="111827"/>
                    </a:solidFill>
                    <a:latin typeface="Arial"/>
                  </a:rPr>
                  <a:t> gives </a:t>
                </a:r>
                <a:r>
                  <a:rPr lang="en-IN" sz="2400">
                    <a:solidFill>
                      <a:srgbClr val="111827"/>
                    </a:solidFill>
                    <a:latin typeface="Cambria Math" panose="02040503050406030204" pitchFamily="18" charset="0"/>
                  </a:rPr>
                  <a:t>$b=\sum\frac{2^r}{r!}=e^2$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$\frac{2b}{a^2}=8$</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a:t>
            </a:r>
            <a:endParaRPr sz="2800">
              <a:solidFill>
                <a:srgbClr val="15803D"/>
              </a:solidFil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𝑘</m:t>
                                </m:r>
                              </m:den>
                            </m:f>
                          </m:e>
                        </m:d>
                      </m:e>
                    </m:nary>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en>
                    </m:f>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integrating from 0 to 1 gives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𝑘</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equivalent to integrating: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𝑟</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𝑘</m:t>
                                </m:r>
                              </m:den>
                            </m:f>
                          </m:e>
                        </m:d>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turns series with row sums of Pascal's triangle into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𝑘</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it becomes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-type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Splitting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 is the usual way to convert a polynomial in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over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into factorial series.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$\sum_{r\ge0}\binom rk\frac{x^r}{r!}=\frac{x^k}{k!}e^x$</a:t>
                </a:r>
                <a:r>
                  <a:rPr sz="2400" b="0">
                    <a:solidFill>
                      <a:srgbClr val="111827"/>
                    </a:solidFill>
                    <a:latin typeface="Arial"/>
                  </a:rPr>
                  <a:t>; integrating from 0 to 1 gives </a:t>
                </a:r>
                <a:r>
                  <a:rPr lang="en-IN" sz="2400">
                    <a:solidFill>
                      <a:srgbClr val="111827"/>
                    </a:solidFill>
                    <a:latin typeface="Cambria Math" panose="02040503050406030204" pitchFamily="18" charset="0"/>
                  </a:rPr>
                  <a:t>$\sum\binom rk\frac1{(r+1)!}$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$(r+1)!$</a:t>
                </a:r>
                <a:r>
                  <a:rPr sz="2400" b="0">
                    <a:solidFill>
                      <a:srgbClr val="111827"/>
                    </a:solidFill>
                    <a:latin typeface="Arial"/>
                  </a:rPr>
                  <a:t> is equivalent to integrating: </a:t>
                </a:r>
                <a:r>
                  <a:rPr lang="en-IN" sz="2400">
                    <a:solidFill>
                      <a:srgbClr val="111827"/>
                    </a:solidFill>
                    <a:latin typeface="Cambria Math" panose="02040503050406030204" pitchFamily="18" charset="0"/>
                  </a:rPr>
                  <a:t>$\frac{x^{r+1}}{(r+1)!}=\int_0^x\frac{t^r}{r!}dt$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$\sum_{k=0}^r\binom rk=2^r$</a:t>
                </a:r>
                <a:r>
                  <a:rPr sz="2400" b="0">
                    <a:solidFill>
                      <a:srgbClr val="111827"/>
                    </a:solidFill>
                    <a:latin typeface="Arial"/>
                  </a:rPr>
                  <a:t> turns series with row sums of Pascal's triangle into </a:t>
                </a:r>
                <a:r>
                  <a:rPr lang="en-IN" sz="2400">
                    <a:solidFill>
                      <a:srgbClr val="111827"/>
                    </a:solidFill>
                    <a:latin typeface="Cambria Math" panose="02040503050406030204" pitchFamily="18" charset="0"/>
                  </a:rPr>
                  <a:t>$e^2$</a:t>
                </a:r>
                <a:r>
                  <a:rPr sz="2400" b="0">
                    <a:solidFill>
                      <a:srgbClr val="111827"/>
                    </a:solidFill>
                    <a:latin typeface="Arial"/>
                  </a:rPr>
                  <a:t>; with </a:t>
                </a:r>
                <a:r>
                  <a:rPr lang="en-IN" sz="2400">
                    <a:solidFill>
                      <a:srgbClr val="111827"/>
                    </a:solidFill>
                    <a:latin typeface="Cambria Math" panose="02040503050406030204" pitchFamily="18" charset="0"/>
                  </a:rPr>
                  <a:t>$\binom rk x^k$</a:t>
                </a:r>
                <a:r>
                  <a:rPr sz="2400" b="0">
                    <a:solidFill>
                      <a:srgbClr val="111827"/>
                    </a:solidFill>
                    <a:latin typeface="Arial"/>
                  </a:rPr>
                  <a:t> it becomes </a:t>
                </a:r>
                <a:r>
                  <a:rPr lang="en-IN" sz="2400">
                    <a:solidFill>
                      <a:srgbClr val="111827"/>
                    </a:solidFill>
                    <a:latin typeface="Cambria Math" panose="02040503050406030204" pitchFamily="18" charset="0"/>
                  </a:rPr>
                  <a:t>$e^{(1+x)}$</a:t>
                </a:r>
                <a:r>
                  <a:rPr sz="2400" b="0">
                    <a:solidFill>
                      <a:srgbClr val="111827"/>
                    </a:solidFill>
                    <a:latin typeface="Arial"/>
                  </a:rPr>
                  <a:t>-type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Splitting </a:t>
                </a:r>
                <a:r>
                  <a:rPr lang="en-IN" sz="2400">
                    <a:solidFill>
                      <a:srgbClr val="111827"/>
                    </a:solidFill>
                    <a:latin typeface="Cambria Math" panose="02040503050406030204" pitchFamily="18" charset="0"/>
                  </a:rPr>
                  <a:t>$r(r-1)$</a:t>
                </a:r>
                <a:r>
                  <a:rPr sz="2400" b="0">
                    <a:solidFill>
                      <a:srgbClr val="111827"/>
                    </a:solidFill>
                    <a:latin typeface="Arial"/>
                  </a:rPr>
                  <a:t> as </a:t>
                </a:r>
                <a:r>
                  <a:rPr lang="en-IN" sz="2400">
                    <a:solidFill>
                      <a:srgbClr val="111827"/>
                    </a:solidFill>
                    <a:latin typeface="Cambria Math" panose="02040503050406030204" pitchFamily="18" charset="0"/>
                  </a:rPr>
                  <a:t>$r(r+1)-2r$</a:t>
                </a:r>
                <a:r>
                  <a:rPr sz="2400" b="0">
                    <a:solidFill>
                      <a:srgbClr val="111827"/>
                    </a:solidFill>
                    <a:latin typeface="Arial"/>
                  </a:rPr>
                  <a:t> is the usual way to convert a polynomial in </a:t>
                </a:r>
                <a:r>
                  <a:rPr lang="en-IN" sz="2400">
                    <a:solidFill>
                      <a:srgbClr val="111827"/>
                    </a:solidFill>
                    <a:latin typeface="Cambria Math" panose="02040503050406030204" pitchFamily="18" charset="0"/>
                  </a:rPr>
                  <a:t>$r$</a:t>
                </a:r>
                <a:r>
                  <a:rPr sz="2400" b="0">
                    <a:solidFill>
                      <a:srgbClr val="111827"/>
                    </a:solidFill>
                    <a:latin typeface="Arial"/>
                  </a:rPr>
                  <a:t> over </a:t>
                </a:r>
                <a:r>
                  <a:rPr lang="en-IN" sz="2400">
                    <a:solidFill>
                      <a:srgbClr val="111827"/>
                    </a:solidFill>
                    <a:latin typeface="Cambria Math" panose="02040503050406030204" pitchFamily="18" charset="0"/>
                  </a:rPr>
                  <a:t>$(r+1)!$</a:t>
                </a:r>
                <a:r>
                  <a:rPr sz="2400" b="0">
                    <a:solidFill>
                      <a:srgbClr val="111827"/>
                    </a:solidFill>
                    <a:latin typeface="Arial"/>
                  </a:rPr>
                  <a:t> into factorial series.</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be distinct integers where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Then, the number of ways of choosing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divisible by 5,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be distinct integers where </a:t>
                </a:r>
                <a:r>
                  <a:rPr lang="en-IN" sz="2400">
                    <a:solidFill>
                      <a:srgbClr val="111827"/>
                    </a:solidFill>
                    <a:latin typeface="Cambria Math" panose="02040503050406030204" pitchFamily="18" charset="0"/>
                  </a:rPr>
                  <a:t>$1\le x\le25$</a:t>
                </a:r>
                <a:r>
                  <a:rPr sz="2400" b="0">
                    <a:solidFill>
                      <a:srgbClr val="111827"/>
                    </a:solidFill>
                    <a:latin typeface="Arial"/>
                  </a:rPr>
                  <a:t> and </a:t>
                </a:r>
                <a:r>
                  <a:rPr lang="en-IN" sz="2400">
                    <a:solidFill>
                      <a:srgbClr val="111827"/>
                    </a:solidFill>
                    <a:latin typeface="Cambria Math" panose="02040503050406030204" pitchFamily="18" charset="0"/>
                  </a:rPr>
                  <a:t>$1\le y\le25$</a:t>
                </a:r>
                <a:r>
                  <a:rPr sz="2400" b="0">
                    <a:solidFill>
                      <a:srgbClr val="111827"/>
                    </a:solidFill>
                    <a:latin typeface="Arial"/>
                  </a:rPr>
                  <a:t>. Then, the number of ways of choosing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such that </a:t>
                </a:r>
                <a:r>
                  <a:rPr lang="en-IN" sz="2400">
                    <a:solidFill>
                      <a:srgbClr val="111827"/>
                    </a:solidFill>
                    <a:latin typeface="Cambria Math" panose="02040503050406030204" pitchFamily="18" charset="0"/>
                  </a:rPr>
                  <a:t>$x+y$</a:t>
                </a:r>
                <a:r>
                  <a:rPr sz="2400" b="0">
                    <a:solidFill>
                      <a:srgbClr val="111827"/>
                    </a:solidFill>
                    <a:latin typeface="Arial"/>
                  </a:rPr>
                  <a:t> is divisible by 5, is ______ .</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pairs with sum divisible by 5 (residue classes)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25</m:t>
                    </m:r>
                  </m:oMath>
                </a14:m>
                <a:r>
                  <a:rPr sz="2400" b="0">
                    <a:solidFill>
                      <a:srgbClr val="78350F"/>
                    </a:solidFill>
                    <a:latin typeface="Arial"/>
                  </a:rPr>
                  <a:t> into the five residue classes mod 5 (five numbers each);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pairs class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with class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r>
                  <a:rPr lang="en-IN" sz="2400">
                    <a:solidFill>
                      <a:srgbClr val="78350F"/>
                    </a:solidFill>
                    <a:latin typeface="Cambria Math" panose="02040503050406030204" pitchFamily="18" charset="0"/>
                  </a:rPr>
                  <a:t>$1,\dots,25$</a:t>
                </a:r>
                <a:r>
                  <a:rPr sz="2400" b="0">
                    <a:solidFill>
                      <a:srgbClr val="78350F"/>
                    </a:solidFill>
                    <a:latin typeface="Arial"/>
                  </a:rPr>
                  <a:t> into the five residue classes mod 5 (five numbers each); </a:t>
                </a:r>
                <a:r>
                  <a:rPr lang="en-IN" sz="2400">
                    <a:solidFill>
                      <a:srgbClr val="78350F"/>
                    </a:solidFill>
                    <a:latin typeface="Cambria Math" panose="02040503050406030204" pitchFamily="18" charset="0"/>
                  </a:rPr>
                  <a:t>$x+y\equiv0$</a:t>
                </a:r>
                <a:r>
                  <a:rPr sz="2400" b="0">
                    <a:solidFill>
                      <a:srgbClr val="78350F"/>
                    </a:solidFill>
                    <a:latin typeface="Arial"/>
                  </a:rPr>
                  <a:t> pairs class </a:t>
                </a:r>
                <a:r>
                  <a:rPr lang="en-IN" sz="2400">
                    <a:solidFill>
                      <a:srgbClr val="78350F"/>
                    </a:solidFill>
                    <a:latin typeface="Cambria Math" panose="02040503050406030204" pitchFamily="18" charset="0"/>
                  </a:rPr>
                  <a:t>$r$</a:t>
                </a:r>
                <a:r>
                  <a:rPr sz="2400" b="0">
                    <a:solidFill>
                      <a:srgbClr val="78350F"/>
                    </a:solidFill>
                    <a:latin typeface="Arial"/>
                  </a:rPr>
                  <a:t> with class </a:t>
                </a:r>
                <a:r>
                  <a:rPr lang="en-IN" sz="2400">
                    <a:solidFill>
                      <a:srgbClr val="78350F"/>
                    </a:solidFill>
                    <a:latin typeface="Cambria Math" panose="02040503050406030204" pitchFamily="18" charset="0"/>
                  </a:rPr>
                  <a:t>$5-r$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into five groups by remainder on division by 5, five numbers in each: remainders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(group V is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divisible by 5 when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group I,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IV),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II,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III),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III,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II),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IV,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 or both in V.</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IV: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II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III: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t>
                </a:r>
                <a:r>
                  <a:rPr lang="en-IN" sz="2400">
                    <a:solidFill>
                      <a:srgbClr val="111827"/>
                    </a:solidFill>
                    <a:latin typeface="Cambria Math" panose="02040503050406030204" pitchFamily="18" charset="0"/>
                  </a:rPr>
                  <a:t>$1,\dots,25$</a:t>
                </a:r>
                <a:r>
                  <a:rPr sz="2400" b="0">
                    <a:solidFill>
                      <a:srgbClr val="111827"/>
                    </a:solidFill>
                    <a:latin typeface="Arial"/>
                  </a:rPr>
                  <a:t> into five groups by remainder on division by 5, five numbers in each: remainders </a:t>
                </a:r>
                <a:r>
                  <a:rPr lang="en-IN" sz="2400">
                    <a:solidFill>
                      <a:srgbClr val="111827"/>
                    </a:solidFill>
                    <a:latin typeface="Cambria Math" panose="02040503050406030204" pitchFamily="18" charset="0"/>
                  </a:rPr>
                  <a:t>$1,2,3,4,0$</a:t>
                </a:r>
                <a:r>
                  <a:rPr sz="2400" b="0">
                    <a:solidFill>
                      <a:srgbClr val="111827"/>
                    </a:solidFill>
                    <a:latin typeface="Arial"/>
                  </a:rPr>
                  <a:t> (group V is </a:t>
                </a:r>
                <a:r>
                  <a:rPr lang="en-IN" sz="2400">
                    <a:solidFill>
                      <a:srgbClr val="111827"/>
                    </a:solidFill>
                    <a:latin typeface="Cambria Math" panose="02040503050406030204" pitchFamily="18" charset="0"/>
                  </a:rPr>
                  <a:t>$5,10,15,20,25$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a:t>
                </a:r>
                <a:r>
                  <a:rPr sz="2400" b="0">
                    <a:solidFill>
                      <a:srgbClr val="111827"/>
                    </a:solidFill>
                    <a:latin typeface="Arial"/>
                  </a:rPr>
                  <a:t> is divisible by 5 when (</a:t>
                </a:r>
                <a:r>
                  <a:rPr lang="en-IN" sz="2400">
                    <a:solidFill>
                      <a:srgbClr val="111827"/>
                    </a:solidFill>
                    <a:latin typeface="Cambria Math" panose="02040503050406030204" pitchFamily="18" charset="0"/>
                  </a:rPr>
                  <a:t>$x$</a:t>
                </a:r>
                <a:r>
                  <a:rPr sz="2400" b="0">
                    <a:solidFill>
                      <a:srgbClr val="111827"/>
                    </a:solidFill>
                    <a:latin typeface="Arial"/>
                  </a:rPr>
                  <a:t> in group I, </a:t>
                </a:r>
                <a:r>
                  <a:rPr lang="en-IN" sz="2400">
                    <a:solidFill>
                      <a:srgbClr val="111827"/>
                    </a:solidFill>
                    <a:latin typeface="Cambria Math" panose="02040503050406030204" pitchFamily="18" charset="0"/>
                  </a:rPr>
                  <a:t>$y$</a:t>
                </a:r>
                <a:r>
                  <a:rPr sz="2400" b="0">
                    <a:solidFill>
                      <a:srgbClr val="111827"/>
                    </a:solidFill>
                    <a:latin typeface="Arial"/>
                  </a:rPr>
                  <a:t> in IV), (</a:t>
                </a:r>
                <a:r>
                  <a:rPr lang="en-IN" sz="2400">
                    <a:solidFill>
                      <a:srgbClr val="111827"/>
                    </a:solidFill>
                    <a:latin typeface="Cambria Math" panose="02040503050406030204" pitchFamily="18" charset="0"/>
                  </a:rPr>
                  <a:t>$x$</a:t>
                </a:r>
                <a:r>
                  <a:rPr sz="2400" b="0">
                    <a:solidFill>
                      <a:srgbClr val="111827"/>
                    </a:solidFill>
                    <a:latin typeface="Arial"/>
                  </a:rPr>
                  <a:t> in II, </a:t>
                </a:r>
                <a:r>
                  <a:rPr lang="en-IN" sz="2400">
                    <a:solidFill>
                      <a:srgbClr val="111827"/>
                    </a:solidFill>
                    <a:latin typeface="Cambria Math" panose="02040503050406030204" pitchFamily="18" charset="0"/>
                  </a:rPr>
                  <a:t>$y$</a:t>
                </a:r>
                <a:r>
                  <a:rPr sz="2400" b="0">
                    <a:solidFill>
                      <a:srgbClr val="111827"/>
                    </a:solidFill>
                    <a:latin typeface="Arial"/>
                  </a:rPr>
                  <a:t> in III), (</a:t>
                </a:r>
                <a:r>
                  <a:rPr lang="en-IN" sz="2400">
                    <a:solidFill>
                      <a:srgbClr val="111827"/>
                    </a:solidFill>
                    <a:latin typeface="Cambria Math" panose="02040503050406030204" pitchFamily="18" charset="0"/>
                  </a:rPr>
                  <a:t>$x$</a:t>
                </a:r>
                <a:r>
                  <a:rPr sz="2400" b="0">
                    <a:solidFill>
                      <a:srgbClr val="111827"/>
                    </a:solidFill>
                    <a:latin typeface="Arial"/>
                  </a:rPr>
                  <a:t> in III, </a:t>
                </a:r>
                <a:r>
                  <a:rPr lang="en-IN" sz="2400">
                    <a:solidFill>
                      <a:srgbClr val="111827"/>
                    </a:solidFill>
                    <a:latin typeface="Cambria Math" panose="02040503050406030204" pitchFamily="18" charset="0"/>
                  </a:rPr>
                  <a:t>$y$</a:t>
                </a:r>
                <a:r>
                  <a:rPr sz="2400" b="0">
                    <a:solidFill>
                      <a:srgbClr val="111827"/>
                    </a:solidFill>
                    <a:latin typeface="Arial"/>
                  </a:rPr>
                  <a:t> in II), (</a:t>
                </a:r>
                <a:r>
                  <a:rPr lang="en-IN" sz="2400">
                    <a:solidFill>
                      <a:srgbClr val="111827"/>
                    </a:solidFill>
                    <a:latin typeface="Cambria Math" panose="02040503050406030204" pitchFamily="18" charset="0"/>
                  </a:rPr>
                  <a:t>$x$</a:t>
                </a:r>
                <a:r>
                  <a:rPr sz="2400" b="0">
                    <a:solidFill>
                      <a:srgbClr val="111827"/>
                    </a:solidFill>
                    <a:latin typeface="Arial"/>
                  </a:rPr>
                  <a:t> in IV, </a:t>
                </a:r>
                <a:r>
                  <a:rPr lang="en-IN" sz="2400">
                    <a:solidFill>
                      <a:srgbClr val="111827"/>
                    </a:solidFill>
                    <a:latin typeface="Cambria Math" panose="02040503050406030204" pitchFamily="18" charset="0"/>
                  </a:rPr>
                  <a:t>$y$</a:t>
                </a:r>
                <a:r>
                  <a:rPr sz="2400" b="0">
                    <a:solidFill>
                      <a:srgbClr val="111827"/>
                    </a:solidFill>
                    <a:latin typeface="Arial"/>
                  </a:rPr>
                  <a:t> in I), or both in V.</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in I and </a:t>
                </a:r>
                <a:r>
                  <a:rPr lang="en-IN" sz="2400">
                    <a:solidFill>
                      <a:srgbClr val="111827"/>
                    </a:solidFill>
                    <a:latin typeface="Cambria Math" panose="02040503050406030204" pitchFamily="18" charset="0"/>
                  </a:rPr>
                  <a:t>$y$</a:t>
                </a:r>
                <a:r>
                  <a:rPr sz="2400" b="0">
                    <a:solidFill>
                      <a:srgbClr val="111827"/>
                    </a:solidFill>
                    <a:latin typeface="Arial"/>
                  </a:rPr>
                  <a:t> in IV: </a:t>
                </a:r>
                <a:r>
                  <a:rPr lang="en-IN" sz="2400">
                    <a:solidFill>
                      <a:srgbClr val="111827"/>
                    </a:solidFill>
                    <a:latin typeface="Cambria Math" panose="02040503050406030204" pitchFamily="18" charset="0"/>
                  </a:rPr>
                  <a:t>${}^5C_1\times{}^5C_1=25$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in II and </a:t>
                </a:r>
                <a:r>
                  <a:rPr lang="en-IN" sz="2400">
                    <a:solidFill>
                      <a:srgbClr val="111827"/>
                    </a:solidFill>
                    <a:latin typeface="Cambria Math" panose="02040503050406030204" pitchFamily="18" charset="0"/>
                  </a:rPr>
                  <a:t>$y$</a:t>
                </a:r>
                <a:r>
                  <a:rPr sz="2400" b="0">
                    <a:solidFill>
                      <a:srgbClr val="111827"/>
                    </a:solidFill>
                    <a:latin typeface="Arial"/>
                  </a:rPr>
                  <a:t> in III: </a:t>
                </a:r>
                <a:r>
                  <a:rPr lang="en-IN" sz="2400">
                    <a:solidFill>
                      <a:srgbClr val="111827"/>
                    </a:solidFill>
                    <a:latin typeface="Cambria Math" panose="02040503050406030204" pitchFamily="18" charset="0"/>
                  </a:rPr>
                  <a:t>$25$</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III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II: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IV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 I: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in V (distinct, ordered):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in the key; unordered pairs would give 60).</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in III and </a:t>
                </a:r>
                <a:r>
                  <a:rPr lang="en-IN" sz="2400">
                    <a:solidFill>
                      <a:srgbClr val="111827"/>
                    </a:solidFill>
                    <a:latin typeface="Cambria Math" panose="02040503050406030204" pitchFamily="18" charset="0"/>
                  </a:rPr>
                  <a:t>$y$</a:t>
                </a:r>
                <a:r>
                  <a:rPr sz="2400" b="0">
                    <a:solidFill>
                      <a:srgbClr val="111827"/>
                    </a:solidFill>
                    <a:latin typeface="Arial"/>
                  </a:rPr>
                  <a:t> in II: </a:t>
                </a:r>
                <a:r>
                  <a:rPr lang="en-IN" sz="2400">
                    <a:solidFill>
                      <a:srgbClr val="111827"/>
                    </a:solidFill>
                    <a:latin typeface="Cambria Math" panose="02040503050406030204" pitchFamily="18" charset="0"/>
                  </a:rPr>
                  <a:t>$25$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in IV and </a:t>
                </a:r>
                <a:r>
                  <a:rPr lang="en-IN" sz="2400">
                    <a:solidFill>
                      <a:srgbClr val="111827"/>
                    </a:solidFill>
                    <a:latin typeface="Cambria Math" panose="02040503050406030204" pitchFamily="18" charset="0"/>
                  </a:rPr>
                  <a:t>$y$</a:t>
                </a:r>
                <a:r>
                  <a:rPr sz="2400" b="0">
                    <a:solidFill>
                      <a:srgbClr val="111827"/>
                    </a:solidFill>
                    <a:latin typeface="Arial"/>
                  </a:rPr>
                  <a:t> in I: </a:t>
                </a:r>
                <a:r>
                  <a:rPr lang="en-IN" sz="2400">
                    <a:solidFill>
                      <a:srgbClr val="111827"/>
                    </a:solidFill>
                    <a:latin typeface="Cambria Math" panose="02040503050406030204" pitchFamily="18" charset="0"/>
                  </a:rPr>
                  <a:t>$25$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in V (distinct, ordered): </a:t>
                </a:r>
                <a:r>
                  <a:rPr lang="en-IN" sz="2400">
                    <a:solidFill>
                      <a:srgbClr val="111827"/>
                    </a:solidFill>
                    <a:latin typeface="Cambria Math" panose="02040503050406030204" pitchFamily="18" charset="0"/>
                  </a:rPr>
                  <a:t>${}^5C_2\times2=20$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$=25+25+25+25+20=120$</a:t>
                </a:r>
                <a:r>
                  <a:rPr sz="2400" b="0">
                    <a:solidFill>
                      <a:srgbClr val="111827"/>
                    </a:solidFill>
                    <a:latin typeface="Arial"/>
                  </a:rPr>
                  <a:t> (ordered pairs </a:t>
                </a:r>
                <a:r>
                  <a:rPr lang="en-IN" sz="2400">
                    <a:solidFill>
                      <a:srgbClr val="111827"/>
                    </a:solidFill>
                    <a:latin typeface="Cambria Math" panose="02040503050406030204" pitchFamily="18" charset="0"/>
                  </a:rPr>
                  <a:t>$(x,y)$</a:t>
                </a:r>
                <a:r>
                  <a:rPr sz="2400" b="0">
                    <a:solidFill>
                      <a:srgbClr val="111827"/>
                    </a:solidFill>
                    <a:latin typeface="Arial"/>
                  </a:rPr>
                  <a:t>, as in the key; unordered pairs would give 60).</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120</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first and count the admissible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they are the numbers with remainder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other than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itself.</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a:t>
                </a:r>
                <a:r>
                  <a:rPr lang="en-IN" sz="2400">
                    <a:solidFill>
                      <a:srgbClr val="78350F"/>
                    </a:solidFill>
                    <a:latin typeface="Cambria Math" panose="02040503050406030204" pitchFamily="18" charset="0"/>
                  </a:rPr>
                  <a:t>$x$</a:t>
                </a:r>
                <a:r>
                  <a:rPr sz="2400" b="0">
                    <a:solidFill>
                      <a:srgbClr val="78350F"/>
                    </a:solidFill>
                    <a:latin typeface="Arial"/>
                  </a:rPr>
                  <a:t> first and count the admissible </a:t>
                </a:r>
                <a:r>
                  <a:rPr lang="en-IN" sz="2400">
                    <a:solidFill>
                      <a:srgbClr val="78350F"/>
                    </a:solidFill>
                    <a:latin typeface="Cambria Math" panose="02040503050406030204" pitchFamily="18" charset="0"/>
                  </a:rPr>
                  <a:t>$y$</a:t>
                </a:r>
                <a:r>
                  <a:rPr sz="2400" b="0">
                    <a:solidFill>
                      <a:srgbClr val="78350F"/>
                    </a:solidFill>
                    <a:latin typeface="Arial"/>
                  </a:rPr>
                  <a:t>: they are the numbers with remainder </a:t>
                </a:r>
                <a:r>
                  <a:rPr lang="en-IN" sz="2400">
                    <a:solidFill>
                      <a:srgbClr val="78350F"/>
                    </a:solidFill>
                    <a:latin typeface="Cambria Math" panose="02040503050406030204" pitchFamily="18" charset="0"/>
                  </a:rPr>
                  <a:t>$-x\pmod5$</a:t>
                </a:r>
                <a:r>
                  <a:rPr sz="2400" b="0">
                    <a:solidFill>
                      <a:srgbClr val="78350F"/>
                    </a:solidFill>
                    <a:latin typeface="Arial"/>
                  </a:rPr>
                  <a:t>, other than </a:t>
                </a:r>
                <a:r>
                  <a:rPr lang="en-IN" sz="2400">
                    <a:solidFill>
                      <a:srgbClr val="78350F"/>
                    </a:solidFill>
                    <a:latin typeface="Cambria Math" panose="02040503050406030204" pitchFamily="18" charset="0"/>
                  </a:rPr>
                  <a:t>$x$</a:t>
                </a:r>
                <a:r>
                  <a:rPr sz="2400" b="0">
                    <a:solidFill>
                      <a:srgbClr val="78350F"/>
                    </a:solidFill>
                    <a:latin typeface="Arial"/>
                  </a:rPr>
                  <a:t> itself.</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required remainder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differs from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's remainder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there are 5 values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none equals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such values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values)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must also be a multiple of 5, distinct from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values, so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$x\not\equiv0\pmod5$</a:t>
                </a:r>
                <a:r>
                  <a:rPr sz="2400" b="0">
                    <a:solidFill>
                      <a:srgbClr val="111827"/>
                    </a:solidFill>
                    <a:latin typeface="Arial"/>
                  </a:rPr>
                  <a:t> the required remainder </a:t>
                </a:r>
                <a:r>
                  <a:rPr lang="en-IN" sz="2400">
                    <a:solidFill>
                      <a:srgbClr val="111827"/>
                    </a:solidFill>
                    <a:latin typeface="Cambria Math" panose="02040503050406030204" pitchFamily="18" charset="0"/>
                  </a:rPr>
                  <a:t>$5-r$</a:t>
                </a:r>
                <a:r>
                  <a:rPr sz="2400" b="0">
                    <a:solidFill>
                      <a:srgbClr val="111827"/>
                    </a:solidFill>
                    <a:latin typeface="Arial"/>
                  </a:rPr>
                  <a:t> differs from </a:t>
                </a:r>
                <a:r>
                  <a:rPr lang="en-IN" sz="2400">
                    <a:solidFill>
                      <a:srgbClr val="111827"/>
                    </a:solidFill>
                    <a:latin typeface="Cambria Math" panose="02040503050406030204" pitchFamily="18" charset="0"/>
                  </a:rPr>
                  <a:t>$x$</a:t>
                </a:r>
                <a:r>
                  <a:rPr sz="2400" b="0">
                    <a:solidFill>
                      <a:srgbClr val="111827"/>
                    </a:solidFill>
                    <a:latin typeface="Arial"/>
                  </a:rPr>
                  <a:t>'s remainder </a:t>
                </a:r>
                <a:r>
                  <a:rPr lang="en-IN" sz="2400">
                    <a:solidFill>
                      <a:srgbClr val="111827"/>
                    </a:solidFill>
                    <a:latin typeface="Cambria Math" panose="02040503050406030204" pitchFamily="18" charset="0"/>
                  </a:rPr>
                  <a:t>$r$</a:t>
                </a:r>
                <a:r>
                  <a:rPr sz="2400" b="0">
                    <a:solidFill>
                      <a:srgbClr val="111827"/>
                    </a:solidFill>
                    <a:latin typeface="Arial"/>
                  </a:rPr>
                  <a:t> (since </a:t>
                </a:r>
                <a:r>
                  <a:rPr lang="en-IN" sz="2400">
                    <a:solidFill>
                      <a:srgbClr val="111827"/>
                    </a:solidFill>
                    <a:latin typeface="Cambria Math" panose="02040503050406030204" pitchFamily="18" charset="0"/>
                  </a:rPr>
                  <a:t>$2r\not\equiv0$</a:t>
                </a:r>
                <a:r>
                  <a:rPr sz="2400" b="0">
                    <a:solidFill>
                      <a:srgbClr val="111827"/>
                    </a:solidFill>
                    <a:latin typeface="Arial"/>
                  </a:rPr>
                  <a:t>), so there are 5 values of </a:t>
                </a:r>
                <a:r>
                  <a:rPr lang="en-IN" sz="2400">
                    <a:solidFill>
                      <a:srgbClr val="111827"/>
                    </a:solidFill>
                    <a:latin typeface="Cambria Math" panose="02040503050406030204" pitchFamily="18" charset="0"/>
                  </a:rPr>
                  <a:t>$y$</a:t>
                </a:r>
                <a:r>
                  <a:rPr sz="2400" b="0">
                    <a:solidFill>
                      <a:srgbClr val="111827"/>
                    </a:solidFill>
                    <a:latin typeface="Arial"/>
                  </a:rPr>
                  <a:t> and none equals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$20$</a:t>
                </a:r>
                <a:r>
                  <a:rPr sz="2400" b="0">
                    <a:solidFill>
                      <a:srgbClr val="111827"/>
                    </a:solidFill>
                    <a:latin typeface="Arial"/>
                  </a:rPr>
                  <a:t> such values of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$20\times5=100$</a:t>
                </a:r>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$x\equiv0\pmod5$</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values) the </a:t>
                </a:r>
                <a:r>
                  <a:rPr lang="en-IN" sz="2400">
                    <a:solidFill>
                      <a:srgbClr val="111827"/>
                    </a:solidFill>
                    <a:latin typeface="Cambria Math" panose="02040503050406030204" pitchFamily="18" charset="0"/>
                  </a:rPr>
                  <a:t>$y$</a:t>
                </a:r>
                <a:r>
                  <a:rPr sz="2400" b="0">
                    <a:solidFill>
                      <a:srgbClr val="111827"/>
                    </a:solidFill>
                    <a:latin typeface="Arial"/>
                  </a:rPr>
                  <a:t> must also be a multiple of 5, distinct from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values, so </a:t>
                </a:r>
                <a:r>
                  <a:rPr lang="en-IN" sz="2400">
                    <a:solidFill>
                      <a:srgbClr val="111827"/>
                    </a:solidFill>
                    <a:latin typeface="Cambria Math" panose="02040503050406030204" pitchFamily="18" charset="0"/>
                  </a:rPr>
                  <a:t>$5\times4=20$</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$100+20=120$</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120</a:t>
            </a:r>
            <a:endParaRPr sz="2800">
              <a:solidFill>
                <a:srgbClr val="15803D"/>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each residue class has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members;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pairs class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with class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Self-paired classes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even) need pairs inside the same class: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unordered.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decide ordered or unordered pairs from the wording; here the key is the ordered count 120 (60 unordered).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numbers </a:t>
                </a:r>
                <a:r>
                  <a:rPr lang="en-IN" sz="2400">
                    <a:solidFill>
                      <a:srgbClr val="111827"/>
                    </a:solidFill>
                    <a:latin typeface="Cambria Math" panose="02040503050406030204" pitchFamily="18" charset="0"/>
                  </a:rPr>
                  <a:t>$1..N$</a:t>
                </a:r>
                <a:r>
                  <a:rPr sz="2400" b="0">
                    <a:solidFill>
                      <a:srgbClr val="111827"/>
                    </a:solidFill>
                    <a:latin typeface="Arial"/>
                  </a:rPr>
                  <a:t> with </a:t>
                </a:r>
                <a:r>
                  <a:rPr lang="en-IN" sz="2400">
                    <a:solidFill>
                      <a:srgbClr val="111827"/>
                    </a:solidFill>
                    <a:latin typeface="Cambria Math" panose="02040503050406030204" pitchFamily="18" charset="0"/>
                  </a:rPr>
                  <a:t>$m\mid N$</a:t>
                </a:r>
                <a:r>
                  <a:rPr sz="2400" b="0">
                    <a:solidFill>
                      <a:srgbClr val="111827"/>
                    </a:solidFill>
                    <a:latin typeface="Arial"/>
                  </a:rPr>
                  <a:t>, each residue class has </a:t>
                </a:r>
                <a:r>
                  <a:rPr lang="en-IN" sz="2400">
                    <a:solidFill>
                      <a:srgbClr val="111827"/>
                    </a:solidFill>
                    <a:latin typeface="Cambria Math" panose="02040503050406030204" pitchFamily="18" charset="0"/>
                  </a:rPr>
                  <a:t>$N/m$</a:t>
                </a:r>
                <a:r>
                  <a:rPr sz="2400" b="0">
                    <a:solidFill>
                      <a:srgbClr val="111827"/>
                    </a:solidFill>
                    <a:latin typeface="Arial"/>
                  </a:rPr>
                  <a:t> members; </a:t>
                </a:r>
                <a:r>
                  <a:rPr lang="en-IN" sz="2400">
                    <a:solidFill>
                      <a:srgbClr val="111827"/>
                    </a:solidFill>
                    <a:latin typeface="Cambria Math" panose="02040503050406030204" pitchFamily="18" charset="0"/>
                  </a:rPr>
                  <a:t>$x+y\equiv0\pmod m$</a:t>
                </a:r>
                <a:r>
                  <a:rPr sz="2400" b="0">
                    <a:solidFill>
                      <a:srgbClr val="111827"/>
                    </a:solidFill>
                    <a:latin typeface="Arial"/>
                  </a:rPr>
                  <a:t> pairs class </a:t>
                </a:r>
                <a:r>
                  <a:rPr lang="en-IN" sz="2400">
                    <a:solidFill>
                      <a:srgbClr val="111827"/>
                    </a:solidFill>
                    <a:latin typeface="Cambria Math" panose="02040503050406030204" pitchFamily="18" charset="0"/>
                  </a:rPr>
                  <a:t>$r$</a:t>
                </a:r>
                <a:r>
                  <a:rPr sz="2400" b="0">
                    <a:solidFill>
                      <a:srgbClr val="111827"/>
                    </a:solidFill>
                    <a:latin typeface="Arial"/>
                  </a:rPr>
                  <a:t> with class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Self-paired classes (</a:t>
                </a:r>
                <a:r>
                  <a:rPr lang="en-IN" sz="2400">
                    <a:solidFill>
                      <a:srgbClr val="111827"/>
                    </a:solidFill>
                    <a:latin typeface="Cambria Math" panose="02040503050406030204" pitchFamily="18" charset="0"/>
                  </a:rPr>
                  <a:t>$r\equiv-r$</a:t>
                </a:r>
                <a:r>
                  <a:rPr sz="2400" b="0">
                    <a:solidFill>
                      <a:srgbClr val="111827"/>
                    </a:solidFill>
                    <a:latin typeface="Arial"/>
                  </a:rPr>
                  <a:t>, i.e. </a:t>
                </a:r>
                <a:r>
                  <a:rPr lang="en-IN" sz="2400">
                    <a:solidFill>
                      <a:srgbClr val="111827"/>
                    </a:solidFill>
                    <a:latin typeface="Cambria Math" panose="02040503050406030204" pitchFamily="18" charset="0"/>
                  </a:rPr>
                  <a:t>$r=0$</a:t>
                </a:r>
                <a:r>
                  <a:rPr sz="2400" b="0">
                    <a:solidFill>
                      <a:srgbClr val="111827"/>
                    </a:solidFill>
                    <a:latin typeface="Arial"/>
                  </a:rPr>
                  <a:t>, and </a:t>
                </a:r>
                <a:r>
                  <a:rPr lang="en-IN" sz="2400">
                    <a:solidFill>
                      <a:srgbClr val="111827"/>
                    </a:solidFill>
                    <a:latin typeface="Cambria Math" panose="02040503050406030204" pitchFamily="18" charset="0"/>
                  </a:rPr>
                  <a:t>$r=\frac m2$</a:t>
                </a:r>
                <a:r>
                  <a:rPr sz="2400" b="0">
                    <a:solidFill>
                      <a:srgbClr val="111827"/>
                    </a:solidFill>
                    <a:latin typeface="Arial"/>
                  </a:rPr>
                  <a:t> if </a:t>
                </a:r>
                <a:r>
                  <a:rPr lang="en-IN" sz="2400">
                    <a:solidFill>
                      <a:srgbClr val="111827"/>
                    </a:solidFill>
                    <a:latin typeface="Cambria Math" panose="02040503050406030204" pitchFamily="18" charset="0"/>
                  </a:rPr>
                  <a:t>$m$</a:t>
                </a:r>
                <a:r>
                  <a:rPr sz="2400" b="0">
                    <a:solidFill>
                      <a:srgbClr val="111827"/>
                    </a:solidFill>
                    <a:latin typeface="Arial"/>
                  </a:rPr>
                  <a:t> is even) need pairs inside the same class: </a:t>
                </a:r>
                <a:r>
                  <a:rPr lang="en-IN" sz="2400">
                    <a:solidFill>
                      <a:srgbClr val="111827"/>
                    </a:solidFill>
                    <a:latin typeface="Cambria Math" panose="02040503050406030204" pitchFamily="18" charset="0"/>
                  </a:rPr>
                  <a:t>$\binom{N/m}{2}$</a:t>
                </a:r>
                <a:r>
                  <a:rPr sz="2400" b="0">
                    <a:solidFill>
                      <a:srgbClr val="111827"/>
                    </a:solidFill>
                    <a:latin typeface="Arial"/>
                  </a:rPr>
                  <a:t> unordered.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decide ordered or unordered pairs from the wording; here the key is the ordered count 120 (60 unordered).</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m:t>
                        </m:r>
                      </m:sup>
                    </m:sSup>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$(1+x+x^2)^{10}=a_0+a_1x+a_2x^2+\dots+a_{20}x^{20}$</a:t>
                </a:r>
                <a:r>
                  <a:rPr sz="2400" b="0">
                    <a:solidFill>
                      <a:srgbClr val="111827"/>
                    </a:solidFill>
                    <a:latin typeface="Arial"/>
                  </a:rPr>
                  <a:t>. If </a:t>
                </a:r>
                <a:r>
                  <a:rPr lang="en-IN" sz="2400">
                    <a:solidFill>
                      <a:srgbClr val="111827"/>
                    </a:solidFill>
                    <a:latin typeface="Cambria Math" panose="02040503050406030204" pitchFamily="18" charset="0"/>
                  </a:rPr>
                  <a:t>$(a_1+a_3+a_5+\dots+a_{19})-11a_2=121k$</a:t>
                </a:r>
                <a:r>
                  <a:rPr sz="2400" b="0">
                    <a:solidFill>
                      <a:srgbClr val="111827"/>
                    </a:solidFill>
                    <a:latin typeface="Arial"/>
                  </a:rPr>
                  <a:t>, then </a:t>
                </a:r>
                <a:r>
                  <a:rPr lang="en-IN" sz="2400">
                    <a:solidFill>
                      <a:srgbClr val="111827"/>
                    </a:solidFill>
                    <a:latin typeface="Cambria Math" panose="02040503050406030204" pitchFamily="18" charset="0"/>
                  </a:rPr>
                  <a:t>$k$</a:t>
                </a:r>
                <a:r>
                  <a:rPr sz="2400" b="0">
                    <a:solidFill>
                      <a:srgbClr val="111827"/>
                    </a:solidFill>
                    <a:latin typeface="Arial"/>
                  </a:rPr>
                  <a:t> is equal to ______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Coefficients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Sum of odd-indexed coefficients by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Coefficients of </a:t>
                </a:r>
                <a:r>
                  <a:rPr lang="en-IN" sz="2400">
                    <a:solidFill>
                      <a:srgbClr val="111827"/>
                    </a:solidFill>
                    <a:latin typeface="Cambria Math" panose="02040503050406030204" pitchFamily="18" charset="0"/>
                  </a:rPr>
                  <a:t>$(1+x+x^2)^n$</a:t>
                </a:r>
                <a:r>
                  <a:rPr sz="2400" b="0">
                    <a:solidFill>
                      <a:srgbClr val="111827"/>
                    </a:solidFill>
                    <a:latin typeface="Arial"/>
                  </a:rPr>
                  <a:t>, Sum of odd-indexed coefficients by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for the odd-coefficient sum, and differentiate twice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to read off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$x=1$</a:t>
                </a:r>
                <a:r>
                  <a:rPr sz="2400" b="0">
                    <a:solidFill>
                      <a:srgbClr val="78350F"/>
                    </a:solidFill>
                    <a:latin typeface="Arial"/>
                  </a:rPr>
                  <a:t> and </a:t>
                </a:r>
                <a:r>
                  <a:rPr lang="en-IN" sz="2400">
                    <a:solidFill>
                      <a:srgbClr val="78350F"/>
                    </a:solidFill>
                    <a:latin typeface="Cambria Math" panose="02040503050406030204" pitchFamily="18" charset="0"/>
                  </a:rPr>
                  <a:t>$x=-1$</a:t>
                </a:r>
                <a:r>
                  <a:rPr sz="2400" b="0">
                    <a:solidFill>
                      <a:srgbClr val="78350F"/>
                    </a:solidFill>
                    <a:latin typeface="Arial"/>
                  </a:rPr>
                  <a:t> for the odd-coefficient sum, and differentiate twice at </a:t>
                </a:r>
                <a:r>
                  <a:rPr lang="en-IN" sz="2400">
                    <a:solidFill>
                      <a:srgbClr val="78350F"/>
                    </a:solidFill>
                    <a:latin typeface="Cambria Math" panose="02040503050406030204" pitchFamily="18" charset="0"/>
                  </a:rPr>
                  <a:t>$x=0$</a:t>
                </a:r>
                <a:r>
                  <a:rPr sz="2400" b="0">
                    <a:solidFill>
                      <a:srgbClr val="78350F"/>
                    </a:solidFill>
                    <a:latin typeface="Arial"/>
                  </a:rPr>
                  <a:t> to read off </a:t>
                </a:r>
                <a:r>
                  <a:rPr lang="en-IN" sz="2400">
                    <a:solidFill>
                      <a:srgbClr val="78350F"/>
                    </a:solidFill>
                    <a:latin typeface="Cambria Math" panose="02040503050406030204" pitchFamily="18" charset="0"/>
                  </a:rPr>
                  <a:t>$a_2$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29524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$f(x)=(1+x+x^2)^{10}$</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$a_0+a_1+a_2+\dots+a_{20}=3^{10}$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$a_0-a_1+a_2-a_3+\dots-a_{19}+a_{20}=1$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$2(a_1+a_3+\dots+a_{19})=3^{10}-1$</a:t>
                </a:r>
                <a:r>
                  <a:rPr sz="2400" b="0">
                    <a:solidFill>
                      <a:srgbClr val="111827"/>
                    </a:solidFill>
                    <a:latin typeface="Arial"/>
                  </a:rPr>
                  <a:t>, so </a:t>
                </a:r>
                <a:r>
                  <a:rPr lang="en-IN" sz="2400">
                    <a:solidFill>
                      <a:srgbClr val="111827"/>
                    </a:solidFill>
                    <a:latin typeface="Cambria Math" panose="02040503050406030204" pitchFamily="18" charset="0"/>
                  </a:rPr>
                  <a:t>$a_1+a_3+\dots+a_{19}=\frac{3^{10}-1}{2}=29524$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$10(1+x+x^2)^9(1+2x)=a_1+2a_2x+3a_3x^2+\dots$</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again: </a:t>
                </a:r>
                <a14:m>
                  <m:oMath xmlns:m="http://schemas.openxmlformats.org/officeDocument/2006/math">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29524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28919</m:t>
                        </m:r>
                      </m:num>
                      <m:den>
                        <m:r>
                          <a:rPr lang="en-IN" sz="2400" i="1">
                            <a:solidFill>
                              <a:srgbClr val="111827"/>
                            </a:solidFill>
                            <a:latin typeface="Cambria Math" panose="02040503050406030204" pitchFamily="18" charset="0"/>
                          </a:rPr>
                          <m:t>121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again: </a:t>
                </a:r>
                <a:r>
                  <a:rPr lang="en-IN" sz="2400">
                    <a:solidFill>
                      <a:srgbClr val="111827"/>
                    </a:solidFill>
                    <a:latin typeface="Cambria Math" panose="02040503050406030204" pitchFamily="18" charset="0"/>
                  </a:rPr>
                  <a:t>$90(1+x+x^2)^8(1+2x)^2+10(1+x+x^2)^9\cdot2=2a_2+6a_3x+\dots$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$90+20=2a_2\Rightarrow a_2=55$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$a_1+a_3+\dots+a_{19}-11a_2=\frac{3^{10}-1}{2}-11\times55=29524-605=28919=121k$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$k=\frac{28919}{121}=239$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239</a:t>
            </a:r>
            <a:endParaRPr sz="2800">
              <a:solidFill>
                <a:srgbClr val="15803D"/>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directly by choosing which factors contribute to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instead of differentiating twice.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a:t>
                </a:r>
                <a:r>
                  <a:rPr lang="en-IN" sz="2400">
                    <a:solidFill>
                      <a:srgbClr val="78350F"/>
                    </a:solidFill>
                    <a:latin typeface="Cambria Math" panose="02040503050406030204" pitchFamily="18" charset="0"/>
                  </a:rPr>
                  <a:t>$a_2$</a:t>
                </a:r>
                <a:r>
                  <a:rPr sz="2400" b="0">
                    <a:solidFill>
                      <a:srgbClr val="78350F"/>
                    </a:solidFill>
                    <a:latin typeface="Arial"/>
                  </a:rPr>
                  <a:t> directly by choosing which factors contribute to </a:t>
                </a:r>
                <a:r>
                  <a:rPr lang="en-IN" sz="2400">
                    <a:solidFill>
                      <a:srgbClr val="78350F"/>
                    </a:solidFill>
                    <a:latin typeface="Cambria Math" panose="02040503050406030204" pitchFamily="18" charset="0"/>
                  </a:rPr>
                  <a:t>$x^2$</a:t>
                </a:r>
                <a:r>
                  <a:rPr sz="2400" b="0">
                    <a:solidFill>
                      <a:srgbClr val="78350F"/>
                    </a:solidFill>
                    <a:latin typeface="Arial"/>
                  </a:rPr>
                  <a:t>, instead of differentiating twice.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the product of ten factors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Either one factor supplies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the other nine supply 1: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 two different factors supply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each and the rest supply 1: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ways.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$a_2$</a:t>
                </a:r>
                <a:r>
                  <a:rPr sz="2400" b="0">
                    <a:solidFill>
                      <a:srgbClr val="111827"/>
                    </a:solidFill>
                    <a:latin typeface="Arial"/>
                  </a:rPr>
                  <a:t> is the coefficient of </a:t>
                </a:r>
                <a:r>
                  <a:rPr lang="en-IN" sz="2400">
                    <a:solidFill>
                      <a:srgbClr val="111827"/>
                    </a:solidFill>
                    <a:latin typeface="Cambria Math" panose="02040503050406030204" pitchFamily="18" charset="0"/>
                  </a:rPr>
                  <a:t>$x^2$</a:t>
                </a:r>
                <a:r>
                  <a:rPr sz="2400" b="0">
                    <a:solidFill>
                      <a:srgbClr val="111827"/>
                    </a:solidFill>
                    <a:latin typeface="Arial"/>
                  </a:rPr>
                  <a:t> in the product of ten factors </a:t>
                </a:r>
                <a:r>
                  <a:rPr lang="en-IN" sz="2400">
                    <a:solidFill>
                      <a:srgbClr val="111827"/>
                    </a:solidFill>
                    <a:latin typeface="Cambria Math" panose="02040503050406030204" pitchFamily="18" charset="0"/>
                  </a:rPr>
                  <a:t>$(1+x+x^2)$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Either one factor supplies </a:t>
                </a:r>
                <a:r>
                  <a:rPr lang="en-IN" sz="2400">
                    <a:solidFill>
                      <a:srgbClr val="111827"/>
                    </a:solidFill>
                    <a:latin typeface="Cambria Math" panose="02040503050406030204" pitchFamily="18" charset="0"/>
                  </a:rPr>
                  <a:t>$x^2$</a:t>
                </a:r>
                <a:r>
                  <a:rPr sz="2400" b="0">
                    <a:solidFill>
                      <a:srgbClr val="111827"/>
                    </a:solidFill>
                    <a:latin typeface="Arial"/>
                  </a:rPr>
                  <a:t> and the other nine supply 1: </a:t>
                </a:r>
                <a:r>
                  <a:rPr lang="en-IN" sz="2400">
                    <a:solidFill>
                      <a:srgbClr val="111827"/>
                    </a:solidFill>
                    <a:latin typeface="Cambria Math" panose="02040503050406030204" pitchFamily="18" charset="0"/>
                  </a:rPr>
                  <a:t>$\binom{10}{1}=10$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 two different factors supply </a:t>
                </a:r>
                <a:r>
                  <a:rPr lang="en-IN" sz="2400">
                    <a:solidFill>
                      <a:srgbClr val="111827"/>
                    </a:solidFill>
                    <a:latin typeface="Cambria Math" panose="02040503050406030204" pitchFamily="18" charset="0"/>
                  </a:rPr>
                  <a:t>$x$</a:t>
                </a:r>
                <a:r>
                  <a:rPr sz="2400" b="0">
                    <a:solidFill>
                      <a:srgbClr val="111827"/>
                    </a:solidFill>
                    <a:latin typeface="Arial"/>
                  </a:rPr>
                  <a:t> each and the rest supply 1: </a:t>
                </a:r>
                <a:r>
                  <a:rPr lang="en-IN" sz="2400">
                    <a:solidFill>
                      <a:srgbClr val="111827"/>
                    </a:solidFill>
                    <a:latin typeface="Cambria Math" panose="02040503050406030204" pitchFamily="18" charset="0"/>
                  </a:rPr>
                  <a:t>$\binom{10}{2}=45$</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 (in general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odd-index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29524</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29524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239</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$a_2=10+45=55$</a:t>
                </a:r>
                <a:r>
                  <a:rPr sz="2400" b="0">
                    <a:solidFill>
                      <a:srgbClr val="111827"/>
                    </a:solidFill>
                    <a:latin typeface="Arial"/>
                  </a:rPr>
                  <a:t> (in general </a:t>
                </a:r>
                <a:r>
                  <a:rPr lang="en-IN" sz="2400">
                    <a:solidFill>
                      <a:srgbClr val="111827"/>
                    </a:solidFill>
                    <a:latin typeface="Cambria Math" panose="02040503050406030204" pitchFamily="18" charset="0"/>
                  </a:rPr>
                  <a:t>$a_2=\binom n2+n=\frac{n(n+1)}2$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odd-index sum is </a:t>
                </a:r>
                <a:r>
                  <a:rPr lang="en-IN" sz="2400">
                    <a:solidFill>
                      <a:srgbClr val="111827"/>
                    </a:solidFill>
                    <a:latin typeface="Cambria Math" panose="02040503050406030204" pitchFamily="18" charset="0"/>
                  </a:rPr>
                  <a:t>$\frac{f(1)-f(-1)}{2}=\frac{3^{10}-1}{2}=29524$</a:t>
                </a:r>
                <a:r>
                  <a:rPr sz="2400" b="0">
                    <a:solidFill>
                      <a:srgbClr val="111827"/>
                    </a:solidFill>
                    <a:latin typeface="Arial"/>
                  </a:rPr>
                  <a:t>; then </a:t>
                </a:r>
                <a:r>
                  <a:rPr lang="en-IN" sz="2400">
                    <a:solidFill>
                      <a:srgbClr val="111827"/>
                    </a:solidFill>
                    <a:latin typeface="Cambria Math" panose="02040503050406030204" pitchFamily="18" charset="0"/>
                  </a:rPr>
                  <a:t>$29524-605=28919=121\times239$</a:t>
                </a:r>
                <a:r>
                  <a:rPr sz="2400" b="0">
                    <a:solidFill>
                      <a:srgbClr val="111827"/>
                    </a:solidFill>
                    <a:latin typeface="Arial"/>
                  </a:rPr>
                  <a:t>, so </a:t>
                </a:r>
                <a:r>
                  <a:rPr lang="en-IN" sz="2400">
                    <a:solidFill>
                      <a:srgbClr val="111827"/>
                    </a:solidFill>
                    <a:latin typeface="Cambria Math" panose="02040503050406030204" pitchFamily="18" charset="0"/>
                  </a:rPr>
                  <a:t>$k=239$</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239</a:t>
            </a:r>
            <a:endParaRPr sz="2800">
              <a:solidFill>
                <a:srgbClr val="15803D"/>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even-indexed coefficients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of odd-indexed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coefficient of a low power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is cheaper to count by choosing which factors give which power than by repeated differentiation.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even-indexed coefficients </a:t>
                </a:r>
                <a:r>
                  <a:rPr lang="en-IN" sz="2400">
                    <a:solidFill>
                      <a:srgbClr val="111827"/>
                    </a:solidFill>
                    <a:latin typeface="Cambria Math" panose="02040503050406030204" pitchFamily="18" charset="0"/>
                  </a:rPr>
                  <a:t>$=\frac{f(1)+f(-1)}2$</a:t>
                </a:r>
                <a:r>
                  <a:rPr sz="2400" b="0">
                    <a:solidFill>
                      <a:srgbClr val="111827"/>
                    </a:solidFill>
                    <a:latin typeface="Arial"/>
                  </a:rPr>
                  <a:t>, of odd-indexed </a:t>
                </a:r>
                <a:r>
                  <a:rPr lang="en-IN" sz="2400">
                    <a:solidFill>
                      <a:srgbClr val="111827"/>
                    </a:solidFill>
                    <a:latin typeface="Cambria Math" panose="02040503050406030204" pitchFamily="18" charset="0"/>
                  </a:rPr>
                  <a:t>$=\frac{f(1)-f(-1)}2$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$(1+x+x^2)^n$</a:t>
                </a:r>
                <a:r>
                  <a:rPr sz="2400" b="0">
                    <a:solidFill>
                      <a:srgbClr val="111827"/>
                    </a:solidFill>
                    <a:latin typeface="Arial"/>
                  </a:rPr>
                  <a:t>: </a:t>
                </a:r>
                <a:r>
                  <a:rPr lang="en-IN" sz="2400">
                    <a:solidFill>
                      <a:srgbClr val="111827"/>
                    </a:solidFill>
                    <a:latin typeface="Cambria Math" panose="02040503050406030204" pitchFamily="18" charset="0"/>
                  </a:rPr>
                  <a:t>$a_0=1$</a:t>
                </a:r>
                <a:r>
                  <a:rPr sz="2400" b="0">
                    <a:solidFill>
                      <a:srgbClr val="111827"/>
                    </a:solidFill>
                    <a:latin typeface="Arial"/>
                  </a:rPr>
                  <a:t>, </a:t>
                </a:r>
                <a:r>
                  <a:rPr lang="en-IN" sz="2400">
                    <a:solidFill>
                      <a:srgbClr val="111827"/>
                    </a:solidFill>
                    <a:latin typeface="Cambria Math" panose="02040503050406030204" pitchFamily="18" charset="0"/>
                  </a:rPr>
                  <a:t>$a_1=n$</a:t>
                </a:r>
                <a:r>
                  <a:rPr sz="2400" b="0">
                    <a:solidFill>
                      <a:srgbClr val="111827"/>
                    </a:solidFill>
                    <a:latin typeface="Arial"/>
                  </a:rPr>
                  <a:t>, </a:t>
                </a:r>
                <a:r>
                  <a:rPr lang="en-IN" sz="2400">
                    <a:solidFill>
                      <a:srgbClr val="111827"/>
                    </a:solidFill>
                    <a:latin typeface="Cambria Math" panose="02040503050406030204" pitchFamily="18" charset="0"/>
                  </a:rPr>
                  <a:t>$a_2=\frac{n(n+1)}2$</a:t>
                </a:r>
                <a:r>
                  <a:rPr sz="2400" b="0">
                    <a:solidFill>
                      <a:srgbClr val="111827"/>
                    </a:solidFill>
                    <a:latin typeface="Arial"/>
                  </a:rPr>
                  <a:t>; for </a:t>
                </a:r>
                <a:r>
                  <a:rPr lang="en-IN" sz="2400">
                    <a:solidFill>
                      <a:srgbClr val="111827"/>
                    </a:solidFill>
                    <a:latin typeface="Cambria Math" panose="02040503050406030204" pitchFamily="18" charset="0"/>
                  </a:rPr>
                  <a:t>$n=10$</a:t>
                </a:r>
                <a:r>
                  <a:rPr sz="2400" b="0">
                    <a:solidFill>
                      <a:srgbClr val="111827"/>
                    </a:solidFill>
                    <a:latin typeface="Arial"/>
                  </a:rPr>
                  <a:t>: </a:t>
                </a:r>
                <a:r>
                  <a:rPr lang="en-IN" sz="2400">
                    <a:solidFill>
                      <a:srgbClr val="111827"/>
                    </a:solidFill>
                    <a:latin typeface="Cambria Math" panose="02040503050406030204" pitchFamily="18" charset="0"/>
                  </a:rPr>
                  <a:t>$1,10,55$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coefficient of a low power </a:t>
                </a:r>
                <a:r>
                  <a:rPr lang="en-IN" sz="2400">
                    <a:solidFill>
                      <a:srgbClr val="111827"/>
                    </a:solidFill>
                    <a:latin typeface="Cambria Math" panose="02040503050406030204" pitchFamily="18" charset="0"/>
                  </a:rPr>
                  <a:t>$x^k$</a:t>
                </a:r>
                <a:r>
                  <a:rPr sz="2400" b="0">
                    <a:solidFill>
                      <a:srgbClr val="111827"/>
                    </a:solidFill>
                    <a:latin typeface="Arial"/>
                  </a:rPr>
                  <a:t> is cheaper to count by choosing which factors give which power than by repeated differentiation.</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sum of the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up>
                    </m:sSup>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the expansion of </a:t>
                </a:r>
                <a:r>
                  <a:rPr lang="en-IN" sz="2400">
                    <a:solidFill>
                      <a:srgbClr val="111827"/>
                    </a:solidFill>
                    <a:latin typeface="Cambria Math" panose="02040503050406030204" pitchFamily="18" charset="0"/>
                  </a:rPr>
                  <a:t>$(1+x)(1-x^2)\left(1+\frac3x+\frac3{x^2}+\frac1{x^3}\right)^5$</a:t>
                </a:r>
                <a:r>
                  <a:rPr sz="2400" b="0">
                    <a:solidFill>
                      <a:srgbClr val="111827"/>
                    </a:solidFill>
                    <a:latin typeface="Arial"/>
                  </a:rPr>
                  <a:t>, </a:t>
                </a:r>
                <a:r>
                  <a:rPr lang="en-IN" sz="2400">
                    <a:solidFill>
                      <a:srgbClr val="111827"/>
                    </a:solidFill>
                    <a:latin typeface="Cambria Math" panose="02040503050406030204" pitchFamily="18" charset="0"/>
                  </a:rPr>
                  <a:t>$x\ne0$</a:t>
                </a:r>
                <a:r>
                  <a:rPr sz="2400" b="0">
                    <a:solidFill>
                      <a:srgbClr val="111827"/>
                    </a:solidFill>
                    <a:latin typeface="Arial"/>
                  </a:rPr>
                  <a:t>, the sum of the coefficients of </a:t>
                </a:r>
                <a:r>
                  <a:rPr lang="en-IN" sz="2400">
                    <a:solidFill>
                      <a:srgbClr val="111827"/>
                    </a:solidFill>
                    <a:latin typeface="Cambria Math" panose="02040503050406030204" pitchFamily="18" charset="0"/>
                  </a:rPr>
                  <a:t>$x^3$</a:t>
                </a:r>
                <a:r>
                  <a:rPr sz="2400" b="0">
                    <a:solidFill>
                      <a:srgbClr val="111827"/>
                    </a:solidFill>
                    <a:latin typeface="Arial"/>
                  </a:rPr>
                  <a:t> and </a:t>
                </a:r>
                <a:r>
                  <a:rPr lang="en-IN" sz="2400">
                    <a:solidFill>
                      <a:srgbClr val="111827"/>
                    </a:solidFill>
                    <a:latin typeface="Cambria Math" panose="02040503050406030204" pitchFamily="18" charset="0"/>
                  </a:rPr>
                  <a:t>$x^{-13}$</a:t>
                </a:r>
                <a:r>
                  <a:rPr sz="2400" b="0">
                    <a:solidFill>
                      <a:srgbClr val="111827"/>
                    </a:solidFill>
                    <a:latin typeface="Arial"/>
                  </a:rPr>
                  <a:t> is equal to ______ .</a:t>
                </a:r>
                <a:endParaRPr sz="2400">
                  <a:solidFill>
                    <a:srgbClr val="111827"/>
                  </a:solidFill>
                </a:endParaRPr>
              </a:p>
            </p:txBody>
          </p:sp>
        </mc:Fallback>
      </mc:AlternateContent>
      <p:sp>
        <p:nvSpPr>
          <p:cNvPr id="5" name="Rectangle 4"/>
          <p:cNvSpPr/>
          <p:nvPr/>
        </p:nvSpPr>
        <p:spPr>
          <a:xfrm>
            <a:off x="731520" y="3474212"/>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Simplifying a product to a binomial form and picking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e>
                        </m:d>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so the whole expression is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17</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15</m:t>
                            </m:r>
                          </m:sup>
                        </m:sSup>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$1+\frac3x+\frac3{x^2}+\frac1{x^3}=\left(1+\frac1x\right)^3$</a:t>
                </a:r>
                <a:r>
                  <a:rPr sz="2400" b="0">
                    <a:solidFill>
                      <a:srgbClr val="78350F"/>
                    </a:solidFill>
                    <a:latin typeface="Arial"/>
                  </a:rPr>
                  <a:t>, so the whole expression is </a:t>
                </a:r>
                <a:r>
                  <a:rPr lang="en-IN" sz="2400">
                    <a:solidFill>
                      <a:srgbClr val="78350F"/>
                    </a:solidFill>
                    <a:latin typeface="Cambria Math" panose="02040503050406030204" pitchFamily="18" charset="0"/>
                  </a:rPr>
                  <a:t>$\frac{(1+x)^{17}(1-x)}{x^{15}}$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its fifth power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expression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$1+\frac3x+\frac3{x^2}+\frac1{x^3}=\left(1+\frac1x\right)^3$</a:t>
                </a:r>
                <a:r>
                  <a:rPr sz="2400" b="0">
                    <a:solidFill>
                      <a:srgbClr val="111827"/>
                    </a:solidFill>
                    <a:latin typeface="Arial"/>
                  </a:rPr>
                  <a:t>, so its fifth power is </a:t>
                </a:r>
                <a:r>
                  <a:rPr lang="en-IN" sz="2400">
                    <a:solidFill>
                      <a:srgbClr val="111827"/>
                    </a:solidFill>
                    <a:latin typeface="Cambria Math" panose="02040503050406030204" pitchFamily="18" charset="0"/>
                  </a:rPr>
                  <a:t>$\left(1+\frac1x\right)^{15}=\frac{(1+x)^{15}}{x^{15}}$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$(1+x)(1-x^2)=(1+x)^2(1-x)$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expression equals </a:t>
                </a:r>
                <a:r>
                  <a:rPr lang="en-IN" sz="2400">
                    <a:solidFill>
                      <a:srgbClr val="111827"/>
                    </a:solidFill>
                    <a:latin typeface="Cambria Math" panose="02040503050406030204" pitchFamily="18" charset="0"/>
                  </a:rPr>
                  <a:t>$\frac{(1+x)^2(1-x)(1+x)^{15}}{x^{15}}=\frac{(1+x)^{17}-x(1+x)^{17}}{x^{15}}$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$x^3$</a:t>
                </a:r>
                <a:r>
                  <a:rPr sz="2400" b="0">
                    <a:solidFill>
                      <a:srgbClr val="111827"/>
                    </a:solidFill>
                    <a:latin typeface="Arial"/>
                  </a:rPr>
                  <a:t> = coefficient of </a:t>
                </a:r>
                <a:r>
                  <a:rPr lang="en-IN" sz="2400">
                    <a:solidFill>
                      <a:srgbClr val="111827"/>
                    </a:solidFill>
                    <a:latin typeface="Cambria Math" panose="02040503050406030204" pitchFamily="18" charset="0"/>
                  </a:rPr>
                  <a:t>$x^{18}$</a:t>
                </a:r>
                <a:r>
                  <a:rPr sz="2400" b="0">
                    <a:solidFill>
                      <a:srgbClr val="111827"/>
                    </a:solidFill>
                    <a:latin typeface="Arial"/>
                  </a:rPr>
                  <a:t> in </a:t>
                </a:r>
                <a:r>
                  <a:rPr lang="en-IN" sz="2400">
                    <a:solidFill>
                      <a:srgbClr val="111827"/>
                    </a:solidFill>
                    <a:latin typeface="Cambria Math" panose="02040503050406030204" pitchFamily="18" charset="0"/>
                  </a:rPr>
                  <a:t>$(1+x)^{17}-x(1+x)^{17}$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 has no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term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with coefficient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the coefficient is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up>
                    </m:sSup>
                  </m:oMath>
                </a14:m>
                <a:r>
                  <a:rPr sz="2400" b="0">
                    <a:solidFill>
                      <a:srgbClr val="111827"/>
                    </a:solidFill>
                    <a:latin typeface="Arial"/>
                  </a:rPr>
                  <a:t> =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the numerator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$(1+x)^{17}$</a:t>
                </a:r>
                <a:r>
                  <a:rPr sz="2400" b="0">
                    <a:solidFill>
                      <a:srgbClr val="111827"/>
                    </a:solidFill>
                    <a:latin typeface="Arial"/>
                  </a:rPr>
                  <a:t> has no </a:t>
                </a:r>
                <a:r>
                  <a:rPr lang="en-IN" sz="2400">
                    <a:solidFill>
                      <a:srgbClr val="111827"/>
                    </a:solidFill>
                    <a:latin typeface="Cambria Math" panose="02040503050406030204" pitchFamily="18" charset="0"/>
                  </a:rPr>
                  <a:t>$x^{18}$</a:t>
                </a:r>
                <a:r>
                  <a:rPr sz="2400" b="0">
                    <a:solidFill>
                      <a:srgbClr val="111827"/>
                    </a:solidFill>
                    <a:latin typeface="Arial"/>
                  </a:rPr>
                  <a:t> term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$x(1+x)^{17}$</a:t>
                </a:r>
                <a:r>
                  <a:rPr sz="2400" b="0">
                    <a:solidFill>
                      <a:srgbClr val="111827"/>
                    </a:solidFill>
                    <a:latin typeface="Arial"/>
                  </a:rPr>
                  <a:t> has </a:t>
                </a:r>
                <a:r>
                  <a:rPr lang="en-IN" sz="2400">
                    <a:solidFill>
                      <a:srgbClr val="111827"/>
                    </a:solidFill>
                    <a:latin typeface="Cambria Math" panose="02040503050406030204" pitchFamily="18" charset="0"/>
                  </a:rPr>
                  <a:t>$x^{18}$</a:t>
                </a:r>
                <a:r>
                  <a:rPr sz="2400" b="0">
                    <a:solidFill>
                      <a:srgbClr val="111827"/>
                    </a:solidFill>
                    <a:latin typeface="Arial"/>
                  </a:rPr>
                  <a:t> with coefficient </a:t>
                </a:r>
                <a:r>
                  <a:rPr lang="en-IN" sz="2400">
                    <a:solidFill>
                      <a:srgbClr val="111827"/>
                    </a:solidFill>
                    <a:latin typeface="Cambria Math" panose="02040503050406030204" pitchFamily="18" charset="0"/>
                  </a:rPr>
                  <a:t>$1$</a:t>
                </a:r>
                <a:r>
                  <a:rPr sz="2400" b="0">
                    <a:solidFill>
                      <a:srgbClr val="111827"/>
                    </a:solidFill>
                    <a:latin typeface="Arial"/>
                  </a:rPr>
                  <a:t>: so the coefficient is </a:t>
                </a:r>
                <a:r>
                  <a:rPr lang="en-IN" sz="2400">
                    <a:solidFill>
                      <a:srgbClr val="111827"/>
                    </a:solidFill>
                    <a:latin typeface="Cambria Math" panose="02040503050406030204" pitchFamily="18" charset="0"/>
                  </a:rPr>
                  <a:t>$0-1=-1$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$x^{-13}$</a:t>
                </a:r>
                <a:r>
                  <a:rPr sz="2400" b="0">
                    <a:solidFill>
                      <a:srgbClr val="111827"/>
                    </a:solidFill>
                    <a:latin typeface="Arial"/>
                  </a:rPr>
                  <a:t> = coefficient of </a:t>
                </a:r>
                <a:r>
                  <a:rPr lang="en-IN" sz="2400">
                    <a:solidFill>
                      <a:srgbClr val="111827"/>
                    </a:solidFill>
                    <a:latin typeface="Cambria Math" panose="02040503050406030204" pitchFamily="18" charset="0"/>
                  </a:rPr>
                  <a:t>$x^2$</a:t>
                </a:r>
                <a:r>
                  <a:rPr sz="2400" b="0">
                    <a:solidFill>
                      <a:srgbClr val="111827"/>
                    </a:solidFill>
                    <a:latin typeface="Arial"/>
                  </a:rPr>
                  <a:t> in the numerator </a:t>
                </a:r>
                <a:r>
                  <a:rPr lang="en-IN" sz="2400">
                    <a:solidFill>
                      <a:srgbClr val="111827"/>
                    </a:solidFill>
                    <a:latin typeface="Cambria Math" panose="02040503050406030204" pitchFamily="18" charset="0"/>
                  </a:rPr>
                  <a:t>$=\binom{17}{2}-\binom{17}{1}=136-17=119$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$=119+(-1)=118$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118</a:t>
            </a:r>
            <a:endParaRPr sz="2800">
              <a:solidFill>
                <a:srgbClr val="15803D"/>
              </a:solidFill>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cubic and quartic binomial-looking polynomials are often perfect powers; here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 Pascal difference).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Antisymmetry check: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𝑔</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up>
                    </m:sSup>
                  </m:oMath>
                </a14:m>
                <a:r>
                  <a:rPr sz="2400" b="0">
                    <a:solidFill>
                      <a:srgbClr val="111827"/>
                    </a:solidFill>
                    <a:latin typeface="Arial"/>
                  </a:rPr>
                  <a:t> equals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(coefficient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indeed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15</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$1+3t+3t^2+t^3=(1+t)^3$</a:t>
                </a:r>
                <a:r>
                  <a:rPr sz="2400" b="0">
                    <a:solidFill>
                      <a:srgbClr val="111827"/>
                    </a:solidFill>
                    <a:latin typeface="Arial"/>
                  </a:rPr>
                  <a:t>: cubic and quartic binomial-looking polynomials are often perfect powers; here </a:t>
                </a:r>
                <a:r>
                  <a:rPr lang="en-IN" sz="2400">
                    <a:solidFill>
                      <a:srgbClr val="111827"/>
                    </a:solidFill>
                    <a:latin typeface="Cambria Math" panose="02040503050406030204" pitchFamily="18" charset="0"/>
                  </a:rPr>
                  <a:t>$t=\frac1x$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$[x^k]\ (1+x)^n(1-x)=\binom nk-\binom n{k-1}$</a:t>
                </a:r>
                <a:r>
                  <a:rPr sz="2400" b="0">
                    <a:solidFill>
                      <a:srgbClr val="111827"/>
                    </a:solidFill>
                    <a:latin typeface="Arial"/>
                  </a:rPr>
                  <a:t> (a Pascal difference).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Antisymmetry check: </a:t>
                </a:r>
                <a:r>
                  <a:rPr lang="en-IN" sz="2400">
                    <a:solidFill>
                      <a:srgbClr val="111827"/>
                    </a:solidFill>
                    <a:latin typeface="Cambria Math" panose="02040503050406030204" pitchFamily="18" charset="0"/>
                  </a:rPr>
                  <a:t>$g(x)=\frac{(1+x)^{17}(1-x)}{x^{15}}$</a:t>
                </a:r>
                <a:r>
                  <a:rPr sz="2400" b="0">
                    <a:solidFill>
                      <a:srgbClr val="111827"/>
                    </a:solidFill>
                    <a:latin typeface="Arial"/>
                  </a:rPr>
                  <a:t> satisfies </a:t>
                </a:r>
                <a:r>
                  <a:rPr lang="en-IN" sz="2400">
                    <a:solidFill>
                      <a:srgbClr val="111827"/>
                    </a:solidFill>
                    <a:latin typeface="Cambria Math" panose="02040503050406030204" pitchFamily="18" charset="0"/>
                  </a:rPr>
                  <a:t>$g\left(\frac1x\right)=-x^{12}g(x)$</a:t>
                </a:r>
                <a:r>
                  <a:rPr sz="2400" b="0">
                    <a:solidFill>
                      <a:srgbClr val="111827"/>
                    </a:solidFill>
                    <a:latin typeface="Arial"/>
                  </a:rPr>
                  <a:t>, so the coefficient of </a:t>
                </a:r>
                <a:r>
                  <a:rPr lang="en-IN" sz="2400">
                    <a:solidFill>
                      <a:srgbClr val="111827"/>
                    </a:solidFill>
                    <a:latin typeface="Cambria Math" panose="02040503050406030204" pitchFamily="18" charset="0"/>
                  </a:rPr>
                  <a:t>$x^{-13}$</a:t>
                </a:r>
                <a:r>
                  <a:rPr sz="2400" b="0">
                    <a:solidFill>
                      <a:srgbClr val="111827"/>
                    </a:solidFill>
                    <a:latin typeface="Arial"/>
                  </a:rPr>
                  <a:t> equals </a:t>
                </a:r>
                <a:r>
                  <a:rPr lang="en-IN" sz="2400">
                    <a:solidFill>
                      <a:srgbClr val="111827"/>
                    </a:solidFill>
                    <a:latin typeface="Cambria Math" panose="02040503050406030204" pitchFamily="18" charset="0"/>
                  </a:rPr>
                  <a:t>$-$</a:t>
                </a:r>
                <a:r>
                  <a:rPr sz="2400" b="0">
                    <a:solidFill>
                      <a:srgbClr val="111827"/>
                    </a:solidFill>
                    <a:latin typeface="Arial"/>
                  </a:rPr>
                  <a:t>(coefficient of </a:t>
                </a:r>
                <a:r>
                  <a:rPr lang="en-IN" sz="2400">
                    <a:solidFill>
                      <a:srgbClr val="111827"/>
                    </a:solidFill>
                    <a:latin typeface="Cambria Math" panose="02040503050406030204" pitchFamily="18" charset="0"/>
                  </a:rPr>
                  <a:t>$x$</a:t>
                </a:r>
                <a:r>
                  <a:rPr sz="2400" b="0">
                    <a:solidFill>
                      <a:srgbClr val="111827"/>
                    </a:solidFill>
                    <a:latin typeface="Arial"/>
                  </a:rPr>
                  <a:t>); indeed </a:t>
                </a:r>
                <a:r>
                  <a:rPr lang="en-IN" sz="2400">
                    <a:solidFill>
                      <a:srgbClr val="111827"/>
                    </a:solidFill>
                    <a:latin typeface="Cambria Math" panose="02040503050406030204" pitchFamily="18" charset="0"/>
                  </a:rPr>
                  <a:t>$[x^1]g=\binom{17}{16}-\binom{17}{15}=-119$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all the six digit numbers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are arranged in the increasing order, then the sum of the digits in the 72th number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all the six digit numbers </a:t>
                </a:r>
                <a:r>
                  <a:rPr lang="en-IN" sz="2400">
                    <a:solidFill>
                      <a:srgbClr val="111827"/>
                    </a:solidFill>
                    <a:latin typeface="Cambria Math" panose="02040503050406030204" pitchFamily="18" charset="0"/>
                  </a:rPr>
                  <a:t>$x_1x_2x_3x_4x_5x_6$</a:t>
                </a:r>
                <a:r>
                  <a:rPr sz="2400" b="0">
                    <a:solidFill>
                      <a:srgbClr val="111827"/>
                    </a:solidFill>
                    <a:latin typeface="Arial"/>
                  </a:rPr>
                  <a:t> with </a:t>
                </a:r>
                <a:r>
                  <a:rPr lang="en-IN" sz="2400">
                    <a:solidFill>
                      <a:srgbClr val="111827"/>
                    </a:solidFill>
                    <a:latin typeface="Cambria Math" panose="02040503050406030204" pitchFamily="18" charset="0"/>
                  </a:rPr>
                  <a:t>$0&lt;x_1&lt;x_2&lt;x_3&lt;x_4&lt;x_5&lt;x_6$</a:t>
                </a:r>
                <a:r>
                  <a:rPr sz="2400" b="0">
                    <a:solidFill>
                      <a:srgbClr val="111827"/>
                    </a:solidFill>
                    <a:latin typeface="Arial"/>
                  </a:rPr>
                  <a:t> are arranged in the increasing order, then the sum of the digits in the 72th number is ______ .</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Numbers with strictly increasing digits as combinations, Rank of a number in increasing order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such number is a 6-element subset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increasing order they are listed lexicographically, so count the blocks by leading digits.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such number is a 6-element subset of </a:t>
                </a:r>
                <a:r>
                  <a:rPr lang="en-IN" sz="2400">
                    <a:solidFill>
                      <a:srgbClr val="78350F"/>
                    </a:solidFill>
                    <a:latin typeface="Cambria Math" panose="02040503050406030204" pitchFamily="18" charset="0"/>
                  </a:rPr>
                  <a:t>$\{1,\dots,9\}$</a:t>
                </a:r>
                <a:r>
                  <a:rPr sz="2400" b="0">
                    <a:solidFill>
                      <a:srgbClr val="78350F"/>
                    </a:solidFill>
                    <a:latin typeface="Arial"/>
                  </a:rPr>
                  <a:t>; in increasing order they are listed lexicographically, so count the blocks by leading digits.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digits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means choosing 6 digits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numbers, and increasing numerical order is lexicographic order.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1: choose the other 5 digits from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numbers (positions 1 to 56).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23: choose the other 4 digits from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numbers (positions 57 to 71).</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digits with </a:t>
                </a:r>
                <a:r>
                  <a:rPr lang="en-IN" sz="2400">
                    <a:solidFill>
                      <a:srgbClr val="111827"/>
                    </a:solidFill>
                    <a:latin typeface="Cambria Math" panose="02040503050406030204" pitchFamily="18" charset="0"/>
                  </a:rPr>
                  <a:t>$x_1&gt;0$</a:t>
                </a:r>
                <a:r>
                  <a:rPr sz="2400" b="0">
                    <a:solidFill>
                      <a:srgbClr val="111827"/>
                    </a:solidFill>
                    <a:latin typeface="Arial"/>
                  </a:rPr>
                  <a:t> means choosing 6 digits from </a:t>
                </a:r>
                <a:r>
                  <a:rPr lang="en-IN" sz="2400">
                    <a:solidFill>
                      <a:srgbClr val="111827"/>
                    </a:solidFill>
                    <a:latin typeface="Cambria Math" panose="02040503050406030204" pitchFamily="18" charset="0"/>
                  </a:rPr>
                  <a:t>$1,\dots,9$</a:t>
                </a:r>
                <a:r>
                  <a:rPr sz="2400" b="0">
                    <a:solidFill>
                      <a:srgbClr val="111827"/>
                    </a:solidFill>
                    <a:latin typeface="Arial"/>
                  </a:rPr>
                  <a:t>: </a:t>
                </a:r>
                <a:r>
                  <a:rPr lang="en-IN" sz="2400">
                    <a:solidFill>
                      <a:srgbClr val="111827"/>
                    </a:solidFill>
                    <a:latin typeface="Cambria Math" panose="02040503050406030204" pitchFamily="18" charset="0"/>
                  </a:rPr>
                  <a:t>$\binom96=84$</a:t>
                </a:r>
                <a:r>
                  <a:rPr sz="2400" b="0">
                    <a:solidFill>
                      <a:srgbClr val="111827"/>
                    </a:solidFill>
                    <a:latin typeface="Arial"/>
                  </a:rPr>
                  <a:t> numbers, and increasing numerical order is lexicographic order.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1: choose the other 5 digits from </a:t>
                </a:r>
                <a:r>
                  <a:rPr lang="en-IN" sz="2400">
                    <a:solidFill>
                      <a:srgbClr val="111827"/>
                    </a:solidFill>
                    <a:latin typeface="Cambria Math" panose="02040503050406030204" pitchFamily="18" charset="0"/>
                  </a:rPr>
                  <a:t>$2,\dots,9$</a:t>
                </a:r>
                <a:r>
                  <a:rPr sz="2400" b="0">
                    <a:solidFill>
                      <a:srgbClr val="111827"/>
                    </a:solidFill>
                    <a:latin typeface="Arial"/>
                  </a:rPr>
                  <a:t>: </a:t>
                </a:r>
                <a:r>
                  <a:rPr lang="en-IN" sz="2400">
                    <a:solidFill>
                      <a:srgbClr val="111827"/>
                    </a:solidFill>
                    <a:latin typeface="Cambria Math" panose="02040503050406030204" pitchFamily="18" charset="0"/>
                  </a:rPr>
                  <a:t>${}^8C_5=56$</a:t>
                </a:r>
                <a:r>
                  <a:rPr sz="2400" b="0">
                    <a:solidFill>
                      <a:srgbClr val="111827"/>
                    </a:solidFill>
                    <a:latin typeface="Arial"/>
                  </a:rPr>
                  <a:t> numbers (positions 1 to 56).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23: choose the other 4 digits from </a:t>
                </a:r>
                <a:r>
                  <a:rPr lang="en-IN" sz="2400">
                    <a:solidFill>
                      <a:srgbClr val="111827"/>
                    </a:solidFill>
                    <a:latin typeface="Cambria Math" panose="02040503050406030204" pitchFamily="18" charset="0"/>
                  </a:rPr>
                  <a:t>$4,\dots,9$</a:t>
                </a:r>
                <a:r>
                  <a:rPr sz="2400" b="0">
                    <a:solidFill>
                      <a:srgbClr val="111827"/>
                    </a:solidFill>
                    <a:latin typeface="Arial"/>
                  </a:rPr>
                  <a:t>: </a:t>
                </a:r>
                <a:r>
                  <a:rPr lang="en-IN" sz="2400">
                    <a:solidFill>
                      <a:srgbClr val="111827"/>
                    </a:solidFill>
                    <a:latin typeface="Cambria Math" panose="02040503050406030204" pitchFamily="18" charset="0"/>
                  </a:rPr>
                  <a:t>${}^6C_4=15$</a:t>
                </a:r>
                <a:r>
                  <a:rPr sz="2400" b="0">
                    <a:solidFill>
                      <a:srgbClr val="111827"/>
                    </a:solidFill>
                    <a:latin typeface="Arial"/>
                  </a:rPr>
                  <a:t> numbers (positions 57 to 71).</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71 numbers come before the first number starting with 24.</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72nd number is the smallest number starting with 24: </a:t>
                </a:r>
                <a14:m>
                  <m:oMath xmlns:m="http://schemas.openxmlformats.org/officeDocument/2006/math">
                    <m:r>
                      <a:rPr lang="en-IN" sz="2400" i="1">
                        <a:solidFill>
                          <a:srgbClr val="111827"/>
                        </a:solidFill>
                        <a:latin typeface="Cambria Math" panose="02040503050406030204" pitchFamily="18" charset="0"/>
                      </a:rPr>
                      <m:t>245678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71 numbers come before the first number starting with 24.</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72nd number is the smallest number starting with 24: </a:t>
                </a:r>
                <a:r>
                  <a:rPr lang="en-IN" sz="2400">
                    <a:solidFill>
                      <a:srgbClr val="111827"/>
                    </a:solidFill>
                    <a:latin typeface="Cambria Math" panose="02040503050406030204" pitchFamily="18" charset="0"/>
                  </a:rPr>
                  <a:t>$245678$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digits </a:t>
                </a:r>
                <a:r>
                  <a:rPr lang="en-IN" sz="2400">
                    <a:solidFill>
                      <a:srgbClr val="111827"/>
                    </a:solidFill>
                    <a:latin typeface="Cambria Math" panose="02040503050406030204" pitchFamily="18" charset="0"/>
                  </a:rPr>
                  <a:t>$=2+4+5+6+7+8=32$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32</a:t>
            </a:r>
            <a:endParaRPr sz="2800">
              <a:solidFill>
                <a:srgbClr val="15803D"/>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from the other end: the 72nd number from the start is the 13th from the end of the 84.</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84 numbers, the 72nd from the start is the </a:t>
                </a:r>
                <a14:m>
                  <m:oMath xmlns:m="http://schemas.openxmlformats.org/officeDocument/2006/math">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th from the end.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Largest numbers first: starting with 4 there is only </a:t>
                </a:r>
                <a14:m>
                  <m:oMath xmlns:m="http://schemas.openxmlformats.org/officeDocument/2006/math">
                    <m:r>
                      <a:rPr lang="en-IN" sz="2400" i="1">
                        <a:solidFill>
                          <a:srgbClr val="111827"/>
                        </a:solidFill>
                        <a:latin typeface="Cambria Math" panose="02040503050406030204" pitchFamily="18" charset="0"/>
                      </a:rPr>
                      <m:t>456789</m:t>
                    </m:r>
                  </m:oMath>
                </a14:m>
                <a:r>
                  <a:rPr sz="2400" b="0">
                    <a:solidFill>
                      <a:srgbClr val="111827"/>
                    </a:solidFill>
                    <a:latin typeface="Arial"/>
                  </a:rPr>
                  <a:t> (1 number); starting with 3: choose 5 from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numbers. That is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Starting with 2: the largest is </a:t>
                </a:r>
                <a14:m>
                  <m:oMath xmlns:m="http://schemas.openxmlformats.org/officeDocument/2006/math">
                    <m:r>
                      <a:rPr lang="en-IN" sz="2400" i="1">
                        <a:solidFill>
                          <a:srgbClr val="111827"/>
                        </a:solidFill>
                        <a:latin typeface="Cambria Math" panose="02040503050406030204" pitchFamily="18" charset="0"/>
                      </a:rPr>
                      <m:t>256789</m:t>
                    </m:r>
                  </m:oMath>
                </a14:m>
                <a:r>
                  <a:rPr sz="2400" b="0">
                    <a:solidFill>
                      <a:srgbClr val="111827"/>
                    </a:solidFill>
                    <a:latin typeface="Arial"/>
                  </a:rPr>
                  <a:t> (the 8th from the end), the next block is the numbers starting with 24: choose 4 from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numbers, occupying 9th to 13th from the end.</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84 numbers, the 72nd from the start is the </a:t>
                </a:r>
                <a:r>
                  <a:rPr lang="en-IN" sz="2400">
                    <a:solidFill>
                      <a:srgbClr val="111827"/>
                    </a:solidFill>
                    <a:latin typeface="Cambria Math" panose="02040503050406030204" pitchFamily="18" charset="0"/>
                  </a:rPr>
                  <a:t>$84-72+1=13$</a:t>
                </a:r>
                <a:r>
                  <a:rPr sz="2400" b="0">
                    <a:solidFill>
                      <a:srgbClr val="111827"/>
                    </a:solidFill>
                    <a:latin typeface="Arial"/>
                  </a:rPr>
                  <a:t>th from the end.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Largest numbers first: starting with 4 there is only </a:t>
                </a:r>
                <a:r>
                  <a:rPr lang="en-IN" sz="2400">
                    <a:solidFill>
                      <a:srgbClr val="111827"/>
                    </a:solidFill>
                    <a:latin typeface="Cambria Math" panose="02040503050406030204" pitchFamily="18" charset="0"/>
                  </a:rPr>
                  <a:t>$456789$</a:t>
                </a:r>
                <a:r>
                  <a:rPr sz="2400" b="0">
                    <a:solidFill>
                      <a:srgbClr val="111827"/>
                    </a:solidFill>
                    <a:latin typeface="Arial"/>
                  </a:rPr>
                  <a:t> (1 number); starting with 3: choose 5 from </a:t>
                </a:r>
                <a:r>
                  <a:rPr lang="en-IN" sz="2400">
                    <a:solidFill>
                      <a:srgbClr val="111827"/>
                    </a:solidFill>
                    <a:latin typeface="Cambria Math" panose="02040503050406030204" pitchFamily="18" charset="0"/>
                  </a:rPr>
                  <a:t>$4,\dots,9$</a:t>
                </a:r>
                <a:r>
                  <a:rPr sz="2400" b="0">
                    <a:solidFill>
                      <a:srgbClr val="111827"/>
                    </a:solidFill>
                    <a:latin typeface="Arial"/>
                  </a:rPr>
                  <a:t>: </a:t>
                </a:r>
                <a:r>
                  <a:rPr lang="en-IN" sz="2400">
                    <a:solidFill>
                      <a:srgbClr val="111827"/>
                    </a:solidFill>
                    <a:latin typeface="Cambria Math" panose="02040503050406030204" pitchFamily="18" charset="0"/>
                  </a:rPr>
                  <a:t>$\binom65=6$</a:t>
                </a:r>
                <a:r>
                  <a:rPr sz="2400" b="0">
                    <a:solidFill>
                      <a:srgbClr val="111827"/>
                    </a:solidFill>
                    <a:latin typeface="Arial"/>
                  </a:rPr>
                  <a:t> numbers. That is </a:t>
                </a:r>
                <a:r>
                  <a:rPr lang="en-IN" sz="2400">
                    <a:solidFill>
                      <a:srgbClr val="111827"/>
                    </a:solidFill>
                    <a:latin typeface="Cambria Math" panose="02040503050406030204" pitchFamily="18" charset="0"/>
                  </a:rPr>
                  <a:t>$7$</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Starting with 2: the largest is </a:t>
                </a:r>
                <a:r>
                  <a:rPr lang="en-IN" sz="2400">
                    <a:solidFill>
                      <a:srgbClr val="111827"/>
                    </a:solidFill>
                    <a:latin typeface="Cambria Math" panose="02040503050406030204" pitchFamily="18" charset="0"/>
                  </a:rPr>
                  <a:t>$256789$</a:t>
                </a:r>
                <a:r>
                  <a:rPr sz="2400" b="0">
                    <a:solidFill>
                      <a:srgbClr val="111827"/>
                    </a:solidFill>
                    <a:latin typeface="Arial"/>
                  </a:rPr>
                  <a:t> (the 8th from the end), the next block is the numbers starting with 24: choose 4 from </a:t>
                </a:r>
                <a:r>
                  <a:rPr lang="en-IN" sz="2400">
                    <a:solidFill>
                      <a:srgbClr val="111827"/>
                    </a:solidFill>
                    <a:latin typeface="Cambria Math" panose="02040503050406030204" pitchFamily="18" charset="0"/>
                  </a:rPr>
                  <a:t>$5,\dots,9$</a:t>
                </a:r>
                <a:r>
                  <a:rPr sz="2400" b="0">
                    <a:solidFill>
                      <a:srgbClr val="111827"/>
                    </a:solidFill>
                    <a:latin typeface="Arial"/>
                  </a:rPr>
                  <a:t>: </a:t>
                </a:r>
                <a:r>
                  <a:rPr lang="en-IN" sz="2400">
                    <a:solidFill>
                      <a:srgbClr val="111827"/>
                    </a:solidFill>
                    <a:latin typeface="Cambria Math" panose="02040503050406030204" pitchFamily="18" charset="0"/>
                  </a:rPr>
                  <a:t>$\binom54=5$</a:t>
                </a:r>
                <a:r>
                  <a:rPr sz="2400" b="0">
                    <a:solidFill>
                      <a:srgbClr val="111827"/>
                    </a:solidFill>
                    <a:latin typeface="Arial"/>
                  </a:rPr>
                  <a:t> numbers, occupying 9th to 13th from the end.</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13th from the end is the smallest of these: </a:t>
                </a:r>
                <a14:m>
                  <m:oMath xmlns:m="http://schemas.openxmlformats.org/officeDocument/2006/math">
                    <m:r>
                      <a:rPr lang="en-IN" sz="2400" i="1">
                        <a:solidFill>
                          <a:srgbClr val="111827"/>
                        </a:solidFill>
                        <a:latin typeface="Cambria Math" panose="02040503050406030204" pitchFamily="18" charset="0"/>
                      </a:rPr>
                      <m:t>245678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13th from the end is the smallest of these: </a:t>
                </a:r>
                <a:r>
                  <a:rPr lang="en-IN" sz="2400">
                    <a:solidFill>
                      <a:srgbClr val="111827"/>
                    </a:solidFill>
                    <a:latin typeface="Cambria Math" panose="02040503050406030204" pitchFamily="18" charset="0"/>
                  </a:rPr>
                  <a:t>$245678$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 sum </a:t>
                </a:r>
                <a:r>
                  <a:rPr lang="en-IN" sz="2400">
                    <a:solidFill>
                      <a:srgbClr val="111827"/>
                    </a:solidFill>
                    <a:latin typeface="Cambria Math" panose="02040503050406030204" pitchFamily="18" charset="0"/>
                  </a:rPr>
                  <a:t>$=2+4+5+6+7+8=32$</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32</a:t>
            </a:r>
            <a:endParaRPr sz="2800">
              <a:solidFill>
                <a:srgbClr val="15803D"/>
              </a:solidFil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with strictly increasing digits from a set correspond bijectively to subsets; ranking them uses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blocks by leading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such six-digit numbers; the first is </a:t>
                </a:r>
                <a14:m>
                  <m:oMath xmlns:m="http://schemas.openxmlformats.org/officeDocument/2006/math">
                    <m:r>
                      <a:rPr lang="en-IN" sz="2400" i="1">
                        <a:solidFill>
                          <a:srgbClr val="111827"/>
                        </a:solidFill>
                        <a:latin typeface="Cambria Math" panose="02040503050406030204" pitchFamily="18" charset="0"/>
                      </a:rPr>
                      <m:t>123456</m:t>
                    </m:r>
                  </m:oMath>
                </a14:m>
                <a:r>
                  <a:rPr sz="2400" b="0">
                    <a:solidFill>
                      <a:srgbClr val="111827"/>
                    </a:solidFill>
                    <a:latin typeface="Arial"/>
                  </a:rPr>
                  <a:t> and the last </a:t>
                </a:r>
                <a14:m>
                  <m:oMath xmlns:m="http://schemas.openxmlformats.org/officeDocument/2006/math">
                    <m:r>
                      <a:rPr lang="en-IN" sz="2400" i="1">
                        <a:solidFill>
                          <a:srgbClr val="111827"/>
                        </a:solidFill>
                        <a:latin typeface="Cambria Math" panose="02040503050406030204" pitchFamily="18" charset="0"/>
                      </a:rPr>
                      <m:t>456789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from the nearer end halves the work when the rank is close to the total (72 of 84).</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with strictly increasing digits from a set correspond bijectively to subsets; ranking them uses </a:t>
                </a:r>
                <a:r>
                  <a:rPr lang="en-IN" sz="2400">
                    <a:solidFill>
                      <a:srgbClr val="111827"/>
                    </a:solidFill>
                    <a:latin typeface="Cambria Math" panose="02040503050406030204" pitchFamily="18" charset="0"/>
                  </a:rPr>
                  <a:t>$\binom{m}{k}$</a:t>
                </a:r>
                <a:r>
                  <a:rPr sz="2400" b="0">
                    <a:solidFill>
                      <a:srgbClr val="111827"/>
                    </a:solidFill>
                    <a:latin typeface="Arial"/>
                  </a:rPr>
                  <a:t> blocks by leading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$\binom96=84$</a:t>
                </a:r>
                <a:r>
                  <a:rPr sz="2400" b="0">
                    <a:solidFill>
                      <a:srgbClr val="111827"/>
                    </a:solidFill>
                    <a:latin typeface="Arial"/>
                  </a:rPr>
                  <a:t> such six-digit numbers; the first is </a:t>
                </a:r>
                <a:r>
                  <a:rPr lang="en-IN" sz="2400">
                    <a:solidFill>
                      <a:srgbClr val="111827"/>
                    </a:solidFill>
                    <a:latin typeface="Cambria Math" panose="02040503050406030204" pitchFamily="18" charset="0"/>
                  </a:rPr>
                  <a:t>$123456$</a:t>
                </a:r>
                <a:r>
                  <a:rPr sz="2400" b="0">
                    <a:solidFill>
                      <a:srgbClr val="111827"/>
                    </a:solidFill>
                    <a:latin typeface="Arial"/>
                  </a:rPr>
                  <a:t> and the last </a:t>
                </a:r>
                <a:r>
                  <a:rPr lang="en-IN" sz="2400">
                    <a:solidFill>
                      <a:srgbClr val="111827"/>
                    </a:solidFill>
                    <a:latin typeface="Cambria Math" panose="02040503050406030204" pitchFamily="18" charset="0"/>
                  </a:rPr>
                  <a:t>$456789$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from the nearer end halves the work when the rank is close to the total (72 of 84).</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be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If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𝑟</m:t>
                            </m:r>
                          </m:sub>
                        </m:sSub>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then the value of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equals ______ .</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coefficient of </a:t>
                </a:r>
                <a:r>
                  <a:rPr lang="en-IN" sz="2400">
                    <a:solidFill>
                      <a:srgbClr val="111827"/>
                    </a:solidFill>
                    <a:latin typeface="Cambria Math" panose="02040503050406030204" pitchFamily="18" charset="0"/>
                  </a:rPr>
                  <a:t>$x^r$</a:t>
                </a:r>
                <a:r>
                  <a:rPr sz="2400" b="0">
                    <a:solidFill>
                      <a:srgbClr val="111827"/>
                    </a:solidFill>
                    <a:latin typeface="Arial"/>
                  </a:rPr>
                  <a:t> in the expansion of </a:t>
                </a:r>
                <a:r>
                  <a:rPr lang="en-IN" sz="2400">
                    <a:solidFill>
                      <a:srgbClr val="111827"/>
                    </a:solidFill>
                    <a:latin typeface="Cambria Math" panose="02040503050406030204" pitchFamily="18" charset="0"/>
                  </a:rPr>
                  <a:t>$(x+3)^{n-1}+(x+3)^{n-2}(x+2)+(x+3)^{n-3}(x+2)^2+\dots+(x+2)^{n-1}$</a:t>
                </a:r>
                <a:r>
                  <a:rPr sz="2400" b="0">
                    <a:solidFill>
                      <a:srgbClr val="111827"/>
                    </a:solidFill>
                    <a:latin typeface="Arial"/>
                  </a:rPr>
                  <a:t> be </a:t>
                </a:r>
                <a:r>
                  <a:rPr lang="en-IN" sz="2400">
                    <a:solidFill>
                      <a:srgbClr val="111827"/>
                    </a:solidFill>
                    <a:latin typeface="Cambria Math" panose="02040503050406030204" pitchFamily="18" charset="0"/>
                  </a:rPr>
                  <a:t>$\alpha_r$</a:t>
                </a:r>
                <a:r>
                  <a:rPr sz="2400" b="0">
                    <a:solidFill>
                      <a:srgbClr val="111827"/>
                    </a:solidFill>
                    <a:latin typeface="Arial"/>
                  </a:rPr>
                  <a:t>. If </a:t>
                </a:r>
                <a:r>
                  <a:rPr lang="en-IN" sz="2400">
                    <a:solidFill>
                      <a:srgbClr val="111827"/>
                    </a:solidFill>
                    <a:latin typeface="Cambria Math" panose="02040503050406030204" pitchFamily="18" charset="0"/>
                  </a:rPr>
                  <a:t>$\sum_{r=0}^n\alpha_r=\beta^n-\gamma^n$</a:t>
                </a:r>
                <a:r>
                  <a:rPr sz="2400" b="0">
                    <a:solidFill>
                      <a:srgbClr val="111827"/>
                    </a:solidFill>
                    <a:latin typeface="Arial"/>
                  </a:rPr>
                  <a:t>, </a:t>
                </a:r>
                <a:r>
                  <a:rPr lang="en-IN" sz="2400">
                    <a:solidFill>
                      <a:srgbClr val="111827"/>
                    </a:solidFill>
                    <a:latin typeface="Cambria Math" panose="02040503050406030204" pitchFamily="18" charset="0"/>
                  </a:rPr>
                  <a:t>$\beta,\gamma\in\mathbb N$</a:t>
                </a:r>
                <a:r>
                  <a:rPr sz="2400" b="0">
                    <a:solidFill>
                      <a:srgbClr val="111827"/>
                    </a:solidFill>
                    <a:latin typeface="Arial"/>
                  </a:rPr>
                  <a:t>, then the value of </a:t>
                </a:r>
                <a:r>
                  <a:rPr lang="en-IN" sz="2400">
                    <a:solidFill>
                      <a:srgbClr val="111827"/>
                    </a:solidFill>
                    <a:latin typeface="Cambria Math" panose="02040503050406030204" pitchFamily="18" charset="0"/>
                  </a:rPr>
                  <a:t>$\beta^2+\gamma^2$</a:t>
                </a:r>
                <a:r>
                  <a:rPr sz="2400" b="0">
                    <a:solidFill>
                      <a:srgbClr val="111827"/>
                    </a:solidFill>
                    <a:latin typeface="Arial"/>
                  </a:rPr>
                  <a:t> equals ______ .</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 geometric progression of binomials, Sum of coefficients of a polynomial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sum is a G.P. with ratio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en>
                    </m:f>
                  </m:oMath>
                </a14:m>
                <a:r>
                  <a:rPr sz="2400" b="0">
                    <a:solidFill>
                      <a:srgbClr val="78350F"/>
                    </a:solidFill>
                    <a:latin typeface="Arial"/>
                  </a:rPr>
                  <a:t> whose common denominator collapses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sum is a G.P. with ratio </a:t>
                </a:r>
                <a:r>
                  <a:rPr lang="en-IN" sz="2400">
                    <a:solidFill>
                      <a:srgbClr val="78350F"/>
                    </a:solidFill>
                    <a:latin typeface="Cambria Math" panose="02040503050406030204" pitchFamily="18" charset="0"/>
                  </a:rPr>
                  <a:t>$\frac{x+2}{x+3}$</a:t>
                </a:r>
                <a:r>
                  <a:rPr sz="2400" b="0">
                    <a:solidFill>
                      <a:srgbClr val="78350F"/>
                    </a:solidFill>
                    <a:latin typeface="Arial"/>
                  </a:rPr>
                  <a:t> whose common denominator collapses to </a:t>
                </a:r>
                <a:r>
                  <a:rPr lang="en-IN" sz="2400">
                    <a:solidFill>
                      <a:srgbClr val="78350F"/>
                    </a:solidFill>
                    <a:latin typeface="Cambria Math" panose="02040503050406030204" pitchFamily="18" charset="0"/>
                  </a:rPr>
                  <a:t>$(x+3)^n-(x+2)^n$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 G.P.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first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𝑛</m:t>
                            </m:r>
                          </m:sup>
                        </m:sSup>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$S(x)=(x+3)^{n-1}+(x+3)^{n-2}(x+2)+\dots+(x+2)^{n-1}$</a:t>
                </a:r>
                <a:r>
                  <a:rPr sz="2400" b="0">
                    <a:solidFill>
                      <a:srgbClr val="111827"/>
                    </a:solidFill>
                    <a:latin typeface="Arial"/>
                  </a:rPr>
                  <a:t>: a G.P. of </a:t>
                </a:r>
                <a:r>
                  <a:rPr lang="en-IN" sz="2400">
                    <a:solidFill>
                      <a:srgbClr val="111827"/>
                    </a:solidFill>
                    <a:latin typeface="Cambria Math" panose="02040503050406030204" pitchFamily="18" charset="0"/>
                  </a:rPr>
                  <a:t>$n$</a:t>
                </a:r>
                <a:r>
                  <a:rPr sz="2400" b="0">
                    <a:solidFill>
                      <a:srgbClr val="111827"/>
                    </a:solidFill>
                    <a:latin typeface="Arial"/>
                  </a:rPr>
                  <a:t> terms, first term </a:t>
                </a:r>
                <a:r>
                  <a:rPr lang="en-IN" sz="2400">
                    <a:solidFill>
                      <a:srgbClr val="111827"/>
                    </a:solidFill>
                    <a:latin typeface="Cambria Math" panose="02040503050406030204" pitchFamily="18" charset="0"/>
                  </a:rPr>
                  <a:t>$(x+3)^{n-1}$</a:t>
                </a:r>
                <a:r>
                  <a:rPr sz="2400" b="0">
                    <a:solidFill>
                      <a:srgbClr val="111827"/>
                    </a:solidFill>
                    <a:latin typeface="Arial"/>
                  </a:rPr>
                  <a:t>, ratio </a:t>
                </a:r>
                <a:r>
                  <a:rPr lang="en-IN" sz="2400">
                    <a:solidFill>
                      <a:srgbClr val="111827"/>
                    </a:solidFill>
                    <a:latin typeface="Cambria Math" panose="02040503050406030204" pitchFamily="18" charset="0"/>
                  </a:rPr>
                  <a:t>$\frac{x+2}{x+3}$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$S(x)=(x+3)^{n-1}\,\frac{1-\left(\frac{x+2}{x+3}\right)^n}{1-\frac{x+2}{x+3}}$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$1-\frac{x+2}{x+3}=\frac1{x+3}$</a:t>
                </a:r>
                <a:r>
                  <a:rPr sz="2400" b="0">
                    <a:solidFill>
                      <a:srgbClr val="111827"/>
                    </a:solidFill>
                    <a:latin typeface="Arial"/>
                  </a:rPr>
                  <a:t>, so </a:t>
                </a:r>
                <a:r>
                  <a:rPr lang="en-IN" sz="2400">
                    <a:solidFill>
                      <a:srgbClr val="111827"/>
                    </a:solidFill>
                    <a:latin typeface="Cambria Math" panose="02040503050406030204" pitchFamily="18" charset="0"/>
                  </a:rPr>
                  <a:t>$S(x)=(x+3)^n\left[1-\left(\frac{x+2}{x+3}\right)^n\right]=(x+3)^n-(x+2)^n$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is the value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is the value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$\sum\alpha_r=S(1)=4^n-3^n$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$\beta^n-\gamma^n$</a:t>
                </a:r>
                <a:r>
                  <a:rPr sz="2400" b="0">
                    <a:solidFill>
                      <a:srgbClr val="111827"/>
                    </a:solidFill>
                    <a:latin typeface="Arial"/>
                  </a:rPr>
                  <a:t> for all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$\beta=4$</a:t>
                </a:r>
                <a:r>
                  <a:rPr sz="2400" b="0">
                    <a:solidFill>
                      <a:srgbClr val="111827"/>
                    </a:solidFill>
                    <a:latin typeface="Arial"/>
                  </a:rPr>
                  <a:t>, </a:t>
                </a:r>
                <a:r>
                  <a:rPr lang="en-IN" sz="2400">
                    <a:solidFill>
                      <a:srgbClr val="111827"/>
                    </a:solidFill>
                    <a:latin typeface="Cambria Math" panose="02040503050406030204" pitchFamily="18" charset="0"/>
                  </a:rPr>
                  <a:t>$\gamma=3$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$\beta^2+\gamma^2=16+9=25$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25</a:t>
            </a:r>
            <a:endParaRPr sz="2800">
              <a:solidFill>
                <a:srgbClr val="15803D"/>
              </a:solidFil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with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e>
                    </m:d>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whose difference is exactly 1.</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with </a:t>
                </a:r>
                <a:r>
                  <a:rPr lang="en-IN" sz="2400">
                    <a:solidFill>
                      <a:srgbClr val="78350F"/>
                    </a:solidFill>
                    <a:latin typeface="Cambria Math" panose="02040503050406030204" pitchFamily="18" charset="0"/>
                  </a:rPr>
                  <a:t>$A^n-B^n=(A-B)\left(A^{n-1}+A^{n-2}B+\dots+B^{n-1}\right)$</a:t>
                </a:r>
                <a:r>
                  <a:rPr sz="2400" b="0">
                    <a:solidFill>
                      <a:srgbClr val="78350F"/>
                    </a:solidFill>
                    <a:latin typeface="Arial"/>
                  </a:rPr>
                  <a:t> for </a:t>
                </a:r>
                <a:r>
                  <a:rPr lang="en-IN" sz="2400">
                    <a:solidFill>
                      <a:srgbClr val="78350F"/>
                    </a:solidFill>
                    <a:latin typeface="Cambria Math" panose="02040503050406030204" pitchFamily="18" charset="0"/>
                  </a:rPr>
                  <a:t>$A=x+3,\ B=x+2$</a:t>
                </a:r>
                <a:r>
                  <a:rPr sz="2400" b="0">
                    <a:solidFill>
                      <a:srgbClr val="78350F"/>
                    </a:solidFill>
                    <a:latin typeface="Arial"/>
                  </a:rPr>
                  <a:t>, whose difference is exactly 1.</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given expression is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equals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up>
                    </m:sSup>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𝑗</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without any G.P. ratio.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giving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$A=x+3$</a:t>
                </a:r>
                <a:r>
                  <a:rPr sz="2400" b="0">
                    <a:solidFill>
                      <a:srgbClr val="111827"/>
                    </a:solidFill>
                    <a:latin typeface="Arial"/>
                  </a:rPr>
                  <a:t> and </a:t>
                </a:r>
                <a:r>
                  <a:rPr lang="en-IN" sz="2400">
                    <a:solidFill>
                      <a:srgbClr val="111827"/>
                    </a:solidFill>
                    <a:latin typeface="Cambria Math" panose="02040503050406030204" pitchFamily="18" charset="0"/>
                  </a:rPr>
                  <a:t>$B=x+2$</a:t>
                </a:r>
                <a:r>
                  <a:rPr sz="2400" b="0">
                    <a:solidFill>
                      <a:srgbClr val="111827"/>
                    </a:solidFill>
                    <a:latin typeface="Arial"/>
                  </a:rPr>
                  <a:t>, the given expression is </a:t>
                </a:r>
                <a:r>
                  <a:rPr lang="en-IN" sz="2400">
                    <a:solidFill>
                      <a:srgbClr val="111827"/>
                    </a:solidFill>
                    <a:latin typeface="Cambria Math" panose="02040503050406030204" pitchFamily="18" charset="0"/>
                  </a:rPr>
                  <a:t>$A^{n-1}+A^{n-2}B+\dots+B^{n-1}$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$A-B=1$</a:t>
                </a:r>
                <a:r>
                  <a:rPr sz="2400" b="0">
                    <a:solidFill>
                      <a:srgbClr val="111827"/>
                    </a:solidFill>
                    <a:latin typeface="Arial"/>
                  </a:rPr>
                  <a:t>, it equals </a:t>
                </a:r>
                <a:r>
                  <a:rPr lang="en-IN" sz="2400">
                    <a:solidFill>
                      <a:srgbClr val="111827"/>
                    </a:solidFill>
                    <a:latin typeface="Cambria Math" panose="02040503050406030204" pitchFamily="18" charset="0"/>
                  </a:rPr>
                  <a:t>$(A-B)\sum A^{n-1-j}B^j=A^n-B^n=(x+3)^n-(x+2)^n$</a:t>
                </a:r>
                <a:r>
                  <a:rPr sz="2400" b="0">
                    <a:solidFill>
                      <a:srgbClr val="111827"/>
                    </a:solidFill>
                    <a:latin typeface="Arial"/>
                  </a:rPr>
                  <a:t> without any G.P. ratio.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put </a:t>
                </a:r>
                <a:r>
                  <a:rPr lang="en-IN" sz="2400">
                    <a:solidFill>
                      <a:srgbClr val="111827"/>
                    </a:solidFill>
                    <a:latin typeface="Cambria Math" panose="02040503050406030204" pitchFamily="18" charset="0"/>
                  </a:rPr>
                  <a:t>$x=1$</a:t>
                </a:r>
                <a:r>
                  <a:rPr sz="2400" b="0">
                    <a:solidFill>
                      <a:srgbClr val="111827"/>
                    </a:solidFill>
                    <a:latin typeface="Arial"/>
                  </a:rPr>
                  <a:t>, giving </a:t>
                </a:r>
                <a:r>
                  <a:rPr lang="en-IN" sz="2400">
                    <a:solidFill>
                      <a:srgbClr val="111827"/>
                    </a:solidFill>
                    <a:latin typeface="Cambria Math" panose="02040503050406030204" pitchFamily="18" charset="0"/>
                  </a:rPr>
                  <a:t>$4^n-3^n$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$\beta=4,\gamma=3$</a:t>
                </a:r>
                <a:r>
                  <a:rPr sz="2400" b="0">
                    <a:solidFill>
                      <a:srgbClr val="111827"/>
                    </a:solidFill>
                    <a:latin typeface="Arial"/>
                  </a:rPr>
                  <a:t> and </a:t>
                </a:r>
                <a:r>
                  <a:rPr lang="en-IN" sz="2400">
                    <a:solidFill>
                      <a:srgbClr val="111827"/>
                    </a:solidFill>
                    <a:latin typeface="Cambria Math" panose="02040503050406030204" pitchFamily="18" charset="0"/>
                  </a:rPr>
                  <a:t>$\beta^2+\gamma^2=25$</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25</a:t>
            </a:r>
            <a:endParaRPr sz="2800">
              <a:solidFill>
                <a:srgbClr val="15803D"/>
              </a:solidFil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up>
                        </m:sSup>
                      </m:e>
                    </m:nary>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𝑗</m:t>
                        </m:r>
                      </m:sup>
                    </m:sSup>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sum alone equals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coefficients of a polynomial is its value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γ</m:t>
                    </m:r>
                  </m:oMath>
                </a14:m>
                <a:r>
                  <a:rPr sz="2400" b="0">
                    <a:solidFill>
                      <a:srgbClr val="111827"/>
                    </a:solidFill>
                    <a:latin typeface="Arial"/>
                  </a:rPr>
                  <a:t> (compare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$A^n-B^n=(A-B)\sum_{j=0}^{n-1}A^{n-1-j}B^j$</a:t>
                </a:r>
                <a:r>
                  <a:rPr sz="2400" b="0">
                    <a:solidFill>
                      <a:srgbClr val="111827"/>
                    </a:solidFill>
                    <a:latin typeface="Arial"/>
                  </a:rPr>
                  <a:t>; if </a:t>
                </a:r>
                <a:r>
                  <a:rPr lang="en-IN" sz="2400">
                    <a:solidFill>
                      <a:srgbClr val="111827"/>
                    </a:solidFill>
                    <a:latin typeface="Cambria Math" panose="02040503050406030204" pitchFamily="18" charset="0"/>
                  </a:rPr>
                  <a:t>$A-B=1$</a:t>
                </a:r>
                <a:r>
                  <a:rPr sz="2400" b="0">
                    <a:solidFill>
                      <a:srgbClr val="111827"/>
                    </a:solidFill>
                    <a:latin typeface="Arial"/>
                  </a:rPr>
                  <a:t> the sum alone equals </a:t>
                </a:r>
                <a:r>
                  <a:rPr lang="en-IN" sz="2400">
                    <a:solidFill>
                      <a:srgbClr val="111827"/>
                    </a:solidFill>
                    <a:latin typeface="Cambria Math" panose="02040503050406030204" pitchFamily="18" charset="0"/>
                  </a:rPr>
                  <a:t>$A^n-B^n$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coefficients of a polynomial is its value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$\beta^n-\gamma^n=4^n-3^n$</a:t>
                </a:r>
                <a:r>
                  <a:rPr sz="2400" b="0">
                    <a:solidFill>
                      <a:srgbClr val="111827"/>
                    </a:solidFill>
                    <a:latin typeface="Arial"/>
                  </a:rPr>
                  <a:t> for every </a:t>
                </a:r>
                <a:r>
                  <a:rPr lang="en-IN" sz="2400">
                    <a:solidFill>
                      <a:srgbClr val="111827"/>
                    </a:solidFill>
                    <a:latin typeface="Cambria Math" panose="02040503050406030204" pitchFamily="18" charset="0"/>
                  </a:rPr>
                  <a:t>$n$</a:t>
                </a:r>
                <a:r>
                  <a:rPr sz="2400" b="0">
                    <a:solidFill>
                      <a:srgbClr val="111827"/>
                    </a:solidFill>
                    <a:latin typeface="Arial"/>
                  </a:rPr>
                  <a:t> forces </a:t>
                </a:r>
                <a:r>
                  <a:rPr lang="en-IN" sz="2400">
                    <a:solidFill>
                      <a:srgbClr val="111827"/>
                    </a:solidFill>
                    <a:latin typeface="Cambria Math" panose="02040503050406030204" pitchFamily="18" charset="0"/>
                  </a:rPr>
                  <a:t>$\{\beta,\gamma\}=\{4,3\}$</a:t>
                </a:r>
                <a:r>
                  <a:rPr sz="2400" b="0">
                    <a:solidFill>
                      <a:srgbClr val="111827"/>
                    </a:solidFill>
                    <a:latin typeface="Arial"/>
                  </a:rPr>
                  <a:t> with </a:t>
                </a:r>
                <a:r>
                  <a:rPr lang="en-IN" sz="2400">
                    <a:solidFill>
                      <a:srgbClr val="111827"/>
                    </a:solidFill>
                    <a:latin typeface="Cambria Math" panose="02040503050406030204" pitchFamily="18" charset="0"/>
                  </a:rPr>
                  <a:t>$\beta&gt;\gamma$</a:t>
                </a:r>
                <a:r>
                  <a:rPr sz="2400" b="0">
                    <a:solidFill>
                      <a:srgbClr val="111827"/>
                    </a:solidFill>
                    <a:latin typeface="Arial"/>
                  </a:rPr>
                  <a:t> (compare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$\beta-\gamma=1$</a:t>
                </a:r>
                <a:r>
                  <a:rPr sz="2400" b="0">
                    <a:solidFill>
                      <a:srgbClr val="111827"/>
                    </a:solidFill>
                    <a:latin typeface="Arial"/>
                  </a:rPr>
                  <a:t>, and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$\beta+\gamma=7$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person forgets his 4-digit ATM pin code. But he remembers that in the code all the digits are different, the greatest digit is 7 and the sum of the first two digits is equal to the sum of the last two digits. Then the maximum number of trials necessary to obtain the correct code is ______ .</a:t>
            </a:r>
            <a:endParaRPr sz="2400">
              <a:solidFill>
                <a:srgbClr val="111827"/>
              </a:solidFill>
            </a:endParaRPr>
          </a:p>
        </p:txBody>
      </p:sp>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Casework counting of 4-digit codes with equal pair sums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the common pair sum </a:t>
                </a:r>
                <a14:m>
                  <m:oMath xmlns:m="http://schemas.openxmlformats.org/officeDocument/2006/math">
                    <m:r>
                      <a:rPr lang="en-IN" sz="2400" i="1">
                        <a:solidFill>
                          <a:srgbClr val="78350F"/>
                        </a:solidFill>
                        <a:latin typeface="Cambria Math" panose="02040503050406030204" pitchFamily="18" charset="0"/>
                      </a:rPr>
                      <m:t>α</m:t>
                    </m:r>
                  </m:oMath>
                </a14:m>
                <a:r>
                  <a:rPr sz="2400" b="0">
                    <a:solidFill>
                      <a:srgbClr val="78350F"/>
                    </a:solidFill>
                    <a:latin typeface="Arial"/>
                  </a:rPr>
                  <a:t>; the digit 7 must lie in one of the two pairs, which fixes the possible partner digits.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the common pair sum </a:t>
                </a:r>
                <a:r>
                  <a:rPr lang="en-IN" sz="2400">
                    <a:solidFill>
                      <a:srgbClr val="78350F"/>
                    </a:solidFill>
                    <a:latin typeface="Cambria Math" panose="02040503050406030204" pitchFamily="18" charset="0"/>
                  </a:rPr>
                  <a:t>$\alpha$</a:t>
                </a:r>
                <a:r>
                  <a:rPr sz="2400" b="0">
                    <a:solidFill>
                      <a:srgbClr val="78350F"/>
                    </a:solidFill>
                    <a:latin typeface="Arial"/>
                  </a:rPr>
                  <a:t>; the digit 7 must lie in one of the two pairs, which fixes the possible partner digits.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sum of the first two digits equal the sum of the last two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the four digits are distinct, none exceeds 7, and 7 is present,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pair with 7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 orders); the other pair is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m:t>
                    </m:r>
                  </m:oMath>
                </a14:m>
                <a:r>
                  <a:rPr sz="2400" b="0">
                    <a:solidFill>
                      <a:srgbClr val="111827"/>
                    </a:solidFill>
                    <a:latin typeface="Arial"/>
                  </a:rPr>
                  <a:t> (6 ordered);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and either pair can come first, giving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 orders) with </a:t>
                </a:r>
                <a14:m>
                  <m:oMath xmlns:m="http://schemas.openxmlformats.org/officeDocument/2006/math">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 (4 ordered):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both orders of the blocks: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codes.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sum of the first two digits equal the sum of the last two digits </a:t>
                </a:r>
                <a:r>
                  <a:rPr lang="en-IN" sz="2400">
                    <a:solidFill>
                      <a:srgbClr val="111827"/>
                    </a:solidFill>
                    <a:latin typeface="Cambria Math" panose="02040503050406030204" pitchFamily="18" charset="0"/>
                  </a:rPr>
                  <a:t>$=\alpha$</a:t>
                </a:r>
                <a:r>
                  <a:rPr sz="2400" b="0">
                    <a:solidFill>
                      <a:srgbClr val="111827"/>
                    </a:solidFill>
                    <a:latin typeface="Arial"/>
                  </a:rPr>
                  <a:t>; the four digits are distinct, none exceeds 7, and 7 is present, so </a:t>
                </a:r>
                <a:r>
                  <a:rPr lang="en-IN" sz="2400">
                    <a:solidFill>
                      <a:srgbClr val="111827"/>
                    </a:solidFill>
                    <a:latin typeface="Cambria Math" panose="02040503050406030204" pitchFamily="18" charset="0"/>
                  </a:rPr>
                  <a:t>$\alpha\ge7$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r>
                  <a:rPr lang="en-IN" sz="2400">
                    <a:solidFill>
                      <a:srgbClr val="111827"/>
                    </a:solidFill>
                    <a:latin typeface="Cambria Math" panose="02040503050406030204" pitchFamily="18" charset="0"/>
                  </a:rPr>
                  <a:t>$\alpha=7$</a:t>
                </a:r>
                <a:r>
                  <a:rPr sz="2400" b="0">
                    <a:solidFill>
                      <a:srgbClr val="111827"/>
                    </a:solidFill>
                    <a:latin typeface="Arial"/>
                  </a:rPr>
                  <a:t>: the pair with 7 is </a:t>
                </a:r>
                <a:r>
                  <a:rPr lang="en-IN" sz="2400">
                    <a:solidFill>
                      <a:srgbClr val="111827"/>
                    </a:solidFill>
                    <a:latin typeface="Cambria Math" panose="02040503050406030204" pitchFamily="18" charset="0"/>
                  </a:rPr>
                  <a:t>$\{7,0\}$</a:t>
                </a:r>
                <a:r>
                  <a:rPr sz="2400" b="0">
                    <a:solidFill>
                      <a:srgbClr val="111827"/>
                    </a:solidFill>
                    <a:latin typeface="Arial"/>
                  </a:rPr>
                  <a:t> (2 orders); the other pair is </a:t>
                </a:r>
                <a:r>
                  <a:rPr lang="en-IN" sz="2400">
                    <a:solidFill>
                      <a:srgbClr val="111827"/>
                    </a:solidFill>
                    <a:latin typeface="Cambria Math" panose="02040503050406030204" pitchFamily="18" charset="0"/>
                  </a:rPr>
                  <a:t>$16,25,34,43,52,61$</a:t>
                </a:r>
                <a:r>
                  <a:rPr sz="2400" b="0">
                    <a:solidFill>
                      <a:srgbClr val="111827"/>
                    </a:solidFill>
                    <a:latin typeface="Arial"/>
                  </a:rPr>
                  <a:t> (6 ordered); </a:t>
                </a:r>
                <a:r>
                  <a:rPr lang="en-IN" sz="2400">
                    <a:solidFill>
                      <a:srgbClr val="111827"/>
                    </a:solidFill>
                    <a:latin typeface="Cambria Math" panose="02040503050406030204" pitchFamily="18" charset="0"/>
                  </a:rPr>
                  <a:t>$2\times6=12$</a:t>
                </a:r>
                <a:r>
                  <a:rPr sz="2400" b="0">
                    <a:solidFill>
                      <a:srgbClr val="111827"/>
                    </a:solidFill>
                    <a:latin typeface="Arial"/>
                  </a:rPr>
                  <a:t>, and either pair can come first, giving </a:t>
                </a:r>
                <a:r>
                  <a:rPr lang="en-IN" sz="2400">
                    <a:solidFill>
                      <a:srgbClr val="111827"/>
                    </a:solidFill>
                    <a:latin typeface="Cambria Math" panose="02040503050406030204" pitchFamily="18" charset="0"/>
                  </a:rPr>
                  <a:t>$2\times12=24$</a:t>
                </a:r>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r>
                  <a:rPr lang="en-IN" sz="2400">
                    <a:solidFill>
                      <a:srgbClr val="111827"/>
                    </a:solidFill>
                    <a:latin typeface="Cambria Math" panose="02040503050406030204" pitchFamily="18" charset="0"/>
                  </a:rPr>
                  <a:t>$\alpha=8$</a:t>
                </a:r>
                <a:r>
                  <a:rPr sz="2400" b="0">
                    <a:solidFill>
                      <a:srgbClr val="111827"/>
                    </a:solidFill>
                    <a:latin typeface="Arial"/>
                  </a:rPr>
                  <a:t>: </a:t>
                </a:r>
                <a:r>
                  <a:rPr lang="en-IN" sz="2400">
                    <a:solidFill>
                      <a:srgbClr val="111827"/>
                    </a:solidFill>
                    <a:latin typeface="Cambria Math" panose="02040503050406030204" pitchFamily="18" charset="0"/>
                  </a:rPr>
                  <a:t>$\{1,7\}$</a:t>
                </a:r>
                <a:r>
                  <a:rPr sz="2400" b="0">
                    <a:solidFill>
                      <a:srgbClr val="111827"/>
                    </a:solidFill>
                    <a:latin typeface="Arial"/>
                  </a:rPr>
                  <a:t> (2 orders) with </a:t>
                </a:r>
                <a:r>
                  <a:rPr lang="en-IN" sz="2400">
                    <a:solidFill>
                      <a:srgbClr val="111827"/>
                    </a:solidFill>
                    <a:latin typeface="Cambria Math" panose="02040503050406030204" pitchFamily="18" charset="0"/>
                  </a:rPr>
                  <a:t>$26,62,35,53$</a:t>
                </a:r>
                <a:r>
                  <a:rPr sz="2400" b="0">
                    <a:solidFill>
                      <a:srgbClr val="111827"/>
                    </a:solidFill>
                    <a:latin typeface="Arial"/>
                  </a:rPr>
                  <a:t> (4 ordered): </a:t>
                </a:r>
                <a:r>
                  <a:rPr lang="en-IN" sz="2400">
                    <a:solidFill>
                      <a:srgbClr val="111827"/>
                    </a:solidFill>
                    <a:latin typeface="Cambria Math" panose="02040503050406030204" pitchFamily="18" charset="0"/>
                  </a:rPr>
                  <a:t>$2\times4=8$</a:t>
                </a:r>
                <a:r>
                  <a:rPr sz="2400" b="0">
                    <a:solidFill>
                      <a:srgbClr val="111827"/>
                    </a:solidFill>
                    <a:latin typeface="Arial"/>
                  </a:rPr>
                  <a:t>; both orders of the blocks: </a:t>
                </a:r>
                <a:r>
                  <a:rPr lang="en-IN" sz="2400">
                    <a:solidFill>
                      <a:srgbClr val="111827"/>
                    </a:solidFill>
                    <a:latin typeface="Cambria Math" panose="02040503050406030204" pitchFamily="18" charset="0"/>
                  </a:rPr>
                  <a:t>$16$</a:t>
                </a:r>
                <a:r>
                  <a:rPr sz="2400" b="0">
                    <a:solidFill>
                      <a:srgbClr val="111827"/>
                    </a:solidFill>
                    <a:latin typeface="Arial"/>
                  </a:rPr>
                  <a:t> codes.</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 orders) with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 (4 ordered):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blocks swapped: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IV,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46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swapped: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V,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swapped: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is impossible: the pair with 7 would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12 or 13), but the other pair of distinct digits from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(without the partner) has sum at most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codes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 so at most 72 trials are needed.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a:t>
                </a:r>
                <a:r>
                  <a:rPr lang="en-IN" sz="2400">
                    <a:solidFill>
                      <a:srgbClr val="111827"/>
                    </a:solidFill>
                    <a:latin typeface="Cambria Math" panose="02040503050406030204" pitchFamily="18" charset="0"/>
                  </a:rPr>
                  <a:t>$\alpha=9$</a:t>
                </a:r>
                <a:r>
                  <a:rPr sz="2400" b="0">
                    <a:solidFill>
                      <a:srgbClr val="111827"/>
                    </a:solidFill>
                    <a:latin typeface="Arial"/>
                  </a:rPr>
                  <a:t>: </a:t>
                </a:r>
                <a:r>
                  <a:rPr lang="en-IN" sz="2400">
                    <a:solidFill>
                      <a:srgbClr val="111827"/>
                    </a:solidFill>
                    <a:latin typeface="Cambria Math" panose="02040503050406030204" pitchFamily="18" charset="0"/>
                  </a:rPr>
                  <a:t>$\{2,7\}$</a:t>
                </a:r>
                <a:r>
                  <a:rPr sz="2400" b="0">
                    <a:solidFill>
                      <a:srgbClr val="111827"/>
                    </a:solidFill>
                    <a:latin typeface="Arial"/>
                  </a:rPr>
                  <a:t> (2 orders) with </a:t>
                </a:r>
                <a:r>
                  <a:rPr lang="en-IN" sz="2400">
                    <a:solidFill>
                      <a:srgbClr val="111827"/>
                    </a:solidFill>
                    <a:latin typeface="Cambria Math" panose="02040503050406030204" pitchFamily="18" charset="0"/>
                  </a:rPr>
                  <a:t>$36,63,45,54$</a:t>
                </a:r>
                <a:r>
                  <a:rPr sz="2400" b="0">
                    <a:solidFill>
                      <a:srgbClr val="111827"/>
                    </a:solidFill>
                    <a:latin typeface="Arial"/>
                  </a:rPr>
                  <a:t> (4 ordered): </a:t>
                </a:r>
                <a:r>
                  <a:rPr lang="en-IN" sz="2400">
                    <a:solidFill>
                      <a:srgbClr val="111827"/>
                    </a:solidFill>
                    <a:latin typeface="Cambria Math" panose="02040503050406030204" pitchFamily="18" charset="0"/>
                  </a:rPr>
                  <a:t>$8$</a:t>
                </a:r>
                <a:r>
                  <a:rPr sz="2400" b="0">
                    <a:solidFill>
                      <a:srgbClr val="111827"/>
                    </a:solidFill>
                    <a:latin typeface="Arial"/>
                  </a:rPr>
                  <a:t>; blocks swapped: </a:t>
                </a:r>
                <a:r>
                  <a:rPr lang="en-IN" sz="2400">
                    <a:solidFill>
                      <a:srgbClr val="111827"/>
                    </a:solidFill>
                    <a:latin typeface="Cambria Math" panose="02040503050406030204" pitchFamily="18" charset="0"/>
                  </a:rPr>
                  <a:t>$16$</a:t>
                </a:r>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IV, </a:t>
                </a:r>
                <a:r>
                  <a:rPr lang="en-IN" sz="2400">
                    <a:solidFill>
                      <a:srgbClr val="111827"/>
                    </a:solidFill>
                    <a:latin typeface="Cambria Math" panose="02040503050406030204" pitchFamily="18" charset="0"/>
                  </a:rPr>
                  <a:t>$\alpha=10$</a:t>
                </a:r>
                <a:r>
                  <a:rPr sz="2400" b="0">
                    <a:solidFill>
                      <a:srgbClr val="111827"/>
                    </a:solidFill>
                    <a:latin typeface="Arial"/>
                  </a:rPr>
                  <a:t>: </a:t>
                </a:r>
                <a:r>
                  <a:rPr lang="en-IN" sz="2400">
                    <a:solidFill>
                      <a:srgbClr val="111827"/>
                    </a:solidFill>
                    <a:latin typeface="Cambria Math" panose="02040503050406030204" pitchFamily="18" charset="0"/>
                  </a:rPr>
                  <a:t>$\{3,7\}$</a:t>
                </a:r>
                <a:r>
                  <a:rPr sz="2400" b="0">
                    <a:solidFill>
                      <a:srgbClr val="111827"/>
                    </a:solidFill>
                    <a:latin typeface="Arial"/>
                  </a:rPr>
                  <a:t> with </a:t>
                </a:r>
                <a:r>
                  <a:rPr lang="en-IN" sz="2400">
                    <a:solidFill>
                      <a:srgbClr val="111827"/>
                    </a:solidFill>
                    <a:latin typeface="Cambria Math" panose="02040503050406030204" pitchFamily="18" charset="0"/>
                  </a:rPr>
                  <a:t>$46,64$</a:t>
                </a:r>
                <a:r>
                  <a:rPr sz="2400" b="0">
                    <a:solidFill>
                      <a:srgbClr val="111827"/>
                    </a:solidFill>
                    <a:latin typeface="Arial"/>
                  </a:rPr>
                  <a:t>: </a:t>
                </a:r>
                <a:r>
                  <a:rPr lang="en-IN" sz="2400">
                    <a:solidFill>
                      <a:srgbClr val="111827"/>
                    </a:solidFill>
                    <a:latin typeface="Cambria Math" panose="02040503050406030204" pitchFamily="18" charset="0"/>
                  </a:rPr>
                  <a:t>$2\times2=4$</a:t>
                </a:r>
                <a:r>
                  <a:rPr sz="2400" b="0">
                    <a:solidFill>
                      <a:srgbClr val="111827"/>
                    </a:solidFill>
                    <a:latin typeface="Arial"/>
                  </a:rPr>
                  <a:t>; swapped: </a:t>
                </a:r>
                <a:r>
                  <a:rPr lang="en-IN" sz="2400">
                    <a:solidFill>
                      <a:srgbClr val="111827"/>
                    </a:solidFill>
                    <a:latin typeface="Cambria Math" panose="02040503050406030204" pitchFamily="18" charset="0"/>
                  </a:rPr>
                  <a:t>$8$</a:t>
                </a:r>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V, </a:t>
                </a:r>
                <a:r>
                  <a:rPr lang="en-IN" sz="2400">
                    <a:solidFill>
                      <a:srgbClr val="111827"/>
                    </a:solidFill>
                    <a:latin typeface="Cambria Math" panose="02040503050406030204" pitchFamily="18" charset="0"/>
                  </a:rPr>
                  <a:t>$\alpha=11$</a:t>
                </a:r>
                <a:r>
                  <a:rPr sz="2400" b="0">
                    <a:solidFill>
                      <a:srgbClr val="111827"/>
                    </a:solidFill>
                    <a:latin typeface="Arial"/>
                  </a:rPr>
                  <a:t>: </a:t>
                </a:r>
                <a:r>
                  <a:rPr lang="en-IN" sz="2400">
                    <a:solidFill>
                      <a:srgbClr val="111827"/>
                    </a:solidFill>
                    <a:latin typeface="Cambria Math" panose="02040503050406030204" pitchFamily="18" charset="0"/>
                  </a:rPr>
                  <a:t>$\{4,7\}$</a:t>
                </a:r>
                <a:r>
                  <a:rPr sz="2400" b="0">
                    <a:solidFill>
                      <a:srgbClr val="111827"/>
                    </a:solidFill>
                    <a:latin typeface="Arial"/>
                  </a:rPr>
                  <a:t> with </a:t>
                </a:r>
                <a:r>
                  <a:rPr lang="en-IN" sz="2400">
                    <a:solidFill>
                      <a:srgbClr val="111827"/>
                    </a:solidFill>
                    <a:latin typeface="Cambria Math" panose="02040503050406030204" pitchFamily="18" charset="0"/>
                  </a:rPr>
                  <a:t>$56,65$</a:t>
                </a:r>
                <a:r>
                  <a:rPr sz="2400" b="0">
                    <a:solidFill>
                      <a:srgbClr val="111827"/>
                    </a:solidFill>
                    <a:latin typeface="Arial"/>
                  </a:rPr>
                  <a:t>: </a:t>
                </a:r>
                <a:r>
                  <a:rPr lang="en-IN" sz="2400">
                    <a:solidFill>
                      <a:srgbClr val="111827"/>
                    </a:solidFill>
                    <a:latin typeface="Cambria Math" panose="02040503050406030204" pitchFamily="18" charset="0"/>
                  </a:rPr>
                  <a:t>$2\times2=4$</a:t>
                </a:r>
                <a:r>
                  <a:rPr sz="2400" b="0">
                    <a:solidFill>
                      <a:srgbClr val="111827"/>
                    </a:solidFill>
                    <a:latin typeface="Arial"/>
                  </a:rPr>
                  <a:t>; swapped: </a:t>
                </a:r>
                <a:r>
                  <a:rPr lang="en-IN" sz="2400">
                    <a:solidFill>
                      <a:srgbClr val="111827"/>
                    </a:solidFill>
                    <a:latin typeface="Cambria Math" panose="02040503050406030204" pitchFamily="18" charset="0"/>
                  </a:rPr>
                  <a:t>$8$</a:t>
                </a:r>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$\alpha\ge12$</a:t>
                </a:r>
                <a:r>
                  <a:rPr sz="2400" b="0">
                    <a:solidFill>
                      <a:srgbClr val="111827"/>
                    </a:solidFill>
                    <a:latin typeface="Arial"/>
                  </a:rPr>
                  <a:t> is impossible: the pair with 7 would be </a:t>
                </a:r>
                <a:r>
                  <a:rPr lang="en-IN" sz="2400">
                    <a:solidFill>
                      <a:srgbClr val="111827"/>
                    </a:solidFill>
                    <a:latin typeface="Cambria Math" panose="02040503050406030204" pitchFamily="18" charset="0"/>
                  </a:rPr>
                  <a:t>$\{7,5\}$</a:t>
                </a:r>
                <a:r>
                  <a:rPr sz="2400" b="0">
                    <a:solidFill>
                      <a:srgbClr val="111827"/>
                    </a:solidFill>
                    <a:latin typeface="Arial"/>
                  </a:rPr>
                  <a:t> or </a:t>
                </a:r>
                <a:r>
                  <a:rPr lang="en-IN" sz="2400">
                    <a:solidFill>
                      <a:srgbClr val="111827"/>
                    </a:solidFill>
                    <a:latin typeface="Cambria Math" panose="02040503050406030204" pitchFamily="18" charset="0"/>
                  </a:rPr>
                  <a:t>$\{7,6\}$</a:t>
                </a:r>
                <a:r>
                  <a:rPr sz="2400" b="0">
                    <a:solidFill>
                      <a:srgbClr val="111827"/>
                    </a:solidFill>
                    <a:latin typeface="Arial"/>
                  </a:rPr>
                  <a:t> (sum 12 or 13), but the other pair of distinct digits from </a:t>
                </a:r>
                <a:r>
                  <a:rPr lang="en-IN" sz="2400">
                    <a:solidFill>
                      <a:srgbClr val="111827"/>
                    </a:solidFill>
                    <a:latin typeface="Cambria Math" panose="02040503050406030204" pitchFamily="18" charset="0"/>
                  </a:rPr>
                  <a:t>$0,\dots,6$</a:t>
                </a:r>
                <a:r>
                  <a:rPr sz="2400" b="0">
                    <a:solidFill>
                      <a:srgbClr val="111827"/>
                    </a:solidFill>
                    <a:latin typeface="Arial"/>
                  </a:rPr>
                  <a:t> (without the partner) has sum at most </a:t>
                </a:r>
                <a:r>
                  <a:rPr lang="en-IN" sz="2400">
                    <a:solidFill>
                      <a:srgbClr val="111827"/>
                    </a:solidFill>
                    <a:latin typeface="Cambria Math" panose="02040503050406030204" pitchFamily="18" charset="0"/>
                  </a:rPr>
                  <a:t>$6+4=10$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codes </a:t>
                </a:r>
                <a:r>
                  <a:rPr lang="en-IN" sz="2400">
                    <a:solidFill>
                      <a:srgbClr val="111827"/>
                    </a:solidFill>
                    <a:latin typeface="Cambria Math" panose="02040503050406030204" pitchFamily="18" charset="0"/>
                  </a:rPr>
                  <a:t>$=24+16+16+8+8=72$</a:t>
                </a:r>
                <a:r>
                  <a:rPr sz="2400" b="0">
                    <a:solidFill>
                      <a:srgbClr val="111827"/>
                    </a:solidFill>
                    <a:latin typeface="Arial"/>
                  </a:rPr>
                  <a:t>, so at most 72 trials are needed.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72</a:t>
            </a:r>
            <a:endParaRPr sz="2800">
              <a:solidFill>
                <a:srgbClr val="15803D"/>
              </a:solidFill>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Equal-sum codes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choose two disjoint unordered pairs with the same sum; each such split gives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codes (order within each pair, and which pair is first).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9 admissible splits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3 partners,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2,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2,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1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1, giving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brute-force check over all 5040 four-digit strings with distinct digits confirms the count 72.</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Equal-sum codes </a:t>
                </a:r>
                <a:r>
                  <a:rPr lang="en-IN" sz="2400">
                    <a:solidFill>
                      <a:srgbClr val="111827"/>
                    </a:solidFill>
                    <a:latin typeface="Cambria Math" panose="02040503050406030204" pitchFamily="18" charset="0"/>
                  </a:rPr>
                  <a:t>$abcd$</a:t>
                </a:r>
                <a:r>
                  <a:rPr sz="2400" b="0">
                    <a:solidFill>
                      <a:srgbClr val="111827"/>
                    </a:solidFill>
                    <a:latin typeface="Arial"/>
                  </a:rPr>
                  <a:t> with </a:t>
                </a:r>
                <a:r>
                  <a:rPr lang="en-IN" sz="2400">
                    <a:solidFill>
                      <a:srgbClr val="111827"/>
                    </a:solidFill>
                    <a:latin typeface="Cambria Math" panose="02040503050406030204" pitchFamily="18" charset="0"/>
                  </a:rPr>
                  <a:t>$a+b=c+d$</a:t>
                </a:r>
                <a:r>
                  <a:rPr sz="2400" b="0">
                    <a:solidFill>
                      <a:srgbClr val="111827"/>
                    </a:solidFill>
                    <a:latin typeface="Arial"/>
                  </a:rPr>
                  <a:t>: choose two disjoint unordered pairs with the same sum; each such split gives </a:t>
                </a:r>
                <a:r>
                  <a:rPr lang="en-IN" sz="2400">
                    <a:solidFill>
                      <a:srgbClr val="111827"/>
                    </a:solidFill>
                    <a:latin typeface="Cambria Math" panose="02040503050406030204" pitchFamily="18" charset="0"/>
                  </a:rPr>
                  <a:t>$2\cdot2\cdot2=8$</a:t>
                </a:r>
                <a:r>
                  <a:rPr sz="2400" b="0">
                    <a:solidFill>
                      <a:srgbClr val="111827"/>
                    </a:solidFill>
                    <a:latin typeface="Arial"/>
                  </a:rPr>
                  <a:t> codes (order within each pair, and which pair is first).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9 admissible splits are </a:t>
                </a:r>
                <a:r>
                  <a:rPr lang="en-IN" sz="2400">
                    <a:solidFill>
                      <a:srgbClr val="111827"/>
                    </a:solidFill>
                    <a:latin typeface="Cambria Math" panose="02040503050406030204" pitchFamily="18" charset="0"/>
                  </a:rPr>
                  <a:t>$\{7,0\}$</a:t>
                </a:r>
                <a:r>
                  <a:rPr sz="2400" b="0">
                    <a:solidFill>
                      <a:srgbClr val="111827"/>
                    </a:solidFill>
                    <a:latin typeface="Arial"/>
                  </a:rPr>
                  <a:t> with 3 partners, </a:t>
                </a:r>
                <a:r>
                  <a:rPr lang="en-IN" sz="2400">
                    <a:solidFill>
                      <a:srgbClr val="111827"/>
                    </a:solidFill>
                    <a:latin typeface="Cambria Math" panose="02040503050406030204" pitchFamily="18" charset="0"/>
                  </a:rPr>
                  <a:t>$\{7,1\}$</a:t>
                </a:r>
                <a:r>
                  <a:rPr sz="2400" b="0">
                    <a:solidFill>
                      <a:srgbClr val="111827"/>
                    </a:solidFill>
                    <a:latin typeface="Arial"/>
                  </a:rPr>
                  <a:t> with 2, </a:t>
                </a:r>
                <a:r>
                  <a:rPr lang="en-IN" sz="2400">
                    <a:solidFill>
                      <a:srgbClr val="111827"/>
                    </a:solidFill>
                    <a:latin typeface="Cambria Math" panose="02040503050406030204" pitchFamily="18" charset="0"/>
                  </a:rPr>
                  <a:t>$\{7,2\}$</a:t>
                </a:r>
                <a:r>
                  <a:rPr sz="2400" b="0">
                    <a:solidFill>
                      <a:srgbClr val="111827"/>
                    </a:solidFill>
                    <a:latin typeface="Arial"/>
                  </a:rPr>
                  <a:t> with 2, </a:t>
                </a:r>
                <a:r>
                  <a:rPr lang="en-IN" sz="2400">
                    <a:solidFill>
                      <a:srgbClr val="111827"/>
                    </a:solidFill>
                    <a:latin typeface="Cambria Math" panose="02040503050406030204" pitchFamily="18" charset="0"/>
                  </a:rPr>
                  <a:t>$\{7,3\}$</a:t>
                </a:r>
                <a:r>
                  <a:rPr sz="2400" b="0">
                    <a:solidFill>
                      <a:srgbClr val="111827"/>
                    </a:solidFill>
                    <a:latin typeface="Arial"/>
                  </a:rPr>
                  <a:t> with 1 and </a:t>
                </a:r>
                <a:r>
                  <a:rPr lang="en-IN" sz="2400">
                    <a:solidFill>
                      <a:srgbClr val="111827"/>
                    </a:solidFill>
                    <a:latin typeface="Cambria Math" panose="02040503050406030204" pitchFamily="18" charset="0"/>
                  </a:rPr>
                  <a:t>$\{7,4\}$</a:t>
                </a:r>
                <a:r>
                  <a:rPr sz="2400" b="0">
                    <a:solidFill>
                      <a:srgbClr val="111827"/>
                    </a:solidFill>
                    <a:latin typeface="Arial"/>
                  </a:rPr>
                  <a:t> with 1, giving </a:t>
                </a:r>
                <a:r>
                  <a:rPr lang="en-IN" sz="2400">
                    <a:solidFill>
                      <a:srgbClr val="111827"/>
                    </a:solidFill>
                    <a:latin typeface="Cambria Math" panose="02040503050406030204" pitchFamily="18" charset="0"/>
                  </a:rPr>
                  <a:t>$9\times8=72$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brute-force check over all 5040 four-digit strings with distinct digits confirms the count 72.</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1.85</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6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11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3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JEE Main Question Bank 02 Algebra 02 (Set 05) Questions 1–20 · detailed solutions</a:t>
                      </a:r>
                    </a:p>
                  </a:txBody>
                  <a:tcPr anchor="ctr" marL="137160" marR="137160">
                    <a:solidFill>
                      <a:srgbClr val="E0ECFF"/>
                    </a:solidFill>
                  </a:tcPr>
                </a:tc>
                <a:tc>
                  <a:txBody>
                    <a:bodyPr/>
                    <a:lstStyle/>
                    <a:p>
                      <a:pPr algn="ctr"/>
                      <a:r>
                        <a:rPr sz="2600" b="1">
                          <a:solidFill>
                            <a:srgbClr val="0B1F3A"/>
                          </a:solidFill>
                          <a:latin typeface="Arial"/>
                        </a:rPr>
                        <a:t>1.85</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