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FFD966"/>
              </a:solidFill>
              <a:ln w="9525">
                <a:solidFill>
                  <a:srgbClr val="111827"/>
                </a:solidFill>
              </a:ln>
            </c:spPr>
          </c:dPt>
          <c:dPt>
            <c:idx val="2"/>
            <c:spPr>
              <a:solidFill>
                <a:srgbClr val="B6D7A8"/>
              </a:solidFill>
              <a:ln w="9525">
                <a:solidFill>
                  <a:srgbClr val="111827"/>
                </a:solidFill>
              </a:ln>
            </c:spPr>
          </c:dPt>
          <c:dPt>
            <c:idx val="3"/>
            <c:spPr>
              <a:solidFill>
                <a:srgbClr val="B6D7A8"/>
              </a:solidFill>
              <a:ln w="9525">
                <a:solidFill>
                  <a:srgbClr val="111827"/>
                </a:solidFill>
              </a:ln>
            </c:spPr>
          </c:dPt>
          <c:dPt>
            <c:idx val="4"/>
            <c:spPr>
              <a:solidFill>
                <a:srgbClr val="FFD966"/>
              </a:solidFill>
              <a:ln w="9525">
                <a:solidFill>
                  <a:srgbClr val="111827"/>
                </a:solidFill>
              </a:ln>
            </c:spPr>
          </c:dPt>
          <c:dPt>
            <c:idx val="5"/>
            <c:spPr>
              <a:solidFill>
                <a:srgbClr val="B6D7A8"/>
              </a:solidFill>
              <a:ln w="9525">
                <a:solidFill>
                  <a:srgbClr val="111827"/>
                </a:solidFill>
              </a:ln>
            </c:spPr>
          </c:dPt>
          <c:dPt>
            <c:idx val="6"/>
            <c:spPr>
              <a:solidFill>
                <a:srgbClr val="B6D7A8"/>
              </a:solidFill>
              <a:ln w="9525">
                <a:solidFill>
                  <a:srgbClr val="111827"/>
                </a:solidFill>
              </a:ln>
            </c:spPr>
          </c:dPt>
          <c:dPt>
            <c:idx val="7"/>
            <c:spPr>
              <a:solidFill>
                <a:srgbClr val="B6D7A8"/>
              </a:solidFill>
              <a:ln w="9525">
                <a:solidFill>
                  <a:srgbClr val="111827"/>
                </a:solidFill>
              </a:ln>
            </c:spPr>
          </c:dPt>
          <c:dPt>
            <c:idx val="8"/>
            <c:spPr>
              <a:solidFill>
                <a:srgbClr val="B6D7A8"/>
              </a:solidFill>
              <a:ln w="9525">
                <a:solidFill>
                  <a:srgbClr val="111827"/>
                </a:solidFill>
              </a:ln>
            </c:spPr>
          </c:dPt>
          <c:dPt>
            <c:idx val="9"/>
            <c:spPr>
              <a:solidFill>
                <a:srgbClr val="B6D7A8"/>
              </a:solidFill>
              <a:ln w="9525">
                <a:solidFill>
                  <a:srgbClr val="111827"/>
                </a:solidFill>
              </a:ln>
            </c:spPr>
          </c:dPt>
          <c:dPt>
            <c:idx val="10"/>
            <c:spPr>
              <a:solidFill>
                <a:srgbClr val="FFD966"/>
              </a:solidFill>
              <a:ln w="9525">
                <a:solidFill>
                  <a:srgbClr val="111827"/>
                </a:solidFill>
              </a:ln>
            </c:spPr>
          </c:dPt>
          <c:dPt>
            <c:idx val="11"/>
            <c:spPr>
              <a:solidFill>
                <a:srgbClr val="B6D7A8"/>
              </a:solidFill>
              <a:ln w="9525">
                <a:solidFill>
                  <a:srgbClr val="111827"/>
                </a:solidFill>
              </a:ln>
            </c:spPr>
          </c:dPt>
          <c:dPt>
            <c:idx val="12"/>
            <c:spPr>
              <a:solidFill>
                <a:srgbClr val="F6B26B"/>
              </a:solidFill>
              <a:ln w="9525">
                <a:solidFill>
                  <a:srgbClr val="111827"/>
                </a:solidFill>
              </a:ln>
            </c:spPr>
          </c:dPt>
          <c:dPt>
            <c:idx val="13"/>
            <c:spPr>
              <a:solidFill>
                <a:srgbClr val="B6D7A8"/>
              </a:solidFill>
              <a:ln w="9525">
                <a:solidFill>
                  <a:srgbClr val="111827"/>
                </a:solidFill>
              </a:ln>
            </c:spPr>
          </c:dPt>
          <c:dPt>
            <c:idx val="14"/>
            <c:spPr>
              <a:solidFill>
                <a:srgbClr val="FFD966"/>
              </a:solidFill>
              <a:ln w="9525">
                <a:solidFill>
                  <a:srgbClr val="111827"/>
                </a:solidFill>
              </a:ln>
            </c:spPr>
          </c:dPt>
          <c:dPt>
            <c:idx val="15"/>
            <c:spPr>
              <a:solidFill>
                <a:srgbClr val="FFD966"/>
              </a:solidFill>
              <a:ln w="9525">
                <a:solidFill>
                  <a:srgbClr val="111827"/>
                </a:solidFill>
              </a:ln>
            </c:spPr>
          </c:dPt>
          <c:dPt>
            <c:idx val="16"/>
            <c:spPr>
              <a:solidFill>
                <a:srgbClr val="FFD966"/>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FFD966"/>
              </a:solidFill>
              <a:ln w="9525">
                <a:solidFill>
                  <a:srgbClr val="111827"/>
                </a:solidFill>
              </a:ln>
            </c:spPr>
          </c:dPt>
          <c:cat>
            <c:strRef>
              <c:f>Sheet1!$A$2:$A$21</c:f>
              <c:strCache>
                <c:ptCount val="20"/>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strCache>
            </c:strRef>
          </c:cat>
          <c:val>
            <c:numRef>
              <c:f>Sheet1!$B$2:$B$21</c:f>
              <c:numCache>
                <c:formatCode>General</c:formatCode>
                <c:ptCount val="20"/>
                <c:pt idx="0">
                  <c:v>2.0</c:v>
                </c:pt>
                <c:pt idx="1">
                  <c:v>2.0</c:v>
                </c:pt>
                <c:pt idx="2">
                  <c:v>1.0</c:v>
                </c:pt>
                <c:pt idx="3">
                  <c:v>1.0</c:v>
                </c:pt>
                <c:pt idx="4">
                  <c:v>2.0</c:v>
                </c:pt>
                <c:pt idx="5">
                  <c:v>1.0</c:v>
                </c:pt>
                <c:pt idx="6">
                  <c:v>1.0</c:v>
                </c:pt>
                <c:pt idx="7">
                  <c:v>1.0</c:v>
                </c:pt>
                <c:pt idx="8">
                  <c:v>1.0</c:v>
                </c:pt>
                <c:pt idx="9">
                  <c:v>1.0</c:v>
                </c:pt>
                <c:pt idx="10">
                  <c:v>2.0</c:v>
                </c:pt>
                <c:pt idx="11">
                  <c:v>1.0</c:v>
                </c:pt>
                <c:pt idx="12">
                  <c:v>3.0</c:v>
                </c:pt>
                <c:pt idx="13">
                  <c:v>1.0</c:v>
                </c:pt>
                <c:pt idx="14">
                  <c:v>2.0</c:v>
                </c:pt>
                <c:pt idx="15">
                  <c:v>2.0</c:v>
                </c:pt>
                <c:pt idx="16">
                  <c:v>2.0</c:v>
                </c:pt>
                <c:pt idx="17">
                  <c:v>2.0</c:v>
                </c:pt>
                <c:pt idx="18">
                  <c:v>2.0</c:v>
                </c:pt>
                <c:pt idx="19">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line for $b=6$ is garbled ('3b = 4ac'); the equation is $36=4ac$, so $ac=9$ and $a=c=3$. Corrected in the working; the count (8) and the answer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condition as $a\cdot b&gt;108$ but then lists the pair $(18,6)$ whose product is exactly $108$ and counts $13$ cases. The question says 'not less than', so the correct condition is $ab\ge108$. With '$&gt;108$' the count would be $11$, not $13$. Corrected the inequality sign; the count and answer ($13/23$, $10$)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JEE Main Question Bank 01 Algebra 12 — Paper Analysis</a:t>
            </a:r>
            <a:endParaRPr sz="4000">
              <a:solidFill>
                <a:srgbClr val="FFFFFF"/>
              </a:solidFill>
            </a:endParaRPr>
          </a:p>
          <a:p>
            <a:pPr algn="ctr"/>
            <a:r>
              <a:rPr sz="2200">
                <a:solidFill>
                  <a:srgbClr val="FFFFFF"/>
                </a:solidFill>
                <a:latin typeface="Arial"/>
              </a:rPr>
              <a:t>Probability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Q20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(assumed: no marks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for single-correct questions</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in the quadratic equation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are chosen from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probability of this equation having repeated roots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128</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256</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128</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coefficients </a:t>
                </a:r>
                <a:r>
                  <a:rPr lang="en-IN" sz="2400">
                    <a:solidFill>
                      <a:srgbClr val="111827"/>
                    </a:solidFill>
                    <a:latin typeface="Cambria Math" panose="02040503050406030204" pitchFamily="18" charset="0"/>
                  </a:rPr>
                  <a:t>$a,b,c$</a:t>
                </a:r>
                <a:r>
                  <a:rPr sz="2400" b="0">
                    <a:solidFill>
                      <a:srgbClr val="111827"/>
                    </a:solidFill>
                    <a:latin typeface="Arial"/>
                  </a:rPr>
                  <a:t> in the quadratic equation </a:t>
                </a:r>
                <a:r>
                  <a:rPr lang="en-IN" sz="2400">
                    <a:solidFill>
                      <a:srgbClr val="111827"/>
                    </a:solidFill>
                    <a:latin typeface="Cambria Math" panose="02040503050406030204" pitchFamily="18" charset="0"/>
                  </a:rPr>
                  <a:t>$ax^2+bx+c=0$</a:t>
                </a:r>
                <a:r>
                  <a:rPr sz="2400" b="0">
                    <a:solidFill>
                      <a:srgbClr val="111827"/>
                    </a:solidFill>
                    <a:latin typeface="Arial"/>
                  </a:rPr>
                  <a:t> are chosen from the set </a:t>
                </a:r>
                <a:r>
                  <a:rPr lang="en-IN" sz="2400">
                    <a:solidFill>
                      <a:srgbClr val="111827"/>
                    </a:solidFill>
                    <a:latin typeface="Cambria Math" panose="02040503050406030204" pitchFamily="18" charset="0"/>
                  </a:rPr>
                  <a:t>$\{1,2,3,4,5,6,7,8\}$</a:t>
                </a:r>
                <a:r>
                  <a:rPr sz="2400" b="0">
                    <a:solidFill>
                      <a:srgbClr val="111827"/>
                    </a:solidFill>
                    <a:latin typeface="Arial"/>
                  </a:rPr>
                  <a:t>. The probability of this equation having repeated roots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$\frac{1}{128}$</a:t>
                </a:r>
                <a:r>
                  <a:rPr sz="2400" b="0">
                    <a:solidFill>
                      <a:srgbClr val="111827"/>
                    </a:solidFill>
                    <a:latin typeface="Arial"/>
                  </a:rPr>
                  <a:t>   (B) </a:t>
                </a:r>
                <a:r>
                  <a:rPr lang="en-IN" sz="2400">
                    <a:solidFill>
                      <a:srgbClr val="111827"/>
                    </a:solidFill>
                    <a:latin typeface="Cambria Math" panose="02040503050406030204" pitchFamily="18" charset="0"/>
                  </a:rPr>
                  <a:t>$\frac{1}{64}$</a:t>
                </a:r>
                <a:r>
                  <a:rPr sz="2400" b="0">
                    <a:solidFill>
                      <a:srgbClr val="111827"/>
                    </a:solidFill>
                    <a:latin typeface="Arial"/>
                  </a:rPr>
                  <a:t>   (C) </a:t>
                </a:r>
                <a:r>
                  <a:rPr lang="en-IN" sz="2400">
                    <a:solidFill>
                      <a:srgbClr val="111827"/>
                    </a:solidFill>
                    <a:latin typeface="Cambria Math" panose="02040503050406030204" pitchFamily="18" charset="0"/>
                  </a:rPr>
                  <a:t>$\frac{3}{256}$</a:t>
                </a:r>
                <a:r>
                  <a:rPr sz="2400" b="0">
                    <a:solidFill>
                      <a:srgbClr val="111827"/>
                    </a:solidFill>
                    <a:latin typeface="Arial"/>
                  </a:rPr>
                  <a:t>   (D) </a:t>
                </a:r>
                <a:r>
                  <a:rPr lang="en-IN" sz="2400">
                    <a:solidFill>
                      <a:srgbClr val="111827"/>
                    </a:solidFill>
                    <a:latin typeface="Cambria Math" panose="02040503050406030204" pitchFamily="18" charset="0"/>
                  </a:rPr>
                  <a:t>$\frac{3}{128}$</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an event, Discriminant condition for equal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Repeated roots need </a:t>
                </a:r>
                <a14:m>
                  <m:oMath xmlns:m="http://schemas.openxmlformats.org/officeDocument/2006/math">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𝑐</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must be even and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sSup>
                      <m:e>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𝑏</m:t>
                                </m:r>
                              </m:num>
                              <m:den>
                                <m:r>
                                  <a:rPr lang="en-IN" sz="2400" i="1">
                                    <a:solidFill>
                                      <a:srgbClr val="78350F"/>
                                    </a:solidFill>
                                    <a:latin typeface="Cambria Math" panose="02040503050406030204" pitchFamily="18" charset="0"/>
                                  </a:rPr>
                                  <m:t>2</m:t>
                                </m:r>
                              </m:den>
                            </m:f>
                          </m:e>
                        </m:d>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Repeated roots need </a:t>
                </a:r>
                <a:r>
                  <a:rPr lang="en-IN" sz="2400">
                    <a:solidFill>
                      <a:srgbClr val="78350F"/>
                    </a:solidFill>
                    <a:latin typeface="Cambria Math" panose="02040503050406030204" pitchFamily="18" charset="0"/>
                  </a:rPr>
                  <a:t>$b^2=4ac$</a:t>
                </a:r>
                <a:r>
                  <a:rPr sz="2400" b="0">
                    <a:solidFill>
                      <a:srgbClr val="78350F"/>
                    </a:solidFill>
                    <a:latin typeface="Arial"/>
                  </a:rPr>
                  <a:t>, so </a:t>
                </a:r>
                <a:r>
                  <a:rPr lang="en-IN" sz="2400">
                    <a:solidFill>
                      <a:srgbClr val="78350F"/>
                    </a:solidFill>
                    <a:latin typeface="Cambria Math" panose="02040503050406030204" pitchFamily="18" charset="0"/>
                  </a:rPr>
                  <a:t>$b$</a:t>
                </a:r>
                <a:r>
                  <a:rPr sz="2400" b="0">
                    <a:solidFill>
                      <a:srgbClr val="78350F"/>
                    </a:solidFill>
                    <a:latin typeface="Arial"/>
                  </a:rPr>
                  <a:t> must be even and </a:t>
                </a:r>
                <a:r>
                  <a:rPr lang="en-IN" sz="2400">
                    <a:solidFill>
                      <a:srgbClr val="78350F"/>
                    </a:solidFill>
                    <a:latin typeface="Cambria Math" panose="02040503050406030204" pitchFamily="18" charset="0"/>
                  </a:rPr>
                  <a:t>$ac=\left(\frac b2\right)^2$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number of equations: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Repeated roots need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odd, so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is impossible (no case).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case.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cases.</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number of equations: </a:t>
                </a:r>
                <a:r>
                  <a:rPr lang="en-IN" sz="2400">
                    <a:solidFill>
                      <a:srgbClr val="111827"/>
                    </a:solidFill>
                    <a:latin typeface="Cambria Math" panose="02040503050406030204" pitchFamily="18" charset="0"/>
                  </a:rPr>
                  <a:t>$8\times8\times8=512$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Repeated roots need </a:t>
                </a:r>
                <a:r>
                  <a:rPr lang="en-IN" sz="2400">
                    <a:solidFill>
                      <a:srgbClr val="111827"/>
                    </a:solidFill>
                    <a:latin typeface="Cambria Math" panose="02040503050406030204" pitchFamily="18" charset="0"/>
                  </a:rPr>
                  <a:t>$D=0$</a:t>
                </a:r>
                <a:r>
                  <a:rPr sz="2400" b="0">
                    <a:solidFill>
                      <a:srgbClr val="111827"/>
                    </a:solidFill>
                    <a:latin typeface="Arial"/>
                  </a:rPr>
                  <a:t>, i.e. </a:t>
                </a:r>
                <a:r>
                  <a:rPr lang="en-IN" sz="2400">
                    <a:solidFill>
                      <a:srgbClr val="111827"/>
                    </a:solidFill>
                    <a:latin typeface="Cambria Math" panose="02040503050406030204" pitchFamily="18" charset="0"/>
                  </a:rPr>
                  <a:t>$b^2=4ac$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$b=1,3,5,7$</a:t>
                </a:r>
                <a:r>
                  <a:rPr sz="2400" b="0">
                    <a:solidFill>
                      <a:srgbClr val="111827"/>
                    </a:solidFill>
                    <a:latin typeface="Arial"/>
                  </a:rPr>
                  <a:t>: </a:t>
                </a:r>
                <a:r>
                  <a:rPr lang="en-IN" sz="2400">
                    <a:solidFill>
                      <a:srgbClr val="111827"/>
                    </a:solidFill>
                    <a:latin typeface="Cambria Math" panose="02040503050406030204" pitchFamily="18" charset="0"/>
                  </a:rPr>
                  <a:t>$b^2$</a:t>
                </a:r>
                <a:r>
                  <a:rPr sz="2400" b="0">
                    <a:solidFill>
                      <a:srgbClr val="111827"/>
                    </a:solidFill>
                    <a:latin typeface="Arial"/>
                  </a:rPr>
                  <a:t> is odd, so </a:t>
                </a:r>
                <a:r>
                  <a:rPr lang="en-IN" sz="2400">
                    <a:solidFill>
                      <a:srgbClr val="111827"/>
                    </a:solidFill>
                    <a:latin typeface="Cambria Math" panose="02040503050406030204" pitchFamily="18" charset="0"/>
                  </a:rPr>
                  <a:t>$b^2=4ac$</a:t>
                </a:r>
                <a:r>
                  <a:rPr sz="2400" b="0">
                    <a:solidFill>
                      <a:srgbClr val="111827"/>
                    </a:solidFill>
                    <a:latin typeface="Arial"/>
                  </a:rPr>
                  <a:t> is impossible (no case).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$b=2$</a:t>
                </a:r>
                <a:r>
                  <a:rPr sz="2400" b="0">
                    <a:solidFill>
                      <a:srgbClr val="111827"/>
                    </a:solidFill>
                    <a:latin typeface="Arial"/>
                  </a:rPr>
                  <a:t>: </a:t>
                </a:r>
                <a:r>
                  <a:rPr lang="en-IN" sz="2400">
                    <a:solidFill>
                      <a:srgbClr val="111827"/>
                    </a:solidFill>
                    <a:latin typeface="Cambria Math" panose="02040503050406030204" pitchFamily="18" charset="0"/>
                  </a:rPr>
                  <a:t>$4ac=4\Rightarrow ac=1\Rightarrow a=c=1$</a:t>
                </a:r>
                <a:r>
                  <a:rPr sz="2400" b="0">
                    <a:solidFill>
                      <a:srgbClr val="111827"/>
                    </a:solidFill>
                    <a:latin typeface="Arial"/>
                  </a:rPr>
                  <a:t>, so </a:t>
                </a:r>
                <a:r>
                  <a:rPr lang="en-IN" sz="2400">
                    <a:solidFill>
                      <a:srgbClr val="111827"/>
                    </a:solidFill>
                    <a:latin typeface="Cambria Math" panose="02040503050406030204" pitchFamily="18" charset="0"/>
                  </a:rPr>
                  <a:t>$1$</a:t>
                </a:r>
                <a:r>
                  <a:rPr sz="2400" b="0">
                    <a:solidFill>
                      <a:srgbClr val="111827"/>
                    </a:solidFill>
                    <a:latin typeface="Arial"/>
                  </a:rPr>
                  <a:t> case.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$b=4$</a:t>
                </a:r>
                <a:r>
                  <a:rPr sz="2400" b="0">
                    <a:solidFill>
                      <a:srgbClr val="111827"/>
                    </a:solidFill>
                    <a:latin typeface="Arial"/>
                  </a:rPr>
                  <a:t>: </a:t>
                </a:r>
                <a:r>
                  <a:rPr lang="en-IN" sz="2400">
                    <a:solidFill>
                      <a:srgbClr val="111827"/>
                    </a:solidFill>
                    <a:latin typeface="Cambria Math" panose="02040503050406030204" pitchFamily="18" charset="0"/>
                  </a:rPr>
                  <a:t>$16=4ac\Rightarrow ac=4\Rightarrow (a,c)=(2,2),(4,1),(1,4)$</a:t>
                </a:r>
                <a:r>
                  <a:rPr sz="2400" b="0">
                    <a:solidFill>
                      <a:srgbClr val="111827"/>
                    </a:solidFill>
                    <a:latin typeface="Arial"/>
                  </a:rPr>
                  <a:t>, so </a:t>
                </a:r>
                <a:r>
                  <a:rPr lang="en-IN" sz="2400">
                    <a:solidFill>
                      <a:srgbClr val="111827"/>
                    </a:solidFill>
                    <a:latin typeface="Cambria Math" panose="02040503050406030204" pitchFamily="18" charset="0"/>
                  </a:rPr>
                  <a:t>$3$</a:t>
                </a:r>
                <a:r>
                  <a:rPr sz="2400" b="0">
                    <a:solidFill>
                      <a:srgbClr val="111827"/>
                    </a:solidFill>
                    <a:latin typeface="Arial"/>
                  </a:rPr>
                  <a:t> cases.</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outside the set), so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case.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cases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64</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$b=6$</a:t>
                </a:r>
                <a:r>
                  <a:rPr sz="2400" b="0">
                    <a:solidFill>
                      <a:srgbClr val="111827"/>
                    </a:solidFill>
                    <a:latin typeface="Arial"/>
                  </a:rPr>
                  <a:t>: </a:t>
                </a:r>
                <a:r>
                  <a:rPr lang="en-IN" sz="2400">
                    <a:solidFill>
                      <a:srgbClr val="111827"/>
                    </a:solidFill>
                    <a:latin typeface="Cambria Math" panose="02040503050406030204" pitchFamily="18" charset="0"/>
                  </a:rPr>
                  <a:t>$36=4ac\Rightarrow ac=9\Rightarrow a=c=3$</a:t>
                </a:r>
                <a:r>
                  <a:rPr sz="2400" b="0">
                    <a:solidFill>
                      <a:srgbClr val="111827"/>
                    </a:solidFill>
                    <a:latin typeface="Arial"/>
                  </a:rPr>
                  <a:t> (</a:t>
                </a:r>
                <a:r>
                  <a:rPr lang="en-IN" sz="2400">
                    <a:solidFill>
                      <a:srgbClr val="111827"/>
                    </a:solidFill>
                    <a:latin typeface="Cambria Math" panose="02040503050406030204" pitchFamily="18" charset="0"/>
                  </a:rPr>
                  <a:t>$a=1,c=9$</a:t>
                </a:r>
                <a:r>
                  <a:rPr sz="2400" b="0">
                    <a:solidFill>
                      <a:srgbClr val="111827"/>
                    </a:solidFill>
                    <a:latin typeface="Arial"/>
                  </a:rPr>
                  <a:t> or </a:t>
                </a:r>
                <a:r>
                  <a:rPr lang="en-IN" sz="2400">
                    <a:solidFill>
                      <a:srgbClr val="111827"/>
                    </a:solidFill>
                    <a:latin typeface="Cambria Math" panose="02040503050406030204" pitchFamily="18" charset="0"/>
                  </a:rPr>
                  <a:t>$a=9,c=1$</a:t>
                </a:r>
                <a:r>
                  <a:rPr sz="2400" b="0">
                    <a:solidFill>
                      <a:srgbClr val="111827"/>
                    </a:solidFill>
                    <a:latin typeface="Arial"/>
                  </a:rPr>
                  <a:t> is outside the set), so </a:t>
                </a:r>
                <a:r>
                  <a:rPr lang="en-IN" sz="2400">
                    <a:solidFill>
                      <a:srgbClr val="111827"/>
                    </a:solidFill>
                    <a:latin typeface="Cambria Math" panose="02040503050406030204" pitchFamily="18" charset="0"/>
                  </a:rPr>
                  <a:t>$1$</a:t>
                </a:r>
                <a:r>
                  <a:rPr sz="2400" b="0">
                    <a:solidFill>
                      <a:srgbClr val="111827"/>
                    </a:solidFill>
                    <a:latin typeface="Arial"/>
                  </a:rPr>
                  <a:t> case.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$b=8$</a:t>
                </a:r>
                <a:r>
                  <a:rPr sz="2400" b="0">
                    <a:solidFill>
                      <a:srgbClr val="111827"/>
                    </a:solidFill>
                    <a:latin typeface="Arial"/>
                  </a:rPr>
                  <a:t>: </a:t>
                </a:r>
                <a:r>
                  <a:rPr lang="en-IN" sz="2400">
                    <a:solidFill>
                      <a:srgbClr val="111827"/>
                    </a:solidFill>
                    <a:latin typeface="Cambria Math" panose="02040503050406030204" pitchFamily="18" charset="0"/>
                  </a:rPr>
                  <a:t>$64=4ac\Rightarrow ac=16\Rightarrow (a,c)=(4,4),(8,2),(2,8)$</a:t>
                </a:r>
                <a:r>
                  <a:rPr sz="2400" b="0">
                    <a:solidFill>
                      <a:srgbClr val="111827"/>
                    </a:solidFill>
                    <a:latin typeface="Arial"/>
                  </a:rPr>
                  <a:t>, so </a:t>
                </a:r>
                <a:r>
                  <a:rPr lang="en-IN" sz="2400">
                    <a:solidFill>
                      <a:srgbClr val="111827"/>
                    </a:solidFill>
                    <a:latin typeface="Cambria Math" panose="02040503050406030204" pitchFamily="18" charset="0"/>
                  </a:rPr>
                  <a:t>$3$</a:t>
                </a:r>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cases </a:t>
                </a:r>
                <a:r>
                  <a:rPr lang="en-IN" sz="2400">
                    <a:solidFill>
                      <a:srgbClr val="111827"/>
                    </a:solidFill>
                    <a:latin typeface="Cambria Math" panose="02040503050406030204" pitchFamily="18" charset="0"/>
                  </a:rPr>
                  <a:t>$=1+3+1+3=8$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$=\frac{8}{512}=\frac{1}{64}$</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64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$\frac{1}{64}$</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Repeated roots need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𝑐</m:t>
                    </m:r>
                  </m:oMath>
                </a14:m>
                <a:r>
                  <a:rPr sz="2400" b="0">
                    <a:solidFill>
                      <a:srgbClr val="78350F"/>
                    </a:solidFill>
                    <a:latin typeface="Arial"/>
                  </a:rPr>
                  <a:t> to be a perfect square, so pair up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by their square-free part.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Repeated roots need </a:t>
                </a:r>
                <a:r>
                  <a:rPr lang="en-IN" sz="2400">
                    <a:solidFill>
                      <a:srgbClr val="78350F"/>
                    </a:solidFill>
                    <a:latin typeface="Cambria Math" panose="02040503050406030204" pitchFamily="18" charset="0"/>
                  </a:rPr>
                  <a:t>$ac$</a:t>
                </a:r>
                <a:r>
                  <a:rPr sz="2400" b="0">
                    <a:solidFill>
                      <a:srgbClr val="78350F"/>
                    </a:solidFill>
                    <a:latin typeface="Arial"/>
                  </a:rPr>
                  <a:t> to be a perfect square, so pair up </a:t>
                </a:r>
                <a:r>
                  <a:rPr lang="en-IN" sz="2400">
                    <a:solidFill>
                      <a:srgbClr val="78350F"/>
                    </a:solidFill>
                    <a:latin typeface="Cambria Math" panose="02040503050406030204" pitchFamily="18" charset="0"/>
                  </a:rPr>
                  <a:t>$a,c$</a:t>
                </a:r>
                <a:r>
                  <a:rPr sz="2400" b="0">
                    <a:solidFill>
                      <a:srgbClr val="78350F"/>
                    </a:solidFill>
                    <a:latin typeface="Arial"/>
                  </a:rPr>
                  <a:t> by their square-free part.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is a perfect square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is a perfect square exactly when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have the same square-free part.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Square-free part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all with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pairs.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$b^2=4ac$</a:t>
                </a:r>
                <a:r>
                  <a:rPr sz="2400" b="0">
                    <a:solidFill>
                      <a:srgbClr val="111827"/>
                    </a:solidFill>
                    <a:latin typeface="Arial"/>
                  </a:rPr>
                  <a:t> means </a:t>
                </a:r>
                <a:r>
                  <a:rPr lang="en-IN" sz="2400">
                    <a:solidFill>
                      <a:srgbClr val="111827"/>
                    </a:solidFill>
                    <a:latin typeface="Cambria Math" panose="02040503050406030204" pitchFamily="18" charset="0"/>
                  </a:rPr>
                  <a:t>$ac=\left(\frac b2\right)^2$</a:t>
                </a:r>
                <a:r>
                  <a:rPr sz="2400" b="0">
                    <a:solidFill>
                      <a:srgbClr val="111827"/>
                    </a:solidFill>
                    <a:latin typeface="Arial"/>
                  </a:rPr>
                  <a:t>: </a:t>
                </a:r>
                <a:r>
                  <a:rPr lang="en-IN" sz="2400">
                    <a:solidFill>
                      <a:srgbClr val="111827"/>
                    </a:solidFill>
                    <a:latin typeface="Cambria Math" panose="02040503050406030204" pitchFamily="18" charset="0"/>
                  </a:rPr>
                  <a:t>$ac$</a:t>
                </a:r>
                <a:r>
                  <a:rPr sz="2400" b="0">
                    <a:solidFill>
                      <a:srgbClr val="111827"/>
                    </a:solidFill>
                    <a:latin typeface="Arial"/>
                  </a:rPr>
                  <a:t> is a perfect square and </a:t>
                </a:r>
                <a:r>
                  <a:rPr lang="en-IN" sz="2400">
                    <a:solidFill>
                      <a:srgbClr val="111827"/>
                    </a:solidFill>
                    <a:latin typeface="Cambria Math" panose="02040503050406030204" pitchFamily="18" charset="0"/>
                  </a:rPr>
                  <a:t>$b=2\sqrt{ac}\le8$</a:t>
                </a:r>
                <a:r>
                  <a:rPr sz="2400" b="0">
                    <a:solidFill>
                      <a:srgbClr val="111827"/>
                    </a:solidFill>
                    <a:latin typeface="Arial"/>
                  </a:rPr>
                  <a:t>, i.e. </a:t>
                </a:r>
                <a:r>
                  <a:rPr lang="en-IN" sz="2400">
                    <a:solidFill>
                      <a:srgbClr val="111827"/>
                    </a:solidFill>
                    <a:latin typeface="Cambria Math" panose="02040503050406030204" pitchFamily="18" charset="0"/>
                  </a:rPr>
                  <a:t>$ac\le16$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t>
                </a:r>
                <a:r>
                  <a:rPr sz="2400" b="0">
                    <a:solidFill>
                      <a:srgbClr val="111827"/>
                    </a:solidFill>
                    <a:latin typeface="Arial"/>
                  </a:rPr>
                  <a:t> is a perfect square exactly when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have the same square-free part.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Square-free part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$a,c\in\{1,4\}$</a:t>
                </a:r>
                <a:r>
                  <a:rPr sz="2400" b="0">
                    <a:solidFill>
                      <a:srgbClr val="111827"/>
                    </a:solidFill>
                    <a:latin typeface="Arial"/>
                  </a:rPr>
                  <a:t> gives </a:t>
                </a:r>
                <a:r>
                  <a:rPr lang="en-IN" sz="2400">
                    <a:solidFill>
                      <a:srgbClr val="111827"/>
                    </a:solidFill>
                    <a:latin typeface="Cambria Math" panose="02040503050406030204" pitchFamily="18" charset="0"/>
                  </a:rPr>
                  <a:t>$(1,1),(1,4),(4,1),(4,4)$</a:t>
                </a:r>
                <a:r>
                  <a:rPr sz="2400" b="0">
                    <a:solidFill>
                      <a:srgbClr val="111827"/>
                    </a:solidFill>
                    <a:latin typeface="Arial"/>
                  </a:rPr>
                  <a:t> with </a:t>
                </a:r>
                <a:r>
                  <a:rPr lang="en-IN" sz="2400">
                    <a:solidFill>
                      <a:srgbClr val="111827"/>
                    </a:solidFill>
                    <a:latin typeface="Cambria Math" panose="02040503050406030204" pitchFamily="18" charset="0"/>
                  </a:rPr>
                  <a:t>$ac=1,4,4,16$</a:t>
                </a:r>
                <a:r>
                  <a:rPr sz="2400" b="0">
                    <a:solidFill>
                      <a:srgbClr val="111827"/>
                    </a:solidFill>
                    <a:latin typeface="Arial"/>
                  </a:rPr>
                  <a:t>, all with </a:t>
                </a:r>
                <a:r>
                  <a:rPr lang="en-IN" sz="2400">
                    <a:solidFill>
                      <a:srgbClr val="111827"/>
                    </a:solidFill>
                    <a:latin typeface="Cambria Math" panose="02040503050406030204" pitchFamily="18" charset="0"/>
                  </a:rPr>
                  <a:t>$ac\le16$</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pairs.</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Square-free part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64</m:t>
                    </m:r>
                  </m:oMath>
                </a14:m>
                <a:r>
                  <a:rPr sz="2400" b="0">
                    <a:solidFill>
                      <a:srgbClr val="111827"/>
                    </a:solidFill>
                    <a:latin typeface="Arial"/>
                  </a:rPr>
                  <a:t> would need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Square-free part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pair. Parts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which need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8</m:t>
                    </m:r>
                  </m:oMath>
                </a14:m>
                <a:r>
                  <a:rPr sz="2400" b="0">
                    <a:solidFill>
                      <a:srgbClr val="111827"/>
                    </a:solidFill>
                    <a:latin typeface="Arial"/>
                  </a:rPr>
                  <a:t>: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valid pair fixes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uniquely, so favourable cases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the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Square-free part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$a,c\in\{2,8\}$</a:t>
                </a:r>
                <a:r>
                  <a:rPr sz="2400" b="0">
                    <a:solidFill>
                      <a:srgbClr val="111827"/>
                    </a:solidFill>
                    <a:latin typeface="Arial"/>
                  </a:rPr>
                  <a:t> gives </a:t>
                </a:r>
                <a:r>
                  <a:rPr lang="en-IN" sz="2400">
                    <a:solidFill>
                      <a:srgbClr val="111827"/>
                    </a:solidFill>
                    <a:latin typeface="Cambria Math" panose="02040503050406030204" pitchFamily="18" charset="0"/>
                  </a:rPr>
                  <a:t>$ac=4,16,16,64$</a:t>
                </a:r>
                <a:r>
                  <a:rPr sz="2400" b="0">
                    <a:solidFill>
                      <a:srgbClr val="111827"/>
                    </a:solidFill>
                    <a:latin typeface="Arial"/>
                  </a:rPr>
                  <a:t>; </a:t>
                </a:r>
                <a:r>
                  <a:rPr lang="en-IN" sz="2400">
                    <a:solidFill>
                      <a:srgbClr val="111827"/>
                    </a:solidFill>
                    <a:latin typeface="Cambria Math" panose="02040503050406030204" pitchFamily="18" charset="0"/>
                  </a:rPr>
                  <a:t>$64$</a:t>
                </a:r>
                <a:r>
                  <a:rPr sz="2400" b="0">
                    <a:solidFill>
                      <a:srgbClr val="111827"/>
                    </a:solidFill>
                    <a:latin typeface="Arial"/>
                  </a:rPr>
                  <a:t> would need </a:t>
                </a:r>
                <a:r>
                  <a:rPr lang="en-IN" sz="2400">
                    <a:solidFill>
                      <a:srgbClr val="111827"/>
                    </a:solidFill>
                    <a:latin typeface="Cambria Math" panose="02040503050406030204" pitchFamily="18" charset="0"/>
                  </a:rPr>
                  <a:t>$b=16&gt;8$</a:t>
                </a:r>
                <a:r>
                  <a:rPr sz="2400" b="0">
                    <a:solidFill>
                      <a:srgbClr val="111827"/>
                    </a:solidFill>
                    <a:latin typeface="Arial"/>
                  </a:rPr>
                  <a:t>, so </a:t>
                </a:r>
                <a:r>
                  <a:rPr lang="en-IN" sz="2400">
                    <a:solidFill>
                      <a:srgbClr val="111827"/>
                    </a:solidFill>
                    <a:latin typeface="Cambria Math" panose="02040503050406030204" pitchFamily="18" charset="0"/>
                  </a:rPr>
                  <a:t>$3$</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Square-free part </a:t>
                </a:r>
                <a:r>
                  <a:rPr lang="en-IN" sz="2400">
                    <a:solidFill>
                      <a:srgbClr val="111827"/>
                    </a:solidFill>
                    <a:latin typeface="Cambria Math" panose="02040503050406030204" pitchFamily="18" charset="0"/>
                  </a:rPr>
                  <a:t>$3$</a:t>
                </a:r>
                <a:r>
                  <a:rPr sz="2400" b="0">
                    <a:solidFill>
                      <a:srgbClr val="111827"/>
                    </a:solidFill>
                    <a:latin typeface="Arial"/>
                  </a:rPr>
                  <a:t>: only </a:t>
                </a:r>
                <a:r>
                  <a:rPr lang="en-IN" sz="2400">
                    <a:solidFill>
                      <a:srgbClr val="111827"/>
                    </a:solidFill>
                    <a:latin typeface="Cambria Math" panose="02040503050406030204" pitchFamily="18" charset="0"/>
                  </a:rPr>
                  <a:t>$a=c=3$</a:t>
                </a:r>
                <a:r>
                  <a:rPr sz="2400" b="0">
                    <a:solidFill>
                      <a:srgbClr val="111827"/>
                    </a:solidFill>
                    <a:latin typeface="Arial"/>
                  </a:rPr>
                  <a:t> (</a:t>
                </a:r>
                <a:r>
                  <a:rPr lang="en-IN" sz="2400">
                    <a:solidFill>
                      <a:srgbClr val="111827"/>
                    </a:solidFill>
                    <a:latin typeface="Cambria Math" panose="02040503050406030204" pitchFamily="18" charset="0"/>
                  </a:rPr>
                  <a:t>$ac=9$</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pair. Parts </a:t>
                </a:r>
                <a:r>
                  <a:rPr lang="en-IN" sz="2400">
                    <a:solidFill>
                      <a:srgbClr val="111827"/>
                    </a:solidFill>
                    <a:latin typeface="Cambria Math" panose="02040503050406030204" pitchFamily="18" charset="0"/>
                  </a:rPr>
                  <a:t>$5,6,7$</a:t>
                </a:r>
                <a:r>
                  <a:rPr sz="2400" b="0">
                    <a:solidFill>
                      <a:srgbClr val="111827"/>
                    </a:solidFill>
                    <a:latin typeface="Arial"/>
                  </a:rPr>
                  <a:t>: only </a:t>
                </a:r>
                <a:r>
                  <a:rPr lang="en-IN" sz="2400">
                    <a:solidFill>
                      <a:srgbClr val="111827"/>
                    </a:solidFill>
                    <a:latin typeface="Cambria Math" panose="02040503050406030204" pitchFamily="18" charset="0"/>
                  </a:rPr>
                  <a:t>$a=c$</a:t>
                </a:r>
                <a:r>
                  <a:rPr sz="2400" b="0">
                    <a:solidFill>
                      <a:srgbClr val="111827"/>
                    </a:solidFill>
                    <a:latin typeface="Arial"/>
                  </a:rPr>
                  <a:t> with </a:t>
                </a:r>
                <a:r>
                  <a:rPr lang="en-IN" sz="2400">
                    <a:solidFill>
                      <a:srgbClr val="111827"/>
                    </a:solidFill>
                    <a:latin typeface="Cambria Math" panose="02040503050406030204" pitchFamily="18" charset="0"/>
                  </a:rPr>
                  <a:t>$ac=25,36,49$</a:t>
                </a:r>
                <a:r>
                  <a:rPr sz="2400" b="0">
                    <a:solidFill>
                      <a:srgbClr val="111827"/>
                    </a:solidFill>
                    <a:latin typeface="Arial"/>
                  </a:rPr>
                  <a:t>, which need </a:t>
                </a:r>
                <a:r>
                  <a:rPr lang="en-IN" sz="2400">
                    <a:solidFill>
                      <a:srgbClr val="111827"/>
                    </a:solidFill>
                    <a:latin typeface="Cambria Math" panose="02040503050406030204" pitchFamily="18" charset="0"/>
                  </a:rPr>
                  <a:t>$b=10,12,14&gt;8$</a:t>
                </a:r>
                <a:r>
                  <a:rPr sz="2400" b="0">
                    <a:solidFill>
                      <a:srgbClr val="111827"/>
                    </a:solidFill>
                    <a:latin typeface="Arial"/>
                  </a:rPr>
                  <a:t>: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valid pair fixes </a:t>
                </a:r>
                <a:r>
                  <a:rPr lang="en-IN" sz="2400">
                    <a:solidFill>
                      <a:srgbClr val="111827"/>
                    </a:solidFill>
                    <a:latin typeface="Cambria Math" panose="02040503050406030204" pitchFamily="18" charset="0"/>
                  </a:rPr>
                  <a:t>$b$</a:t>
                </a:r>
                <a:r>
                  <a:rPr sz="2400" b="0">
                    <a:solidFill>
                      <a:srgbClr val="111827"/>
                    </a:solidFill>
                    <a:latin typeface="Arial"/>
                  </a:rPr>
                  <a:t> uniquely, so favourable cases </a:t>
                </a:r>
                <a:r>
                  <a:rPr lang="en-IN" sz="2400">
                    <a:solidFill>
                      <a:srgbClr val="111827"/>
                    </a:solidFill>
                    <a:latin typeface="Cambria Math" panose="02040503050406030204" pitchFamily="18" charset="0"/>
                  </a:rPr>
                  <a:t>$=4+3+1=8$</a:t>
                </a:r>
                <a:r>
                  <a:rPr sz="2400" b="0">
                    <a:solidFill>
                      <a:srgbClr val="111827"/>
                    </a:solidFill>
                    <a:latin typeface="Arial"/>
                  </a:rPr>
                  <a:t> and the probability is </a:t>
                </a:r>
                <a:r>
                  <a:rPr lang="en-IN" sz="2400">
                    <a:solidFill>
                      <a:srgbClr val="111827"/>
                    </a:solidFill>
                    <a:latin typeface="Cambria Math" panose="02040503050406030204" pitchFamily="18" charset="0"/>
                  </a:rPr>
                  <a:t>$\frac{8}{512}=\frac1{64}$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64</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$\frac{1}{64}$</a:t>
                </a:r>
                <a:endParaRPr sz="2800">
                  <a:solidFill>
                    <a:srgbClr val="15803D"/>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quadratic with coefficients from a finite set has equal roots iff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test parity first (odd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is impossible).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is a perfect square iff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have the same square-free part - a quick way to list the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trap: always check each candidate pair against the allowed set, e.g.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is not allowed here.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quadratic with coefficients from a finite set has equal roots iff </a:t>
                </a:r>
                <a:r>
                  <a:rPr lang="en-IN" sz="2400">
                    <a:solidFill>
                      <a:srgbClr val="111827"/>
                    </a:solidFill>
                    <a:latin typeface="Cambria Math" panose="02040503050406030204" pitchFamily="18" charset="0"/>
                  </a:rPr>
                  <a:t>$b^2=4ac$</a:t>
                </a:r>
                <a:r>
                  <a:rPr sz="2400" b="0">
                    <a:solidFill>
                      <a:srgbClr val="111827"/>
                    </a:solidFill>
                    <a:latin typeface="Arial"/>
                  </a:rPr>
                  <a:t>; test parity first (odd </a:t>
                </a:r>
                <a:r>
                  <a:rPr lang="en-IN" sz="2400">
                    <a:solidFill>
                      <a:srgbClr val="111827"/>
                    </a:solidFill>
                    <a:latin typeface="Cambria Math" panose="02040503050406030204" pitchFamily="18" charset="0"/>
                  </a:rPr>
                  <a:t>$b$</a:t>
                </a:r>
                <a:r>
                  <a:rPr sz="2400" b="0">
                    <a:solidFill>
                      <a:srgbClr val="111827"/>
                    </a:solidFill>
                    <a:latin typeface="Arial"/>
                  </a:rPr>
                  <a:t> is impossible).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t>
                </a:r>
                <a:r>
                  <a:rPr sz="2400" b="0">
                    <a:solidFill>
                      <a:srgbClr val="111827"/>
                    </a:solidFill>
                    <a:latin typeface="Arial"/>
                  </a:rPr>
                  <a:t> is a perfect square iff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have the same square-free part - a quick way to list the pairs.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trap: always check each candidate pair against the allowed set, e.g. </a:t>
                </a:r>
                <a:r>
                  <a:rPr lang="en-IN" sz="2400">
                    <a:solidFill>
                      <a:srgbClr val="111827"/>
                    </a:solidFill>
                    <a:latin typeface="Cambria Math" panose="02040503050406030204" pitchFamily="18" charset="0"/>
                  </a:rPr>
                  <a:t>$(1,9)$</a:t>
                </a:r>
                <a:r>
                  <a:rPr sz="2400" b="0">
                    <a:solidFill>
                      <a:srgbClr val="111827"/>
                    </a:solidFill>
                    <a:latin typeface="Arial"/>
                  </a:rPr>
                  <a:t> for </a:t>
                </a:r>
                <a:r>
                  <a:rPr lang="en-IN" sz="2400">
                    <a:solidFill>
                      <a:srgbClr val="111827"/>
                    </a:solidFill>
                    <a:latin typeface="Cambria Math" panose="02040503050406030204" pitchFamily="18" charset="0"/>
                  </a:rPr>
                  <a:t>$ac=9$</a:t>
                </a:r>
                <a:r>
                  <a:rPr sz="2400" b="0">
                    <a:solidFill>
                      <a:srgbClr val="111827"/>
                    </a:solidFill>
                    <a:latin typeface="Arial"/>
                  </a:rPr>
                  <a:t> is not allowed here.</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in the quadratic equation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are from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probability of this equation having one real root bigger than the other is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216</m:t>
                    </m:r>
                    <m:r>
                      <a:rPr lang="en-IN" sz="2400" i="1">
                        <a:solidFill>
                          <a:srgbClr val="111827"/>
                        </a:solidFill>
                        <a:latin typeface="Cambria Math" panose="02040503050406030204" pitchFamily="18" charset="0"/>
                      </a:rPr>
                      <m:t>𝑝</m:t>
                    </m:r>
                  </m:oMath>
                </a14:m>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57</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38</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coefficients </a:t>
                </a:r>
                <a:r>
                  <a:rPr lang="en-IN" sz="2400">
                    <a:solidFill>
                      <a:srgbClr val="111827"/>
                    </a:solidFill>
                    <a:latin typeface="Cambria Math" panose="02040503050406030204" pitchFamily="18" charset="0"/>
                  </a:rPr>
                  <a:t>$a,b,c$</a:t>
                </a:r>
                <a:r>
                  <a:rPr sz="2400" b="0">
                    <a:solidFill>
                      <a:srgbClr val="111827"/>
                    </a:solidFill>
                    <a:latin typeface="Arial"/>
                  </a:rPr>
                  <a:t> in the quadratic equation </a:t>
                </a:r>
                <a:r>
                  <a:rPr lang="en-IN" sz="2400">
                    <a:solidFill>
                      <a:srgbClr val="111827"/>
                    </a:solidFill>
                    <a:latin typeface="Cambria Math" panose="02040503050406030204" pitchFamily="18" charset="0"/>
                  </a:rPr>
                  <a:t>$ax^2+bx+c=0$</a:t>
                </a:r>
                <a:r>
                  <a:rPr sz="2400" b="0">
                    <a:solidFill>
                      <a:srgbClr val="111827"/>
                    </a:solidFill>
                    <a:latin typeface="Arial"/>
                  </a:rPr>
                  <a:t> are from the set </a:t>
                </a:r>
                <a:r>
                  <a:rPr lang="en-IN" sz="2400">
                    <a:solidFill>
                      <a:srgbClr val="111827"/>
                    </a:solidFill>
                    <a:latin typeface="Cambria Math" panose="02040503050406030204" pitchFamily="18" charset="0"/>
                  </a:rPr>
                  <a:t>$\{1,2,3,4,5,6\}$</a:t>
                </a:r>
                <a:r>
                  <a:rPr sz="2400" b="0">
                    <a:solidFill>
                      <a:srgbClr val="111827"/>
                    </a:solidFill>
                    <a:latin typeface="Arial"/>
                  </a:rPr>
                  <a:t>. If the probability of this equation having one real root bigger than the other is </a:t>
                </a:r>
                <a:r>
                  <a:rPr lang="en-IN" sz="2400">
                    <a:solidFill>
                      <a:srgbClr val="111827"/>
                    </a:solidFill>
                    <a:latin typeface="Cambria Math" panose="02040503050406030204" pitchFamily="18" charset="0"/>
                  </a:rPr>
                  <a:t>$p$</a:t>
                </a:r>
                <a:r>
                  <a:rPr sz="2400" b="0">
                    <a:solidFill>
                      <a:srgbClr val="111827"/>
                    </a:solidFill>
                    <a:latin typeface="Arial"/>
                  </a:rPr>
                  <a:t>, then </a:t>
                </a:r>
                <a:r>
                  <a:rPr lang="en-IN" sz="2400">
                    <a:solidFill>
                      <a:srgbClr val="111827"/>
                    </a:solidFill>
                    <a:latin typeface="Cambria Math" panose="02040503050406030204" pitchFamily="18" charset="0"/>
                  </a:rPr>
                  <a:t>$216p$</a:t>
                </a:r>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$76$</a:t>
                </a:r>
                <a:r>
                  <a:rPr sz="2400" b="0">
                    <a:solidFill>
                      <a:srgbClr val="111827"/>
                    </a:solidFill>
                    <a:latin typeface="Arial"/>
                  </a:rPr>
                  <a:t>   (B) </a:t>
                </a:r>
                <a:r>
                  <a:rPr lang="en-IN" sz="2400">
                    <a:solidFill>
                      <a:srgbClr val="111827"/>
                    </a:solidFill>
                    <a:latin typeface="Cambria Math" panose="02040503050406030204" pitchFamily="18" charset="0"/>
                  </a:rPr>
                  <a:t>$57$</a:t>
                </a:r>
                <a:r>
                  <a:rPr sz="2400" b="0">
                    <a:solidFill>
                      <a:srgbClr val="111827"/>
                    </a:solidFill>
                    <a:latin typeface="Arial"/>
                  </a:rPr>
                  <a:t>   (C) </a:t>
                </a:r>
                <a:r>
                  <a:rPr lang="en-IN" sz="2400">
                    <a:solidFill>
                      <a:srgbClr val="111827"/>
                    </a:solidFill>
                    <a:latin typeface="Cambria Math" panose="02040503050406030204" pitchFamily="18" charset="0"/>
                  </a:rPr>
                  <a:t>$19$</a:t>
                </a:r>
                <a:r>
                  <a:rPr sz="2400" b="0">
                    <a:solidFill>
                      <a:srgbClr val="111827"/>
                    </a:solidFill>
                    <a:latin typeface="Arial"/>
                  </a:rPr>
                  <a:t>   (D) </a:t>
                </a:r>
                <a:r>
                  <a:rPr lang="en-IN" sz="2400">
                    <a:solidFill>
                      <a:srgbClr val="111827"/>
                    </a:solidFill>
                    <a:latin typeface="Cambria Math" panose="02040503050406030204" pitchFamily="18" charset="0"/>
                  </a:rPr>
                  <a:t>$38$</a:t>
                </a:r>
                <a:endParaRPr sz="2400">
                  <a:solidFill>
                    <a:srgbClr val="111827"/>
                  </a:solidFill>
                </a:endParaRPr>
              </a:p>
            </p:txBody>
          </p:sp>
        </mc:Fallback>
      </mc:AlternateContent>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an event, Nature of roots of a quadratic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Two distinct real roots need </a:t>
                </a:r>
                <a14:m>
                  <m:oMath xmlns:m="http://schemas.openxmlformats.org/officeDocument/2006/math">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𝑐</m:t>
                    </m:r>
                  </m:oMath>
                </a14:m>
                <a:r>
                  <a:rPr sz="2400" b="0">
                    <a:solidFill>
                      <a:srgbClr val="78350F"/>
                    </a:solidFill>
                    <a:latin typeface="Arial"/>
                  </a:rPr>
                  <a:t>; count the favourable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by fixing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Two distinct real roots need </a:t>
                </a:r>
                <a:r>
                  <a:rPr lang="en-IN" sz="2400">
                    <a:solidFill>
                      <a:srgbClr val="78350F"/>
                    </a:solidFill>
                    <a:latin typeface="Cambria Math" panose="02040503050406030204" pitchFamily="18" charset="0"/>
                  </a:rPr>
                  <a:t>$b^2&gt;4ac$</a:t>
                </a:r>
                <a:r>
                  <a:rPr sz="2400" b="0">
                    <a:solidFill>
                      <a:srgbClr val="78350F"/>
                    </a:solidFill>
                    <a:latin typeface="Arial"/>
                  </a:rPr>
                  <a:t>; count the favourable </a:t>
                </a:r>
                <a:r>
                  <a:rPr lang="en-IN" sz="2400">
                    <a:solidFill>
                      <a:srgbClr val="78350F"/>
                    </a:solidFill>
                    <a:latin typeface="Cambria Math" panose="02040503050406030204" pitchFamily="18" charset="0"/>
                  </a:rPr>
                  <a:t>$(a,b,c)$</a:t>
                </a:r>
                <a:r>
                  <a:rPr sz="2400" b="0">
                    <a:solidFill>
                      <a:srgbClr val="78350F"/>
                    </a:solidFill>
                    <a:latin typeface="Arial"/>
                  </a:rPr>
                  <a:t> by fixing </a:t>
                </a:r>
                <a:r>
                  <a:rPr lang="en-IN" sz="2400">
                    <a:solidFill>
                      <a:srgbClr val="78350F"/>
                    </a:solidFill>
                    <a:latin typeface="Cambria Math" panose="02040503050406030204" pitchFamily="18" charset="0"/>
                  </a:rPr>
                  <a:t>$b$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number of equations: </a:t>
                </a: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216</m:t>
                    </m:r>
                    <m:r>
                      <a:rPr lang="en-IN" sz="2400" i="1">
                        <a:solidFill>
                          <a:srgbClr val="111827"/>
                        </a:solidFill>
                        <a:latin typeface="Cambria Math" panose="02040503050406030204" pitchFamily="18" charset="0"/>
                      </a:rPr>
                      <m:t>𝑝</m:t>
                    </m:r>
                  </m:oMath>
                </a14:m>
                <a:r>
                  <a:rPr sz="2400" b="0">
                    <a:solidFill>
                      <a:srgbClr val="111827"/>
                    </a:solidFill>
                    <a:latin typeface="Arial"/>
                  </a:rPr>
                  <a:t> is the number of favourable triples.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root bigger than the other means distinct real roots: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always, so no cases.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cases.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number of equations: </a:t>
                </a:r>
                <a:r>
                  <a:rPr lang="en-IN" sz="2400">
                    <a:solidFill>
                      <a:srgbClr val="111827"/>
                    </a:solidFill>
                    <a:latin typeface="Cambria Math" panose="02040503050406030204" pitchFamily="18" charset="0"/>
                  </a:rPr>
                  <a:t>$6^3=216$</a:t>
                </a:r>
                <a:r>
                  <a:rPr sz="2400" b="0">
                    <a:solidFill>
                      <a:srgbClr val="111827"/>
                    </a:solidFill>
                    <a:latin typeface="Arial"/>
                  </a:rPr>
                  <a:t>, so </a:t>
                </a:r>
                <a:r>
                  <a:rPr lang="en-IN" sz="2400">
                    <a:solidFill>
                      <a:srgbClr val="111827"/>
                    </a:solidFill>
                    <a:latin typeface="Cambria Math" panose="02040503050406030204" pitchFamily="18" charset="0"/>
                  </a:rPr>
                  <a:t>$216p$</a:t>
                </a:r>
                <a:r>
                  <a:rPr sz="2400" b="0">
                    <a:solidFill>
                      <a:srgbClr val="111827"/>
                    </a:solidFill>
                    <a:latin typeface="Arial"/>
                  </a:rPr>
                  <a:t> is the number of favourable triples.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 root bigger than the other means distinct real roots: </a:t>
                </a:r>
                <a:r>
                  <a:rPr lang="en-IN" sz="2400">
                    <a:solidFill>
                      <a:srgbClr val="111827"/>
                    </a:solidFill>
                    <a:latin typeface="Cambria Math" panose="02040503050406030204" pitchFamily="18" charset="0"/>
                  </a:rPr>
                  <a:t>$D&gt;0\Rightarrow b^2&gt;4ac$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$b=1,2$</a:t>
                </a:r>
                <a:r>
                  <a:rPr sz="2400" b="0">
                    <a:solidFill>
                      <a:srgbClr val="111827"/>
                    </a:solidFill>
                    <a:latin typeface="Arial"/>
                  </a:rPr>
                  <a:t>: </a:t>
                </a:r>
                <a:r>
                  <a:rPr lang="en-IN" sz="2400">
                    <a:solidFill>
                      <a:srgbClr val="111827"/>
                    </a:solidFill>
                    <a:latin typeface="Cambria Math" panose="02040503050406030204" pitchFamily="18" charset="0"/>
                  </a:rPr>
                  <a:t>$b^2\le4&lt;4ac$</a:t>
                </a:r>
                <a:r>
                  <a:rPr sz="2400" b="0">
                    <a:solidFill>
                      <a:srgbClr val="111827"/>
                    </a:solidFill>
                    <a:latin typeface="Arial"/>
                  </a:rPr>
                  <a:t> always, so no cases.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$b=3$</a:t>
                </a:r>
                <a:r>
                  <a:rPr sz="2400" b="0">
                    <a:solidFill>
                      <a:srgbClr val="111827"/>
                    </a:solidFill>
                    <a:latin typeface="Arial"/>
                  </a:rPr>
                  <a:t>: </a:t>
                </a:r>
                <a:r>
                  <a:rPr lang="en-IN" sz="2400">
                    <a:solidFill>
                      <a:srgbClr val="111827"/>
                    </a:solidFill>
                    <a:latin typeface="Cambria Math" panose="02040503050406030204" pitchFamily="18" charset="0"/>
                  </a:rPr>
                  <a:t>$9&gt;4ac$</a:t>
                </a:r>
                <a:r>
                  <a:rPr sz="2400" b="0">
                    <a:solidFill>
                      <a:srgbClr val="111827"/>
                    </a:solidFill>
                    <a:latin typeface="Arial"/>
                  </a:rPr>
                  <a:t>, i.e. </a:t>
                </a:r>
                <a:r>
                  <a:rPr lang="en-IN" sz="2400">
                    <a:solidFill>
                      <a:srgbClr val="111827"/>
                    </a:solidFill>
                    <a:latin typeface="Cambria Math" panose="02040503050406030204" pitchFamily="18" charset="0"/>
                  </a:rPr>
                  <a:t>$ac\le2$</a:t>
                </a:r>
                <a:r>
                  <a:rPr sz="2400" b="0">
                    <a:solidFill>
                      <a:srgbClr val="111827"/>
                    </a:solidFill>
                    <a:latin typeface="Arial"/>
                  </a:rPr>
                  <a:t>: </a:t>
                </a:r>
                <a:r>
                  <a:rPr lang="en-IN" sz="2400">
                    <a:solidFill>
                      <a:srgbClr val="111827"/>
                    </a:solidFill>
                    <a:latin typeface="Cambria Math" panose="02040503050406030204" pitchFamily="18" charset="0"/>
                  </a:rPr>
                  <a:t>$(a,c)=(1,1),(1,2),(2,1)$</a:t>
                </a:r>
                <a:r>
                  <a:rPr sz="2400" b="0">
                    <a:solidFill>
                      <a:srgbClr val="111827"/>
                    </a:solidFill>
                    <a:latin typeface="Arial"/>
                  </a:rPr>
                  <a:t>, so </a:t>
                </a:r>
                <a:r>
                  <a:rPr lang="en-IN" sz="2400">
                    <a:solidFill>
                      <a:srgbClr val="111827"/>
                    </a:solidFill>
                    <a:latin typeface="Cambria Math" panose="02040503050406030204" pitchFamily="18" charset="0"/>
                  </a:rPr>
                  <a:t>$3$</a:t>
                </a:r>
                <a:r>
                  <a:rPr sz="2400" b="0">
                    <a:solidFill>
                      <a:srgbClr val="111827"/>
                    </a:solidFill>
                    <a:latin typeface="Arial"/>
                  </a:rPr>
                  <a:t> cases.</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pairs above together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cases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38</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216</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$b=4$</a:t>
                </a:r>
                <a:r>
                  <a:rPr sz="2400" b="0">
                    <a:solidFill>
                      <a:srgbClr val="111827"/>
                    </a:solidFill>
                    <a:latin typeface="Arial"/>
                  </a:rPr>
                  <a:t>: </a:t>
                </a:r>
                <a:r>
                  <a:rPr lang="en-IN" sz="2400">
                    <a:solidFill>
                      <a:srgbClr val="111827"/>
                    </a:solidFill>
                    <a:latin typeface="Cambria Math" panose="02040503050406030204" pitchFamily="18" charset="0"/>
                  </a:rPr>
                  <a:t>$16&gt;4ac$</a:t>
                </a:r>
                <a:r>
                  <a:rPr sz="2400" b="0">
                    <a:solidFill>
                      <a:srgbClr val="111827"/>
                    </a:solidFill>
                    <a:latin typeface="Arial"/>
                  </a:rPr>
                  <a:t>, i.e. </a:t>
                </a:r>
                <a:r>
                  <a:rPr lang="en-IN" sz="2400">
                    <a:solidFill>
                      <a:srgbClr val="111827"/>
                    </a:solidFill>
                    <a:latin typeface="Cambria Math" panose="02040503050406030204" pitchFamily="18" charset="0"/>
                  </a:rPr>
                  <a:t>$ac\le3$</a:t>
                </a:r>
                <a:r>
                  <a:rPr sz="2400" b="0">
                    <a:solidFill>
                      <a:srgbClr val="111827"/>
                    </a:solidFill>
                    <a:latin typeface="Arial"/>
                  </a:rPr>
                  <a:t>: </a:t>
                </a:r>
                <a:r>
                  <a:rPr lang="en-IN" sz="2400">
                    <a:solidFill>
                      <a:srgbClr val="111827"/>
                    </a:solidFill>
                    <a:latin typeface="Cambria Math" panose="02040503050406030204" pitchFamily="18" charset="0"/>
                  </a:rPr>
                  <a:t>$(1,1),(1,2),(2,1),(1,3),(3,1)$</a:t>
                </a:r>
                <a:r>
                  <a:rPr sz="2400" b="0">
                    <a:solidFill>
                      <a:srgbClr val="111827"/>
                    </a:solidFill>
                    <a:latin typeface="Arial"/>
                  </a:rPr>
                  <a:t>, so </a:t>
                </a:r>
                <a:r>
                  <a:rPr lang="en-IN" sz="2400">
                    <a:solidFill>
                      <a:srgbClr val="111827"/>
                    </a:solidFill>
                    <a:latin typeface="Cambria Math" panose="02040503050406030204" pitchFamily="18" charset="0"/>
                  </a:rPr>
                  <a:t>$5$</a:t>
                </a:r>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$b=5$</a:t>
                </a:r>
                <a:r>
                  <a:rPr sz="2400" b="0">
                    <a:solidFill>
                      <a:srgbClr val="111827"/>
                    </a:solidFill>
                    <a:latin typeface="Arial"/>
                  </a:rPr>
                  <a:t>: </a:t>
                </a:r>
                <a:r>
                  <a:rPr lang="en-IN" sz="2400">
                    <a:solidFill>
                      <a:srgbClr val="111827"/>
                    </a:solidFill>
                    <a:latin typeface="Cambria Math" panose="02040503050406030204" pitchFamily="18" charset="0"/>
                  </a:rPr>
                  <a:t>$25&gt;4ac$</a:t>
                </a:r>
                <a:r>
                  <a:rPr sz="2400" b="0">
                    <a:solidFill>
                      <a:srgbClr val="111827"/>
                    </a:solidFill>
                    <a:latin typeface="Arial"/>
                  </a:rPr>
                  <a:t>, i.e. </a:t>
                </a:r>
                <a:r>
                  <a:rPr lang="en-IN" sz="2400">
                    <a:solidFill>
                      <a:srgbClr val="111827"/>
                    </a:solidFill>
                    <a:latin typeface="Cambria Math" panose="02040503050406030204" pitchFamily="18" charset="0"/>
                  </a:rPr>
                  <a:t>$ac\le6$</a:t>
                </a:r>
                <a:r>
                  <a:rPr sz="2400" b="0">
                    <a:solidFill>
                      <a:srgbClr val="111827"/>
                    </a:solidFill>
                    <a:latin typeface="Arial"/>
                  </a:rPr>
                  <a:t>: </a:t>
                </a:r>
                <a:r>
                  <a:rPr lang="en-IN" sz="2400">
                    <a:solidFill>
                      <a:srgbClr val="111827"/>
                    </a:solidFill>
                    <a:latin typeface="Cambria Math" panose="02040503050406030204" pitchFamily="18" charset="0"/>
                  </a:rPr>
                  <a:t>$(1,1),(1,2),(2,1),(1,3),(3,1),(1,4),(4,1),(1,5),(5,1),(1,6),(6,1),(2,3),(3,2),(2,2)$</a:t>
                </a:r>
                <a:r>
                  <a:rPr sz="2400" b="0">
                    <a:solidFill>
                      <a:srgbClr val="111827"/>
                    </a:solidFill>
                    <a:latin typeface="Arial"/>
                  </a:rPr>
                  <a:t>, so </a:t>
                </a:r>
                <a:r>
                  <a:rPr lang="en-IN" sz="2400">
                    <a:solidFill>
                      <a:srgbClr val="111827"/>
                    </a:solidFill>
                    <a:latin typeface="Cambria Math" panose="02040503050406030204" pitchFamily="18" charset="0"/>
                  </a:rPr>
                  <a:t>$14$</a:t>
                </a:r>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$b=6$</a:t>
                </a:r>
                <a:r>
                  <a:rPr sz="2400" b="0">
                    <a:solidFill>
                      <a:srgbClr val="111827"/>
                    </a:solidFill>
                    <a:latin typeface="Arial"/>
                  </a:rPr>
                  <a:t>: </a:t>
                </a:r>
                <a:r>
                  <a:rPr lang="en-IN" sz="2400">
                    <a:solidFill>
                      <a:srgbClr val="111827"/>
                    </a:solidFill>
                    <a:latin typeface="Cambria Math" panose="02040503050406030204" pitchFamily="18" charset="0"/>
                  </a:rPr>
                  <a:t>$36&gt;4ac$</a:t>
                </a:r>
                <a:r>
                  <a:rPr sz="2400" b="0">
                    <a:solidFill>
                      <a:srgbClr val="111827"/>
                    </a:solidFill>
                    <a:latin typeface="Arial"/>
                  </a:rPr>
                  <a:t>, i.e. </a:t>
                </a:r>
                <a:r>
                  <a:rPr lang="en-IN" sz="2400">
                    <a:solidFill>
                      <a:srgbClr val="111827"/>
                    </a:solidFill>
                    <a:latin typeface="Cambria Math" panose="02040503050406030204" pitchFamily="18" charset="0"/>
                  </a:rPr>
                  <a:t>$ac\le8$</a:t>
                </a:r>
                <a:r>
                  <a:rPr sz="2400" b="0">
                    <a:solidFill>
                      <a:srgbClr val="111827"/>
                    </a:solidFill>
                    <a:latin typeface="Arial"/>
                  </a:rPr>
                  <a:t>: the </a:t>
                </a:r>
                <a:r>
                  <a:rPr lang="en-IN" sz="2400">
                    <a:solidFill>
                      <a:srgbClr val="111827"/>
                    </a:solidFill>
                    <a:latin typeface="Cambria Math" panose="02040503050406030204" pitchFamily="18" charset="0"/>
                  </a:rPr>
                  <a:t>$14$</a:t>
                </a:r>
                <a:r>
                  <a:rPr sz="2400" b="0">
                    <a:solidFill>
                      <a:srgbClr val="111827"/>
                    </a:solidFill>
                    <a:latin typeface="Arial"/>
                  </a:rPr>
                  <a:t> pairs above together with </a:t>
                </a:r>
                <a:r>
                  <a:rPr lang="en-IN" sz="2400">
                    <a:solidFill>
                      <a:srgbClr val="111827"/>
                    </a:solidFill>
                    <a:latin typeface="Cambria Math" panose="02040503050406030204" pitchFamily="18" charset="0"/>
                  </a:rPr>
                  <a:t>$(2,4),(4,2)$</a:t>
                </a:r>
                <a:r>
                  <a:rPr sz="2400" b="0">
                    <a:solidFill>
                      <a:srgbClr val="111827"/>
                    </a:solidFill>
                    <a:latin typeface="Arial"/>
                  </a:rPr>
                  <a:t>, so </a:t>
                </a:r>
                <a:r>
                  <a:rPr lang="en-IN" sz="2400">
                    <a:solidFill>
                      <a:srgbClr val="111827"/>
                    </a:solidFill>
                    <a:latin typeface="Cambria Math" panose="02040503050406030204" pitchFamily="18" charset="0"/>
                  </a:rPr>
                  <a:t>$16$</a:t>
                </a:r>
                <a:r>
                  <a:rPr sz="2400" b="0">
                    <a:solidFill>
                      <a:srgbClr val="111827"/>
                    </a:solidFill>
                    <a:latin typeface="Arial"/>
                  </a:rPr>
                  <a:t>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cases </a:t>
                </a:r>
                <a:r>
                  <a:rPr lang="en-IN" sz="2400">
                    <a:solidFill>
                      <a:srgbClr val="111827"/>
                    </a:solidFill>
                    <a:latin typeface="Cambria Math" panose="02040503050406030204" pitchFamily="18" charset="0"/>
                  </a:rPr>
                  <a:t>$=3+5+14+16=38$</a:t>
                </a:r>
                <a:r>
                  <a:rPr sz="2400" b="0">
                    <a:solidFill>
                      <a:srgbClr val="111827"/>
                    </a:solidFill>
                    <a:latin typeface="Arial"/>
                  </a:rPr>
                  <a:t>, so </a:t>
                </a:r>
                <a:r>
                  <a:rPr lang="en-IN" sz="2400">
                    <a:solidFill>
                      <a:srgbClr val="111827"/>
                    </a:solidFill>
                    <a:latin typeface="Cambria Math" panose="02040503050406030204" pitchFamily="18" charset="0"/>
                  </a:rPr>
                  <a:t>$p=\frac{38}{6\cdot6\cdot6}$</a:t>
                </a:r>
                <a:r>
                  <a:rPr sz="2400" b="0">
                    <a:solidFill>
                      <a:srgbClr val="111827"/>
                    </a:solidFill>
                    <a:latin typeface="Arial"/>
                  </a:rPr>
                  <a:t> and </a:t>
                </a:r>
                <a:r>
                  <a:rPr lang="en-IN" sz="2400">
                    <a:solidFill>
                      <a:srgbClr val="111827"/>
                    </a:solidFill>
                    <a:latin typeface="Cambria Math" panose="02040503050406030204" pitchFamily="18" charset="0"/>
                  </a:rPr>
                  <a:t>$216p=38$</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38</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$38$</a:t>
                </a:r>
                <a:endParaRPr sz="2800">
                  <a:solidFill>
                    <a:srgbClr val="15803D"/>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the pair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instead of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the number of admissible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𝑐</m:t>
                        </m:r>
                      </m:e>
                    </m:rad>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the pair </a:t>
                </a:r>
                <a:r>
                  <a:rPr lang="en-IN" sz="2400">
                    <a:solidFill>
                      <a:srgbClr val="78350F"/>
                    </a:solidFill>
                    <a:latin typeface="Cambria Math" panose="02040503050406030204" pitchFamily="18" charset="0"/>
                  </a:rPr>
                  <a:t>$(a,c)$</a:t>
                </a:r>
                <a:r>
                  <a:rPr sz="2400" b="0">
                    <a:solidFill>
                      <a:srgbClr val="78350F"/>
                    </a:solidFill>
                    <a:latin typeface="Arial"/>
                  </a:rPr>
                  <a:t> instead of </a:t>
                </a:r>
                <a:r>
                  <a:rPr lang="en-IN" sz="2400">
                    <a:solidFill>
                      <a:srgbClr val="78350F"/>
                    </a:solidFill>
                    <a:latin typeface="Cambria Math" panose="02040503050406030204" pitchFamily="18" charset="0"/>
                  </a:rPr>
                  <a:t>$b$</a:t>
                </a:r>
                <a:r>
                  <a:rPr sz="2400" b="0">
                    <a:solidFill>
                      <a:srgbClr val="78350F"/>
                    </a:solidFill>
                    <a:latin typeface="Arial"/>
                  </a:rPr>
                  <a:t>: the number of admissible </a:t>
                </a:r>
                <a:r>
                  <a:rPr lang="en-IN" sz="2400">
                    <a:solidFill>
                      <a:srgbClr val="78350F"/>
                    </a:solidFill>
                    <a:latin typeface="Cambria Math" panose="02040503050406030204" pitchFamily="18" charset="0"/>
                  </a:rPr>
                  <a:t>$b$</a:t>
                </a:r>
                <a:r>
                  <a:rPr sz="2400" b="0">
                    <a:solidFill>
                      <a:srgbClr val="78350F"/>
                    </a:solidFill>
                    <a:latin typeface="Arial"/>
                  </a:rPr>
                  <a:t> is </a:t>
                </a:r>
                <a:r>
                  <a:rPr lang="en-IN" sz="2400">
                    <a:solidFill>
                      <a:srgbClr val="78350F"/>
                    </a:solidFill>
                    <a:latin typeface="Cambria Math" panose="02040503050406030204" pitchFamily="18" charset="0"/>
                  </a:rPr>
                  <a:t>$6-\lfloor 2\sqrt{ac}\rfloor$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given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condition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e>
                    </m:rad>
                  </m:oMath>
                </a14:m>
                <a:r>
                  <a:rPr sz="2400" b="0">
                    <a:solidFill>
                      <a:srgbClr val="111827"/>
                    </a:solidFill>
                    <a:latin typeface="Arial"/>
                  </a:rPr>
                  <a:t>, so the admissible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number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if negative).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(1 pair):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values, total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(2 pairs):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values each: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(2 pairs):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values each: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given </a:t>
                </a:r>
                <a:r>
                  <a:rPr lang="en-IN" sz="2400">
                    <a:solidFill>
                      <a:srgbClr val="111827"/>
                    </a:solidFill>
                    <a:latin typeface="Cambria Math" panose="02040503050406030204" pitchFamily="18" charset="0"/>
                  </a:rPr>
                  <a:t>$(a,c)$</a:t>
                </a:r>
                <a:r>
                  <a:rPr sz="2400" b="0">
                    <a:solidFill>
                      <a:srgbClr val="111827"/>
                    </a:solidFill>
                    <a:latin typeface="Arial"/>
                  </a:rPr>
                  <a:t> the condition </a:t>
                </a:r>
                <a:r>
                  <a:rPr lang="en-IN" sz="2400">
                    <a:solidFill>
                      <a:srgbClr val="111827"/>
                    </a:solidFill>
                    <a:latin typeface="Cambria Math" panose="02040503050406030204" pitchFamily="18" charset="0"/>
                  </a:rPr>
                  <a:t>$b^2&gt;4ac$</a:t>
                </a:r>
                <a:r>
                  <a:rPr sz="2400" b="0">
                    <a:solidFill>
                      <a:srgbClr val="111827"/>
                    </a:solidFill>
                    <a:latin typeface="Arial"/>
                  </a:rPr>
                  <a:t> means </a:t>
                </a:r>
                <a:r>
                  <a:rPr lang="en-IN" sz="2400">
                    <a:solidFill>
                      <a:srgbClr val="111827"/>
                    </a:solidFill>
                    <a:latin typeface="Cambria Math" panose="02040503050406030204" pitchFamily="18" charset="0"/>
                  </a:rPr>
                  <a:t>$b&gt;2\sqrt{ac}$</a:t>
                </a:r>
                <a:r>
                  <a:rPr sz="2400" b="0">
                    <a:solidFill>
                      <a:srgbClr val="111827"/>
                    </a:solidFill>
                    <a:latin typeface="Arial"/>
                  </a:rPr>
                  <a:t>, so the admissible </a:t>
                </a:r>
                <a:r>
                  <a:rPr lang="en-IN" sz="2400">
                    <a:solidFill>
                      <a:srgbClr val="111827"/>
                    </a:solidFill>
                    <a:latin typeface="Cambria Math" panose="02040503050406030204" pitchFamily="18" charset="0"/>
                  </a:rPr>
                  <a:t>$b\le6$</a:t>
                </a:r>
                <a:r>
                  <a:rPr sz="2400" b="0">
                    <a:solidFill>
                      <a:srgbClr val="111827"/>
                    </a:solidFill>
                    <a:latin typeface="Arial"/>
                  </a:rPr>
                  <a:t> number </a:t>
                </a:r>
                <a:r>
                  <a:rPr lang="en-IN" sz="2400">
                    <a:solidFill>
                      <a:srgbClr val="111827"/>
                    </a:solidFill>
                    <a:latin typeface="Cambria Math" panose="02040503050406030204" pitchFamily="18" charset="0"/>
                  </a:rPr>
                  <a:t>$6-\lfloor2\sqrt{ac}\rfloor$</a:t>
                </a:r>
                <a:r>
                  <a:rPr sz="2400" b="0">
                    <a:solidFill>
                      <a:srgbClr val="111827"/>
                    </a:solidFill>
                    <a:latin typeface="Arial"/>
                  </a:rPr>
                  <a:t> (or </a:t>
                </a:r>
                <a:r>
                  <a:rPr lang="en-IN" sz="2400">
                    <a:solidFill>
                      <a:srgbClr val="111827"/>
                    </a:solidFill>
                    <a:latin typeface="Cambria Math" panose="02040503050406030204" pitchFamily="18" charset="0"/>
                  </a:rPr>
                  <a:t>$0$</a:t>
                </a:r>
                <a:r>
                  <a:rPr sz="2400" b="0">
                    <a:solidFill>
                      <a:srgbClr val="111827"/>
                    </a:solidFill>
                    <a:latin typeface="Arial"/>
                  </a:rPr>
                  <a:t> if negative).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$ac=1$</a:t>
                </a:r>
                <a:r>
                  <a:rPr sz="2400" b="0">
                    <a:solidFill>
                      <a:srgbClr val="111827"/>
                    </a:solidFill>
                    <a:latin typeface="Arial"/>
                  </a:rPr>
                  <a:t> (1 pair): </a:t>
                </a:r>
                <a:r>
                  <a:rPr lang="en-IN" sz="2400">
                    <a:solidFill>
                      <a:srgbClr val="111827"/>
                    </a:solidFill>
                    <a:latin typeface="Cambria Math" panose="02040503050406030204" pitchFamily="18" charset="0"/>
                  </a:rPr>
                  <a:t>$2\sqrt{ac}=2$</a:t>
                </a:r>
                <a:r>
                  <a:rPr sz="2400" b="0">
                    <a:solidFill>
                      <a:srgbClr val="111827"/>
                    </a:solidFill>
                    <a:latin typeface="Arial"/>
                  </a:rPr>
                  <a:t>, so </a:t>
                </a:r>
                <a:r>
                  <a:rPr lang="en-IN" sz="2400">
                    <a:solidFill>
                      <a:srgbClr val="111827"/>
                    </a:solidFill>
                    <a:latin typeface="Cambria Math" panose="02040503050406030204" pitchFamily="18" charset="0"/>
                  </a:rPr>
                  <a:t>$b\in\{3,4,5,6\}$</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values, total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$ac=2$</a:t>
                </a:r>
                <a:r>
                  <a:rPr sz="2400" b="0">
                    <a:solidFill>
                      <a:srgbClr val="111827"/>
                    </a:solidFill>
                    <a:latin typeface="Arial"/>
                  </a:rPr>
                  <a:t> (2 pairs): </a:t>
                </a:r>
                <a:r>
                  <a:rPr lang="en-IN" sz="2400">
                    <a:solidFill>
                      <a:srgbClr val="111827"/>
                    </a:solidFill>
                    <a:latin typeface="Cambria Math" panose="02040503050406030204" pitchFamily="18" charset="0"/>
                  </a:rPr>
                  <a:t>$2\sqrt2\approx2.83$</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values each: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$ac=3$</a:t>
                </a:r>
                <a:r>
                  <a:rPr sz="2400" b="0">
                    <a:solidFill>
                      <a:srgbClr val="111827"/>
                    </a:solidFill>
                    <a:latin typeface="Arial"/>
                  </a:rPr>
                  <a:t> (2 pairs): </a:t>
                </a:r>
                <a:r>
                  <a:rPr lang="en-IN" sz="2400">
                    <a:solidFill>
                      <a:srgbClr val="111827"/>
                    </a:solidFill>
                    <a:latin typeface="Cambria Math" panose="02040503050406030204" pitchFamily="18" charset="0"/>
                  </a:rPr>
                  <a:t>$2\sqrt3\approx3.46$</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values each: </a:t>
                </a:r>
                <a:r>
                  <a:rPr lang="en-IN" sz="2400">
                    <a:solidFill>
                      <a:srgbClr val="111827"/>
                    </a:solidFill>
                    <a:latin typeface="Cambria Math" panose="02040503050406030204" pitchFamily="18" charset="0"/>
                  </a:rPr>
                  <a:t>$6$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(3 pairs):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values each: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(2 pairs):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4.47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each: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(4 pairs):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each: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(2 pairs):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5.66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each: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6</m:t>
                    </m:r>
                  </m:oMath>
                </a14:m>
                <a:r>
                  <a:rPr sz="2400" b="0">
                    <a:solidFill>
                      <a:srgbClr val="111827"/>
                    </a:solidFill>
                    <a:latin typeface="Arial"/>
                  </a:rPr>
                  <a:t>, none. 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216</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$ac=4$</a:t>
                </a:r>
                <a:r>
                  <a:rPr sz="2400" b="0">
                    <a:solidFill>
                      <a:srgbClr val="111827"/>
                    </a:solidFill>
                    <a:latin typeface="Arial"/>
                  </a:rPr>
                  <a:t> (3 pairs): </a:t>
                </a:r>
                <a:r>
                  <a:rPr lang="en-IN" sz="2400">
                    <a:solidFill>
                      <a:srgbClr val="111827"/>
                    </a:solidFill>
                    <a:latin typeface="Cambria Math" panose="02040503050406030204" pitchFamily="18" charset="0"/>
                  </a:rPr>
                  <a:t>$b&gt;4$</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values each: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$ac=5$</a:t>
                </a:r>
                <a:r>
                  <a:rPr sz="2400" b="0">
                    <a:solidFill>
                      <a:srgbClr val="111827"/>
                    </a:solidFill>
                    <a:latin typeface="Arial"/>
                  </a:rPr>
                  <a:t> (2 pairs): </a:t>
                </a:r>
                <a:r>
                  <a:rPr lang="en-IN" sz="2400">
                    <a:solidFill>
                      <a:srgbClr val="111827"/>
                    </a:solidFill>
                    <a:latin typeface="Cambria Math" panose="02040503050406030204" pitchFamily="18" charset="0"/>
                  </a:rPr>
                  <a:t>$b&gt;4.47$</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each: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$ac=6$</a:t>
                </a:r>
                <a:r>
                  <a:rPr sz="2400" b="0">
                    <a:solidFill>
                      <a:srgbClr val="111827"/>
                    </a:solidFill>
                    <a:latin typeface="Arial"/>
                  </a:rPr>
                  <a:t> (4 pairs): </a:t>
                </a:r>
                <a:r>
                  <a:rPr lang="en-IN" sz="2400">
                    <a:solidFill>
                      <a:srgbClr val="111827"/>
                    </a:solidFill>
                    <a:latin typeface="Cambria Math" panose="02040503050406030204" pitchFamily="18" charset="0"/>
                  </a:rPr>
                  <a:t>$b&gt;4.9$</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each: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$ac=8$</a:t>
                </a:r>
                <a:r>
                  <a:rPr sz="2400" b="0">
                    <a:solidFill>
                      <a:srgbClr val="111827"/>
                    </a:solidFill>
                    <a:latin typeface="Arial"/>
                  </a:rPr>
                  <a:t> (2 pairs): </a:t>
                </a:r>
                <a:r>
                  <a:rPr lang="en-IN" sz="2400">
                    <a:solidFill>
                      <a:srgbClr val="111827"/>
                    </a:solidFill>
                    <a:latin typeface="Cambria Math" panose="02040503050406030204" pitchFamily="18" charset="0"/>
                  </a:rPr>
                  <a:t>$b&gt;5.66$</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each: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$ac\ge9$</a:t>
                </a:r>
                <a:r>
                  <a:rPr sz="2400" b="0">
                    <a:solidFill>
                      <a:srgbClr val="111827"/>
                    </a:solidFill>
                    <a:latin typeface="Arial"/>
                  </a:rPr>
                  <a:t>: </a:t>
                </a:r>
                <a:r>
                  <a:rPr lang="en-IN" sz="2400">
                    <a:solidFill>
                      <a:srgbClr val="111827"/>
                    </a:solidFill>
                    <a:latin typeface="Cambria Math" panose="02040503050406030204" pitchFamily="18" charset="0"/>
                  </a:rPr>
                  <a:t>$b&gt;6$</a:t>
                </a:r>
                <a:r>
                  <a:rPr sz="2400" b="0">
                    <a:solidFill>
                      <a:srgbClr val="111827"/>
                    </a:solidFill>
                    <a:latin typeface="Arial"/>
                  </a:rPr>
                  <a:t>, none. Total </a:t>
                </a:r>
                <a:r>
                  <a:rPr lang="en-IN" sz="2400">
                    <a:solidFill>
                      <a:srgbClr val="111827"/>
                    </a:solidFill>
                    <a:latin typeface="Cambria Math" panose="02040503050406030204" pitchFamily="18" charset="0"/>
                  </a:rPr>
                  <a:t>$=4+8+6+6+4+8+2=38$</a:t>
                </a:r>
                <a:r>
                  <a:rPr sz="2400" b="0">
                    <a:solidFill>
                      <a:srgbClr val="111827"/>
                    </a:solidFill>
                    <a:latin typeface="Arial"/>
                  </a:rPr>
                  <a:t>, so </a:t>
                </a:r>
                <a:r>
                  <a:rPr lang="en-IN" sz="2400">
                    <a:solidFill>
                      <a:srgbClr val="111827"/>
                    </a:solidFill>
                    <a:latin typeface="Cambria Math" panose="02040503050406030204" pitchFamily="18" charset="0"/>
                  </a:rPr>
                  <a:t>$216p=38$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38</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$38$</a:t>
                </a:r>
                <a:endParaRPr sz="2800">
                  <a:solidFill>
                    <a:srgbClr val="15803D"/>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real roots iff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equal roots iff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non-real iff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The three counts add to the total.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by the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weight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 of ordered pairs having that product is often cleaner than counting by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ordered pairs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product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 useful in many such counts.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real roots iff </a:t>
                </a:r>
                <a:r>
                  <a:rPr lang="en-IN" sz="2400">
                    <a:solidFill>
                      <a:srgbClr val="111827"/>
                    </a:solidFill>
                    <a:latin typeface="Cambria Math" panose="02040503050406030204" pitchFamily="18" charset="0"/>
                  </a:rPr>
                  <a:t>$b^2&gt;4ac$</a:t>
                </a:r>
                <a:r>
                  <a:rPr sz="2400" b="0">
                    <a:solidFill>
                      <a:srgbClr val="111827"/>
                    </a:solidFill>
                    <a:latin typeface="Arial"/>
                  </a:rPr>
                  <a:t>; equal roots iff </a:t>
                </a:r>
                <a:r>
                  <a:rPr lang="en-IN" sz="2400">
                    <a:solidFill>
                      <a:srgbClr val="111827"/>
                    </a:solidFill>
                    <a:latin typeface="Cambria Math" panose="02040503050406030204" pitchFamily="18" charset="0"/>
                  </a:rPr>
                  <a:t>$b^2=4ac$</a:t>
                </a:r>
                <a:r>
                  <a:rPr sz="2400" b="0">
                    <a:solidFill>
                      <a:srgbClr val="111827"/>
                    </a:solidFill>
                    <a:latin typeface="Arial"/>
                  </a:rPr>
                  <a:t>; non-real iff </a:t>
                </a:r>
                <a:r>
                  <a:rPr lang="en-IN" sz="2400">
                    <a:solidFill>
                      <a:srgbClr val="111827"/>
                    </a:solidFill>
                    <a:latin typeface="Cambria Math" panose="02040503050406030204" pitchFamily="18" charset="0"/>
                  </a:rPr>
                  <a:t>$b^2&lt;4ac$</a:t>
                </a:r>
                <a:r>
                  <a:rPr sz="2400" b="0">
                    <a:solidFill>
                      <a:srgbClr val="111827"/>
                    </a:solidFill>
                    <a:latin typeface="Arial"/>
                  </a:rPr>
                  <a:t>. The three counts add to the total.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by the pair </a:t>
                </a:r>
                <a:r>
                  <a:rPr lang="en-IN" sz="2400">
                    <a:solidFill>
                      <a:srgbClr val="111827"/>
                    </a:solidFill>
                    <a:latin typeface="Cambria Math" panose="02040503050406030204" pitchFamily="18" charset="0"/>
                  </a:rPr>
                  <a:t>$(a,c)$</a:t>
                </a:r>
                <a:r>
                  <a:rPr sz="2400" b="0">
                    <a:solidFill>
                      <a:srgbClr val="111827"/>
                    </a:solidFill>
                    <a:latin typeface="Arial"/>
                  </a:rPr>
                  <a:t> with weight </a:t>
                </a:r>
                <a:r>
                  <a:rPr lang="en-IN" sz="2400">
                    <a:solidFill>
                      <a:srgbClr val="111827"/>
                    </a:solidFill>
                    <a:latin typeface="Cambria Math" panose="02040503050406030204" pitchFamily="18" charset="0"/>
                  </a:rPr>
                  <a:t>$=$</a:t>
                </a:r>
                <a:r>
                  <a:rPr sz="2400" b="0">
                    <a:solidFill>
                      <a:srgbClr val="111827"/>
                    </a:solidFill>
                    <a:latin typeface="Arial"/>
                  </a:rPr>
                  <a:t> number of ordered pairs having that product is often cleaner than counting by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ordered pairs from </a:t>
                </a:r>
                <a:r>
                  <a:rPr lang="en-IN" sz="2400">
                    <a:solidFill>
                      <a:srgbClr val="111827"/>
                    </a:solidFill>
                    <a:latin typeface="Cambria Math" panose="02040503050406030204" pitchFamily="18" charset="0"/>
                  </a:rPr>
                  <a:t>$\{1,\dots,6\}$</a:t>
                </a:r>
                <a:r>
                  <a:rPr sz="2400" b="0">
                    <a:solidFill>
                      <a:srgbClr val="111827"/>
                    </a:solidFill>
                    <a:latin typeface="Arial"/>
                  </a:rPr>
                  <a:t> with product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$m=1,2,3,4,5,6,8$</a:t>
                </a:r>
                <a:r>
                  <a:rPr sz="2400" b="0">
                    <a:solidFill>
                      <a:srgbClr val="111827"/>
                    </a:solidFill>
                    <a:latin typeface="Arial"/>
                  </a:rPr>
                  <a:t> give </a:t>
                </a:r>
                <a:r>
                  <a:rPr lang="en-IN" sz="2400">
                    <a:solidFill>
                      <a:srgbClr val="111827"/>
                    </a:solidFill>
                    <a:latin typeface="Cambria Math" panose="02040503050406030204" pitchFamily="18" charset="0"/>
                  </a:rPr>
                  <a:t>$1,2,2,3,2,4,2$</a:t>
                </a:r>
                <a:r>
                  <a:rPr sz="2400" b="0">
                    <a:solidFill>
                      <a:srgbClr val="111827"/>
                    </a:solidFill>
                    <a:latin typeface="Arial"/>
                  </a:rPr>
                  <a:t> - useful in many such counts.</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5590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company has two plants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to manufacture motorcycles. </a:t>
                </a:r>
                <a14:m>
                  <m:oMath xmlns:m="http://schemas.openxmlformats.org/officeDocument/2006/math">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 motorcycles are manufactured at plant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the remaining at plant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those made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are rated of standard quality, while </a:t>
                </a:r>
                <a14:m>
                  <m:oMath xmlns:m="http://schemas.openxmlformats.org/officeDocument/2006/math">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those made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of standard quality. A motorcycle picked at random from the total production is found to be of standard quality. If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is the probability that it was manufactured at plant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126</m:t>
                    </m:r>
                    <m:r>
                      <a:rPr lang="en-IN" sz="2400" i="1">
                        <a:solidFill>
                          <a:srgbClr val="111827"/>
                        </a:solidFill>
                        <a:latin typeface="Cambria Math" panose="02040503050406030204" pitchFamily="18" charset="0"/>
                      </a:rPr>
                      <m:t>𝑝</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64</m:t>
                    </m:r>
                  </m:oMath>
                </a14:m>
                <a:endParaRPr sz="2400">
                  <a:solidFill>
                    <a:srgbClr val="111827"/>
                  </a:solidFill>
                </a:endParaRPr>
              </a:p>
            </p:txBody>
          </p:sp>
        </mc:Choice>
        <mc:Fallback>
          <p:sp>
            <p:nvSpPr>
              <p:cNvPr id="4" name="Rounded Rectangle 3"/>
              <p:cNvSpPr/>
              <p:nvPr/>
            </p:nvSpPr>
            <p:spPr>
              <a:xfrm>
                <a:off x="731520" y="1280160"/>
                <a:ext cx="10725912" cy="35590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company has two plants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to manufacture motorcycles. </a:t>
                </a:r>
                <a:r>
                  <a:rPr lang="en-IN" sz="2400">
                    <a:solidFill>
                      <a:srgbClr val="111827"/>
                    </a:solidFill>
                    <a:latin typeface="Cambria Math" panose="02040503050406030204" pitchFamily="18" charset="0"/>
                  </a:rPr>
                  <a:t>$60\%$</a:t>
                </a:r>
                <a:r>
                  <a:rPr sz="2400" b="0">
                    <a:solidFill>
                      <a:srgbClr val="111827"/>
                    </a:solidFill>
                    <a:latin typeface="Arial"/>
                  </a:rPr>
                  <a:t> of the motorcycles are manufactured at plant </a:t>
                </a:r>
                <a:r>
                  <a:rPr lang="en-IN" sz="2400">
                    <a:solidFill>
                      <a:srgbClr val="111827"/>
                    </a:solidFill>
                    <a:latin typeface="Cambria Math" panose="02040503050406030204" pitchFamily="18" charset="0"/>
                  </a:rPr>
                  <a:t>$A$</a:t>
                </a:r>
                <a:r>
                  <a:rPr sz="2400" b="0">
                    <a:solidFill>
                      <a:srgbClr val="111827"/>
                    </a:solidFill>
                    <a:latin typeface="Arial"/>
                  </a:rPr>
                  <a:t> and the remaining at plant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$80\%$</a:t>
                </a:r>
                <a:r>
                  <a:rPr sz="2400" b="0">
                    <a:solidFill>
                      <a:srgbClr val="111827"/>
                    </a:solidFill>
                    <a:latin typeface="Arial"/>
                  </a:rPr>
                  <a:t> of those made at </a:t>
                </a:r>
                <a:r>
                  <a:rPr lang="en-IN" sz="2400">
                    <a:solidFill>
                      <a:srgbClr val="111827"/>
                    </a:solidFill>
                    <a:latin typeface="Cambria Math" panose="02040503050406030204" pitchFamily="18" charset="0"/>
                  </a:rPr>
                  <a:t>$A$</a:t>
                </a:r>
                <a:r>
                  <a:rPr sz="2400" b="0">
                    <a:solidFill>
                      <a:srgbClr val="111827"/>
                    </a:solidFill>
                    <a:latin typeface="Arial"/>
                  </a:rPr>
                  <a:t> are rated of standard quality, while </a:t>
                </a:r>
                <a:r>
                  <a:rPr lang="en-IN" sz="2400">
                    <a:solidFill>
                      <a:srgbClr val="111827"/>
                    </a:solidFill>
                    <a:latin typeface="Cambria Math" panose="02040503050406030204" pitchFamily="18" charset="0"/>
                  </a:rPr>
                  <a:t>$90\%$</a:t>
                </a:r>
                <a:r>
                  <a:rPr sz="2400" b="0">
                    <a:solidFill>
                      <a:srgbClr val="111827"/>
                    </a:solidFill>
                    <a:latin typeface="Arial"/>
                  </a:rPr>
                  <a:t> of those made at </a:t>
                </a:r>
                <a:r>
                  <a:rPr lang="en-IN" sz="2400">
                    <a:solidFill>
                      <a:srgbClr val="111827"/>
                    </a:solidFill>
                    <a:latin typeface="Cambria Math" panose="02040503050406030204" pitchFamily="18" charset="0"/>
                  </a:rPr>
                  <a:t>$B$</a:t>
                </a:r>
                <a:r>
                  <a:rPr sz="2400" b="0">
                    <a:solidFill>
                      <a:srgbClr val="111827"/>
                    </a:solidFill>
                    <a:latin typeface="Arial"/>
                  </a:rPr>
                  <a:t> are of standard quality. A motorcycle picked at random from the total production is found to be of standard quality. If </a:t>
                </a:r>
                <a:r>
                  <a:rPr lang="en-IN" sz="2400">
                    <a:solidFill>
                      <a:srgbClr val="111827"/>
                    </a:solidFill>
                    <a:latin typeface="Cambria Math" panose="02040503050406030204" pitchFamily="18" charset="0"/>
                  </a:rPr>
                  <a:t>$p$</a:t>
                </a:r>
                <a:r>
                  <a:rPr sz="2400" b="0">
                    <a:solidFill>
                      <a:srgbClr val="111827"/>
                    </a:solidFill>
                    <a:latin typeface="Arial"/>
                  </a:rPr>
                  <a:t> is the probability that it was manufactured at plant </a:t>
                </a:r>
                <a:r>
                  <a:rPr lang="en-IN" sz="2400">
                    <a:solidFill>
                      <a:srgbClr val="111827"/>
                    </a:solidFill>
                    <a:latin typeface="Cambria Math" panose="02040503050406030204" pitchFamily="18" charset="0"/>
                  </a:rPr>
                  <a:t>$B$</a:t>
                </a:r>
                <a:r>
                  <a:rPr sz="2400" b="0">
                    <a:solidFill>
                      <a:srgbClr val="111827"/>
                    </a:solidFill>
                    <a:latin typeface="Arial"/>
                  </a:rPr>
                  <a:t>, then </a:t>
                </a:r>
                <a:r>
                  <a:rPr lang="en-IN" sz="2400">
                    <a:solidFill>
                      <a:srgbClr val="111827"/>
                    </a:solidFill>
                    <a:latin typeface="Cambria Math" panose="02040503050406030204" pitchFamily="18" charset="0"/>
                  </a:rPr>
                  <a:t>$126p$</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$66$</a:t>
                </a:r>
                <a:r>
                  <a:rPr sz="2400" b="0">
                    <a:solidFill>
                      <a:srgbClr val="111827"/>
                    </a:solidFill>
                    <a:latin typeface="Arial"/>
                  </a:rPr>
                  <a:t>   (B) </a:t>
                </a:r>
                <a:r>
                  <a:rPr lang="en-IN" sz="2400">
                    <a:solidFill>
                      <a:srgbClr val="111827"/>
                    </a:solidFill>
                    <a:latin typeface="Cambria Math" panose="02040503050406030204" pitchFamily="18" charset="0"/>
                  </a:rPr>
                  <a:t>$54$</a:t>
                </a:r>
                <a:r>
                  <a:rPr sz="2400" b="0">
                    <a:solidFill>
                      <a:srgbClr val="111827"/>
                    </a:solidFill>
                    <a:latin typeface="Arial"/>
                  </a:rPr>
                  <a:t>   (C) </a:t>
                </a:r>
                <a:r>
                  <a:rPr lang="en-IN" sz="2400">
                    <a:solidFill>
                      <a:srgbClr val="111827"/>
                    </a:solidFill>
                    <a:latin typeface="Cambria Math" panose="02040503050406030204" pitchFamily="18" charset="0"/>
                  </a:rPr>
                  <a:t>$56$</a:t>
                </a:r>
                <a:r>
                  <a:rPr sz="2400" b="0">
                    <a:solidFill>
                      <a:srgbClr val="111827"/>
                    </a:solidFill>
                    <a:latin typeface="Arial"/>
                  </a:rPr>
                  <a:t>   (D) </a:t>
                </a:r>
                <a:r>
                  <a:rPr lang="en-IN" sz="2400">
                    <a:solidFill>
                      <a:srgbClr val="111827"/>
                    </a:solidFill>
                    <a:latin typeface="Cambria Math" panose="02040503050406030204" pitchFamily="18" charset="0"/>
                  </a:rPr>
                  <a:t>$64$</a:t>
                </a:r>
                <a:endParaRPr sz="2400">
                  <a:solidFill>
                    <a:srgbClr val="111827"/>
                  </a:solidFill>
                </a:endParaRPr>
              </a:p>
            </p:txBody>
          </p:sp>
        </mc:Fallback>
      </mc:AlternateContent>
      <p:sp>
        <p:nvSpPr>
          <p:cNvPr id="5" name="Rectangle 4"/>
          <p:cNvSpPr/>
          <p:nvPr/>
        </p:nvSpPr>
        <p:spPr>
          <a:xfrm>
            <a:off x="731520" y="5067808"/>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Bayes'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Bayes' theorem on the two plants: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Bayes' theorem on the two plants: </a:t>
                </a:r>
                <a:r>
                  <a:rPr lang="en-IN" sz="2400">
                    <a:solidFill>
                      <a:srgbClr val="78350F"/>
                    </a:solidFill>
                    <a:latin typeface="Cambria Math" panose="02040503050406030204" pitchFamily="18" charset="0"/>
                  </a:rPr>
                  <a:t>$P(B\mid S)=\frac{P(B)P(S\mid B)}{P(A)P(S\mid A)+P(B)P(S\mid 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made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made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standard quality. Then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num>
                      <m:den>
                        <m:r>
                          <a:rPr lang="en-IN" sz="2400" i="1">
                            <a:solidFill>
                              <a:srgbClr val="111827"/>
                            </a:solidFill>
                            <a:latin typeface="Cambria Math" panose="02040503050406030204" pitchFamily="18" charset="0"/>
                          </a:rPr>
                          <m:t>100</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100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90</m:t>
                        </m:r>
                      </m:num>
                      <m:den>
                        <m:r>
                          <a:rPr lang="en-IN" sz="2400" i="1">
                            <a:solidFill>
                              <a:srgbClr val="111827"/>
                            </a:solidFill>
                            <a:latin typeface="Cambria Math" panose="02040503050406030204" pitchFamily="18" charset="0"/>
                          </a:rPr>
                          <m:t>100</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80</m:t>
                        </m:r>
                      </m:num>
                      <m:den>
                        <m:r>
                          <a:rPr lang="en-IN" sz="2400" i="1">
                            <a:solidFill>
                              <a:srgbClr val="111827"/>
                            </a:solidFill>
                            <a:latin typeface="Cambria Math" panose="02040503050406030204" pitchFamily="18" charset="0"/>
                          </a:rPr>
                          <m:t>100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Bayes' theorem,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$E_1$</a:t>
                </a:r>
                <a:r>
                  <a:rPr sz="2400" b="0">
                    <a:solidFill>
                      <a:srgbClr val="111827"/>
                    </a:solidFill>
                    <a:latin typeface="Arial"/>
                  </a:rPr>
                  <a:t>: made at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$E_2$</a:t>
                </a:r>
                <a:r>
                  <a:rPr sz="2400" b="0">
                    <a:solidFill>
                      <a:srgbClr val="111827"/>
                    </a:solidFill>
                    <a:latin typeface="Arial"/>
                  </a:rPr>
                  <a:t>: made at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$S$</a:t>
                </a:r>
                <a:r>
                  <a:rPr sz="2400" b="0">
                    <a:solidFill>
                      <a:srgbClr val="111827"/>
                    </a:solidFill>
                    <a:latin typeface="Arial"/>
                  </a:rPr>
                  <a:t>: standard quality. Then </a:t>
                </a:r>
                <a:r>
                  <a:rPr lang="en-IN" sz="2400">
                    <a:solidFill>
                      <a:srgbClr val="111827"/>
                    </a:solidFill>
                    <a:latin typeface="Cambria Math" panose="02040503050406030204" pitchFamily="18" charset="0"/>
                  </a:rPr>
                  <a:t>$P(E_1)=\frac{40}{100}$</a:t>
                </a:r>
                <a:r>
                  <a:rPr sz="2400" b="0">
                    <a:solidFill>
                      <a:srgbClr val="111827"/>
                    </a:solidFill>
                    <a:latin typeface="Arial"/>
                  </a:rPr>
                  <a:t> and </a:t>
                </a:r>
                <a:r>
                  <a:rPr lang="en-IN" sz="2400">
                    <a:solidFill>
                      <a:srgbClr val="111827"/>
                    </a:solidFill>
                    <a:latin typeface="Cambria Math" panose="02040503050406030204" pitchFamily="18" charset="0"/>
                  </a:rPr>
                  <a:t>$P(E_2)=\frac{60}{100}$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$P(S\mid E_1)=\frac{90}{100}$</a:t>
                </a:r>
                <a:r>
                  <a:rPr sz="2400" b="0">
                    <a:solidFill>
                      <a:srgbClr val="111827"/>
                    </a:solidFill>
                    <a:latin typeface="Arial"/>
                  </a:rPr>
                  <a:t> and </a:t>
                </a:r>
                <a:r>
                  <a:rPr lang="en-IN" sz="2400">
                    <a:solidFill>
                      <a:srgbClr val="111827"/>
                    </a:solidFill>
                    <a:latin typeface="Cambria Math" panose="02040503050406030204" pitchFamily="18" charset="0"/>
                  </a:rPr>
                  <a:t>$P(S\mid E_2)=\frac{80}{100}$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Bayes' theorem, </a:t>
                </a:r>
                <a:r>
                  <a:rPr lang="en-IN" sz="2400">
                    <a:solidFill>
                      <a:srgbClr val="111827"/>
                    </a:solidFill>
                    <a:latin typeface="Cambria Math" panose="02040503050406030204" pitchFamily="18" charset="0"/>
                  </a:rPr>
                  <a:t>$P(E_1\mid S)=\frac{P(S\mid E_1)P(E_1)}{P(S\mid E_1)P(E_1)+P(S\mid E_2)P(E_2)}$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m:t>
                        </m:r>
                      </m:num>
                      <m:den>
                        <m:r>
                          <a:rPr lang="en-IN" sz="2400" i="1">
                            <a:solidFill>
                              <a:srgbClr val="111827"/>
                            </a:solidFill>
                            <a:latin typeface="Cambria Math" panose="02040503050406030204" pitchFamily="18" charset="0"/>
                          </a:rPr>
                          <m:t>0.9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0.36</m:t>
                        </m:r>
                      </m:num>
                      <m:den>
                        <m:r>
                          <a:rPr lang="en-IN" sz="2400" i="1">
                            <a:solidFill>
                              <a:srgbClr val="111827"/>
                            </a:solidFill>
                            <a:latin typeface="Cambria Math" panose="02040503050406030204" pitchFamily="18" charset="0"/>
                          </a:rPr>
                          <m:t>0.84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126</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$P(E_1\mid S)=\frac{0.9\times0.4}{0.9\times0.4+0.8\times0.6}=\frac{0.36}{0.84}=\frac37$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$p=\frac37$</a:t>
                </a:r>
                <a:r>
                  <a:rPr sz="2400" b="0">
                    <a:solidFill>
                      <a:srgbClr val="111827"/>
                    </a:solidFill>
                    <a:latin typeface="Arial"/>
                  </a:rPr>
                  <a:t> and </a:t>
                </a:r>
                <a:r>
                  <a:rPr lang="en-IN" sz="2400">
                    <a:solidFill>
                      <a:srgbClr val="111827"/>
                    </a:solidFill>
                    <a:latin typeface="Cambria Math" panose="02040503050406030204" pitchFamily="18" charset="0"/>
                  </a:rPr>
                  <a:t>$126p=126\times\frac37=54$</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54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$54$</a:t>
                </a:r>
                <a:endParaRPr sz="2800">
                  <a:solidFill>
                    <a:srgbClr val="15803D"/>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Natural frequencies: imagine </a:t>
                </a:r>
                <a14:m>
                  <m:oMath xmlns:m="http://schemas.openxmlformats.org/officeDocument/2006/math">
                    <m:r>
                      <a:rPr lang="en-IN" sz="2400" i="1">
                        <a:solidFill>
                          <a:srgbClr val="78350F"/>
                        </a:solidFill>
                        <a:latin typeface="Cambria Math" panose="02040503050406030204" pitchFamily="18" charset="0"/>
                      </a:rPr>
                      <m:t>1000</m:t>
                    </m:r>
                  </m:oMath>
                </a14:m>
                <a:r>
                  <a:rPr sz="2400" b="0">
                    <a:solidFill>
                      <a:srgbClr val="78350F"/>
                    </a:solidFill>
                    <a:latin typeface="Arial"/>
                  </a:rPr>
                  <a:t> motorcycles and count the standard ones from each plant.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Natural frequencies: imagine </a:t>
                </a:r>
                <a:r>
                  <a:rPr lang="en-IN" sz="2400">
                    <a:solidFill>
                      <a:srgbClr val="78350F"/>
                    </a:solidFill>
                    <a:latin typeface="Cambria Math" panose="02040503050406030204" pitchFamily="18" charset="0"/>
                  </a:rPr>
                  <a:t>$1000$</a:t>
                </a:r>
                <a:r>
                  <a:rPr sz="2400" b="0">
                    <a:solidFill>
                      <a:srgbClr val="78350F"/>
                    </a:solidFill>
                    <a:latin typeface="Arial"/>
                  </a:rPr>
                  <a:t> motorcycles and count the standard ones from each plant.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1000</m:t>
                    </m:r>
                  </m:oMath>
                </a14:m>
                <a:r>
                  <a:rPr sz="2400" b="0">
                    <a:solidFill>
                      <a:srgbClr val="111827"/>
                    </a:solidFill>
                    <a:latin typeface="Arial"/>
                  </a:rPr>
                  <a:t> motorcycles: </a:t>
                </a:r>
                <a14:m>
                  <m:oMath xmlns:m="http://schemas.openxmlformats.org/officeDocument/2006/math">
                    <m:r>
                      <a:rPr lang="en-IN" sz="2400" i="1">
                        <a:solidFill>
                          <a:srgbClr val="111827"/>
                        </a:solidFill>
                        <a:latin typeface="Cambria Math" panose="02040503050406030204" pitchFamily="18" charset="0"/>
                      </a:rPr>
                      <m:t>600</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400</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Standard quality: </a:t>
                </a:r>
                <a14:m>
                  <m:oMath xmlns:m="http://schemas.openxmlformats.org/officeDocument/2006/math">
                    <m:r>
                      <a:rPr lang="en-IN" sz="2400" i="1">
                        <a:solidFill>
                          <a:srgbClr val="111827"/>
                        </a:solidFill>
                        <a:latin typeface="Cambria Math" panose="02040503050406030204" pitchFamily="18" charset="0"/>
                      </a:rPr>
                      <m:t>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480</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840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 </a:t>
                </a:r>
                <a14:m>
                  <m:oMath xmlns:m="http://schemas.openxmlformats.org/officeDocument/2006/math">
                    <m:r>
                      <a:rPr lang="en-IN" sz="2400" i="1">
                        <a:solidFill>
                          <a:srgbClr val="111827"/>
                        </a:solidFill>
                        <a:latin typeface="Cambria Math" panose="02040503050406030204" pitchFamily="18" charset="0"/>
                      </a:rPr>
                      <m:t>840</m:t>
                    </m:r>
                  </m:oMath>
                </a14:m>
                <a:r>
                  <a:rPr sz="2400" b="0">
                    <a:solidFill>
                      <a:srgbClr val="111827"/>
                    </a:solidFill>
                    <a:latin typeface="Arial"/>
                  </a:rPr>
                  <a:t> standard ones, </a:t>
                </a:r>
                <a14:m>
                  <m:oMath xmlns:m="http://schemas.openxmlformats.org/officeDocument/2006/math">
                    <m:r>
                      <a:rPr lang="en-IN" sz="2400" i="1">
                        <a:solidFill>
                          <a:srgbClr val="111827"/>
                        </a:solidFill>
                        <a:latin typeface="Cambria Math" panose="02040503050406030204" pitchFamily="18" charset="0"/>
                      </a:rPr>
                      <m:t>360</m:t>
                    </m:r>
                  </m:oMath>
                </a14:m>
                <a:r>
                  <a:rPr sz="2400" b="0">
                    <a:solidFill>
                      <a:srgbClr val="111827"/>
                    </a:solidFill>
                    <a:latin typeface="Arial"/>
                  </a:rPr>
                  <a:t> came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360</m:t>
                        </m:r>
                      </m:num>
                      <m:den>
                        <m:r>
                          <a:rPr lang="en-IN" sz="2400" i="1">
                            <a:solidFill>
                              <a:srgbClr val="111827"/>
                            </a:solidFill>
                            <a:latin typeface="Cambria Math" panose="02040503050406030204" pitchFamily="18" charset="0"/>
                          </a:rPr>
                          <m:t>840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126</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$1000$</a:t>
                </a:r>
                <a:r>
                  <a:rPr sz="2400" b="0">
                    <a:solidFill>
                      <a:srgbClr val="111827"/>
                    </a:solidFill>
                    <a:latin typeface="Arial"/>
                  </a:rPr>
                  <a:t> motorcycles: </a:t>
                </a:r>
                <a:r>
                  <a:rPr lang="en-IN" sz="2400">
                    <a:solidFill>
                      <a:srgbClr val="111827"/>
                    </a:solidFill>
                    <a:latin typeface="Cambria Math" panose="02040503050406030204" pitchFamily="18" charset="0"/>
                  </a:rPr>
                  <a:t>$600$</a:t>
                </a:r>
                <a:r>
                  <a:rPr sz="2400" b="0">
                    <a:solidFill>
                      <a:srgbClr val="111827"/>
                    </a:solidFill>
                    <a:latin typeface="Arial"/>
                  </a:rPr>
                  <a:t> from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$400$</a:t>
                </a:r>
                <a:r>
                  <a:rPr sz="2400" b="0">
                    <a:solidFill>
                      <a:srgbClr val="111827"/>
                    </a:solidFill>
                    <a:latin typeface="Arial"/>
                  </a:rPr>
                  <a:t> from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Standard quality: </a:t>
                </a:r>
                <a:r>
                  <a:rPr lang="en-IN" sz="2400">
                    <a:solidFill>
                      <a:srgbClr val="111827"/>
                    </a:solidFill>
                    <a:latin typeface="Cambria Math" panose="02040503050406030204" pitchFamily="18" charset="0"/>
                  </a:rPr>
                  <a:t>$0.8\times600=480$</a:t>
                </a:r>
                <a:r>
                  <a:rPr sz="2400" b="0">
                    <a:solidFill>
                      <a:srgbClr val="111827"/>
                    </a:solidFill>
                    <a:latin typeface="Arial"/>
                  </a:rPr>
                  <a:t> from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$0.9\times400=360$</a:t>
                </a:r>
                <a:r>
                  <a:rPr sz="2400" b="0">
                    <a:solidFill>
                      <a:srgbClr val="111827"/>
                    </a:solidFill>
                    <a:latin typeface="Arial"/>
                  </a:rPr>
                  <a:t> from </a:t>
                </a:r>
                <a:r>
                  <a:rPr lang="en-IN" sz="2400">
                    <a:solidFill>
                      <a:srgbClr val="111827"/>
                    </a:solidFill>
                    <a:latin typeface="Cambria Math" panose="02040503050406030204" pitchFamily="18" charset="0"/>
                  </a:rPr>
                  <a:t>$B$</a:t>
                </a:r>
                <a:r>
                  <a:rPr sz="2400" b="0">
                    <a:solidFill>
                      <a:srgbClr val="111827"/>
                    </a:solidFill>
                    <a:latin typeface="Arial"/>
                  </a:rPr>
                  <a:t>, total </a:t>
                </a:r>
                <a:r>
                  <a:rPr lang="en-IN" sz="2400">
                    <a:solidFill>
                      <a:srgbClr val="111827"/>
                    </a:solidFill>
                    <a:latin typeface="Cambria Math" panose="02040503050406030204" pitchFamily="18" charset="0"/>
                  </a:rPr>
                  <a:t>$840$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 </a:t>
                </a:r>
                <a:r>
                  <a:rPr lang="en-IN" sz="2400">
                    <a:solidFill>
                      <a:srgbClr val="111827"/>
                    </a:solidFill>
                    <a:latin typeface="Cambria Math" panose="02040503050406030204" pitchFamily="18" charset="0"/>
                  </a:rPr>
                  <a:t>$840$</a:t>
                </a:r>
                <a:r>
                  <a:rPr sz="2400" b="0">
                    <a:solidFill>
                      <a:srgbClr val="111827"/>
                    </a:solidFill>
                    <a:latin typeface="Arial"/>
                  </a:rPr>
                  <a:t> standard ones, </a:t>
                </a:r>
                <a:r>
                  <a:rPr lang="en-IN" sz="2400">
                    <a:solidFill>
                      <a:srgbClr val="111827"/>
                    </a:solidFill>
                    <a:latin typeface="Cambria Math" panose="02040503050406030204" pitchFamily="18" charset="0"/>
                  </a:rPr>
                  <a:t>$360$</a:t>
                </a:r>
                <a:r>
                  <a:rPr sz="2400" b="0">
                    <a:solidFill>
                      <a:srgbClr val="111827"/>
                    </a:solidFill>
                    <a:latin typeface="Arial"/>
                  </a:rPr>
                  <a:t> came from </a:t>
                </a:r>
                <a:r>
                  <a:rPr lang="en-IN" sz="2400">
                    <a:solidFill>
                      <a:srgbClr val="111827"/>
                    </a:solidFill>
                    <a:latin typeface="Cambria Math" panose="02040503050406030204" pitchFamily="18" charset="0"/>
                  </a:rPr>
                  <a:t>$B$</a:t>
                </a:r>
                <a:r>
                  <a:rPr sz="2400" b="0">
                    <a:solidFill>
                      <a:srgbClr val="111827"/>
                    </a:solidFill>
                    <a:latin typeface="Arial"/>
                  </a:rPr>
                  <a:t>, so </a:t>
                </a:r>
                <a:r>
                  <a:rPr lang="en-IN" sz="2400">
                    <a:solidFill>
                      <a:srgbClr val="111827"/>
                    </a:solidFill>
                    <a:latin typeface="Cambria Math" panose="02040503050406030204" pitchFamily="18" charset="0"/>
                  </a:rPr>
                  <a:t>$p=\frac{360}{840}=\frac37$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$126p=54$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54</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$54$</a:t>
                </a:r>
                <a:endParaRPr sz="2800">
                  <a:solidFill>
                    <a:srgbClr val="15803D"/>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Posterior odds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prior odds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likelihood ratio: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Natural-frequency counting (choose a population like </a:t>
                </a:r>
                <a14:m>
                  <m:oMath xmlns:m="http://schemas.openxmlformats.org/officeDocument/2006/math">
                    <m:r>
                      <a:rPr lang="en-IN" sz="2400" i="1">
                        <a:solidFill>
                          <a:srgbClr val="111827"/>
                        </a:solidFill>
                        <a:latin typeface="Cambria Math" panose="02040503050406030204" pitchFamily="18" charset="0"/>
                      </a:rPr>
                      <m:t>1000</m:t>
                    </m:r>
                  </m:oMath>
                </a14:m>
                <a:r>
                  <a:rPr sz="2400" b="0">
                    <a:solidFill>
                      <a:srgbClr val="111827"/>
                    </a:solidFill>
                    <a:latin typeface="Arial"/>
                  </a:rPr>
                  <a:t>) avoids the Bayes formula entirely and is hard to get wrong.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posteriors over all causes must add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Posterior odds </a:t>
                </a:r>
                <a:r>
                  <a:rPr lang="en-IN" sz="2400">
                    <a:solidFill>
                      <a:srgbClr val="111827"/>
                    </a:solidFill>
                    <a:latin typeface="Cambria Math" panose="02040503050406030204" pitchFamily="18" charset="0"/>
                  </a:rPr>
                  <a:t>$=$</a:t>
                </a:r>
                <a:r>
                  <a:rPr sz="2400" b="0">
                    <a:solidFill>
                      <a:srgbClr val="111827"/>
                    </a:solidFill>
                    <a:latin typeface="Arial"/>
                  </a:rPr>
                  <a:t> prior odds </a:t>
                </a:r>
                <a:r>
                  <a:rPr lang="en-IN" sz="2400">
                    <a:solidFill>
                      <a:srgbClr val="111827"/>
                    </a:solidFill>
                    <a:latin typeface="Cambria Math" panose="02040503050406030204" pitchFamily="18" charset="0"/>
                  </a:rPr>
                  <a:t>$\times$</a:t>
                </a:r>
                <a:r>
                  <a:rPr sz="2400" b="0">
                    <a:solidFill>
                      <a:srgbClr val="111827"/>
                    </a:solidFill>
                    <a:latin typeface="Arial"/>
                  </a:rPr>
                  <a:t> likelihood ratio: here </a:t>
                </a:r>
                <a:r>
                  <a:rPr lang="en-IN" sz="2400">
                    <a:solidFill>
                      <a:srgbClr val="111827"/>
                    </a:solidFill>
                    <a:latin typeface="Cambria Math" panose="02040503050406030204" pitchFamily="18" charset="0"/>
                  </a:rPr>
                  <a:t>$\frac{B}{A}=\frac{2}{3}\times\frac{9}{8}=\frac34$</a:t>
                </a:r>
                <a:r>
                  <a:rPr sz="2400" b="0">
                    <a:solidFill>
                      <a:srgbClr val="111827"/>
                    </a:solidFill>
                    <a:latin typeface="Arial"/>
                  </a:rPr>
                  <a:t>, so </a:t>
                </a:r>
                <a:r>
                  <a:rPr lang="en-IN" sz="2400">
                    <a:solidFill>
                      <a:srgbClr val="111827"/>
                    </a:solidFill>
                    <a:latin typeface="Cambria Math" panose="02040503050406030204" pitchFamily="18" charset="0"/>
                  </a:rPr>
                  <a:t>$p=\frac{3}{3+4}=\frac37$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Natural-frequency counting (choose a population like </a:t>
                </a:r>
                <a:r>
                  <a:rPr lang="en-IN" sz="2400">
                    <a:solidFill>
                      <a:srgbClr val="111827"/>
                    </a:solidFill>
                    <a:latin typeface="Cambria Math" panose="02040503050406030204" pitchFamily="18" charset="0"/>
                  </a:rPr>
                  <a:t>$1000$</a:t>
                </a:r>
                <a:r>
                  <a:rPr sz="2400" b="0">
                    <a:solidFill>
                      <a:srgbClr val="111827"/>
                    </a:solidFill>
                    <a:latin typeface="Arial"/>
                  </a:rPr>
                  <a:t>) avoids the Bayes formula entirely and is hard to get wrong.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posteriors over all causes must add to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$\frac37+\frac47$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three letters can be posted to any one of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different addresses, then the probability that the three letters are posted to exactly two addresses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25</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three letters can be posted to any one of the </a:t>
                </a:r>
                <a:r>
                  <a:rPr lang="en-IN" sz="2400">
                    <a:solidFill>
                      <a:srgbClr val="111827"/>
                    </a:solidFill>
                    <a:latin typeface="Cambria Math" panose="02040503050406030204" pitchFamily="18" charset="0"/>
                  </a:rPr>
                  <a:t>$5$</a:t>
                </a:r>
                <a:r>
                  <a:rPr sz="2400" b="0">
                    <a:solidFill>
                      <a:srgbClr val="111827"/>
                    </a:solidFill>
                    <a:latin typeface="Arial"/>
                  </a:rPr>
                  <a:t> different addresses, then the probability that the three letters are posted to exactly two addresses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$\frac{6}{25}$</a:t>
                </a:r>
                <a:r>
                  <a:rPr sz="2400" b="0">
                    <a:solidFill>
                      <a:srgbClr val="111827"/>
                    </a:solidFill>
                    <a:latin typeface="Arial"/>
                  </a:rPr>
                  <a:t>   (B) </a:t>
                </a:r>
                <a:r>
                  <a:rPr lang="en-IN" sz="2400">
                    <a:solidFill>
                      <a:srgbClr val="111827"/>
                    </a:solidFill>
                    <a:latin typeface="Cambria Math" panose="02040503050406030204" pitchFamily="18" charset="0"/>
                  </a:rPr>
                  <a:t>$\frac{18}{25}$</a:t>
                </a:r>
                <a:r>
                  <a:rPr sz="2400" b="0">
                    <a:solidFill>
                      <a:srgbClr val="111827"/>
                    </a:solidFill>
                    <a:latin typeface="Arial"/>
                  </a:rPr>
                  <a:t>   (C) </a:t>
                </a:r>
                <a:r>
                  <a:rPr lang="en-IN" sz="2400">
                    <a:solidFill>
                      <a:srgbClr val="111827"/>
                    </a:solidFill>
                    <a:latin typeface="Cambria Math" panose="02040503050406030204" pitchFamily="18" charset="0"/>
                  </a:rPr>
                  <a:t>$\frac{4}{25}$</a:t>
                </a:r>
                <a:r>
                  <a:rPr sz="2400" b="0">
                    <a:solidFill>
                      <a:srgbClr val="111827"/>
                    </a:solidFill>
                    <a:latin typeface="Arial"/>
                  </a:rPr>
                  <a:t>   (D) </a:t>
                </a:r>
                <a:r>
                  <a:rPr lang="en-IN" sz="2400">
                    <a:solidFill>
                      <a:srgbClr val="111827"/>
                    </a:solidFill>
                    <a:latin typeface="Cambria Math" panose="02040503050406030204" pitchFamily="18" charset="0"/>
                  </a:rPr>
                  <a:t>$\frac{12}{25}$</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an event, Permutations and combinations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Choose the two addresses, then count the onto distributions of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letters on them: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Choose the two addresses, then count the onto distributions of </a:t>
                </a:r>
                <a:r>
                  <a:rPr lang="en-IN" sz="2400">
                    <a:solidFill>
                      <a:srgbClr val="78350F"/>
                    </a:solidFill>
                    <a:latin typeface="Cambria Math" panose="02040503050406030204" pitchFamily="18" charset="0"/>
                  </a:rPr>
                  <a:t>$3$</a:t>
                </a:r>
                <a:r>
                  <a:rPr sz="2400" b="0">
                    <a:solidFill>
                      <a:srgbClr val="78350F"/>
                    </a:solidFill>
                    <a:latin typeface="Arial"/>
                  </a:rPr>
                  <a:t> letters on them: </a:t>
                </a:r>
                <a:r>
                  <a:rPr lang="en-IN" sz="2400">
                    <a:solidFill>
                      <a:srgbClr val="78350F"/>
                    </a:solidFill>
                    <a:latin typeface="Cambria Math" panose="02040503050406030204" pitchFamily="18" charset="0"/>
                  </a:rPr>
                  <a:t>$2^3-2=6$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to post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letters to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addresses: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Select the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addresses that are used in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letters can be posted to exactly these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addresses in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ways (each address must receive at least one letter).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ways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125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to post </a:t>
                </a:r>
                <a:r>
                  <a:rPr lang="en-IN" sz="2400">
                    <a:solidFill>
                      <a:srgbClr val="111827"/>
                    </a:solidFill>
                    <a:latin typeface="Cambria Math" panose="02040503050406030204" pitchFamily="18" charset="0"/>
                  </a:rPr>
                  <a:t>$3$</a:t>
                </a:r>
                <a:r>
                  <a:rPr sz="2400" b="0">
                    <a:solidFill>
                      <a:srgbClr val="111827"/>
                    </a:solidFill>
                    <a:latin typeface="Arial"/>
                  </a:rPr>
                  <a:t> letters to </a:t>
                </a:r>
                <a:r>
                  <a:rPr lang="en-IN" sz="2400">
                    <a:solidFill>
                      <a:srgbClr val="111827"/>
                    </a:solidFill>
                    <a:latin typeface="Cambria Math" panose="02040503050406030204" pitchFamily="18" charset="0"/>
                  </a:rPr>
                  <a:t>$5$</a:t>
                </a:r>
                <a:r>
                  <a:rPr sz="2400" b="0">
                    <a:solidFill>
                      <a:srgbClr val="111827"/>
                    </a:solidFill>
                    <a:latin typeface="Arial"/>
                  </a:rPr>
                  <a:t> addresses: </a:t>
                </a:r>
                <a:r>
                  <a:rPr lang="en-IN" sz="2400">
                    <a:solidFill>
                      <a:srgbClr val="111827"/>
                    </a:solidFill>
                    <a:latin typeface="Cambria Math" panose="02040503050406030204" pitchFamily="18" charset="0"/>
                  </a:rPr>
                  <a:t>$5^3=125$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Select the </a:t>
                </a:r>
                <a:r>
                  <a:rPr lang="en-IN" sz="2400">
                    <a:solidFill>
                      <a:srgbClr val="111827"/>
                    </a:solidFill>
                    <a:latin typeface="Cambria Math" panose="02040503050406030204" pitchFamily="18" charset="0"/>
                  </a:rPr>
                  <a:t>$2$</a:t>
                </a:r>
                <a:r>
                  <a:rPr sz="2400" b="0">
                    <a:solidFill>
                      <a:srgbClr val="111827"/>
                    </a:solidFill>
                    <a:latin typeface="Arial"/>
                  </a:rPr>
                  <a:t> addresses that are used in </a:t>
                </a:r>
                <a:r>
                  <a:rPr lang="en-IN" sz="2400">
                    <a:solidFill>
                      <a:srgbClr val="111827"/>
                    </a:solidFill>
                    <a:latin typeface="Cambria Math" panose="02040503050406030204" pitchFamily="18" charset="0"/>
                  </a:rPr>
                  <a:t>$^5C_2=10$</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$3$</a:t>
                </a:r>
                <a:r>
                  <a:rPr sz="2400" b="0">
                    <a:solidFill>
                      <a:srgbClr val="111827"/>
                    </a:solidFill>
                    <a:latin typeface="Arial"/>
                  </a:rPr>
                  <a:t> letters can be posted to exactly these </a:t>
                </a:r>
                <a:r>
                  <a:rPr lang="en-IN" sz="2400">
                    <a:solidFill>
                      <a:srgbClr val="111827"/>
                    </a:solidFill>
                    <a:latin typeface="Cambria Math" panose="02040503050406030204" pitchFamily="18" charset="0"/>
                  </a:rPr>
                  <a:t>$2$</a:t>
                </a:r>
                <a:r>
                  <a:rPr sz="2400" b="0">
                    <a:solidFill>
                      <a:srgbClr val="111827"/>
                    </a:solidFill>
                    <a:latin typeface="Arial"/>
                  </a:rPr>
                  <a:t> addresses in </a:t>
                </a:r>
                <a:r>
                  <a:rPr lang="en-IN" sz="2400">
                    <a:solidFill>
                      <a:srgbClr val="111827"/>
                    </a:solidFill>
                    <a:latin typeface="Cambria Math" panose="02040503050406030204" pitchFamily="18" charset="0"/>
                  </a:rPr>
                  <a:t>$2^3-2=6$</a:t>
                </a:r>
                <a:r>
                  <a:rPr sz="2400" b="0">
                    <a:solidFill>
                      <a:srgbClr val="111827"/>
                    </a:solidFill>
                    <a:latin typeface="Arial"/>
                  </a:rPr>
                  <a:t> ways (each address must receive at least one letter).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ways </a:t>
                </a:r>
                <a:r>
                  <a:rPr lang="en-IN" sz="2400">
                    <a:solidFill>
                      <a:srgbClr val="111827"/>
                    </a:solidFill>
                    <a:latin typeface="Cambria Math" panose="02040503050406030204" pitchFamily="18" charset="0"/>
                  </a:rPr>
                  <a:t>$={}^5C_2\times6=60$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$=\frac{60}{125}=\frac{12}{25}$</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12</m:t>
                        </m:r>
                      </m:num>
                      <m:den>
                        <m:r>
                          <a:rPr lang="en-IN" sz="2800" i="1">
                            <a:solidFill>
                              <a:srgbClr val="15803D"/>
                            </a:solidFill>
                            <a:latin typeface="Cambria Math" panose="02040503050406030204" pitchFamily="18" charset="0"/>
                          </a:rPr>
                          <m:t>25</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$\frac{12}{25}$</a:t>
                </a:r>
                <a:endParaRPr sz="2800">
                  <a:solidFill>
                    <a:srgbClr val="15803D"/>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Complement over the number of distinct addresses used: one, two or three.</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letters use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distinct addresses, and these events are exhaustive and disjoint.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three to the same address: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ways,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letters use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distinct addresses, and these events are exhaustive and disjoint.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three to the same address: </a:t>
                </a:r>
                <a:r>
                  <a:rPr lang="en-IN" sz="2400">
                    <a:solidFill>
                      <a:srgbClr val="111827"/>
                    </a:solidFill>
                    <a:latin typeface="Cambria Math" panose="02040503050406030204" pitchFamily="18" charset="0"/>
                  </a:rPr>
                  <a:t>$5$</a:t>
                </a:r>
                <a:r>
                  <a:rPr sz="2400" b="0">
                    <a:solidFill>
                      <a:srgbClr val="111827"/>
                    </a:solidFill>
                    <a:latin typeface="Arial"/>
                  </a:rPr>
                  <a:t> ways, probability </a:t>
                </a:r>
                <a:r>
                  <a:rPr lang="en-IN" sz="2400">
                    <a:solidFill>
                      <a:srgbClr val="111827"/>
                    </a:solidFill>
                    <a:latin typeface="Cambria Math" panose="02040503050406030204" pitchFamily="18" charset="0"/>
                  </a:rPr>
                  <a:t>$\frac{5}{125}$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three to different addresses: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ways,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125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exactly two addresses: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125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125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three to different addresses: </a:t>
                </a:r>
                <a:r>
                  <a:rPr lang="en-IN" sz="2400">
                    <a:solidFill>
                      <a:srgbClr val="111827"/>
                    </a:solidFill>
                    <a:latin typeface="Cambria Math" panose="02040503050406030204" pitchFamily="18" charset="0"/>
                  </a:rPr>
                  <a:t>$5\times4\times3=60$</a:t>
                </a:r>
                <a:r>
                  <a:rPr sz="2400" b="0">
                    <a:solidFill>
                      <a:srgbClr val="111827"/>
                    </a:solidFill>
                    <a:latin typeface="Arial"/>
                  </a:rPr>
                  <a:t> ways, probability </a:t>
                </a:r>
                <a:r>
                  <a:rPr lang="en-IN" sz="2400">
                    <a:solidFill>
                      <a:srgbClr val="111827"/>
                    </a:solidFill>
                    <a:latin typeface="Cambria Math" panose="02040503050406030204" pitchFamily="18" charset="0"/>
                  </a:rPr>
                  <a:t>$\frac{60}{125}$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exactly two addresses: </a:t>
                </a:r>
                <a:r>
                  <a:rPr lang="en-IN" sz="2400">
                    <a:solidFill>
                      <a:srgbClr val="111827"/>
                    </a:solidFill>
                    <a:latin typeface="Cambria Math" panose="02040503050406030204" pitchFamily="18" charset="0"/>
                  </a:rPr>
                  <a:t>$1-\frac{5}{125}-\frac{60}{125}=\frac{60}{125}=\frac{12}{25}$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12</m:t>
                        </m:r>
                      </m:num>
                      <m:den>
                        <m:r>
                          <a:rPr lang="en-IN" sz="2800" i="1">
                            <a:solidFill>
                              <a:srgbClr val="15803D"/>
                            </a:solidFill>
                            <a:latin typeface="Cambria Math" panose="02040503050406030204" pitchFamily="18" charset="0"/>
                          </a:rPr>
                          <m:t>25</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$\frac{12}{25}$</a:t>
                </a:r>
                <a:endParaRPr sz="2800">
                  <a:solidFill>
                    <a:srgbClr val="15803D"/>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ways to put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letters on exactly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chosen addresses is the number of onto maps;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it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three cases (1, 2, 3 addresses) have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60</m:t>
                    </m:r>
                  </m:oMath>
                </a14:m>
                <a:r>
                  <a:rPr sz="2400" b="0">
                    <a:solidFill>
                      <a:srgbClr val="111827"/>
                    </a:solidFill>
                    <a:latin typeface="Arial"/>
                  </a:rPr>
                  <a:t> favourable ways out of </a:t>
                </a:r>
                <a14:m>
                  <m:oMath xmlns:m="http://schemas.openxmlformats.org/officeDocument/2006/math">
                    <m:r>
                      <a:rPr lang="en-IN" sz="2400" i="1">
                        <a:solidFill>
                          <a:srgbClr val="111827"/>
                        </a:solidFill>
                        <a:latin typeface="Cambria Math" panose="02040503050406030204" pitchFamily="18" charset="0"/>
                      </a:rPr>
                      <m:t>125</m:t>
                    </m:r>
                  </m:oMath>
                </a14:m>
                <a:r>
                  <a:rPr sz="2400" b="0">
                    <a:solidFill>
                      <a:srgbClr val="111827"/>
                    </a:solidFill>
                    <a:latin typeface="Arial"/>
                  </a:rPr>
                  <a:t> - cross-check by adding to </a:t>
                </a:r>
                <a14:m>
                  <m:oMath xmlns:m="http://schemas.openxmlformats.org/officeDocument/2006/math">
                    <m:r>
                      <a:rPr lang="en-IN" sz="2400" i="1">
                        <a:solidFill>
                          <a:srgbClr val="111827"/>
                        </a:solidFill>
                        <a:latin typeface="Cambria Math" panose="02040503050406030204" pitchFamily="18" charset="0"/>
                      </a:rPr>
                      <m:t>125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problems are usually easiest by complement when the other cases are simple.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ways to put </a:t>
                </a:r>
                <a:r>
                  <a:rPr lang="en-IN" sz="2400">
                    <a:solidFill>
                      <a:srgbClr val="111827"/>
                    </a:solidFill>
                    <a:latin typeface="Cambria Math" panose="02040503050406030204" pitchFamily="18" charset="0"/>
                  </a:rPr>
                  <a:t>$n$</a:t>
                </a:r>
                <a:r>
                  <a:rPr sz="2400" b="0">
                    <a:solidFill>
                      <a:srgbClr val="111827"/>
                    </a:solidFill>
                    <a:latin typeface="Arial"/>
                  </a:rPr>
                  <a:t> letters on exactly </a:t>
                </a:r>
                <a:r>
                  <a:rPr lang="en-IN" sz="2400">
                    <a:solidFill>
                      <a:srgbClr val="111827"/>
                    </a:solidFill>
                    <a:latin typeface="Cambria Math" panose="02040503050406030204" pitchFamily="18" charset="0"/>
                  </a:rPr>
                  <a:t>$r$</a:t>
                </a:r>
                <a:r>
                  <a:rPr sz="2400" b="0">
                    <a:solidFill>
                      <a:srgbClr val="111827"/>
                    </a:solidFill>
                    <a:latin typeface="Arial"/>
                  </a:rPr>
                  <a:t> chosen addresses is the number of onto maps; for </a:t>
                </a:r>
                <a:r>
                  <a:rPr lang="en-IN" sz="2400">
                    <a:solidFill>
                      <a:srgbClr val="111827"/>
                    </a:solidFill>
                    <a:latin typeface="Cambria Math" panose="02040503050406030204" pitchFamily="18" charset="0"/>
                  </a:rPr>
                  <a:t>$r=2$</a:t>
                </a:r>
                <a:r>
                  <a:rPr sz="2400" b="0">
                    <a:solidFill>
                      <a:srgbClr val="111827"/>
                    </a:solidFill>
                    <a:latin typeface="Arial"/>
                  </a:rPr>
                  <a:t> it is </a:t>
                </a:r>
                <a:r>
                  <a:rPr lang="en-IN" sz="2400">
                    <a:solidFill>
                      <a:srgbClr val="111827"/>
                    </a:solidFill>
                    <a:latin typeface="Cambria Math" panose="02040503050406030204" pitchFamily="18" charset="0"/>
                  </a:rPr>
                  <a:t>$2^n-2$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$n=3$</a:t>
                </a:r>
                <a:r>
                  <a:rPr sz="2400" b="0">
                    <a:solidFill>
                      <a:srgbClr val="111827"/>
                    </a:solidFill>
                    <a:latin typeface="Arial"/>
                  </a:rPr>
                  <a:t> the three cases (1, 2, 3 addresses) have </a:t>
                </a:r>
                <a:r>
                  <a:rPr lang="en-IN" sz="2400">
                    <a:solidFill>
                      <a:srgbClr val="111827"/>
                    </a:solidFill>
                    <a:latin typeface="Cambria Math" panose="02040503050406030204" pitchFamily="18" charset="0"/>
                  </a:rPr>
                  <a:t>$5,\ 60,\ 60$</a:t>
                </a:r>
                <a:r>
                  <a:rPr sz="2400" b="0">
                    <a:solidFill>
                      <a:srgbClr val="111827"/>
                    </a:solidFill>
                    <a:latin typeface="Arial"/>
                  </a:rPr>
                  <a:t> favourable ways out of </a:t>
                </a:r>
                <a:r>
                  <a:rPr lang="en-IN" sz="2400">
                    <a:solidFill>
                      <a:srgbClr val="111827"/>
                    </a:solidFill>
                    <a:latin typeface="Cambria Math" panose="02040503050406030204" pitchFamily="18" charset="0"/>
                  </a:rPr>
                  <a:t>$125$</a:t>
                </a:r>
                <a:r>
                  <a:rPr sz="2400" b="0">
                    <a:solidFill>
                      <a:srgbClr val="111827"/>
                    </a:solidFill>
                    <a:latin typeface="Arial"/>
                  </a:rPr>
                  <a:t> - cross-check by adding to </a:t>
                </a:r>
                <a:r>
                  <a:rPr lang="en-IN" sz="2400">
                    <a:solidFill>
                      <a:srgbClr val="111827"/>
                    </a:solidFill>
                    <a:latin typeface="Cambria Math" panose="02040503050406030204" pitchFamily="18" charset="0"/>
                  </a:rPr>
                  <a:t>$125$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problems are usually easiest by complement when the other cases are simple.</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sum of two positive integers be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If the probability that their product is not less than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times their greatest possible product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where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10</m:t>
                    </m:r>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sum of two positive integers be </a:t>
                </a:r>
                <a:r>
                  <a:rPr lang="en-IN" sz="2400">
                    <a:solidFill>
                      <a:srgbClr val="111827"/>
                    </a:solidFill>
                    <a:latin typeface="Cambria Math" panose="02040503050406030204" pitchFamily="18" charset="0"/>
                  </a:rPr>
                  <a:t>$24$</a:t>
                </a:r>
                <a:r>
                  <a:rPr sz="2400" b="0">
                    <a:solidFill>
                      <a:srgbClr val="111827"/>
                    </a:solidFill>
                    <a:latin typeface="Arial"/>
                  </a:rPr>
                  <a:t>. If the probability that their product is not less than </a:t>
                </a:r>
                <a:r>
                  <a:rPr lang="en-IN" sz="2400">
                    <a:solidFill>
                      <a:srgbClr val="111827"/>
                    </a:solidFill>
                    <a:latin typeface="Cambria Math" panose="02040503050406030204" pitchFamily="18" charset="0"/>
                  </a:rPr>
                  <a:t>$\frac34$</a:t>
                </a:r>
                <a:r>
                  <a:rPr sz="2400" b="0">
                    <a:solidFill>
                      <a:srgbClr val="111827"/>
                    </a:solidFill>
                    <a:latin typeface="Arial"/>
                  </a:rPr>
                  <a:t> times their greatest possible product is </a:t>
                </a:r>
                <a:r>
                  <a:rPr lang="en-IN" sz="2400">
                    <a:solidFill>
                      <a:srgbClr val="111827"/>
                    </a:solidFill>
                    <a:latin typeface="Cambria Math" panose="02040503050406030204" pitchFamily="18" charset="0"/>
                  </a:rPr>
                  <a:t>$\frac mn$</a:t>
                </a:r>
                <a:r>
                  <a:rPr sz="2400" b="0">
                    <a:solidFill>
                      <a:srgbClr val="111827"/>
                    </a:solidFill>
                    <a:latin typeface="Arial"/>
                  </a:rPr>
                  <a:t>, where </a:t>
                </a:r>
                <a:r>
                  <a:rPr lang="en-IN" sz="2400">
                    <a:solidFill>
                      <a:srgbClr val="111827"/>
                    </a:solidFill>
                    <a:latin typeface="Cambria Math" panose="02040503050406030204" pitchFamily="18" charset="0"/>
                  </a:rPr>
                  <a:t>$\gcd(m,n)=1$</a:t>
                </a:r>
                <a:r>
                  <a:rPr sz="2400" b="0">
                    <a:solidFill>
                      <a:srgbClr val="111827"/>
                    </a:solidFill>
                    <a:latin typeface="Arial"/>
                  </a:rPr>
                  <a:t>, then </a:t>
                </a:r>
                <a:r>
                  <a:rPr lang="en-IN" sz="2400">
                    <a:solidFill>
                      <a:srgbClr val="111827"/>
                    </a:solidFill>
                    <a:latin typeface="Cambria Math" panose="02040503050406030204" pitchFamily="18" charset="0"/>
                  </a:rPr>
                  <a:t>$n-m$</a:t>
                </a:r>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$9$</a:t>
                </a:r>
                <a:r>
                  <a:rPr sz="2400" b="0">
                    <a:solidFill>
                      <a:srgbClr val="111827"/>
                    </a:solidFill>
                    <a:latin typeface="Arial"/>
                  </a:rPr>
                  <a:t>   (B) </a:t>
                </a:r>
                <a:r>
                  <a:rPr lang="en-IN" sz="2400">
                    <a:solidFill>
                      <a:srgbClr val="111827"/>
                    </a:solidFill>
                    <a:latin typeface="Cambria Math" panose="02040503050406030204" pitchFamily="18" charset="0"/>
                  </a:rPr>
                  <a:t>$8$</a:t>
                </a:r>
                <a:r>
                  <a:rPr sz="2400" b="0">
                    <a:solidFill>
                      <a:srgbClr val="111827"/>
                    </a:solidFill>
                    <a:latin typeface="Arial"/>
                  </a:rPr>
                  <a:t>   (C) </a:t>
                </a:r>
                <a:r>
                  <a:rPr lang="en-IN" sz="2400">
                    <a:solidFill>
                      <a:srgbClr val="111827"/>
                    </a:solidFill>
                    <a:latin typeface="Cambria Math" panose="02040503050406030204" pitchFamily="18" charset="0"/>
                  </a:rPr>
                  <a:t>$11$</a:t>
                </a:r>
                <a:r>
                  <a:rPr sz="2400" b="0">
                    <a:solidFill>
                      <a:srgbClr val="111827"/>
                    </a:solidFill>
                    <a:latin typeface="Arial"/>
                  </a:rPr>
                  <a:t>   (D) </a:t>
                </a:r>
                <a:r>
                  <a:rPr lang="en-IN" sz="2400">
                    <a:solidFill>
                      <a:srgbClr val="111827"/>
                    </a:solidFill>
                    <a:latin typeface="Cambria Math" panose="02040503050406030204" pitchFamily="18" charset="0"/>
                  </a:rPr>
                  <a:t>$10$</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an event, Properties of quadratic expressions (AM-GM)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By AM-GM the maximum product is </a:t>
                </a:r>
                <a14:m>
                  <m:oMath xmlns:m="http://schemas.openxmlformats.org/officeDocument/2006/math">
                    <m:r>
                      <a:rPr lang="en-IN" sz="2400" i="1">
                        <a:solidFill>
                          <a:srgbClr val="78350F"/>
                        </a:solidFill>
                        <a:latin typeface="Cambria Math" panose="02040503050406030204" pitchFamily="18" charset="0"/>
                      </a:rPr>
                      <m:t>144</m:t>
                    </m:r>
                  </m:oMath>
                </a14:m>
                <a:r>
                  <a:rPr sz="2400" b="0">
                    <a:solidFill>
                      <a:srgbClr val="78350F"/>
                    </a:solidFill>
                    <a:latin typeface="Arial"/>
                  </a:rPr>
                  <a:t> (at </a:t>
                </a:r>
                <a14:m>
                  <m:oMath xmlns:m="http://schemas.openxmlformats.org/officeDocument/2006/math">
                    <m:r>
                      <a:rPr lang="en-IN" sz="2400" i="1">
                        <a:solidFill>
                          <a:srgbClr val="78350F"/>
                        </a:solidFill>
                        <a:latin typeface="Cambria Math" panose="02040503050406030204" pitchFamily="18" charset="0"/>
                      </a:rPr>
                      <m:t>12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oMath>
                </a14:m>
                <a:r>
                  <a:rPr sz="2400" b="0">
                    <a:solidFill>
                      <a:srgbClr val="78350F"/>
                    </a:solidFill>
                    <a:latin typeface="Arial"/>
                  </a:rPr>
                  <a:t>); the condition becomes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108</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By AM-GM the maximum product is </a:t>
                </a:r>
                <a:r>
                  <a:rPr lang="en-IN" sz="2400">
                    <a:solidFill>
                      <a:srgbClr val="78350F"/>
                    </a:solidFill>
                    <a:latin typeface="Cambria Math" panose="02040503050406030204" pitchFamily="18" charset="0"/>
                  </a:rPr>
                  <a:t>$144$</a:t>
                </a:r>
                <a:r>
                  <a:rPr sz="2400" b="0">
                    <a:solidFill>
                      <a:srgbClr val="78350F"/>
                    </a:solidFill>
                    <a:latin typeface="Arial"/>
                  </a:rPr>
                  <a:t> (at </a:t>
                </a:r>
                <a:r>
                  <a:rPr lang="en-IN" sz="2400">
                    <a:solidFill>
                      <a:srgbClr val="78350F"/>
                    </a:solidFill>
                    <a:latin typeface="Cambria Math" panose="02040503050406030204" pitchFamily="18" charset="0"/>
                  </a:rPr>
                  <a:t>$12,12$</a:t>
                </a:r>
                <a:r>
                  <a:rPr sz="2400" b="0">
                    <a:solidFill>
                      <a:srgbClr val="78350F"/>
                    </a:solidFill>
                    <a:latin typeface="Arial"/>
                  </a:rPr>
                  <a:t>); the condition becomes </a:t>
                </a:r>
                <a:r>
                  <a:rPr lang="en-IN" sz="2400">
                    <a:solidFill>
                      <a:srgbClr val="78350F"/>
                    </a:solidFill>
                    <a:latin typeface="Cambria Math" panose="02040503050406030204" pitchFamily="18" charset="0"/>
                  </a:rPr>
                  <a:t>$ab\ge108$</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integers be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the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 in number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AM-GM,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oMath>
                </a14:m>
                <a:r>
                  <a:rPr sz="2400" b="0">
                    <a:solidFill>
                      <a:srgbClr val="111827"/>
                    </a:solidFill>
                    <a:latin typeface="Arial"/>
                  </a:rPr>
                  <a:t>: the greatest possible product is </a:t>
                </a:r>
                <a14:m>
                  <m:oMath xmlns:m="http://schemas.openxmlformats.org/officeDocument/2006/math">
                    <m:r>
                      <a:rPr lang="en-IN" sz="2400" i="1">
                        <a:solidFill>
                          <a:srgbClr val="111827"/>
                        </a:solidFill>
                        <a:latin typeface="Cambria Math" panose="02040503050406030204" pitchFamily="18" charset="0"/>
                      </a:rPr>
                      <m:t>144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is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their reverses):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integers be </a:t>
                </a:r>
                <a:r>
                  <a:rPr lang="en-IN" sz="2400">
                    <a:solidFill>
                      <a:srgbClr val="111827"/>
                    </a:solidFill>
                    <a:latin typeface="Cambria Math" panose="02040503050406030204" pitchFamily="18" charset="0"/>
                  </a:rPr>
                  <a:t>$a,b$</a:t>
                </a:r>
                <a:r>
                  <a:rPr sz="2400" b="0">
                    <a:solidFill>
                      <a:srgbClr val="111827"/>
                    </a:solidFill>
                    <a:latin typeface="Arial"/>
                  </a:rPr>
                  <a:t> with </a:t>
                </a:r>
                <a:r>
                  <a:rPr lang="en-IN" sz="2400">
                    <a:solidFill>
                      <a:srgbClr val="111827"/>
                    </a:solidFill>
                    <a:latin typeface="Cambria Math" panose="02040503050406030204" pitchFamily="18" charset="0"/>
                  </a:rPr>
                  <a:t>$a+b=24$</a:t>
                </a:r>
                <a:r>
                  <a:rPr sz="2400" b="0">
                    <a:solidFill>
                      <a:srgbClr val="111827"/>
                    </a:solidFill>
                    <a:latin typeface="Arial"/>
                  </a:rPr>
                  <a:t>; the ordered pairs </a:t>
                </a:r>
                <a:r>
                  <a:rPr lang="en-IN" sz="2400">
                    <a:solidFill>
                      <a:srgbClr val="111827"/>
                    </a:solidFill>
                    <a:latin typeface="Cambria Math" panose="02040503050406030204" pitchFamily="18" charset="0"/>
                  </a:rPr>
                  <a:t>$(a,b)$</a:t>
                </a:r>
                <a:r>
                  <a:rPr sz="2400" b="0">
                    <a:solidFill>
                      <a:srgbClr val="111827"/>
                    </a:solidFill>
                    <a:latin typeface="Arial"/>
                  </a:rPr>
                  <a:t> are </a:t>
                </a:r>
                <a:r>
                  <a:rPr lang="en-IN" sz="2400">
                    <a:solidFill>
                      <a:srgbClr val="111827"/>
                    </a:solidFill>
                    <a:latin typeface="Cambria Math" panose="02040503050406030204" pitchFamily="18" charset="0"/>
                  </a:rPr>
                  <a:t>$23$</a:t>
                </a:r>
                <a:r>
                  <a:rPr sz="2400" b="0">
                    <a:solidFill>
                      <a:srgbClr val="111827"/>
                    </a:solidFill>
                    <a:latin typeface="Arial"/>
                  </a:rPr>
                  <a:t> in number (</a:t>
                </a:r>
                <a:r>
                  <a:rPr lang="en-IN" sz="2400">
                    <a:solidFill>
                      <a:srgbClr val="111827"/>
                    </a:solidFill>
                    <a:latin typeface="Cambria Math" panose="02040503050406030204" pitchFamily="18" charset="0"/>
                  </a:rPr>
                  <a:t>$a=1,\dots,23$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AM-GM, </a:t>
                </a:r>
                <a:r>
                  <a:rPr lang="en-IN" sz="2400">
                    <a:solidFill>
                      <a:srgbClr val="111827"/>
                    </a:solidFill>
                    <a:latin typeface="Cambria Math" panose="02040503050406030204" pitchFamily="18" charset="0"/>
                  </a:rPr>
                  <a:t>$\frac{a+b}{2}\ge\sqrt{ab}$</a:t>
                </a:r>
                <a:r>
                  <a:rPr sz="2400" b="0">
                    <a:solidFill>
                      <a:srgbClr val="111827"/>
                    </a:solidFill>
                    <a:latin typeface="Arial"/>
                  </a:rPr>
                  <a:t>, so </a:t>
                </a:r>
                <a:r>
                  <a:rPr lang="en-IN" sz="2400">
                    <a:solidFill>
                      <a:srgbClr val="111827"/>
                    </a:solidFill>
                    <a:latin typeface="Cambria Math" panose="02040503050406030204" pitchFamily="18" charset="0"/>
                  </a:rPr>
                  <a:t>$ab\le12^2=144$</a:t>
                </a:r>
                <a:r>
                  <a:rPr sz="2400" b="0">
                    <a:solidFill>
                      <a:srgbClr val="111827"/>
                    </a:solidFill>
                    <a:latin typeface="Arial"/>
                  </a:rPr>
                  <a:t>: the greatest possible product is </a:t>
                </a:r>
                <a:r>
                  <a:rPr lang="en-IN" sz="2400">
                    <a:solidFill>
                      <a:srgbClr val="111827"/>
                    </a:solidFill>
                    <a:latin typeface="Cambria Math" panose="02040503050406030204" pitchFamily="18" charset="0"/>
                  </a:rPr>
                  <a:t>$144$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is </a:t>
                </a:r>
                <a:r>
                  <a:rPr lang="en-IN" sz="2400">
                    <a:solidFill>
                      <a:srgbClr val="111827"/>
                    </a:solidFill>
                    <a:latin typeface="Cambria Math" panose="02040503050406030204" pitchFamily="18" charset="0"/>
                  </a:rPr>
                  <a:t>$ab\ge\frac34\times144=108$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pairs </a:t>
                </a:r>
                <a:r>
                  <a:rPr lang="en-IN" sz="2400">
                    <a:solidFill>
                      <a:srgbClr val="111827"/>
                    </a:solidFill>
                    <a:latin typeface="Cambria Math" panose="02040503050406030204" pitchFamily="18" charset="0"/>
                  </a:rPr>
                  <a:t>$(a,b)$</a:t>
                </a:r>
                <a:r>
                  <a:rPr sz="2400" b="0">
                    <a:solidFill>
                      <a:srgbClr val="111827"/>
                    </a:solidFill>
                    <a:latin typeface="Arial"/>
                  </a:rPr>
                  <a:t> (with their reverses): </a:t>
                </a:r>
                <a:r>
                  <a:rPr lang="en-IN" sz="2400">
                    <a:solidFill>
                      <a:srgbClr val="111827"/>
                    </a:solidFill>
                    <a:latin typeface="Cambria Math" panose="02040503050406030204" pitchFamily="18" charset="0"/>
                  </a:rPr>
                  <a:t>$(18,6),(17,7),(16,8),(15,9),(14,10),(13,11)$</a:t>
                </a:r>
                <a:r>
                  <a:rPr sz="2400" b="0">
                    <a:solidFill>
                      <a:srgbClr val="111827"/>
                    </a:solidFill>
                    <a:latin typeface="Arial"/>
                  </a:rPr>
                  <a:t> and </a:t>
                </a:r>
                <a:r>
                  <a:rPr lang="en-IN" sz="2400">
                    <a:solidFill>
                      <a:srgbClr val="111827"/>
                    </a:solidFill>
                    <a:latin typeface="Cambria Math" panose="02040503050406030204" pitchFamily="18" charset="0"/>
                  </a:rPr>
                  <a:t>$(12,12)$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each give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ordered pairs (two orders), plus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once: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favourable.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pairs </a:t>
                </a:r>
                <a:r>
                  <a:rPr lang="en-IN" sz="2400">
                    <a:solidFill>
                      <a:srgbClr val="111827"/>
                    </a:solidFill>
                    <a:latin typeface="Cambria Math" panose="02040503050406030204" pitchFamily="18" charset="0"/>
                  </a:rPr>
                  <a:t>$(18,6),\dots,(13,11)$</a:t>
                </a:r>
                <a:r>
                  <a:rPr sz="2400" b="0">
                    <a:solidFill>
                      <a:srgbClr val="111827"/>
                    </a:solidFill>
                    <a:latin typeface="Arial"/>
                  </a:rPr>
                  <a:t> each give </a:t>
                </a:r>
                <a:r>
                  <a:rPr lang="en-IN" sz="2400">
                    <a:solidFill>
                      <a:srgbClr val="111827"/>
                    </a:solidFill>
                    <a:latin typeface="Cambria Math" panose="02040503050406030204" pitchFamily="18" charset="0"/>
                  </a:rPr>
                  <a:t>$2$</a:t>
                </a:r>
                <a:r>
                  <a:rPr sz="2400" b="0">
                    <a:solidFill>
                      <a:srgbClr val="111827"/>
                    </a:solidFill>
                    <a:latin typeface="Arial"/>
                  </a:rPr>
                  <a:t> ordered pairs (two orders), plus </a:t>
                </a:r>
                <a:r>
                  <a:rPr lang="en-IN" sz="2400">
                    <a:solidFill>
                      <a:srgbClr val="111827"/>
                    </a:solidFill>
                    <a:latin typeface="Cambria Math" panose="02040503050406030204" pitchFamily="18" charset="0"/>
                  </a:rPr>
                  <a:t>$(12,12)$</a:t>
                </a:r>
                <a:r>
                  <a:rPr sz="2400" b="0">
                    <a:solidFill>
                      <a:srgbClr val="111827"/>
                    </a:solidFill>
                    <a:latin typeface="Arial"/>
                  </a:rPr>
                  <a:t> once: </a:t>
                </a:r>
                <a:r>
                  <a:rPr lang="en-IN" sz="2400">
                    <a:solidFill>
                      <a:srgbClr val="111827"/>
                    </a:solidFill>
                    <a:latin typeface="Cambria Math" panose="02040503050406030204" pitchFamily="18" charset="0"/>
                  </a:rPr>
                  <a:t>$6\times2+1=13$</a:t>
                </a:r>
                <a:r>
                  <a:rPr sz="2400" b="0">
                    <a:solidFill>
                      <a:srgbClr val="111827"/>
                    </a:solidFill>
                    <a:latin typeface="Arial"/>
                  </a:rPr>
                  <a:t> favourable.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$=\frac{13}{23}=\frac mn$</a:t>
                </a:r>
                <a:r>
                  <a:rPr sz="2400" b="0">
                    <a:solidFill>
                      <a:srgbClr val="111827"/>
                    </a:solidFill>
                    <a:latin typeface="Arial"/>
                  </a:rPr>
                  <a:t>, so </a:t>
                </a:r>
                <a:r>
                  <a:rPr lang="en-IN" sz="2400">
                    <a:solidFill>
                      <a:srgbClr val="111827"/>
                    </a:solidFill>
                    <a:latin typeface="Cambria Math" panose="02040503050406030204" pitchFamily="18" charset="0"/>
                  </a:rPr>
                  <a:t>$m=13$</a:t>
                </a:r>
                <a:r>
                  <a:rPr sz="2400" b="0">
                    <a:solidFill>
                      <a:srgbClr val="111827"/>
                    </a:solidFill>
                    <a:latin typeface="Arial"/>
                  </a:rPr>
                  <a:t> and </a:t>
                </a:r>
                <a:r>
                  <a:rPr lang="en-IN" sz="2400">
                    <a:solidFill>
                      <a:srgbClr val="111827"/>
                    </a:solidFill>
                    <a:latin typeface="Cambria Math" panose="02040503050406030204" pitchFamily="18" charset="0"/>
                  </a:rPr>
                  <a:t>$n=23$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$n-m=23-13=10$</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10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$10$</a:t>
                </a:r>
                <a:endParaRPr sz="2800">
                  <a:solidFill>
                    <a:srgbClr val="15803D"/>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oMath>
                </a14:m>
                <a:r>
                  <a:rPr sz="2400" b="0">
                    <a:solidFill>
                      <a:srgbClr val="78350F"/>
                    </a:solidFill>
                    <a:latin typeface="Arial"/>
                  </a:rPr>
                  <a:t> so that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144</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$a=12+t$</a:t>
                </a:r>
                <a:r>
                  <a:rPr sz="2400" b="0">
                    <a:solidFill>
                      <a:srgbClr val="78350F"/>
                    </a:solidFill>
                    <a:latin typeface="Arial"/>
                  </a:rPr>
                  <a:t>, </a:t>
                </a:r>
                <a:r>
                  <a:rPr lang="en-IN" sz="2400">
                    <a:solidFill>
                      <a:srgbClr val="78350F"/>
                    </a:solidFill>
                    <a:latin typeface="Cambria Math" panose="02040503050406030204" pitchFamily="18" charset="0"/>
                  </a:rPr>
                  <a:t>$b=12-t$</a:t>
                </a:r>
                <a:r>
                  <a:rPr sz="2400" b="0">
                    <a:solidFill>
                      <a:srgbClr val="78350F"/>
                    </a:solidFill>
                    <a:latin typeface="Arial"/>
                  </a:rPr>
                  <a:t> so that </a:t>
                </a:r>
                <a:r>
                  <a:rPr lang="en-IN" sz="2400">
                    <a:solidFill>
                      <a:srgbClr val="78350F"/>
                    </a:solidFill>
                    <a:latin typeface="Cambria Math" panose="02040503050406030204" pitchFamily="18" charset="0"/>
                  </a:rPr>
                  <a:t>$ab=144-t^2$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is an integer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 values).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whose maximum is </a:t>
                </a:r>
                <a14:m>
                  <m:oMath xmlns:m="http://schemas.openxmlformats.org/officeDocument/2006/math">
                    <m:r>
                      <a:rPr lang="en-IN" sz="2400" i="1">
                        <a:solidFill>
                          <a:srgbClr val="111827"/>
                        </a:solidFill>
                        <a:latin typeface="Cambria Math" panose="02040503050406030204" pitchFamily="18" charset="0"/>
                      </a:rPr>
                      <m:t>144</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integers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number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so the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$a+b=24$</a:t>
                </a:r>
                <a:r>
                  <a:rPr sz="2400" b="0">
                    <a:solidFill>
                      <a:srgbClr val="111827"/>
                    </a:solidFill>
                    <a:latin typeface="Arial"/>
                  </a:rPr>
                  <a:t> put </a:t>
                </a:r>
                <a:r>
                  <a:rPr lang="en-IN" sz="2400">
                    <a:solidFill>
                      <a:srgbClr val="111827"/>
                    </a:solidFill>
                    <a:latin typeface="Cambria Math" panose="02040503050406030204" pitchFamily="18" charset="0"/>
                  </a:rPr>
                  <a:t>$a=12+t$</a:t>
                </a:r>
                <a:r>
                  <a:rPr sz="2400" b="0">
                    <a:solidFill>
                      <a:srgbClr val="111827"/>
                    </a:solidFill>
                    <a:latin typeface="Arial"/>
                  </a:rPr>
                  <a:t> and </a:t>
                </a:r>
                <a:r>
                  <a:rPr lang="en-IN" sz="2400">
                    <a:solidFill>
                      <a:srgbClr val="111827"/>
                    </a:solidFill>
                    <a:latin typeface="Cambria Math" panose="02040503050406030204" pitchFamily="18" charset="0"/>
                  </a:rPr>
                  <a:t>$b=12-t$</a:t>
                </a:r>
                <a:r>
                  <a:rPr sz="2400" b="0">
                    <a:solidFill>
                      <a:srgbClr val="111827"/>
                    </a:solidFill>
                    <a:latin typeface="Arial"/>
                  </a:rPr>
                  <a:t>, where </a:t>
                </a:r>
                <a:r>
                  <a:rPr lang="en-IN" sz="2400">
                    <a:solidFill>
                      <a:srgbClr val="111827"/>
                    </a:solidFill>
                    <a:latin typeface="Cambria Math" panose="02040503050406030204" pitchFamily="18" charset="0"/>
                  </a:rPr>
                  <a:t>$t$</a:t>
                </a:r>
                <a:r>
                  <a:rPr sz="2400" b="0">
                    <a:solidFill>
                      <a:srgbClr val="111827"/>
                    </a:solidFill>
                    <a:latin typeface="Arial"/>
                  </a:rPr>
                  <a:t> is an integer and </a:t>
                </a:r>
                <a:r>
                  <a:rPr lang="en-IN" sz="2400">
                    <a:solidFill>
                      <a:srgbClr val="111827"/>
                    </a:solidFill>
                    <a:latin typeface="Cambria Math" panose="02040503050406030204" pitchFamily="18" charset="0"/>
                  </a:rPr>
                  <a:t>$-11\le t\le11$</a:t>
                </a:r>
                <a:r>
                  <a:rPr sz="2400" b="0">
                    <a:solidFill>
                      <a:srgbClr val="111827"/>
                    </a:solidFill>
                    <a:latin typeface="Arial"/>
                  </a:rPr>
                  <a:t> (</a:t>
                </a:r>
                <a:r>
                  <a:rPr lang="en-IN" sz="2400">
                    <a:solidFill>
                      <a:srgbClr val="111827"/>
                    </a:solidFill>
                    <a:latin typeface="Cambria Math" panose="02040503050406030204" pitchFamily="18" charset="0"/>
                  </a:rPr>
                  <a:t>$23$</a:t>
                </a:r>
                <a:r>
                  <a:rPr sz="2400" b="0">
                    <a:solidFill>
                      <a:srgbClr val="111827"/>
                    </a:solidFill>
                    <a:latin typeface="Arial"/>
                  </a:rPr>
                  <a:t> values).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$ab=144-t^2$</a:t>
                </a:r>
                <a:r>
                  <a:rPr sz="2400" b="0">
                    <a:solidFill>
                      <a:srgbClr val="111827"/>
                    </a:solidFill>
                    <a:latin typeface="Arial"/>
                  </a:rPr>
                  <a:t>, whose maximum is </a:t>
                </a:r>
                <a:r>
                  <a:rPr lang="en-IN" sz="2400">
                    <a:solidFill>
                      <a:srgbClr val="111827"/>
                    </a:solidFill>
                    <a:latin typeface="Cambria Math" panose="02040503050406030204" pitchFamily="18" charset="0"/>
                  </a:rPr>
                  <a:t>$144$</a:t>
                </a:r>
                <a:r>
                  <a:rPr sz="2400" b="0">
                    <a:solidFill>
                      <a:srgbClr val="111827"/>
                    </a:solidFill>
                    <a:latin typeface="Arial"/>
                  </a:rPr>
                  <a:t> at </a:t>
                </a:r>
                <a:r>
                  <a:rPr lang="en-IN" sz="2400">
                    <a:solidFill>
                      <a:srgbClr val="111827"/>
                    </a:solidFill>
                    <a:latin typeface="Cambria Math" panose="02040503050406030204" pitchFamily="18" charset="0"/>
                  </a:rPr>
                  <a:t>$t=0$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$ab\ge108\iff t^2\le36\iff |t|\le6$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integers </a:t>
                </a:r>
                <a:r>
                  <a:rPr lang="en-IN" sz="2400">
                    <a:solidFill>
                      <a:srgbClr val="111827"/>
                    </a:solidFill>
                    <a:latin typeface="Cambria Math" panose="02040503050406030204" pitchFamily="18" charset="0"/>
                  </a:rPr>
                  <a:t>$t=-6,\dots,6$</a:t>
                </a:r>
                <a:r>
                  <a:rPr sz="2400" b="0">
                    <a:solidFill>
                      <a:srgbClr val="111827"/>
                    </a:solidFill>
                    <a:latin typeface="Arial"/>
                  </a:rPr>
                  <a:t> number </a:t>
                </a:r>
                <a:r>
                  <a:rPr lang="en-IN" sz="2400">
                    <a:solidFill>
                      <a:srgbClr val="111827"/>
                    </a:solidFill>
                    <a:latin typeface="Cambria Math" panose="02040503050406030204" pitchFamily="18" charset="0"/>
                  </a:rPr>
                  <a:t>$13$</a:t>
                </a:r>
                <a:r>
                  <a:rPr sz="2400" b="0">
                    <a:solidFill>
                      <a:srgbClr val="111827"/>
                    </a:solidFill>
                    <a:latin typeface="Arial"/>
                  </a:rPr>
                  <a:t>, so the probability is </a:t>
                </a:r>
                <a:r>
                  <a:rPr lang="en-IN" sz="2400">
                    <a:solidFill>
                      <a:srgbClr val="111827"/>
                    </a:solidFill>
                    <a:latin typeface="Cambria Math" panose="02040503050406030204" pitchFamily="18" charset="0"/>
                  </a:rPr>
                  <a:t>$\frac{13}{23}$</a:t>
                </a:r>
                <a:r>
                  <a:rPr sz="2400" b="0">
                    <a:solidFill>
                      <a:srgbClr val="111827"/>
                    </a:solidFill>
                    <a:latin typeface="Arial"/>
                  </a:rPr>
                  <a:t> and </a:t>
                </a:r>
                <a:r>
                  <a:rPr lang="en-IN" sz="2400">
                    <a:solidFill>
                      <a:srgbClr val="111827"/>
                    </a:solidFill>
                    <a:latin typeface="Cambria Math" panose="02040503050406030204" pitchFamily="18" charset="0"/>
                  </a:rPr>
                  <a:t>$n-m=10$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10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$10$</a:t>
                </a:r>
                <a:endParaRPr sz="2800">
                  <a:solidFill>
                    <a:srgbClr val="15803D"/>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fixed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write the numbers 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the product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 quick way to turn a product condition into a condition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boundary: the problem says 'not less than', so the product exactly </a:t>
                </a:r>
                <a14:m>
                  <m:oMath xmlns:m="http://schemas.openxmlformats.org/officeDocument/2006/math">
                    <m:r>
                      <a:rPr lang="en-IN" sz="2400" i="1">
                        <a:solidFill>
                          <a:srgbClr val="111827"/>
                        </a:solidFill>
                        <a:latin typeface="Cambria Math" panose="02040503050406030204" pitchFamily="18" charset="0"/>
                      </a:rPr>
                      <m:t>108</m:t>
                    </m:r>
                  </m:oMath>
                </a14:m>
                <a:r>
                  <a:rPr sz="2400" b="0">
                    <a:solidFill>
                      <a:srgbClr val="111827"/>
                    </a:solidFill>
                    <a:latin typeface="Arial"/>
                  </a:rPr>
                  <a:t> (the pair </a:t>
                </a:r>
                <a14:m>
                  <m:oMath xmlns:m="http://schemas.openxmlformats.org/officeDocument/2006/math">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is included.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Positive integers with sum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ordered pairs are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 unordered pairs are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 match the reading of the question.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fixed sum </a:t>
                </a:r>
                <a:r>
                  <a:rPr lang="en-IN" sz="2400">
                    <a:solidFill>
                      <a:srgbClr val="111827"/>
                    </a:solidFill>
                    <a:latin typeface="Cambria Math" panose="02040503050406030204" pitchFamily="18" charset="0"/>
                  </a:rPr>
                  <a:t>$s$</a:t>
                </a:r>
                <a:r>
                  <a:rPr sz="2400" b="0">
                    <a:solidFill>
                      <a:srgbClr val="111827"/>
                    </a:solidFill>
                    <a:latin typeface="Arial"/>
                  </a:rPr>
                  <a:t>, write the numbers as </a:t>
                </a:r>
                <a:r>
                  <a:rPr lang="en-IN" sz="2400">
                    <a:solidFill>
                      <a:srgbClr val="111827"/>
                    </a:solidFill>
                    <a:latin typeface="Cambria Math" panose="02040503050406030204" pitchFamily="18" charset="0"/>
                  </a:rPr>
                  <a:t>$\frac s2\pm t$</a:t>
                </a:r>
                <a:r>
                  <a:rPr sz="2400" b="0">
                    <a:solidFill>
                      <a:srgbClr val="111827"/>
                    </a:solidFill>
                    <a:latin typeface="Arial"/>
                  </a:rPr>
                  <a:t>: the product is </a:t>
                </a:r>
                <a:r>
                  <a:rPr lang="en-IN" sz="2400">
                    <a:solidFill>
                      <a:srgbClr val="111827"/>
                    </a:solidFill>
                    <a:latin typeface="Cambria Math" panose="02040503050406030204" pitchFamily="18" charset="0"/>
                  </a:rPr>
                  <a:t>$\frac{s^2}{4}-t^2$</a:t>
                </a:r>
                <a:r>
                  <a:rPr sz="2400" b="0">
                    <a:solidFill>
                      <a:srgbClr val="111827"/>
                    </a:solidFill>
                    <a:latin typeface="Arial"/>
                  </a:rPr>
                  <a:t>, a quick way to turn a product condition into a condition on </a:t>
                </a:r>
                <a:r>
                  <a:rPr lang="en-IN" sz="2400">
                    <a:solidFill>
                      <a:srgbClr val="111827"/>
                    </a:solidFill>
                    <a:latin typeface="Cambria Math" panose="02040503050406030204" pitchFamily="18" charset="0"/>
                  </a:rPr>
                  <a: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boundary: the problem says 'not less than', so the product exactly </a:t>
                </a:r>
                <a:r>
                  <a:rPr lang="en-IN" sz="2400">
                    <a:solidFill>
                      <a:srgbClr val="111827"/>
                    </a:solidFill>
                    <a:latin typeface="Cambria Math" panose="02040503050406030204" pitchFamily="18" charset="0"/>
                  </a:rPr>
                  <a:t>$108$</a:t>
                </a:r>
                <a:r>
                  <a:rPr sz="2400" b="0">
                    <a:solidFill>
                      <a:srgbClr val="111827"/>
                    </a:solidFill>
                    <a:latin typeface="Arial"/>
                  </a:rPr>
                  <a:t> (the pair </a:t>
                </a:r>
                <a:r>
                  <a:rPr lang="en-IN" sz="2400">
                    <a:solidFill>
                      <a:srgbClr val="111827"/>
                    </a:solidFill>
                    <a:latin typeface="Cambria Math" panose="02040503050406030204" pitchFamily="18" charset="0"/>
                  </a:rPr>
                  <a:t>$18,6$</a:t>
                </a:r>
                <a:r>
                  <a:rPr sz="2400" b="0">
                    <a:solidFill>
                      <a:srgbClr val="111827"/>
                    </a:solidFill>
                    <a:latin typeface="Arial"/>
                  </a:rPr>
                  <a:t>) is included.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Positive integers with sum </a:t>
                </a:r>
                <a:r>
                  <a:rPr lang="en-IN" sz="2400">
                    <a:solidFill>
                      <a:srgbClr val="111827"/>
                    </a:solidFill>
                    <a:latin typeface="Cambria Math" panose="02040503050406030204" pitchFamily="18" charset="0"/>
                  </a:rPr>
                  <a:t>$24$</a:t>
                </a:r>
                <a:r>
                  <a:rPr sz="2400" b="0">
                    <a:solidFill>
                      <a:srgbClr val="111827"/>
                    </a:solidFill>
                    <a:latin typeface="Arial"/>
                  </a:rPr>
                  <a:t>: ordered pairs are </a:t>
                </a:r>
                <a:r>
                  <a:rPr lang="en-IN" sz="2400">
                    <a:solidFill>
                      <a:srgbClr val="111827"/>
                    </a:solidFill>
                    <a:latin typeface="Cambria Math" panose="02040503050406030204" pitchFamily="18" charset="0"/>
                  </a:rPr>
                  <a:t>$23$</a:t>
                </a:r>
                <a:r>
                  <a:rPr sz="2400" b="0">
                    <a:solidFill>
                      <a:srgbClr val="111827"/>
                    </a:solidFill>
                    <a:latin typeface="Arial"/>
                  </a:rPr>
                  <a:t>; unordered pairs are </a:t>
                </a:r>
                <a:r>
                  <a:rPr lang="en-IN" sz="2400">
                    <a:solidFill>
                      <a:srgbClr val="111827"/>
                    </a:solidFill>
                    <a:latin typeface="Cambria Math" panose="02040503050406030204" pitchFamily="18" charset="0"/>
                  </a:rPr>
                  <a:t>$12$</a:t>
                </a:r>
                <a:r>
                  <a:rPr sz="2400" b="0">
                    <a:solidFill>
                      <a:srgbClr val="111827"/>
                    </a:solidFill>
                    <a:latin typeface="Arial"/>
                  </a:rPr>
                  <a:t> - match the reading of the question.</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2969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There are three bags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 Bag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one-rupee coins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five-rupee coins; Bag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one-rupee coins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five-rupee coins and Bag </a:t>
                </a:r>
                <a14:m>
                  <m:oMath xmlns:m="http://schemas.openxmlformats.org/officeDocument/2006/math">
                    <m:r>
                      <a:rPr lang="en-IN" sz="2400" i="1">
                        <a:solidFill>
                          <a:srgbClr val="111827"/>
                        </a:solidFill>
                        <a:latin typeface="Cambria Math" panose="02040503050406030204" pitchFamily="18" charset="0"/>
                      </a:rPr>
                      <m:t>𝑍</m:t>
                    </m:r>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one-rupee coins and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five-rupee coins. A bag is selected at random and a coin drawn from it at random is found to be a one-rupee coin. Then the probability that it came from bag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m:t>
                        </m:r>
                      </m:den>
                    </m:f>
                  </m:oMath>
                </a14:m>
                <a:endParaRPr sz="2400">
                  <a:solidFill>
                    <a:srgbClr val="111827"/>
                  </a:solidFill>
                </a:endParaRPr>
              </a:p>
            </p:txBody>
          </p:sp>
        </mc:Choice>
        <mc:Fallback>
          <p:sp>
            <p:nvSpPr>
              <p:cNvPr id="4" name="Rounded Rectangle 3"/>
              <p:cNvSpPr/>
              <p:nvPr/>
            </p:nvSpPr>
            <p:spPr>
              <a:xfrm>
                <a:off x="731520" y="1280160"/>
                <a:ext cx="10725912" cy="32969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There are three bags </a:t>
                </a:r>
                <a:r>
                  <a:rPr lang="en-IN" sz="2400">
                    <a:solidFill>
                      <a:srgbClr val="111827"/>
                    </a:solidFill>
                    <a:latin typeface="Cambria Math" panose="02040503050406030204" pitchFamily="18" charset="0"/>
                  </a:rPr>
                  <a:t>$X,Y,Z$</a:t>
                </a:r>
                <a:r>
                  <a:rPr sz="2400" b="0">
                    <a:solidFill>
                      <a:srgbClr val="111827"/>
                    </a:solidFill>
                    <a:latin typeface="Arial"/>
                  </a:rPr>
                  <a:t>. Bag </a:t>
                </a:r>
                <a:r>
                  <a:rPr lang="en-IN" sz="2400">
                    <a:solidFill>
                      <a:srgbClr val="111827"/>
                    </a:solidFill>
                    <a:latin typeface="Cambria Math" panose="02040503050406030204" pitchFamily="18" charset="0"/>
                  </a:rPr>
                  <a:t>$X$</a:t>
                </a:r>
                <a:r>
                  <a:rPr sz="2400" b="0">
                    <a:solidFill>
                      <a:srgbClr val="111827"/>
                    </a:solidFill>
                    <a:latin typeface="Arial"/>
                  </a:rPr>
                  <a:t> contains </a:t>
                </a:r>
                <a:r>
                  <a:rPr lang="en-IN" sz="2400">
                    <a:solidFill>
                      <a:srgbClr val="111827"/>
                    </a:solidFill>
                    <a:latin typeface="Cambria Math" panose="02040503050406030204" pitchFamily="18" charset="0"/>
                  </a:rPr>
                  <a:t>$5$</a:t>
                </a:r>
                <a:r>
                  <a:rPr sz="2400" b="0">
                    <a:solidFill>
                      <a:srgbClr val="111827"/>
                    </a:solidFill>
                    <a:latin typeface="Arial"/>
                  </a:rPr>
                  <a:t> one-rupee coins and </a:t>
                </a:r>
                <a:r>
                  <a:rPr lang="en-IN" sz="2400">
                    <a:solidFill>
                      <a:srgbClr val="111827"/>
                    </a:solidFill>
                    <a:latin typeface="Cambria Math" panose="02040503050406030204" pitchFamily="18" charset="0"/>
                  </a:rPr>
                  <a:t>$4$</a:t>
                </a:r>
                <a:r>
                  <a:rPr sz="2400" b="0">
                    <a:solidFill>
                      <a:srgbClr val="111827"/>
                    </a:solidFill>
                    <a:latin typeface="Arial"/>
                  </a:rPr>
                  <a:t> five-rupee coins; Bag </a:t>
                </a:r>
                <a:r>
                  <a:rPr lang="en-IN" sz="2400">
                    <a:solidFill>
                      <a:srgbClr val="111827"/>
                    </a:solidFill>
                    <a:latin typeface="Cambria Math" panose="02040503050406030204" pitchFamily="18" charset="0"/>
                  </a:rPr>
                  <a:t>$Y$</a:t>
                </a:r>
                <a:r>
                  <a:rPr sz="2400" b="0">
                    <a:solidFill>
                      <a:srgbClr val="111827"/>
                    </a:solidFill>
                    <a:latin typeface="Arial"/>
                  </a:rPr>
                  <a:t> contains </a:t>
                </a:r>
                <a:r>
                  <a:rPr lang="en-IN" sz="2400">
                    <a:solidFill>
                      <a:srgbClr val="111827"/>
                    </a:solidFill>
                    <a:latin typeface="Cambria Math" panose="02040503050406030204" pitchFamily="18" charset="0"/>
                  </a:rPr>
                  <a:t>$4$</a:t>
                </a:r>
                <a:r>
                  <a:rPr sz="2400" b="0">
                    <a:solidFill>
                      <a:srgbClr val="111827"/>
                    </a:solidFill>
                    <a:latin typeface="Arial"/>
                  </a:rPr>
                  <a:t> one-rupee coins and </a:t>
                </a:r>
                <a:r>
                  <a:rPr lang="en-IN" sz="2400">
                    <a:solidFill>
                      <a:srgbClr val="111827"/>
                    </a:solidFill>
                    <a:latin typeface="Cambria Math" panose="02040503050406030204" pitchFamily="18" charset="0"/>
                  </a:rPr>
                  <a:t>$5$</a:t>
                </a:r>
                <a:r>
                  <a:rPr sz="2400" b="0">
                    <a:solidFill>
                      <a:srgbClr val="111827"/>
                    </a:solidFill>
                    <a:latin typeface="Arial"/>
                  </a:rPr>
                  <a:t> five-rupee coins and Bag </a:t>
                </a:r>
                <a:r>
                  <a:rPr lang="en-IN" sz="2400">
                    <a:solidFill>
                      <a:srgbClr val="111827"/>
                    </a:solidFill>
                    <a:latin typeface="Cambria Math" panose="02040503050406030204" pitchFamily="18" charset="0"/>
                  </a:rPr>
                  <a:t>$Z$</a:t>
                </a:r>
                <a:r>
                  <a:rPr sz="2400" b="0">
                    <a:solidFill>
                      <a:srgbClr val="111827"/>
                    </a:solidFill>
                    <a:latin typeface="Arial"/>
                  </a:rPr>
                  <a:t> contains </a:t>
                </a:r>
                <a:r>
                  <a:rPr lang="en-IN" sz="2400">
                    <a:solidFill>
                      <a:srgbClr val="111827"/>
                    </a:solidFill>
                    <a:latin typeface="Cambria Math" panose="02040503050406030204" pitchFamily="18" charset="0"/>
                  </a:rPr>
                  <a:t>$3$</a:t>
                </a:r>
                <a:r>
                  <a:rPr sz="2400" b="0">
                    <a:solidFill>
                      <a:srgbClr val="111827"/>
                    </a:solidFill>
                    <a:latin typeface="Arial"/>
                  </a:rPr>
                  <a:t> one-rupee coins and </a:t>
                </a:r>
                <a:r>
                  <a:rPr lang="en-IN" sz="2400">
                    <a:solidFill>
                      <a:srgbClr val="111827"/>
                    </a:solidFill>
                    <a:latin typeface="Cambria Math" panose="02040503050406030204" pitchFamily="18" charset="0"/>
                  </a:rPr>
                  <a:t>$6$</a:t>
                </a:r>
                <a:r>
                  <a:rPr sz="2400" b="0">
                    <a:solidFill>
                      <a:srgbClr val="111827"/>
                    </a:solidFill>
                    <a:latin typeface="Arial"/>
                  </a:rPr>
                  <a:t> five-rupee coins. A bag is selected at random and a coin drawn from it at random is found to be a one-rupee coin. Then the probability that it came from bag </a:t>
                </a:r>
                <a:r>
                  <a:rPr lang="en-IN" sz="2400">
                    <a:solidFill>
                      <a:srgbClr val="111827"/>
                    </a:solidFill>
                    <a:latin typeface="Cambria Math" panose="02040503050406030204" pitchFamily="18" charset="0"/>
                  </a:rPr>
                  <a:t>$Y$</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$\frac12$</a:t>
                </a:r>
                <a:r>
                  <a:rPr sz="2400" b="0">
                    <a:solidFill>
                      <a:srgbClr val="111827"/>
                    </a:solidFill>
                    <a:latin typeface="Arial"/>
                  </a:rPr>
                  <a:t>   (B) </a:t>
                </a:r>
                <a:r>
                  <a:rPr lang="en-IN" sz="2400">
                    <a:solidFill>
                      <a:srgbClr val="111827"/>
                    </a:solidFill>
                    <a:latin typeface="Cambria Math" panose="02040503050406030204" pitchFamily="18" charset="0"/>
                  </a:rPr>
                  <a:t>$\frac14$</a:t>
                </a:r>
                <a:r>
                  <a:rPr sz="2400" b="0">
                    <a:solidFill>
                      <a:srgbClr val="111827"/>
                    </a:solidFill>
                    <a:latin typeface="Arial"/>
                  </a:rPr>
                  <a:t>   (C) </a:t>
                </a:r>
                <a:r>
                  <a:rPr lang="en-IN" sz="2400">
                    <a:solidFill>
                      <a:srgbClr val="111827"/>
                    </a:solidFill>
                    <a:latin typeface="Cambria Math" panose="02040503050406030204" pitchFamily="18" charset="0"/>
                  </a:rPr>
                  <a:t>$\frac13$</a:t>
                </a:r>
                <a:r>
                  <a:rPr sz="2400" b="0">
                    <a:solidFill>
                      <a:srgbClr val="111827"/>
                    </a:solidFill>
                    <a:latin typeface="Arial"/>
                  </a:rPr>
                  <a:t>   (D) </a:t>
                </a:r>
                <a:r>
                  <a:rPr lang="en-IN" sz="2400">
                    <a:solidFill>
                      <a:srgbClr val="111827"/>
                    </a:solidFill>
                    <a:latin typeface="Cambria Math" panose="02040503050406030204" pitchFamily="18" charset="0"/>
                  </a:rPr>
                  <a:t>$\frac{5}{12}$</a:t>
                </a:r>
                <a:endParaRPr sz="2400">
                  <a:solidFill>
                    <a:srgbClr val="111827"/>
                  </a:solidFill>
                </a:endParaRPr>
              </a:p>
            </p:txBody>
          </p:sp>
        </mc:Fallback>
      </mc:AlternateContent>
      <p:sp>
        <p:nvSpPr>
          <p:cNvPr id="5" name="Rectangle 4"/>
          <p:cNvSpPr/>
          <p:nvPr/>
        </p:nvSpPr>
        <p:spPr>
          <a:xfrm>
            <a:off x="731520" y="480567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Bayes'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priors and equal bag sizes cancel: the posterior is the share of one-rupee coins that lie in bag </a:t>
                </a:r>
                <a14:m>
                  <m:oMath xmlns:m="http://schemas.openxmlformats.org/officeDocument/2006/math">
                    <m:r>
                      <a:rPr lang="en-IN" sz="2400" i="1">
                        <a:solidFill>
                          <a:srgbClr val="78350F"/>
                        </a:solidFill>
                        <a:latin typeface="Cambria Math" panose="02040503050406030204" pitchFamily="18" charset="0"/>
                      </a:rPr>
                      <m:t>𝑌</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priors and equal bag sizes cancel: the posterior is the share of one-rupee coins that lie in bag </a:t>
                </a:r>
                <a:r>
                  <a:rPr lang="en-IN" sz="2400">
                    <a:solidFill>
                      <a:srgbClr val="78350F"/>
                    </a:solidFill>
                    <a:latin typeface="Cambria Math" panose="02040503050406030204" pitchFamily="18" charset="0"/>
                  </a:rPr>
                  <a:t>$Y$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bag is selected with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each bag has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coins.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Bayes' theorem,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𝑜𝑛𝑒-𝑟𝑢𝑝𝑒𝑒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9</m:t>
                            </m:r>
                          </m:den>
                        </m:f>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bag is selected with probability </a:t>
                </a:r>
                <a:r>
                  <a:rPr lang="en-IN" sz="2400">
                    <a:solidFill>
                      <a:srgbClr val="111827"/>
                    </a:solidFill>
                    <a:latin typeface="Cambria Math" panose="02040503050406030204" pitchFamily="18" charset="0"/>
                  </a:rPr>
                  <a:t>$\frac13$</a:t>
                </a:r>
                <a:r>
                  <a:rPr sz="2400" b="0">
                    <a:solidFill>
                      <a:srgbClr val="111827"/>
                    </a:solidFill>
                    <a:latin typeface="Arial"/>
                  </a:rPr>
                  <a:t>, and each bag has </a:t>
                </a:r>
                <a:r>
                  <a:rPr lang="en-IN" sz="2400">
                    <a:solidFill>
                      <a:srgbClr val="111827"/>
                    </a:solidFill>
                    <a:latin typeface="Cambria Math" panose="02040503050406030204" pitchFamily="18" charset="0"/>
                  </a:rPr>
                  <a:t>$9$</a:t>
                </a:r>
                <a:r>
                  <a:rPr sz="2400" b="0">
                    <a:solidFill>
                      <a:srgbClr val="111827"/>
                    </a:solidFill>
                    <a:latin typeface="Arial"/>
                  </a:rPr>
                  <a:t> coins.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Bayes' theorem, </a:t>
                </a:r>
                <a:r>
                  <a:rPr lang="en-IN" sz="2400">
                    <a:solidFill>
                      <a:srgbClr val="111827"/>
                    </a:solidFill>
                    <a:latin typeface="Cambria Math" panose="02040503050406030204" pitchFamily="18" charset="0"/>
                  </a:rPr>
                  <a:t>$P(Y\mid \text{one-rupee})=\frac{\frac13\cdot\frac49}{\frac13\cdot\frac59+\frac13\cdot\frac49+\frac13\cdot\frac39}$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9</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$=\frac{\frac49}{\frac59+\frac49+\frac39}=\frac{4}{5+4+3}=\frac{4}{12}$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$=\frac13$</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$\frac13$</a:t>
                </a:r>
                <a:endParaRPr sz="2800">
                  <a:solidFill>
                    <a:srgbClr val="15803D"/>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random bag followed by a random coin is the same as a random coin from all </a:t>
                </a:r>
                <a14:m>
                  <m:oMath xmlns:m="http://schemas.openxmlformats.org/officeDocument/2006/math">
                    <m:r>
                      <a:rPr lang="en-IN" sz="2400" i="1">
                        <a:solidFill>
                          <a:srgbClr val="78350F"/>
                        </a:solidFill>
                        <a:latin typeface="Cambria Math" panose="02040503050406030204" pitchFamily="18" charset="0"/>
                      </a:rPr>
                      <m:t>27</m:t>
                    </m:r>
                  </m:oMath>
                </a14:m>
                <a:r>
                  <a:rPr sz="2400" b="0">
                    <a:solidFill>
                      <a:srgbClr val="78350F"/>
                    </a:solidFill>
                    <a:latin typeface="Arial"/>
                  </a:rPr>
                  <a:t> coins.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random bag followed by a random coin is the same as a random coin from all </a:t>
                </a:r>
                <a:r>
                  <a:rPr lang="en-IN" sz="2400">
                    <a:solidFill>
                      <a:srgbClr val="78350F"/>
                    </a:solidFill>
                    <a:latin typeface="Cambria Math" panose="02040503050406030204" pitchFamily="18" charset="0"/>
                  </a:rPr>
                  <a:t>$27$</a:t>
                </a:r>
                <a:r>
                  <a:rPr sz="2400" b="0">
                    <a:solidFill>
                      <a:srgbClr val="78350F"/>
                    </a:solidFill>
                    <a:latin typeface="Arial"/>
                  </a:rPr>
                  <a:t> coins.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bags have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coins, so choosing a bag at random and then a coin is the same as choosing one of the </a:t>
                </a:r>
                <a14:m>
                  <m:oMath xmlns:m="http://schemas.openxmlformats.org/officeDocument/2006/math">
                    <m:r>
                      <a:rPr lang="en-IN" sz="2400" i="1">
                        <a:solidFill>
                          <a:srgbClr val="111827"/>
                        </a:solidFill>
                        <a:latin typeface="Cambria Math" panose="02040503050406030204" pitchFamily="18" charset="0"/>
                      </a:rPr>
                      <m:t>27</m:t>
                    </m:r>
                  </m:oMath>
                </a14:m>
                <a:r>
                  <a:rPr sz="2400" b="0">
                    <a:solidFill>
                      <a:srgbClr val="111827"/>
                    </a:solidFill>
                    <a:latin typeface="Arial"/>
                  </a:rPr>
                  <a:t> coins uniformly.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One-rupee coins in all: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of which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are in bag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 one-rupee coin, the probability it is from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bags have </a:t>
                </a:r>
                <a:r>
                  <a:rPr lang="en-IN" sz="2400">
                    <a:solidFill>
                      <a:srgbClr val="111827"/>
                    </a:solidFill>
                    <a:latin typeface="Cambria Math" panose="02040503050406030204" pitchFamily="18" charset="0"/>
                  </a:rPr>
                  <a:t>$9$</a:t>
                </a:r>
                <a:r>
                  <a:rPr sz="2400" b="0">
                    <a:solidFill>
                      <a:srgbClr val="111827"/>
                    </a:solidFill>
                    <a:latin typeface="Arial"/>
                  </a:rPr>
                  <a:t> coins, so choosing a bag at random and then a coin is the same as choosing one of the </a:t>
                </a:r>
                <a:r>
                  <a:rPr lang="en-IN" sz="2400">
                    <a:solidFill>
                      <a:srgbClr val="111827"/>
                    </a:solidFill>
                    <a:latin typeface="Cambria Math" panose="02040503050406030204" pitchFamily="18" charset="0"/>
                  </a:rPr>
                  <a:t>$27$</a:t>
                </a:r>
                <a:r>
                  <a:rPr sz="2400" b="0">
                    <a:solidFill>
                      <a:srgbClr val="111827"/>
                    </a:solidFill>
                    <a:latin typeface="Arial"/>
                  </a:rPr>
                  <a:t> coins uniformly.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One-rupee coins in all: </a:t>
                </a:r>
                <a:r>
                  <a:rPr lang="en-IN" sz="2400">
                    <a:solidFill>
                      <a:srgbClr val="111827"/>
                    </a:solidFill>
                    <a:latin typeface="Cambria Math" panose="02040503050406030204" pitchFamily="18" charset="0"/>
                  </a:rPr>
                  <a:t>$5+4+3=12$</a:t>
                </a:r>
                <a:r>
                  <a:rPr sz="2400" b="0">
                    <a:solidFill>
                      <a:srgbClr val="111827"/>
                    </a:solidFill>
                    <a:latin typeface="Arial"/>
                  </a:rPr>
                  <a:t>, of which </a:t>
                </a:r>
                <a:r>
                  <a:rPr lang="en-IN" sz="2400">
                    <a:solidFill>
                      <a:srgbClr val="111827"/>
                    </a:solidFill>
                    <a:latin typeface="Cambria Math" panose="02040503050406030204" pitchFamily="18" charset="0"/>
                  </a:rPr>
                  <a:t>$4$</a:t>
                </a:r>
                <a:r>
                  <a:rPr sz="2400" b="0">
                    <a:solidFill>
                      <a:srgbClr val="111827"/>
                    </a:solidFill>
                    <a:latin typeface="Arial"/>
                  </a:rPr>
                  <a:t> are in bag </a:t>
                </a:r>
                <a:r>
                  <a:rPr lang="en-IN" sz="2400">
                    <a:solidFill>
                      <a:srgbClr val="111827"/>
                    </a:solidFill>
                    <a:latin typeface="Cambria Math" panose="02040503050406030204" pitchFamily="18" charset="0"/>
                  </a:rPr>
                  <a: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 one-rupee coin, the probability it is from </a:t>
                </a:r>
                <a:r>
                  <a:rPr lang="en-IN" sz="2400">
                    <a:solidFill>
                      <a:srgbClr val="111827"/>
                    </a:solidFill>
                    <a:latin typeface="Cambria Math" panose="02040503050406030204" pitchFamily="18" charset="0"/>
                  </a:rPr>
                  <a:t>$Y$</a:t>
                </a:r>
                <a:r>
                  <a:rPr sz="2400" b="0">
                    <a:solidFill>
                      <a:srgbClr val="111827"/>
                    </a:solidFill>
                    <a:latin typeface="Arial"/>
                  </a:rPr>
                  <a:t> is </a:t>
                </a:r>
                <a:r>
                  <a:rPr lang="en-IN" sz="2400">
                    <a:solidFill>
                      <a:srgbClr val="111827"/>
                    </a:solidFill>
                    <a:latin typeface="Cambria Math" panose="02040503050406030204" pitchFamily="18" charset="0"/>
                  </a:rPr>
                  <a:t>$\frac{4}{12}=\frac13$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$\frac13$</a:t>
                </a:r>
                <a:endParaRPr sz="2800">
                  <a:solidFill>
                    <a:srgbClr val="15803D"/>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bags are equally likely and of equal size, the posterior of a bag is (favourable items in that bag)</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(favourable items in all bags).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bags have different sizes, include the factor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nor/>
                          </m:rPr>
                          <a:rPr lang="en-IN" sz="2400" i="1">
                            <a:solidFill>
                              <a:srgbClr val="111827"/>
                            </a:solidFill>
                            <a:latin typeface="Cambria Math" panose="02040503050406030204" pitchFamily="18" charset="0"/>
                          </a:rPr>
                          <m:t>𝑠𝑖𝑧𝑒</m:t>
                        </m:r>
                      </m:den>
                    </m:f>
                  </m:oMath>
                </a14:m>
                <a:r>
                  <a:rPr sz="2400" b="0">
                    <a:solidFill>
                      <a:srgbClr val="111827"/>
                    </a:solidFill>
                    <a:latin typeface="Arial"/>
                  </a:rPr>
                  <a:t> in each likelihood.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three posteriors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add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bags are equally likely and of equal size, the posterior of a bag is (favourable items in that bag)</a:t>
                </a:r>
                <a:r>
                  <a:rPr lang="en-IN" sz="2400">
                    <a:solidFill>
                      <a:srgbClr val="111827"/>
                    </a:solidFill>
                    <a:latin typeface="Cambria Math" panose="02040503050406030204" pitchFamily="18" charset="0"/>
                  </a:rPr>
                  <a:t>$/$</a:t>
                </a:r>
                <a:r>
                  <a:rPr sz="2400" b="0">
                    <a:solidFill>
                      <a:srgbClr val="111827"/>
                    </a:solidFill>
                    <a:latin typeface="Arial"/>
                  </a:rPr>
                  <a:t>(favourable items in all bags).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bags have different sizes, include the factor </a:t>
                </a:r>
                <a:r>
                  <a:rPr lang="en-IN" sz="2400">
                    <a:solidFill>
                      <a:srgbClr val="111827"/>
                    </a:solidFill>
                    <a:latin typeface="Cambria Math" panose="02040503050406030204" pitchFamily="18" charset="0"/>
                  </a:rPr>
                  <a:t>$\frac1{\text{size}}$</a:t>
                </a:r>
                <a:r>
                  <a:rPr sz="2400" b="0">
                    <a:solidFill>
                      <a:srgbClr val="111827"/>
                    </a:solidFill>
                    <a:latin typeface="Arial"/>
                  </a:rPr>
                  <a:t> in each likelihood.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three posteriors </a:t>
                </a:r>
                <a:r>
                  <a:rPr lang="en-IN" sz="2400">
                    <a:solidFill>
                      <a:srgbClr val="111827"/>
                    </a:solidFill>
                    <a:latin typeface="Cambria Math" panose="02040503050406030204" pitchFamily="18" charset="0"/>
                  </a:rPr>
                  <a:t>$\frac5{12},\frac4{12},\frac3{12}$</a:t>
                </a:r>
                <a:r>
                  <a:rPr sz="2400" b="0">
                    <a:solidFill>
                      <a:srgbClr val="111827"/>
                    </a:solidFill>
                    <a:latin typeface="Arial"/>
                  </a:rPr>
                  <a:t> add to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an unbiased die is rolled thrice, then the probability of getting a greater number in the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th roll than the number obtained in the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th roll,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54</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54</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an unbiased die is rolled thrice, then the probability of getting a greater number in the </a:t>
                </a:r>
                <a:r>
                  <a:rPr lang="en-IN" sz="2400">
                    <a:solidFill>
                      <a:srgbClr val="111827"/>
                    </a:solidFill>
                    <a:latin typeface="Cambria Math" panose="02040503050406030204" pitchFamily="18" charset="0"/>
                  </a:rPr>
                  <a:t>$i$</a:t>
                </a:r>
                <a:r>
                  <a:rPr sz="2400" b="0">
                    <a:solidFill>
                      <a:srgbClr val="111827"/>
                    </a:solidFill>
                    <a:latin typeface="Arial"/>
                  </a:rPr>
                  <a:t>th roll than the number obtained in the </a:t>
                </a:r>
                <a:r>
                  <a:rPr lang="en-IN" sz="2400">
                    <a:solidFill>
                      <a:srgbClr val="111827"/>
                    </a:solidFill>
                    <a:latin typeface="Cambria Math" panose="02040503050406030204" pitchFamily="18" charset="0"/>
                  </a:rPr>
                  <a:t>$(i-1)$</a:t>
                </a:r>
                <a:r>
                  <a:rPr sz="2400" b="0">
                    <a:solidFill>
                      <a:srgbClr val="111827"/>
                    </a:solidFill>
                    <a:latin typeface="Arial"/>
                  </a:rPr>
                  <a:t>th roll, </a:t>
                </a:r>
                <a:r>
                  <a:rPr lang="en-IN" sz="2400">
                    <a:solidFill>
                      <a:srgbClr val="111827"/>
                    </a:solidFill>
                    <a:latin typeface="Cambria Math" panose="02040503050406030204" pitchFamily="18" charset="0"/>
                  </a:rPr>
                  <a:t>$i=2,3$</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$\frac{1}{54}$</a:t>
                </a:r>
                <a:r>
                  <a:rPr sz="2400" b="0">
                    <a:solidFill>
                      <a:srgbClr val="111827"/>
                    </a:solidFill>
                    <a:latin typeface="Arial"/>
                  </a:rPr>
                  <a:t>   (B) </a:t>
                </a:r>
                <a:r>
                  <a:rPr lang="en-IN" sz="2400">
                    <a:solidFill>
                      <a:srgbClr val="111827"/>
                    </a:solidFill>
                    <a:latin typeface="Cambria Math" panose="02040503050406030204" pitchFamily="18" charset="0"/>
                  </a:rPr>
                  <a:t>$\frac{3}{54}$</a:t>
                </a:r>
                <a:r>
                  <a:rPr sz="2400" b="0">
                    <a:solidFill>
                      <a:srgbClr val="111827"/>
                    </a:solidFill>
                    <a:latin typeface="Arial"/>
                  </a:rPr>
                  <a:t>   (C) </a:t>
                </a:r>
                <a:r>
                  <a:rPr lang="en-IN" sz="2400">
                    <a:solidFill>
                      <a:srgbClr val="111827"/>
                    </a:solidFill>
                    <a:latin typeface="Cambria Math" panose="02040503050406030204" pitchFamily="18" charset="0"/>
                  </a:rPr>
                  <a:t>$\frac{2}{54}$</a:t>
                </a:r>
                <a:r>
                  <a:rPr sz="2400" b="0">
                    <a:solidFill>
                      <a:srgbClr val="111827"/>
                    </a:solidFill>
                    <a:latin typeface="Arial"/>
                  </a:rPr>
                  <a:t>   (D) </a:t>
                </a:r>
                <a:r>
                  <a:rPr lang="en-IN" sz="2400">
                    <a:solidFill>
                      <a:srgbClr val="111827"/>
                    </a:solidFill>
                    <a:latin typeface="Cambria Math" panose="02040503050406030204" pitchFamily="18" charset="0"/>
                  </a:rPr>
                  <a:t>$\frac{5}{54}$</a:t>
                </a:r>
                <a:endParaRPr sz="2400">
                  <a:solidFill>
                    <a:srgbClr val="111827"/>
                  </a:solidFill>
                </a:endParaRPr>
              </a:p>
            </p:txBody>
          </p:sp>
        </mc:Fallback>
      </mc:AlternateContent>
      <p:sp>
        <p:nvSpPr>
          <p:cNvPr id="5" name="Rectangle 4"/>
          <p:cNvSpPr/>
          <p:nvPr/>
        </p:nvSpPr>
        <p:spPr>
          <a:xfrm>
            <a:off x="731520" y="41716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an event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condition is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𝑐</m:t>
                    </m:r>
                  </m:oMath>
                </a14:m>
                <a:r>
                  <a:rPr sz="2400" b="0">
                    <a:solidFill>
                      <a:srgbClr val="78350F"/>
                    </a:solidFill>
                    <a:latin typeface="Arial"/>
                  </a:rPr>
                  <a:t>: any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distinct numbers have exactly one increasing arrangement, so count </a:t>
                </a:r>
                <a14:m>
                  <m:oMath xmlns:m="http://schemas.openxmlformats.org/officeDocument/2006/math">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condition is </a:t>
                </a:r>
                <a:r>
                  <a:rPr lang="en-IN" sz="2400">
                    <a:solidFill>
                      <a:srgbClr val="78350F"/>
                    </a:solidFill>
                    <a:latin typeface="Cambria Math" panose="02040503050406030204" pitchFamily="18" charset="0"/>
                  </a:rPr>
                  <a:t>$a&lt;b&lt;c$</a:t>
                </a:r>
                <a:r>
                  <a:rPr sz="2400" b="0">
                    <a:solidFill>
                      <a:srgbClr val="78350F"/>
                    </a:solidFill>
                    <a:latin typeface="Arial"/>
                  </a:rPr>
                  <a:t>: any </a:t>
                </a:r>
                <a:r>
                  <a:rPr lang="en-IN" sz="2400">
                    <a:solidFill>
                      <a:srgbClr val="78350F"/>
                    </a:solidFill>
                    <a:latin typeface="Cambria Math" panose="02040503050406030204" pitchFamily="18" charset="0"/>
                  </a:rPr>
                  <a:t>$3$</a:t>
                </a:r>
                <a:r>
                  <a:rPr sz="2400" b="0">
                    <a:solidFill>
                      <a:srgbClr val="78350F"/>
                    </a:solidFill>
                    <a:latin typeface="Arial"/>
                  </a:rPr>
                  <a:t> distinct numbers have exactly one increasing arrangement, so count </a:t>
                </a:r>
                <a:r>
                  <a:rPr lang="en-IN" sz="2400">
                    <a:solidFill>
                      <a:srgbClr val="78350F"/>
                    </a:solidFill>
                    <a:latin typeface="Cambria Math" panose="02040503050406030204" pitchFamily="18" charset="0"/>
                  </a:rPr>
                  <a:t>$^6C_3$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outcomes of the first, second and third rolls be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given condition is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𝑐</m:t>
                    </m:r>
                  </m:oMath>
                </a14:m>
                <a:r>
                  <a:rPr sz="2400" b="0">
                    <a:solidFill>
                      <a:srgbClr val="111827"/>
                    </a:solidFill>
                    <a:latin typeface="Arial"/>
                  </a:rPr>
                  <a:t> (strictly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choice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distinct values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can be arranged in exactly one increasing order, so favourable outcomes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outcomes of the first, second and third rolls be </a:t>
                </a:r>
                <a:r>
                  <a:rPr lang="en-IN" sz="2400">
                    <a:solidFill>
                      <a:srgbClr val="111827"/>
                    </a:solidFill>
                    <a:latin typeface="Cambria Math" panose="02040503050406030204" pitchFamily="18" charset="0"/>
                  </a:rPr>
                  <a:t>$a,b,c$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given condition is </a:t>
                </a:r>
                <a:r>
                  <a:rPr lang="en-IN" sz="2400">
                    <a:solidFill>
                      <a:srgbClr val="111827"/>
                    </a:solidFill>
                    <a:latin typeface="Cambria Math" panose="02040503050406030204" pitchFamily="18" charset="0"/>
                  </a:rPr>
                  <a:t>$a&lt;b&lt;c$</a:t>
                </a:r>
                <a:r>
                  <a:rPr sz="2400" b="0">
                    <a:solidFill>
                      <a:srgbClr val="111827"/>
                    </a:solidFill>
                    <a:latin typeface="Arial"/>
                  </a:rPr>
                  <a:t> (strictly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choice of </a:t>
                </a:r>
                <a:r>
                  <a:rPr lang="en-IN" sz="2400">
                    <a:solidFill>
                      <a:srgbClr val="111827"/>
                    </a:solidFill>
                    <a:latin typeface="Cambria Math" panose="02040503050406030204" pitchFamily="18" charset="0"/>
                  </a:rPr>
                  <a:t>$3$</a:t>
                </a:r>
                <a:r>
                  <a:rPr sz="2400" b="0">
                    <a:solidFill>
                      <a:srgbClr val="111827"/>
                    </a:solidFill>
                    <a:latin typeface="Arial"/>
                  </a:rPr>
                  <a:t> distinct values from </a:t>
                </a:r>
                <a:r>
                  <a:rPr lang="en-IN" sz="2400">
                    <a:solidFill>
                      <a:srgbClr val="111827"/>
                    </a:solidFill>
                    <a:latin typeface="Cambria Math" panose="02040503050406030204" pitchFamily="18" charset="0"/>
                  </a:rPr>
                  <a:t>$\{1,\dots,6\}$</a:t>
                </a:r>
                <a:r>
                  <a:rPr sz="2400" b="0">
                    <a:solidFill>
                      <a:srgbClr val="111827"/>
                    </a:solidFill>
                    <a:latin typeface="Arial"/>
                  </a:rPr>
                  <a:t> can be arranged in exactly one increasing order, so favourable outcomes </a:t>
                </a:r>
                <a:r>
                  <a:rPr lang="en-IN" sz="2400">
                    <a:solidFill>
                      <a:srgbClr val="111827"/>
                    </a:solidFill>
                    <a:latin typeface="Cambria Math" panose="02040503050406030204" pitchFamily="18" charset="0"/>
                  </a:rPr>
                  <a:t>$={}^6C_3=20$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outcomes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num>
                      <m:den>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216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54</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outcomes </a:t>
                </a:r>
                <a:r>
                  <a:rPr lang="en-IN" sz="2400">
                    <a:solidFill>
                      <a:srgbClr val="111827"/>
                    </a:solidFill>
                    <a:latin typeface="Cambria Math" panose="02040503050406030204" pitchFamily="18" charset="0"/>
                  </a:rPr>
                  <a:t>$=6^3=216$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$=\frac{^6C_3}{6^3}=\frac{20}{216}=\frac{5}{54}$</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num>
                      <m:den>
                        <m:r>
                          <a:rPr lang="en-IN" sz="2800" i="1">
                            <a:solidFill>
                              <a:srgbClr val="15803D"/>
                            </a:solidFill>
                            <a:latin typeface="Cambria Math" panose="02040503050406030204" pitchFamily="18" charset="0"/>
                          </a:rPr>
                          <m:t>54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$\frac{5}{54}$</a:t>
                </a:r>
                <a:endParaRPr sz="2800">
                  <a:solidFill>
                    <a:srgbClr val="15803D"/>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Symmetry: among rolls with three distinct values, all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orderings are equally likely.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Symmetry: among rolls with three distinct values, all </a:t>
                </a:r>
                <a:r>
                  <a:rPr lang="en-IN" sz="2400">
                    <a:solidFill>
                      <a:srgbClr val="78350F"/>
                    </a:solidFill>
                    <a:latin typeface="Cambria Math" panose="02040503050406030204" pitchFamily="18" charset="0"/>
                  </a:rPr>
                  <a:t>$3!$</a:t>
                </a:r>
                <a:r>
                  <a:rPr sz="2400" b="0">
                    <a:solidFill>
                      <a:srgbClr val="78350F"/>
                    </a:solidFill>
                    <a:latin typeface="Arial"/>
                  </a:rPr>
                  <a:t> orderings are equally likely.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Probability that the three rolls are all different: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216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that the values are distinct, each of the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orders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equally likely by symmetry,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𝑐</m:t>
                    </m:r>
                  </m:oMath>
                </a14:m>
                <a:r>
                  <a:rPr sz="2400" b="0">
                    <a:solidFill>
                      <a:srgbClr val="111827"/>
                    </a:solidFill>
                    <a:latin typeface="Arial"/>
                  </a:rPr>
                  <a:t> has conditional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54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Probability that the three rolls are all different: </a:t>
                </a:r>
                <a:r>
                  <a:rPr lang="en-IN" sz="2400">
                    <a:solidFill>
                      <a:srgbClr val="111827"/>
                    </a:solidFill>
                    <a:latin typeface="Cambria Math" panose="02040503050406030204" pitchFamily="18" charset="0"/>
                  </a:rPr>
                  <a:t>$\frac{6\cdot5\cdot4}{216}=\frac{120}{216}=\frac59$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that the values are distinct, each of the </a:t>
                </a:r>
                <a:r>
                  <a:rPr lang="en-IN" sz="2400">
                    <a:solidFill>
                      <a:srgbClr val="111827"/>
                    </a:solidFill>
                    <a:latin typeface="Cambria Math" panose="02040503050406030204" pitchFamily="18" charset="0"/>
                  </a:rPr>
                  <a:t>$3!=6$</a:t>
                </a:r>
                <a:r>
                  <a:rPr sz="2400" b="0">
                    <a:solidFill>
                      <a:srgbClr val="111827"/>
                    </a:solidFill>
                    <a:latin typeface="Arial"/>
                  </a:rPr>
                  <a:t> orders of </a:t>
                </a:r>
                <a:r>
                  <a:rPr lang="en-IN" sz="2400">
                    <a:solidFill>
                      <a:srgbClr val="111827"/>
                    </a:solidFill>
                    <a:latin typeface="Cambria Math" panose="02040503050406030204" pitchFamily="18" charset="0"/>
                  </a:rPr>
                  <a:t>$a,b,c$</a:t>
                </a:r>
                <a:r>
                  <a:rPr sz="2400" b="0">
                    <a:solidFill>
                      <a:srgbClr val="111827"/>
                    </a:solidFill>
                    <a:latin typeface="Arial"/>
                  </a:rPr>
                  <a:t> is equally likely by symmetry, so </a:t>
                </a:r>
                <a:r>
                  <a:rPr lang="en-IN" sz="2400">
                    <a:solidFill>
                      <a:srgbClr val="111827"/>
                    </a:solidFill>
                    <a:latin typeface="Cambria Math" panose="02040503050406030204" pitchFamily="18" charset="0"/>
                  </a:rPr>
                  <a:t>$a&lt;b&lt;c$</a:t>
                </a:r>
                <a:r>
                  <a:rPr sz="2400" b="0">
                    <a:solidFill>
                      <a:srgbClr val="111827"/>
                    </a:solidFill>
                    <a:latin typeface="Arial"/>
                  </a:rPr>
                  <a:t> has conditional probability </a:t>
                </a:r>
                <a:r>
                  <a:rPr lang="en-IN" sz="2400">
                    <a:solidFill>
                      <a:srgbClr val="111827"/>
                    </a:solidFill>
                    <a:latin typeface="Cambria Math" panose="02040503050406030204" pitchFamily="18" charset="0"/>
                  </a:rPr>
                  <a:t>$\frac16$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$=\frac59\times\frac16=\frac{5}{54}$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num>
                      <m:den>
                        <m:r>
                          <a:rPr lang="en-IN" sz="2800" i="1">
                            <a:solidFill>
                              <a:srgbClr val="15803D"/>
                            </a:solidFill>
                            <a:latin typeface="Cambria Math" panose="02040503050406030204" pitchFamily="18" charset="0"/>
                          </a:rPr>
                          <m:t>54</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$\frac{5}{54}$</a:t>
                </a:r>
                <a:endParaRPr sz="2800">
                  <a:solidFill>
                    <a:srgbClr val="15803D"/>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strictly increasing sequences of length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values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non-decreasing sequences number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Symmetry shortcut: probability of a specified strict order among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independent rolls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𝑎𝑙𝑙 𝑑𝑖𝑠𝑡𝑖𝑛𝑐𝑡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non-decreasing version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would be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56</m:t>
                        </m:r>
                      </m:num>
                      <m:den>
                        <m:r>
                          <a:rPr lang="en-IN" sz="2400" i="1">
                            <a:solidFill>
                              <a:srgbClr val="111827"/>
                            </a:solidFill>
                            <a:latin typeface="Cambria Math" panose="02040503050406030204" pitchFamily="18" charset="0"/>
                          </a:rPr>
                          <m:t>216</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strictly increasing sequences of length </a:t>
                </a:r>
                <a:r>
                  <a:rPr lang="en-IN" sz="2400">
                    <a:solidFill>
                      <a:srgbClr val="111827"/>
                    </a:solidFill>
                    <a:latin typeface="Cambria Math" panose="02040503050406030204" pitchFamily="18" charset="0"/>
                  </a:rPr>
                  <a:t>$r$</a:t>
                </a:r>
                <a:r>
                  <a:rPr sz="2400" b="0">
                    <a:solidFill>
                      <a:srgbClr val="111827"/>
                    </a:solidFill>
                    <a:latin typeface="Arial"/>
                  </a:rPr>
                  <a:t> from </a:t>
                </a:r>
                <a:r>
                  <a:rPr lang="en-IN" sz="2400">
                    <a:solidFill>
                      <a:srgbClr val="111827"/>
                    </a:solidFill>
                    <a:latin typeface="Cambria Math" panose="02040503050406030204" pitchFamily="18" charset="0"/>
                  </a:rPr>
                  <a:t>$n$</a:t>
                </a:r>
                <a:r>
                  <a:rPr sz="2400" b="0">
                    <a:solidFill>
                      <a:srgbClr val="111827"/>
                    </a:solidFill>
                    <a:latin typeface="Arial"/>
                  </a:rPr>
                  <a:t> values is </a:t>
                </a:r>
                <a:r>
                  <a:rPr lang="en-IN" sz="2400">
                    <a:solidFill>
                      <a:srgbClr val="111827"/>
                    </a:solidFill>
                    <a:latin typeface="Cambria Math" panose="02040503050406030204" pitchFamily="18" charset="0"/>
                  </a:rPr>
                  <a:t>$\binom nr$</a:t>
                </a:r>
                <a:r>
                  <a:rPr sz="2400" b="0">
                    <a:solidFill>
                      <a:srgbClr val="111827"/>
                    </a:solidFill>
                    <a:latin typeface="Arial"/>
                  </a:rPr>
                  <a:t>; non-decreasing sequences number </a:t>
                </a:r>
                <a:r>
                  <a:rPr lang="en-IN" sz="2400">
                    <a:solidFill>
                      <a:srgbClr val="111827"/>
                    </a:solidFill>
                    <a:latin typeface="Cambria Math" panose="02040503050406030204" pitchFamily="18" charset="0"/>
                  </a:rPr>
                  <a:t>$\binom{n+r-1}{r}$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Symmetry shortcut: probability of a specified strict order among </a:t>
                </a:r>
                <a:r>
                  <a:rPr lang="en-IN" sz="2400">
                    <a:solidFill>
                      <a:srgbClr val="111827"/>
                    </a:solidFill>
                    <a:latin typeface="Cambria Math" panose="02040503050406030204" pitchFamily="18" charset="0"/>
                  </a:rPr>
                  <a:t>$r$</a:t>
                </a:r>
                <a:r>
                  <a:rPr sz="2400" b="0">
                    <a:solidFill>
                      <a:srgbClr val="111827"/>
                    </a:solidFill>
                    <a:latin typeface="Arial"/>
                  </a:rPr>
                  <a:t> independent rolls </a:t>
                </a:r>
                <a:r>
                  <a:rPr lang="en-IN" sz="2400">
                    <a:solidFill>
                      <a:srgbClr val="111827"/>
                    </a:solidFill>
                    <a:latin typeface="Cambria Math" panose="02040503050406030204" pitchFamily="18" charset="0"/>
                  </a:rPr>
                  <a:t>$=\frac{P(\text{all distinct})}{r!}$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non-decreasing version (</a:t>
                </a:r>
                <a:r>
                  <a:rPr lang="en-IN" sz="2400">
                    <a:solidFill>
                      <a:srgbClr val="111827"/>
                    </a:solidFill>
                    <a:latin typeface="Cambria Math" panose="02040503050406030204" pitchFamily="18" charset="0"/>
                  </a:rPr>
                  <a:t>$a\le b\le c$</a:t>
                </a:r>
                <a:r>
                  <a:rPr sz="2400" b="0">
                    <a:solidFill>
                      <a:srgbClr val="111827"/>
                    </a:solidFill>
                    <a:latin typeface="Arial"/>
                  </a:rPr>
                  <a:t>) would be </a:t>
                </a:r>
                <a:r>
                  <a:rPr lang="en-IN" sz="2400">
                    <a:solidFill>
                      <a:srgbClr val="111827"/>
                    </a:solidFill>
                    <a:latin typeface="Cambria Math" panose="02040503050406030204" pitchFamily="18" charset="0"/>
                  </a:rPr>
                  <a:t>$\binom{8}{3}/216=\frac{56}{216}$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urn contains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black balls. Two successive draws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balls are made without replacement. The probability that the first draw gives all white balls and the second draw gives all black balls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715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715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256</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256</m:t>
                        </m:r>
                      </m:den>
                    </m:f>
                  </m:oMath>
                </a14:m>
                <a:endParaRPr sz="2400">
                  <a:solidFill>
                    <a:srgbClr val="111827"/>
                  </a:solidFill>
                </a:endParaRPr>
              </a:p>
            </p:txBody>
          </p:sp>
        </mc:Choice>
        <mc:Fallback>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urn contains </a:t>
                </a:r>
                <a:r>
                  <a:rPr lang="en-IN" sz="2400">
                    <a:solidFill>
                      <a:srgbClr val="111827"/>
                    </a:solidFill>
                    <a:latin typeface="Cambria Math" panose="02040503050406030204" pitchFamily="18" charset="0"/>
                  </a:rPr>
                  <a:t>$6$</a:t>
                </a:r>
                <a:r>
                  <a:rPr sz="2400" b="0">
                    <a:solidFill>
                      <a:srgbClr val="111827"/>
                    </a:solidFill>
                    <a:latin typeface="Arial"/>
                  </a:rPr>
                  <a:t> white and </a:t>
                </a:r>
                <a:r>
                  <a:rPr lang="en-IN" sz="2400">
                    <a:solidFill>
                      <a:srgbClr val="111827"/>
                    </a:solidFill>
                    <a:latin typeface="Cambria Math" panose="02040503050406030204" pitchFamily="18" charset="0"/>
                  </a:rPr>
                  <a:t>$9$</a:t>
                </a:r>
                <a:r>
                  <a:rPr sz="2400" b="0">
                    <a:solidFill>
                      <a:srgbClr val="111827"/>
                    </a:solidFill>
                    <a:latin typeface="Arial"/>
                  </a:rPr>
                  <a:t> black balls. Two successive draws of </a:t>
                </a:r>
                <a:r>
                  <a:rPr lang="en-IN" sz="2400">
                    <a:solidFill>
                      <a:srgbClr val="111827"/>
                    </a:solidFill>
                    <a:latin typeface="Cambria Math" panose="02040503050406030204" pitchFamily="18" charset="0"/>
                  </a:rPr>
                  <a:t>$4$</a:t>
                </a:r>
                <a:r>
                  <a:rPr sz="2400" b="0">
                    <a:solidFill>
                      <a:srgbClr val="111827"/>
                    </a:solidFill>
                    <a:latin typeface="Arial"/>
                  </a:rPr>
                  <a:t> balls are made without replacement. The probability that the first draw gives all white balls and the second draw gives all black balls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$\frac{3}{715}$</a:t>
                </a:r>
                <a:r>
                  <a:rPr sz="2400" b="0">
                    <a:solidFill>
                      <a:srgbClr val="111827"/>
                    </a:solidFill>
                    <a:latin typeface="Arial"/>
                  </a:rPr>
                  <a:t>   (B) </a:t>
                </a:r>
                <a:r>
                  <a:rPr lang="en-IN" sz="2400">
                    <a:solidFill>
                      <a:srgbClr val="111827"/>
                    </a:solidFill>
                    <a:latin typeface="Cambria Math" panose="02040503050406030204" pitchFamily="18" charset="0"/>
                  </a:rPr>
                  <a:t>$\frac{5}{715}$</a:t>
                </a:r>
                <a:r>
                  <a:rPr sz="2400" b="0">
                    <a:solidFill>
                      <a:srgbClr val="111827"/>
                    </a:solidFill>
                    <a:latin typeface="Arial"/>
                  </a:rPr>
                  <a:t>   (C) </a:t>
                </a:r>
                <a:r>
                  <a:rPr lang="en-IN" sz="2400">
                    <a:solidFill>
                      <a:srgbClr val="111827"/>
                    </a:solidFill>
                    <a:latin typeface="Cambria Math" panose="02040503050406030204" pitchFamily="18" charset="0"/>
                  </a:rPr>
                  <a:t>$\frac{3}{256}$</a:t>
                </a:r>
                <a:r>
                  <a:rPr sz="2400" b="0">
                    <a:solidFill>
                      <a:srgbClr val="111827"/>
                    </a:solidFill>
                    <a:latin typeface="Arial"/>
                  </a:rPr>
                  <a:t>   (D) </a:t>
                </a:r>
                <a:r>
                  <a:rPr lang="en-IN" sz="2400">
                    <a:solidFill>
                      <a:srgbClr val="111827"/>
                    </a:solidFill>
                    <a:latin typeface="Cambria Math" panose="02040503050406030204" pitchFamily="18" charset="0"/>
                  </a:rPr>
                  <a:t>$\frac{5}{256}$</a:t>
                </a:r>
                <a:endParaRPr sz="2400">
                  <a:solidFill>
                    <a:srgbClr val="111827"/>
                  </a:solidFill>
                </a:endParaRPr>
              </a:p>
            </p:txBody>
          </p:sp>
        </mc:Fallback>
      </mc:AlternateContent>
      <p:sp>
        <p:nvSpPr>
          <p:cNvPr id="5" name="Rectangle 4"/>
          <p:cNvSpPr/>
          <p:nvPr/>
        </p:nvSpPr>
        <p:spPr>
          <a:xfrm>
            <a:off x="731520" y="45435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an event, Combinations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After the first draw of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white balls the urn holds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white and </a:t>
                </a:r>
                <a14:m>
                  <m:oMath xmlns:m="http://schemas.openxmlformats.org/officeDocument/2006/math">
                    <m:r>
                      <a:rPr lang="en-IN" sz="2400" i="1">
                        <a:solidFill>
                          <a:srgbClr val="78350F"/>
                        </a:solidFill>
                        <a:latin typeface="Cambria Math" panose="02040503050406030204" pitchFamily="18" charset="0"/>
                      </a:rPr>
                      <m:t>9</m:t>
                    </m:r>
                  </m:oMath>
                </a14:m>
                <a:r>
                  <a:rPr sz="2400" b="0">
                    <a:solidFill>
                      <a:srgbClr val="78350F"/>
                    </a:solidFill>
                    <a:latin typeface="Arial"/>
                  </a:rPr>
                  <a:t> black balls, so multiply two combination ratios.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After the first draw of </a:t>
                </a:r>
                <a:r>
                  <a:rPr lang="en-IN" sz="2400">
                    <a:solidFill>
                      <a:srgbClr val="78350F"/>
                    </a:solidFill>
                    <a:latin typeface="Cambria Math" panose="02040503050406030204" pitchFamily="18" charset="0"/>
                  </a:rPr>
                  <a:t>$4$</a:t>
                </a:r>
                <a:r>
                  <a:rPr sz="2400" b="0">
                    <a:solidFill>
                      <a:srgbClr val="78350F"/>
                    </a:solidFill>
                    <a:latin typeface="Arial"/>
                  </a:rPr>
                  <a:t> white balls the urn holds </a:t>
                </a:r>
                <a:r>
                  <a:rPr lang="en-IN" sz="2400">
                    <a:solidFill>
                      <a:srgbClr val="78350F"/>
                    </a:solidFill>
                    <a:latin typeface="Cambria Math" panose="02040503050406030204" pitchFamily="18" charset="0"/>
                  </a:rPr>
                  <a:t>$2$</a:t>
                </a:r>
                <a:r>
                  <a:rPr sz="2400" b="0">
                    <a:solidFill>
                      <a:srgbClr val="78350F"/>
                    </a:solidFill>
                    <a:latin typeface="Arial"/>
                  </a:rPr>
                  <a:t> white and </a:t>
                </a:r>
                <a:r>
                  <a:rPr lang="en-IN" sz="2400">
                    <a:solidFill>
                      <a:srgbClr val="78350F"/>
                    </a:solidFill>
                    <a:latin typeface="Cambria Math" panose="02040503050406030204" pitchFamily="18" charset="0"/>
                  </a:rPr>
                  <a:t>$9$</a:t>
                </a:r>
                <a:r>
                  <a:rPr sz="2400" b="0">
                    <a:solidFill>
                      <a:srgbClr val="78350F"/>
                    </a:solidFill>
                    <a:latin typeface="Arial"/>
                  </a:rPr>
                  <a:t> black balls, so multiply two combination ratios.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draw: all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balls white,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removing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white balls the urn has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black balls,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in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draw: all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balls black,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draw: all </a:t>
                </a:r>
                <a:r>
                  <a:rPr lang="en-IN" sz="2400">
                    <a:solidFill>
                      <a:srgbClr val="111827"/>
                    </a:solidFill>
                    <a:latin typeface="Cambria Math" panose="02040503050406030204" pitchFamily="18" charset="0"/>
                  </a:rPr>
                  <a:t>$4$</a:t>
                </a:r>
                <a:r>
                  <a:rPr sz="2400" b="0">
                    <a:solidFill>
                      <a:srgbClr val="111827"/>
                    </a:solidFill>
                    <a:latin typeface="Arial"/>
                  </a:rPr>
                  <a:t> balls white, probability </a:t>
                </a:r>
                <a:r>
                  <a:rPr lang="en-IN" sz="2400">
                    <a:solidFill>
                      <a:srgbClr val="111827"/>
                    </a:solidFill>
                    <a:latin typeface="Cambria Math" panose="02040503050406030204" pitchFamily="18" charset="0"/>
                  </a:rPr>
                  <a:t>$\frac{^6C_4}{^{15}C_4}$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removing </a:t>
                </a:r>
                <a:r>
                  <a:rPr lang="en-IN" sz="2400">
                    <a:solidFill>
                      <a:srgbClr val="111827"/>
                    </a:solidFill>
                    <a:latin typeface="Cambria Math" panose="02040503050406030204" pitchFamily="18" charset="0"/>
                  </a:rPr>
                  <a:t>$4$</a:t>
                </a:r>
                <a:r>
                  <a:rPr sz="2400" b="0">
                    <a:solidFill>
                      <a:srgbClr val="111827"/>
                    </a:solidFill>
                    <a:latin typeface="Arial"/>
                  </a:rPr>
                  <a:t> white balls the urn has </a:t>
                </a:r>
                <a:r>
                  <a:rPr lang="en-IN" sz="2400">
                    <a:solidFill>
                      <a:srgbClr val="111827"/>
                    </a:solidFill>
                    <a:latin typeface="Cambria Math" panose="02040503050406030204" pitchFamily="18" charset="0"/>
                  </a:rPr>
                  <a:t>$2$</a:t>
                </a:r>
                <a:r>
                  <a:rPr sz="2400" b="0">
                    <a:solidFill>
                      <a:srgbClr val="111827"/>
                    </a:solidFill>
                    <a:latin typeface="Arial"/>
                  </a:rPr>
                  <a:t> white and </a:t>
                </a:r>
                <a:r>
                  <a:rPr lang="en-IN" sz="2400">
                    <a:solidFill>
                      <a:srgbClr val="111827"/>
                    </a:solidFill>
                    <a:latin typeface="Cambria Math" panose="02040503050406030204" pitchFamily="18" charset="0"/>
                  </a:rPr>
                  <a:t>$9$</a:t>
                </a:r>
                <a:r>
                  <a:rPr sz="2400" b="0">
                    <a:solidFill>
                      <a:srgbClr val="111827"/>
                    </a:solidFill>
                    <a:latin typeface="Arial"/>
                  </a:rPr>
                  <a:t> black balls, </a:t>
                </a:r>
                <a:r>
                  <a:rPr lang="en-IN" sz="2400">
                    <a:solidFill>
                      <a:srgbClr val="111827"/>
                    </a:solidFill>
                    <a:latin typeface="Cambria Math" panose="02040503050406030204" pitchFamily="18" charset="0"/>
                  </a:rPr>
                  <a:t>$11$</a:t>
                </a:r>
                <a:r>
                  <a:rPr sz="2400" b="0">
                    <a:solidFill>
                      <a:srgbClr val="111827"/>
                    </a:solidFill>
                    <a:latin typeface="Arial"/>
                  </a:rPr>
                  <a:t> in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draw: all </a:t>
                </a:r>
                <a:r>
                  <a:rPr lang="en-IN" sz="2400">
                    <a:solidFill>
                      <a:srgbClr val="111827"/>
                    </a:solidFill>
                    <a:latin typeface="Cambria Math" panose="02040503050406030204" pitchFamily="18" charset="0"/>
                  </a:rPr>
                  <a:t>$4$</a:t>
                </a:r>
                <a:r>
                  <a:rPr sz="2400" b="0">
                    <a:solidFill>
                      <a:srgbClr val="111827"/>
                    </a:solidFill>
                    <a:latin typeface="Arial"/>
                  </a:rPr>
                  <a:t> balls black, probability </a:t>
                </a:r>
                <a:r>
                  <a:rPr lang="en-IN" sz="2400">
                    <a:solidFill>
                      <a:srgbClr val="111827"/>
                    </a:solidFill>
                    <a:latin typeface="Cambria Math" panose="02040503050406030204" pitchFamily="18" charset="0"/>
                  </a:rPr>
                  <a:t>$\frac{^9C_4}{^{11}C_4}$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1365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126</m:t>
                        </m:r>
                      </m:num>
                      <m:den>
                        <m:r>
                          <a:rPr lang="en-IN" sz="2400" i="1">
                            <a:solidFill>
                              <a:srgbClr val="111827"/>
                            </a:solidFill>
                            <a:latin typeface="Cambria Math" panose="02040503050406030204" pitchFamily="18" charset="0"/>
                          </a:rPr>
                          <m:t>330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55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5005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715</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r>
                  <a:rPr lang="en-IN" sz="2400">
                    <a:solidFill>
                      <a:srgbClr val="111827"/>
                    </a:solidFill>
                    <a:latin typeface="Cambria Math" panose="02040503050406030204" pitchFamily="18" charset="0"/>
                  </a:rPr>
                  <a:t>$=\frac{^6C_4}{^{15}C_4}\times\frac{^9C_4}{^{11}C_4}=\frac{15}{1365}\times\frac{126}{330}$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$=\frac{1}{91}\times\frac{21}{55}=\frac{21}{5005}=\frac{3}{715}$</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715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$\frac{3}{715}$</a:t>
                </a:r>
                <a:endParaRPr sz="2800">
                  <a:solidFill>
                    <a:srgbClr val="15803D"/>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Draw the </a:t>
                </a:r>
                <a14:m>
                  <m:oMath xmlns:m="http://schemas.openxmlformats.org/officeDocument/2006/math">
                    <m:r>
                      <a:rPr lang="en-IN" sz="2400" i="1">
                        <a:solidFill>
                          <a:srgbClr val="78350F"/>
                        </a:solidFill>
                        <a:latin typeface="Cambria Math" panose="02040503050406030204" pitchFamily="18" charset="0"/>
                      </a:rPr>
                      <m:t>8</m:t>
                    </m:r>
                  </m:oMath>
                </a14:m>
                <a:r>
                  <a:rPr sz="2400" b="0">
                    <a:solidFill>
                      <a:srgbClr val="78350F"/>
                    </a:solidFill>
                    <a:latin typeface="Arial"/>
                  </a:rPr>
                  <a:t> balls one by one and multiply the conditional probabilities of the required colour sequence.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Draw the </a:t>
                </a:r>
                <a:r>
                  <a:rPr lang="en-IN" sz="2400">
                    <a:solidFill>
                      <a:srgbClr val="78350F"/>
                    </a:solidFill>
                    <a:latin typeface="Cambria Math" panose="02040503050406030204" pitchFamily="18" charset="0"/>
                  </a:rPr>
                  <a:t>$8$</a:t>
                </a:r>
                <a:r>
                  <a:rPr sz="2400" b="0">
                    <a:solidFill>
                      <a:srgbClr val="78350F"/>
                    </a:solidFill>
                    <a:latin typeface="Arial"/>
                  </a:rPr>
                  <a:t> balls one by one and multiply the conditional probabilities of the required colour sequence.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Drawing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balls and then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more without replacement is the same as drawing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balls one at a time.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whites first: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91</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Drawing </a:t>
                </a:r>
                <a:r>
                  <a:rPr lang="en-IN" sz="2400">
                    <a:solidFill>
                      <a:srgbClr val="111827"/>
                    </a:solidFill>
                    <a:latin typeface="Cambria Math" panose="02040503050406030204" pitchFamily="18" charset="0"/>
                  </a:rPr>
                  <a:t>$4$</a:t>
                </a:r>
                <a:r>
                  <a:rPr sz="2400" b="0">
                    <a:solidFill>
                      <a:srgbClr val="111827"/>
                    </a:solidFill>
                    <a:latin typeface="Arial"/>
                  </a:rPr>
                  <a:t> balls and then </a:t>
                </a:r>
                <a:r>
                  <a:rPr lang="en-IN" sz="2400">
                    <a:solidFill>
                      <a:srgbClr val="111827"/>
                    </a:solidFill>
                    <a:latin typeface="Cambria Math" panose="02040503050406030204" pitchFamily="18" charset="0"/>
                  </a:rPr>
                  <a:t>$4$</a:t>
                </a:r>
                <a:r>
                  <a:rPr sz="2400" b="0">
                    <a:solidFill>
                      <a:srgbClr val="111827"/>
                    </a:solidFill>
                    <a:latin typeface="Arial"/>
                  </a:rPr>
                  <a:t> more without replacement is the same as drawing </a:t>
                </a:r>
                <a:r>
                  <a:rPr lang="en-IN" sz="2400">
                    <a:solidFill>
                      <a:srgbClr val="111827"/>
                    </a:solidFill>
                    <a:latin typeface="Cambria Math" panose="02040503050406030204" pitchFamily="18" charset="0"/>
                  </a:rPr>
                  <a:t>$8$</a:t>
                </a:r>
                <a:r>
                  <a:rPr sz="2400" b="0">
                    <a:solidFill>
                      <a:srgbClr val="111827"/>
                    </a:solidFill>
                    <a:latin typeface="Arial"/>
                  </a:rPr>
                  <a:t> balls one at a time.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r>
                  <a:rPr lang="en-IN" sz="2400">
                    <a:solidFill>
                      <a:srgbClr val="111827"/>
                    </a:solidFill>
                    <a:latin typeface="Cambria Math" panose="02040503050406030204" pitchFamily="18" charset="0"/>
                  </a:rPr>
                  <a:t>$4$</a:t>
                </a:r>
                <a:r>
                  <a:rPr sz="2400" b="0">
                    <a:solidFill>
                      <a:srgbClr val="111827"/>
                    </a:solidFill>
                    <a:latin typeface="Arial"/>
                  </a:rPr>
                  <a:t> whites first: </a:t>
                </a:r>
                <a:r>
                  <a:rPr lang="en-IN" sz="2400">
                    <a:solidFill>
                      <a:srgbClr val="111827"/>
                    </a:solidFill>
                    <a:latin typeface="Cambria Math" panose="02040503050406030204" pitchFamily="18" charset="0"/>
                  </a:rPr>
                  <a:t>$\frac6{15}\cdot\frac5{14}\cdot\frac4{13}\cdot\frac3{12}=\frac{1}{91}$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blacks from the remaining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black: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55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55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715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$4$</a:t>
                </a:r>
                <a:r>
                  <a:rPr sz="2400" b="0">
                    <a:solidFill>
                      <a:srgbClr val="111827"/>
                    </a:solidFill>
                    <a:latin typeface="Arial"/>
                  </a:rPr>
                  <a:t> blacks from the remaining </a:t>
                </a:r>
                <a:r>
                  <a:rPr lang="en-IN" sz="2400">
                    <a:solidFill>
                      <a:srgbClr val="111827"/>
                    </a:solidFill>
                    <a:latin typeface="Cambria Math" panose="02040503050406030204" pitchFamily="18" charset="0"/>
                  </a:rPr>
                  <a:t>$2$</a:t>
                </a:r>
                <a:r>
                  <a:rPr sz="2400" b="0">
                    <a:solidFill>
                      <a:srgbClr val="111827"/>
                    </a:solidFill>
                    <a:latin typeface="Arial"/>
                  </a:rPr>
                  <a:t> white and </a:t>
                </a:r>
                <a:r>
                  <a:rPr lang="en-IN" sz="2400">
                    <a:solidFill>
                      <a:srgbClr val="111827"/>
                    </a:solidFill>
                    <a:latin typeface="Cambria Math" panose="02040503050406030204" pitchFamily="18" charset="0"/>
                  </a:rPr>
                  <a:t>$9$</a:t>
                </a:r>
                <a:r>
                  <a:rPr sz="2400" b="0">
                    <a:solidFill>
                      <a:srgbClr val="111827"/>
                    </a:solidFill>
                    <a:latin typeface="Arial"/>
                  </a:rPr>
                  <a:t> black: </a:t>
                </a:r>
                <a:r>
                  <a:rPr lang="en-IN" sz="2400">
                    <a:solidFill>
                      <a:srgbClr val="111827"/>
                    </a:solidFill>
                    <a:latin typeface="Cambria Math" panose="02040503050406030204" pitchFamily="18" charset="0"/>
                  </a:rPr>
                  <a:t>$\frac9{11}\cdot\frac8{10}\cdot\frac79\cdot\frac68=\frac{21}{55}$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a:t>
                </a:r>
                <a:r>
                  <a:rPr lang="en-IN" sz="2400">
                    <a:solidFill>
                      <a:srgbClr val="111827"/>
                    </a:solidFill>
                    <a:latin typeface="Cambria Math" panose="02040503050406030204" pitchFamily="18" charset="0"/>
                  </a:rPr>
                  <a:t>$=\frac{1}{91}\cdot\frac{21}{55}=\frac{3}{715}$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715</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$\frac{3}{715}$</a:t>
                </a:r>
                <a:endParaRPr sz="2800">
                  <a:solidFill>
                    <a:srgbClr val="15803D"/>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draw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balls without replacement can be treated as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successive single draws; both views give the same probability.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that the first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of a random arrangement are all of one kind: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𝑤</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Chain rule: multiply conditional probabilities draw by draw, updating the urn composition each time.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draw of </a:t>
                </a:r>
                <a:r>
                  <a:rPr lang="en-IN" sz="2400">
                    <a:solidFill>
                      <a:srgbClr val="111827"/>
                    </a:solidFill>
                    <a:latin typeface="Cambria Math" panose="02040503050406030204" pitchFamily="18" charset="0"/>
                  </a:rPr>
                  <a:t>$k$</a:t>
                </a:r>
                <a:r>
                  <a:rPr sz="2400" b="0">
                    <a:solidFill>
                      <a:srgbClr val="111827"/>
                    </a:solidFill>
                    <a:latin typeface="Arial"/>
                  </a:rPr>
                  <a:t> balls without replacement can be treated as </a:t>
                </a:r>
                <a:r>
                  <a:rPr lang="en-IN" sz="2400">
                    <a:solidFill>
                      <a:srgbClr val="111827"/>
                    </a:solidFill>
                    <a:latin typeface="Cambria Math" panose="02040503050406030204" pitchFamily="18" charset="0"/>
                  </a:rPr>
                  <a:t>$k$</a:t>
                </a:r>
                <a:r>
                  <a:rPr sz="2400" b="0">
                    <a:solidFill>
                      <a:srgbClr val="111827"/>
                    </a:solidFill>
                    <a:latin typeface="Arial"/>
                  </a:rPr>
                  <a:t> successive single draws; both views give the same probability.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that the first </a:t>
                </a:r>
                <a:r>
                  <a:rPr lang="en-IN" sz="2400">
                    <a:solidFill>
                      <a:srgbClr val="111827"/>
                    </a:solidFill>
                    <a:latin typeface="Cambria Math" panose="02040503050406030204" pitchFamily="18" charset="0"/>
                  </a:rPr>
                  <a:t>$k$</a:t>
                </a:r>
                <a:r>
                  <a:rPr sz="2400" b="0">
                    <a:solidFill>
                      <a:srgbClr val="111827"/>
                    </a:solidFill>
                    <a:latin typeface="Arial"/>
                  </a:rPr>
                  <a:t> of a random arrangement are all of one kind: </a:t>
                </a:r>
                <a:r>
                  <a:rPr lang="en-IN" sz="2400">
                    <a:solidFill>
                      <a:srgbClr val="111827"/>
                    </a:solidFill>
                    <a:latin typeface="Cambria Math" panose="02040503050406030204" pitchFamily="18" charset="0"/>
                  </a:rPr>
                  <a:t>$\binom{w}{k}/\binom{N}{k}$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Chain rule: multiply conditional probabilities draw by draw, updating the urn composition each time.</a:t>
                </a:r>
                <a:endParaRPr sz="2400">
                  <a:solidFill>
                    <a:srgbClr val="111827"/>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integer is chosen at random from the integers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The probability that the chosen integer is a multiple of at least one of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25</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integer is chosen at random from the integers </a:t>
                </a:r>
                <a:r>
                  <a:rPr lang="en-IN" sz="2400">
                    <a:solidFill>
                      <a:srgbClr val="111827"/>
                    </a:solidFill>
                    <a:latin typeface="Cambria Math" panose="02040503050406030204" pitchFamily="18" charset="0"/>
                  </a:rPr>
                  <a:t>$1,2,3,\dots,50$</a:t>
                </a:r>
                <a:r>
                  <a:rPr sz="2400" b="0">
                    <a:solidFill>
                      <a:srgbClr val="111827"/>
                    </a:solidFill>
                    <a:latin typeface="Arial"/>
                  </a:rPr>
                  <a:t>. The probability that the chosen integer is a multiple of at least one of </a:t>
                </a:r>
                <a:r>
                  <a:rPr lang="en-IN" sz="2400">
                    <a:solidFill>
                      <a:srgbClr val="111827"/>
                    </a:solidFill>
                    <a:latin typeface="Cambria Math" panose="02040503050406030204" pitchFamily="18" charset="0"/>
                  </a:rPr>
                  <a:t>$4,6$</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$\frac{14}{25}$</a:t>
                </a:r>
                <a:r>
                  <a:rPr sz="2400" b="0">
                    <a:solidFill>
                      <a:srgbClr val="111827"/>
                    </a:solidFill>
                    <a:latin typeface="Arial"/>
                  </a:rPr>
                  <a:t>   (B) </a:t>
                </a:r>
                <a:r>
                  <a:rPr lang="en-IN" sz="2400">
                    <a:solidFill>
                      <a:srgbClr val="111827"/>
                    </a:solidFill>
                    <a:latin typeface="Cambria Math" panose="02040503050406030204" pitchFamily="18" charset="0"/>
                  </a:rPr>
                  <a:t>$\frac{21}{50}$</a:t>
                </a:r>
                <a:r>
                  <a:rPr sz="2400" b="0">
                    <a:solidFill>
                      <a:srgbClr val="111827"/>
                    </a:solidFill>
                    <a:latin typeface="Arial"/>
                  </a:rPr>
                  <a:t>   (C) </a:t>
                </a:r>
                <a:r>
                  <a:rPr lang="en-IN" sz="2400">
                    <a:solidFill>
                      <a:srgbClr val="111827"/>
                    </a:solidFill>
                    <a:latin typeface="Cambria Math" panose="02040503050406030204" pitchFamily="18" charset="0"/>
                  </a:rPr>
                  <a:t>$\frac{9}{50}$</a:t>
                </a:r>
                <a:r>
                  <a:rPr sz="2400" b="0">
                    <a:solidFill>
                      <a:srgbClr val="111827"/>
                    </a:solidFill>
                    <a:latin typeface="Arial"/>
                  </a:rPr>
                  <a:t>   (D) </a:t>
                </a:r>
                <a:r>
                  <a:rPr lang="en-IN" sz="2400">
                    <a:solidFill>
                      <a:srgbClr val="111827"/>
                    </a:solidFill>
                    <a:latin typeface="Cambria Math" panose="02040503050406030204" pitchFamily="18" charset="0"/>
                  </a:rPr>
                  <a:t>$\frac{8}{25}$</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an event, Inclusion-exclusion principle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Inclusion-exclusion with lcm: pairs are multiples of </a:t>
                </a:r>
                <a14:m>
                  <m:oMath xmlns:m="http://schemas.openxmlformats.org/officeDocument/2006/math">
                    <m:r>
                      <a:rPr lang="en-IN" sz="2400" i="1">
                        <a:solidFill>
                          <a:srgbClr val="78350F"/>
                        </a:solidFill>
                        <a:latin typeface="Cambria Math" panose="02040503050406030204" pitchFamily="18" charset="0"/>
                      </a:rPr>
                      <m:t>12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28</m:t>
                    </m:r>
                  </m:oMath>
                </a14:m>
                <a:r>
                  <a:rPr sz="2400" b="0">
                    <a:solidFill>
                      <a:srgbClr val="78350F"/>
                    </a:solidFill>
                    <a:latin typeface="Arial"/>
                  </a:rPr>
                  <a:t> and the triple of </a:t>
                </a:r>
                <a14:m>
                  <m:oMath xmlns:m="http://schemas.openxmlformats.org/officeDocument/2006/math">
                    <m:r>
                      <a:rPr lang="en-IN" sz="2400" i="1">
                        <a:solidFill>
                          <a:srgbClr val="78350F"/>
                        </a:solidFill>
                        <a:latin typeface="Cambria Math" panose="02040503050406030204" pitchFamily="18" charset="0"/>
                      </a:rPr>
                      <m:t>84</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Inclusion-exclusion with lcm: pairs are multiples of </a:t>
                </a:r>
                <a:r>
                  <a:rPr lang="en-IN" sz="2400">
                    <a:solidFill>
                      <a:srgbClr val="78350F"/>
                    </a:solidFill>
                    <a:latin typeface="Cambria Math" panose="02040503050406030204" pitchFamily="18" charset="0"/>
                  </a:rPr>
                  <a:t>$12,42,28$</a:t>
                </a:r>
                <a:r>
                  <a:rPr sz="2400" b="0">
                    <a:solidFill>
                      <a:srgbClr val="78350F"/>
                    </a:solidFill>
                    <a:latin typeface="Arial"/>
                  </a:rPr>
                  <a:t> and the triple of </a:t>
                </a:r>
                <a:r>
                  <a:rPr lang="en-IN" sz="2400">
                    <a:solidFill>
                      <a:srgbClr val="78350F"/>
                    </a:solidFill>
                    <a:latin typeface="Cambria Math" panose="02040503050406030204" pitchFamily="18" charset="0"/>
                  </a:rPr>
                  <a:t>$84$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be the events 'multiple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multiples of </a:t>
                </a:r>
                <a14:m>
                  <m:oMath xmlns:m="http://schemas.openxmlformats.org/officeDocument/2006/math">
                    <m:r>
                      <m:rPr>
                        <m:sty m:val="p"/>
                      </m:rPr>
                      <a:rPr lang="en-IN" sz="2400">
                        <a:solidFill>
                          <a:srgbClr val="111827"/>
                        </a:solidFill>
                        <a:latin typeface="Cambria Math" panose="02040503050406030204" pitchFamily="18" charset="0"/>
                      </a:rPr>
                      <m:t>lcm</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$A,B,C$</a:t>
                </a:r>
                <a:r>
                  <a:rPr sz="2400" b="0">
                    <a:solidFill>
                      <a:srgbClr val="111827"/>
                    </a:solidFill>
                    <a:latin typeface="Arial"/>
                  </a:rPr>
                  <a:t> be the events 'multiple of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Then </a:t>
                </a:r>
                <a:r>
                  <a:rPr lang="en-IN" sz="2400">
                    <a:solidFill>
                      <a:srgbClr val="111827"/>
                    </a:solidFill>
                    <a:latin typeface="Cambria Math" panose="02040503050406030204" pitchFamily="18" charset="0"/>
                  </a:rPr>
                  <a:t>$P(A)=\frac{12}{50},\ P(B)=\frac{8}{50},\ P(C)=\frac{7}{50}$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a:t>
                </a:r>
                <a:r>
                  <a:rPr sz="2400" b="0">
                    <a:solidFill>
                      <a:srgbClr val="111827"/>
                    </a:solidFill>
                    <a:latin typeface="Arial"/>
                  </a:rPr>
                  <a:t>: multiples of </a:t>
                </a:r>
                <a:r>
                  <a:rPr lang="en-IN" sz="2400">
                    <a:solidFill>
                      <a:srgbClr val="111827"/>
                    </a:solidFill>
                    <a:latin typeface="Cambria Math" panose="02040503050406030204" pitchFamily="18" charset="0"/>
                  </a:rPr>
                  <a:t>$\operatorname{lcm}(4,6)=12$</a:t>
                </a:r>
                <a:r>
                  <a:rPr sz="2400" b="0">
                    <a:solidFill>
                      <a:srgbClr val="111827"/>
                    </a:solidFill>
                    <a:latin typeface="Arial"/>
                  </a:rPr>
                  <a:t>: </a:t>
                </a:r>
                <a:r>
                  <a:rPr lang="en-IN" sz="2400">
                    <a:solidFill>
                      <a:srgbClr val="111827"/>
                    </a:solidFill>
                    <a:latin typeface="Cambria Math" panose="02040503050406030204" pitchFamily="18" charset="0"/>
                  </a:rPr>
                  <a:t>$P(A\cap B)=\frac{4}{50}$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$B\cap C$</a:t>
                </a:r>
                <a:r>
                  <a:rPr sz="2400" b="0">
                    <a:solidFill>
                      <a:srgbClr val="111827"/>
                    </a:solidFill>
                    <a:latin typeface="Arial"/>
                  </a:rPr>
                  <a:t>: multiples of </a:t>
                </a:r>
                <a:r>
                  <a:rPr lang="en-IN" sz="2400">
                    <a:solidFill>
                      <a:srgbClr val="111827"/>
                    </a:solidFill>
                    <a:latin typeface="Cambria Math" panose="02040503050406030204" pitchFamily="18" charset="0"/>
                  </a:rPr>
                  <a:t>$42$</a:t>
                </a:r>
                <a:r>
                  <a:rPr sz="2400" b="0">
                    <a:solidFill>
                      <a:srgbClr val="111827"/>
                    </a:solidFill>
                    <a:latin typeface="Arial"/>
                  </a:rPr>
                  <a:t>: </a:t>
                </a:r>
                <a:r>
                  <a:rPr lang="en-IN" sz="2400">
                    <a:solidFill>
                      <a:srgbClr val="111827"/>
                    </a:solidFill>
                    <a:latin typeface="Cambria Math" panose="02040503050406030204" pitchFamily="18" charset="0"/>
                  </a:rPr>
                  <a:t>$P(B\cap C)=\frac{1}{50}$</a:t>
                </a:r>
                <a:r>
                  <a:rPr sz="2400" b="0">
                    <a:solidFill>
                      <a:srgbClr val="111827"/>
                    </a:solidFill>
                    <a:latin typeface="Arial"/>
                  </a:rPr>
                  <a:t>. </a:t>
                </a:r>
                <a:r>
                  <a:rPr lang="en-IN" sz="2400">
                    <a:solidFill>
                      <a:srgbClr val="111827"/>
                    </a:solidFill>
                    <a:latin typeface="Cambria Math" panose="02040503050406030204" pitchFamily="18" charset="0"/>
                  </a:rPr>
                  <a:t>$A\cap C$</a:t>
                </a:r>
                <a:r>
                  <a:rPr sz="2400" b="0">
                    <a:solidFill>
                      <a:srgbClr val="111827"/>
                    </a:solidFill>
                    <a:latin typeface="Arial"/>
                  </a:rPr>
                  <a:t>: multiples of </a:t>
                </a:r>
                <a:r>
                  <a:rPr lang="en-IN" sz="2400">
                    <a:solidFill>
                      <a:srgbClr val="111827"/>
                    </a:solidFill>
                    <a:latin typeface="Cambria Math" panose="02040503050406030204" pitchFamily="18" charset="0"/>
                  </a:rPr>
                  <a:t>$28$</a:t>
                </a:r>
                <a:r>
                  <a:rPr sz="2400" b="0">
                    <a:solidFill>
                      <a:srgbClr val="111827"/>
                    </a:solidFill>
                    <a:latin typeface="Arial"/>
                  </a:rPr>
                  <a:t>: </a:t>
                </a:r>
                <a:r>
                  <a:rPr lang="en-IN" sz="2400">
                    <a:solidFill>
                      <a:srgbClr val="111827"/>
                    </a:solidFill>
                    <a:latin typeface="Cambria Math" panose="02040503050406030204" pitchFamily="18" charset="0"/>
                  </a:rPr>
                  <a:t>$P(A\cap C)=\frac{1}{50}$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84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B\cap C$</a:t>
                </a:r>
                <a:r>
                  <a:rPr sz="2400" b="0">
                    <a:solidFill>
                      <a:srgbClr val="111827"/>
                    </a:solidFill>
                    <a:latin typeface="Arial"/>
                  </a:rPr>
                  <a:t>: multiples of </a:t>
                </a:r>
                <a:r>
                  <a:rPr lang="en-IN" sz="2400">
                    <a:solidFill>
                      <a:srgbClr val="111827"/>
                    </a:solidFill>
                    <a:latin typeface="Cambria Math" panose="02040503050406030204" pitchFamily="18" charset="0"/>
                  </a:rPr>
                  <a:t>$84$</a:t>
                </a:r>
                <a:r>
                  <a:rPr sz="2400" b="0">
                    <a:solidFill>
                      <a:srgbClr val="111827"/>
                    </a:solidFill>
                    <a:latin typeface="Arial"/>
                  </a:rPr>
                  <a:t>: </a:t>
                </a:r>
                <a:r>
                  <a:rPr lang="en-IN" sz="2400">
                    <a:solidFill>
                      <a:srgbClr val="111827"/>
                    </a:solidFill>
                    <a:latin typeface="Cambria Math" panose="02040503050406030204" pitchFamily="18" charset="0"/>
                  </a:rPr>
                  <a:t>$P(A\cap B\cap 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$P(A\cup B\cup C)=P(A)+P(B)+P(C)-P(A\cap B)-P(B\cap C)-P(A\cap C)+P(A\cap B\cap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$=\frac{12+8+7-4-1-1+0}{50}=\frac{21}{50}$</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21</m:t>
                        </m:r>
                      </m:num>
                      <m:den>
                        <m:r>
                          <a:rPr lang="en-IN" sz="2800" i="1">
                            <a:solidFill>
                              <a:srgbClr val="15803D"/>
                            </a:solidFill>
                            <a:latin typeface="Cambria Math" panose="02040503050406030204" pitchFamily="18" charset="0"/>
                          </a:rPr>
                          <m:t>50</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$\frac{21}{50}$</a:t>
                </a:r>
                <a:endParaRPr sz="2800">
                  <a:solidFill>
                    <a:srgbClr val="15803D"/>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three sets as a disjoint union: multiples of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then new multiples of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then new multiples of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three sets as a disjoint union: multiples of </a:t>
                </a:r>
                <a:r>
                  <a:rPr lang="en-IN" sz="2400">
                    <a:solidFill>
                      <a:srgbClr val="78350F"/>
                    </a:solidFill>
                    <a:latin typeface="Cambria Math" panose="02040503050406030204" pitchFamily="18" charset="0"/>
                  </a:rPr>
                  <a:t>$4$</a:t>
                </a:r>
                <a:r>
                  <a:rPr sz="2400" b="0">
                    <a:solidFill>
                      <a:srgbClr val="78350F"/>
                    </a:solidFill>
                    <a:latin typeface="Arial"/>
                  </a:rPr>
                  <a:t>, then new multiples of </a:t>
                </a:r>
                <a:r>
                  <a:rPr lang="en-IN" sz="2400">
                    <a:solidFill>
                      <a:srgbClr val="78350F"/>
                    </a:solidFill>
                    <a:latin typeface="Cambria Math" panose="02040503050406030204" pitchFamily="18" charset="0"/>
                  </a:rPr>
                  <a:t>$6$</a:t>
                </a:r>
                <a:r>
                  <a:rPr sz="2400" b="0">
                    <a:solidFill>
                      <a:srgbClr val="78350F"/>
                    </a:solidFill>
                    <a:latin typeface="Arial"/>
                  </a:rPr>
                  <a:t>, then new multiples of </a:t>
                </a:r>
                <a:r>
                  <a:rPr lang="en-IN" sz="2400">
                    <a:solidFill>
                      <a:srgbClr val="78350F"/>
                    </a:solidFill>
                    <a:latin typeface="Cambria Math" panose="02040503050406030204" pitchFamily="18" charset="0"/>
                  </a:rPr>
                  <a:t>$7$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that is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that are not multiples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(i.e. not of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that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not already counted: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were counted), that is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so the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$4$</a:t>
                </a:r>
                <a:r>
                  <a:rPr sz="2400" b="0">
                    <a:solidFill>
                      <a:srgbClr val="111827"/>
                    </a:solidFill>
                    <a:latin typeface="Arial"/>
                  </a:rPr>
                  <a:t> up to </a:t>
                </a:r>
                <a:r>
                  <a:rPr lang="en-IN" sz="2400">
                    <a:solidFill>
                      <a:srgbClr val="111827"/>
                    </a:solidFill>
                    <a:latin typeface="Cambria Math" panose="02040503050406030204" pitchFamily="18" charset="0"/>
                  </a:rPr>
                  <a:t>$50$</a:t>
                </a:r>
                <a:r>
                  <a:rPr sz="2400" b="0">
                    <a:solidFill>
                      <a:srgbClr val="111827"/>
                    </a:solidFill>
                    <a:latin typeface="Arial"/>
                  </a:rPr>
                  <a:t>: </a:t>
                </a:r>
                <a:r>
                  <a:rPr lang="en-IN" sz="2400">
                    <a:solidFill>
                      <a:srgbClr val="111827"/>
                    </a:solidFill>
                    <a:latin typeface="Cambria Math" panose="02040503050406030204" pitchFamily="18" charset="0"/>
                  </a:rPr>
                  <a:t>$4,8,\dots,48$</a:t>
                </a:r>
                <a:r>
                  <a:rPr sz="2400" b="0">
                    <a:solidFill>
                      <a:srgbClr val="111827"/>
                    </a:solidFill>
                    <a:latin typeface="Arial"/>
                  </a:rPr>
                  <a:t>, that is </a:t>
                </a:r>
                <a:r>
                  <a:rPr lang="en-IN" sz="2400">
                    <a:solidFill>
                      <a:srgbClr val="111827"/>
                    </a:solidFill>
                    <a:latin typeface="Cambria Math" panose="02040503050406030204" pitchFamily="18" charset="0"/>
                  </a:rPr>
                  <a:t>$12$</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$6$</a:t>
                </a:r>
                <a:r>
                  <a:rPr sz="2400" b="0">
                    <a:solidFill>
                      <a:srgbClr val="111827"/>
                    </a:solidFill>
                    <a:latin typeface="Arial"/>
                  </a:rPr>
                  <a:t> that are not multiples of </a:t>
                </a:r>
                <a:r>
                  <a:rPr lang="en-IN" sz="2400">
                    <a:solidFill>
                      <a:srgbClr val="111827"/>
                    </a:solidFill>
                    <a:latin typeface="Cambria Math" panose="02040503050406030204" pitchFamily="18" charset="0"/>
                  </a:rPr>
                  <a:t>$4$</a:t>
                </a:r>
                <a:r>
                  <a:rPr sz="2400" b="0">
                    <a:solidFill>
                      <a:srgbClr val="111827"/>
                    </a:solidFill>
                    <a:latin typeface="Arial"/>
                  </a:rPr>
                  <a:t> (i.e. not of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$6,18,30,42$</a:t>
                </a:r>
                <a:r>
                  <a:rPr sz="2400" b="0">
                    <a:solidFill>
                      <a:srgbClr val="111827"/>
                    </a:solidFill>
                    <a:latin typeface="Arial"/>
                  </a:rPr>
                  <a:t>, that is </a:t>
                </a:r>
                <a:r>
                  <a:rPr lang="en-IN" sz="2400">
                    <a:solidFill>
                      <a:srgbClr val="111827"/>
                    </a:solidFill>
                    <a:latin typeface="Cambria Math" panose="02040503050406030204" pitchFamily="18" charset="0"/>
                  </a:rPr>
                  <a:t>$4$</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$7$</a:t>
                </a:r>
                <a:r>
                  <a:rPr sz="2400" b="0">
                    <a:solidFill>
                      <a:srgbClr val="111827"/>
                    </a:solidFill>
                    <a:latin typeface="Arial"/>
                  </a:rPr>
                  <a:t> not already counted: </a:t>
                </a:r>
                <a:r>
                  <a:rPr lang="en-IN" sz="2400">
                    <a:solidFill>
                      <a:srgbClr val="111827"/>
                    </a:solidFill>
                    <a:latin typeface="Cambria Math" panose="02040503050406030204" pitchFamily="18" charset="0"/>
                  </a:rPr>
                  <a:t>$7,14,21,35,49$</a:t>
                </a:r>
                <a:r>
                  <a:rPr sz="2400" b="0">
                    <a:solidFill>
                      <a:srgbClr val="111827"/>
                    </a:solidFill>
                    <a:latin typeface="Arial"/>
                  </a:rPr>
                  <a:t> (</a:t>
                </a:r>
                <a:r>
                  <a:rPr lang="en-IN" sz="2400">
                    <a:solidFill>
                      <a:srgbClr val="111827"/>
                    </a:solidFill>
                    <a:latin typeface="Cambria Math" panose="02040503050406030204" pitchFamily="18" charset="0"/>
                  </a:rPr>
                  <a:t>$28$</a:t>
                </a:r>
                <a:r>
                  <a:rPr sz="2400" b="0">
                    <a:solidFill>
                      <a:srgbClr val="111827"/>
                    </a:solidFill>
                    <a:latin typeface="Arial"/>
                  </a:rPr>
                  <a:t> is a multiple of </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$42$</a:t>
                </a:r>
                <a:r>
                  <a:rPr sz="2400" b="0">
                    <a:solidFill>
                      <a:srgbClr val="111827"/>
                    </a:solidFill>
                    <a:latin typeface="Arial"/>
                  </a:rPr>
                  <a:t> of </a:t>
                </a:r>
                <a:r>
                  <a:rPr lang="en-IN" sz="2400">
                    <a:solidFill>
                      <a:srgbClr val="111827"/>
                    </a:solidFill>
                    <a:latin typeface="Cambria Math" panose="02040503050406030204" pitchFamily="18" charset="0"/>
                  </a:rPr>
                  <a:t>$6$</a:t>
                </a:r>
                <a:r>
                  <a:rPr sz="2400" b="0">
                    <a:solidFill>
                      <a:srgbClr val="111827"/>
                    </a:solidFill>
                    <a:latin typeface="Arial"/>
                  </a:rPr>
                  <a:t> were counted), that is </a:t>
                </a:r>
                <a:r>
                  <a:rPr lang="en-IN" sz="2400">
                    <a:solidFill>
                      <a:srgbClr val="111827"/>
                    </a:solidFill>
                    <a:latin typeface="Cambria Math" panose="02040503050406030204" pitchFamily="18" charset="0"/>
                  </a:rPr>
                  <a:t>$5$</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$=12+4+5=21$</a:t>
                </a:r>
                <a:r>
                  <a:rPr sz="2400" b="0">
                    <a:solidFill>
                      <a:srgbClr val="111827"/>
                    </a:solidFill>
                    <a:latin typeface="Arial"/>
                  </a:rPr>
                  <a:t>, so the probability is </a:t>
                </a:r>
                <a:r>
                  <a:rPr lang="en-IN" sz="2400">
                    <a:solidFill>
                      <a:srgbClr val="111827"/>
                    </a:solidFill>
                    <a:latin typeface="Cambria Math" panose="02040503050406030204" pitchFamily="18" charset="0"/>
                  </a:rPr>
                  <a:t>$\frac{21}{50}$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21</m:t>
                        </m:r>
                      </m:num>
                      <m:den>
                        <m:r>
                          <a:rPr lang="en-IN" sz="2800" i="1">
                            <a:solidFill>
                              <a:srgbClr val="15803D"/>
                            </a:solidFill>
                            <a:latin typeface="Cambria Math" panose="02040503050406030204" pitchFamily="18" charset="0"/>
                          </a:rPr>
                          <m:t>50</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$\frac{21}{50}$</a:t>
                </a:r>
                <a:endParaRPr sz="2800">
                  <a:solidFill>
                    <a:srgbClr val="15803D"/>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a multiple of both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iff it is a multiple of </a:t>
                </a:r>
                <a14:m>
                  <m:oMath xmlns:m="http://schemas.openxmlformats.org/officeDocument/2006/math">
                    <m:r>
                      <m:rPr>
                        <m:sty m:val="p"/>
                      </m:rPr>
                      <a:rPr lang="en-IN" sz="2400">
                        <a:solidFill>
                          <a:srgbClr val="111827"/>
                        </a:solidFill>
                        <a:latin typeface="Cambria Math" panose="02040503050406030204" pitchFamily="18" charset="0"/>
                      </a:rPr>
                      <m:t>lcm</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(not of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unless they are coprime).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multiples of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Three-set inclusion-exclusion: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a multiple of both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iff it is a multiple of </a:t>
                </a:r>
                <a:r>
                  <a:rPr lang="en-IN" sz="2400">
                    <a:solidFill>
                      <a:srgbClr val="111827"/>
                    </a:solidFill>
                    <a:latin typeface="Cambria Math" panose="02040503050406030204" pitchFamily="18" charset="0"/>
                  </a:rPr>
                  <a:t>$\operatorname{lcm}(a,b)$</a:t>
                </a:r>
                <a:r>
                  <a:rPr sz="2400" b="0">
                    <a:solidFill>
                      <a:srgbClr val="111827"/>
                    </a:solidFill>
                    <a:latin typeface="Arial"/>
                  </a:rPr>
                  <a:t> (not of </a:t>
                </a:r>
                <a:r>
                  <a:rPr lang="en-IN" sz="2400">
                    <a:solidFill>
                      <a:srgbClr val="111827"/>
                    </a:solidFill>
                    <a:latin typeface="Cambria Math" panose="02040503050406030204" pitchFamily="18" charset="0"/>
                  </a:rPr>
                  <a:t>$ab$</a:t>
                </a:r>
                <a:r>
                  <a:rPr sz="2400" b="0">
                    <a:solidFill>
                      <a:srgbClr val="111827"/>
                    </a:solidFill>
                    <a:latin typeface="Arial"/>
                  </a:rPr>
                  <a:t> unless they are coprime).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multiples of </a:t>
                </a:r>
                <a:r>
                  <a:rPr lang="en-IN" sz="2400">
                    <a:solidFill>
                      <a:srgbClr val="111827"/>
                    </a:solidFill>
                    <a:latin typeface="Cambria Math" panose="02040503050406030204" pitchFamily="18" charset="0"/>
                  </a:rPr>
                  <a:t>$d$</a:t>
                </a:r>
                <a:r>
                  <a:rPr sz="2400" b="0">
                    <a:solidFill>
                      <a:srgbClr val="111827"/>
                    </a:solidFill>
                    <a:latin typeface="Arial"/>
                  </a:rPr>
                  <a:t> in </a:t>
                </a:r>
                <a:r>
                  <a:rPr lang="en-IN" sz="2400">
                    <a:solidFill>
                      <a:srgbClr val="111827"/>
                    </a:solidFill>
                    <a:latin typeface="Cambria Math" panose="02040503050406030204" pitchFamily="18" charset="0"/>
                  </a:rPr>
                  <a:t>$1..N$</a:t>
                </a:r>
                <a:r>
                  <a:rPr sz="2400" b="0">
                    <a:solidFill>
                      <a:srgbClr val="111827"/>
                    </a:solidFill>
                    <a:latin typeface="Arial"/>
                  </a:rPr>
                  <a:t> is </a:t>
                </a:r>
                <a:r>
                  <a:rPr lang="en-IN" sz="2400">
                    <a:solidFill>
                      <a:srgbClr val="111827"/>
                    </a:solidFill>
                    <a:latin typeface="Cambria Math" panose="02040503050406030204" pitchFamily="18" charset="0"/>
                  </a:rPr>
                  <a:t>$\lfloor N/d\rfloor$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Three-set inclusion-exclusion: </a:t>
                </a:r>
                <a:r>
                  <a:rPr lang="en-IN" sz="2400">
                    <a:solidFill>
                      <a:srgbClr val="111827"/>
                    </a:solidFill>
                    <a:latin typeface="Cambria Math" panose="02040503050406030204" pitchFamily="18" charset="0"/>
                  </a:rPr>
                  <a:t>$|A\cup B\cup C|=\sum|A|-\sum|A\cap B|+|A\cap B\cap 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integers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are chosen with replacement from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probability that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5</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62</m:t>
                        </m:r>
                      </m:num>
                      <m:den>
                        <m:r>
                          <a:rPr lang="en-IN" sz="2400" i="1">
                            <a:solidFill>
                              <a:srgbClr val="111827"/>
                            </a:solidFill>
                            <a:latin typeface="Cambria Math" panose="02040503050406030204" pitchFamily="18" charset="0"/>
                          </a:rPr>
                          <m:t>121</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121</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121</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121</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integers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are chosen with replacement from the set </a:t>
                </a:r>
                <a:r>
                  <a:rPr lang="en-IN" sz="2400">
                    <a:solidFill>
                      <a:srgbClr val="111827"/>
                    </a:solidFill>
                    <a:latin typeface="Cambria Math" panose="02040503050406030204" pitchFamily="18" charset="0"/>
                  </a:rPr>
                  <a:t>$\{0,1,2,3,\dots,10\}$</a:t>
                </a:r>
                <a:r>
                  <a:rPr sz="2400" b="0">
                    <a:solidFill>
                      <a:srgbClr val="111827"/>
                    </a:solidFill>
                    <a:latin typeface="Arial"/>
                  </a:rPr>
                  <a:t>. Then the probability that </a:t>
                </a:r>
                <a:r>
                  <a:rPr lang="en-IN" sz="2400">
                    <a:solidFill>
                      <a:srgbClr val="111827"/>
                    </a:solidFill>
                    <a:latin typeface="Cambria Math" panose="02040503050406030204" pitchFamily="18" charset="0"/>
                  </a:rPr>
                  <a:t>$|x-y|&gt;5$</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$\frac{62}{121}$</a:t>
                </a:r>
                <a:r>
                  <a:rPr sz="2400" b="0">
                    <a:solidFill>
                      <a:srgbClr val="111827"/>
                    </a:solidFill>
                    <a:latin typeface="Arial"/>
                  </a:rPr>
                  <a:t>   (B) </a:t>
                </a:r>
                <a:r>
                  <a:rPr lang="en-IN" sz="2400">
                    <a:solidFill>
                      <a:srgbClr val="111827"/>
                    </a:solidFill>
                    <a:latin typeface="Cambria Math" panose="02040503050406030204" pitchFamily="18" charset="0"/>
                  </a:rPr>
                  <a:t>$\frac{60}{121}$</a:t>
                </a:r>
                <a:r>
                  <a:rPr sz="2400" b="0">
                    <a:solidFill>
                      <a:srgbClr val="111827"/>
                    </a:solidFill>
                    <a:latin typeface="Arial"/>
                  </a:rPr>
                  <a:t>   (C) </a:t>
                </a:r>
                <a:r>
                  <a:rPr lang="en-IN" sz="2400">
                    <a:solidFill>
                      <a:srgbClr val="111827"/>
                    </a:solidFill>
                    <a:latin typeface="Cambria Math" panose="02040503050406030204" pitchFamily="18" charset="0"/>
                  </a:rPr>
                  <a:t>$\frac{31}{121}$</a:t>
                </a:r>
                <a:r>
                  <a:rPr sz="2400" b="0">
                    <a:solidFill>
                      <a:srgbClr val="111827"/>
                    </a:solidFill>
                    <a:latin typeface="Arial"/>
                  </a:rPr>
                  <a:t>   (D) </a:t>
                </a:r>
                <a:r>
                  <a:rPr lang="en-IN" sz="2400">
                    <a:solidFill>
                      <a:srgbClr val="111827"/>
                    </a:solidFill>
                    <a:latin typeface="Cambria Math" panose="02040503050406030204" pitchFamily="18" charset="0"/>
                  </a:rPr>
                  <a:t>$\frac{30}{121}$</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an event, Permutations and combinations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5</m:t>
                    </m:r>
                  </m:oMath>
                </a14:m>
                <a:r>
                  <a:rPr sz="2400" b="0">
                    <a:solidFill>
                      <a:srgbClr val="78350F"/>
                    </a:solidFill>
                    <a:latin typeface="Arial"/>
                  </a:rPr>
                  <a:t> splits into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which are mirror images; count one and double.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$|x-y|&gt;5$</a:t>
                </a:r>
                <a:r>
                  <a:rPr sz="2400" b="0">
                    <a:solidFill>
                      <a:srgbClr val="78350F"/>
                    </a:solidFill>
                    <a:latin typeface="Arial"/>
                  </a:rPr>
                  <a:t> splits into </a:t>
                </a:r>
                <a:r>
                  <a:rPr lang="en-IN" sz="2400">
                    <a:solidFill>
                      <a:srgbClr val="78350F"/>
                    </a:solidFill>
                    <a:latin typeface="Cambria Math" panose="02040503050406030204" pitchFamily="18" charset="0"/>
                  </a:rPr>
                  <a:t>$y-x\ge6$</a:t>
                </a:r>
                <a:r>
                  <a:rPr sz="2400" b="0">
                    <a:solidFill>
                      <a:srgbClr val="78350F"/>
                    </a:solidFill>
                    <a:latin typeface="Arial"/>
                  </a:rPr>
                  <a:t> and </a:t>
                </a:r>
                <a:r>
                  <a:rPr lang="en-IN" sz="2400">
                    <a:solidFill>
                      <a:srgbClr val="78350F"/>
                    </a:solidFill>
                    <a:latin typeface="Cambria Math" panose="02040503050406030204" pitchFamily="18" charset="0"/>
                  </a:rPr>
                  <a:t>$x-y\ge6$</a:t>
                </a:r>
                <a:r>
                  <a:rPr sz="2400" b="0">
                    <a:solidFill>
                      <a:srgbClr val="78350F"/>
                    </a:solidFill>
                    <a:latin typeface="Arial"/>
                  </a:rPr>
                  <a:t>, which are mirror images; count one and double.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ordered pairs: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oMath>
                </a14:m>
                <a:r>
                  <a:rPr sz="2400" b="0">
                    <a:solidFill>
                      <a:srgbClr val="111827"/>
                    </a:solidFill>
                    <a:latin typeface="Arial"/>
                  </a:rPr>
                  <a:t> first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values).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values);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ordered pairs: </a:t>
                </a:r>
                <a:r>
                  <a:rPr lang="en-IN" sz="2400">
                    <a:solidFill>
                      <a:srgbClr val="111827"/>
                    </a:solidFill>
                    <a:latin typeface="Cambria Math" panose="02040503050406030204" pitchFamily="18" charset="0"/>
                  </a:rPr>
                  <a:t>$11\times11=121$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$x&lt;y$</a:t>
                </a:r>
                <a:r>
                  <a:rPr sz="2400" b="0">
                    <a:solidFill>
                      <a:srgbClr val="111827"/>
                    </a:solidFill>
                    <a:latin typeface="Arial"/>
                  </a:rPr>
                  <a:t> first with </a:t>
                </a:r>
                <a:r>
                  <a:rPr lang="en-IN" sz="2400">
                    <a:solidFill>
                      <a:srgbClr val="111827"/>
                    </a:solidFill>
                    <a:latin typeface="Cambria Math" panose="02040503050406030204" pitchFamily="18" charset="0"/>
                  </a:rPr>
                  <a:t>$y-x\ge6$</a:t>
                </a:r>
                <a:r>
                  <a:rPr sz="2400" b="0">
                    <a:solidFill>
                      <a:srgbClr val="111827"/>
                    </a:solidFill>
                    <a:latin typeface="Arial"/>
                  </a:rPr>
                  <a:t>: </a:t>
                </a:r>
                <a:r>
                  <a:rPr lang="en-IN" sz="2400">
                    <a:solidFill>
                      <a:srgbClr val="111827"/>
                    </a:solidFill>
                    <a:latin typeface="Cambria Math" panose="02040503050406030204" pitchFamily="18" charset="0"/>
                  </a:rPr>
                  <a:t>$x=0$</a:t>
                </a:r>
                <a:r>
                  <a:rPr sz="2400" b="0">
                    <a:solidFill>
                      <a:srgbClr val="111827"/>
                    </a:solidFill>
                    <a:latin typeface="Arial"/>
                  </a:rPr>
                  <a:t> gives </a:t>
                </a:r>
                <a:r>
                  <a:rPr lang="en-IN" sz="2400">
                    <a:solidFill>
                      <a:srgbClr val="111827"/>
                    </a:solidFill>
                    <a:latin typeface="Cambria Math" panose="02040503050406030204" pitchFamily="18" charset="0"/>
                  </a:rPr>
                  <a:t>$y=6,7,8,9,10$</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values).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a:t>
                </a:r>
                <a:r>
                  <a:rPr sz="2400" b="0">
                    <a:solidFill>
                      <a:srgbClr val="111827"/>
                    </a:solidFill>
                    <a:latin typeface="Arial"/>
                  </a:rPr>
                  <a:t> gives </a:t>
                </a:r>
                <a:r>
                  <a:rPr lang="en-IN" sz="2400">
                    <a:solidFill>
                      <a:srgbClr val="111827"/>
                    </a:solidFill>
                    <a:latin typeface="Cambria Math" panose="02040503050406030204" pitchFamily="18" charset="0"/>
                  </a:rPr>
                  <a:t>$y=7,8,9,10$</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values); </a:t>
                </a:r>
                <a:r>
                  <a:rPr lang="en-IN" sz="2400">
                    <a:solidFill>
                      <a:srgbClr val="111827"/>
                    </a:solidFill>
                    <a:latin typeface="Cambria Math" panose="02040503050406030204" pitchFamily="18" charset="0"/>
                  </a:rPr>
                  <a:t>$x=2$</a:t>
                </a:r>
                <a:r>
                  <a:rPr sz="2400" b="0">
                    <a:solidFill>
                      <a:srgbClr val="111827"/>
                    </a:solidFill>
                    <a:latin typeface="Arial"/>
                  </a:rPr>
                  <a:t> gives </a:t>
                </a:r>
                <a:r>
                  <a:rPr lang="en-IN" sz="2400">
                    <a:solidFill>
                      <a:srgbClr val="111827"/>
                    </a:solidFill>
                    <a:latin typeface="Cambria Math" panose="02040503050406030204" pitchFamily="18" charset="0"/>
                  </a:rPr>
                  <a:t>$y=8,9,10$</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$x=3$</a:t>
                </a:r>
                <a:r>
                  <a:rPr sz="2400" b="0">
                    <a:solidFill>
                      <a:srgbClr val="111827"/>
                    </a:solidFill>
                    <a:latin typeface="Arial"/>
                  </a:rPr>
                  <a:t> gives </a:t>
                </a:r>
                <a:r>
                  <a:rPr lang="en-IN" sz="2400">
                    <a:solidFill>
                      <a:srgbClr val="111827"/>
                    </a:solidFill>
                    <a:latin typeface="Cambria Math" panose="02040503050406030204" pitchFamily="18" charset="0"/>
                  </a:rPr>
                  <a:t>$y=9,10$</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$x=4$</a:t>
                </a:r>
                <a:r>
                  <a:rPr sz="2400" b="0">
                    <a:solidFill>
                      <a:srgbClr val="111827"/>
                    </a:solidFill>
                    <a:latin typeface="Arial"/>
                  </a:rPr>
                  <a:t> gives </a:t>
                </a:r>
                <a:r>
                  <a:rPr lang="en-IN" sz="2400">
                    <a:solidFill>
                      <a:srgbClr val="111827"/>
                    </a:solidFill>
                    <a:latin typeface="Cambria Math" panose="02040503050406030204" pitchFamily="18" charset="0"/>
                  </a:rPr>
                  <a:t>$y=10$</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no value of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number of pairs have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𝑦</m:t>
                    </m:r>
                  </m:oMath>
                </a14:m>
                <a:r>
                  <a:rPr sz="2400" b="0">
                    <a:solidFill>
                      <a:srgbClr val="111827"/>
                    </a:solidFill>
                    <a:latin typeface="Arial"/>
                  </a:rPr>
                  <a:t>, so total favourable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121</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$x=5$</a:t>
                </a:r>
                <a:r>
                  <a:rPr sz="2400" b="0">
                    <a:solidFill>
                      <a:srgbClr val="111827"/>
                    </a:solidFill>
                    <a:latin typeface="Arial"/>
                  </a:rPr>
                  <a:t>: no value of </a:t>
                </a:r>
                <a:r>
                  <a:rPr lang="en-IN" sz="2400">
                    <a:solidFill>
                      <a:srgbClr val="111827"/>
                    </a:solidFill>
                    <a:latin typeface="Cambria Math" panose="02040503050406030204" pitchFamily="18" charset="0"/>
                  </a:rPr>
                  <a:t>$y$</a:t>
                </a:r>
                <a:r>
                  <a:rPr sz="2400" b="0">
                    <a:solidFill>
                      <a:srgbClr val="111827"/>
                    </a:solidFill>
                    <a:latin typeface="Arial"/>
                  </a:rPr>
                  <a:t> is 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number of pairs have </a:t>
                </a:r>
                <a:r>
                  <a:rPr lang="en-IN" sz="2400">
                    <a:solidFill>
                      <a:srgbClr val="111827"/>
                    </a:solidFill>
                    <a:latin typeface="Cambria Math" panose="02040503050406030204" pitchFamily="18" charset="0"/>
                  </a:rPr>
                  <a:t>$x&gt;y$</a:t>
                </a:r>
                <a:r>
                  <a:rPr sz="2400" b="0">
                    <a:solidFill>
                      <a:srgbClr val="111827"/>
                    </a:solidFill>
                    <a:latin typeface="Arial"/>
                  </a:rPr>
                  <a:t>, so total favourable </a:t>
                </a:r>
                <a:r>
                  <a:rPr lang="en-IN" sz="2400">
                    <a:solidFill>
                      <a:srgbClr val="111827"/>
                    </a:solidFill>
                    <a:latin typeface="Cambria Math" panose="02040503050406030204" pitchFamily="18" charset="0"/>
                  </a:rPr>
                  <a:t>$=(5+4+3+2+1)\times2=30$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r>
                  <a:rPr lang="en-IN" sz="2400">
                    <a:solidFill>
                      <a:srgbClr val="111827"/>
                    </a:solidFill>
                    <a:latin typeface="Cambria Math" panose="02040503050406030204" pitchFamily="18" charset="0"/>
                  </a:rPr>
                  <a:t>$=\frac{30}{121}$</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30</m:t>
                        </m:r>
                      </m:num>
                      <m:den>
                        <m:r>
                          <a:rPr lang="en-IN" sz="2800" i="1">
                            <a:solidFill>
                              <a:srgbClr val="15803D"/>
                            </a:solidFill>
                            <a:latin typeface="Cambria Math" panose="02040503050406030204" pitchFamily="18" charset="0"/>
                          </a:rPr>
                          <m:t>121</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$\frac{30}{121}$</a:t>
                </a:r>
                <a:endParaRPr sz="2800">
                  <a:solidFill>
                    <a:srgbClr val="15803D"/>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Stars and bars: put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count the non-negative solutions.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Stars and bars: put </a:t>
                </a:r>
                <a:r>
                  <a:rPr lang="en-IN" sz="2400">
                    <a:solidFill>
                      <a:srgbClr val="78350F"/>
                    </a:solidFill>
                    <a:latin typeface="Cambria Math" panose="02040503050406030204" pitchFamily="18" charset="0"/>
                  </a:rPr>
                  <a:t>$y=x+6+u$</a:t>
                </a:r>
                <a:r>
                  <a:rPr sz="2400" b="0">
                    <a:solidFill>
                      <a:srgbClr val="78350F"/>
                    </a:solidFill>
                    <a:latin typeface="Arial"/>
                  </a:rPr>
                  <a:t> with </a:t>
                </a:r>
                <a:r>
                  <a:rPr lang="en-IN" sz="2400">
                    <a:solidFill>
                      <a:srgbClr val="78350F"/>
                    </a:solidFill>
                    <a:latin typeface="Cambria Math" panose="02040503050406030204" pitchFamily="18" charset="0"/>
                  </a:rPr>
                  <a:t>$u\ge0$</a:t>
                </a:r>
                <a:r>
                  <a:rPr sz="2400" b="0">
                    <a:solidFill>
                      <a:srgbClr val="78350F"/>
                    </a:solidFill>
                    <a:latin typeface="Arial"/>
                  </a:rPr>
                  <a:t> and count the non-negative solutions.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write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condition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non-negative integer solutions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equals those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which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mirror case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also gives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so favourable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and the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121</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$y-x\ge6$</a:t>
                </a:r>
                <a:r>
                  <a:rPr sz="2400" b="0">
                    <a:solidFill>
                      <a:srgbClr val="111827"/>
                    </a:solidFill>
                    <a:latin typeface="Arial"/>
                  </a:rPr>
                  <a:t> write </a:t>
                </a:r>
                <a:r>
                  <a:rPr lang="en-IN" sz="2400">
                    <a:solidFill>
                      <a:srgbClr val="111827"/>
                    </a:solidFill>
                    <a:latin typeface="Cambria Math" panose="02040503050406030204" pitchFamily="18" charset="0"/>
                  </a:rPr>
                  <a:t>$y=x+6+u$</a:t>
                </a:r>
                <a:r>
                  <a:rPr sz="2400" b="0">
                    <a:solidFill>
                      <a:srgbClr val="111827"/>
                    </a:solidFill>
                    <a:latin typeface="Arial"/>
                  </a:rPr>
                  <a:t> with </a:t>
                </a:r>
                <a:r>
                  <a:rPr lang="en-IN" sz="2400">
                    <a:solidFill>
                      <a:srgbClr val="111827"/>
                    </a:solidFill>
                    <a:latin typeface="Cambria Math" panose="02040503050406030204" pitchFamily="18" charset="0"/>
                  </a:rPr>
                  <a:t>$u\ge0$</a:t>
                </a:r>
                <a:r>
                  <a:rPr sz="2400" b="0">
                    <a:solidFill>
                      <a:srgbClr val="111827"/>
                    </a:solidFill>
                    <a:latin typeface="Arial"/>
                  </a:rPr>
                  <a:t>; the condition </a:t>
                </a:r>
                <a:r>
                  <a:rPr lang="en-IN" sz="2400">
                    <a:solidFill>
                      <a:srgbClr val="111827"/>
                    </a:solidFill>
                    <a:latin typeface="Cambria Math" panose="02040503050406030204" pitchFamily="18" charset="0"/>
                  </a:rPr>
                  <a:t>$y\le10$</a:t>
                </a:r>
                <a:r>
                  <a:rPr sz="2400" b="0">
                    <a:solidFill>
                      <a:srgbClr val="111827"/>
                    </a:solidFill>
                    <a:latin typeface="Arial"/>
                  </a:rPr>
                  <a:t> gives </a:t>
                </a:r>
                <a:r>
                  <a:rPr lang="en-IN" sz="2400">
                    <a:solidFill>
                      <a:srgbClr val="111827"/>
                    </a:solidFill>
                    <a:latin typeface="Cambria Math" panose="02040503050406030204" pitchFamily="18" charset="0"/>
                  </a:rPr>
                  <a:t>$x+u\le4$</a:t>
                </a:r>
                <a:r>
                  <a:rPr sz="2400" b="0">
                    <a:solidFill>
                      <a:srgbClr val="111827"/>
                    </a:solidFill>
                    <a:latin typeface="Arial"/>
                  </a:rPr>
                  <a:t> with </a:t>
                </a:r>
                <a:r>
                  <a:rPr lang="en-IN" sz="2400">
                    <a:solidFill>
                      <a:srgbClr val="111827"/>
                    </a:solidFill>
                    <a:latin typeface="Cambria Math" panose="02040503050406030204" pitchFamily="18" charset="0"/>
                  </a:rPr>
                  <a:t>$x,u\ge0$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non-negative integer solutions of </a:t>
                </a:r>
                <a:r>
                  <a:rPr lang="en-IN" sz="2400">
                    <a:solidFill>
                      <a:srgbClr val="111827"/>
                    </a:solidFill>
                    <a:latin typeface="Cambria Math" panose="02040503050406030204" pitchFamily="18" charset="0"/>
                  </a:rPr>
                  <a:t>$x+u\le4$</a:t>
                </a:r>
                <a:r>
                  <a:rPr sz="2400" b="0">
                    <a:solidFill>
                      <a:srgbClr val="111827"/>
                    </a:solidFill>
                    <a:latin typeface="Arial"/>
                  </a:rPr>
                  <a:t> equals those of </a:t>
                </a:r>
                <a:r>
                  <a:rPr lang="en-IN" sz="2400">
                    <a:solidFill>
                      <a:srgbClr val="111827"/>
                    </a:solidFill>
                    <a:latin typeface="Cambria Math" panose="02040503050406030204" pitchFamily="18" charset="0"/>
                  </a:rPr>
                  <a:t>$x+u+w=4$</a:t>
                </a:r>
                <a:r>
                  <a:rPr sz="2400" b="0">
                    <a:solidFill>
                      <a:srgbClr val="111827"/>
                    </a:solidFill>
                    <a:latin typeface="Arial"/>
                  </a:rPr>
                  <a:t>, which is </a:t>
                </a:r>
                <a:r>
                  <a:rPr lang="en-IN" sz="2400">
                    <a:solidFill>
                      <a:srgbClr val="111827"/>
                    </a:solidFill>
                    <a:latin typeface="Cambria Math" panose="02040503050406030204" pitchFamily="18" charset="0"/>
                  </a:rPr>
                  <a:t>$\binom{6}{2}=15$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mirror case </a:t>
                </a:r>
                <a:r>
                  <a:rPr lang="en-IN" sz="2400">
                    <a:solidFill>
                      <a:srgbClr val="111827"/>
                    </a:solidFill>
                    <a:latin typeface="Cambria Math" panose="02040503050406030204" pitchFamily="18" charset="0"/>
                  </a:rPr>
                  <a:t>$x-y\ge6$</a:t>
                </a:r>
                <a:r>
                  <a:rPr sz="2400" b="0">
                    <a:solidFill>
                      <a:srgbClr val="111827"/>
                    </a:solidFill>
                    <a:latin typeface="Arial"/>
                  </a:rPr>
                  <a:t> also gives </a:t>
                </a:r>
                <a:r>
                  <a:rPr lang="en-IN" sz="2400">
                    <a:solidFill>
                      <a:srgbClr val="111827"/>
                    </a:solidFill>
                    <a:latin typeface="Cambria Math" panose="02040503050406030204" pitchFamily="18" charset="0"/>
                  </a:rPr>
                  <a:t>$15$</a:t>
                </a:r>
                <a:r>
                  <a:rPr sz="2400" b="0">
                    <a:solidFill>
                      <a:srgbClr val="111827"/>
                    </a:solidFill>
                    <a:latin typeface="Arial"/>
                  </a:rPr>
                  <a:t>, so favourable </a:t>
                </a:r>
                <a:r>
                  <a:rPr lang="en-IN" sz="2400">
                    <a:solidFill>
                      <a:srgbClr val="111827"/>
                    </a:solidFill>
                    <a:latin typeface="Cambria Math" panose="02040503050406030204" pitchFamily="18" charset="0"/>
                  </a:rPr>
                  <a:t>$=30$</a:t>
                </a:r>
                <a:r>
                  <a:rPr sz="2400" b="0">
                    <a:solidFill>
                      <a:srgbClr val="111827"/>
                    </a:solidFill>
                    <a:latin typeface="Arial"/>
                  </a:rPr>
                  <a:t> and the probability is </a:t>
                </a:r>
                <a:r>
                  <a:rPr lang="en-IN" sz="2400">
                    <a:solidFill>
                      <a:srgbClr val="111827"/>
                    </a:solidFill>
                    <a:latin typeface="Cambria Math" panose="02040503050406030204" pitchFamily="18" charset="0"/>
                  </a:rPr>
                  <a:t>$\frac{30}{121}$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30</m:t>
                        </m:r>
                      </m:num>
                      <m:den>
                        <m:r>
                          <a:rPr lang="en-IN" sz="2800" i="1">
                            <a:solidFill>
                              <a:srgbClr val="15803D"/>
                            </a:solidFill>
                            <a:latin typeface="Cambria Math" panose="02040503050406030204" pitchFamily="18" charset="0"/>
                          </a:rPr>
                          <m:t>121</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$\frac{30}{121}$</a:t>
                </a:r>
                <a:endParaRPr sz="2800">
                  <a:solidFill>
                    <a:srgbClr val="15803D"/>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 grid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pairs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number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form a triangle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points; 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double for the symmetric case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 grid </a:t>
                </a:r>
                <a:r>
                  <a:rPr lang="en-IN" sz="2400">
                    <a:solidFill>
                      <a:srgbClr val="111827"/>
                    </a:solidFill>
                    <a:latin typeface="Cambria Math" panose="02040503050406030204" pitchFamily="18" charset="0"/>
                  </a:rPr>
                  <a:t>$\{0,\dots,n\}^2$</a:t>
                </a:r>
                <a:r>
                  <a:rPr sz="2400" b="0">
                    <a:solidFill>
                      <a:srgbClr val="111827"/>
                    </a:solidFill>
                    <a:latin typeface="Arial"/>
                  </a:rPr>
                  <a:t>, pairs with </a:t>
                </a:r>
                <a:r>
                  <a:rPr lang="en-IN" sz="2400">
                    <a:solidFill>
                      <a:srgbClr val="111827"/>
                    </a:solidFill>
                    <a:latin typeface="Cambria Math" panose="02040503050406030204" pitchFamily="18" charset="0"/>
                  </a:rPr>
                  <a:t>$|x-y|=d$</a:t>
                </a:r>
                <a:r>
                  <a:rPr sz="2400" b="0">
                    <a:solidFill>
                      <a:srgbClr val="111827"/>
                    </a:solidFill>
                    <a:latin typeface="Arial"/>
                  </a:rPr>
                  <a:t> number </a:t>
                </a:r>
                <a:r>
                  <a:rPr lang="en-IN" sz="2400">
                    <a:solidFill>
                      <a:srgbClr val="111827"/>
                    </a:solidFill>
                    <a:latin typeface="Cambria Math" panose="02040503050406030204" pitchFamily="18" charset="0"/>
                  </a:rPr>
                  <a:t>$2(n+1-d)$</a:t>
                </a:r>
                <a:r>
                  <a:rPr sz="2400" b="0">
                    <a:solidFill>
                      <a:srgbClr val="111827"/>
                    </a:solidFill>
                    <a:latin typeface="Arial"/>
                  </a:rPr>
                  <a:t> for </a:t>
                </a:r>
                <a:r>
                  <a:rPr lang="en-IN" sz="2400">
                    <a:solidFill>
                      <a:srgbClr val="111827"/>
                    </a:solidFill>
                    <a:latin typeface="Cambria Math" panose="02040503050406030204" pitchFamily="18" charset="0"/>
                  </a:rPr>
                  <a:t>$d\ge1$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with </a:t>
                </a:r>
                <a:r>
                  <a:rPr lang="en-IN" sz="2400">
                    <a:solidFill>
                      <a:srgbClr val="111827"/>
                    </a:solidFill>
                    <a:latin typeface="Cambria Math" panose="02040503050406030204" pitchFamily="18" charset="0"/>
                  </a:rPr>
                  <a:t>$y-x\ge k$</a:t>
                </a:r>
                <a:r>
                  <a:rPr sz="2400" b="0">
                    <a:solidFill>
                      <a:srgbClr val="111827"/>
                    </a:solidFill>
                    <a:latin typeface="Arial"/>
                  </a:rPr>
                  <a:t> form a triangle with </a:t>
                </a:r>
                <a:r>
                  <a:rPr lang="en-IN" sz="2400">
                    <a:solidFill>
                      <a:srgbClr val="111827"/>
                    </a:solidFill>
                    <a:latin typeface="Cambria Math" panose="02040503050406030204" pitchFamily="18" charset="0"/>
                  </a:rPr>
                  <a:t>$\frac{(n+1-k)(n+2-k)}{2}$</a:t>
                </a:r>
                <a:r>
                  <a:rPr sz="2400" b="0">
                    <a:solidFill>
                      <a:srgbClr val="111827"/>
                    </a:solidFill>
                    <a:latin typeface="Arial"/>
                  </a:rPr>
                  <a:t> points; here </a:t>
                </a:r>
                <a:r>
                  <a:rPr lang="en-IN" sz="2400">
                    <a:solidFill>
                      <a:srgbClr val="111827"/>
                    </a:solidFill>
                    <a:latin typeface="Cambria Math" panose="02040503050406030204" pitchFamily="18" charset="0"/>
                  </a:rPr>
                  <a:t>$n=10,k=6$</a:t>
                </a:r>
                <a:r>
                  <a:rPr sz="2400" b="0">
                    <a:solidFill>
                      <a:srgbClr val="111827"/>
                    </a:solidFill>
                    <a:latin typeface="Arial"/>
                  </a:rPr>
                  <a:t>: </a:t>
                </a:r>
                <a:r>
                  <a:rPr lang="en-IN" sz="2400">
                    <a:solidFill>
                      <a:srgbClr val="111827"/>
                    </a:solidFill>
                    <a:latin typeface="Cambria Math" panose="02040503050406030204" pitchFamily="18" charset="0"/>
                  </a:rPr>
                  <a:t>$\frac{5\cdot6}{2}=15$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double for the symmetric case </a:t>
                </a:r>
                <a:r>
                  <a:rPr lang="en-IN" sz="2400">
                    <a:solidFill>
                      <a:srgbClr val="111827"/>
                    </a:solidFill>
                    <a:latin typeface="Cambria Math" panose="02040503050406030204" pitchFamily="18" charset="0"/>
                  </a:rPr>
                  <a:t>$x&gt;y$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Three rotten apples are accidentally mixed with fifteen good apples. Assuming the random variable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to be the number of rotten apples in a draw of two apples, the variance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num>
                      <m:den>
                        <m:r>
                          <a:rPr lang="en-IN" sz="2400" i="1">
                            <a:solidFill>
                              <a:srgbClr val="111827"/>
                            </a:solidFill>
                            <a:latin typeface="Cambria Math" panose="02040503050406030204" pitchFamily="18" charset="0"/>
                          </a:rPr>
                          <m:t>153</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37</m:t>
                        </m:r>
                      </m:num>
                      <m:den>
                        <m:r>
                          <a:rPr lang="en-IN" sz="2400" i="1">
                            <a:solidFill>
                              <a:srgbClr val="111827"/>
                            </a:solidFill>
                            <a:latin typeface="Cambria Math" panose="02040503050406030204" pitchFamily="18" charset="0"/>
                          </a:rPr>
                          <m:t>153</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47</m:t>
                        </m:r>
                      </m:num>
                      <m:den>
                        <m:r>
                          <a:rPr lang="en-IN" sz="2400" i="1">
                            <a:solidFill>
                              <a:srgbClr val="111827"/>
                            </a:solidFill>
                            <a:latin typeface="Cambria Math" panose="02040503050406030204" pitchFamily="18" charset="0"/>
                          </a:rPr>
                          <m:t>153</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57</m:t>
                        </m:r>
                      </m:num>
                      <m:den>
                        <m:r>
                          <a:rPr lang="en-IN" sz="2400" i="1">
                            <a:solidFill>
                              <a:srgbClr val="111827"/>
                            </a:solidFill>
                            <a:latin typeface="Cambria Math" panose="02040503050406030204" pitchFamily="18" charset="0"/>
                          </a:rPr>
                          <m:t>153</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Three rotten apples are accidentally mixed with fifteen good apples. Assuming the random variable </a:t>
                </a:r>
                <a:r>
                  <a:rPr lang="en-IN" sz="2400">
                    <a:solidFill>
                      <a:srgbClr val="111827"/>
                    </a:solidFill>
                    <a:latin typeface="Cambria Math" panose="02040503050406030204" pitchFamily="18" charset="0"/>
                  </a:rPr>
                  <a:t>$X$</a:t>
                </a:r>
                <a:r>
                  <a:rPr sz="2400" b="0">
                    <a:solidFill>
                      <a:srgbClr val="111827"/>
                    </a:solidFill>
                    <a:latin typeface="Arial"/>
                  </a:rPr>
                  <a:t> to be the number of rotten apples in a draw of two apples, the variance of </a:t>
                </a:r>
                <a:r>
                  <a:rPr lang="en-IN" sz="2400">
                    <a:solidFill>
                      <a:srgbClr val="111827"/>
                    </a:solidFill>
                    <a:latin typeface="Cambria Math" panose="02040503050406030204" pitchFamily="18" charset="0"/>
                  </a:rPr>
                  <a:t>$X$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$\frac{40}{153}$</a:t>
                </a:r>
                <a:r>
                  <a:rPr sz="2400" b="0">
                    <a:solidFill>
                      <a:srgbClr val="111827"/>
                    </a:solidFill>
                    <a:latin typeface="Arial"/>
                  </a:rPr>
                  <a:t>   (B) </a:t>
                </a:r>
                <a:r>
                  <a:rPr lang="en-IN" sz="2400">
                    <a:solidFill>
                      <a:srgbClr val="111827"/>
                    </a:solidFill>
                    <a:latin typeface="Cambria Math" panose="02040503050406030204" pitchFamily="18" charset="0"/>
                  </a:rPr>
                  <a:t>$\frac{37}{153}$</a:t>
                </a:r>
                <a:r>
                  <a:rPr sz="2400" b="0">
                    <a:solidFill>
                      <a:srgbClr val="111827"/>
                    </a:solidFill>
                    <a:latin typeface="Arial"/>
                  </a:rPr>
                  <a:t>   (C) </a:t>
                </a:r>
                <a:r>
                  <a:rPr lang="en-IN" sz="2400">
                    <a:solidFill>
                      <a:srgbClr val="111827"/>
                    </a:solidFill>
                    <a:latin typeface="Cambria Math" panose="02040503050406030204" pitchFamily="18" charset="0"/>
                  </a:rPr>
                  <a:t>$\frac{47}{153}$</a:t>
                </a:r>
                <a:r>
                  <a:rPr sz="2400" b="0">
                    <a:solidFill>
                      <a:srgbClr val="111827"/>
                    </a:solidFill>
                    <a:latin typeface="Arial"/>
                  </a:rPr>
                  <a:t>   (D) </a:t>
                </a:r>
                <a:r>
                  <a:rPr lang="en-IN" sz="2400">
                    <a:solidFill>
                      <a:srgbClr val="111827"/>
                    </a:solidFill>
                    <a:latin typeface="Cambria Math" panose="02040503050406030204" pitchFamily="18" charset="0"/>
                  </a:rPr>
                  <a:t>$\frac{57}{153}$</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distribution of a random variable, Mean and variance of a random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Build the distribution of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from hypergeometric counts, then use </a:t>
                </a:r>
                <a14:m>
                  <m:oMath xmlns:m="http://schemas.openxmlformats.org/officeDocument/2006/math">
                    <m:r>
                      <m:rPr>
                        <m:sty m:val="p"/>
                      </m:rPr>
                      <a:rPr lang="en-IN" sz="2400">
                        <a:solidFill>
                          <a:srgbClr val="78350F"/>
                        </a:solidFill>
                        <a:latin typeface="Cambria Math" panose="02040503050406030204" pitchFamily="18" charset="0"/>
                      </a:rPr>
                      <m:t>Var</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𝑋</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Build the distribution of </a:t>
                </a:r>
                <a:r>
                  <a:rPr lang="en-IN" sz="2400">
                    <a:solidFill>
                      <a:srgbClr val="78350F"/>
                    </a:solidFill>
                    <a:latin typeface="Cambria Math" panose="02040503050406030204" pitchFamily="18" charset="0"/>
                  </a:rPr>
                  <a:t>$X\in\{0,1,2\}$</a:t>
                </a:r>
                <a:r>
                  <a:rPr sz="2400" b="0">
                    <a:solidFill>
                      <a:srgbClr val="78350F"/>
                    </a:solidFill>
                    <a:latin typeface="Arial"/>
                  </a:rPr>
                  <a:t> from hypergeometric counts, then use </a:t>
                </a:r>
                <a:r>
                  <a:rPr lang="en-IN" sz="2400">
                    <a:solidFill>
                      <a:srgbClr val="78350F"/>
                    </a:solidFill>
                    <a:latin typeface="Cambria Math" panose="02040503050406030204" pitchFamily="18" charset="0"/>
                  </a:rPr>
                  <a:t>$\operatorname{Var}(X)=E(X^2)-[E(X)]^2$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of drawing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apples: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105</m:t>
                        </m:r>
                      </m:num>
                      <m:den>
                        <m:r>
                          <a:rPr lang="en-IN" sz="2400" i="1">
                            <a:solidFill>
                              <a:srgbClr val="111827"/>
                            </a:solidFill>
                            <a:latin typeface="Cambria Math" panose="02040503050406030204" pitchFamily="18" charset="0"/>
                          </a:rPr>
                          <m:t>153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153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153</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of drawing </a:t>
                </a:r>
                <a:r>
                  <a:rPr lang="en-IN" sz="2400">
                    <a:solidFill>
                      <a:srgbClr val="111827"/>
                    </a:solidFill>
                    <a:latin typeface="Cambria Math" panose="02040503050406030204" pitchFamily="18" charset="0"/>
                  </a:rPr>
                  <a:t>$2$</a:t>
                </a:r>
                <a:r>
                  <a:rPr sz="2400" b="0">
                    <a:solidFill>
                      <a:srgbClr val="111827"/>
                    </a:solidFill>
                    <a:latin typeface="Arial"/>
                  </a:rPr>
                  <a:t> of </a:t>
                </a:r>
                <a:r>
                  <a:rPr lang="en-IN" sz="2400">
                    <a:solidFill>
                      <a:srgbClr val="111827"/>
                    </a:solidFill>
                    <a:latin typeface="Cambria Math" panose="02040503050406030204" pitchFamily="18" charset="0"/>
                  </a:rPr>
                  <a:t>$18$</a:t>
                </a:r>
                <a:r>
                  <a:rPr sz="2400" b="0">
                    <a:solidFill>
                      <a:srgbClr val="111827"/>
                    </a:solidFill>
                    <a:latin typeface="Arial"/>
                  </a:rPr>
                  <a:t> apples: </a:t>
                </a:r>
                <a:r>
                  <a:rPr lang="en-IN" sz="2400">
                    <a:solidFill>
                      <a:srgbClr val="111827"/>
                    </a:solidFill>
                    <a:latin typeface="Cambria Math" panose="02040503050406030204" pitchFamily="18" charset="0"/>
                  </a:rPr>
                  <a:t>$^{18}C_2=153$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$P(X=0)=\frac{^{15}C_2}{^{18}C_2}=\frac{105}{153}$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$P(X=1)=\frac{^3C_1\cdot{}^{15}C_1}{^{18}C_2}=\frac{45}{153}$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$P(X=2)=\frac{^3C_2}{^{18}C_2}=\frac{3}{153}$</a:t>
                </a:r>
                <a:r>
                  <a:rPr sz="2400" b="0">
                    <a:solidFill>
                      <a:srgbClr val="111827"/>
                    </a:solidFill>
                    <a:latin typeface="Arial"/>
                  </a:rPr>
                  <a:t> (check: </a:t>
                </a:r>
                <a:r>
                  <a:rPr lang="en-IN" sz="2400">
                    <a:solidFill>
                      <a:srgbClr val="111827"/>
                    </a:solidFill>
                    <a:latin typeface="Cambria Math" panose="02040503050406030204" pitchFamily="18" charset="0"/>
                  </a:rPr>
                  <a:t>$105+45+3=153$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105</m:t>
                        </m:r>
                      </m:num>
                      <m:den>
                        <m:r>
                          <a:rPr lang="en-IN" sz="2400" i="1">
                            <a:solidFill>
                              <a:srgbClr val="111827"/>
                            </a:solidFill>
                            <a:latin typeface="Cambria Math" panose="02040503050406030204" pitchFamily="18" charset="0"/>
                          </a:rPr>
                          <m:t>153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153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153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153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153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153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57</m:t>
                        </m:r>
                      </m:num>
                      <m:den>
                        <m:r>
                          <a:rPr lang="en-IN" sz="2400" i="1">
                            <a:solidFill>
                              <a:srgbClr val="111827"/>
                            </a:solidFill>
                            <a:latin typeface="Cambria Math" panose="02040503050406030204" pitchFamily="18" charset="0"/>
                          </a:rPr>
                          <m:t>153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57</m:t>
                        </m:r>
                      </m:num>
                      <m:den>
                        <m:r>
                          <a:rPr lang="en-IN" sz="2400" i="1">
                            <a:solidFill>
                              <a:srgbClr val="111827"/>
                            </a:solidFill>
                            <a:latin typeface="Cambria Math" panose="02040503050406030204" pitchFamily="18" charset="0"/>
                          </a:rPr>
                          <m:t>153</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57</m:t>
                        </m:r>
                      </m:num>
                      <m:den>
                        <m:r>
                          <a:rPr lang="en-IN" sz="2400" i="1">
                            <a:solidFill>
                              <a:srgbClr val="111827"/>
                            </a:solidFill>
                            <a:latin typeface="Cambria Math" panose="02040503050406030204" pitchFamily="18" charset="0"/>
                          </a:rPr>
                          <m:t>153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153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num>
                      <m:den>
                        <m:r>
                          <a:rPr lang="en-IN" sz="2400" i="1">
                            <a:solidFill>
                              <a:srgbClr val="111827"/>
                            </a:solidFill>
                            <a:latin typeface="Cambria Math" panose="02040503050406030204" pitchFamily="18" charset="0"/>
                          </a:rPr>
                          <m:t>153</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$E(X)=0\cdot\frac{105}{153}+1\cdot\frac{45}{153}+2\cdot\frac{3}{153}=\frac{51}{153}=\frac13$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$E(X^2)=0+1\cdot\frac{45}{153}+4\cdot\frac{3}{153}=\frac{57}{153}$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$\operatorname{Var}(X)=\frac{57}{153}-\left(\frac13\right)^2=\frac{57}{153}-\frac{17}{153}=\frac{40}{153}$</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40</m:t>
                        </m:r>
                      </m:num>
                      <m:den>
                        <m:r>
                          <a:rPr lang="en-IN" sz="2800" i="1">
                            <a:solidFill>
                              <a:srgbClr val="15803D"/>
                            </a:solidFill>
                            <a:latin typeface="Cambria Math" panose="02040503050406030204" pitchFamily="18" charset="0"/>
                          </a:rPr>
                          <m:t>153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$\frac{40}{153}$</a:t>
                </a:r>
                <a:endParaRPr sz="2800">
                  <a:solidFill>
                    <a:srgbClr val="15803D"/>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hypergeometric variance formula directly.</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 hypergeometric: population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successes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draws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160</m:t>
                        </m:r>
                      </m:num>
                      <m:den>
                        <m:r>
                          <a:rPr lang="en-IN" sz="2400" i="1">
                            <a:solidFill>
                              <a:srgbClr val="111827"/>
                            </a:solidFill>
                            <a:latin typeface="Cambria Math" panose="02040503050406030204" pitchFamily="18" charset="0"/>
                          </a:rPr>
                          <m:t>612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num>
                      <m:den>
                        <m:r>
                          <a:rPr lang="en-IN" sz="2400" i="1">
                            <a:solidFill>
                              <a:srgbClr val="111827"/>
                            </a:solidFill>
                            <a:latin typeface="Cambria Math" panose="02040503050406030204" pitchFamily="18" charset="0"/>
                          </a:rPr>
                          <m:t>153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is hypergeometric: population </a:t>
                </a:r>
                <a:r>
                  <a:rPr lang="en-IN" sz="2400">
                    <a:solidFill>
                      <a:srgbClr val="111827"/>
                    </a:solidFill>
                    <a:latin typeface="Cambria Math" panose="02040503050406030204" pitchFamily="18" charset="0"/>
                  </a:rPr>
                  <a:t>$N=18$</a:t>
                </a:r>
                <a:r>
                  <a:rPr sz="2400" b="0">
                    <a:solidFill>
                      <a:srgbClr val="111827"/>
                    </a:solidFill>
                    <a:latin typeface="Arial"/>
                  </a:rPr>
                  <a:t>, successes </a:t>
                </a:r>
                <a:r>
                  <a:rPr lang="en-IN" sz="2400">
                    <a:solidFill>
                      <a:srgbClr val="111827"/>
                    </a:solidFill>
                    <a:latin typeface="Cambria Math" panose="02040503050406030204" pitchFamily="18" charset="0"/>
                  </a:rPr>
                  <a:t>$K=3$</a:t>
                </a:r>
                <a:r>
                  <a:rPr sz="2400" b="0">
                    <a:solidFill>
                      <a:srgbClr val="111827"/>
                    </a:solidFill>
                    <a:latin typeface="Arial"/>
                  </a:rPr>
                  <a:t>, draws </a:t>
                </a:r>
                <a:r>
                  <a:rPr lang="en-IN" sz="2400">
                    <a:solidFill>
                      <a:srgbClr val="111827"/>
                    </a:solidFill>
                    <a:latin typeface="Cambria Math" panose="02040503050406030204" pitchFamily="18" charset="0"/>
                  </a:rPr>
                  <a:t>$n=2$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$\operatorname{Var}(X)=n\cdot\frac KN\cdot\left(1-\frac KN\right)\cdot\frac{N-n}{N-1}$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$=2\cdot\frac{3}{18}\cdot\frac{15}{18}\cdot\frac{16}{17}=2\cdot\frac16\cdot\frac56\cdot\frac{16}{17}=\frac{160}{612}=\frac{40}{153}$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40</m:t>
                        </m:r>
                      </m:num>
                      <m:den>
                        <m:r>
                          <a:rPr lang="en-IN" sz="2800" i="1">
                            <a:solidFill>
                              <a:srgbClr val="15803D"/>
                            </a:solidFill>
                            <a:latin typeface="Cambria Math" panose="02040503050406030204" pitchFamily="18" charset="0"/>
                          </a:rPr>
                          <m:t>153</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$\frac{40}{153}$</a:t>
                </a:r>
                <a:endParaRPr sz="2800">
                  <a:solidFill>
                    <a:srgbClr val="15803D"/>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Hypergeometric: mean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oMath>
                </a14:m>
                <a:r>
                  <a:rPr sz="2400" b="0">
                    <a:solidFill>
                      <a:srgbClr val="111827"/>
                    </a:solidFill>
                    <a:latin typeface="Arial"/>
                  </a:rPr>
                  <a:t>, variance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𝑁</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(the last factor is the finite-population correction).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sampling without replacement the mean equals the binomial mean but the variance is smaller by the factor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that the distribution sums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Hypergeometric: mean </a:t>
                </a:r>
                <a:r>
                  <a:rPr lang="en-IN" sz="2400">
                    <a:solidFill>
                      <a:srgbClr val="111827"/>
                    </a:solidFill>
                    <a:latin typeface="Cambria Math" panose="02040503050406030204" pitchFamily="18" charset="0"/>
                  </a:rPr>
                  <a:t>$=\frac{nK}{N}$</a:t>
                </a:r>
                <a:r>
                  <a:rPr sz="2400" b="0">
                    <a:solidFill>
                      <a:srgbClr val="111827"/>
                    </a:solidFill>
                    <a:latin typeface="Arial"/>
                  </a:rPr>
                  <a:t>, variance </a:t>
                </a:r>
                <a:r>
                  <a:rPr lang="en-IN" sz="2400">
                    <a:solidFill>
                      <a:srgbClr val="111827"/>
                    </a:solidFill>
                    <a:latin typeface="Cambria Math" panose="02040503050406030204" pitchFamily="18" charset="0"/>
                  </a:rPr>
                  <a:t>$=n\frac KN\left(1-\frac KN\right)\frac{N-n}{N-1}$</a:t>
                </a:r>
                <a:r>
                  <a:rPr sz="2400" b="0">
                    <a:solidFill>
                      <a:srgbClr val="111827"/>
                    </a:solidFill>
                    <a:latin typeface="Arial"/>
                  </a:rPr>
                  <a:t> (the last factor is the finite-population correction).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sampling without replacement the mean equals the binomial mean but the variance is smaller by the factor </a:t>
                </a:r>
                <a:r>
                  <a:rPr lang="en-IN" sz="2400">
                    <a:solidFill>
                      <a:srgbClr val="111827"/>
                    </a:solidFill>
                    <a:latin typeface="Cambria Math" panose="02040503050406030204" pitchFamily="18" charset="0"/>
                  </a:rPr>
                  <a:t>$\frac{N-n}{N-1}$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that the distribution sums to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$105+45+3=153$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coin is biased so that a head is twice as likely to occur as a tail. If the coin is tossed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times, then the probability of getting two tails and one head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coin is biased so that a head is twice as likely to occur as a tail. If the coin is tossed </a:t>
                </a:r>
                <a:r>
                  <a:rPr lang="en-IN" sz="2400">
                    <a:solidFill>
                      <a:srgbClr val="111827"/>
                    </a:solidFill>
                    <a:latin typeface="Cambria Math" panose="02040503050406030204" pitchFamily="18" charset="0"/>
                  </a:rPr>
                  <a:t>$3$</a:t>
                </a:r>
                <a:r>
                  <a:rPr sz="2400" b="0">
                    <a:solidFill>
                      <a:srgbClr val="111827"/>
                    </a:solidFill>
                    <a:latin typeface="Arial"/>
                  </a:rPr>
                  <a:t> times, then the probability of getting two tails and one head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$\frac{2}{27}$</a:t>
                </a:r>
                <a:r>
                  <a:rPr sz="2400" b="0">
                    <a:solidFill>
                      <a:srgbClr val="111827"/>
                    </a:solidFill>
                    <a:latin typeface="Arial"/>
                  </a:rPr>
                  <a:t>   (B) </a:t>
                </a:r>
                <a:r>
                  <a:rPr lang="en-IN" sz="2400">
                    <a:solidFill>
                      <a:srgbClr val="111827"/>
                    </a:solidFill>
                    <a:latin typeface="Cambria Math" panose="02040503050406030204" pitchFamily="18" charset="0"/>
                  </a:rPr>
                  <a:t>$\frac{1}{27}$</a:t>
                </a:r>
                <a:r>
                  <a:rPr sz="2400" b="0">
                    <a:solidFill>
                      <a:srgbClr val="111827"/>
                    </a:solidFill>
                    <a:latin typeface="Arial"/>
                  </a:rPr>
                  <a:t>   (C) </a:t>
                </a:r>
                <a:r>
                  <a:rPr lang="en-IN" sz="2400">
                    <a:solidFill>
                      <a:srgbClr val="111827"/>
                    </a:solidFill>
                    <a:latin typeface="Cambria Math" panose="02040503050406030204" pitchFamily="18" charset="0"/>
                  </a:rPr>
                  <a:t>$\frac{2}{9}$</a:t>
                </a:r>
                <a:r>
                  <a:rPr sz="2400" b="0">
                    <a:solidFill>
                      <a:srgbClr val="111827"/>
                    </a:solidFill>
                    <a:latin typeface="Arial"/>
                  </a:rPr>
                  <a:t>   (D) </a:t>
                </a:r>
                <a:r>
                  <a:rPr lang="en-IN" sz="2400">
                    <a:solidFill>
                      <a:srgbClr val="111827"/>
                    </a:solidFill>
                    <a:latin typeface="Cambria Math" panose="02040503050406030204" pitchFamily="18" charset="0"/>
                  </a:rPr>
                  <a:t>$\frac{1}{9}$</a:t>
                </a:r>
                <a:endParaRPr sz="2400">
                  <a:solidFill>
                    <a:srgbClr val="111827"/>
                  </a:solidFill>
                </a:endParaRPr>
              </a:p>
            </p:txBody>
          </p:sp>
        </mc:Fallback>
      </mc:AlternateContent>
      <p:sp>
        <p:nvSpPr>
          <p:cNvPr id="5" name="Rectangle 4"/>
          <p:cNvSpPr/>
          <p:nvPr/>
        </p:nvSpPr>
        <p:spPr>
          <a:xfrm>
            <a:off x="731520" y="41716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distribution, Probability of an event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𝑞</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𝑇</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then use the binomial term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2</m:t>
                            </m:r>
                          </m:den>
                        </m:f>
                      </m:e>
                    </m:d>
                    <m:sSup>
                      <m:e>
                        <m:r>
                          <a:rPr lang="en-IN" sz="2400" i="1">
                            <a:solidFill>
                              <a:srgbClr val="78350F"/>
                            </a:solidFill>
                            <a:latin typeface="Cambria Math" panose="02040503050406030204" pitchFamily="18" charset="0"/>
                          </a:rPr>
                          <m:t>𝑞</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𝑝</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a:t>
                </a:r>
                <a:r>
                  <a:rPr lang="en-IN" sz="2400">
                    <a:solidFill>
                      <a:srgbClr val="78350F"/>
                    </a:solidFill>
                    <a:latin typeface="Cambria Math" panose="02040503050406030204" pitchFamily="18" charset="0"/>
                  </a:rPr>
                  <a:t>$p=2q$</a:t>
                </a:r>
                <a:r>
                  <a:rPr sz="2400" b="0">
                    <a:solidFill>
                      <a:srgbClr val="78350F"/>
                    </a:solidFill>
                    <a:latin typeface="Arial"/>
                  </a:rPr>
                  <a:t>, </a:t>
                </a:r>
                <a:r>
                  <a:rPr lang="en-IN" sz="2400">
                    <a:solidFill>
                      <a:srgbClr val="78350F"/>
                    </a:solidFill>
                    <a:latin typeface="Cambria Math" panose="02040503050406030204" pitchFamily="18" charset="0"/>
                  </a:rPr>
                  <a:t>$p+q=1$</a:t>
                </a:r>
                <a:r>
                  <a:rPr sz="2400" b="0">
                    <a:solidFill>
                      <a:srgbClr val="78350F"/>
                    </a:solidFill>
                    <a:latin typeface="Arial"/>
                  </a:rPr>
                  <a:t> for </a:t>
                </a:r>
                <a:r>
                  <a:rPr lang="en-IN" sz="2400">
                    <a:solidFill>
                      <a:srgbClr val="78350F"/>
                    </a:solidFill>
                    <a:latin typeface="Cambria Math" panose="02040503050406030204" pitchFamily="18" charset="0"/>
                  </a:rPr>
                  <a:t>$P(T)=\frac13$</a:t>
                </a:r>
                <a:r>
                  <a:rPr sz="2400" b="0">
                    <a:solidFill>
                      <a:srgbClr val="78350F"/>
                    </a:solidFill>
                    <a:latin typeface="Arial"/>
                  </a:rPr>
                  <a:t>, then use the binomial term </a:t>
                </a:r>
                <a:r>
                  <a:rPr lang="en-IN" sz="2400">
                    <a:solidFill>
                      <a:srgbClr val="78350F"/>
                    </a:solidFill>
                    <a:latin typeface="Cambria Math" panose="02040503050406030204" pitchFamily="18" charset="0"/>
                  </a:rPr>
                  <a:t>$\binom32q^2p$</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𝑞</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$P(H)=p$</a:t>
                </a:r>
                <a:r>
                  <a:rPr sz="2400" b="0">
                    <a:solidFill>
                      <a:srgbClr val="111827"/>
                    </a:solidFill>
                    <a:latin typeface="Arial"/>
                  </a:rPr>
                  <a:t> and </a:t>
                </a:r>
                <a:r>
                  <a:rPr lang="en-IN" sz="2400">
                    <a:solidFill>
                      <a:srgbClr val="111827"/>
                    </a:solidFill>
                    <a:latin typeface="Cambria Math" panose="02040503050406030204" pitchFamily="18" charset="0"/>
                  </a:rPr>
                  <a:t>$P(T)=q$</a:t>
                </a:r>
                <a:r>
                  <a:rPr sz="2400" b="0">
                    <a:solidFill>
                      <a:srgbClr val="111827"/>
                    </a:solidFill>
                    <a:latin typeface="Arial"/>
                  </a:rPr>
                  <a:t>; then </a:t>
                </a:r>
                <a:r>
                  <a:rPr lang="en-IN" sz="2400">
                    <a:solidFill>
                      <a:srgbClr val="111827"/>
                    </a:solidFill>
                    <a:latin typeface="Cambria Math" panose="02040503050406030204" pitchFamily="18" charset="0"/>
                  </a:rPr>
                  <a:t>$p=2q$</a:t>
                </a:r>
                <a:r>
                  <a:rPr sz="2400" b="0">
                    <a:solidFill>
                      <a:srgbClr val="111827"/>
                    </a:solidFill>
                    <a:latin typeface="Arial"/>
                  </a:rPr>
                  <a:t> and </a:t>
                </a:r>
                <a:r>
                  <a:rPr lang="en-IN" sz="2400">
                    <a:solidFill>
                      <a:srgbClr val="111827"/>
                    </a:solidFill>
                    <a:latin typeface="Cambria Math" panose="02040503050406030204" pitchFamily="18" charset="0"/>
                  </a:rPr>
                  <a:t>$p+q=1$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$3q=1$</a:t>
                </a:r>
                <a:r>
                  <a:rPr sz="2400" b="0">
                    <a:solidFill>
                      <a:srgbClr val="111827"/>
                    </a:solidFill>
                    <a:latin typeface="Arial"/>
                  </a:rPr>
                  <a:t>, so </a:t>
                </a:r>
                <a:r>
                  <a:rPr lang="en-IN" sz="2400">
                    <a:solidFill>
                      <a:srgbClr val="111827"/>
                    </a:solidFill>
                    <a:latin typeface="Cambria Math" panose="02040503050406030204" pitchFamily="18" charset="0"/>
                  </a:rPr>
                  <a:t>$q=\frac13$</a:t>
                </a:r>
                <a:r>
                  <a:rPr sz="2400" b="0">
                    <a:solidFill>
                      <a:srgbClr val="111827"/>
                    </a:solidFill>
                    <a:latin typeface="Arial"/>
                  </a:rPr>
                  <a:t> and </a:t>
                </a:r>
                <a:r>
                  <a:rPr lang="en-IN" sz="2400">
                    <a:solidFill>
                      <a:srgbClr val="111827"/>
                    </a:solidFill>
                    <a:latin typeface="Cambria Math" panose="02040503050406030204" pitchFamily="18" charset="0"/>
                  </a:rPr>
                  <a:t>$p=\frac23$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$P(2T,1H)={}^3C_2\,q^2p$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$=3\times\frac19\times\frac23=\frac{2}{9}$</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9</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$\frac29$</a:t>
                </a:r>
                <a:endParaRPr sz="2800">
                  <a:solidFill>
                    <a:srgbClr val="15803D"/>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Replace the coin by a fair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-faced die with faces </a:t>
                </a:r>
                <a14:m>
                  <m:oMath xmlns:m="http://schemas.openxmlformats.org/officeDocument/2006/math">
                    <m:sSub>
                      <m:e>
                        <m:r>
                          <a:rPr lang="en-IN" sz="2400" i="1">
                            <a:solidFill>
                              <a:srgbClr val="78350F"/>
                            </a:solidFill>
                            <a:latin typeface="Cambria Math" panose="02040503050406030204" pitchFamily="18" charset="0"/>
                          </a:rPr>
                          <m:t>𝐻</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𝐻</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𝑇</m:t>
                    </m:r>
                  </m:oMath>
                </a14:m>
                <a:r>
                  <a:rPr sz="2400" b="0">
                    <a:solidFill>
                      <a:srgbClr val="78350F"/>
                    </a:solidFill>
                    <a:latin typeface="Arial"/>
                  </a:rPr>
                  <a:t>, so every sequence is equally likely.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Replace the coin by a fair </a:t>
                </a:r>
                <a:r>
                  <a:rPr lang="en-IN" sz="2400">
                    <a:solidFill>
                      <a:srgbClr val="78350F"/>
                    </a:solidFill>
                    <a:latin typeface="Cambria Math" panose="02040503050406030204" pitchFamily="18" charset="0"/>
                  </a:rPr>
                  <a:t>$3$</a:t>
                </a:r>
                <a:r>
                  <a:rPr sz="2400" b="0">
                    <a:solidFill>
                      <a:srgbClr val="78350F"/>
                    </a:solidFill>
                    <a:latin typeface="Arial"/>
                  </a:rPr>
                  <a:t>-faced die with faces </a:t>
                </a:r>
                <a:r>
                  <a:rPr lang="en-IN" sz="2400">
                    <a:solidFill>
                      <a:srgbClr val="78350F"/>
                    </a:solidFill>
                    <a:latin typeface="Cambria Math" panose="02040503050406030204" pitchFamily="18" charset="0"/>
                  </a:rPr>
                  <a:t>$H_1,H_2,T$</a:t>
                </a:r>
                <a:r>
                  <a:rPr sz="2400" b="0">
                    <a:solidFill>
                      <a:srgbClr val="78350F"/>
                    </a:solidFill>
                    <a:latin typeface="Arial"/>
                  </a:rPr>
                  <a:t>, so every sequence is equally likely.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the same as picking uniformly from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faces </a:t>
                </a:r>
                <a14:m>
                  <m:oMath xmlns:m="http://schemas.openxmlformats.org/officeDocument/2006/math">
                    <m:sSub>
                      <m:e>
                        <m:r>
                          <a:rPr lang="en-IN" sz="2400" i="1">
                            <a:solidFill>
                              <a:srgbClr val="111827"/>
                            </a:solidFill>
                            <a:latin typeface="Cambria Math" panose="02040503050406030204" pitchFamily="18" charset="0"/>
                          </a:rPr>
                          <m:t>𝐻</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𝐻</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tosses give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equally likely sequences.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two tails: choose the position of the head in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ways, and that head can be </a:t>
                </a:r>
                <a14:m>
                  <m:oMath xmlns:m="http://schemas.openxmlformats.org/officeDocument/2006/math">
                    <m:sSub>
                      <m:e>
                        <m:r>
                          <a:rPr lang="en-IN" sz="2400" i="1">
                            <a:solidFill>
                              <a:srgbClr val="111827"/>
                            </a:solidFill>
                            <a:latin typeface="Cambria Math" panose="02040503050406030204" pitchFamily="18" charset="0"/>
                          </a:rPr>
                          <m:t>𝐻</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or </a:t>
                </a:r>
                <a14:m>
                  <m:oMath xmlns:m="http://schemas.openxmlformats.org/officeDocument/2006/math">
                    <m:sSub>
                      <m:e>
                        <m:r>
                          <a:rPr lang="en-IN" sz="2400" i="1">
                            <a:solidFill>
                              <a:srgbClr val="111827"/>
                            </a:solidFill>
                            <a:latin typeface="Cambria Math" panose="02040503050406030204" pitchFamily="18" charset="0"/>
                          </a:rPr>
                          <m:t>𝐻</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ways: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sequences.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$P(H)=\frac23,\ P(T)=\frac13$</a:t>
                </a:r>
                <a:r>
                  <a:rPr sz="2400" b="0">
                    <a:solidFill>
                      <a:srgbClr val="111827"/>
                    </a:solidFill>
                    <a:latin typeface="Arial"/>
                  </a:rPr>
                  <a:t> is the same as picking uniformly from </a:t>
                </a:r>
                <a:r>
                  <a:rPr lang="en-IN" sz="2400">
                    <a:solidFill>
                      <a:srgbClr val="111827"/>
                    </a:solidFill>
                    <a:latin typeface="Cambria Math" panose="02040503050406030204" pitchFamily="18" charset="0"/>
                  </a:rPr>
                  <a:t>$3$</a:t>
                </a:r>
                <a:r>
                  <a:rPr sz="2400" b="0">
                    <a:solidFill>
                      <a:srgbClr val="111827"/>
                    </a:solidFill>
                    <a:latin typeface="Arial"/>
                  </a:rPr>
                  <a:t> faces </a:t>
                </a:r>
                <a:r>
                  <a:rPr lang="en-IN" sz="2400">
                    <a:solidFill>
                      <a:srgbClr val="111827"/>
                    </a:solidFill>
                    <a:latin typeface="Cambria Math" panose="02040503050406030204" pitchFamily="18" charset="0"/>
                  </a:rPr>
                  <a:t>$H_1,H_2,T$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tosses give </a:t>
                </a:r>
                <a:r>
                  <a:rPr lang="en-IN" sz="2400">
                    <a:solidFill>
                      <a:srgbClr val="111827"/>
                    </a:solidFill>
                    <a:latin typeface="Cambria Math" panose="02040503050406030204" pitchFamily="18" charset="0"/>
                  </a:rPr>
                  <a:t>$3^3=27$</a:t>
                </a:r>
                <a:r>
                  <a:rPr sz="2400" b="0">
                    <a:solidFill>
                      <a:srgbClr val="111827"/>
                    </a:solidFill>
                    <a:latin typeface="Arial"/>
                  </a:rPr>
                  <a:t> equally likely sequences.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two tails: choose the position of the head in </a:t>
                </a:r>
                <a:r>
                  <a:rPr lang="en-IN" sz="2400">
                    <a:solidFill>
                      <a:srgbClr val="111827"/>
                    </a:solidFill>
                    <a:latin typeface="Cambria Math" panose="02040503050406030204" pitchFamily="18" charset="0"/>
                  </a:rPr>
                  <a:t>$3$</a:t>
                </a:r>
                <a:r>
                  <a:rPr sz="2400" b="0">
                    <a:solidFill>
                      <a:srgbClr val="111827"/>
                    </a:solidFill>
                    <a:latin typeface="Arial"/>
                  </a:rPr>
                  <a:t> ways, and that head can be </a:t>
                </a:r>
                <a:r>
                  <a:rPr lang="en-IN" sz="2400">
                    <a:solidFill>
                      <a:srgbClr val="111827"/>
                    </a:solidFill>
                    <a:latin typeface="Cambria Math" panose="02040503050406030204" pitchFamily="18" charset="0"/>
                  </a:rPr>
                  <a:t>$H_1$</a:t>
                </a:r>
                <a:r>
                  <a:rPr sz="2400" b="0">
                    <a:solidFill>
                      <a:srgbClr val="111827"/>
                    </a:solidFill>
                    <a:latin typeface="Arial"/>
                  </a:rPr>
                  <a:t> or </a:t>
                </a:r>
                <a:r>
                  <a:rPr lang="en-IN" sz="2400">
                    <a:solidFill>
                      <a:srgbClr val="111827"/>
                    </a:solidFill>
                    <a:latin typeface="Cambria Math" panose="02040503050406030204" pitchFamily="18" charset="0"/>
                  </a:rPr>
                  <a:t>$H_2$</a:t>
                </a:r>
                <a:r>
                  <a:rPr sz="2400" b="0">
                    <a:solidFill>
                      <a:srgbClr val="111827"/>
                    </a:solidFill>
                    <a:latin typeface="Arial"/>
                  </a:rPr>
                  <a:t> in </a:t>
                </a:r>
                <a:r>
                  <a:rPr lang="en-IN" sz="2400">
                    <a:solidFill>
                      <a:srgbClr val="111827"/>
                    </a:solidFill>
                    <a:latin typeface="Cambria Math" panose="02040503050406030204" pitchFamily="18" charset="0"/>
                  </a:rPr>
                  <a:t>$2$</a:t>
                </a:r>
                <a:r>
                  <a:rPr sz="2400" b="0">
                    <a:solidFill>
                      <a:srgbClr val="111827"/>
                    </a:solidFill>
                    <a:latin typeface="Arial"/>
                  </a:rPr>
                  <a:t> ways: </a:t>
                </a:r>
                <a:r>
                  <a:rPr lang="en-IN" sz="2400">
                    <a:solidFill>
                      <a:srgbClr val="111827"/>
                    </a:solidFill>
                    <a:latin typeface="Cambria Math" panose="02040503050406030204" pitchFamily="18" charset="0"/>
                  </a:rPr>
                  <a:t>$3\times2=6$</a:t>
                </a:r>
                <a:r>
                  <a:rPr sz="2400" b="0">
                    <a:solidFill>
                      <a:srgbClr val="111827"/>
                    </a:solidFill>
                    <a:latin typeface="Arial"/>
                  </a:rPr>
                  <a:t> sequences.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$=\frac{6}{27}=\frac29$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9</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$\frac29$</a:t>
                </a:r>
                <a:endParaRPr sz="2800">
                  <a:solidFill>
                    <a:srgbClr val="15803D"/>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r>
                  <a:rPr sz="2400" b="0">
                    <a:solidFill>
                      <a:srgbClr val="111827"/>
                    </a:solidFill>
                    <a:latin typeface="Arial"/>
                  </a:rPr>
                  <a:t>; model as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equally likely faces to turn probabilities into counts.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of exactly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tails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tosses: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all four terms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add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is the two-tails term).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$P(H):P(T)=m:n$</a:t>
                </a:r>
                <a:r>
                  <a:rPr sz="2400" b="0">
                    <a:solidFill>
                      <a:srgbClr val="111827"/>
                    </a:solidFill>
                    <a:latin typeface="Arial"/>
                  </a:rPr>
                  <a:t>, then </a:t>
                </a:r>
                <a:r>
                  <a:rPr lang="en-IN" sz="2400">
                    <a:solidFill>
                      <a:srgbClr val="111827"/>
                    </a:solidFill>
                    <a:latin typeface="Cambria Math" panose="02040503050406030204" pitchFamily="18" charset="0"/>
                  </a:rPr>
                  <a:t>$P(H)=\frac{m}{m+n}$</a:t>
                </a:r>
                <a:r>
                  <a:rPr sz="2400" b="0">
                    <a:solidFill>
                      <a:srgbClr val="111827"/>
                    </a:solidFill>
                    <a:latin typeface="Arial"/>
                  </a:rPr>
                  <a:t>; model as </a:t>
                </a:r>
                <a:r>
                  <a:rPr lang="en-IN" sz="2400">
                    <a:solidFill>
                      <a:srgbClr val="111827"/>
                    </a:solidFill>
                    <a:latin typeface="Cambria Math" panose="02040503050406030204" pitchFamily="18" charset="0"/>
                  </a:rPr>
                  <a:t>$m+n$</a:t>
                </a:r>
                <a:r>
                  <a:rPr sz="2400" b="0">
                    <a:solidFill>
                      <a:srgbClr val="111827"/>
                    </a:solidFill>
                    <a:latin typeface="Arial"/>
                  </a:rPr>
                  <a:t> equally likely faces to turn probabilities into counts.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of exactly </a:t>
                </a:r>
                <a:r>
                  <a:rPr lang="en-IN" sz="2400">
                    <a:solidFill>
                      <a:srgbClr val="111827"/>
                    </a:solidFill>
                    <a:latin typeface="Cambria Math" panose="02040503050406030204" pitchFamily="18" charset="0"/>
                  </a:rPr>
                  <a:t>$r$</a:t>
                </a:r>
                <a:r>
                  <a:rPr sz="2400" b="0">
                    <a:solidFill>
                      <a:srgbClr val="111827"/>
                    </a:solidFill>
                    <a:latin typeface="Arial"/>
                  </a:rPr>
                  <a:t> tails in </a:t>
                </a:r>
                <a:r>
                  <a:rPr lang="en-IN" sz="2400">
                    <a:solidFill>
                      <a:srgbClr val="111827"/>
                    </a:solidFill>
                    <a:latin typeface="Cambria Math" panose="02040503050406030204" pitchFamily="18" charset="0"/>
                  </a:rPr>
                  <a:t>$n$</a:t>
                </a:r>
                <a:r>
                  <a:rPr sz="2400" b="0">
                    <a:solidFill>
                      <a:srgbClr val="111827"/>
                    </a:solidFill>
                    <a:latin typeface="Arial"/>
                  </a:rPr>
                  <a:t> tosses: </a:t>
                </a:r>
                <a:r>
                  <a:rPr lang="en-IN" sz="2400">
                    <a:solidFill>
                      <a:srgbClr val="111827"/>
                    </a:solidFill>
                    <a:latin typeface="Cambria Math" panose="02040503050406030204" pitchFamily="18" charset="0"/>
                  </a:rPr>
                  <a:t>$\binom nr q^r p^{n-r}$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all four terms </a:t>
                </a:r>
                <a:r>
                  <a:rPr lang="en-IN" sz="2400">
                    <a:solidFill>
                      <a:srgbClr val="111827"/>
                    </a:solidFill>
                    <a:latin typeface="Cambria Math" panose="02040503050406030204" pitchFamily="18" charset="0"/>
                  </a:rPr>
                  <a:t>$\frac{8}{27},\frac{12}{27},\frac{6}{27},\frac{1}{27}$</a:t>
                </a:r>
                <a:r>
                  <a:rPr sz="2400" b="0">
                    <a:solidFill>
                      <a:srgbClr val="111827"/>
                    </a:solidFill>
                    <a:latin typeface="Arial"/>
                  </a:rPr>
                  <a:t> add to </a:t>
                </a:r>
                <a:r>
                  <a:rPr lang="en-IN" sz="2400">
                    <a:solidFill>
                      <a:srgbClr val="111827"/>
                    </a:solidFill>
                    <a:latin typeface="Cambria Math" panose="02040503050406030204" pitchFamily="18" charset="0"/>
                  </a:rPr>
                  <a:t>$1$</a:t>
                </a:r>
                <a:r>
                  <a:rPr sz="2400" b="0">
                    <a:solidFill>
                      <a:srgbClr val="111827"/>
                    </a:solidFill>
                    <a:latin typeface="Arial"/>
                  </a:rPr>
                  <a:t> (here </a:t>
                </a:r>
                <a:r>
                  <a:rPr lang="en-IN" sz="2400">
                    <a:solidFill>
                      <a:srgbClr val="111827"/>
                    </a:solidFill>
                    <a:latin typeface="Cambria Math" panose="02040503050406030204" pitchFamily="18" charset="0"/>
                  </a:rPr>
                  <a:t>$\frac{6}{27}=\frac29$</a:t>
                </a:r>
                <a:r>
                  <a:rPr sz="2400" b="0">
                    <a:solidFill>
                      <a:srgbClr val="111827"/>
                    </a:solidFill>
                    <a:latin typeface="Arial"/>
                  </a:rPr>
                  <a:t> is the two-tails term).</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bag contains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balls, whose colours are either white or black.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balls are drawn at random without replacement and it was found that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balls are white and the other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balls are black. The probability that the bag contains an equal number of white and black balls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bag contains </a:t>
                </a:r>
                <a:r>
                  <a:rPr lang="en-IN" sz="2400">
                    <a:solidFill>
                      <a:srgbClr val="111827"/>
                    </a:solidFill>
                    <a:latin typeface="Cambria Math" panose="02040503050406030204" pitchFamily="18" charset="0"/>
                  </a:rPr>
                  <a:t>$8$</a:t>
                </a:r>
                <a:r>
                  <a:rPr sz="2400" b="0">
                    <a:solidFill>
                      <a:srgbClr val="111827"/>
                    </a:solidFill>
                    <a:latin typeface="Arial"/>
                  </a:rPr>
                  <a:t> balls, whose colours are either white or black. </a:t>
                </a:r>
                <a:r>
                  <a:rPr lang="en-IN" sz="2400">
                    <a:solidFill>
                      <a:srgbClr val="111827"/>
                    </a:solidFill>
                    <a:latin typeface="Cambria Math" panose="02040503050406030204" pitchFamily="18" charset="0"/>
                  </a:rPr>
                  <a:t>$4$</a:t>
                </a:r>
                <a:r>
                  <a:rPr sz="2400" b="0">
                    <a:solidFill>
                      <a:srgbClr val="111827"/>
                    </a:solidFill>
                    <a:latin typeface="Arial"/>
                  </a:rPr>
                  <a:t> balls are drawn at random without replacement and it was found that </a:t>
                </a:r>
                <a:r>
                  <a:rPr lang="en-IN" sz="2400">
                    <a:solidFill>
                      <a:srgbClr val="111827"/>
                    </a:solidFill>
                    <a:latin typeface="Cambria Math" panose="02040503050406030204" pitchFamily="18" charset="0"/>
                  </a:rPr>
                  <a:t>$2$</a:t>
                </a:r>
                <a:r>
                  <a:rPr sz="2400" b="0">
                    <a:solidFill>
                      <a:srgbClr val="111827"/>
                    </a:solidFill>
                    <a:latin typeface="Arial"/>
                  </a:rPr>
                  <a:t> balls are white and the other </a:t>
                </a:r>
                <a:r>
                  <a:rPr lang="en-IN" sz="2400">
                    <a:solidFill>
                      <a:srgbClr val="111827"/>
                    </a:solidFill>
                    <a:latin typeface="Cambria Math" panose="02040503050406030204" pitchFamily="18" charset="0"/>
                  </a:rPr>
                  <a:t>$2$</a:t>
                </a:r>
                <a:r>
                  <a:rPr sz="2400" b="0">
                    <a:solidFill>
                      <a:srgbClr val="111827"/>
                    </a:solidFill>
                    <a:latin typeface="Arial"/>
                  </a:rPr>
                  <a:t> balls are black. The probability that the bag contains an equal number of white and black balls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$\frac27$</a:t>
                </a:r>
                <a:r>
                  <a:rPr sz="2400" b="0">
                    <a:solidFill>
                      <a:srgbClr val="111827"/>
                    </a:solidFill>
                    <a:latin typeface="Arial"/>
                  </a:rPr>
                  <a:t>   (B) </a:t>
                </a:r>
                <a:r>
                  <a:rPr lang="en-IN" sz="2400">
                    <a:solidFill>
                      <a:srgbClr val="111827"/>
                    </a:solidFill>
                    <a:latin typeface="Cambria Math" panose="02040503050406030204" pitchFamily="18" charset="0"/>
                  </a:rPr>
                  <a:t>$\frac15$</a:t>
                </a:r>
                <a:r>
                  <a:rPr sz="2400" b="0">
                    <a:solidFill>
                      <a:srgbClr val="111827"/>
                    </a:solidFill>
                    <a:latin typeface="Arial"/>
                  </a:rPr>
                  <a:t>   (C) </a:t>
                </a:r>
                <a:r>
                  <a:rPr lang="en-IN" sz="2400">
                    <a:solidFill>
                      <a:srgbClr val="111827"/>
                    </a:solidFill>
                    <a:latin typeface="Cambria Math" panose="02040503050406030204" pitchFamily="18" charset="0"/>
                  </a:rPr>
                  <a:t>$\frac17$</a:t>
                </a:r>
                <a:r>
                  <a:rPr sz="2400" b="0">
                    <a:solidFill>
                      <a:srgbClr val="111827"/>
                    </a:solidFill>
                    <a:latin typeface="Arial"/>
                  </a:rPr>
                  <a:t>   (D) </a:t>
                </a:r>
                <a:r>
                  <a:rPr lang="en-IN" sz="2400">
                    <a:solidFill>
                      <a:srgbClr val="111827"/>
                    </a:solidFill>
                    <a:latin typeface="Cambria Math" panose="02040503050406030204" pitchFamily="18" charset="0"/>
                  </a:rPr>
                  <a:t>$\frac25$</a:t>
                </a:r>
                <a:endParaRPr sz="2400">
                  <a:solidFill>
                    <a:srgbClr val="111827"/>
                  </a:solidFill>
                </a:endParaRPr>
              </a:p>
            </p:txBody>
          </p:sp>
        </mc:Fallback>
      </mc:AlternateContent>
      <p:sp>
        <p:nvSpPr>
          <p:cNvPr id="5" name="Rectangle 4"/>
          <p:cNvSpPr/>
          <p:nvPr/>
        </p:nvSpPr>
        <p:spPr>
          <a:xfrm>
            <a:off x="731520" y="443382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Bayes' theorem, Combinations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Apply Bayes over the five possible compositions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white), taken as equally likely, with hypergeometric likelihoods.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Apply Bayes over the five possible compositions (</a:t>
                </a:r>
                <a:r>
                  <a:rPr lang="en-IN" sz="2400">
                    <a:solidFill>
                      <a:srgbClr val="78350F"/>
                    </a:solidFill>
                    <a:latin typeface="Cambria Math" panose="02040503050406030204" pitchFamily="18" charset="0"/>
                  </a:rPr>
                  <a:t>$2$</a:t>
                </a:r>
                <a:r>
                  <a:rPr sz="2400" b="0">
                    <a:solidFill>
                      <a:srgbClr val="78350F"/>
                    </a:solidFill>
                    <a:latin typeface="Arial"/>
                  </a:rPr>
                  <a:t> to </a:t>
                </a:r>
                <a:r>
                  <a:rPr lang="en-IN" sz="2400">
                    <a:solidFill>
                      <a:srgbClr val="78350F"/>
                    </a:solidFill>
                    <a:latin typeface="Cambria Math" panose="02040503050406030204" pitchFamily="18" charset="0"/>
                  </a:rPr>
                  <a:t>$6$</a:t>
                </a:r>
                <a:r>
                  <a:rPr sz="2400" b="0">
                    <a:solidFill>
                      <a:srgbClr val="78350F"/>
                    </a:solidFill>
                    <a:latin typeface="Arial"/>
                  </a:rPr>
                  <a:t> white), taken as equally likely, with hypergeometric likelihoods.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Assume (as is standard for this question) that each composition of the bag with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white balls is equally likely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each); other compositions cannot give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black.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black drawn'.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70</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70</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70</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70</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70</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Assume (as is standard for this question) that each composition of the bag with </a:t>
                </a:r>
                <a:r>
                  <a:rPr lang="en-IN" sz="2400">
                    <a:solidFill>
                      <a:srgbClr val="111827"/>
                    </a:solidFill>
                    <a:latin typeface="Cambria Math" panose="02040503050406030204" pitchFamily="18" charset="0"/>
                  </a:rPr>
                  <a:t>$2,3,4,5,6$</a:t>
                </a:r>
                <a:r>
                  <a:rPr sz="2400" b="0">
                    <a:solidFill>
                      <a:srgbClr val="111827"/>
                    </a:solidFill>
                    <a:latin typeface="Arial"/>
                  </a:rPr>
                  <a:t> white balls is equally likely (</a:t>
                </a:r>
                <a:r>
                  <a:rPr lang="en-IN" sz="2400">
                    <a:solidFill>
                      <a:srgbClr val="111827"/>
                    </a:solidFill>
                    <a:latin typeface="Cambria Math" panose="02040503050406030204" pitchFamily="18" charset="0"/>
                  </a:rPr>
                  <a:t>$\frac15$</a:t>
                </a:r>
                <a:r>
                  <a:rPr sz="2400" b="0">
                    <a:solidFill>
                      <a:srgbClr val="111827"/>
                    </a:solidFill>
                    <a:latin typeface="Arial"/>
                  </a:rPr>
                  <a:t> each); other compositions cannot give </a:t>
                </a:r>
                <a:r>
                  <a:rPr lang="en-IN" sz="2400">
                    <a:solidFill>
                      <a:srgbClr val="111827"/>
                    </a:solidFill>
                    <a:latin typeface="Cambria Math" panose="02040503050406030204" pitchFamily="18" charset="0"/>
                  </a:rPr>
                  <a:t>$2$</a:t>
                </a:r>
                <a:r>
                  <a:rPr sz="2400" b="0">
                    <a:solidFill>
                      <a:srgbClr val="111827"/>
                    </a:solidFill>
                    <a:latin typeface="Arial"/>
                  </a:rPr>
                  <a:t> white and </a:t>
                </a:r>
                <a:r>
                  <a:rPr lang="en-IN" sz="2400">
                    <a:solidFill>
                      <a:srgbClr val="111827"/>
                    </a:solidFill>
                    <a:latin typeface="Cambria Math" panose="02040503050406030204" pitchFamily="18" charset="0"/>
                  </a:rPr>
                  <a:t>$2$</a:t>
                </a:r>
                <a:r>
                  <a:rPr sz="2400" b="0">
                    <a:solidFill>
                      <a:srgbClr val="111827"/>
                    </a:solidFill>
                    <a:latin typeface="Arial"/>
                  </a:rPr>
                  <a:t> black.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$E$</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white and </a:t>
                </a:r>
                <a:r>
                  <a:rPr lang="en-IN" sz="2400">
                    <a:solidFill>
                      <a:srgbClr val="111827"/>
                    </a:solidFill>
                    <a:latin typeface="Cambria Math" panose="02040503050406030204" pitchFamily="18" charset="0"/>
                  </a:rPr>
                  <a:t>$2$</a:t>
                </a:r>
                <a:r>
                  <a:rPr sz="2400" b="0">
                    <a:solidFill>
                      <a:srgbClr val="111827"/>
                    </a:solidFill>
                    <a:latin typeface="Arial"/>
                  </a:rPr>
                  <a:t> black drawn'. </a:t>
                </a:r>
                <a:r>
                  <a:rPr lang="en-IN" sz="2400">
                    <a:solidFill>
                      <a:srgbClr val="111827"/>
                    </a:solidFill>
                    <a:latin typeface="Cambria Math" panose="02040503050406030204" pitchFamily="18" charset="0"/>
                  </a:rPr>
                  <a:t>$P(E\mid kW\ (8-k)B)=\frac{^kC_2\cdot{}^{8-k}C_2}{^8C_4}$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$k=2$</a:t>
                </a:r>
                <a:r>
                  <a:rPr sz="2400" b="0">
                    <a:solidFill>
                      <a:srgbClr val="111827"/>
                    </a:solidFill>
                    <a:latin typeface="Arial"/>
                  </a:rPr>
                  <a:t>: </a:t>
                </a:r>
                <a:r>
                  <a:rPr lang="en-IN" sz="2400">
                    <a:solidFill>
                      <a:srgbClr val="111827"/>
                    </a:solidFill>
                    <a:latin typeface="Cambria Math" panose="02040503050406030204" pitchFamily="18" charset="0"/>
                  </a:rPr>
                  <a:t>$\frac{1\cdot15}{70}$</a:t>
                </a:r>
                <a:r>
                  <a:rPr sz="2400" b="0">
                    <a:solidFill>
                      <a:srgbClr val="111827"/>
                    </a:solidFill>
                    <a:latin typeface="Arial"/>
                  </a:rPr>
                  <a:t>; </a:t>
                </a:r>
                <a:r>
                  <a:rPr lang="en-IN" sz="2400">
                    <a:solidFill>
                      <a:srgbClr val="111827"/>
                    </a:solidFill>
                    <a:latin typeface="Cambria Math" panose="02040503050406030204" pitchFamily="18" charset="0"/>
                  </a:rPr>
                  <a:t>$k=3$</a:t>
                </a:r>
                <a:r>
                  <a:rPr sz="2400" b="0">
                    <a:solidFill>
                      <a:srgbClr val="111827"/>
                    </a:solidFill>
                    <a:latin typeface="Arial"/>
                  </a:rPr>
                  <a:t>: </a:t>
                </a:r>
                <a:r>
                  <a:rPr lang="en-IN" sz="2400">
                    <a:solidFill>
                      <a:srgbClr val="111827"/>
                    </a:solidFill>
                    <a:latin typeface="Cambria Math" panose="02040503050406030204" pitchFamily="18" charset="0"/>
                  </a:rPr>
                  <a:t>$\frac{3\cdot10}{70}$</a:t>
                </a:r>
                <a:r>
                  <a:rPr sz="2400" b="0">
                    <a:solidFill>
                      <a:srgbClr val="111827"/>
                    </a:solidFill>
                    <a:latin typeface="Arial"/>
                  </a:rPr>
                  <a:t>; </a:t>
                </a:r>
                <a:r>
                  <a:rPr lang="en-IN" sz="2400">
                    <a:solidFill>
                      <a:srgbClr val="111827"/>
                    </a:solidFill>
                    <a:latin typeface="Cambria Math" panose="02040503050406030204" pitchFamily="18" charset="0"/>
                  </a:rPr>
                  <a:t>$k=4$</a:t>
                </a:r>
                <a:r>
                  <a:rPr sz="2400" b="0">
                    <a:solidFill>
                      <a:srgbClr val="111827"/>
                    </a:solidFill>
                    <a:latin typeface="Arial"/>
                  </a:rPr>
                  <a:t>: </a:t>
                </a:r>
                <a:r>
                  <a:rPr lang="en-IN" sz="2400">
                    <a:solidFill>
                      <a:srgbClr val="111827"/>
                    </a:solidFill>
                    <a:latin typeface="Cambria Math" panose="02040503050406030204" pitchFamily="18" charset="0"/>
                  </a:rPr>
                  <a:t>$\frac{6\cdot6}{70}$</a:t>
                </a:r>
                <a:r>
                  <a:rPr sz="2400" b="0">
                    <a:solidFill>
                      <a:srgbClr val="111827"/>
                    </a:solidFill>
                    <a:latin typeface="Arial"/>
                  </a:rPr>
                  <a:t>; </a:t>
                </a:r>
                <a:r>
                  <a:rPr lang="en-IN" sz="2400">
                    <a:solidFill>
                      <a:srgbClr val="111827"/>
                    </a:solidFill>
                    <a:latin typeface="Cambria Math" panose="02040503050406030204" pitchFamily="18" charset="0"/>
                  </a:rPr>
                  <a:t>$k=5$</a:t>
                </a:r>
                <a:r>
                  <a:rPr sz="2400" b="0">
                    <a:solidFill>
                      <a:srgbClr val="111827"/>
                    </a:solidFill>
                    <a:latin typeface="Arial"/>
                  </a:rPr>
                  <a:t>: </a:t>
                </a:r>
                <a:r>
                  <a:rPr lang="en-IN" sz="2400">
                    <a:solidFill>
                      <a:srgbClr val="111827"/>
                    </a:solidFill>
                    <a:latin typeface="Cambria Math" panose="02040503050406030204" pitchFamily="18" charset="0"/>
                  </a:rPr>
                  <a:t>$\frac{10\cdot3}{70}$</a:t>
                </a:r>
                <a:r>
                  <a:rPr sz="2400" b="0">
                    <a:solidFill>
                      <a:srgbClr val="111827"/>
                    </a:solidFill>
                    <a:latin typeface="Arial"/>
                  </a:rPr>
                  <a:t>; </a:t>
                </a:r>
                <a:r>
                  <a:rPr lang="en-IN" sz="2400">
                    <a:solidFill>
                      <a:srgbClr val="111827"/>
                    </a:solidFill>
                    <a:latin typeface="Cambria Math" panose="02040503050406030204" pitchFamily="18" charset="0"/>
                  </a:rPr>
                  <a:t>$k=6$</a:t>
                </a:r>
                <a:r>
                  <a:rPr sz="2400" b="0">
                    <a:solidFill>
                      <a:srgbClr val="111827"/>
                    </a:solidFill>
                    <a:latin typeface="Arial"/>
                  </a:rPr>
                  <a:t>: </a:t>
                </a:r>
                <a:r>
                  <a:rPr lang="en-IN" sz="2400">
                    <a:solidFill>
                      <a:srgbClr val="111827"/>
                    </a:solidFill>
                    <a:latin typeface="Cambria Math" panose="02040503050406030204" pitchFamily="18" charset="0"/>
                  </a:rPr>
                  <a:t>$\frac{15\cdot1}{70}$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Bayes' theorem,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70</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70</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126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Bayes' theorem, </a:t>
                </a:r>
                <a:r>
                  <a:rPr lang="en-IN" sz="2400">
                    <a:solidFill>
                      <a:srgbClr val="111827"/>
                    </a:solidFill>
                    <a:latin typeface="Cambria Math" panose="02040503050406030204" pitchFamily="18" charset="0"/>
                  </a:rPr>
                  <a:t>$P(4W4B\mid E)=\frac{\frac15\cdot\frac{36}{70}}{\frac15\cdot\frac{15+30+36+30+15}{70}}$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$=\frac{36}{15+30+36+30+15}=\frac{36}{126}$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$=\frac27$</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7</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$\frac27$</a:t>
                </a:r>
                <a:endParaRPr sz="2800">
                  <a:solidFill>
                    <a:srgbClr val="15803D"/>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nary>
                      <m:naryPr>
                        <m:chr m:val="∑"/>
                        <m:limLoc m:val="undOvr"/>
                        <m:subHide m:val="off"/>
                        <m:supHide m:val="on"/>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𝑘</m:t>
                        </m:r>
                      </m:sub>
                      <m:sup>
                        <m:r>
                          <a:rPr lang="en-IN" sz="2400" i="1">
                            <a:solidFill>
                              <a:srgbClr val="78350F"/>
                            </a:solidFill>
                            <a:latin typeface="Cambria Math" panose="02040503050406030204" pitchFamily="18" charset="0"/>
                          </a:rPr>
                          <m:t>​</m:t>
                        </m:r>
                      </m:sup>
                      <m:e>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𝑘</m:t>
                                </m:r>
                              </m:num>
                              <m:den>
                                <m:r>
                                  <a:rPr lang="en-IN" sz="2400" i="1">
                                    <a:solidFill>
                                      <a:srgbClr val="78350F"/>
                                    </a:solidFill>
                                    <a:latin typeface="Cambria Math" panose="02040503050406030204" pitchFamily="18" charset="0"/>
                                  </a:rPr>
                                  <m:t>𝑎</m:t>
                                </m:r>
                              </m:den>
                            </m:f>
                          </m:e>
                        </m:d>
                      </m:e>
                    </m:nary>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num>
                          <m:den>
                            <m:r>
                              <a:rPr lang="en-IN" sz="2400" i="1">
                                <a:solidFill>
                                  <a:srgbClr val="78350F"/>
                                </a:solidFill>
                                <a:latin typeface="Cambria Math" panose="02040503050406030204" pitchFamily="18" charset="0"/>
                              </a:rPr>
                              <m:t>𝑏</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to get the denominator in one step.</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$\sum_k\binom ka\binom{n-k}{b}=\binom{n+1}{a+b+1}$</a:t>
                </a:r>
                <a:r>
                  <a:rPr sz="2400" b="0">
                    <a:solidFill>
                      <a:srgbClr val="78350F"/>
                    </a:solidFill>
                    <a:latin typeface="Arial"/>
                  </a:rPr>
                  <a:t> to get the denominator in one step.</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Posterior weights are proportional to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 factor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70</m:t>
                        </m:r>
                      </m:den>
                    </m:f>
                  </m:oMath>
                </a14:m>
                <a:r>
                  <a:rPr sz="2400" b="0">
                    <a:solidFill>
                      <a:srgbClr val="111827"/>
                    </a:solidFill>
                    <a:latin typeface="Arial"/>
                  </a:rPr>
                  <a:t>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identity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 (sum over all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terms outside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are zero).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weight is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126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Posterior weights are proportional to </a:t>
                </a:r>
                <a:r>
                  <a:rPr lang="en-IN" sz="2400">
                    <a:solidFill>
                      <a:srgbClr val="111827"/>
                    </a:solidFill>
                    <a:latin typeface="Cambria Math" panose="02040503050406030204" pitchFamily="18" charset="0"/>
                  </a:rPr>
                  <a:t>$\binom k2\binom{8-k}{2}$</a:t>
                </a:r>
                <a:r>
                  <a:rPr sz="2400" b="0">
                    <a:solidFill>
                      <a:srgbClr val="111827"/>
                    </a:solidFill>
                    <a:latin typeface="Arial"/>
                  </a:rPr>
                  <a:t> for </a:t>
                </a:r>
                <a:r>
                  <a:rPr lang="en-IN" sz="2400">
                    <a:solidFill>
                      <a:srgbClr val="111827"/>
                    </a:solidFill>
                    <a:latin typeface="Cambria Math" panose="02040503050406030204" pitchFamily="18" charset="0"/>
                  </a:rPr>
                  <a:t>$k=2,\dots,6$</a:t>
                </a:r>
                <a:r>
                  <a:rPr sz="2400" b="0">
                    <a:solidFill>
                      <a:srgbClr val="111827"/>
                    </a:solidFill>
                    <a:latin typeface="Arial"/>
                  </a:rPr>
                  <a:t> (the factor </a:t>
                </a:r>
                <a:r>
                  <a:rPr lang="en-IN" sz="2400">
                    <a:solidFill>
                      <a:srgbClr val="111827"/>
                    </a:solidFill>
                    <a:latin typeface="Cambria Math" panose="02040503050406030204" pitchFamily="18" charset="0"/>
                  </a:rPr>
                  <a:t>$\frac15$</a:t>
                </a:r>
                <a:r>
                  <a:rPr sz="2400" b="0">
                    <a:solidFill>
                      <a:srgbClr val="111827"/>
                    </a:solidFill>
                    <a:latin typeface="Arial"/>
                  </a:rPr>
                  <a:t> and </a:t>
                </a:r>
                <a:r>
                  <a:rPr lang="en-IN" sz="2400">
                    <a:solidFill>
                      <a:srgbClr val="111827"/>
                    </a:solidFill>
                    <a:latin typeface="Cambria Math" panose="02040503050406030204" pitchFamily="18" charset="0"/>
                  </a:rPr>
                  <a:t>$\frac1{70}$</a:t>
                </a:r>
                <a:r>
                  <a:rPr sz="2400" b="0">
                    <a:solidFill>
                      <a:srgbClr val="111827"/>
                    </a:solidFill>
                    <a:latin typeface="Arial"/>
                  </a:rPr>
                  <a:t>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identity </a:t>
                </a:r>
                <a:r>
                  <a:rPr lang="en-IN" sz="2400">
                    <a:solidFill>
                      <a:srgbClr val="111827"/>
                    </a:solidFill>
                    <a:latin typeface="Cambria Math" panose="02040503050406030204" pitchFamily="18" charset="0"/>
                  </a:rPr>
                  <a:t>$\sum_{k}\binom k2\binom{8-k}2=\binom{9}{5}=126$</a:t>
                </a:r>
                <a:r>
                  <a:rPr sz="2400" b="0">
                    <a:solidFill>
                      <a:srgbClr val="111827"/>
                    </a:solidFill>
                    <a:latin typeface="Arial"/>
                  </a:rPr>
                  <a:t> (sum over all </a:t>
                </a:r>
                <a:r>
                  <a:rPr lang="en-IN" sz="2400">
                    <a:solidFill>
                      <a:srgbClr val="111827"/>
                    </a:solidFill>
                    <a:latin typeface="Cambria Math" panose="02040503050406030204" pitchFamily="18" charset="0"/>
                  </a:rPr>
                  <a:t>$k$</a:t>
                </a:r>
                <a:r>
                  <a:rPr sz="2400" b="0">
                    <a:solidFill>
                      <a:srgbClr val="111827"/>
                    </a:solidFill>
                    <a:latin typeface="Arial"/>
                  </a:rPr>
                  <a:t>; terms outside </a:t>
                </a:r>
                <a:r>
                  <a:rPr lang="en-IN" sz="2400">
                    <a:solidFill>
                      <a:srgbClr val="111827"/>
                    </a:solidFill>
                    <a:latin typeface="Cambria Math" panose="02040503050406030204" pitchFamily="18" charset="0"/>
                  </a:rPr>
                  <a:t>$2\le k\le6$</a:t>
                </a:r>
                <a:r>
                  <a:rPr sz="2400" b="0">
                    <a:solidFill>
                      <a:srgbClr val="111827"/>
                    </a:solidFill>
                    <a:latin typeface="Arial"/>
                  </a:rPr>
                  <a:t> are zero).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weight is </a:t>
                </a:r>
                <a:r>
                  <a:rPr lang="en-IN" sz="2400">
                    <a:solidFill>
                      <a:srgbClr val="111827"/>
                    </a:solidFill>
                    <a:latin typeface="Cambria Math" panose="02040503050406030204" pitchFamily="18" charset="0"/>
                  </a:rPr>
                  <a:t>$k=4$</a:t>
                </a:r>
                <a:r>
                  <a:rPr sz="2400" b="0">
                    <a:solidFill>
                      <a:srgbClr val="111827"/>
                    </a:solidFill>
                    <a:latin typeface="Arial"/>
                  </a:rPr>
                  <a:t>: </a:t>
                </a:r>
                <a:r>
                  <a:rPr lang="en-IN" sz="2400">
                    <a:solidFill>
                      <a:srgbClr val="111827"/>
                    </a:solidFill>
                    <a:latin typeface="Cambria Math" panose="02040503050406030204" pitchFamily="18" charset="0"/>
                  </a:rPr>
                  <a:t>$\binom42\binom42=36$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a:t>
                </a:r>
                <a:r>
                  <a:rPr lang="en-IN" sz="2400">
                    <a:solidFill>
                      <a:srgbClr val="111827"/>
                    </a:solidFill>
                    <a:latin typeface="Cambria Math" panose="02040503050406030204" pitchFamily="18" charset="0"/>
                  </a:rPr>
                  <a:t>$=\frac{36}{126}=\frac27$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7</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$\frac27$</a:t>
                </a:r>
                <a:endParaRPr sz="2800">
                  <a:solidFill>
                    <a:srgbClr val="15803D"/>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Identity: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𝑎</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𝑏</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(a Vandermonde-type identity), valid for non-negative integers.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Problems with an unknown composition and no stated prior use 'each composition equally likely'; the answer would differ for a binomial prior.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priors cancel in Bayes' theorem; only the likelihoods (here hypergeometric) matter.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Identity: </a:t>
                </a:r>
                <a:r>
                  <a:rPr lang="en-IN" sz="2400">
                    <a:solidFill>
                      <a:srgbClr val="111827"/>
                    </a:solidFill>
                    <a:latin typeface="Cambria Math" panose="02040503050406030204" pitchFamily="18" charset="0"/>
                  </a:rPr>
                  <a:t>$\sum_{k=0}^{n}\binom{k}{a}\binom{n-k}{b}=\binom{n+1}{a+b+1}$</a:t>
                </a:r>
                <a:r>
                  <a:rPr sz="2400" b="0">
                    <a:solidFill>
                      <a:srgbClr val="111827"/>
                    </a:solidFill>
                    <a:latin typeface="Arial"/>
                  </a:rPr>
                  <a:t> (a Vandermonde-type identity), valid for non-negative integers.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Problems with an unknown composition and no stated prior use 'each composition equally likely'; the answer would differ for a binomial prior.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priors cancel in Bayes' theorem; only the likelihoods (here hypergeometric) matter.</a:t>
                </a:r>
                <a:endParaRPr sz="2400">
                  <a:solidFill>
                    <a:srgbClr val="111827"/>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726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Ajay not appear in the JEE exam with probability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while both Ajay and Vijay appear in the exam with probability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Then the probability that Ajay will appear in the exam and Vijay will not appear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35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35</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35</m:t>
                        </m:r>
                      </m:den>
                    </m:f>
                  </m:oMath>
                </a14:m>
                <a:endParaRPr sz="2400">
                  <a:solidFill>
                    <a:srgbClr val="111827"/>
                  </a:solidFill>
                </a:endParaRPr>
              </a:p>
            </p:txBody>
          </p:sp>
        </mc:Choice>
        <mc:Fallback>
          <p:sp>
            <p:nvSpPr>
              <p:cNvPr id="4" name="Rounded Rectangle 3"/>
              <p:cNvSpPr/>
              <p:nvPr/>
            </p:nvSpPr>
            <p:spPr>
              <a:xfrm>
                <a:off x="731520" y="1280160"/>
                <a:ext cx="10725912" cy="27726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Ajay not appear in the JEE exam with probability </a:t>
                </a:r>
                <a:r>
                  <a:rPr lang="en-IN" sz="2400">
                    <a:solidFill>
                      <a:srgbClr val="111827"/>
                    </a:solidFill>
                    <a:latin typeface="Cambria Math" panose="02040503050406030204" pitchFamily="18" charset="0"/>
                  </a:rPr>
                  <a:t>$p=\frac27$</a:t>
                </a:r>
                <a:r>
                  <a:rPr sz="2400" b="0">
                    <a:solidFill>
                      <a:srgbClr val="111827"/>
                    </a:solidFill>
                    <a:latin typeface="Arial"/>
                  </a:rPr>
                  <a:t>, while both Ajay and Vijay appear in the exam with probability </a:t>
                </a:r>
                <a:r>
                  <a:rPr lang="en-IN" sz="2400">
                    <a:solidFill>
                      <a:srgbClr val="111827"/>
                    </a:solidFill>
                    <a:latin typeface="Cambria Math" panose="02040503050406030204" pitchFamily="18" charset="0"/>
                  </a:rPr>
                  <a:t>$q=\frac15$</a:t>
                </a:r>
                <a:r>
                  <a:rPr sz="2400" b="0">
                    <a:solidFill>
                      <a:srgbClr val="111827"/>
                    </a:solidFill>
                    <a:latin typeface="Arial"/>
                  </a:rPr>
                  <a:t>. Then the probability that Ajay will appear in the exam and Vijay will not appear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$\frac{9}{35}$</a:t>
                </a:r>
                <a:r>
                  <a:rPr sz="2400" b="0">
                    <a:solidFill>
                      <a:srgbClr val="111827"/>
                    </a:solidFill>
                    <a:latin typeface="Arial"/>
                  </a:rPr>
                  <a:t>   (B) </a:t>
                </a:r>
                <a:r>
                  <a:rPr lang="en-IN" sz="2400">
                    <a:solidFill>
                      <a:srgbClr val="111827"/>
                    </a:solidFill>
                    <a:latin typeface="Cambria Math" panose="02040503050406030204" pitchFamily="18" charset="0"/>
                  </a:rPr>
                  <a:t>$\frac{18}{35}$</a:t>
                </a:r>
                <a:r>
                  <a:rPr sz="2400" b="0">
                    <a:solidFill>
                      <a:srgbClr val="111827"/>
                    </a:solidFill>
                    <a:latin typeface="Arial"/>
                  </a:rPr>
                  <a:t>   (C) </a:t>
                </a:r>
                <a:r>
                  <a:rPr lang="en-IN" sz="2400">
                    <a:solidFill>
                      <a:srgbClr val="111827"/>
                    </a:solidFill>
                    <a:latin typeface="Cambria Math" panose="02040503050406030204" pitchFamily="18" charset="0"/>
                  </a:rPr>
                  <a:t>$\frac{3}{35}$</a:t>
                </a:r>
                <a:r>
                  <a:rPr sz="2400" b="0">
                    <a:solidFill>
                      <a:srgbClr val="111827"/>
                    </a:solidFill>
                    <a:latin typeface="Arial"/>
                  </a:rPr>
                  <a:t>   (D) </a:t>
                </a:r>
                <a:r>
                  <a:rPr lang="en-IN" sz="2400">
                    <a:solidFill>
                      <a:srgbClr val="111827"/>
                    </a:solidFill>
                    <a:latin typeface="Cambria Math" panose="02040503050406030204" pitchFamily="18" charset="0"/>
                  </a:rPr>
                  <a:t>$\frac{24}{35}$</a:t>
                </a:r>
                <a:endParaRPr sz="2400">
                  <a:solidFill>
                    <a:srgbClr val="111827"/>
                  </a:solidFill>
                </a:endParaRPr>
              </a:p>
            </p:txBody>
          </p:sp>
        </mc:Fallback>
      </mc:AlternateContent>
      <p:sp>
        <p:nvSpPr>
          <p:cNvPr id="5" name="Rectangle 4"/>
          <p:cNvSpPr/>
          <p:nvPr/>
        </p:nvSpPr>
        <p:spPr>
          <a:xfrm>
            <a:off x="731520" y="42814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an event, Venn diagram and set operations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𝐵</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7</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$P(A\cap B')=P(A)-P(A\cap B)$</a:t>
                </a:r>
                <a:r>
                  <a:rPr sz="2400" b="0">
                    <a:solidFill>
                      <a:srgbClr val="78350F"/>
                    </a:solidFill>
                    <a:latin typeface="Arial"/>
                  </a:rPr>
                  <a:t> with </a:t>
                </a:r>
                <a:r>
                  <a:rPr lang="en-IN" sz="2400">
                    <a:solidFill>
                      <a:srgbClr val="78350F"/>
                    </a:solidFill>
                    <a:latin typeface="Cambria Math" panose="02040503050406030204" pitchFamily="18" charset="0"/>
                  </a:rPr>
                  <a:t>$P(A)=1-\frac27$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Ajay appears,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Vijay appears. Use the four Venn regions: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only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only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both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neither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Ajay does not appear: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appear: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Ajay appears, </a:t>
                </a:r>
                <a:r>
                  <a:rPr lang="en-IN" sz="2400">
                    <a:solidFill>
                      <a:srgbClr val="111827"/>
                    </a:solidFill>
                    <a:latin typeface="Cambria Math" panose="02040503050406030204" pitchFamily="18" charset="0"/>
                  </a:rPr>
                  <a:t>$B$</a:t>
                </a:r>
                <a:r>
                  <a:rPr sz="2400" b="0">
                    <a:solidFill>
                      <a:srgbClr val="111827"/>
                    </a:solidFill>
                    <a:latin typeface="Arial"/>
                  </a:rPr>
                  <a:t>: Vijay appears. Use the four Venn regions: </a:t>
                </a:r>
                <a:r>
                  <a:rPr lang="en-IN" sz="2400">
                    <a:solidFill>
                      <a:srgbClr val="111827"/>
                    </a:solidFill>
                    <a:latin typeface="Cambria Math" panose="02040503050406030204" pitchFamily="18" charset="0"/>
                  </a:rPr>
                  <a:t>$A$</a:t>
                </a:r>
                <a:r>
                  <a:rPr sz="2400" b="0">
                    <a:solidFill>
                      <a:srgbClr val="111827"/>
                    </a:solidFill>
                    <a:latin typeface="Arial"/>
                  </a:rPr>
                  <a:t> only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only </a:t>
                </a:r>
                <a:r>
                  <a:rPr lang="en-IN" sz="2400">
                    <a:solidFill>
                      <a:srgbClr val="111827"/>
                    </a:solidFill>
                    <a:latin typeface="Cambria Math" panose="02040503050406030204" pitchFamily="18" charset="0"/>
                  </a:rPr>
                  <a:t>$=b$</a:t>
                </a:r>
                <a:r>
                  <a:rPr sz="2400" b="0">
                    <a:solidFill>
                      <a:srgbClr val="111827"/>
                    </a:solidFill>
                    <a:latin typeface="Arial"/>
                  </a:rPr>
                  <a:t>, both </a:t>
                </a:r>
                <a:r>
                  <a:rPr lang="en-IN" sz="2400">
                    <a:solidFill>
                      <a:srgbClr val="111827"/>
                    </a:solidFill>
                    <a:latin typeface="Cambria Math" panose="02040503050406030204" pitchFamily="18" charset="0"/>
                  </a:rPr>
                  <a:t>$=c$</a:t>
                </a:r>
                <a:r>
                  <a:rPr sz="2400" b="0">
                    <a:solidFill>
                      <a:srgbClr val="111827"/>
                    </a:solidFill>
                    <a:latin typeface="Arial"/>
                  </a:rPr>
                  <a:t>, neither </a:t>
                </a:r>
                <a:r>
                  <a:rPr lang="en-IN" sz="2400">
                    <a:solidFill>
                      <a:srgbClr val="111827"/>
                    </a:solidFill>
                    <a:latin typeface="Cambria Math" panose="02040503050406030204" pitchFamily="18" charset="0"/>
                  </a:rPr>
                  <a:t>$=d$</a:t>
                </a:r>
                <a:r>
                  <a:rPr sz="2400" b="0">
                    <a:solidFill>
                      <a:srgbClr val="111827"/>
                    </a:solidFill>
                    <a:latin typeface="Arial"/>
                  </a:rPr>
                  <a:t>, with </a:t>
                </a:r>
                <a:r>
                  <a:rPr lang="en-IN" sz="2400">
                    <a:solidFill>
                      <a:srgbClr val="111827"/>
                    </a:solidFill>
                    <a:latin typeface="Cambria Math" panose="02040503050406030204" pitchFamily="18" charset="0"/>
                  </a:rPr>
                  <a:t>$a+b+c+d=1$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Ajay does not appear: </a:t>
                </a:r>
                <a:r>
                  <a:rPr lang="en-IN" sz="2400">
                    <a:solidFill>
                      <a:srgbClr val="111827"/>
                    </a:solidFill>
                    <a:latin typeface="Cambria Math" panose="02040503050406030204" pitchFamily="18" charset="0"/>
                  </a:rPr>
                  <a:t>$b+d=\frac27$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appear: </a:t>
                </a:r>
                <a:r>
                  <a:rPr lang="en-IN" sz="2400">
                    <a:solidFill>
                      <a:srgbClr val="111827"/>
                    </a:solidFill>
                    <a:latin typeface="Cambria Math" panose="02040503050406030204" pitchFamily="18" charset="0"/>
                  </a:rPr>
                  <a:t>$c=\frac15$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Ajay appears and Vijay does not: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35</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Ajay appears and Vijay does not: </a:t>
                </a:r>
                <a:r>
                  <a:rPr lang="en-IN" sz="2400">
                    <a:solidFill>
                      <a:srgbClr val="111827"/>
                    </a:solidFill>
                    <a:latin typeface="Cambria Math" panose="02040503050406030204" pitchFamily="18" charset="0"/>
                  </a:rPr>
                  <a:t>$a=P(A)-c=\left(1-\frac27\right)-\frac15$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$a=\frac57-\frac15=\frac{25-7}{35}=\frac{18}{35}$</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18</m:t>
                        </m:r>
                      </m:num>
                      <m:den>
                        <m:r>
                          <a:rPr lang="en-IN" sz="2800" i="1">
                            <a:solidFill>
                              <a:srgbClr val="15803D"/>
                            </a:solidFill>
                            <a:latin typeface="Cambria Math" panose="02040503050406030204" pitchFamily="18" charset="0"/>
                          </a:rPr>
                          <m:t>35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$\frac{18}{35}$</a:t>
                </a:r>
                <a:endParaRPr sz="2800">
                  <a:solidFill>
                    <a:srgbClr val="15803D"/>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the two identities behind most Venn-diagram probability questions.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Label the four disjoint regions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and write each given fact as a sum of regions.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four regions add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$P(A\cap B')=P(A)-P(A\cap B)$</a:t>
                </a:r>
                <a:r>
                  <a:rPr sz="2400" b="0">
                    <a:solidFill>
                      <a:srgbClr val="111827"/>
                    </a:solidFill>
                    <a:latin typeface="Arial"/>
                  </a:rPr>
                  <a:t> and </a:t>
                </a:r>
                <a:r>
                  <a:rPr lang="en-IN" sz="2400">
                    <a:solidFill>
                      <a:srgbClr val="111827"/>
                    </a:solidFill>
                    <a:latin typeface="Cambria Math" panose="02040503050406030204" pitchFamily="18" charset="0"/>
                  </a:rPr>
                  <a:t>$P(A\cup B)=P(A)+P(B)-P(A\cap B)$</a:t>
                </a:r>
                <a:r>
                  <a:rPr sz="2400" b="0">
                    <a:solidFill>
                      <a:srgbClr val="111827"/>
                    </a:solidFill>
                    <a:latin typeface="Arial"/>
                  </a:rPr>
                  <a:t> are the two identities behind most Venn-diagram probability questions.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Label the four disjoint regions </a:t>
                </a:r>
                <a:r>
                  <a:rPr lang="en-IN" sz="2400">
                    <a:solidFill>
                      <a:srgbClr val="111827"/>
                    </a:solidFill>
                    <a:latin typeface="Cambria Math" panose="02040503050406030204" pitchFamily="18" charset="0"/>
                  </a:rPr>
                  <a:t>$a,b,c,d$</a:t>
                </a:r>
                <a:r>
                  <a:rPr sz="2400" b="0">
                    <a:solidFill>
                      <a:srgbClr val="111827"/>
                    </a:solidFill>
                    <a:latin typeface="Arial"/>
                  </a:rPr>
                  <a:t> and write each given fact as a sum of regions.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four regions add to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denote the sum of the numbers obtained when two dice are rolled. If the probability that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𝑁</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are coprime, then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8</m:t>
                    </m:r>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$N$</a:t>
                </a:r>
                <a:r>
                  <a:rPr sz="2400" b="0">
                    <a:solidFill>
                      <a:srgbClr val="111827"/>
                    </a:solidFill>
                    <a:latin typeface="Arial"/>
                  </a:rPr>
                  <a:t> denote the sum of the numbers obtained when two dice are rolled. If the probability that </a:t>
                </a:r>
                <a:r>
                  <a:rPr lang="en-IN" sz="2400">
                    <a:solidFill>
                      <a:srgbClr val="111827"/>
                    </a:solidFill>
                    <a:latin typeface="Cambria Math" panose="02040503050406030204" pitchFamily="18" charset="0"/>
                  </a:rPr>
                  <a:t>$2^N&lt;N!$</a:t>
                </a:r>
                <a:r>
                  <a:rPr sz="2400" b="0">
                    <a:solidFill>
                      <a:srgbClr val="111827"/>
                    </a:solidFill>
                    <a:latin typeface="Arial"/>
                  </a:rPr>
                  <a:t> is </a:t>
                </a:r>
                <a:r>
                  <a:rPr lang="en-IN" sz="2400">
                    <a:solidFill>
                      <a:srgbClr val="111827"/>
                    </a:solidFill>
                    <a:latin typeface="Cambria Math" panose="02040503050406030204" pitchFamily="18" charset="0"/>
                  </a:rPr>
                  <a:t>$\frac mn$</a:t>
                </a:r>
                <a:r>
                  <a:rPr sz="2400" b="0">
                    <a:solidFill>
                      <a:srgbClr val="111827"/>
                    </a:solidFill>
                    <a:latin typeface="Arial"/>
                  </a:rPr>
                  <a:t>, where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are coprime, then </a:t>
                </a:r>
                <a:r>
                  <a:rPr lang="en-IN" sz="2400">
                    <a:solidFill>
                      <a:srgbClr val="111827"/>
                    </a:solidFill>
                    <a:latin typeface="Cambria Math" panose="02040503050406030204" pitchFamily="18" charset="0"/>
                  </a:rPr>
                  <a:t>$4m-3n$</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a:t>
                </a:r>
                <a:r>
                  <a:rPr sz="2400" b="0">
                    <a:solidFill>
                      <a:srgbClr val="111827"/>
                    </a:solidFill>
                    <a:latin typeface="Arial"/>
                  </a:rPr>
                  <a:t>   (B) </a:t>
                </a:r>
                <a:r>
                  <a:rPr lang="en-IN" sz="2400">
                    <a:solidFill>
                      <a:srgbClr val="111827"/>
                    </a:solidFill>
                    <a:latin typeface="Cambria Math" panose="02040503050406030204" pitchFamily="18" charset="0"/>
                  </a:rPr>
                  <a:t>$6$</a:t>
                </a:r>
                <a:r>
                  <a:rPr sz="2400" b="0">
                    <a:solidFill>
                      <a:srgbClr val="111827"/>
                    </a:solidFill>
                    <a:latin typeface="Arial"/>
                  </a:rPr>
                  <a:t>   (C) </a:t>
                </a:r>
                <a:r>
                  <a:rPr lang="en-IN" sz="2400">
                    <a:solidFill>
                      <a:srgbClr val="111827"/>
                    </a:solidFill>
                    <a:latin typeface="Cambria Math" panose="02040503050406030204" pitchFamily="18" charset="0"/>
                  </a:rPr>
                  <a:t>$12$</a:t>
                </a:r>
                <a:r>
                  <a:rPr sz="2400" b="0">
                    <a:solidFill>
                      <a:srgbClr val="111827"/>
                    </a:solidFill>
                    <a:latin typeface="Arial"/>
                  </a:rPr>
                  <a:t>   (D) </a:t>
                </a:r>
                <a:r>
                  <a:rPr lang="en-IN" sz="2400">
                    <a:solidFill>
                      <a:srgbClr val="111827"/>
                    </a:solidFill>
                    <a:latin typeface="Cambria Math" panose="02040503050406030204" pitchFamily="18" charset="0"/>
                  </a:rPr>
                  <a:t>$8$</a:t>
                </a:r>
                <a:endParaRPr sz="2400">
                  <a:solidFill>
                    <a:srgbClr val="111827"/>
                  </a:solidFill>
                </a:endParaRPr>
              </a:p>
            </p:txBody>
          </p:sp>
        </mc:Fallback>
      </mc:AlternateContent>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of an event, Principle of mathematical induction (inequalities)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values of </a:t>
                </a:r>
                <a14:m>
                  <m:oMath xmlns:m="http://schemas.openxmlformats.org/officeDocument/2006/math">
                    <m:r>
                      <a:rPr lang="en-IN" sz="2400" i="1">
                        <a:solidFill>
                          <a:srgbClr val="78350F"/>
                        </a:solidFill>
                        <a:latin typeface="Cambria Math" panose="02040503050406030204" pitchFamily="18" charset="0"/>
                      </a:rPr>
                      <m:t>𝑁</m:t>
                    </m:r>
                  </m:oMath>
                </a14:m>
                <a:r>
                  <a:rPr sz="2400" b="0">
                    <a:solidFill>
                      <a:srgbClr val="78350F"/>
                    </a:solidFill>
                    <a:latin typeface="Arial"/>
                  </a:rPr>
                  <a:t> for which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𝑁</m:t>
                        </m:r>
                      </m:sup>
                    </m:sSup>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fails (</a:t>
                </a:r>
                <a14:m>
                  <m:oMath xmlns:m="http://schemas.openxmlformats.org/officeDocument/2006/math">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then use the complement.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values of </a:t>
                </a:r>
                <a:r>
                  <a:rPr lang="en-IN" sz="2400">
                    <a:solidFill>
                      <a:srgbClr val="78350F"/>
                    </a:solidFill>
                    <a:latin typeface="Cambria Math" panose="02040503050406030204" pitchFamily="18" charset="0"/>
                  </a:rPr>
                  <a:t>$N$</a:t>
                </a:r>
                <a:r>
                  <a:rPr sz="2400" b="0">
                    <a:solidFill>
                      <a:srgbClr val="78350F"/>
                    </a:solidFill>
                    <a:latin typeface="Arial"/>
                  </a:rPr>
                  <a:t> for which </a:t>
                </a:r>
                <a:r>
                  <a:rPr lang="en-IN" sz="2400">
                    <a:solidFill>
                      <a:srgbClr val="78350F"/>
                    </a:solidFill>
                    <a:latin typeface="Cambria Math" panose="02040503050406030204" pitchFamily="18" charset="0"/>
                  </a:rPr>
                  <a:t>$2^N&lt;N!$</a:t>
                </a:r>
                <a:r>
                  <a:rPr sz="2400" b="0">
                    <a:solidFill>
                      <a:srgbClr val="78350F"/>
                    </a:solidFill>
                    <a:latin typeface="Arial"/>
                  </a:rPr>
                  <a:t> fails (</a:t>
                </a:r>
                <a:r>
                  <a:rPr lang="en-IN" sz="2400">
                    <a:solidFill>
                      <a:srgbClr val="78350F"/>
                    </a:solidFill>
                    <a:latin typeface="Cambria Math" panose="02040503050406030204" pitchFamily="18" charset="0"/>
                  </a:rPr>
                  <a:t>$N=2,3$</a:t>
                </a:r>
                <a:r>
                  <a:rPr sz="2400" b="0">
                    <a:solidFill>
                      <a:srgbClr val="78350F"/>
                    </a:solidFill>
                    <a:latin typeface="Arial"/>
                  </a:rPr>
                  <a:t>), then use the complement.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takes the values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not possible with two dice).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false, so not favourable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is false, so not favourable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a:t>
                </a:r>
                <a:r>
                  <a:rPr sz="2400" b="0">
                    <a:solidFill>
                      <a:srgbClr val="111827"/>
                    </a:solidFill>
                    <a:latin typeface="Arial"/>
                  </a:rPr>
                  <a:t> takes the values </a:t>
                </a:r>
                <a:r>
                  <a:rPr lang="en-IN" sz="2400">
                    <a:solidFill>
                      <a:srgbClr val="111827"/>
                    </a:solidFill>
                    <a:latin typeface="Cambria Math" panose="02040503050406030204" pitchFamily="18" charset="0"/>
                  </a:rPr>
                  <a:t>$2,3,\dots,12$</a:t>
                </a:r>
                <a:r>
                  <a:rPr sz="2400" b="0">
                    <a:solidFill>
                      <a:srgbClr val="111827"/>
                    </a:solidFill>
                    <a:latin typeface="Arial"/>
                  </a:rPr>
                  <a:t> (since </a:t>
                </a:r>
                <a:r>
                  <a:rPr lang="en-IN" sz="2400">
                    <a:solidFill>
                      <a:srgbClr val="111827"/>
                    </a:solidFill>
                    <a:latin typeface="Cambria Math" panose="02040503050406030204" pitchFamily="18" charset="0"/>
                  </a:rPr>
                  <a:t>$N=1$</a:t>
                </a:r>
                <a:r>
                  <a:rPr sz="2400" b="0">
                    <a:solidFill>
                      <a:srgbClr val="111827"/>
                    </a:solidFill>
                    <a:latin typeface="Arial"/>
                  </a:rPr>
                  <a:t> is not possible with two dice).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$2^2=4&lt;2!=2$</a:t>
                </a:r>
                <a:r>
                  <a:rPr sz="2400" b="0">
                    <a:solidFill>
                      <a:srgbClr val="111827"/>
                    </a:solidFill>
                    <a:latin typeface="Arial"/>
                  </a:rPr>
                  <a:t> is false, so not favourable (</a:t>
                </a:r>
                <a:r>
                  <a:rPr lang="en-IN" sz="2400">
                    <a:solidFill>
                      <a:srgbClr val="111827"/>
                    </a:solidFill>
                    <a:latin typeface="Cambria Math" panose="02040503050406030204" pitchFamily="18" charset="0"/>
                  </a:rPr>
                  <a:t>$P(N=2)=\frac1{36}$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$2^3=8&lt;3!=6$</a:t>
                </a:r>
                <a:r>
                  <a:rPr sz="2400" b="0">
                    <a:solidFill>
                      <a:srgbClr val="111827"/>
                    </a:solidFill>
                    <a:latin typeface="Arial"/>
                  </a:rPr>
                  <a:t> is false, so not favourable (</a:t>
                </a:r>
                <a:r>
                  <a:rPr lang="en-IN" sz="2400">
                    <a:solidFill>
                      <a:srgbClr val="111827"/>
                    </a:solidFill>
                    <a:latin typeface="Cambria Math" panose="02040503050406030204" pitchFamily="18" charset="0"/>
                  </a:rPr>
                  <a:t>$P(N=3)=\frac2{36}$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is true, and the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𝑁</m:t>
                            </m:r>
                          </m:sup>
                        </m:sSup>
                      </m:den>
                    </m:f>
                  </m:oMath>
                </a14:m>
                <a:r>
                  <a:rPr sz="2400" b="0">
                    <a:solidFill>
                      <a:srgbClr val="111827"/>
                    </a:solidFill>
                    <a:latin typeface="Arial"/>
                  </a:rPr>
                  <a:t> keeps increasing 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every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is favourable.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$2^4=16&lt;4!=24$</a:t>
                </a:r>
                <a:r>
                  <a:rPr sz="2400" b="0">
                    <a:solidFill>
                      <a:srgbClr val="111827"/>
                    </a:solidFill>
                    <a:latin typeface="Arial"/>
                  </a:rPr>
                  <a:t> is true, and the ratio </a:t>
                </a:r>
                <a:r>
                  <a:rPr lang="en-IN" sz="2400">
                    <a:solidFill>
                      <a:srgbClr val="111827"/>
                    </a:solidFill>
                    <a:latin typeface="Cambria Math" panose="02040503050406030204" pitchFamily="18" charset="0"/>
                  </a:rPr>
                  <a:t>$\frac{N!}{2^N}$</a:t>
                </a:r>
                <a:r>
                  <a:rPr sz="2400" b="0">
                    <a:solidFill>
                      <a:srgbClr val="111827"/>
                    </a:solidFill>
                    <a:latin typeface="Arial"/>
                  </a:rPr>
                  <a:t> keeps increasing for </a:t>
                </a:r>
                <a:r>
                  <a:rPr lang="en-IN" sz="2400">
                    <a:solidFill>
                      <a:srgbClr val="111827"/>
                    </a:solidFill>
                    <a:latin typeface="Cambria Math" panose="02040503050406030204" pitchFamily="18" charset="0"/>
                  </a:rPr>
                  <a:t>$N\ge4$</a:t>
                </a:r>
                <a:r>
                  <a:rPr sz="2400" b="0">
                    <a:solidFill>
                      <a:srgbClr val="111827"/>
                    </a:solidFill>
                    <a:latin typeface="Arial"/>
                  </a:rPr>
                  <a:t>, so every </a:t>
                </a:r>
                <a:r>
                  <a:rPr lang="en-IN" sz="2400">
                    <a:solidFill>
                      <a:srgbClr val="111827"/>
                    </a:solidFill>
                    <a:latin typeface="Cambria Math" panose="02040503050406030204" pitchFamily="18" charset="0"/>
                  </a:rPr>
                  <a:t>$N\ge4$</a:t>
                </a:r>
                <a:r>
                  <a:rPr sz="2400" b="0">
                    <a:solidFill>
                      <a:srgbClr val="111827"/>
                    </a:solidFill>
                    <a:latin typeface="Arial"/>
                  </a:rPr>
                  <a:t> is favourable.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probability </a:t>
                </a:r>
                <a:r>
                  <a:rPr lang="en-IN" sz="2400">
                    <a:solidFill>
                      <a:srgbClr val="111827"/>
                    </a:solidFill>
                    <a:latin typeface="Cambria Math" panose="02040503050406030204" pitchFamily="18" charset="0"/>
                  </a:rPr>
                  <a:t>$=\frac{36-1-2}{36}=\frac{33}{36}=\frac{11}{12}$</a:t>
                </a:r>
                <a:r>
                  <a:rPr sz="2400" b="0">
                    <a:solidFill>
                      <a:srgbClr val="111827"/>
                    </a:solidFill>
                    <a:latin typeface="Arial"/>
                  </a:rPr>
                  <a:t>, so </a:t>
                </a:r>
                <a:r>
                  <a:rPr lang="en-IN" sz="2400">
                    <a:solidFill>
                      <a:srgbClr val="111827"/>
                    </a:solidFill>
                    <a:latin typeface="Cambria Math" panose="02040503050406030204" pitchFamily="18" charset="0"/>
                  </a:rPr>
                  <a:t>$m=11$</a:t>
                </a:r>
                <a:r>
                  <a:rPr sz="2400" b="0">
                    <a:solidFill>
                      <a:srgbClr val="111827"/>
                    </a:solidFill>
                    <a:latin typeface="Arial"/>
                  </a:rPr>
                  <a:t> and </a:t>
                </a:r>
                <a:r>
                  <a:rPr lang="en-IN" sz="2400">
                    <a:solidFill>
                      <a:srgbClr val="111827"/>
                    </a:solidFill>
                    <a:latin typeface="Cambria Math" panose="02040503050406030204" pitchFamily="18" charset="0"/>
                  </a:rPr>
                  <a:t>$n=12$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$4m-3n=44-36=8$</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8</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$8$</a:t>
                </a:r>
                <a:endParaRPr sz="2800">
                  <a:solidFill>
                    <a:srgbClr val="15803D"/>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Prove </a:t>
                </a:r>
                <a14:m>
                  <m:oMath xmlns:m="http://schemas.openxmlformats.org/officeDocument/2006/math">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𝑁</m:t>
                        </m:r>
                      </m:sup>
                    </m:sSup>
                  </m:oMath>
                </a14:m>
                <a:r>
                  <a:rPr sz="2400" b="0">
                    <a:solidFill>
                      <a:srgbClr val="78350F"/>
                    </a:solidFill>
                    <a:latin typeface="Arial"/>
                  </a:rPr>
                  <a:t> increases for </a:t>
                </a:r>
                <a14:m>
                  <m:oMath xmlns:m="http://schemas.openxmlformats.org/officeDocument/2006/math">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by the ratio of consecutive terms, then count the favourable outcomes directly by sum.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Prove </a:t>
                </a:r>
                <a:r>
                  <a:rPr lang="en-IN" sz="2400">
                    <a:solidFill>
                      <a:srgbClr val="78350F"/>
                    </a:solidFill>
                    <a:latin typeface="Cambria Math" panose="02040503050406030204" pitchFamily="18" charset="0"/>
                  </a:rPr>
                  <a:t>$N!/2^N$</a:t>
                </a:r>
                <a:r>
                  <a:rPr sz="2400" b="0">
                    <a:solidFill>
                      <a:srgbClr val="78350F"/>
                    </a:solidFill>
                    <a:latin typeface="Arial"/>
                  </a:rPr>
                  <a:t> increases for </a:t>
                </a:r>
                <a:r>
                  <a:rPr lang="en-IN" sz="2400">
                    <a:solidFill>
                      <a:srgbClr val="78350F"/>
                    </a:solidFill>
                    <a:latin typeface="Cambria Math" panose="02040503050406030204" pitchFamily="18" charset="0"/>
                  </a:rPr>
                  <a:t>$N\ge3$</a:t>
                </a:r>
                <a:r>
                  <a:rPr sz="2400" b="0">
                    <a:solidFill>
                      <a:srgbClr val="78350F"/>
                    </a:solidFill>
                    <a:latin typeface="Arial"/>
                  </a:rPr>
                  <a:t> by the ratio of consecutive terms, then count the favourable outcomes directly by sum.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𝑁</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𝑁</m:t>
                            </m:r>
                          </m:sup>
                        </m:sSup>
                      </m:den>
                    </m:f>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𝑁</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𝑁</m:t>
                        </m:r>
                      </m:sub>
                    </m:sSub>
                  </m:oMath>
                </a14:m>
                <a:r>
                  <a:rPr sz="2400" b="0">
                    <a:solidFill>
                      <a:srgbClr val="111827"/>
                    </a:solidFill>
                    <a:latin typeface="Arial"/>
                  </a:rPr>
                  <a:t> is increasing from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𝑁</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holds exactly 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fails).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$t_N=\frac{N!}{2^N}$</a:t>
                </a:r>
                <a:r>
                  <a:rPr sz="2400" b="0">
                    <a:solidFill>
                      <a:srgbClr val="111827"/>
                    </a:solidFill>
                    <a:latin typeface="Arial"/>
                  </a:rPr>
                  <a:t>. Then </a:t>
                </a:r>
                <a:r>
                  <a:rPr lang="en-IN" sz="2400">
                    <a:solidFill>
                      <a:srgbClr val="111827"/>
                    </a:solidFill>
                    <a:latin typeface="Cambria Math" panose="02040503050406030204" pitchFamily="18" charset="0"/>
                  </a:rPr>
                  <a:t>$\frac{t_{N+1}}{t_N}=\frac{N+1}{2}&gt;1$</a:t>
                </a:r>
                <a:r>
                  <a:rPr sz="2400" b="0">
                    <a:solidFill>
                      <a:srgbClr val="111827"/>
                    </a:solidFill>
                    <a:latin typeface="Arial"/>
                  </a:rPr>
                  <a:t> for </a:t>
                </a:r>
                <a:r>
                  <a:rPr lang="en-IN" sz="2400">
                    <a:solidFill>
                      <a:srgbClr val="111827"/>
                    </a:solidFill>
                    <a:latin typeface="Cambria Math" panose="02040503050406030204" pitchFamily="18" charset="0"/>
                  </a:rPr>
                  <a:t>$N\ge2$</a:t>
                </a:r>
                <a:r>
                  <a:rPr sz="2400" b="0">
                    <a:solidFill>
                      <a:srgbClr val="111827"/>
                    </a:solidFill>
                    <a:latin typeface="Arial"/>
                  </a:rPr>
                  <a:t>, so </a:t>
                </a:r>
                <a:r>
                  <a:rPr lang="en-IN" sz="2400">
                    <a:solidFill>
                      <a:srgbClr val="111827"/>
                    </a:solidFill>
                    <a:latin typeface="Cambria Math" panose="02040503050406030204" pitchFamily="18" charset="0"/>
                  </a:rPr>
                  <a:t>$t_N$</a:t>
                </a:r>
                <a:r>
                  <a:rPr sz="2400" b="0">
                    <a:solidFill>
                      <a:srgbClr val="111827"/>
                    </a:solidFill>
                    <a:latin typeface="Arial"/>
                  </a:rPr>
                  <a:t> is increasing from </a:t>
                </a:r>
                <a:r>
                  <a:rPr lang="en-IN" sz="2400">
                    <a:solidFill>
                      <a:srgbClr val="111827"/>
                    </a:solidFill>
                    <a:latin typeface="Cambria Math" panose="02040503050406030204" pitchFamily="18" charset="0"/>
                  </a:rPr>
                  <a:t>$N=2$</a:t>
                </a:r>
                <a:r>
                  <a:rPr sz="2400" b="0">
                    <a:solidFill>
                      <a:srgbClr val="111827"/>
                    </a:solidFill>
                    <a:latin typeface="Arial"/>
                  </a:rPr>
                  <a:t> 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$t_3=\frac68&lt;1$</a:t>
                </a:r>
                <a:r>
                  <a:rPr sz="2400" b="0">
                    <a:solidFill>
                      <a:srgbClr val="111827"/>
                    </a:solidFill>
                    <a:latin typeface="Arial"/>
                  </a:rPr>
                  <a:t> but </a:t>
                </a:r>
                <a:r>
                  <a:rPr lang="en-IN" sz="2400">
                    <a:solidFill>
                      <a:srgbClr val="111827"/>
                    </a:solidFill>
                    <a:latin typeface="Cambria Math" panose="02040503050406030204" pitchFamily="18" charset="0"/>
                  </a:rPr>
                  <a:t>$t_4=\frac{24}{16}&gt;1$</a:t>
                </a:r>
                <a:r>
                  <a:rPr sz="2400" b="0">
                    <a:solidFill>
                      <a:srgbClr val="111827"/>
                    </a:solidFill>
                    <a:latin typeface="Arial"/>
                  </a:rPr>
                  <a:t>, so </a:t>
                </a:r>
                <a:r>
                  <a:rPr lang="en-IN" sz="2400">
                    <a:solidFill>
                      <a:srgbClr val="111827"/>
                    </a:solidFill>
                    <a:latin typeface="Cambria Math" panose="02040503050406030204" pitchFamily="18" charset="0"/>
                  </a:rPr>
                  <a:t>$2^N&lt;N!$</a:t>
                </a:r>
                <a:r>
                  <a:rPr sz="2400" b="0">
                    <a:solidFill>
                      <a:srgbClr val="111827"/>
                    </a:solidFill>
                    <a:latin typeface="Arial"/>
                  </a:rPr>
                  <a:t> holds exactly for </a:t>
                </a:r>
                <a:r>
                  <a:rPr lang="en-IN" sz="2400">
                    <a:solidFill>
                      <a:srgbClr val="111827"/>
                    </a:solidFill>
                    <a:latin typeface="Cambria Math" panose="02040503050406030204" pitchFamily="18" charset="0"/>
                  </a:rPr>
                  <a:t>$N\ge4$</a:t>
                </a:r>
                <a:r>
                  <a:rPr sz="2400" b="0">
                    <a:solidFill>
                      <a:srgbClr val="111827"/>
                    </a:solidFill>
                    <a:latin typeface="Arial"/>
                  </a:rPr>
                  <a:t> (and </a:t>
                </a:r>
                <a:r>
                  <a:rPr lang="en-IN" sz="2400">
                    <a:solidFill>
                      <a:srgbClr val="111827"/>
                    </a:solidFill>
                    <a:latin typeface="Cambria Math" panose="02040503050406030204" pitchFamily="18" charset="0"/>
                  </a:rPr>
                  <a:t>$t_2=\frac24&lt;1$</a:t>
                </a:r>
                <a:r>
                  <a:rPr sz="2400" b="0">
                    <a:solidFill>
                      <a:srgbClr val="111827"/>
                    </a:solidFill>
                    <a:latin typeface="Arial"/>
                  </a:rPr>
                  <a:t> fails).</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Outcomes with sum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ways respectively.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outcomes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oMath>
                </a14:m>
                <a:r>
                  <a:rPr sz="2400" b="0">
                    <a:solidFill>
                      <a:srgbClr val="111827"/>
                    </a:solidFill>
                    <a:latin typeface="Arial"/>
                  </a:rPr>
                  <a:t>, so the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Outcomes with sum </a:t>
                </a:r>
                <a:r>
                  <a:rPr lang="en-IN" sz="2400">
                    <a:solidFill>
                      <a:srgbClr val="111827"/>
                    </a:solidFill>
                    <a:latin typeface="Cambria Math" panose="02040503050406030204" pitchFamily="18" charset="0"/>
                  </a:rPr>
                  <a:t>$4,5,\dots,12$</a:t>
                </a:r>
                <a:r>
                  <a:rPr sz="2400" b="0">
                    <a:solidFill>
                      <a:srgbClr val="111827"/>
                    </a:solidFill>
                    <a:latin typeface="Arial"/>
                  </a:rPr>
                  <a:t>: </a:t>
                </a:r>
                <a:r>
                  <a:rPr lang="en-IN" sz="2400">
                    <a:solidFill>
                      <a:srgbClr val="111827"/>
                    </a:solidFill>
                    <a:latin typeface="Cambria Math" panose="02040503050406030204" pitchFamily="18" charset="0"/>
                  </a:rPr>
                  <a:t>$3,4,5,6,5,4,3,2,1$</a:t>
                </a:r>
                <a:r>
                  <a:rPr sz="2400" b="0">
                    <a:solidFill>
                      <a:srgbClr val="111827"/>
                    </a:solidFill>
                    <a:latin typeface="Arial"/>
                  </a:rPr>
                  <a:t> ways respectively.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Favourable outcomes </a:t>
                </a:r>
                <a:r>
                  <a:rPr lang="en-IN" sz="2400">
                    <a:solidFill>
                      <a:srgbClr val="111827"/>
                    </a:solidFill>
                    <a:latin typeface="Cambria Math" panose="02040503050406030204" pitchFamily="18" charset="0"/>
                  </a:rPr>
                  <a:t>$=3+4+5+6+5+4+3+2+1=33$</a:t>
                </a:r>
                <a:r>
                  <a:rPr sz="2400" b="0">
                    <a:solidFill>
                      <a:srgbClr val="111827"/>
                    </a:solidFill>
                    <a:latin typeface="Arial"/>
                  </a:rPr>
                  <a:t>, so the probability is </a:t>
                </a:r>
                <a:r>
                  <a:rPr lang="en-IN" sz="2400">
                    <a:solidFill>
                      <a:srgbClr val="111827"/>
                    </a:solidFill>
                    <a:latin typeface="Cambria Math" panose="02040503050406030204" pitchFamily="18" charset="0"/>
                  </a:rPr>
                  <a:t>$\frac{33}{36}=\frac{11}{12}$</a:t>
                </a:r>
                <a:r>
                  <a:rPr sz="2400" b="0">
                    <a:solidFill>
                      <a:srgbClr val="111827"/>
                    </a:solidFill>
                    <a:latin typeface="Arial"/>
                  </a:rPr>
                  <a:t> and </a:t>
                </a:r>
                <a:r>
                  <a:rPr lang="en-IN" sz="2400">
                    <a:solidFill>
                      <a:srgbClr val="111827"/>
                    </a:solidFill>
                    <a:latin typeface="Cambria Math" panose="02040503050406030204" pitchFamily="18" charset="0"/>
                  </a:rPr>
                  <a:t>$4m-3n=8$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8</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$8$</a:t>
                </a:r>
                <a:endParaRPr sz="2800">
                  <a:solidFill>
                    <a:srgbClr val="15803D"/>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𝑁</m:t>
                            </m:r>
                          </m:sup>
                        </m:sSup>
                      </m:den>
                    </m:f>
                  </m:oMath>
                </a14:m>
                <a:r>
                  <a:rPr sz="2400" b="0">
                    <a:solidFill>
                      <a:srgbClr val="111827"/>
                    </a:solidFill>
                    <a:latin typeface="Arial"/>
                  </a:rPr>
                  <a:t> increases 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because the consecutive ratio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hence a factorial inequality once true stays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Distribution of the sum of two dice: ways for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Reduce to lowest terms before computing a combination like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$\frac{N!}{2^N}$</a:t>
                </a:r>
                <a:r>
                  <a:rPr sz="2400" b="0">
                    <a:solidFill>
                      <a:srgbClr val="111827"/>
                    </a:solidFill>
                    <a:latin typeface="Arial"/>
                  </a:rPr>
                  <a:t> increases for </a:t>
                </a:r>
                <a:r>
                  <a:rPr lang="en-IN" sz="2400">
                    <a:solidFill>
                      <a:srgbClr val="111827"/>
                    </a:solidFill>
                    <a:latin typeface="Cambria Math" panose="02040503050406030204" pitchFamily="18" charset="0"/>
                  </a:rPr>
                  <a:t>$N\ge2$</a:t>
                </a:r>
                <a:r>
                  <a:rPr sz="2400" b="0">
                    <a:solidFill>
                      <a:srgbClr val="111827"/>
                    </a:solidFill>
                    <a:latin typeface="Arial"/>
                  </a:rPr>
                  <a:t> because the consecutive ratio is </a:t>
                </a:r>
                <a:r>
                  <a:rPr lang="en-IN" sz="2400">
                    <a:solidFill>
                      <a:srgbClr val="111827"/>
                    </a:solidFill>
                    <a:latin typeface="Cambria Math" panose="02040503050406030204" pitchFamily="18" charset="0"/>
                  </a:rPr>
                  <a:t>$\frac{N+1}{2}&gt;1$</a:t>
                </a:r>
                <a:r>
                  <a:rPr sz="2400" b="0">
                    <a:solidFill>
                      <a:srgbClr val="111827"/>
                    </a:solidFill>
                    <a:latin typeface="Arial"/>
                  </a:rPr>
                  <a:t>; hence a factorial inequality once true stays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Distribution of the sum of two dice: ways for sum </a:t>
                </a:r>
                <a:r>
                  <a:rPr lang="en-IN" sz="2400">
                    <a:solidFill>
                      <a:srgbClr val="111827"/>
                    </a:solidFill>
                    <a:latin typeface="Cambria Math" panose="02040503050406030204" pitchFamily="18" charset="0"/>
                  </a:rPr>
                  <a:t>$s$</a:t>
                </a:r>
                <a:r>
                  <a:rPr sz="2400" b="0">
                    <a:solidFill>
                      <a:srgbClr val="111827"/>
                    </a:solidFill>
                    <a:latin typeface="Arial"/>
                  </a:rPr>
                  <a:t> is </a:t>
                </a:r>
                <a:r>
                  <a:rPr lang="en-IN" sz="2400">
                    <a:solidFill>
                      <a:srgbClr val="111827"/>
                    </a:solidFill>
                    <a:latin typeface="Cambria Math" panose="02040503050406030204" pitchFamily="18" charset="0"/>
                  </a:rPr>
                  <a:t>$6-|s-7|$</a:t>
                </a:r>
                <a:r>
                  <a:rPr sz="2400" b="0">
                    <a:solidFill>
                      <a:srgbClr val="111827"/>
                    </a:solidFill>
                    <a:latin typeface="Arial"/>
                  </a:rPr>
                  <a:t> for </a:t>
                </a:r>
                <a:r>
                  <a:rPr lang="en-IN" sz="2400">
                    <a:solidFill>
                      <a:srgbClr val="111827"/>
                    </a:solidFill>
                    <a:latin typeface="Cambria Math" panose="02040503050406030204" pitchFamily="18" charset="0"/>
                  </a:rPr>
                  <a:t>$2\le s\le12$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Reduce to lowest terms before computing a combination like </a:t>
                </a:r>
                <a:r>
                  <a:rPr lang="en-IN" sz="2400">
                    <a:solidFill>
                      <a:srgbClr val="111827"/>
                    </a:solidFill>
                    <a:latin typeface="Cambria Math" panose="02040503050406030204" pitchFamily="18" charset="0"/>
                  </a:rPr>
                  <a:t>$4m-3n$</a:t>
                </a:r>
                <a:r>
                  <a:rPr sz="2400" b="0">
                    <a:solidFill>
                      <a:srgbClr val="111827"/>
                    </a:solidFill>
                    <a:latin typeface="Arial"/>
                  </a:rPr>
                  <a:t> (</a:t>
                </a:r>
                <a:r>
                  <a:rPr lang="en-IN" sz="2400">
                    <a:solidFill>
                      <a:srgbClr val="111827"/>
                    </a:solidFill>
                    <a:latin typeface="Cambria Math" panose="02040503050406030204" pitchFamily="18" charset="0"/>
                  </a:rPr>
                  <a:t>$\frac{33}{36}=\frac{11}{12}$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die be rolled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times. Let the probability of getting odd numbers seven times be equal to the probability of getting odd numbers nine times. If the probability of getting even numbers twice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90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30</m:t>
                    </m:r>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die be rolled </a:t>
                </a:r>
                <a:r>
                  <a:rPr lang="en-IN" sz="2400">
                    <a:solidFill>
                      <a:srgbClr val="111827"/>
                    </a:solidFill>
                    <a:latin typeface="Cambria Math" panose="02040503050406030204" pitchFamily="18" charset="0"/>
                  </a:rPr>
                  <a:t>$n$</a:t>
                </a:r>
                <a:r>
                  <a:rPr sz="2400" b="0">
                    <a:solidFill>
                      <a:srgbClr val="111827"/>
                    </a:solidFill>
                    <a:latin typeface="Arial"/>
                  </a:rPr>
                  <a:t> times. Let the probability of getting odd numbers seven times be equal to the probability of getting odd numbers nine times. If the probability of getting even numbers twice is </a:t>
                </a:r>
                <a:r>
                  <a:rPr lang="en-IN" sz="2400">
                    <a:solidFill>
                      <a:srgbClr val="111827"/>
                    </a:solidFill>
                    <a:latin typeface="Cambria Math" panose="02040503050406030204" pitchFamily="18" charset="0"/>
                  </a:rPr>
                  <a:t>$\frac{k}{2^{15}}$</a:t>
                </a:r>
                <a:r>
                  <a:rPr sz="2400" b="0">
                    <a:solidFill>
                      <a:srgbClr val="111827"/>
                    </a:solidFill>
                    <a:latin typeface="Arial"/>
                  </a:rPr>
                  <a:t>, then </a:t>
                </a:r>
                <a:r>
                  <a:rPr lang="en-IN" sz="2400">
                    <a:solidFill>
                      <a:srgbClr val="111827"/>
                    </a:solidFill>
                    <a:latin typeface="Cambria Math" panose="02040503050406030204" pitchFamily="18" charset="0"/>
                  </a:rPr>
                  <a:t>$k$</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$15$</a:t>
                </a:r>
                <a:r>
                  <a:rPr sz="2400" b="0">
                    <a:solidFill>
                      <a:srgbClr val="111827"/>
                    </a:solidFill>
                    <a:latin typeface="Arial"/>
                  </a:rPr>
                  <a:t>   (B) </a:t>
                </a:r>
                <a:r>
                  <a:rPr lang="en-IN" sz="2400">
                    <a:solidFill>
                      <a:srgbClr val="111827"/>
                    </a:solidFill>
                    <a:latin typeface="Cambria Math" panose="02040503050406030204" pitchFamily="18" charset="0"/>
                  </a:rPr>
                  <a:t>$90$</a:t>
                </a:r>
                <a:r>
                  <a:rPr sz="2400" b="0">
                    <a:solidFill>
                      <a:srgbClr val="111827"/>
                    </a:solidFill>
                    <a:latin typeface="Arial"/>
                  </a:rPr>
                  <a:t>   (C) </a:t>
                </a:r>
                <a:r>
                  <a:rPr lang="en-IN" sz="2400">
                    <a:solidFill>
                      <a:srgbClr val="111827"/>
                    </a:solidFill>
                    <a:latin typeface="Cambria Math" panose="02040503050406030204" pitchFamily="18" charset="0"/>
                  </a:rPr>
                  <a:t>$60$</a:t>
                </a:r>
                <a:r>
                  <a:rPr sz="2400" b="0">
                    <a:solidFill>
                      <a:srgbClr val="111827"/>
                    </a:solidFill>
                    <a:latin typeface="Arial"/>
                  </a:rPr>
                  <a:t>   (D) </a:t>
                </a:r>
                <a:r>
                  <a:rPr lang="en-IN" sz="2400">
                    <a:solidFill>
                      <a:srgbClr val="111827"/>
                    </a:solidFill>
                    <a:latin typeface="Cambria Math" panose="02040503050406030204" pitchFamily="18" charset="0"/>
                  </a:rPr>
                  <a:t>$30$</a:t>
                </a:r>
                <a:endParaRPr sz="2400">
                  <a:solidFill>
                    <a:srgbClr val="111827"/>
                  </a:solidFill>
                </a:endParaRPr>
              </a:p>
            </p:txBody>
          </p:sp>
        </mc:Fallback>
      </mc:AlternateContent>
      <p:sp>
        <p:nvSpPr>
          <p:cNvPr id="5" name="Rectangle 4"/>
          <p:cNvSpPr/>
          <p:nvPr/>
        </p:nvSpPr>
        <p:spPr>
          <a:xfrm>
            <a:off x="731520" y="4061968"/>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distribution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Odd and even are equally likely, so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7</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9</m:t>
                            </m:r>
                          </m:den>
                        </m:f>
                      </m:e>
                    </m:d>
                  </m:oMath>
                </a14:m>
                <a:r>
                  <a:rPr sz="2400" b="0">
                    <a:solidFill>
                      <a:srgbClr val="78350F"/>
                    </a:solidFill>
                    <a:latin typeface="Arial"/>
                  </a:rPr>
                  <a:t> forces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Odd and even are equally likely, so </a:t>
                </a:r>
                <a:r>
                  <a:rPr lang="en-IN" sz="2400">
                    <a:solidFill>
                      <a:srgbClr val="78350F"/>
                    </a:solidFill>
                    <a:latin typeface="Cambria Math" panose="02040503050406030204" pitchFamily="18" charset="0"/>
                  </a:rPr>
                  <a:t>$\binom n7=\binom n9$</a:t>
                </a:r>
                <a:r>
                  <a:rPr sz="2400" b="0">
                    <a:solidFill>
                      <a:srgbClr val="78350F"/>
                    </a:solidFill>
                    <a:latin typeface="Arial"/>
                  </a:rPr>
                  <a:t> forces </a:t>
                </a:r>
                <a:r>
                  <a:rPr lang="en-IN" sz="2400">
                    <a:solidFill>
                      <a:srgbClr val="78350F"/>
                    </a:solidFill>
                    <a:latin typeface="Cambria Math" panose="02040503050406030204" pitchFamily="18" charset="0"/>
                  </a:rPr>
                  <a:t>$n=7+9=16$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roll is odd with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even with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𝑜𝑑𝑑 </m:t>
                    </m:r>
                    <m:r>
                      <a:rPr lang="en-IN" sz="2400" i="1">
                        <a:solidFill>
                          <a:srgbClr val="111827"/>
                        </a:solidFill>
                        <a:latin typeface="Cambria Math" panose="02040503050406030204" pitchFamily="18" charset="0"/>
                      </a:rPr>
                      <m:t>7</m:t>
                    </m:r>
                    <m:r>
                      <m:rPr>
                        <m:nor/>
                      </m:rPr>
                      <a:rPr lang="en-IN" sz="2400" i="1">
                        <a:solidFill>
                          <a:srgbClr val="111827"/>
                        </a:solidFill>
                        <a:latin typeface="Cambria Math" panose="02040503050406030204" pitchFamily="18" charset="0"/>
                      </a:rPr>
                      <m:t> 𝑡𝑖𝑚𝑒𝑠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 </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7</m:t>
                        </m:r>
                      </m:sub>
                    </m:sSub>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7</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 </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7</m:t>
                        </m:r>
                      </m:sub>
                    </m:sSub>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𝑜𝑑𝑑 </m:t>
                    </m:r>
                    <m:r>
                      <a:rPr lang="en-IN" sz="2400" i="1">
                        <a:solidFill>
                          <a:srgbClr val="111827"/>
                        </a:solidFill>
                        <a:latin typeface="Cambria Math" panose="02040503050406030204" pitchFamily="18" charset="0"/>
                      </a:rPr>
                      <m:t>9</m:t>
                    </m:r>
                    <m:r>
                      <m:rPr>
                        <m:nor/>
                      </m:rPr>
                      <a:rPr lang="en-IN" sz="2400" i="1">
                        <a:solidFill>
                          <a:srgbClr val="111827"/>
                        </a:solidFill>
                        <a:latin typeface="Cambria Math" panose="02040503050406030204" pitchFamily="18" charset="0"/>
                      </a:rPr>
                      <m:t> 𝑡𝑖𝑚𝑒𝑠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 </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9</m:t>
                        </m:r>
                      </m:sub>
                    </m:sSub>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Equating,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9</m:t>
                        </m:r>
                      </m:sub>
                    </m:sSub>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(using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roll is odd with probability </a:t>
                </a:r>
                <a:r>
                  <a:rPr lang="en-IN" sz="2400">
                    <a:solidFill>
                      <a:srgbClr val="111827"/>
                    </a:solidFill>
                    <a:latin typeface="Cambria Math" panose="02040503050406030204" pitchFamily="18" charset="0"/>
                  </a:rPr>
                  <a:t>$\frac12$</a:t>
                </a:r>
                <a:r>
                  <a:rPr sz="2400" b="0">
                    <a:solidFill>
                      <a:srgbClr val="111827"/>
                    </a:solidFill>
                    <a:latin typeface="Arial"/>
                  </a:rPr>
                  <a:t> and even with probability </a:t>
                </a:r>
                <a:r>
                  <a:rPr lang="en-IN" sz="2400">
                    <a:solidFill>
                      <a:srgbClr val="111827"/>
                    </a:solidFill>
                    <a:latin typeface="Cambria Math" panose="02040503050406030204" pitchFamily="18" charset="0"/>
                  </a:rPr>
                  <a:t>$\frac12$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$P(\text{odd }7\text{ times})=\,^nC_7\left(\frac12\right)^7\left(\frac12\right)^{n-7}=\,^nC_7\left(\frac12\right)^n$</a:t>
                </a:r>
                <a:r>
                  <a:rPr sz="2400" b="0">
                    <a:solidFill>
                      <a:srgbClr val="111827"/>
                    </a:solidFill>
                    <a:latin typeface="Arial"/>
                  </a:rPr>
                  <a:t> and </a:t>
                </a:r>
                <a:r>
                  <a:rPr lang="en-IN" sz="2400">
                    <a:solidFill>
                      <a:srgbClr val="111827"/>
                    </a:solidFill>
                    <a:latin typeface="Cambria Math" panose="02040503050406030204" pitchFamily="18" charset="0"/>
                  </a:rPr>
                  <a:t>$P(\text{odd }9\text{ times})=\,^nC_9\left(\frac12\right)^n$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Equating, </a:t>
                </a:r>
                <a:r>
                  <a:rPr lang="en-IN" sz="2400">
                    <a:solidFill>
                      <a:srgbClr val="111827"/>
                    </a:solidFill>
                    <a:latin typeface="Cambria Math" panose="02040503050406030204" pitchFamily="18" charset="0"/>
                  </a:rPr>
                  <a:t>$^nC_7={}^nC_9$</a:t>
                </a:r>
                <a:r>
                  <a:rPr sz="2400" b="0">
                    <a:solidFill>
                      <a:srgbClr val="111827"/>
                    </a:solidFill>
                    <a:latin typeface="Arial"/>
                  </a:rPr>
                  <a:t>, so </a:t>
                </a:r>
                <a:r>
                  <a:rPr lang="en-IN" sz="2400">
                    <a:solidFill>
                      <a:srgbClr val="111827"/>
                    </a:solidFill>
                    <a:latin typeface="Cambria Math" panose="02040503050406030204" pitchFamily="18" charset="0"/>
                  </a:rPr>
                  <a:t>$n=7+9=16$</a:t>
                </a:r>
                <a:r>
                  <a:rPr sz="2400" b="0">
                    <a:solidFill>
                      <a:srgbClr val="111827"/>
                    </a:solidFill>
                    <a:latin typeface="Arial"/>
                  </a:rPr>
                  <a:t> (using </a:t>
                </a:r>
                <a:r>
                  <a:rPr lang="en-IN" sz="2400">
                    <a:solidFill>
                      <a:srgbClr val="111827"/>
                    </a:solidFill>
                    <a:latin typeface="Cambria Math" panose="02040503050406030204" pitchFamily="18" charset="0"/>
                  </a:rPr>
                  <a:t>$^nC_r={}^nC_{n-r}$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𝑒𝑣𝑒𝑛 𝑡𝑤𝑖𝑐𝑒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14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16</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13</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15</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$P(\text{even twice})={}^{16}C_2\left(\frac12\right)^{2}\left(\frac12\right)^{14}=\frac{16\cdot15}{2}\cdot\frac{1}{2^{16}}$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$=\frac{15}{2^{13}}=\frac{15\times4}{2^{15}}=\frac{60}{2^{15}}$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$k=60$</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60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$60$</a:t>
                </a:r>
                <a:endParaRPr sz="2800">
                  <a:solidFill>
                    <a:srgbClr val="15803D"/>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fair trial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nor/>
                      </m:rPr>
                      <a:rPr lang="en-IN" sz="2400" i="1">
                        <a:solidFill>
                          <a:srgbClr val="111827"/>
                        </a:solidFill>
                        <a:latin typeface="Cambria Math" panose="02040503050406030204" pitchFamily="18" charset="0"/>
                      </a:rPr>
                      <m:t> 𝑠𝑢𝑐𝑐𝑒𝑠𝑠𝑒𝑠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binomial: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gives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𝑠</m:t>
                            </m:r>
                          </m:den>
                        </m:f>
                      </m:e>
                    </m:d>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𝑠</m:t>
                        </m:r>
                      </m:sup>
                    </m:sSup>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it reduces to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𝑠</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die's odd/even outcomes are equally likely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faces).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fair trial (</a:t>
                </a:r>
                <a:r>
                  <a:rPr lang="en-IN" sz="2400">
                    <a:solidFill>
                      <a:srgbClr val="111827"/>
                    </a:solidFill>
                    <a:latin typeface="Cambria Math" panose="02040503050406030204" pitchFamily="18" charset="0"/>
                  </a:rPr>
                  <a:t>$p=\frac12$</a:t>
                </a:r>
                <a:r>
                  <a:rPr sz="2400" b="0">
                    <a:solidFill>
                      <a:srgbClr val="111827"/>
                    </a:solidFill>
                    <a:latin typeface="Arial"/>
                  </a:rPr>
                  <a:t>): </a:t>
                </a:r>
                <a:r>
                  <a:rPr lang="en-IN" sz="2400">
                    <a:solidFill>
                      <a:srgbClr val="111827"/>
                    </a:solidFill>
                    <a:latin typeface="Cambria Math" panose="02040503050406030204" pitchFamily="18" charset="0"/>
                  </a:rPr>
                  <a:t>$P(r\text{ successes})=\frac{\binom nr}{2^n}$</a:t>
                </a:r>
                <a:r>
                  <a:rPr sz="2400" b="0">
                    <a:solidFill>
                      <a:srgbClr val="111827"/>
                    </a:solidFill>
                    <a:latin typeface="Arial"/>
                  </a:rPr>
                  <a:t>, so </a:t>
                </a:r>
                <a:r>
                  <a:rPr lang="en-IN" sz="2400">
                    <a:solidFill>
                      <a:srgbClr val="111827"/>
                    </a:solidFill>
                    <a:latin typeface="Cambria Math" panose="02040503050406030204" pitchFamily="18" charset="0"/>
                  </a:rPr>
                  <a:t>$P(r)=P(s)\iff r+s=n$</a:t>
                </a:r>
                <a:r>
                  <a:rPr sz="2400" b="0">
                    <a:solidFill>
                      <a:srgbClr val="111827"/>
                    </a:solidFill>
                    <a:latin typeface="Arial"/>
                  </a:rPr>
                  <a:t> (or </a:t>
                </a:r>
                <a:r>
                  <a:rPr lang="en-IN" sz="2400">
                    <a:solidFill>
                      <a:srgbClr val="111827"/>
                    </a:solidFill>
                    <a:latin typeface="Cambria Math" panose="02040503050406030204" pitchFamily="18" charset="0"/>
                  </a:rPr>
                  <a:t>$r=s$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binomial: </a:t>
                </a:r>
                <a:r>
                  <a:rPr lang="en-IN" sz="2400">
                    <a:solidFill>
                      <a:srgbClr val="111827"/>
                    </a:solidFill>
                    <a:latin typeface="Cambria Math" panose="02040503050406030204" pitchFamily="18" charset="0"/>
                  </a:rPr>
                  <a:t>$P(r)=P(s)$</a:t>
                </a:r>
                <a:r>
                  <a:rPr sz="2400" b="0">
                    <a:solidFill>
                      <a:srgbClr val="111827"/>
                    </a:solidFill>
                    <a:latin typeface="Arial"/>
                  </a:rPr>
                  <a:t> with </a:t>
                </a:r>
                <a:r>
                  <a:rPr lang="en-IN" sz="2400">
                    <a:solidFill>
                      <a:srgbClr val="111827"/>
                    </a:solidFill>
                    <a:latin typeface="Cambria Math" panose="02040503050406030204" pitchFamily="18" charset="0"/>
                  </a:rPr>
                  <a:t>$r\ne s$</a:t>
                </a:r>
                <a:r>
                  <a:rPr sz="2400" b="0">
                    <a:solidFill>
                      <a:srgbClr val="111827"/>
                    </a:solidFill>
                    <a:latin typeface="Arial"/>
                  </a:rPr>
                  <a:t> gives </a:t>
                </a:r>
                <a:r>
                  <a:rPr lang="en-IN" sz="2400">
                    <a:solidFill>
                      <a:srgbClr val="111827"/>
                    </a:solidFill>
                    <a:latin typeface="Cambria Math" panose="02040503050406030204" pitchFamily="18" charset="0"/>
                  </a:rPr>
                  <a:t>$\binom nr p^rq^{n-r}=\binom ns p^sq^{n-s}$</a:t>
                </a:r>
                <a:r>
                  <a:rPr sz="2400" b="0">
                    <a:solidFill>
                      <a:srgbClr val="111827"/>
                    </a:solidFill>
                    <a:latin typeface="Arial"/>
                  </a:rPr>
                  <a:t>; for </a:t>
                </a:r>
                <a:r>
                  <a:rPr lang="en-IN" sz="2400">
                    <a:solidFill>
                      <a:srgbClr val="111827"/>
                    </a:solidFill>
                    <a:latin typeface="Cambria Math" panose="02040503050406030204" pitchFamily="18" charset="0"/>
                  </a:rPr>
                  <a:t>$p=\frac12$</a:t>
                </a:r>
                <a:r>
                  <a:rPr sz="2400" b="0">
                    <a:solidFill>
                      <a:srgbClr val="111827"/>
                    </a:solidFill>
                    <a:latin typeface="Arial"/>
                  </a:rPr>
                  <a:t> it reduces to </a:t>
                </a:r>
                <a:r>
                  <a:rPr lang="en-IN" sz="2400">
                    <a:solidFill>
                      <a:srgbClr val="111827"/>
                    </a:solidFill>
                    <a:latin typeface="Cambria Math" panose="02040503050406030204" pitchFamily="18" charset="0"/>
                  </a:rPr>
                  <a:t>$\binom nr=\binom ns$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die's odd/even outcomes are equally likely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faces).</a:t>
                </a:r>
                <a:endParaRPr sz="2400">
                  <a:solidFill>
                    <a:srgbClr val="111827"/>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dice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rolled. Let the numbers obtained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respectively. If the variance of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are co-prime, then the sum of the positive divisors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72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31</m:t>
                    </m:r>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dice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rolled. Let the numbers obtained on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be </a:t>
                </a: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respectively. If the variance of </a:t>
                </a:r>
                <a:r>
                  <a:rPr lang="en-IN" sz="2400">
                    <a:solidFill>
                      <a:srgbClr val="111827"/>
                    </a:solidFill>
                    <a:latin typeface="Cambria Math" panose="02040503050406030204" pitchFamily="18" charset="0"/>
                  </a:rPr>
                  <a:t>$\alpha-\beta$</a:t>
                </a:r>
                <a:r>
                  <a:rPr sz="2400" b="0">
                    <a:solidFill>
                      <a:srgbClr val="111827"/>
                    </a:solidFill>
                    <a:latin typeface="Arial"/>
                  </a:rPr>
                  <a:t> is </a:t>
                </a:r>
                <a:r>
                  <a:rPr lang="en-IN" sz="2400">
                    <a:solidFill>
                      <a:srgbClr val="111827"/>
                    </a:solidFill>
                    <a:latin typeface="Cambria Math" panose="02040503050406030204" pitchFamily="18" charset="0"/>
                  </a:rPr>
                  <a:t>$\frac pq$</a:t>
                </a:r>
                <a:r>
                  <a:rPr sz="2400" b="0">
                    <a:solidFill>
                      <a:srgbClr val="111827"/>
                    </a:solidFill>
                    <a:latin typeface="Arial"/>
                  </a:rPr>
                  <a:t>, where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are co-prime, then the sum of the positive divisors of </a:t>
                </a:r>
                <a:r>
                  <a:rPr lang="en-IN" sz="2400">
                    <a:solidFill>
                      <a:srgbClr val="111827"/>
                    </a:solidFill>
                    <a:latin typeface="Cambria Math" panose="02040503050406030204" pitchFamily="18" charset="0"/>
                  </a:rPr>
                  <a:t>$p$</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$36$</a:t>
                </a:r>
                <a:r>
                  <a:rPr sz="2400" b="0">
                    <a:solidFill>
                      <a:srgbClr val="111827"/>
                    </a:solidFill>
                    <a:latin typeface="Arial"/>
                  </a:rPr>
                  <a:t>   (B) </a:t>
                </a:r>
                <a:r>
                  <a:rPr lang="en-IN" sz="2400">
                    <a:solidFill>
                      <a:srgbClr val="111827"/>
                    </a:solidFill>
                    <a:latin typeface="Cambria Math" panose="02040503050406030204" pitchFamily="18" charset="0"/>
                  </a:rPr>
                  <a:t>$72$</a:t>
                </a:r>
                <a:r>
                  <a:rPr sz="2400" b="0">
                    <a:solidFill>
                      <a:srgbClr val="111827"/>
                    </a:solidFill>
                    <a:latin typeface="Arial"/>
                  </a:rPr>
                  <a:t>   (C) </a:t>
                </a:r>
                <a:r>
                  <a:rPr lang="en-IN" sz="2400">
                    <a:solidFill>
                      <a:srgbClr val="111827"/>
                    </a:solidFill>
                    <a:latin typeface="Cambria Math" panose="02040503050406030204" pitchFamily="18" charset="0"/>
                  </a:rPr>
                  <a:t>$48$</a:t>
                </a:r>
                <a:r>
                  <a:rPr sz="2400" b="0">
                    <a:solidFill>
                      <a:srgbClr val="111827"/>
                    </a:solidFill>
                    <a:latin typeface="Arial"/>
                  </a:rPr>
                  <a:t>   (D) </a:t>
                </a:r>
                <a:r>
                  <a:rPr lang="en-IN" sz="2400">
                    <a:solidFill>
                      <a:srgbClr val="111827"/>
                    </a:solidFill>
                    <a:latin typeface="Cambria Math" panose="02040503050406030204" pitchFamily="18" charset="0"/>
                  </a:rPr>
                  <a:t>$31$</a:t>
                </a:r>
                <a:endParaRPr sz="2400">
                  <a:solidFill>
                    <a:srgbClr val="111827"/>
                  </a:solidFill>
                </a:endParaRPr>
              </a:p>
            </p:txBody>
          </p:sp>
        </mc:Fallback>
      </mc:AlternateContent>
      <p:sp>
        <p:nvSpPr>
          <p:cNvPr id="5" name="Rectangle 4"/>
          <p:cNvSpPr/>
          <p:nvPr/>
        </p:nvSpPr>
        <p:spPr>
          <a:xfrm>
            <a:off x="731520" y="4061968"/>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distribution of a random variable, Mean and variance of a random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by symmetry, so the variance is </a:t>
                </a:r>
                <a14:m>
                  <m:oMath xmlns:m="http://schemas.openxmlformats.org/officeDocument/2006/math">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build the distribution of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$E(\alpha-\beta)=0$</a:t>
                </a:r>
                <a:r>
                  <a:rPr sz="2400" b="0">
                    <a:solidFill>
                      <a:srgbClr val="78350F"/>
                    </a:solidFill>
                    <a:latin typeface="Arial"/>
                  </a:rPr>
                  <a:t> by symmetry, so the variance is </a:t>
                </a:r>
                <a:r>
                  <a:rPr lang="en-IN" sz="2400">
                    <a:solidFill>
                      <a:srgbClr val="78350F"/>
                    </a:solidFill>
                    <a:latin typeface="Cambria Math" panose="02040503050406030204" pitchFamily="18" charset="0"/>
                  </a:rPr>
                  <a:t>$E[(\alpha-\beta)^2]$</a:t>
                </a:r>
                <a:r>
                  <a:rPr sz="2400" b="0">
                    <a:solidFill>
                      <a:srgbClr val="78350F"/>
                    </a:solidFill>
                    <a:latin typeface="Arial"/>
                  </a:rPr>
                  <a:t>; build the distribution of </a:t>
                </a:r>
                <a:r>
                  <a:rPr lang="en-IN" sz="2400">
                    <a:solidFill>
                      <a:srgbClr val="78350F"/>
                    </a:solidFill>
                    <a:latin typeface="Cambria Math" panose="02040503050406030204" pitchFamily="18" charset="0"/>
                  </a:rPr>
                  <a:t>$\alpha-\beta$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takes values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with probabilities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distribution is symmetric about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36</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a:t>
                </a:r>
                <a:r>
                  <a:rPr sz="2400" b="0">
                    <a:solidFill>
                      <a:srgbClr val="111827"/>
                    </a:solidFill>
                    <a:latin typeface="Arial"/>
                  </a:rPr>
                  <a:t> takes values </a:t>
                </a:r>
                <a:r>
                  <a:rPr lang="en-IN" sz="2400">
                    <a:solidFill>
                      <a:srgbClr val="111827"/>
                    </a:solidFill>
                    <a:latin typeface="Cambria Math" panose="02040503050406030204" pitchFamily="18" charset="0"/>
                  </a:rPr>
                  <a:t>$-5,\dots,5$</a:t>
                </a:r>
                <a:r>
                  <a:rPr sz="2400" b="0">
                    <a:solidFill>
                      <a:srgbClr val="111827"/>
                    </a:solidFill>
                    <a:latin typeface="Arial"/>
                  </a:rPr>
                  <a:t> with probabilities </a:t>
                </a:r>
                <a:r>
                  <a:rPr lang="en-IN" sz="2400">
                    <a:solidFill>
                      <a:srgbClr val="111827"/>
                    </a:solidFill>
                    <a:latin typeface="Cambria Math" panose="02040503050406030204" pitchFamily="18" charset="0"/>
                  </a:rPr>
                  <a:t>$\frac{6-|x|}{36}$</a:t>
                </a:r>
                <a:r>
                  <a:rPr sz="2400" b="0">
                    <a:solidFill>
                      <a:srgbClr val="111827"/>
                    </a:solidFill>
                    <a:latin typeface="Arial"/>
                  </a:rPr>
                  <a:t>: </a:t>
                </a:r>
                <a:r>
                  <a:rPr lang="en-IN" sz="2400">
                    <a:solidFill>
                      <a:srgbClr val="111827"/>
                    </a:solidFill>
                    <a:latin typeface="Cambria Math" panose="02040503050406030204" pitchFamily="18" charset="0"/>
                  </a:rPr>
                  <a:t>$P(0)=\frac6{36}$</a:t>
                </a:r>
                <a:r>
                  <a:rPr sz="2400" b="0">
                    <a:solidFill>
                      <a:srgbClr val="111827"/>
                    </a:solidFill>
                    <a:latin typeface="Arial"/>
                  </a:rPr>
                  <a:t>, </a:t>
                </a:r>
                <a:r>
                  <a:rPr lang="en-IN" sz="2400">
                    <a:solidFill>
                      <a:srgbClr val="111827"/>
                    </a:solidFill>
                    <a:latin typeface="Cambria Math" panose="02040503050406030204" pitchFamily="18" charset="0"/>
                  </a:rPr>
                  <a:t>$P(\pm1)=\frac5{36}$</a:t>
                </a:r>
                <a:r>
                  <a:rPr sz="2400" b="0">
                    <a:solidFill>
                      <a:srgbClr val="111827"/>
                    </a:solidFill>
                    <a:latin typeface="Arial"/>
                  </a:rPr>
                  <a:t>, </a:t>
                </a:r>
                <a:r>
                  <a:rPr lang="en-IN" sz="2400">
                    <a:solidFill>
                      <a:srgbClr val="111827"/>
                    </a:solidFill>
                    <a:latin typeface="Cambria Math" panose="02040503050406030204" pitchFamily="18" charset="0"/>
                  </a:rPr>
                  <a:t>$P(\pm2)=\frac4{36}$</a:t>
                </a:r>
                <a:r>
                  <a:rPr sz="2400" b="0">
                    <a:solidFill>
                      <a:srgbClr val="111827"/>
                    </a:solidFill>
                    <a:latin typeface="Arial"/>
                  </a:rPr>
                  <a:t>, </a:t>
                </a:r>
                <a:r>
                  <a:rPr lang="en-IN" sz="2400">
                    <a:solidFill>
                      <a:srgbClr val="111827"/>
                    </a:solidFill>
                    <a:latin typeface="Cambria Math" panose="02040503050406030204" pitchFamily="18" charset="0"/>
                  </a:rPr>
                  <a:t>$P(\pm3)=\frac3{36}$</a:t>
                </a:r>
                <a:r>
                  <a:rPr sz="2400" b="0">
                    <a:solidFill>
                      <a:srgbClr val="111827"/>
                    </a:solidFill>
                    <a:latin typeface="Arial"/>
                  </a:rPr>
                  <a:t>, </a:t>
                </a:r>
                <a:r>
                  <a:rPr lang="en-IN" sz="2400">
                    <a:solidFill>
                      <a:srgbClr val="111827"/>
                    </a:solidFill>
                    <a:latin typeface="Cambria Math" panose="02040503050406030204" pitchFamily="18" charset="0"/>
                  </a:rPr>
                  <a:t>$P(\pm4)=\frac2{36}$</a:t>
                </a:r>
                <a:r>
                  <a:rPr sz="2400" b="0">
                    <a:solidFill>
                      <a:srgbClr val="111827"/>
                    </a:solidFill>
                    <a:latin typeface="Arial"/>
                  </a:rPr>
                  <a:t>, </a:t>
                </a:r>
                <a:r>
                  <a:rPr lang="en-IN" sz="2400">
                    <a:solidFill>
                      <a:srgbClr val="111827"/>
                    </a:solidFill>
                    <a:latin typeface="Cambria Math" panose="02040503050406030204" pitchFamily="18" charset="0"/>
                  </a:rPr>
                  <a:t>$P(\pm5)=\frac1{36}$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distribution is symmetric about </a:t>
                </a:r>
                <a:r>
                  <a:rPr lang="en-IN" sz="2400">
                    <a:solidFill>
                      <a:srgbClr val="111827"/>
                    </a:solidFill>
                    <a:latin typeface="Cambria Math" panose="02040503050406030204" pitchFamily="18" charset="0"/>
                  </a:rPr>
                  <a:t>$0$</a:t>
                </a:r>
                <a:r>
                  <a:rPr sz="2400" b="0">
                    <a:solidFill>
                      <a:srgbClr val="111827"/>
                    </a:solidFill>
                    <a:latin typeface="Arial"/>
                  </a:rPr>
                  <a:t>, so </a:t>
                </a:r>
                <a:r>
                  <a:rPr lang="en-IN" sz="2400">
                    <a:solidFill>
                      <a:srgbClr val="111827"/>
                    </a:solidFill>
                    <a:latin typeface="Cambria Math" panose="02040503050406030204" pitchFamily="18" charset="0"/>
                  </a:rPr>
                  <a:t>$E(x)=0$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$\operatorname{Var}=E(x^2)=2\left[\frac{25\cdot1+16\cdot2+9\cdot3+4\cdot4+1\cdot5}{36}\right]$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105</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(co-prime).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positive divisors of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$=2\cdot\frac{25+32+27+16+5}{36}=2\cdot\frac{105}{36}=\frac{35}{6}$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$p=35=5\times7$</a:t>
                </a:r>
                <a:r>
                  <a:rPr sz="2400" b="0">
                    <a:solidFill>
                      <a:srgbClr val="111827"/>
                    </a:solidFill>
                    <a:latin typeface="Arial"/>
                  </a:rPr>
                  <a:t> and </a:t>
                </a:r>
                <a:r>
                  <a:rPr lang="en-IN" sz="2400">
                    <a:solidFill>
                      <a:srgbClr val="111827"/>
                    </a:solidFill>
                    <a:latin typeface="Cambria Math" panose="02040503050406030204" pitchFamily="18" charset="0"/>
                  </a:rPr>
                  <a:t>$q=6$</a:t>
                </a:r>
                <a:r>
                  <a:rPr sz="2400" b="0">
                    <a:solidFill>
                      <a:srgbClr val="111827"/>
                    </a:solidFill>
                    <a:latin typeface="Arial"/>
                  </a:rPr>
                  <a:t> (co-prime).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positive divisors of </a:t>
                </a:r>
                <a:r>
                  <a:rPr lang="en-IN" sz="2400">
                    <a:solidFill>
                      <a:srgbClr val="111827"/>
                    </a:solidFill>
                    <a:latin typeface="Cambria Math" panose="02040503050406030204" pitchFamily="18" charset="0"/>
                  </a:rPr>
                  <a:t>$35$</a:t>
                </a:r>
                <a:r>
                  <a:rPr sz="2400" b="0">
                    <a:solidFill>
                      <a:srgbClr val="111827"/>
                    </a:solidFill>
                    <a:latin typeface="Arial"/>
                  </a:rPr>
                  <a:t> </a:t>
                </a:r>
                <a:r>
                  <a:rPr lang="en-IN" sz="2400">
                    <a:solidFill>
                      <a:srgbClr val="111827"/>
                    </a:solidFill>
                    <a:latin typeface="Cambria Math" panose="02040503050406030204" pitchFamily="18" charset="0"/>
                  </a:rPr>
                  <a:t>$=(1+5)(1+7)=48$</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48</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$48$</a:t>
                </a:r>
                <a:endParaRPr sz="2800">
                  <a:solidFill>
                    <a:srgbClr val="15803D"/>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Independence: </a:t>
                </a:r>
                <a14:m>
                  <m:oMath xmlns:m="http://schemas.openxmlformats.org/officeDocument/2006/math">
                    <m:r>
                      <m:rPr>
                        <m:sty m:val="p"/>
                      </m:rPr>
                      <a:rPr lang="en-IN" sz="2400">
                        <a:solidFill>
                          <a:srgbClr val="78350F"/>
                        </a:solidFill>
                        <a:latin typeface="Cambria Math" panose="02040503050406030204" pitchFamily="18" charset="0"/>
                      </a:rPr>
                      <m:t>Var</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Var</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Var</m:t>
                    </m:r>
                    <m:r>
                      <a:rPr lang="en-IN" sz="2400" i="1">
                        <a:solidFill>
                          <a:srgbClr val="78350F"/>
                        </a:solidFill>
                        <a:latin typeface="Cambria Math" panose="02040503050406030204" pitchFamily="18" charset="0"/>
                      </a:rPr>
                      <m:t>β</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Independence: </a:t>
                </a:r>
                <a:r>
                  <a:rPr lang="en-IN" sz="2400">
                    <a:solidFill>
                      <a:srgbClr val="78350F"/>
                    </a:solidFill>
                    <a:latin typeface="Cambria Math" panose="02040503050406030204" pitchFamily="18" charset="0"/>
                  </a:rPr>
                  <a:t>$\operatorname{Var}(\alpha-\beta)=\operatorname{Var}\alpha+\operatorname{Var}\beta$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are independent, so </a:t>
                </a: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fair die, </a:t>
                </a: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(uniform on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and the divisor sum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are independent, so </a:t>
                </a:r>
                <a:r>
                  <a:rPr lang="en-IN" sz="2400">
                    <a:solidFill>
                      <a:srgbClr val="111827"/>
                    </a:solidFill>
                    <a:latin typeface="Cambria Math" panose="02040503050406030204" pitchFamily="18" charset="0"/>
                  </a:rPr>
                  <a:t>$\operatorname{Var}(\alpha-\beta)=\operatorname{Var}(\alpha)+\operatorname{Var}(\beta)$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fair die, </a:t>
                </a:r>
                <a:r>
                  <a:rPr lang="en-IN" sz="2400">
                    <a:solidFill>
                      <a:srgbClr val="111827"/>
                    </a:solidFill>
                    <a:latin typeface="Cambria Math" panose="02040503050406030204" pitchFamily="18" charset="0"/>
                  </a:rPr>
                  <a:t>$\operatorname{Var}=\frac{n^2-1}{12}=\frac{35}{12}$</a:t>
                </a:r>
                <a:r>
                  <a:rPr sz="2400" b="0">
                    <a:solidFill>
                      <a:srgbClr val="111827"/>
                    </a:solidFill>
                    <a:latin typeface="Arial"/>
                  </a:rPr>
                  <a:t> (uniform on </a:t>
                </a:r>
                <a:r>
                  <a:rPr lang="en-IN" sz="2400">
                    <a:solidFill>
                      <a:srgbClr val="111827"/>
                    </a:solidFill>
                    <a:latin typeface="Cambria Math" panose="02040503050406030204" pitchFamily="18" charset="0"/>
                  </a:rPr>
                  <a:t>$1..n$</a:t>
                </a:r>
                <a:r>
                  <a:rPr sz="2400" b="0">
                    <a:solidFill>
                      <a:srgbClr val="111827"/>
                    </a:solidFill>
                    <a:latin typeface="Arial"/>
                  </a:rPr>
                  <a:t> with </a:t>
                </a:r>
                <a:r>
                  <a:rPr lang="en-IN" sz="2400">
                    <a:solidFill>
                      <a:srgbClr val="111827"/>
                    </a:solidFill>
                    <a:latin typeface="Cambria Math" panose="02040503050406030204" pitchFamily="18" charset="0"/>
                  </a:rPr>
                  <a:t>$n=6$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$\operatorname{Var}(\alpha-\beta)=2\cdot\frac{35}{12}=\frac{35}{6}$</a:t>
                </a:r>
                <a:r>
                  <a:rPr sz="2400" b="0">
                    <a:solidFill>
                      <a:srgbClr val="111827"/>
                    </a:solidFill>
                    <a:latin typeface="Arial"/>
                  </a:rPr>
                  <a:t>, so </a:t>
                </a:r>
                <a:r>
                  <a:rPr lang="en-IN" sz="2400">
                    <a:solidFill>
                      <a:srgbClr val="111827"/>
                    </a:solidFill>
                    <a:latin typeface="Cambria Math" panose="02040503050406030204" pitchFamily="18" charset="0"/>
                  </a:rPr>
                  <a:t>$p=35$</a:t>
                </a:r>
                <a:r>
                  <a:rPr sz="2400" b="0">
                    <a:solidFill>
                      <a:srgbClr val="111827"/>
                    </a:solidFill>
                    <a:latin typeface="Arial"/>
                  </a:rPr>
                  <a:t> and the divisor sum is </a:t>
                </a:r>
                <a:r>
                  <a:rPr lang="en-IN" sz="2400">
                    <a:solidFill>
                      <a:srgbClr val="111827"/>
                    </a:solidFill>
                    <a:latin typeface="Cambria Math" panose="02040503050406030204" pitchFamily="18" charset="0"/>
                  </a:rPr>
                  <a:t>$(1+5)(1+7)=48$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48</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$48$</a:t>
                </a:r>
                <a:endParaRPr sz="2800">
                  <a:solidFill>
                    <a:srgbClr val="15803D"/>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independent variables, </a:t>
                </a: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Var</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Var</m:t>
                    </m:r>
                    <m:r>
                      <a:rPr lang="en-IN" sz="2400" i="1">
                        <a:solidFill>
                          <a:srgbClr val="111827"/>
                        </a:solidFill>
                        <a:latin typeface="Cambria Math" panose="02040503050406030204" pitchFamily="18" charset="0"/>
                      </a:rPr>
                      <m:t>𝑌</m:t>
                    </m:r>
                  </m:oMath>
                </a14:m>
                <a:r>
                  <a:rPr sz="2400" b="0">
                    <a:solidFill>
                      <a:srgbClr val="111827"/>
                    </a:solidFill>
                    <a:latin typeface="Arial"/>
                  </a:rPr>
                  <a:t> - the sign does not matter.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Uniform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variance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Divisor sum of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𝑎</m:t>
                        </m:r>
                      </m:sup>
                    </m:sSup>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𝑏</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independent variables, </a:t>
                </a:r>
                <a:r>
                  <a:rPr lang="en-IN" sz="2400">
                    <a:solidFill>
                      <a:srgbClr val="111827"/>
                    </a:solidFill>
                    <a:latin typeface="Cambria Math" panose="02040503050406030204" pitchFamily="18" charset="0"/>
                  </a:rPr>
                  <a:t>$\operatorname{Var}(X\pm Y)=\operatorname{Var}X+\operatorname{Var}Y$</a:t>
                </a:r>
                <a:r>
                  <a:rPr sz="2400" b="0">
                    <a:solidFill>
                      <a:srgbClr val="111827"/>
                    </a:solidFill>
                    <a:latin typeface="Arial"/>
                  </a:rPr>
                  <a:t> - the sign does not matter.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Uniform on </a:t>
                </a:r>
                <a:r>
                  <a:rPr lang="en-IN" sz="2400">
                    <a:solidFill>
                      <a:srgbClr val="111827"/>
                    </a:solidFill>
                    <a:latin typeface="Cambria Math" panose="02040503050406030204" pitchFamily="18" charset="0"/>
                  </a:rPr>
                  <a:t>$\{1,\dots,n\}$</a:t>
                </a:r>
                <a:r>
                  <a:rPr sz="2400" b="0">
                    <a:solidFill>
                      <a:srgbClr val="111827"/>
                    </a:solidFill>
                    <a:latin typeface="Arial"/>
                  </a:rPr>
                  <a:t>: mean </a:t>
                </a:r>
                <a:r>
                  <a:rPr lang="en-IN" sz="2400">
                    <a:solidFill>
                      <a:srgbClr val="111827"/>
                    </a:solidFill>
                    <a:latin typeface="Cambria Math" panose="02040503050406030204" pitchFamily="18" charset="0"/>
                  </a:rPr>
                  <a:t>$\frac{n+1}2$</a:t>
                </a:r>
                <a:r>
                  <a:rPr sz="2400" b="0">
                    <a:solidFill>
                      <a:srgbClr val="111827"/>
                    </a:solidFill>
                    <a:latin typeface="Arial"/>
                  </a:rPr>
                  <a:t>, variance </a:t>
                </a:r>
                <a:r>
                  <a:rPr lang="en-IN" sz="2400">
                    <a:solidFill>
                      <a:srgbClr val="111827"/>
                    </a:solidFill>
                    <a:latin typeface="Cambria Math" panose="02040503050406030204" pitchFamily="18" charset="0"/>
                  </a:rPr>
                  <a:t>$\frac{n^2-1}{12}$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Divisor sum of </a:t>
                </a:r>
                <a:r>
                  <a:rPr lang="en-IN" sz="2400">
                    <a:solidFill>
                      <a:srgbClr val="111827"/>
                    </a:solidFill>
                    <a:latin typeface="Cambria Math" panose="02040503050406030204" pitchFamily="18" charset="0"/>
                  </a:rPr>
                  <a:t>$p^aq^b$</a:t>
                </a:r>
                <a:r>
                  <a:rPr sz="2400" b="0">
                    <a:solidFill>
                      <a:srgbClr val="111827"/>
                    </a:solidFill>
                    <a:latin typeface="Arial"/>
                  </a:rPr>
                  <a:t> is </a:t>
                </a:r>
                <a:r>
                  <a:rPr lang="en-IN" sz="2400">
                    <a:solidFill>
                      <a:srgbClr val="111827"/>
                    </a:solidFill>
                    <a:latin typeface="Cambria Math" panose="02040503050406030204" pitchFamily="18" charset="0"/>
                  </a:rPr>
                  <a:t>$\frac{p^{a+1}-1}{p-1}\cdot\frac{q^{b+1}-1}{q-1}$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coin is biased so that the head is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times as likely to occur as a tail. This coin is tossed until a head or three tails occur. If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denotes the number of tosses of the coin, then the mean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37</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num>
                      <m:den>
                        <m:r>
                          <a:rPr lang="en-IN" sz="2400" i="1">
                            <a:solidFill>
                              <a:srgbClr val="111827"/>
                            </a:solidFill>
                            <a:latin typeface="Cambria Math" panose="02040503050406030204" pitchFamily="18" charset="0"/>
                          </a:rPr>
                          <m:t>64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16</m:t>
                        </m:r>
                      </m:den>
                    </m:f>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coin is biased so that the head is </a:t>
                </a:r>
                <a:r>
                  <a:rPr lang="en-IN" sz="2400">
                    <a:solidFill>
                      <a:srgbClr val="111827"/>
                    </a:solidFill>
                    <a:latin typeface="Cambria Math" panose="02040503050406030204" pitchFamily="18" charset="0"/>
                  </a:rPr>
                  <a:t>$3$</a:t>
                </a:r>
                <a:r>
                  <a:rPr sz="2400" b="0">
                    <a:solidFill>
                      <a:srgbClr val="111827"/>
                    </a:solidFill>
                    <a:latin typeface="Arial"/>
                  </a:rPr>
                  <a:t> times as likely to occur as a tail. This coin is tossed until a head or three tails occur. If </a:t>
                </a:r>
                <a:r>
                  <a:rPr lang="en-IN" sz="2400">
                    <a:solidFill>
                      <a:srgbClr val="111827"/>
                    </a:solidFill>
                    <a:latin typeface="Cambria Math" panose="02040503050406030204" pitchFamily="18" charset="0"/>
                  </a:rPr>
                  <a:t>$X$</a:t>
                </a:r>
                <a:r>
                  <a:rPr sz="2400" b="0">
                    <a:solidFill>
                      <a:srgbClr val="111827"/>
                    </a:solidFill>
                    <a:latin typeface="Arial"/>
                  </a:rPr>
                  <a:t> denotes the number of tosses of the coin, then the mean of </a:t>
                </a:r>
                <a:r>
                  <a:rPr lang="en-IN" sz="2400">
                    <a:solidFill>
                      <a:srgbClr val="111827"/>
                    </a:solidFill>
                    <a:latin typeface="Cambria Math" panose="02040503050406030204" pitchFamily="18" charset="0"/>
                  </a:rPr>
                  <a:t>$X$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$\frac{37}{16}$</a:t>
                </a:r>
                <a:r>
                  <a:rPr sz="2400" b="0">
                    <a:solidFill>
                      <a:srgbClr val="111827"/>
                    </a:solidFill>
                    <a:latin typeface="Arial"/>
                  </a:rPr>
                  <a:t>   (B) </a:t>
                </a:r>
                <a:r>
                  <a:rPr lang="en-IN" sz="2400">
                    <a:solidFill>
                      <a:srgbClr val="111827"/>
                    </a:solidFill>
                    <a:latin typeface="Cambria Math" panose="02040503050406030204" pitchFamily="18" charset="0"/>
                  </a:rPr>
                  <a:t>$\frac{15}{16}$</a:t>
                </a:r>
                <a:r>
                  <a:rPr sz="2400" b="0">
                    <a:solidFill>
                      <a:srgbClr val="111827"/>
                    </a:solidFill>
                    <a:latin typeface="Arial"/>
                  </a:rPr>
                  <a:t>   (C) </a:t>
                </a:r>
                <a:r>
                  <a:rPr lang="en-IN" sz="2400">
                    <a:solidFill>
                      <a:srgbClr val="111827"/>
                    </a:solidFill>
                    <a:latin typeface="Cambria Math" panose="02040503050406030204" pitchFamily="18" charset="0"/>
                  </a:rPr>
                  <a:t>$\frac{81}{64}$</a:t>
                </a:r>
                <a:r>
                  <a:rPr sz="2400" b="0">
                    <a:solidFill>
                      <a:srgbClr val="111827"/>
                    </a:solidFill>
                    <a:latin typeface="Arial"/>
                  </a:rPr>
                  <a:t>   (D) </a:t>
                </a:r>
                <a:r>
                  <a:rPr lang="en-IN" sz="2400">
                    <a:solidFill>
                      <a:srgbClr val="111827"/>
                    </a:solidFill>
                    <a:latin typeface="Cambria Math" panose="02040503050406030204" pitchFamily="18" charset="0"/>
                  </a:rPr>
                  <a:t>$\frac{21}{16}$</a:t>
                </a:r>
                <a:endParaRPr sz="2400">
                  <a:solidFill>
                    <a:srgbClr val="111827"/>
                  </a:solidFill>
                </a:endParaRPr>
              </a:p>
            </p:txBody>
          </p:sp>
        </mc:Fallback>
      </mc:AlternateContent>
      <p:sp>
        <p:nvSpPr>
          <p:cNvPr id="5" name="Rectangle 4"/>
          <p:cNvSpPr/>
          <p:nvPr/>
        </p:nvSpPr>
        <p:spPr>
          <a:xfrm>
            <a:off x="731520" y="4061968"/>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Probability distribution of a random variable, Mean of a random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stop at the first head or after the third tail, so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e>
                        </m:d>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$X\in\{1,2,3\}$</a:t>
                </a:r>
                <a:r>
                  <a:rPr sz="2400" b="0">
                    <a:solidFill>
                      <a:srgbClr val="78350F"/>
                    </a:solidFill>
                    <a:latin typeface="Arial"/>
                  </a:rPr>
                  <a:t>: stop at the first head or after the third tail, so </a:t>
                </a:r>
                <a:r>
                  <a:rPr lang="en-IN" sz="2400">
                    <a:solidFill>
                      <a:srgbClr val="78350F"/>
                    </a:solidFill>
                    <a:latin typeface="Cambria Math" panose="02040503050406030204" pitchFamily="18" charset="0"/>
                  </a:rPr>
                  <a:t>$P(X=3)=\left(\frac14\right)^2$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head on the first toss,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tail then head,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two tails, then the third toss is either head or tail and the process stops: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$P(H)=\frac34$</a:t>
                </a:r>
                <a:r>
                  <a:rPr sz="2400" b="0">
                    <a:solidFill>
                      <a:srgbClr val="111827"/>
                    </a:solidFill>
                    <a:latin typeface="Arial"/>
                  </a:rPr>
                  <a:t> and </a:t>
                </a:r>
                <a:r>
                  <a:rPr lang="en-IN" sz="2400">
                    <a:solidFill>
                      <a:srgbClr val="111827"/>
                    </a:solidFill>
                    <a:latin typeface="Cambria Math" panose="02040503050406030204" pitchFamily="18" charset="0"/>
                  </a:rPr>
                  <a:t>$P(T)=\frac14$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a:t>
                </a:r>
                <a:r>
                  <a:rPr sz="2400" b="0">
                    <a:solidFill>
                      <a:srgbClr val="111827"/>
                    </a:solidFill>
                    <a:latin typeface="Arial"/>
                  </a:rPr>
                  <a:t>: head on the first toss, </a:t>
                </a:r>
                <a:r>
                  <a:rPr lang="en-IN" sz="2400">
                    <a:solidFill>
                      <a:srgbClr val="111827"/>
                    </a:solidFill>
                    <a:latin typeface="Cambria Math" panose="02040503050406030204" pitchFamily="18" charset="0"/>
                  </a:rPr>
                  <a:t>$P(X=1)=\frac34$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a:t>
                </a:r>
                <a:r>
                  <a:rPr sz="2400" b="0">
                    <a:solidFill>
                      <a:srgbClr val="111827"/>
                    </a:solidFill>
                    <a:latin typeface="Arial"/>
                  </a:rPr>
                  <a:t>: tail then head, </a:t>
                </a:r>
                <a:r>
                  <a:rPr lang="en-IN" sz="2400">
                    <a:solidFill>
                      <a:srgbClr val="111827"/>
                    </a:solidFill>
                    <a:latin typeface="Cambria Math" panose="02040503050406030204" pitchFamily="18" charset="0"/>
                  </a:rPr>
                  <a:t>$P(X=2)=\frac14\cdot\frac34=\frac{3}{16}$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$X=3$</a:t>
                </a:r>
                <a:r>
                  <a:rPr sz="2400" b="0">
                    <a:solidFill>
                      <a:srgbClr val="111827"/>
                    </a:solidFill>
                    <a:latin typeface="Arial"/>
                  </a:rPr>
                  <a:t>: two tails, then the third toss is either head or tail and the process stops: </a:t>
                </a:r>
                <a:r>
                  <a:rPr lang="en-IN" sz="2400">
                    <a:solidFill>
                      <a:srgbClr val="111827"/>
                    </a:solidFill>
                    <a:latin typeface="Cambria Math" panose="02040503050406030204" pitchFamily="18" charset="0"/>
                  </a:rPr>
                  <a:t>$P(X=3)=\left(\frac14\right)^2\left(\frac34+\frac14\right)=\frac1{16}$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$\frac34+\frac3{16}+\frac1{16}=1$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$E(X)=1\cdot\frac34+2\cdot\frac3{16}+3\cdot\frac1{16}=\frac{12+6+3}{16}$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$E(X)=\frac{21}{16}$</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21</m:t>
                        </m:r>
                      </m:num>
                      <m:den>
                        <m:r>
                          <a:rPr lang="en-IN" sz="2800" i="1">
                            <a:solidFill>
                              <a:srgbClr val="15803D"/>
                            </a:solidFill>
                            <a:latin typeface="Cambria Math" panose="02040503050406030204" pitchFamily="18" charset="0"/>
                          </a:rPr>
                          <m:t>16</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$\frac{21}{16}$</a:t>
                </a:r>
                <a:endParaRPr sz="2800">
                  <a:solidFill>
                    <a:srgbClr val="15803D"/>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Tail-sum formula: </a:t>
                </a:r>
                <a14:m>
                  <m:oMath xmlns:m="http://schemas.openxmlformats.org/officeDocument/2006/math">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nary>
                      <m:naryPr>
                        <m:chr m:val="∑"/>
                        <m:limLoc m:val="undOvr"/>
                        <m:subHide m:val="off"/>
                        <m:supHide m:val="on"/>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up>
                        <m:r>
                          <a:rPr lang="en-IN" sz="2400" i="1">
                            <a:solidFill>
                              <a:srgbClr val="78350F"/>
                            </a:solidFill>
                            <a:latin typeface="Cambria Math" panose="02040503050406030204" pitchFamily="18" charset="0"/>
                          </a:rPr>
                          <m:t>​</m:t>
                        </m:r>
                      </m:sup>
                      <m:e>
                        <m:r>
                          <a:rPr lang="en-IN" sz="2400" i="1">
                            <a:solidFill>
                              <a:srgbClr val="78350F"/>
                            </a:solidFill>
                            <a:latin typeface="Cambria Math" panose="02040503050406030204" pitchFamily="18" charset="0"/>
                          </a:rPr>
                          <m:t>𝑃</m:t>
                        </m:r>
                      </m:e>
                    </m:nary>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Tail-sum formula: </a:t>
                </a:r>
                <a:r>
                  <a:rPr lang="en-IN" sz="2400">
                    <a:solidFill>
                      <a:srgbClr val="78350F"/>
                    </a:solidFill>
                    <a:latin typeface="Cambria Math" panose="02040503050406030204" pitchFamily="18" charset="0"/>
                  </a:rPr>
                  <a:t>$E(X)=\sum_{k\ge1}P(X\ge 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always: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iff the first toss is a tail: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iff the first two tosses are tails: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is impossible.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$X\ge1$</a:t>
                </a:r>
                <a:r>
                  <a:rPr sz="2400" b="0">
                    <a:solidFill>
                      <a:srgbClr val="111827"/>
                    </a:solidFill>
                    <a:latin typeface="Arial"/>
                  </a:rPr>
                  <a:t> always: </a:t>
                </a:r>
                <a:r>
                  <a:rPr lang="en-IN" sz="2400">
                    <a:solidFill>
                      <a:srgbClr val="111827"/>
                    </a:solidFill>
                    <a:latin typeface="Cambria Math" panose="02040503050406030204" pitchFamily="18" charset="0"/>
                  </a:rPr>
                  <a:t>$P=1$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$X\ge2$</a:t>
                </a:r>
                <a:r>
                  <a:rPr sz="2400" b="0">
                    <a:solidFill>
                      <a:srgbClr val="111827"/>
                    </a:solidFill>
                    <a:latin typeface="Arial"/>
                  </a:rPr>
                  <a:t> iff the first toss is a tail: </a:t>
                </a:r>
                <a:r>
                  <a:rPr lang="en-IN" sz="2400">
                    <a:solidFill>
                      <a:srgbClr val="111827"/>
                    </a:solidFill>
                    <a:latin typeface="Cambria Math" panose="02040503050406030204" pitchFamily="18" charset="0"/>
                  </a:rPr>
                  <a:t>$P=\frac14$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$X\ge3$</a:t>
                </a:r>
                <a:r>
                  <a:rPr sz="2400" b="0">
                    <a:solidFill>
                      <a:srgbClr val="111827"/>
                    </a:solidFill>
                    <a:latin typeface="Arial"/>
                  </a:rPr>
                  <a:t> iff the first two tosses are tails: </a:t>
                </a:r>
                <a:r>
                  <a:rPr lang="en-IN" sz="2400">
                    <a:solidFill>
                      <a:srgbClr val="111827"/>
                    </a:solidFill>
                    <a:latin typeface="Cambria Math" panose="02040503050406030204" pitchFamily="18" charset="0"/>
                  </a:rPr>
                  <a:t>$P=\frac1{16}$</a:t>
                </a:r>
                <a:r>
                  <a:rPr sz="2400" b="0">
                    <a:solidFill>
                      <a:srgbClr val="111827"/>
                    </a:solidFill>
                    <a:latin typeface="Arial"/>
                  </a:rPr>
                  <a:t>; </a:t>
                </a:r>
                <a:r>
                  <a:rPr lang="en-IN" sz="2400">
                    <a:solidFill>
                      <a:srgbClr val="111827"/>
                    </a:solidFill>
                    <a:latin typeface="Cambria Math" panose="02040503050406030204" pitchFamily="18" charset="0"/>
                  </a:rPr>
                  <a:t>$X\ge4$</a:t>
                </a:r>
                <a:r>
                  <a:rPr sz="2400" b="0">
                    <a:solidFill>
                      <a:srgbClr val="111827"/>
                    </a:solidFill>
                    <a:latin typeface="Arial"/>
                  </a:rPr>
                  <a:t> is impossible.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$E(X)=1+\frac14+\frac1{16}=\frac{21}{16}$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21</m:t>
                        </m:r>
                      </m:num>
                      <m:den>
                        <m:r>
                          <a:rPr lang="en-IN" sz="2800" i="1">
                            <a:solidFill>
                              <a:srgbClr val="15803D"/>
                            </a:solidFill>
                            <a:latin typeface="Cambria Math" panose="02040503050406030204" pitchFamily="18" charset="0"/>
                          </a:rPr>
                          <m:t>16</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$\frac{21}{16}$</a:t>
                </a:r>
                <a:endParaRPr sz="2800">
                  <a:solidFill>
                    <a:srgbClr val="15803D"/>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variable taking values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𝑃</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ideal for 'toss until' problems.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stopping rules, find the last case by 'whatever happens next the process stops', e.g.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on the third toss.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that the probabilities add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variable taking values in </a:t>
                </a:r>
                <a:r>
                  <a:rPr lang="en-IN" sz="2400">
                    <a:solidFill>
                      <a:srgbClr val="111827"/>
                    </a:solidFill>
                    <a:latin typeface="Cambria Math" panose="02040503050406030204" pitchFamily="18" charset="0"/>
                  </a:rPr>
                  <a:t>$\{1,2,\dots\}$</a:t>
                </a:r>
                <a:r>
                  <a:rPr sz="2400" b="0">
                    <a:solidFill>
                      <a:srgbClr val="111827"/>
                    </a:solidFill>
                    <a:latin typeface="Arial"/>
                  </a:rPr>
                  <a:t>, </a:t>
                </a:r>
                <a:r>
                  <a:rPr lang="en-IN" sz="2400">
                    <a:solidFill>
                      <a:srgbClr val="111827"/>
                    </a:solidFill>
                    <a:latin typeface="Cambria Math" panose="02040503050406030204" pitchFamily="18" charset="0"/>
                  </a:rPr>
                  <a:t>$E(X)=\sum_{k\ge1}P(X\ge k)$</a:t>
                </a:r>
                <a:r>
                  <a:rPr sz="2400" b="0">
                    <a:solidFill>
                      <a:srgbClr val="111827"/>
                    </a:solidFill>
                    <a:latin typeface="Arial"/>
                  </a:rPr>
                  <a:t> - ideal for 'toss until' problems.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stopping rules, find the last case by 'whatever happens next the process stops', e.g. </a:t>
                </a:r>
                <a:r>
                  <a:rPr lang="en-IN" sz="2400">
                    <a:solidFill>
                      <a:srgbClr val="111827"/>
                    </a:solidFill>
                    <a:latin typeface="Cambria Math" panose="02040503050406030204" pitchFamily="18" charset="0"/>
                  </a:rPr>
                  <a:t>$\frac34+\frac14=1$</a:t>
                </a:r>
                <a:r>
                  <a:rPr sz="2400" b="0">
                    <a:solidFill>
                      <a:srgbClr val="111827"/>
                    </a:solidFill>
                    <a:latin typeface="Arial"/>
                  </a:rPr>
                  <a:t> on the third toss.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that the probabilities add to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random variable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follows the binomial distribution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which the difference of the mean and the variance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12</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random variable </a:t>
                </a:r>
                <a:r>
                  <a:rPr lang="en-IN" sz="2400">
                    <a:solidFill>
                      <a:srgbClr val="111827"/>
                    </a:solidFill>
                    <a:latin typeface="Cambria Math" panose="02040503050406030204" pitchFamily="18" charset="0"/>
                  </a:rPr>
                  <a:t>$X$</a:t>
                </a:r>
                <a:r>
                  <a:rPr sz="2400" b="0">
                    <a:solidFill>
                      <a:srgbClr val="111827"/>
                    </a:solidFill>
                    <a:latin typeface="Arial"/>
                  </a:rPr>
                  <a:t> follows the binomial distribution </a:t>
                </a:r>
                <a:r>
                  <a:rPr lang="en-IN" sz="2400">
                    <a:solidFill>
                      <a:srgbClr val="111827"/>
                    </a:solidFill>
                    <a:latin typeface="Cambria Math" panose="02040503050406030204" pitchFamily="18" charset="0"/>
                  </a:rPr>
                  <a:t>$B(n,p)$</a:t>
                </a:r>
                <a:r>
                  <a:rPr sz="2400" b="0">
                    <a:solidFill>
                      <a:srgbClr val="111827"/>
                    </a:solidFill>
                    <a:latin typeface="Arial"/>
                  </a:rPr>
                  <a:t>, for which the difference of the mean and the variance is </a:t>
                </a:r>
                <a:r>
                  <a:rPr lang="en-IN" sz="2400">
                    <a:solidFill>
                      <a:srgbClr val="111827"/>
                    </a:solidFill>
                    <a:latin typeface="Cambria Math" panose="02040503050406030204" pitchFamily="18" charset="0"/>
                  </a:rPr>
                  <a:t>$1$</a:t>
                </a:r>
                <a:r>
                  <a:rPr sz="2400" b="0">
                    <a:solidFill>
                      <a:srgbClr val="111827"/>
                    </a:solidFill>
                    <a:latin typeface="Arial"/>
                  </a:rPr>
                  <a:t>. If </a:t>
                </a:r>
                <a:r>
                  <a:rPr lang="en-IN" sz="2400">
                    <a:solidFill>
                      <a:srgbClr val="111827"/>
                    </a:solidFill>
                    <a:latin typeface="Cambria Math" panose="02040503050406030204" pitchFamily="18" charset="0"/>
                  </a:rPr>
                  <a:t>$2P(X=2)=3P(X=1)$</a:t>
                </a:r>
                <a:r>
                  <a:rPr sz="2400" b="0">
                    <a:solidFill>
                      <a:srgbClr val="111827"/>
                    </a:solidFill>
                    <a:latin typeface="Arial"/>
                  </a:rPr>
                  <a:t>, then </a:t>
                </a:r>
                <a:r>
                  <a:rPr lang="en-IN" sz="2400">
                    <a:solidFill>
                      <a:srgbClr val="111827"/>
                    </a:solidFill>
                    <a:latin typeface="Cambria Math" panose="02040503050406030204" pitchFamily="18" charset="0"/>
                  </a:rPr>
                  <a:t>$n^2P(X&gt;1)$</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$11$</a:t>
                </a:r>
                <a:r>
                  <a:rPr sz="2400" b="0">
                    <a:solidFill>
                      <a:srgbClr val="111827"/>
                    </a:solidFill>
                    <a:latin typeface="Arial"/>
                  </a:rPr>
                  <a:t>   (B) </a:t>
                </a:r>
                <a:r>
                  <a:rPr lang="en-IN" sz="2400">
                    <a:solidFill>
                      <a:srgbClr val="111827"/>
                    </a:solidFill>
                    <a:latin typeface="Cambria Math" panose="02040503050406030204" pitchFamily="18" charset="0"/>
                  </a:rPr>
                  <a:t>$16$</a:t>
                </a:r>
                <a:r>
                  <a:rPr sz="2400" b="0">
                    <a:solidFill>
                      <a:srgbClr val="111827"/>
                    </a:solidFill>
                    <a:latin typeface="Arial"/>
                  </a:rPr>
                  <a:t>   (C) </a:t>
                </a:r>
                <a:r>
                  <a:rPr lang="en-IN" sz="2400">
                    <a:solidFill>
                      <a:srgbClr val="111827"/>
                    </a:solidFill>
                    <a:latin typeface="Cambria Math" panose="02040503050406030204" pitchFamily="18" charset="0"/>
                  </a:rPr>
                  <a:t>$15$</a:t>
                </a:r>
                <a:r>
                  <a:rPr sz="2400" b="0">
                    <a:solidFill>
                      <a:srgbClr val="111827"/>
                    </a:solidFill>
                    <a:latin typeface="Arial"/>
                  </a:rPr>
                  <a:t>   (D) </a:t>
                </a:r>
                <a:r>
                  <a:rPr lang="en-IN" sz="2400">
                    <a:solidFill>
                      <a:srgbClr val="111827"/>
                    </a:solidFill>
                    <a:latin typeface="Cambria Math" panose="02040503050406030204" pitchFamily="18" charset="0"/>
                  </a:rPr>
                  <a:t>$12$</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distribution, Mean and variance of a binomial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variance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sSup>
                      <m:e>
                        <m:r>
                          <a:rPr lang="en-IN" sz="2400" i="1">
                            <a:solidFill>
                              <a:srgbClr val="78350F"/>
                            </a:solidFill>
                            <a:latin typeface="Cambria Math" panose="02040503050406030204" pitchFamily="18" charset="0"/>
                          </a:rPr>
                          <m:t>𝑝</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together give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a:t>
                </a:r>
                <a:r>
                  <a:rPr lang="en-IN" sz="2400">
                    <a:solidFill>
                      <a:srgbClr val="78350F"/>
                    </a:solidFill>
                    <a:latin typeface="Cambria Math" panose="02040503050406030204" pitchFamily="18" charset="0"/>
                  </a:rPr>
                  <a:t>$-$</a:t>
                </a:r>
                <a:r>
                  <a:rPr sz="2400" b="0">
                    <a:solidFill>
                      <a:srgbClr val="78350F"/>
                    </a:solidFill>
                    <a:latin typeface="Arial"/>
                  </a:rPr>
                  <a:t> variance </a:t>
                </a:r>
                <a:r>
                  <a:rPr lang="en-IN" sz="2400">
                    <a:solidFill>
                      <a:srgbClr val="78350F"/>
                    </a:solidFill>
                    <a:latin typeface="Cambria Math" panose="02040503050406030204" pitchFamily="18" charset="0"/>
                  </a:rPr>
                  <a:t>$=np^2=1$</a:t>
                </a:r>
                <a:r>
                  <a:rPr sz="2400" b="0">
                    <a:solidFill>
                      <a:srgbClr val="78350F"/>
                    </a:solidFill>
                    <a:latin typeface="Arial"/>
                  </a:rPr>
                  <a:t> and </a:t>
                </a:r>
                <a:r>
                  <a:rPr lang="en-IN" sz="2400">
                    <a:solidFill>
                      <a:srgbClr val="78350F"/>
                    </a:solidFill>
                    <a:latin typeface="Cambria Math" panose="02040503050406030204" pitchFamily="18" charset="0"/>
                  </a:rPr>
                  <a:t>$P(X=2)/P(X=1)=\frac32$</a:t>
                </a:r>
                <a:r>
                  <a:rPr sz="2400" b="0">
                    <a:solidFill>
                      <a:srgbClr val="78350F"/>
                    </a:solidFill>
                    <a:latin typeface="Arial"/>
                  </a:rPr>
                  <a:t> together give </a:t>
                </a:r>
                <a:r>
                  <a:rPr lang="en-IN" sz="2400">
                    <a:solidFill>
                      <a:srgbClr val="78350F"/>
                    </a:solidFill>
                    <a:latin typeface="Cambria Math" panose="02040503050406030204" pitchFamily="18" charset="0"/>
                  </a:rPr>
                  <a:t>$p=\frac12$</a:t>
                </a:r>
                <a:r>
                  <a:rPr sz="2400" b="0">
                    <a:solidFill>
                      <a:srgbClr val="78350F"/>
                    </a:solidFill>
                    <a:latin typeface="Arial"/>
                  </a:rPr>
                  <a:t>, </a:t>
                </a:r>
                <a:r>
                  <a:rPr lang="en-IN" sz="2400">
                    <a:solidFill>
                      <a:srgbClr val="78350F"/>
                    </a:solidFill>
                    <a:latin typeface="Cambria Math" panose="02040503050406030204" pitchFamily="18" charset="0"/>
                  </a:rPr>
                  <a:t>$n=4$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variance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Cancelling </a:t>
                </a:r>
                <a14:m>
                  <m:oMath xmlns:m="http://schemas.openxmlformats.org/officeDocument/2006/math">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oMath>
                </a14:m>
                <a:r>
                  <a:rPr sz="2400" b="0">
                    <a:solidFill>
                      <a:srgbClr val="111827"/>
                    </a:solidFill>
                    <a:latin typeface="Arial"/>
                  </a:rPr>
                  <a:t> (note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a:t>
                </a:r>
                <a:r>
                  <a:rPr sz="2400" b="0">
                    <a:solidFill>
                      <a:srgbClr val="111827"/>
                    </a:solidFill>
                    <a:latin typeface="Arial"/>
                  </a:rPr>
                  <a:t> variance </a:t>
                </a:r>
                <a:r>
                  <a:rPr lang="en-IN" sz="2400">
                    <a:solidFill>
                      <a:srgbClr val="111827"/>
                    </a:solidFill>
                    <a:latin typeface="Cambria Math" panose="02040503050406030204" pitchFamily="18" charset="0"/>
                  </a:rPr>
                  <a:t>$=np-npq=1$</a:t>
                </a:r>
                <a:r>
                  <a:rPr sz="2400" b="0">
                    <a:solidFill>
                      <a:srgbClr val="111827"/>
                    </a:solidFill>
                    <a:latin typeface="Arial"/>
                  </a:rPr>
                  <a:t>, i.e. </a:t>
                </a:r>
                <a:r>
                  <a:rPr lang="en-IN" sz="2400">
                    <a:solidFill>
                      <a:srgbClr val="111827"/>
                    </a:solidFill>
                    <a:latin typeface="Cambria Math" panose="02040503050406030204" pitchFamily="18" charset="0"/>
                  </a:rPr>
                  <a:t>$np(1-q)=1$</a:t>
                </a:r>
                <a:r>
                  <a:rPr sz="2400" b="0">
                    <a:solidFill>
                      <a:srgbClr val="111827"/>
                    </a:solidFill>
                    <a:latin typeface="Arial"/>
                  </a:rPr>
                  <a:t>, so </a:t>
                </a:r>
                <a:r>
                  <a:rPr lang="en-IN" sz="2400">
                    <a:solidFill>
                      <a:srgbClr val="111827"/>
                    </a:solidFill>
                    <a:latin typeface="Cambria Math" panose="02040503050406030204" pitchFamily="18" charset="0"/>
                  </a:rPr>
                  <a:t>$np^2=1$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$2P(X=2)=3P(X=1)$</a:t>
                </a:r>
                <a:r>
                  <a:rPr sz="2400" b="0">
                    <a:solidFill>
                      <a:srgbClr val="111827"/>
                    </a:solidFill>
                    <a:latin typeface="Arial"/>
                  </a:rPr>
                  <a:t> gives </a:t>
                </a:r>
                <a:r>
                  <a:rPr lang="en-IN" sz="2400">
                    <a:solidFill>
                      <a:srgbClr val="111827"/>
                    </a:solidFill>
                    <a:latin typeface="Cambria Math" panose="02040503050406030204" pitchFamily="18" charset="0"/>
                  </a:rPr>
                  <a:t>$2\cdot{}^nC_2p^2q^{n-2}=3\cdot{}^nC_1\,p\,q^{n-1}$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Cancelling </a:t>
                </a:r>
                <a:r>
                  <a:rPr lang="en-IN" sz="2400">
                    <a:solidFill>
                      <a:srgbClr val="111827"/>
                    </a:solidFill>
                    <a:latin typeface="Cambria Math" panose="02040503050406030204" pitchFamily="18" charset="0"/>
                  </a:rPr>
                  <a:t>$p\,q^{n-2}\,n$</a:t>
                </a:r>
                <a:r>
                  <a:rPr sz="2400" b="0">
                    <a:solidFill>
                      <a:srgbClr val="111827"/>
                    </a:solidFill>
                    <a:latin typeface="Arial"/>
                  </a:rPr>
                  <a:t> (note </a:t>
                </a:r>
                <a:r>
                  <a:rPr lang="en-IN" sz="2400">
                    <a:solidFill>
                      <a:srgbClr val="111827"/>
                    </a:solidFill>
                    <a:latin typeface="Cambria Math" panose="02040503050406030204" pitchFamily="18" charset="0"/>
                  </a:rPr>
                  <a:t>$q\ne0$</a:t>
                </a:r>
                <a:r>
                  <a:rPr sz="2400" b="0">
                    <a:solidFill>
                      <a:srgbClr val="111827"/>
                    </a:solidFill>
                    <a:latin typeface="Arial"/>
                  </a:rPr>
                  <a:t>): </a:t>
                </a:r>
                <a:r>
                  <a:rPr lang="en-IN" sz="2400">
                    <a:solidFill>
                      <a:srgbClr val="111827"/>
                    </a:solidFill>
                    <a:latin typeface="Cambria Math" panose="02040503050406030204" pitchFamily="18" charset="0"/>
                  </a:rPr>
                  <a:t>$(n-1)p=3q=3(1-p)$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$n=\frac1{p^2}$</a:t>
                </a:r>
                <a:r>
                  <a:rPr sz="2400" b="0">
                    <a:solidFill>
                      <a:srgbClr val="111827"/>
                    </a:solidFill>
                    <a:latin typeface="Arial"/>
                  </a:rPr>
                  <a:t>: </a:t>
                </a:r>
                <a:r>
                  <a:rPr lang="en-IN" sz="2400">
                    <a:solidFill>
                      <a:srgbClr val="111827"/>
                    </a:solidFill>
                    <a:latin typeface="Cambria Math" panose="02040503050406030204" pitchFamily="18" charset="0"/>
                  </a:rPr>
                  <a:t>$\left(\frac1{p^2}-1\right)p=3(1-p)$</a:t>
                </a:r>
                <a:r>
                  <a:rPr sz="2400" b="0">
                    <a:solidFill>
                      <a:srgbClr val="111827"/>
                    </a:solidFill>
                    <a:latin typeface="Arial"/>
                  </a:rPr>
                  <a:t>, so </a:t>
                </a:r>
                <a:r>
                  <a:rPr lang="en-IN" sz="2400">
                    <a:solidFill>
                      <a:srgbClr val="111827"/>
                    </a:solidFill>
                    <a:latin typeface="Cambria Math" panose="02040503050406030204" pitchFamily="18" charset="0"/>
                  </a:rPr>
                  <a:t>$\frac{(1-p)(1+p)}{p}=3(1-p)$</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Cancelling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𝑝</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4</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Cancelling </a:t>
                </a:r>
                <a:r>
                  <a:rPr lang="en-IN" sz="2400">
                    <a:solidFill>
                      <a:srgbClr val="111827"/>
                    </a:solidFill>
                    <a:latin typeface="Cambria Math" panose="02040503050406030204" pitchFamily="18" charset="0"/>
                  </a:rPr>
                  <a:t>$1-p\ne0$</a:t>
                </a:r>
                <a:r>
                  <a:rPr sz="2400" b="0">
                    <a:solidFill>
                      <a:srgbClr val="111827"/>
                    </a:solidFill>
                    <a:latin typeface="Arial"/>
                  </a:rPr>
                  <a:t>: </a:t>
                </a:r>
                <a:r>
                  <a:rPr lang="en-IN" sz="2400">
                    <a:solidFill>
                      <a:srgbClr val="111827"/>
                    </a:solidFill>
                    <a:latin typeface="Cambria Math" panose="02040503050406030204" pitchFamily="18" charset="0"/>
                  </a:rPr>
                  <a:t>$1+p=3p$</a:t>
                </a:r>
                <a:r>
                  <a:rPr sz="2400" b="0">
                    <a:solidFill>
                      <a:srgbClr val="111827"/>
                    </a:solidFill>
                    <a:latin typeface="Arial"/>
                  </a:rPr>
                  <a:t>, so </a:t>
                </a:r>
                <a:r>
                  <a:rPr lang="en-IN" sz="2400">
                    <a:solidFill>
                      <a:srgbClr val="111827"/>
                    </a:solidFill>
                    <a:latin typeface="Cambria Math" panose="02040503050406030204" pitchFamily="18" charset="0"/>
                  </a:rPr>
                  <a:t>$p=\frac12$</a:t>
                </a:r>
                <a:r>
                  <a:rPr sz="2400" b="0">
                    <a:solidFill>
                      <a:srgbClr val="111827"/>
                    </a:solidFill>
                    <a:latin typeface="Arial"/>
                  </a:rPr>
                  <a:t> and </a:t>
                </a:r>
                <a:r>
                  <a:rPr lang="en-IN" sz="2400">
                    <a:solidFill>
                      <a:srgbClr val="111827"/>
                    </a:solidFill>
                    <a:latin typeface="Cambria Math" panose="02040503050406030204" pitchFamily="18" charset="0"/>
                  </a:rPr>
                  <a:t>$n=\frac1{p^2}=4$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$n^2P(X&gt;1)=n^2\left[1-P(X=0)-P(X=1)\right]=16\left[1-\left(\frac12\right)^4-{}^4C_1\left(\frac12\right)^4\right]$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$=16\left[1-\frac1{16}-\frac4{16}\right]=16\cdot\frac{11}{16}=11$</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11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$11$</a:t>
                </a:r>
                <a:endParaRPr sz="2800">
                  <a:solidFill>
                    <a:srgbClr val="15803D"/>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𝑛</m:t>
                            </m:r>
                          </m:e>
                        </m:rad>
                      </m:den>
                    </m:f>
                  </m:oMath>
                </a14:m>
                <a:r>
                  <a:rPr sz="2400" b="0">
                    <a:solidFill>
                      <a:srgbClr val="78350F"/>
                    </a:solidFill>
                    <a:latin typeface="Arial"/>
                  </a:rPr>
                  <a:t> and solve for </a:t>
                </a:r>
                <a14:m>
                  <m:oMath xmlns:m="http://schemas.openxmlformats.org/officeDocument/2006/math">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𝑛</m:t>
                        </m:r>
                      </m:e>
                    </m:rad>
                  </m:oMath>
                </a14:m>
                <a:r>
                  <a:rPr sz="2400" b="0">
                    <a:solidFill>
                      <a:srgbClr val="78350F"/>
                    </a:solidFill>
                    <a:latin typeface="Arial"/>
                  </a:rPr>
                  <a:t> instead of for </a:t>
                </a:r>
                <a14:m>
                  <m:oMath xmlns:m="http://schemas.openxmlformats.org/officeDocument/2006/math">
                    <m:r>
                      <a:rPr lang="en-IN" sz="2400" i="1">
                        <a:solidFill>
                          <a:srgbClr val="78350F"/>
                        </a:solidFill>
                        <a:latin typeface="Cambria Math" panose="02040503050406030204" pitchFamily="18" charset="0"/>
                      </a:rPr>
                      <m:t>𝑝</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$p=\frac1{\sqrt n}$</a:t>
                </a:r>
                <a:r>
                  <a:rPr sz="2400" b="0">
                    <a:solidFill>
                      <a:srgbClr val="78350F"/>
                    </a:solidFill>
                    <a:latin typeface="Arial"/>
                  </a:rPr>
                  <a:t> and solve for </a:t>
                </a:r>
                <a:r>
                  <a:rPr lang="en-IN" sz="2400">
                    <a:solidFill>
                      <a:srgbClr val="78350F"/>
                    </a:solidFill>
                    <a:latin typeface="Cambria Math" panose="02040503050406030204" pitchFamily="18" charset="0"/>
                  </a:rPr>
                  <a:t>$s=\sqrt n$</a:t>
                </a:r>
                <a:r>
                  <a:rPr sz="2400" b="0">
                    <a:solidFill>
                      <a:srgbClr val="78350F"/>
                    </a:solidFill>
                    <a:latin typeface="Arial"/>
                  </a:rPr>
                  <a:t> instead of for </a:t>
                </a:r>
                <a:r>
                  <a:rPr lang="en-IN" sz="2400">
                    <a:solidFill>
                      <a:srgbClr val="78350F"/>
                    </a:solidFill>
                    <a:latin typeface="Cambria Math" panose="02040503050406030204" pitchFamily="18" charset="0"/>
                  </a:rPr>
                  <a:t>$p$</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𝑠</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𝑛</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ratio condition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becomes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𝑠</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𝑠</m:t>
                            </m:r>
                          </m:den>
                        </m:f>
                      </m:e>
                    </m:d>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cancelled factor), so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$np^2=1$</a:t>
                </a:r>
                <a:r>
                  <a:rPr sz="2400" b="0">
                    <a:solidFill>
                      <a:srgbClr val="111827"/>
                    </a:solidFill>
                    <a:latin typeface="Arial"/>
                  </a:rPr>
                  <a:t> we get </a:t>
                </a:r>
                <a:r>
                  <a:rPr lang="en-IN" sz="2400">
                    <a:solidFill>
                      <a:srgbClr val="111827"/>
                    </a:solidFill>
                    <a:latin typeface="Cambria Math" panose="02040503050406030204" pitchFamily="18" charset="0"/>
                  </a:rPr>
                  <a:t>$p=\frac{1}{s}$</a:t>
                </a:r>
                <a:r>
                  <a:rPr sz="2400" b="0">
                    <a:solidFill>
                      <a:srgbClr val="111827"/>
                    </a:solidFill>
                    <a:latin typeface="Arial"/>
                  </a:rPr>
                  <a:t> with </a:t>
                </a:r>
                <a:r>
                  <a:rPr lang="en-IN" sz="2400">
                    <a:solidFill>
                      <a:srgbClr val="111827"/>
                    </a:solidFill>
                    <a:latin typeface="Cambria Math" panose="02040503050406030204" pitchFamily="18" charset="0"/>
                  </a:rPr>
                  <a:t>$s=\sqrt n$</a:t>
                </a:r>
                <a:r>
                  <a:rPr sz="2400" b="0">
                    <a:solidFill>
                      <a:srgbClr val="111827"/>
                    </a:solidFill>
                    <a:latin typeface="Arial"/>
                  </a:rPr>
                  <a:t>, so </a:t>
                </a:r>
                <a:r>
                  <a:rPr lang="en-IN" sz="2400">
                    <a:solidFill>
                      <a:srgbClr val="111827"/>
                    </a:solidFill>
                    <a:latin typeface="Cambria Math" panose="02040503050406030204" pitchFamily="18" charset="0"/>
                  </a:rPr>
                  <a:t>$n=s^2$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ratio condition </a:t>
                </a:r>
                <a:r>
                  <a:rPr lang="en-IN" sz="2400">
                    <a:solidFill>
                      <a:srgbClr val="111827"/>
                    </a:solidFill>
                    <a:latin typeface="Cambria Math" panose="02040503050406030204" pitchFamily="18" charset="0"/>
                  </a:rPr>
                  <a:t>$(n-1)p=3(1-p)$</a:t>
                </a:r>
                <a:r>
                  <a:rPr sz="2400" b="0">
                    <a:solidFill>
                      <a:srgbClr val="111827"/>
                    </a:solidFill>
                    <a:latin typeface="Arial"/>
                  </a:rPr>
                  <a:t> becomes </a:t>
                </a:r>
                <a:r>
                  <a:rPr lang="en-IN" sz="2400">
                    <a:solidFill>
                      <a:srgbClr val="111827"/>
                    </a:solidFill>
                    <a:latin typeface="Cambria Math" panose="02040503050406030204" pitchFamily="18" charset="0"/>
                  </a:rPr>
                  <a:t>$\frac{s^2-1}{s}=3\left(1-\frac1s\right)$</a:t>
                </a:r>
                <a:r>
                  <a:rPr sz="2400" b="0">
                    <a:solidFill>
                      <a:srgbClr val="111827"/>
                    </a:solidFill>
                    <a:latin typeface="Arial"/>
                  </a:rPr>
                  <a:t>, i.e. </a:t>
                </a:r>
                <a:r>
                  <a:rPr lang="en-IN" sz="2400">
                    <a:solidFill>
                      <a:srgbClr val="111827"/>
                    </a:solidFill>
                    <a:latin typeface="Cambria Math" panose="02040503050406030204" pitchFamily="18" charset="0"/>
                  </a:rPr>
                  <a:t>$s^2-1=3s-3$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$s^2-3s+2=0\Rightarrow s=1$</a:t>
                </a:r>
                <a:r>
                  <a:rPr sz="2400" b="0">
                    <a:solidFill>
                      <a:srgbClr val="111827"/>
                    </a:solidFill>
                    <a:latin typeface="Arial"/>
                  </a:rPr>
                  <a:t> or </a:t>
                </a:r>
                <a:r>
                  <a:rPr lang="en-IN" sz="2400">
                    <a:solidFill>
                      <a:srgbClr val="111827"/>
                    </a:solidFill>
                    <a:latin typeface="Cambria Math" panose="02040503050406030204" pitchFamily="18" charset="0"/>
                  </a:rPr>
                  <a:t>$s=2$</a:t>
                </a:r>
                <a:r>
                  <a:rPr sz="2400" b="0">
                    <a:solidFill>
                      <a:srgbClr val="111827"/>
                    </a:solidFill>
                    <a:latin typeface="Arial"/>
                  </a:rPr>
                  <a:t>. </a:t>
                </a:r>
                <a:r>
                  <a:rPr lang="en-IN" sz="2400">
                    <a:solidFill>
                      <a:srgbClr val="111827"/>
                    </a:solidFill>
                    <a:latin typeface="Cambria Math" panose="02040503050406030204" pitchFamily="18" charset="0"/>
                  </a:rPr>
                  <a:t>$s=1$</a:t>
                </a:r>
                <a:r>
                  <a:rPr sz="2400" b="0">
                    <a:solidFill>
                      <a:srgbClr val="111827"/>
                    </a:solidFill>
                    <a:latin typeface="Arial"/>
                  </a:rPr>
                  <a:t> gives </a:t>
                </a:r>
                <a:r>
                  <a:rPr lang="en-IN" sz="2400">
                    <a:solidFill>
                      <a:srgbClr val="111827"/>
                    </a:solidFill>
                    <a:latin typeface="Cambria Math" panose="02040503050406030204" pitchFamily="18" charset="0"/>
                  </a:rPr>
                  <a:t>$p=1,q=0$</a:t>
                </a:r>
                <a:r>
                  <a:rPr sz="2400" b="0">
                    <a:solidFill>
                      <a:srgbClr val="111827"/>
                    </a:solidFill>
                    <a:latin typeface="Arial"/>
                  </a:rPr>
                  <a:t> (the cancelled factor), so </a:t>
                </a:r>
                <a:r>
                  <a:rPr lang="en-IN" sz="2400">
                    <a:solidFill>
                      <a:srgbClr val="111827"/>
                    </a:solidFill>
                    <a:latin typeface="Cambria Math" panose="02040503050406030204" pitchFamily="18" charset="0"/>
                  </a:rPr>
                  <a:t>$s=2$</a:t>
                </a:r>
                <a:r>
                  <a:rPr sz="2400" b="0">
                    <a:solidFill>
                      <a:srgbClr val="111827"/>
                    </a:solidFill>
                    <a:latin typeface="Arial"/>
                  </a:rPr>
                  <a:t>: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$p=\frac12$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$P(X&gt;1)=1-\frac1{16}-\frac4{16}=\frac{11}{16}$</a:t>
                </a:r>
                <a:r>
                  <a:rPr sz="2400" b="0">
                    <a:solidFill>
                      <a:srgbClr val="111827"/>
                    </a:solidFill>
                    <a:latin typeface="Arial"/>
                  </a:rPr>
                  <a:t>, so </a:t>
                </a:r>
                <a:r>
                  <a:rPr lang="en-IN" sz="2400">
                    <a:solidFill>
                      <a:srgbClr val="111827"/>
                    </a:solidFill>
                    <a:latin typeface="Cambria Math" panose="02040503050406030204" pitchFamily="18" charset="0"/>
                  </a:rPr>
                  <a:t>$n^2P(X&gt;1)=11$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11</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$11$</a:t>
                </a:r>
                <a:endParaRPr sz="2800">
                  <a:solidFill>
                    <a:srgbClr val="15803D"/>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oMath>
                </a14:m>
                <a:r>
                  <a:rPr sz="2400" b="0">
                    <a:solidFill>
                      <a:srgbClr val="111827"/>
                    </a:solidFill>
                    <a:latin typeface="Arial"/>
                  </a:rPr>
                  <a:t>, variance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oMath>
                </a14:m>
                <a:r>
                  <a:rPr sz="2400" b="0">
                    <a:solidFill>
                      <a:srgbClr val="111827"/>
                    </a:solidFill>
                    <a:latin typeface="Arial"/>
                  </a:rPr>
                  <a:t>, so mean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variance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 convenient for conditions on consecutive probabilities.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cancelled factors: dividing by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discards the degenerate root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$B(n,p)$</a:t>
                </a:r>
                <a:r>
                  <a:rPr sz="2400" b="0">
                    <a:solidFill>
                      <a:srgbClr val="111827"/>
                    </a:solidFill>
                    <a:latin typeface="Arial"/>
                  </a:rPr>
                  <a:t>: mean </a:t>
                </a:r>
                <a:r>
                  <a:rPr lang="en-IN" sz="2400">
                    <a:solidFill>
                      <a:srgbClr val="111827"/>
                    </a:solidFill>
                    <a:latin typeface="Cambria Math" panose="02040503050406030204" pitchFamily="18" charset="0"/>
                  </a:rPr>
                  <a:t>$np$</a:t>
                </a:r>
                <a:r>
                  <a:rPr sz="2400" b="0">
                    <a:solidFill>
                      <a:srgbClr val="111827"/>
                    </a:solidFill>
                    <a:latin typeface="Arial"/>
                  </a:rPr>
                  <a:t>, variance </a:t>
                </a:r>
                <a:r>
                  <a:rPr lang="en-IN" sz="2400">
                    <a:solidFill>
                      <a:srgbClr val="111827"/>
                    </a:solidFill>
                    <a:latin typeface="Cambria Math" panose="02040503050406030204" pitchFamily="18" charset="0"/>
                  </a:rPr>
                  <a:t>$npq$</a:t>
                </a:r>
                <a:r>
                  <a:rPr sz="2400" b="0">
                    <a:solidFill>
                      <a:srgbClr val="111827"/>
                    </a:solidFill>
                    <a:latin typeface="Arial"/>
                  </a:rPr>
                  <a:t>, so mean </a:t>
                </a:r>
                <a:r>
                  <a:rPr lang="en-IN" sz="2400">
                    <a:solidFill>
                      <a:srgbClr val="111827"/>
                    </a:solidFill>
                    <a:latin typeface="Cambria Math" panose="02040503050406030204" pitchFamily="18" charset="0"/>
                  </a:rPr>
                  <a:t>$-$</a:t>
                </a:r>
                <a:r>
                  <a:rPr sz="2400" b="0">
                    <a:solidFill>
                      <a:srgbClr val="111827"/>
                    </a:solidFill>
                    <a:latin typeface="Arial"/>
                  </a:rPr>
                  <a:t> variance </a:t>
                </a:r>
                <a:r>
                  <a:rPr lang="en-IN" sz="2400">
                    <a:solidFill>
                      <a:srgbClr val="111827"/>
                    </a:solidFill>
                    <a:latin typeface="Cambria Math" panose="02040503050406030204" pitchFamily="18" charset="0"/>
                  </a:rPr>
                  <a:t>$=np^2$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$\frac{P(X=r+1)}{P(X=r)}=\frac{n-r}{r+1}\cdot\frac pq$</a:t>
                </a:r>
                <a:r>
                  <a:rPr sz="2400" b="0">
                    <a:solidFill>
                      <a:srgbClr val="111827"/>
                    </a:solidFill>
                    <a:latin typeface="Arial"/>
                  </a:rPr>
                  <a:t> - convenient for conditions on consecutive probabilities.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cancelled factors: dividing by </a:t>
                </a:r>
                <a:r>
                  <a:rPr lang="en-IN" sz="2400">
                    <a:solidFill>
                      <a:srgbClr val="111827"/>
                    </a:solidFill>
                    <a:latin typeface="Cambria Math" panose="02040503050406030204" pitchFamily="18" charset="0"/>
                  </a:rPr>
                  <a:t>$q$</a:t>
                </a:r>
                <a:r>
                  <a:rPr sz="2400" b="0">
                    <a:solidFill>
                      <a:srgbClr val="111827"/>
                    </a:solidFill>
                    <a:latin typeface="Arial"/>
                  </a:rPr>
                  <a:t> or </a:t>
                </a:r>
                <a:r>
                  <a:rPr lang="en-IN" sz="2400">
                    <a:solidFill>
                      <a:srgbClr val="111827"/>
                    </a:solidFill>
                    <a:latin typeface="Cambria Math" panose="02040503050406030204" pitchFamily="18" charset="0"/>
                  </a:rPr>
                  <a:t>$1-p$</a:t>
                </a:r>
                <a:r>
                  <a:rPr sz="2400" b="0">
                    <a:solidFill>
                      <a:srgbClr val="111827"/>
                    </a:solidFill>
                    <a:latin typeface="Arial"/>
                  </a:rPr>
                  <a:t> discards the degenerate root </a:t>
                </a:r>
                <a:r>
                  <a:rPr lang="en-IN" sz="2400">
                    <a:solidFill>
                      <a:srgbClr val="111827"/>
                    </a:solidFill>
                    <a:latin typeface="Cambria Math" panose="02040503050406030204" pitchFamily="18" charset="0"/>
                  </a:rPr>
                  <a:t>$p=1$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bag contains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black balls. A die is rolled once and the number of balls equal to the number obtained on the die are drawn from the bag at random. The probability that all the balls drawn are white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50</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50</m:t>
                        </m:r>
                      </m:den>
                    </m:f>
                  </m:oMath>
                </a14:m>
                <a:endParaRPr sz="2400">
                  <a:solidFill>
                    <a:srgbClr val="111827"/>
                  </a:solidFill>
                </a:endParaRPr>
              </a:p>
            </p:txBody>
          </p:sp>
        </mc:Choice>
        <mc:Fallback>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bag contains </a:t>
                </a:r>
                <a:r>
                  <a:rPr lang="en-IN" sz="2400">
                    <a:solidFill>
                      <a:srgbClr val="111827"/>
                    </a:solidFill>
                    <a:latin typeface="Cambria Math" panose="02040503050406030204" pitchFamily="18" charset="0"/>
                  </a:rPr>
                  <a:t>$6$</a:t>
                </a:r>
                <a:r>
                  <a:rPr sz="2400" b="0">
                    <a:solidFill>
                      <a:srgbClr val="111827"/>
                    </a:solidFill>
                    <a:latin typeface="Arial"/>
                  </a:rPr>
                  <a:t> white and </a:t>
                </a:r>
                <a:r>
                  <a:rPr lang="en-IN" sz="2400">
                    <a:solidFill>
                      <a:srgbClr val="111827"/>
                    </a:solidFill>
                    <a:latin typeface="Cambria Math" panose="02040503050406030204" pitchFamily="18" charset="0"/>
                  </a:rPr>
                  <a:t>$4$</a:t>
                </a:r>
                <a:r>
                  <a:rPr sz="2400" b="0">
                    <a:solidFill>
                      <a:srgbClr val="111827"/>
                    </a:solidFill>
                    <a:latin typeface="Arial"/>
                  </a:rPr>
                  <a:t> black balls. A die is rolled once and the number of balls equal to the number obtained on the die are drawn from the bag at random. The probability that all the balls drawn are white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$\frac15$</a:t>
                </a:r>
                <a:r>
                  <a:rPr sz="2400" b="0">
                    <a:solidFill>
                      <a:srgbClr val="111827"/>
                    </a:solidFill>
                    <a:latin typeface="Arial"/>
                  </a:rPr>
                  <a:t>   (B) </a:t>
                </a:r>
                <a:r>
                  <a:rPr lang="en-IN" sz="2400">
                    <a:solidFill>
                      <a:srgbClr val="111827"/>
                    </a:solidFill>
                    <a:latin typeface="Cambria Math" panose="02040503050406030204" pitchFamily="18" charset="0"/>
                  </a:rPr>
                  <a:t>$\frac{9}{50}$</a:t>
                </a:r>
                <a:r>
                  <a:rPr sz="2400" b="0">
                    <a:solidFill>
                      <a:srgbClr val="111827"/>
                    </a:solidFill>
                    <a:latin typeface="Arial"/>
                  </a:rPr>
                  <a:t>   (C) </a:t>
                </a:r>
                <a:r>
                  <a:rPr lang="en-IN" sz="2400">
                    <a:solidFill>
                      <a:srgbClr val="111827"/>
                    </a:solidFill>
                    <a:latin typeface="Cambria Math" panose="02040503050406030204" pitchFamily="18" charset="0"/>
                  </a:rPr>
                  <a:t>$\frac14$</a:t>
                </a:r>
                <a:r>
                  <a:rPr sz="2400" b="0">
                    <a:solidFill>
                      <a:srgbClr val="111827"/>
                    </a:solidFill>
                    <a:latin typeface="Arial"/>
                  </a:rPr>
                  <a:t>   (D) </a:t>
                </a:r>
                <a:r>
                  <a:rPr lang="en-IN" sz="2400">
                    <a:solidFill>
                      <a:srgbClr val="111827"/>
                    </a:solidFill>
                    <a:latin typeface="Cambria Math" panose="02040503050406030204" pitchFamily="18" charset="0"/>
                  </a:rPr>
                  <a:t>$\frac{11}{50}$</a:t>
                </a:r>
                <a:endParaRPr sz="2400">
                  <a:solidFill>
                    <a:srgbClr val="111827"/>
                  </a:solidFill>
                </a:endParaRPr>
              </a:p>
            </p:txBody>
          </p:sp>
        </mc:Fallback>
      </mc:AlternateContent>
      <p:sp>
        <p:nvSpPr>
          <p:cNvPr id="5" name="Rectangle 4"/>
          <p:cNvSpPr/>
          <p:nvPr/>
        </p:nvSpPr>
        <p:spPr>
          <a:xfrm>
            <a:off x="731520" y="45435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Total probability theorem, Combinations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Total probability over the die value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6</m:t>
                        </m:r>
                      </m:den>
                    </m:f>
                    <m:nary>
                      <m:naryPr>
                        <m:chr m:val="∑"/>
                        <m:limLoc m:val="undOvr"/>
                        <m:subHide m:val="off"/>
                        <m:supHide m:val="off"/>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up>
                        <m:r>
                          <a:rPr lang="en-IN" sz="2400" i="1">
                            <a:solidFill>
                              <a:srgbClr val="78350F"/>
                            </a:solidFill>
                            <a:latin typeface="Cambria Math" panose="02040503050406030204" pitchFamily="18" charset="0"/>
                          </a:rPr>
                          <m:t>6</m:t>
                        </m:r>
                      </m:sup>
                      <m:e>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𝑘</m:t>
                                </m:r>
                              </m:sub>
                            </m:sSub>
                          </m:num>
                          <m:den>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10</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𝑘</m:t>
                                </m:r>
                              </m:sub>
                            </m:sSub>
                          </m:den>
                        </m:f>
                      </m:e>
                    </m:nary>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Total probability over the die value </a:t>
                </a:r>
                <a:r>
                  <a:rPr lang="en-IN" sz="2400">
                    <a:solidFill>
                      <a:srgbClr val="78350F"/>
                    </a:solidFill>
                    <a:latin typeface="Cambria Math" panose="02040503050406030204" pitchFamily="18" charset="0"/>
                  </a:rPr>
                  <a:t>$k$</a:t>
                </a:r>
                <a:r>
                  <a:rPr sz="2400" b="0">
                    <a:solidFill>
                      <a:srgbClr val="78350F"/>
                    </a:solidFill>
                    <a:latin typeface="Arial"/>
                  </a:rPr>
                  <a:t>: </a:t>
                </a:r>
                <a:r>
                  <a:rPr lang="en-IN" sz="2400">
                    <a:solidFill>
                      <a:srgbClr val="78350F"/>
                    </a:solidFill>
                    <a:latin typeface="Cambria Math" panose="02040503050406030204" pitchFamily="18" charset="0"/>
                  </a:rPr>
                  <a:t>$P=\frac16\sum_{k=1}^{6}\frac{^6C_k}{^{10}C_k}$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die shows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with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balls are drawn from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𝑎𝑙𝑙 𝑤ℎ𝑖𝑡𝑒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(impossible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45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120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die shows </a:t>
                </a:r>
                <a:r>
                  <a:rPr lang="en-IN" sz="2400">
                    <a:solidFill>
                      <a:srgbClr val="111827"/>
                    </a:solidFill>
                    <a:latin typeface="Cambria Math" panose="02040503050406030204" pitchFamily="18" charset="0"/>
                  </a:rPr>
                  <a:t>$k$</a:t>
                </a:r>
                <a:r>
                  <a:rPr sz="2400" b="0">
                    <a:solidFill>
                      <a:srgbClr val="111827"/>
                    </a:solidFill>
                    <a:latin typeface="Arial"/>
                  </a:rPr>
                  <a:t> with probability </a:t>
                </a:r>
                <a:r>
                  <a:rPr lang="en-IN" sz="2400">
                    <a:solidFill>
                      <a:srgbClr val="111827"/>
                    </a:solidFill>
                    <a:latin typeface="Cambria Math" panose="02040503050406030204" pitchFamily="18" charset="0"/>
                  </a:rPr>
                  <a:t>$\frac16$</a:t>
                </a:r>
                <a:r>
                  <a:rPr sz="2400" b="0">
                    <a:solidFill>
                      <a:srgbClr val="111827"/>
                    </a:solidFill>
                    <a:latin typeface="Arial"/>
                  </a:rPr>
                  <a:t>, then </a:t>
                </a:r>
                <a:r>
                  <a:rPr lang="en-IN" sz="2400">
                    <a:solidFill>
                      <a:srgbClr val="111827"/>
                    </a:solidFill>
                    <a:latin typeface="Cambria Math" panose="02040503050406030204" pitchFamily="18" charset="0"/>
                  </a:rPr>
                  <a:t>$k$</a:t>
                </a:r>
                <a:r>
                  <a:rPr sz="2400" b="0">
                    <a:solidFill>
                      <a:srgbClr val="111827"/>
                    </a:solidFill>
                    <a:latin typeface="Arial"/>
                  </a:rPr>
                  <a:t> balls are drawn from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$P(\text{all white}\mid k)=\frac{^6C_k}{^{10}C_k}$</a:t>
                </a:r>
                <a:r>
                  <a:rPr sz="2400" b="0">
                    <a:solidFill>
                      <a:srgbClr val="111827"/>
                    </a:solidFill>
                    <a:latin typeface="Arial"/>
                  </a:rPr>
                  <a:t> for </a:t>
                </a:r>
                <a:r>
                  <a:rPr lang="en-IN" sz="2400">
                    <a:solidFill>
                      <a:srgbClr val="111827"/>
                    </a:solidFill>
                    <a:latin typeface="Cambria Math" panose="02040503050406030204" pitchFamily="18" charset="0"/>
                  </a:rPr>
                  <a:t>$k=1,\dots,6$</a:t>
                </a:r>
                <a:r>
                  <a:rPr sz="2400" b="0">
                    <a:solidFill>
                      <a:srgbClr val="111827"/>
                    </a:solidFill>
                    <a:latin typeface="Arial"/>
                  </a:rPr>
                  <a:t> (impossible for </a:t>
                </a:r>
                <a:r>
                  <a:rPr lang="en-IN" sz="2400">
                    <a:solidFill>
                      <a:srgbClr val="111827"/>
                    </a:solidFill>
                    <a:latin typeface="Cambria Math" panose="02040503050406030204" pitchFamily="18" charset="0"/>
                  </a:rPr>
                  <a:t>$k&gt;6$</a:t>
                </a:r>
                <a:r>
                  <a:rPr sz="2400" b="0">
                    <a:solidFill>
                      <a:srgbClr val="111827"/>
                    </a:solidFill>
                    <a:latin typeface="Arial"/>
                  </a:rPr>
                  <a:t>, and </a:t>
                </a:r>
                <a:r>
                  <a:rPr lang="en-IN" sz="2400">
                    <a:solidFill>
                      <a:srgbClr val="111827"/>
                    </a:solidFill>
                    <a:latin typeface="Cambria Math" panose="02040503050406030204" pitchFamily="18" charset="0"/>
                  </a:rPr>
                  <a:t>$k\le6$</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$k=1$</a:t>
                </a:r>
                <a:r>
                  <a:rPr sz="2400" b="0">
                    <a:solidFill>
                      <a:srgbClr val="111827"/>
                    </a:solidFill>
                    <a:latin typeface="Arial"/>
                  </a:rPr>
                  <a:t>: </a:t>
                </a:r>
                <a:r>
                  <a:rPr lang="en-IN" sz="2400">
                    <a:solidFill>
                      <a:srgbClr val="111827"/>
                    </a:solidFill>
                    <a:latin typeface="Cambria Math" panose="02040503050406030204" pitchFamily="18" charset="0"/>
                  </a:rPr>
                  <a:t>$\frac{6}{10}=\frac35$</a:t>
                </a:r>
                <a:r>
                  <a:rPr sz="2400" b="0">
                    <a:solidFill>
                      <a:srgbClr val="111827"/>
                    </a:solidFill>
                    <a:latin typeface="Arial"/>
                  </a:rPr>
                  <a:t>; </a:t>
                </a:r>
                <a:r>
                  <a:rPr lang="en-IN" sz="2400">
                    <a:solidFill>
                      <a:srgbClr val="111827"/>
                    </a:solidFill>
                    <a:latin typeface="Cambria Math" panose="02040503050406030204" pitchFamily="18" charset="0"/>
                  </a:rPr>
                  <a:t>$k=2$</a:t>
                </a:r>
                <a:r>
                  <a:rPr sz="2400" b="0">
                    <a:solidFill>
                      <a:srgbClr val="111827"/>
                    </a:solidFill>
                    <a:latin typeface="Arial"/>
                  </a:rPr>
                  <a:t>: </a:t>
                </a:r>
                <a:r>
                  <a:rPr lang="en-IN" sz="2400">
                    <a:solidFill>
                      <a:srgbClr val="111827"/>
                    </a:solidFill>
                    <a:latin typeface="Cambria Math" panose="02040503050406030204" pitchFamily="18" charset="0"/>
                  </a:rPr>
                  <a:t>$\frac{15}{45}=\frac13$</a:t>
                </a:r>
                <a:r>
                  <a:rPr sz="2400" b="0">
                    <a:solidFill>
                      <a:srgbClr val="111827"/>
                    </a:solidFill>
                    <a:latin typeface="Arial"/>
                  </a:rPr>
                  <a:t>; </a:t>
                </a:r>
                <a:r>
                  <a:rPr lang="en-IN" sz="2400">
                    <a:solidFill>
                      <a:srgbClr val="111827"/>
                    </a:solidFill>
                    <a:latin typeface="Cambria Math" panose="02040503050406030204" pitchFamily="18" charset="0"/>
                  </a:rPr>
                  <a:t>$k=3$</a:t>
                </a:r>
                <a:r>
                  <a:rPr sz="2400" b="0">
                    <a:solidFill>
                      <a:srgbClr val="111827"/>
                    </a:solidFill>
                    <a:latin typeface="Arial"/>
                  </a:rPr>
                  <a:t>: </a:t>
                </a:r>
                <a:r>
                  <a:rPr lang="en-IN" sz="2400">
                    <a:solidFill>
                      <a:srgbClr val="111827"/>
                    </a:solidFill>
                    <a:latin typeface="Cambria Math" panose="02040503050406030204" pitchFamily="18" charset="0"/>
                  </a:rPr>
                  <a:t>$\frac{20}{120}=\frac16$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252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210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with common denominator </a:t>
                </a:r>
                <a14:m>
                  <m:oMath xmlns:m="http://schemas.openxmlformats.org/officeDocument/2006/math">
                    <m:r>
                      <a:rPr lang="en-IN" sz="2400" i="1">
                        <a:solidFill>
                          <a:srgbClr val="111827"/>
                        </a:solidFill>
                        <a:latin typeface="Cambria Math" panose="02040503050406030204" pitchFamily="18" charset="0"/>
                      </a:rPr>
                      <m:t>210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252</m:t>
                        </m:r>
                      </m:num>
                      <m:den>
                        <m:r>
                          <a:rPr lang="en-IN" sz="2400" i="1">
                            <a:solidFill>
                              <a:srgbClr val="111827"/>
                            </a:solidFill>
                            <a:latin typeface="Cambria Math" panose="02040503050406030204" pitchFamily="18" charset="0"/>
                          </a:rPr>
                          <m:t>210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$k=4$</a:t>
                </a:r>
                <a:r>
                  <a:rPr sz="2400" b="0">
                    <a:solidFill>
                      <a:srgbClr val="111827"/>
                    </a:solidFill>
                    <a:latin typeface="Arial"/>
                  </a:rPr>
                  <a:t>: </a:t>
                </a:r>
                <a:r>
                  <a:rPr lang="en-IN" sz="2400">
                    <a:solidFill>
                      <a:srgbClr val="111827"/>
                    </a:solidFill>
                    <a:latin typeface="Cambria Math" panose="02040503050406030204" pitchFamily="18" charset="0"/>
                  </a:rPr>
                  <a:t>$\frac{15}{210}=\frac1{14}$</a:t>
                </a:r>
                <a:r>
                  <a:rPr sz="2400" b="0">
                    <a:solidFill>
                      <a:srgbClr val="111827"/>
                    </a:solidFill>
                    <a:latin typeface="Arial"/>
                  </a:rPr>
                  <a:t>; </a:t>
                </a:r>
                <a:r>
                  <a:rPr lang="en-IN" sz="2400">
                    <a:solidFill>
                      <a:srgbClr val="111827"/>
                    </a:solidFill>
                    <a:latin typeface="Cambria Math" panose="02040503050406030204" pitchFamily="18" charset="0"/>
                  </a:rPr>
                  <a:t>$k=5$</a:t>
                </a:r>
                <a:r>
                  <a:rPr sz="2400" b="0">
                    <a:solidFill>
                      <a:srgbClr val="111827"/>
                    </a:solidFill>
                    <a:latin typeface="Arial"/>
                  </a:rPr>
                  <a:t>: </a:t>
                </a:r>
                <a:r>
                  <a:rPr lang="en-IN" sz="2400">
                    <a:solidFill>
                      <a:srgbClr val="111827"/>
                    </a:solidFill>
                    <a:latin typeface="Cambria Math" panose="02040503050406030204" pitchFamily="18" charset="0"/>
                  </a:rPr>
                  <a:t>$\frac{6}{252}=\frac1{42}$</a:t>
                </a:r>
                <a:r>
                  <a:rPr sz="2400" b="0">
                    <a:solidFill>
                      <a:srgbClr val="111827"/>
                    </a:solidFill>
                    <a:latin typeface="Arial"/>
                  </a:rPr>
                  <a:t>; </a:t>
                </a:r>
                <a:r>
                  <a:rPr lang="en-IN" sz="2400">
                    <a:solidFill>
                      <a:srgbClr val="111827"/>
                    </a:solidFill>
                    <a:latin typeface="Cambria Math" panose="02040503050406030204" pitchFamily="18" charset="0"/>
                  </a:rPr>
                  <a:t>$k=6$</a:t>
                </a:r>
                <a:r>
                  <a:rPr sz="2400" b="0">
                    <a:solidFill>
                      <a:srgbClr val="111827"/>
                    </a:solidFill>
                    <a:latin typeface="Arial"/>
                  </a:rPr>
                  <a:t>: </a:t>
                </a:r>
                <a:r>
                  <a:rPr lang="en-IN" sz="2400">
                    <a:solidFill>
                      <a:srgbClr val="111827"/>
                    </a:solidFill>
                    <a:latin typeface="Cambria Math" panose="02040503050406030204" pitchFamily="18" charset="0"/>
                  </a:rPr>
                  <a:t>$\frac1{210}$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with common denominator </a:t>
                </a:r>
                <a:r>
                  <a:rPr lang="en-IN" sz="2400">
                    <a:solidFill>
                      <a:srgbClr val="111827"/>
                    </a:solidFill>
                    <a:latin typeface="Cambria Math" panose="02040503050406030204" pitchFamily="18" charset="0"/>
                  </a:rPr>
                  <a:t>$210$</a:t>
                </a:r>
                <a:r>
                  <a:rPr sz="2400" b="0">
                    <a:solidFill>
                      <a:srgbClr val="111827"/>
                    </a:solidFill>
                    <a:latin typeface="Arial"/>
                  </a:rPr>
                  <a:t>: </a:t>
                </a:r>
                <a:r>
                  <a:rPr lang="en-IN" sz="2400">
                    <a:solidFill>
                      <a:srgbClr val="111827"/>
                    </a:solidFill>
                    <a:latin typeface="Cambria Math" panose="02040503050406030204" pitchFamily="18" charset="0"/>
                  </a:rPr>
                  <a:t>$\frac{126+70+35+15+5+1}{210}=\frac{252}{210}=\frac65$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$P=\frac16\times\frac65=\frac15$</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$\frac15$</a:t>
                </a:r>
                <a:endParaRPr sz="2800">
                  <a:solidFill>
                    <a:srgbClr val="15803D"/>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𝑘</m:t>
                            </m:r>
                          </m:sub>
                        </m:sSub>
                      </m:num>
                      <m:den>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10</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𝑘</m:t>
                            </m:r>
                          </m:sub>
                        </m:sSub>
                      </m:den>
                    </m:f>
                  </m:oMath>
                </a14:m>
                <a:r>
                  <a:rPr sz="2400" b="0">
                    <a:solidFill>
                      <a:srgbClr val="78350F"/>
                    </a:solidFill>
                    <a:latin typeface="Arial"/>
                  </a:rPr>
                  <a:t> is the chance that the first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balls of a random arrangement are white, so the sum is the expected number of leading white balls.</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$\frac{^6C_k}{^{10}C_k}$</a:t>
                </a:r>
                <a:r>
                  <a:rPr sz="2400" b="0">
                    <a:solidFill>
                      <a:srgbClr val="78350F"/>
                    </a:solidFill>
                    <a:latin typeface="Arial"/>
                  </a:rPr>
                  <a:t> is the chance that the first </a:t>
                </a:r>
                <a:r>
                  <a:rPr lang="en-IN" sz="2400">
                    <a:solidFill>
                      <a:srgbClr val="78350F"/>
                    </a:solidFill>
                    <a:latin typeface="Cambria Math" panose="02040503050406030204" pitchFamily="18" charset="0"/>
                  </a:rPr>
                  <a:t>$k$</a:t>
                </a:r>
                <a:r>
                  <a:rPr sz="2400" b="0">
                    <a:solidFill>
                      <a:srgbClr val="78350F"/>
                    </a:solidFill>
                    <a:latin typeface="Arial"/>
                  </a:rPr>
                  <a:t> balls of a random arrangement are white, so the sum is the expected number of leading white balls.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balls in a random order;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den>
                    </m:f>
                  </m:oMath>
                </a14:m>
                <a:r>
                  <a:rPr sz="2400" b="0">
                    <a:solidFill>
                      <a:srgbClr val="111827"/>
                    </a:solidFill>
                    <a:latin typeface="Arial"/>
                  </a:rPr>
                  <a:t> is the probability that the first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are all white, i.e. that the number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of leading white balls satisfies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6</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num>
                          <m:den>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den>
                        </m:f>
                      </m:e>
                    </m:nary>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𝑃</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 </a:t>
                </a:r>
                <a:r>
                  <a:rPr lang="en-IN" sz="2400">
                    <a:solidFill>
                      <a:srgbClr val="111827"/>
                    </a:solidFill>
                    <a:latin typeface="Cambria Math" panose="02040503050406030204" pitchFamily="18" charset="0"/>
                  </a:rPr>
                  <a:t>$10$</a:t>
                </a:r>
                <a:r>
                  <a:rPr sz="2400" b="0">
                    <a:solidFill>
                      <a:srgbClr val="111827"/>
                    </a:solidFill>
                    <a:latin typeface="Arial"/>
                  </a:rPr>
                  <a:t> balls in a random order; </a:t>
                </a:r>
                <a:r>
                  <a:rPr lang="en-IN" sz="2400">
                    <a:solidFill>
                      <a:srgbClr val="111827"/>
                    </a:solidFill>
                    <a:latin typeface="Cambria Math" panose="02040503050406030204" pitchFamily="18" charset="0"/>
                  </a:rPr>
                  <a:t>$\frac{^6C_k}{^{10}C_k}$</a:t>
                </a:r>
                <a:r>
                  <a:rPr sz="2400" b="0">
                    <a:solidFill>
                      <a:srgbClr val="111827"/>
                    </a:solidFill>
                    <a:latin typeface="Arial"/>
                  </a:rPr>
                  <a:t> is the probability that the first </a:t>
                </a:r>
                <a:r>
                  <a:rPr lang="en-IN" sz="2400">
                    <a:solidFill>
                      <a:srgbClr val="111827"/>
                    </a:solidFill>
                    <a:latin typeface="Cambria Math" panose="02040503050406030204" pitchFamily="18" charset="0"/>
                  </a:rPr>
                  <a:t>$k$</a:t>
                </a:r>
                <a:r>
                  <a:rPr sz="2400" b="0">
                    <a:solidFill>
                      <a:srgbClr val="111827"/>
                    </a:solidFill>
                    <a:latin typeface="Arial"/>
                  </a:rPr>
                  <a:t> are all white, i.e. that the number </a:t>
                </a:r>
                <a:r>
                  <a:rPr lang="en-IN" sz="2400">
                    <a:solidFill>
                      <a:srgbClr val="111827"/>
                    </a:solidFill>
                    <a:latin typeface="Cambria Math" panose="02040503050406030204" pitchFamily="18" charset="0"/>
                  </a:rPr>
                  <a:t>$L$</a:t>
                </a:r>
                <a:r>
                  <a:rPr sz="2400" b="0">
                    <a:solidFill>
                      <a:srgbClr val="111827"/>
                    </a:solidFill>
                    <a:latin typeface="Arial"/>
                  </a:rPr>
                  <a:t> of leading white balls satisfies </a:t>
                </a:r>
                <a:r>
                  <a:rPr lang="en-IN" sz="2400">
                    <a:solidFill>
                      <a:srgbClr val="111827"/>
                    </a:solidFill>
                    <a:latin typeface="Cambria Math" panose="02040503050406030204" pitchFamily="18" charset="0"/>
                  </a:rPr>
                  <a:t>$L\ge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$\sum_{k=1}^{6}\frac{^6C_k}{^{10}C_k}=\sum_{k\ge1}P(L\ge k)=E(L)$</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given white ball precedes all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black balls with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(it is first among those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balls), and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counts the white balls preceding every black ball, so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given white ball precedes all </a:t>
                </a:r>
                <a:r>
                  <a:rPr lang="en-IN" sz="2400">
                    <a:solidFill>
                      <a:srgbClr val="111827"/>
                    </a:solidFill>
                    <a:latin typeface="Cambria Math" panose="02040503050406030204" pitchFamily="18" charset="0"/>
                  </a:rPr>
                  <a:t>$4$</a:t>
                </a:r>
                <a:r>
                  <a:rPr sz="2400" b="0">
                    <a:solidFill>
                      <a:srgbClr val="111827"/>
                    </a:solidFill>
                    <a:latin typeface="Arial"/>
                  </a:rPr>
                  <a:t> black balls with probability </a:t>
                </a:r>
                <a:r>
                  <a:rPr lang="en-IN" sz="2400">
                    <a:solidFill>
                      <a:srgbClr val="111827"/>
                    </a:solidFill>
                    <a:latin typeface="Cambria Math" panose="02040503050406030204" pitchFamily="18" charset="0"/>
                  </a:rPr>
                  <a:t>$\frac15$</a:t>
                </a:r>
                <a:r>
                  <a:rPr sz="2400" b="0">
                    <a:solidFill>
                      <a:srgbClr val="111827"/>
                    </a:solidFill>
                    <a:latin typeface="Arial"/>
                  </a:rPr>
                  <a:t> (it is first among those </a:t>
                </a:r>
                <a:r>
                  <a:rPr lang="en-IN" sz="2400">
                    <a:solidFill>
                      <a:srgbClr val="111827"/>
                    </a:solidFill>
                    <a:latin typeface="Cambria Math" panose="02040503050406030204" pitchFamily="18" charset="0"/>
                  </a:rPr>
                  <a:t>$5$</a:t>
                </a:r>
                <a:r>
                  <a:rPr sz="2400" b="0">
                    <a:solidFill>
                      <a:srgbClr val="111827"/>
                    </a:solidFill>
                    <a:latin typeface="Arial"/>
                  </a:rPr>
                  <a:t> balls), and </a:t>
                </a:r>
                <a:r>
                  <a:rPr lang="en-IN" sz="2400">
                    <a:solidFill>
                      <a:srgbClr val="111827"/>
                    </a:solidFill>
                    <a:latin typeface="Cambria Math" panose="02040503050406030204" pitchFamily="18" charset="0"/>
                  </a:rPr>
                  <a:t>$L$</a:t>
                </a:r>
                <a:r>
                  <a:rPr sz="2400" b="0">
                    <a:solidFill>
                      <a:srgbClr val="111827"/>
                    </a:solidFill>
                    <a:latin typeface="Arial"/>
                  </a:rPr>
                  <a:t> counts the white balls preceding every black ball, so </a:t>
                </a:r>
                <a:r>
                  <a:rPr lang="en-IN" sz="2400">
                    <a:solidFill>
                      <a:srgbClr val="111827"/>
                    </a:solidFill>
                    <a:latin typeface="Cambria Math" panose="02040503050406030204" pitchFamily="18" charset="0"/>
                  </a:rPr>
                  <a:t>$E(L)=6\cdot\frac15=\frac65$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$P=\frac16\cdot\frac65=\frac15$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$\frac15$</a:t>
                </a:r>
                <a:endParaRPr sz="2800">
                  <a:solidFill>
                    <a:srgbClr val="15803D"/>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𝑘</m:t>
                                </m:r>
                              </m:den>
                            </m:f>
                          </m:e>
                        </m: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𝑓𝑖𝑟𝑠𝑡 </m:t>
                    </m:r>
                    <m:r>
                      <a:rPr lang="en-IN" sz="2400" i="1">
                        <a:solidFill>
                          <a:srgbClr val="111827"/>
                        </a:solidFill>
                        <a:latin typeface="Cambria Math" panose="02040503050406030204" pitchFamily="18" charset="0"/>
                      </a:rPr>
                      <m:t>𝑘</m:t>
                    </m:r>
                    <m:r>
                      <m:rPr>
                        <m:nor/>
                      </m:rPr>
                      <a:rPr lang="en-IN" sz="2400" i="1">
                        <a:solidFill>
                          <a:srgbClr val="111827"/>
                        </a:solidFill>
                        <a:latin typeface="Cambria Math" panose="02040503050406030204" pitchFamily="18" charset="0"/>
                      </a:rPr>
                      <m:t> 𝑖𝑡𝑒𝑚𝑠 𝑜𝑓 𝑎 𝑟𝑎𝑛𝑑𝑜𝑚 𝑜𝑟𝑑𝑒𝑟 𝑎𝑟𝑒 𝑎𝑙𝑙 𝑜𝑓 𝑡ℎ𝑒 </m:t>
                    </m:r>
                    <m:r>
                      <a:rPr lang="en-IN" sz="2400" i="1">
                        <a:solidFill>
                          <a:srgbClr val="111827"/>
                        </a:solidFill>
                        <a:latin typeface="Cambria Math" panose="02040503050406030204" pitchFamily="18" charset="0"/>
                      </a:rPr>
                      <m:t>𝑚</m:t>
                    </m:r>
                    <m:r>
                      <m:rPr>
                        <m:nor/>
                      </m:rPr>
                      <a:rPr lang="en-IN" sz="2400" i="1">
                        <a:solidFill>
                          <a:srgbClr val="111827"/>
                        </a:solidFill>
                        <a:latin typeface="Cambria Math" panose="02040503050406030204" pitchFamily="18" charset="0"/>
                      </a:rPr>
                      <m:t> 𝑠𝑝𝑒𝑐𝑖𝑎𝑙 𝑜𝑛𝑒𝑠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Identity: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𝑚</m:t>
                        </m:r>
                      </m:sup>
                      <m:e>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𝑘</m:t>
                                    </m:r>
                                  </m:den>
                                </m:f>
                              </m:e>
                            </m:d>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subtract the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term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get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probability: weight each case by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𝑑𝑖𝑒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add.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$\frac{\binom mk}{\binom Nk}=P(\text{first }k\text{ items of a random order are all of the }m\text{ special ones})$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Identity: </a:t>
                </a:r>
                <a:r>
                  <a:rPr lang="en-IN" sz="2400">
                    <a:solidFill>
                      <a:srgbClr val="111827"/>
                    </a:solidFill>
                    <a:latin typeface="Cambria Math" panose="02040503050406030204" pitchFamily="18" charset="0"/>
                  </a:rPr>
                  <a:t>$\sum_{k=0}^{m}\frac{\binom mk}{\binom Nk}=\frac{N+1}{N-m+1}$</a:t>
                </a:r>
                <a:r>
                  <a:rPr sz="2400" b="0">
                    <a:solidFill>
                      <a:srgbClr val="111827"/>
                    </a:solidFill>
                    <a:latin typeface="Arial"/>
                  </a:rPr>
                  <a:t> (here </a:t>
                </a:r>
                <a:r>
                  <a:rPr lang="en-IN" sz="2400">
                    <a:solidFill>
                      <a:srgbClr val="111827"/>
                    </a:solidFill>
                    <a:latin typeface="Cambria Math" panose="02040503050406030204" pitchFamily="18" charset="0"/>
                  </a:rPr>
                  <a:t>$\frac{11}{5}$</a:t>
                </a:r>
                <a:r>
                  <a:rPr sz="2400" b="0">
                    <a:solidFill>
                      <a:srgbClr val="111827"/>
                    </a:solidFill>
                    <a:latin typeface="Arial"/>
                  </a:rPr>
                  <a:t>; subtract the </a:t>
                </a:r>
                <a:r>
                  <a:rPr lang="en-IN" sz="2400">
                    <a:solidFill>
                      <a:srgbClr val="111827"/>
                    </a:solidFill>
                    <a:latin typeface="Cambria Math" panose="02040503050406030204" pitchFamily="18" charset="0"/>
                  </a:rPr>
                  <a:t>$k=0$</a:t>
                </a:r>
                <a:r>
                  <a:rPr sz="2400" b="0">
                    <a:solidFill>
                      <a:srgbClr val="111827"/>
                    </a:solidFill>
                    <a:latin typeface="Arial"/>
                  </a:rPr>
                  <a:t> term </a:t>
                </a:r>
                <a:r>
                  <a:rPr lang="en-IN" sz="2400">
                    <a:solidFill>
                      <a:srgbClr val="111827"/>
                    </a:solidFill>
                    <a:latin typeface="Cambria Math" panose="02040503050406030204" pitchFamily="18" charset="0"/>
                  </a:rPr>
                  <a:t>$1$</a:t>
                </a:r>
                <a:r>
                  <a:rPr sz="2400" b="0">
                    <a:solidFill>
                      <a:srgbClr val="111827"/>
                    </a:solidFill>
                    <a:latin typeface="Arial"/>
                  </a:rPr>
                  <a:t> to get </a:t>
                </a:r>
                <a:r>
                  <a:rPr lang="en-IN" sz="2400">
                    <a:solidFill>
                      <a:srgbClr val="111827"/>
                    </a:solidFill>
                    <a:latin typeface="Cambria Math" panose="02040503050406030204" pitchFamily="18" charset="0"/>
                  </a:rPr>
                  <a:t>$\frac65$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probability: weight each case by </a:t>
                </a:r>
                <a:r>
                  <a:rPr lang="en-IN" sz="2400">
                    <a:solidFill>
                      <a:srgbClr val="111827"/>
                    </a:solidFill>
                    <a:latin typeface="Cambria Math" panose="02040503050406030204" pitchFamily="18" charset="0"/>
                  </a:rPr>
                  <a:t>$P(\text{die}=k)$</a:t>
                </a:r>
                <a:r>
                  <a:rPr sz="2400" b="0">
                    <a:solidFill>
                      <a:srgbClr val="111827"/>
                    </a:solidFill>
                    <a:latin typeface="Arial"/>
                  </a:rPr>
                  <a:t> and add.</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1.60</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9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10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1 question</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20 questions, 80 marks.  Index = Σ(marks × level) ÷ Σ marks, on the 0-5 scale.</a:t>
            </a:r>
            <a:endParaRPr sz="2400">
              <a:solidFill>
                <a:srgbClr val="111827"/>
              </a:solidFill>
            </a:endParaR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QB 01 Algebra 12</a:t>
                      </a:r>
                    </a:p>
                  </a:txBody>
                  <a:tcPr anchor="ctr" marL="137160" marR="137160">
                    <a:solidFill>
                      <a:srgbClr val="E0ECFF"/>
                    </a:solidFill>
                  </a:tcPr>
                </a:tc>
                <a:tc>
                  <a:txBody>
                    <a:bodyPr/>
                    <a:lstStyle/>
                    <a:p>
                      <a:pPr algn="ctr"/>
                      <a:r>
                        <a:rPr sz="2600" b="1">
                          <a:solidFill>
                            <a:srgbClr val="0B1F3A"/>
                          </a:solidFill>
                          <a:latin typeface="Arial"/>
                        </a:rPr>
                        <a:t>1.60</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