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 id="617" r:id="rId369"/>
    <p:sldId id="618" r:id="rId370"/>
    <p:sldId id="619" r:id="rId371"/>
    <p:sldId id="620" r:id="rId372"/>
    <p:sldId id="621" r:id="rId373"/>
    <p:sldId id="622" r:id="rId374"/>
    <p:sldId id="623" r:id="rId375"/>
    <p:sldId id="624" r:id="rId376"/>
    <p:sldId id="625" r:id="rId377"/>
    <p:sldId id="626" r:id="rId378"/>
    <p:sldId id="627" r:id="rId379"/>
    <p:sldId id="628" r:id="rId380"/>
    <p:sldId id="629" r:id="rId381"/>
    <p:sldId id="630" r:id="rId382"/>
    <p:sldId id="631" r:id="rId383"/>
    <p:sldId id="632" r:id="rId384"/>
    <p:sldId id="633" r:id="rId385"/>
    <p:sldId id="634" r:id="rId386"/>
    <p:sldId id="635" r:id="rId387"/>
    <p:sldId id="636" r:id="rId388"/>
    <p:sldId id="637" r:id="rId389"/>
    <p:sldId id="638" r:id="rId390"/>
    <p:sldId id="639" r:id="rId39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 Id="rId369" Type="http://schemas.openxmlformats.org/officeDocument/2006/relationships/slide" Target="slides/slide362.xml"/><Relationship Id="rId370" Type="http://schemas.openxmlformats.org/officeDocument/2006/relationships/slide" Target="slides/slide363.xml"/><Relationship Id="rId371" Type="http://schemas.openxmlformats.org/officeDocument/2006/relationships/slide" Target="slides/slide364.xml"/><Relationship Id="rId372" Type="http://schemas.openxmlformats.org/officeDocument/2006/relationships/slide" Target="slides/slide365.xml"/><Relationship Id="rId373" Type="http://schemas.openxmlformats.org/officeDocument/2006/relationships/slide" Target="slides/slide366.xml"/><Relationship Id="rId374" Type="http://schemas.openxmlformats.org/officeDocument/2006/relationships/slide" Target="slides/slide367.xml"/><Relationship Id="rId375" Type="http://schemas.openxmlformats.org/officeDocument/2006/relationships/slide" Target="slides/slide368.xml"/><Relationship Id="rId376" Type="http://schemas.openxmlformats.org/officeDocument/2006/relationships/slide" Target="slides/slide369.xml"/><Relationship Id="rId377" Type="http://schemas.openxmlformats.org/officeDocument/2006/relationships/slide" Target="slides/slide370.xml"/><Relationship Id="rId378" Type="http://schemas.openxmlformats.org/officeDocument/2006/relationships/slide" Target="slides/slide371.xml"/><Relationship Id="rId379" Type="http://schemas.openxmlformats.org/officeDocument/2006/relationships/slide" Target="slides/slide372.xml"/><Relationship Id="rId380" Type="http://schemas.openxmlformats.org/officeDocument/2006/relationships/slide" Target="slides/slide373.xml"/><Relationship Id="rId381" Type="http://schemas.openxmlformats.org/officeDocument/2006/relationships/slide" Target="slides/slide374.xml"/><Relationship Id="rId382" Type="http://schemas.openxmlformats.org/officeDocument/2006/relationships/slide" Target="slides/slide375.xml"/><Relationship Id="rId383" Type="http://schemas.openxmlformats.org/officeDocument/2006/relationships/slide" Target="slides/slide376.xml"/><Relationship Id="rId384" Type="http://schemas.openxmlformats.org/officeDocument/2006/relationships/slide" Target="slides/slide377.xml"/><Relationship Id="rId385" Type="http://schemas.openxmlformats.org/officeDocument/2006/relationships/slide" Target="slides/slide378.xml"/><Relationship Id="rId386" Type="http://schemas.openxmlformats.org/officeDocument/2006/relationships/slide" Target="slides/slide379.xml"/><Relationship Id="rId387" Type="http://schemas.openxmlformats.org/officeDocument/2006/relationships/slide" Target="slides/slide380.xml"/><Relationship Id="rId388" Type="http://schemas.openxmlformats.org/officeDocument/2006/relationships/slide" Target="slides/slide381.xml"/><Relationship Id="rId389" Type="http://schemas.openxmlformats.org/officeDocument/2006/relationships/slide" Target="slides/slide382.xml"/><Relationship Id="rId390" Type="http://schemas.openxmlformats.org/officeDocument/2006/relationships/slide" Target="slides/slide383.xml"/><Relationship Id="rId391" Type="http://schemas.openxmlformats.org/officeDocument/2006/relationships/slide" Target="slides/slide38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B6D7A8"/>
              </a:solidFill>
              <a:ln w="9525">
                <a:solidFill>
                  <a:srgbClr val="111827"/>
                </a:solidFill>
              </a:ln>
            </c:spPr>
          </c:dPt>
          <c:dPt>
            <c:idx val="1"/>
            <c:spPr>
              <a:solidFill>
                <a:srgbClr val="FFD966"/>
              </a:solidFill>
              <a:ln w="9525">
                <a:solidFill>
                  <a:srgbClr val="111827"/>
                </a:solidFill>
              </a:ln>
            </c:spPr>
          </c:dPt>
          <c:dPt>
            <c:idx val="2"/>
            <c:spPr>
              <a:solidFill>
                <a:srgbClr val="FFD966"/>
              </a:solidFill>
              <a:ln w="9525">
                <a:solidFill>
                  <a:srgbClr val="111827"/>
                </a:solidFill>
              </a:ln>
            </c:spPr>
          </c:dPt>
          <c:dPt>
            <c:idx val="3"/>
            <c:spPr>
              <a:solidFill>
                <a:srgbClr val="B6D7A8"/>
              </a:solidFill>
              <a:ln w="9525">
                <a:solidFill>
                  <a:srgbClr val="111827"/>
                </a:solidFill>
              </a:ln>
            </c:spPr>
          </c:dPt>
          <c:dPt>
            <c:idx val="4"/>
            <c:spPr>
              <a:solidFill>
                <a:srgbClr val="FFD966"/>
              </a:solidFill>
              <a:ln w="9525">
                <a:solidFill>
                  <a:srgbClr val="111827"/>
                </a:solidFill>
              </a:ln>
            </c:spPr>
          </c:dPt>
          <c:dPt>
            <c:idx val="5"/>
            <c:spPr>
              <a:solidFill>
                <a:srgbClr val="B6D7A8"/>
              </a:solidFill>
              <a:ln w="9525">
                <a:solidFill>
                  <a:srgbClr val="111827"/>
                </a:solidFill>
              </a:ln>
            </c:spPr>
          </c:dPt>
          <c:dPt>
            <c:idx val="6"/>
            <c:spPr>
              <a:solidFill>
                <a:srgbClr val="FFD966"/>
              </a:solidFill>
              <a:ln w="9525">
                <a:solidFill>
                  <a:srgbClr val="111827"/>
                </a:solidFill>
              </a:ln>
            </c:spPr>
          </c:dPt>
          <c:dPt>
            <c:idx val="7"/>
            <c:spPr>
              <a:solidFill>
                <a:srgbClr val="FFD966"/>
              </a:solidFill>
              <a:ln w="9525">
                <a:solidFill>
                  <a:srgbClr val="111827"/>
                </a:solidFill>
              </a:ln>
            </c:spPr>
          </c:dPt>
          <c:dPt>
            <c:idx val="8"/>
            <c:spPr>
              <a:solidFill>
                <a:srgbClr val="B6D7A8"/>
              </a:solidFill>
              <a:ln w="9525">
                <a:solidFill>
                  <a:srgbClr val="111827"/>
                </a:solidFill>
              </a:ln>
            </c:spPr>
          </c:dPt>
          <c:dPt>
            <c:idx val="9"/>
            <c:spPr>
              <a:solidFill>
                <a:srgbClr val="FFD966"/>
              </a:solidFill>
              <a:ln w="9525">
                <a:solidFill>
                  <a:srgbClr val="111827"/>
                </a:solidFill>
              </a:ln>
            </c:spPr>
          </c:dPt>
          <c:dPt>
            <c:idx val="10"/>
            <c:spPr>
              <a:solidFill>
                <a:srgbClr val="B6D7A8"/>
              </a:solidFill>
              <a:ln w="9525">
                <a:solidFill>
                  <a:srgbClr val="111827"/>
                </a:solidFill>
              </a:ln>
            </c:spPr>
          </c:dPt>
          <c:dPt>
            <c:idx val="11"/>
            <c:spPr>
              <a:solidFill>
                <a:srgbClr val="F6B26B"/>
              </a:solidFill>
              <a:ln w="9525">
                <a:solidFill>
                  <a:srgbClr val="111827"/>
                </a:solidFill>
              </a:ln>
            </c:spPr>
          </c:dPt>
          <c:dPt>
            <c:idx val="12"/>
            <c:spPr>
              <a:solidFill>
                <a:srgbClr val="FFD966"/>
              </a:solidFill>
              <a:ln w="9525">
                <a:solidFill>
                  <a:srgbClr val="111827"/>
                </a:solidFill>
              </a:ln>
            </c:spPr>
          </c:dPt>
          <c:dPt>
            <c:idx val="13"/>
            <c:spPr>
              <a:solidFill>
                <a:srgbClr val="B6D7A8"/>
              </a:solidFill>
              <a:ln w="9525">
                <a:solidFill>
                  <a:srgbClr val="111827"/>
                </a:solidFill>
              </a:ln>
            </c:spPr>
          </c:dPt>
          <c:dPt>
            <c:idx val="14"/>
            <c:spPr>
              <a:solidFill>
                <a:srgbClr val="FFD966"/>
              </a:solidFill>
              <a:ln w="9525">
                <a:solidFill>
                  <a:srgbClr val="111827"/>
                </a:solidFill>
              </a:ln>
            </c:spPr>
          </c:dPt>
          <c:dPt>
            <c:idx val="15"/>
            <c:spPr>
              <a:solidFill>
                <a:srgbClr val="FFD966"/>
              </a:solidFill>
              <a:ln w="9525">
                <a:solidFill>
                  <a:srgbClr val="111827"/>
                </a:solidFill>
              </a:ln>
            </c:spPr>
          </c:dPt>
          <c:dPt>
            <c:idx val="16"/>
            <c:spPr>
              <a:solidFill>
                <a:srgbClr val="B6D7A8"/>
              </a:solidFill>
              <a:ln w="9525">
                <a:solidFill>
                  <a:srgbClr val="111827"/>
                </a:solidFill>
              </a:ln>
            </c:spPr>
          </c:dPt>
          <c:dPt>
            <c:idx val="17"/>
            <c:spPr>
              <a:solidFill>
                <a:srgbClr val="FFD966"/>
              </a:solidFill>
              <a:ln w="9525">
                <a:solidFill>
                  <a:srgbClr val="111827"/>
                </a:solidFill>
              </a:ln>
            </c:spPr>
          </c:dPt>
          <c:dPt>
            <c:idx val="18"/>
            <c:spPr>
              <a:solidFill>
                <a:srgbClr val="F6B26B"/>
              </a:solidFill>
              <a:ln w="9525">
                <a:solidFill>
                  <a:srgbClr val="111827"/>
                </a:solidFill>
              </a:ln>
            </c:spPr>
          </c:dPt>
          <c:dPt>
            <c:idx val="19"/>
            <c:spPr>
              <a:solidFill>
                <a:srgbClr val="FFD966"/>
              </a:solidFill>
              <a:ln w="9525">
                <a:solidFill>
                  <a:srgbClr val="111827"/>
                </a:solidFill>
              </a:ln>
            </c:spPr>
          </c:dPt>
          <c:dPt>
            <c:idx val="20"/>
            <c:spPr>
              <a:solidFill>
                <a:srgbClr val="FFD966"/>
              </a:solidFill>
              <a:ln w="9525">
                <a:solidFill>
                  <a:srgbClr val="111827"/>
                </a:solidFill>
              </a:ln>
            </c:spPr>
          </c:dPt>
          <c:dPt>
            <c:idx val="21"/>
            <c:spPr>
              <a:solidFill>
                <a:srgbClr val="B6D7A8"/>
              </a:solidFill>
              <a:ln w="9525">
                <a:solidFill>
                  <a:srgbClr val="111827"/>
                </a:solidFill>
              </a:ln>
            </c:spPr>
          </c:dPt>
          <c:dPt>
            <c:idx val="22"/>
            <c:spPr>
              <a:solidFill>
                <a:srgbClr val="FFD966"/>
              </a:solidFill>
              <a:ln w="9525">
                <a:solidFill>
                  <a:srgbClr val="111827"/>
                </a:solidFill>
              </a:ln>
            </c:spPr>
          </c:dPt>
          <c:dPt>
            <c:idx val="23"/>
            <c:spPr>
              <a:solidFill>
                <a:srgbClr val="F6B26B"/>
              </a:solidFill>
              <a:ln w="9525">
                <a:solidFill>
                  <a:srgbClr val="111827"/>
                </a:solidFill>
              </a:ln>
            </c:spPr>
          </c:dPt>
          <c:dPt>
            <c:idx val="24"/>
            <c:spPr>
              <a:solidFill>
                <a:srgbClr val="B6D7A8"/>
              </a:solidFill>
              <a:ln w="9525">
                <a:solidFill>
                  <a:srgbClr val="111827"/>
                </a:solidFill>
              </a:ln>
            </c:spPr>
          </c:dPt>
          <c:dPt>
            <c:idx val="25"/>
            <c:spPr>
              <a:solidFill>
                <a:srgbClr val="FFD966"/>
              </a:solidFill>
              <a:ln w="9525">
                <a:solidFill>
                  <a:srgbClr val="111827"/>
                </a:solidFill>
              </a:ln>
            </c:spPr>
          </c:dPt>
          <c:dPt>
            <c:idx val="26"/>
            <c:spPr>
              <a:solidFill>
                <a:srgbClr val="B6D7A8"/>
              </a:solidFill>
              <a:ln w="9525">
                <a:solidFill>
                  <a:srgbClr val="111827"/>
                </a:solidFill>
              </a:ln>
            </c:spPr>
          </c:dPt>
          <c:dPt>
            <c:idx val="27"/>
            <c:spPr>
              <a:solidFill>
                <a:srgbClr val="F6B26B"/>
              </a:solidFill>
              <a:ln w="9525">
                <a:solidFill>
                  <a:srgbClr val="111827"/>
                </a:solidFill>
              </a:ln>
            </c:spPr>
          </c:dPt>
          <c:dPt>
            <c:idx val="28"/>
            <c:spPr>
              <a:solidFill>
                <a:srgbClr val="FFD966"/>
              </a:solidFill>
              <a:ln w="9525">
                <a:solidFill>
                  <a:srgbClr val="111827"/>
                </a:solidFill>
              </a:ln>
            </c:spPr>
          </c:dPt>
          <c:dPt>
            <c:idx val="29"/>
            <c:spPr>
              <a:solidFill>
                <a:srgbClr val="FFD966"/>
              </a:solidFill>
              <a:ln w="9525">
                <a:solidFill>
                  <a:srgbClr val="111827"/>
                </a:solidFill>
              </a:ln>
            </c:spPr>
          </c:dPt>
          <c:dPt>
            <c:idx val="30"/>
            <c:spPr>
              <a:solidFill>
                <a:srgbClr val="F6B26B"/>
              </a:solidFill>
              <a:ln w="9525">
                <a:solidFill>
                  <a:srgbClr val="111827"/>
                </a:solidFill>
              </a:ln>
            </c:spPr>
          </c:dPt>
          <c:dPt>
            <c:idx val="31"/>
            <c:spPr>
              <a:solidFill>
                <a:srgbClr val="B6D7A8"/>
              </a:solidFill>
              <a:ln w="9525">
                <a:solidFill>
                  <a:srgbClr val="111827"/>
                </a:solidFill>
              </a:ln>
            </c:spPr>
          </c:dPt>
          <c:dPt>
            <c:idx val="32"/>
            <c:spPr>
              <a:solidFill>
                <a:srgbClr val="FFD966"/>
              </a:solidFill>
              <a:ln w="9525">
                <a:solidFill>
                  <a:srgbClr val="111827"/>
                </a:solidFill>
              </a:ln>
            </c:spPr>
          </c:dPt>
          <c:dPt>
            <c:idx val="33"/>
            <c:spPr>
              <a:solidFill>
                <a:srgbClr val="FFD966"/>
              </a:solidFill>
              <a:ln w="9525">
                <a:solidFill>
                  <a:srgbClr val="111827"/>
                </a:solidFill>
              </a:ln>
            </c:spPr>
          </c:dPt>
          <c:dPt>
            <c:idx val="34"/>
            <c:spPr>
              <a:solidFill>
                <a:srgbClr val="FFD966"/>
              </a:solidFill>
              <a:ln w="9525">
                <a:solidFill>
                  <a:srgbClr val="111827"/>
                </a:solidFill>
              </a:ln>
            </c:spPr>
          </c:dPt>
          <c:dPt>
            <c:idx val="35"/>
            <c:spPr>
              <a:solidFill>
                <a:srgbClr val="FFD966"/>
              </a:solidFill>
              <a:ln w="9525">
                <a:solidFill>
                  <a:srgbClr val="111827"/>
                </a:solidFill>
              </a:ln>
            </c:spPr>
          </c:dPt>
          <c:dPt>
            <c:idx val="36"/>
            <c:spPr>
              <a:solidFill>
                <a:srgbClr val="B6D7A8"/>
              </a:solidFill>
              <a:ln w="9525">
                <a:solidFill>
                  <a:srgbClr val="111827"/>
                </a:solidFill>
              </a:ln>
            </c:spPr>
          </c:dPt>
          <c:dPt>
            <c:idx val="37"/>
            <c:spPr>
              <a:solidFill>
                <a:srgbClr val="FFD966"/>
              </a:solidFill>
              <a:ln w="9525">
                <a:solidFill>
                  <a:srgbClr val="111827"/>
                </a:solidFill>
              </a:ln>
            </c:spPr>
          </c:dPt>
          <c:dPt>
            <c:idx val="38"/>
            <c:spPr>
              <a:solidFill>
                <a:srgbClr val="B6D7A8"/>
              </a:solidFill>
              <a:ln w="9525">
                <a:solidFill>
                  <a:srgbClr val="111827"/>
                </a:solidFill>
              </a:ln>
            </c:spPr>
          </c:dPt>
          <c:dPt>
            <c:idx val="39"/>
            <c:spPr>
              <a:solidFill>
                <a:srgbClr val="B6D7A8"/>
              </a:solidFill>
              <a:ln w="9525">
                <a:solidFill>
                  <a:srgbClr val="111827"/>
                </a:solidFill>
              </a:ln>
            </c:spPr>
          </c:dPt>
          <c:dPt>
            <c:idx val="40"/>
            <c:spPr>
              <a:solidFill>
                <a:srgbClr val="FFD966"/>
              </a:solidFill>
              <a:ln w="9525">
                <a:solidFill>
                  <a:srgbClr val="111827"/>
                </a:solidFill>
              </a:ln>
            </c:spPr>
          </c:dPt>
          <c:dPt>
            <c:idx val="41"/>
            <c:spPr>
              <a:solidFill>
                <a:srgbClr val="B6D7A8"/>
              </a:solidFill>
              <a:ln w="9525">
                <a:solidFill>
                  <a:srgbClr val="111827"/>
                </a:solidFill>
              </a:ln>
            </c:spPr>
          </c:dPt>
          <c:dPt>
            <c:idx val="42"/>
            <c:spPr>
              <a:solidFill>
                <a:srgbClr val="B6D7A8"/>
              </a:solidFill>
              <a:ln w="9525">
                <a:solidFill>
                  <a:srgbClr val="111827"/>
                </a:solidFill>
              </a:ln>
            </c:spPr>
          </c:dPt>
          <c:dPt>
            <c:idx val="43"/>
            <c:spPr>
              <a:solidFill>
                <a:srgbClr val="FFD966"/>
              </a:solidFill>
              <a:ln w="9525">
                <a:solidFill>
                  <a:srgbClr val="111827"/>
                </a:solidFill>
              </a:ln>
            </c:spPr>
          </c:dPt>
          <c:dPt>
            <c:idx val="44"/>
            <c:spPr>
              <a:solidFill>
                <a:srgbClr val="FFD966"/>
              </a:solidFill>
              <a:ln w="9525">
                <a:solidFill>
                  <a:srgbClr val="111827"/>
                </a:solidFill>
              </a:ln>
            </c:spPr>
          </c:dPt>
          <c:dPt>
            <c:idx val="45"/>
            <c:spPr>
              <a:solidFill>
                <a:srgbClr val="F6B26B"/>
              </a:solidFill>
              <a:ln w="9525">
                <a:solidFill>
                  <a:srgbClr val="111827"/>
                </a:solidFill>
              </a:ln>
            </c:spPr>
          </c:dPt>
          <c:dPt>
            <c:idx val="46"/>
            <c:spPr>
              <a:solidFill>
                <a:srgbClr val="B6D7A8"/>
              </a:solidFill>
              <a:ln w="9525">
                <a:solidFill>
                  <a:srgbClr val="111827"/>
                </a:solidFill>
              </a:ln>
            </c:spPr>
          </c:dPt>
          <c:dPt>
            <c:idx val="47"/>
            <c:spPr>
              <a:solidFill>
                <a:srgbClr val="FFD966"/>
              </a:solidFill>
              <a:ln w="9525">
                <a:solidFill>
                  <a:srgbClr val="111827"/>
                </a:solidFill>
              </a:ln>
            </c:spPr>
          </c:dPt>
          <c:dPt>
            <c:idx val="48"/>
            <c:spPr>
              <a:solidFill>
                <a:srgbClr val="B6D7A8"/>
              </a:solidFill>
              <a:ln w="9525">
                <a:solidFill>
                  <a:srgbClr val="111827"/>
                </a:solidFill>
              </a:ln>
            </c:spPr>
          </c:dPt>
          <c:dPt>
            <c:idx val="49"/>
            <c:spPr>
              <a:solidFill>
                <a:srgbClr val="FFD966"/>
              </a:solidFill>
              <a:ln w="9525">
                <a:solidFill>
                  <a:srgbClr val="111827"/>
                </a:solidFill>
              </a:ln>
            </c:spPr>
          </c:dPt>
          <c:dPt>
            <c:idx val="50"/>
            <c:spPr>
              <a:solidFill>
                <a:srgbClr val="F6B26B"/>
              </a:solidFill>
              <a:ln w="9525">
                <a:solidFill>
                  <a:srgbClr val="111827"/>
                </a:solidFill>
              </a:ln>
            </c:spPr>
          </c:dPt>
          <c:dPt>
            <c:idx val="51"/>
            <c:spPr>
              <a:solidFill>
                <a:srgbClr val="B6D7A8"/>
              </a:solidFill>
              <a:ln w="9525">
                <a:solidFill>
                  <a:srgbClr val="111827"/>
                </a:solidFill>
              </a:ln>
            </c:spPr>
          </c:dPt>
          <c:dPt>
            <c:idx val="52"/>
            <c:spPr>
              <a:solidFill>
                <a:srgbClr val="FFD966"/>
              </a:solidFill>
              <a:ln w="9525">
                <a:solidFill>
                  <a:srgbClr val="111827"/>
                </a:solidFill>
              </a:ln>
            </c:spPr>
          </c:dPt>
          <c:dPt>
            <c:idx val="53"/>
            <c:spPr>
              <a:solidFill>
                <a:srgbClr val="FFD966"/>
              </a:solidFill>
              <a:ln w="9525">
                <a:solidFill>
                  <a:srgbClr val="111827"/>
                </a:solidFill>
              </a:ln>
            </c:spPr>
          </c:dPt>
          <c:dPt>
            <c:idx val="54"/>
            <c:spPr>
              <a:solidFill>
                <a:srgbClr val="B6D7A8"/>
              </a:solidFill>
              <a:ln w="9525">
                <a:solidFill>
                  <a:srgbClr val="111827"/>
                </a:solidFill>
              </a:ln>
            </c:spPr>
          </c:dPt>
          <c:dPt>
            <c:idx val="55"/>
            <c:spPr>
              <a:solidFill>
                <a:srgbClr val="FFD966"/>
              </a:solidFill>
              <a:ln w="9525">
                <a:solidFill>
                  <a:srgbClr val="111827"/>
                </a:solidFill>
              </a:ln>
            </c:spPr>
          </c:dPt>
          <c:dPt>
            <c:idx val="56"/>
            <c:spPr>
              <a:solidFill>
                <a:srgbClr val="F6B26B"/>
              </a:solidFill>
              <a:ln w="9525">
                <a:solidFill>
                  <a:srgbClr val="111827"/>
                </a:solidFill>
              </a:ln>
            </c:spPr>
          </c:dPt>
          <c:dPt>
            <c:idx val="57"/>
            <c:spPr>
              <a:solidFill>
                <a:srgbClr val="F6B26B"/>
              </a:solidFill>
              <a:ln w="9525">
                <a:solidFill>
                  <a:srgbClr val="111827"/>
                </a:solidFill>
              </a:ln>
            </c:spPr>
          </c:dPt>
          <c:dPt>
            <c:idx val="58"/>
            <c:spPr>
              <a:solidFill>
                <a:srgbClr val="FFD966"/>
              </a:solidFill>
              <a:ln w="9525">
                <a:solidFill>
                  <a:srgbClr val="111827"/>
                </a:solidFill>
              </a:ln>
            </c:spPr>
          </c:dPt>
          <c:dPt>
            <c:idx val="59"/>
            <c:spPr>
              <a:solidFill>
                <a:srgbClr val="E88080"/>
              </a:solidFill>
              <a:ln w="9525">
                <a:solidFill>
                  <a:srgbClr val="111827"/>
                </a:solidFill>
              </a:ln>
            </c:spPr>
          </c:dPt>
          <c:dPt>
            <c:idx val="60"/>
            <c:spPr>
              <a:solidFill>
                <a:srgbClr val="B6D7A8"/>
              </a:solidFill>
              <a:ln w="9525">
                <a:solidFill>
                  <a:srgbClr val="111827"/>
                </a:solidFill>
              </a:ln>
            </c:spPr>
          </c:dPt>
          <c:dPt>
            <c:idx val="61"/>
            <c:spPr>
              <a:solidFill>
                <a:srgbClr val="FFD966"/>
              </a:solidFill>
              <a:ln w="9525">
                <a:solidFill>
                  <a:srgbClr val="111827"/>
                </a:solidFill>
              </a:ln>
            </c:spPr>
          </c:dPt>
          <c:dPt>
            <c:idx val="62"/>
            <c:spPr>
              <a:solidFill>
                <a:srgbClr val="FFD966"/>
              </a:solidFill>
              <a:ln w="9525">
                <a:solidFill>
                  <a:srgbClr val="111827"/>
                </a:solidFill>
              </a:ln>
            </c:spPr>
          </c:dPt>
          <c:dPt>
            <c:idx val="63"/>
            <c:spPr>
              <a:solidFill>
                <a:srgbClr val="FFD966"/>
              </a:solidFill>
              <a:ln w="9525">
                <a:solidFill>
                  <a:srgbClr val="111827"/>
                </a:solidFill>
              </a:ln>
            </c:spPr>
          </c:dPt>
          <c:dPt>
            <c:idx val="64"/>
            <c:spPr>
              <a:solidFill>
                <a:srgbClr val="B6D7A8"/>
              </a:solidFill>
              <a:ln w="9525">
                <a:solidFill>
                  <a:srgbClr val="111827"/>
                </a:solidFill>
              </a:ln>
            </c:spPr>
          </c:dPt>
          <c:dPt>
            <c:idx val="65"/>
            <c:spPr>
              <a:solidFill>
                <a:srgbClr val="F6B26B"/>
              </a:solidFill>
              <a:ln w="9525">
                <a:solidFill>
                  <a:srgbClr val="111827"/>
                </a:solidFill>
              </a:ln>
            </c:spPr>
          </c:dPt>
          <c:dPt>
            <c:idx val="66"/>
            <c:spPr>
              <a:solidFill>
                <a:srgbClr val="FFD966"/>
              </a:solidFill>
              <a:ln w="9525">
                <a:solidFill>
                  <a:srgbClr val="111827"/>
                </a:solidFill>
              </a:ln>
            </c:spPr>
          </c:dPt>
          <c:dPt>
            <c:idx val="67"/>
            <c:spPr>
              <a:solidFill>
                <a:srgbClr val="F6B26B"/>
              </a:solidFill>
              <a:ln w="9525">
                <a:solidFill>
                  <a:srgbClr val="111827"/>
                </a:solidFill>
              </a:ln>
            </c:spPr>
          </c:dPt>
          <c:dPt>
            <c:idx val="68"/>
            <c:spPr>
              <a:solidFill>
                <a:srgbClr val="FFD966"/>
              </a:solidFill>
              <a:ln w="9525">
                <a:solidFill>
                  <a:srgbClr val="111827"/>
                </a:solidFill>
              </a:ln>
            </c:spPr>
          </c:dPt>
          <c:dPt>
            <c:idx val="69"/>
            <c:spPr>
              <a:solidFill>
                <a:srgbClr val="E88080"/>
              </a:solidFill>
              <a:ln w="9525">
                <a:solidFill>
                  <a:srgbClr val="111827"/>
                </a:solidFill>
              </a:ln>
            </c:spPr>
          </c:dPt>
          <c:dPt>
            <c:idx val="70"/>
            <c:spPr>
              <a:solidFill>
                <a:srgbClr val="FFD966"/>
              </a:solidFill>
              <a:ln w="9525">
                <a:solidFill>
                  <a:srgbClr val="111827"/>
                </a:solidFill>
              </a:ln>
            </c:spPr>
          </c:dPt>
          <c:dPt>
            <c:idx val="71"/>
            <c:spPr>
              <a:solidFill>
                <a:srgbClr val="F6B26B"/>
              </a:solidFill>
              <a:ln w="9525">
                <a:solidFill>
                  <a:srgbClr val="111827"/>
                </a:solidFill>
              </a:ln>
            </c:spPr>
          </c:dPt>
          <c:dPt>
            <c:idx val="72"/>
            <c:spPr>
              <a:solidFill>
                <a:srgbClr val="B6D7A8"/>
              </a:solidFill>
              <a:ln w="9525">
                <a:solidFill>
                  <a:srgbClr val="111827"/>
                </a:solidFill>
              </a:ln>
            </c:spPr>
          </c:dPt>
          <c:cat>
            <c:strRef>
              <c:f>Sheet1!$A$2:$A$74</c:f>
              <c:strCache>
                <c:ptCount val="73"/>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pt idx="20">
                  <c:v>Q21</c:v>
                </c:pt>
                <c:pt idx="21">
                  <c:v>Q22</c:v>
                </c:pt>
                <c:pt idx="22">
                  <c:v>Q23</c:v>
                </c:pt>
                <c:pt idx="23">
                  <c:v>Q24</c:v>
                </c:pt>
                <c:pt idx="24">
                  <c:v>Q25</c:v>
                </c:pt>
                <c:pt idx="25">
                  <c:v>Q26</c:v>
                </c:pt>
                <c:pt idx="26">
                  <c:v>Q27</c:v>
                </c:pt>
                <c:pt idx="27">
                  <c:v>Q28</c:v>
                </c:pt>
                <c:pt idx="28">
                  <c:v>Q29</c:v>
                </c:pt>
                <c:pt idx="29">
                  <c:v>Q30</c:v>
                </c:pt>
                <c:pt idx="30">
                  <c:v>Q31</c:v>
                </c:pt>
                <c:pt idx="31">
                  <c:v>Q32</c:v>
                </c:pt>
                <c:pt idx="32">
                  <c:v>Q33</c:v>
                </c:pt>
                <c:pt idx="33">
                  <c:v>Q34</c:v>
                </c:pt>
                <c:pt idx="34">
                  <c:v>Q35</c:v>
                </c:pt>
                <c:pt idx="35">
                  <c:v>Q36</c:v>
                </c:pt>
                <c:pt idx="36">
                  <c:v>Q37</c:v>
                </c:pt>
                <c:pt idx="37">
                  <c:v>Q38</c:v>
                </c:pt>
                <c:pt idx="38">
                  <c:v>Q39</c:v>
                </c:pt>
                <c:pt idx="39">
                  <c:v>Q40</c:v>
                </c:pt>
                <c:pt idx="40">
                  <c:v>Q41</c:v>
                </c:pt>
                <c:pt idx="41">
                  <c:v>Q42</c:v>
                </c:pt>
                <c:pt idx="42">
                  <c:v>Q43</c:v>
                </c:pt>
                <c:pt idx="43">
                  <c:v>Q44</c:v>
                </c:pt>
                <c:pt idx="44">
                  <c:v>Q45</c:v>
                </c:pt>
                <c:pt idx="45">
                  <c:v>Q46</c:v>
                </c:pt>
                <c:pt idx="46">
                  <c:v>Q47</c:v>
                </c:pt>
                <c:pt idx="47">
                  <c:v>Q48</c:v>
                </c:pt>
                <c:pt idx="48">
                  <c:v>Q49</c:v>
                </c:pt>
                <c:pt idx="49">
                  <c:v>Q50</c:v>
                </c:pt>
                <c:pt idx="50">
                  <c:v>Q51</c:v>
                </c:pt>
                <c:pt idx="51">
                  <c:v>Q52</c:v>
                </c:pt>
                <c:pt idx="52">
                  <c:v>Q53</c:v>
                </c:pt>
                <c:pt idx="53">
                  <c:v>Q54</c:v>
                </c:pt>
                <c:pt idx="54">
                  <c:v>Q55</c:v>
                </c:pt>
                <c:pt idx="55">
                  <c:v>Q56</c:v>
                </c:pt>
                <c:pt idx="56">
                  <c:v>Q57</c:v>
                </c:pt>
                <c:pt idx="57">
                  <c:v>Q58</c:v>
                </c:pt>
                <c:pt idx="58">
                  <c:v>Q59</c:v>
                </c:pt>
                <c:pt idx="59">
                  <c:v>Q60</c:v>
                </c:pt>
                <c:pt idx="60">
                  <c:v>Q61</c:v>
                </c:pt>
                <c:pt idx="61">
                  <c:v>Q62</c:v>
                </c:pt>
                <c:pt idx="62">
                  <c:v>Q63</c:v>
                </c:pt>
                <c:pt idx="63">
                  <c:v>Q64</c:v>
                </c:pt>
                <c:pt idx="64">
                  <c:v>Q65</c:v>
                </c:pt>
                <c:pt idx="65">
                  <c:v>Q66</c:v>
                </c:pt>
                <c:pt idx="66">
                  <c:v>Q67</c:v>
                </c:pt>
                <c:pt idx="67">
                  <c:v>Q68</c:v>
                </c:pt>
                <c:pt idx="68">
                  <c:v>Q69</c:v>
                </c:pt>
                <c:pt idx="69">
                  <c:v>Q70</c:v>
                </c:pt>
                <c:pt idx="70">
                  <c:v>Q71</c:v>
                </c:pt>
                <c:pt idx="71">
                  <c:v>Q72</c:v>
                </c:pt>
                <c:pt idx="72">
                  <c:v>Q73</c:v>
                </c:pt>
              </c:strCache>
            </c:strRef>
          </c:cat>
          <c:val>
            <c:numRef>
              <c:f>Sheet1!$B$2:$B$74</c:f>
              <c:numCache>
                <c:formatCode>General</c:formatCode>
                <c:ptCount val="73"/>
                <c:pt idx="0">
                  <c:v>1.0</c:v>
                </c:pt>
                <c:pt idx="1">
                  <c:v>2.0</c:v>
                </c:pt>
                <c:pt idx="2">
                  <c:v>2.0</c:v>
                </c:pt>
                <c:pt idx="3">
                  <c:v>1.0</c:v>
                </c:pt>
                <c:pt idx="4">
                  <c:v>2.0</c:v>
                </c:pt>
                <c:pt idx="5">
                  <c:v>1.0</c:v>
                </c:pt>
                <c:pt idx="6">
                  <c:v>2.0</c:v>
                </c:pt>
                <c:pt idx="7">
                  <c:v>2.0</c:v>
                </c:pt>
                <c:pt idx="8">
                  <c:v>1.0</c:v>
                </c:pt>
                <c:pt idx="9">
                  <c:v>2.0</c:v>
                </c:pt>
                <c:pt idx="10">
                  <c:v>1.0</c:v>
                </c:pt>
                <c:pt idx="11">
                  <c:v>3.0</c:v>
                </c:pt>
                <c:pt idx="12">
                  <c:v>2.0</c:v>
                </c:pt>
                <c:pt idx="13">
                  <c:v>1.0</c:v>
                </c:pt>
                <c:pt idx="14">
                  <c:v>2.0</c:v>
                </c:pt>
                <c:pt idx="15">
                  <c:v>2.0</c:v>
                </c:pt>
                <c:pt idx="16">
                  <c:v>1.0</c:v>
                </c:pt>
                <c:pt idx="17">
                  <c:v>2.0</c:v>
                </c:pt>
                <c:pt idx="18">
                  <c:v>3.0</c:v>
                </c:pt>
                <c:pt idx="19">
                  <c:v>2.0</c:v>
                </c:pt>
                <c:pt idx="20">
                  <c:v>2.0</c:v>
                </c:pt>
                <c:pt idx="21">
                  <c:v>1.0</c:v>
                </c:pt>
                <c:pt idx="22">
                  <c:v>2.0</c:v>
                </c:pt>
                <c:pt idx="23">
                  <c:v>3.0</c:v>
                </c:pt>
                <c:pt idx="24">
                  <c:v>1.0</c:v>
                </c:pt>
                <c:pt idx="25">
                  <c:v>2.0</c:v>
                </c:pt>
                <c:pt idx="26">
                  <c:v>1.0</c:v>
                </c:pt>
                <c:pt idx="27">
                  <c:v>3.0</c:v>
                </c:pt>
                <c:pt idx="28">
                  <c:v>2.0</c:v>
                </c:pt>
                <c:pt idx="29">
                  <c:v>2.0</c:v>
                </c:pt>
                <c:pt idx="30">
                  <c:v>3.0</c:v>
                </c:pt>
                <c:pt idx="31">
                  <c:v>1.0</c:v>
                </c:pt>
                <c:pt idx="32">
                  <c:v>2.0</c:v>
                </c:pt>
                <c:pt idx="33">
                  <c:v>2.0</c:v>
                </c:pt>
                <c:pt idx="34">
                  <c:v>2.0</c:v>
                </c:pt>
                <c:pt idx="35">
                  <c:v>2.0</c:v>
                </c:pt>
                <c:pt idx="36">
                  <c:v>1.0</c:v>
                </c:pt>
                <c:pt idx="37">
                  <c:v>2.0</c:v>
                </c:pt>
                <c:pt idx="38">
                  <c:v>1.0</c:v>
                </c:pt>
                <c:pt idx="39">
                  <c:v>1.0</c:v>
                </c:pt>
                <c:pt idx="40">
                  <c:v>2.0</c:v>
                </c:pt>
                <c:pt idx="41">
                  <c:v>1.0</c:v>
                </c:pt>
                <c:pt idx="42">
                  <c:v>1.0</c:v>
                </c:pt>
                <c:pt idx="43">
                  <c:v>2.0</c:v>
                </c:pt>
                <c:pt idx="44">
                  <c:v>2.0</c:v>
                </c:pt>
                <c:pt idx="45">
                  <c:v>3.0</c:v>
                </c:pt>
                <c:pt idx="46">
                  <c:v>1.0</c:v>
                </c:pt>
                <c:pt idx="47">
                  <c:v>2.0</c:v>
                </c:pt>
                <c:pt idx="48">
                  <c:v>1.0</c:v>
                </c:pt>
                <c:pt idx="49">
                  <c:v>2.0</c:v>
                </c:pt>
                <c:pt idx="50">
                  <c:v>3.0</c:v>
                </c:pt>
                <c:pt idx="51">
                  <c:v>1.0</c:v>
                </c:pt>
                <c:pt idx="52">
                  <c:v>2.0</c:v>
                </c:pt>
                <c:pt idx="53">
                  <c:v>2.0</c:v>
                </c:pt>
                <c:pt idx="54">
                  <c:v>1.0</c:v>
                </c:pt>
                <c:pt idx="55">
                  <c:v>2.0</c:v>
                </c:pt>
                <c:pt idx="56">
                  <c:v>3.0</c:v>
                </c:pt>
                <c:pt idx="57">
                  <c:v>3.0</c:v>
                </c:pt>
                <c:pt idx="58">
                  <c:v>2.0</c:v>
                </c:pt>
                <c:pt idx="59">
                  <c:v>4.0</c:v>
                </c:pt>
                <c:pt idx="60">
                  <c:v>1.0</c:v>
                </c:pt>
                <c:pt idx="61">
                  <c:v>2.0</c:v>
                </c:pt>
                <c:pt idx="62">
                  <c:v>2.0</c:v>
                </c:pt>
                <c:pt idx="63">
                  <c:v>2.0</c:v>
                </c:pt>
                <c:pt idx="64">
                  <c:v>1.0</c:v>
                </c:pt>
                <c:pt idx="65">
                  <c:v>3.0</c:v>
                </c:pt>
                <c:pt idx="66">
                  <c:v>2.0</c:v>
                </c:pt>
                <c:pt idx="67">
                  <c:v>3.0</c:v>
                </c:pt>
                <c:pt idx="68">
                  <c:v>2.0</c:v>
                </c:pt>
                <c:pt idx="69">
                  <c:v>4.0</c:v>
                </c:pt>
                <c:pt idx="70">
                  <c:v>2.0</c:v>
                </c:pt>
                <c:pt idx="71">
                  <c:v>3.0</c:v>
                </c:pt>
                <c:pt idx="72">
                  <c:v>1.0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the line '$\frac{15\cdot10!}{(30!)^2}=\frac{\alpha\cdot60!}{(30!)^2}$'; the numerator $10!$ is a typo, it must be $15\cdot60!$. The final answer 15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writes '$(-1)^r\,{}^9C_r\,2^{3r-9}=21\times4$', dropping the sign: the constant term is $-84$, so the right side must be $-21\times4$ (this is also what makes $r$ odd). Also the justification 'only natural $r$ possible if $3r-9=0$' is made explicit here. The final answer 98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working correctly gives $\binom{10}{2}(-3)^2=405$, but the printed answer key says 406. The correct answer is 405 (answer key wrong).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writes '$-72023=-7\times7^{2022}$' (a typo for $-7^{2023}$) and jumps from a remainder $+1$ mod $5$ to '7 when divided by 35' without showing why; the working above makes both steps explicit. Answer 7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last line ('$5e+\frac e2-\frac1e-\frac e2+\frac1{2e}$') is garbled and does not equal $5e-\frac1e$ as printed; the correct evaluation of $\sum\frac{2n-1}{(2n)!}$ is $\frac{e-e^{-1}}2-\frac{e+e^{-1}}2=-\frac1e$, and the $n=0$ term convention $\frac{1}{(-1)!}=0$ is stated. Final answer 26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writes $[2124+1]^{19}$ for $5^{5\cdot19}$; since $5^5=3125=3124+1$ it should read $3124+1$ ($3124=11\cdot284$). The later steps and the answer 9 are right.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final equation is garbled ('${}^{11}C_5(ab)^6\left(\frac1{2b}\right)^5=32$'). The correct equation from its coefficients is $\frac{a^6}{32b^5}=\frac{a^5}{729b^6}$, which gives $729ab=32$ (the PDF's final line). Answer (C)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working shows $13\left[\dots\right]+145n$ and remarks that this is divisible by $144$ for infinitely many $n$ ($n=144m$), i.e. (S2) is TRUE, yet the printed answer is (D) 'only (S1) is correct'. The correct answer is (A) (both correct). Answer key wrong; checked by computing $13^{n+1}-11n-13\bmod144$ numerically ($\equiv 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the first term as '${}^{13}C_r(9x)^{13-r}$' where '9x' is a typo for 'ax'. Everything else, including the answer 22,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second line, '$2\left(C_0-C_1+C_2-\dots-C_{9}\right)+C_{50}=0$', has a typo: the bracket should end at $-C_{49}$ (not $C_9$). Corrected; the result $-\binom{99}{49}$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evaluates $\frac{7\cdot3^6}{4}$ as $1275.85$; it is $\frac{5103}{4}=1275.75$. The floor $1275$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finds $n=4$ 'by observation' without checking $n=8,12$ (the other multiples of $4$ up to $15$), and jumps to '$\lambda=36$' without writing $\alpha=-24$ and the coefficient $\binom43(-6)^3=-864$. These steps are added; the answer 36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lists the values as '$n=1,7,13,20,\dots,97$'; the fourth value is a typo for $19$ (common difference $6$). The count $15$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Case I table lists the last triple as $(4,3,8)$, which does not satisfy $r_1+2r_2=12$; it should be $(6,3,8)$ (the PDF's numerical term $35$ is the value for $r_1=6$, so only the table entry is a typo). Final answer 678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line '$12n-40=30+n^2-9n+20$' has a slip ($-40$ should be $-48$, from $12(n-4)$). With $-48$ the quadratic is $n^2-21n+98=0$, which is what the PDF states next; answer 14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$\frac{n+1}{r+1}=\frac{55}{34}$ and $\frac nr=\frac{35}{21}$ and then '$3n-5r=4$' as equation (2). The correct ratios are $\frac{55}{35}$ and $\frac rn=\frac{21}{35}$, giving $3n-5r=0$. With the PDF's equation (2) the system would give $r=-8$; the PDF's final values $r=6,n=10$ and the answer 50 are correct.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last line ('$\frac{10\cdot9\cdot8\cdot7}{4\cdot3\cdot2\cdot1}\times\frac{a^3}{2\cdot2\cdot2\cdot2}=5\times7\times3\,z$') is garbled (a stray 'z'); it should read $210\cdot\frac{a^3}{16}=105$. The result $a^3=8$, $a^2=4$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inequality line reads '$140&lt;\frac{2\alpha}\beta&lt;248$'; the correct upper bound from the question is $281$ (the PDF's next line, $140&lt;(n+1)^3&lt;281$, uses $281$). The answer $n=5$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Binomial Theorem (JM) — Paper Analysis</a:t>
            </a:r>
            <a:endParaRPr sz="4000">
              <a:solidFill>
                <a:srgbClr val="FFFFFF"/>
              </a:solidFill>
            </a:endParaRPr>
          </a:p>
          <a:p>
            <a:pPr algn="ctr"/>
            <a:r>
              <a:rPr sz="2200">
                <a:solidFill>
                  <a:srgbClr val="FFFFFF"/>
                </a:solidFill>
                <a:latin typeface="Arial"/>
              </a:rPr>
              <a:t>Sheet Binomial Theorem · JEE Main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Q10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Assumed +4 each (JEE Advanced default)</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value of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22</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𝑟</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44</m:t>
                            </m:r>
                          </m:num>
                          <m:den>
                            <m:r>
                              <a:rPr lang="en-IN" sz="2400" i="1">
                                <a:solidFill>
                                  <a:srgbClr val="111827"/>
                                </a:solidFill>
                                <a:latin typeface="Cambria Math" panose="02040503050406030204" pitchFamily="18" charset="0"/>
                              </a:rPr>
                              <m:t>22</m:t>
                            </m:r>
                          </m:den>
                        </m:f>
                      </m:e>
                    </m:d>
                  </m:oMath>
                </a14:m>
                <a:r>
                  <a:rPr sz="2400" b="0">
                    <a:solidFill>
                      <a:srgbClr val="111827"/>
                    </a:solidFill>
                    <a:latin typeface="Arial"/>
                  </a:rPr>
                  <a:t>   (B)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24</m:t>
                            </m:r>
                          </m:den>
                        </m:f>
                      </m:e>
                    </m:d>
                  </m:oMath>
                </a14:m>
                <a:r>
                  <a:rPr sz="2400" b="0">
                    <a:solidFill>
                      <a:srgbClr val="111827"/>
                    </a:solidFill>
                    <a:latin typeface="Arial"/>
                  </a:rPr>
                  <a:t>   (C)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23</m:t>
                            </m:r>
                          </m:den>
                        </m:f>
                      </m:e>
                    </m:d>
                  </m:oMath>
                </a14:m>
                <a:r>
                  <a:rPr sz="2400" b="0">
                    <a:solidFill>
                      <a:srgbClr val="111827"/>
                    </a:solidFill>
                    <a:latin typeface="Arial"/>
                  </a:rPr>
                  <a:t>   (D)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44</m:t>
                            </m:r>
                          </m:num>
                          <m:den>
                            <m:r>
                              <a:rPr lang="en-IN" sz="2400" i="1">
                                <a:solidFill>
                                  <a:srgbClr val="111827"/>
                                </a:solidFill>
                                <a:latin typeface="Cambria Math" panose="02040503050406030204" pitchFamily="18" charset="0"/>
                              </a:rPr>
                              <m:t>23</m:t>
                            </m:r>
                          </m:den>
                        </m:f>
                      </m:e>
                    </m:d>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value of </a:t>
                </a:r>
                <a:r>
                  <a:rPr lang="en-IN" sz="2400">
                    <a:solidFill>
                      <a:srgbClr val="111827"/>
                    </a:solidFill>
                    <a:latin typeface="Cambria Math" panose="02040503050406030204" pitchFamily="18" charset="0"/>
                  </a:rPr>
                  <a:t>$\sum_{r=0}^{22}\binom{22}{r}\binom{23}{r}$</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$\binom{44}{22}$</a:t>
                </a:r>
                <a:r>
                  <a:rPr sz="2400" b="0">
                    <a:solidFill>
                      <a:srgbClr val="111827"/>
                    </a:solidFill>
                    <a:latin typeface="Arial"/>
                  </a:rPr>
                  <a:t>   (B) </a:t>
                </a:r>
                <a:r>
                  <a:rPr lang="en-IN" sz="2400">
                    <a:solidFill>
                      <a:srgbClr val="111827"/>
                    </a:solidFill>
                    <a:latin typeface="Cambria Math" panose="02040503050406030204" pitchFamily="18" charset="0"/>
                  </a:rPr>
                  <a:t>$\binom{45}{24}$</a:t>
                </a:r>
                <a:r>
                  <a:rPr sz="2400" b="0">
                    <a:solidFill>
                      <a:srgbClr val="111827"/>
                    </a:solidFill>
                    <a:latin typeface="Arial"/>
                  </a:rPr>
                  <a:t>   (C) </a:t>
                </a:r>
                <a:r>
                  <a:rPr lang="en-IN" sz="2400">
                    <a:solidFill>
                      <a:srgbClr val="111827"/>
                    </a:solidFill>
                    <a:latin typeface="Cambria Math" panose="02040503050406030204" pitchFamily="18" charset="0"/>
                  </a:rPr>
                  <a:t>$\binom{45}{23}$</a:t>
                </a:r>
                <a:r>
                  <a:rPr sz="2400" b="0">
                    <a:solidFill>
                      <a:srgbClr val="111827"/>
                    </a:solidFill>
                    <a:latin typeface="Arial"/>
                  </a:rPr>
                  <a:t>   (D) </a:t>
                </a:r>
                <a:r>
                  <a:rPr lang="en-IN" sz="2400">
                    <a:solidFill>
                      <a:srgbClr val="111827"/>
                    </a:solidFill>
                    <a:latin typeface="Cambria Math" panose="02040503050406030204" pitchFamily="18" charset="0"/>
                  </a:rPr>
                  <a:t>$\binom{44}{23}$</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Vandermonde convolution of binomial coefficients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23</m:t>
                            </m:r>
                          </m:num>
                          <m:den>
                            <m:r>
                              <a:rPr lang="en-IN" sz="2400" i="1">
                                <a:solidFill>
                                  <a:srgbClr val="78350F"/>
                                </a:solidFill>
                                <a:latin typeface="Cambria Math" panose="02040503050406030204" pitchFamily="18" charset="0"/>
                              </a:rPr>
                              <m:t>𝑟</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23</m:t>
                            </m:r>
                          </m:num>
                          <m:den>
                            <m:r>
                              <a:rPr lang="en-IN" sz="2400" i="1">
                                <a:solidFill>
                                  <a:srgbClr val="78350F"/>
                                </a:solidFill>
                                <a:latin typeface="Cambria Math" panose="02040503050406030204" pitchFamily="18" charset="0"/>
                              </a:rPr>
                              <m:t>23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den>
                        </m:f>
                      </m:e>
                    </m:d>
                  </m:oMath>
                </a14:m>
                <a:r>
                  <a:rPr sz="2400" b="0">
                    <a:solidFill>
                      <a:srgbClr val="78350F"/>
                    </a:solidFill>
                    <a:latin typeface="Arial"/>
                  </a:rPr>
                  <a:t>, the sum is a coefficient of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23</m:t>
                        </m:r>
                      </m:sup>
                    </m:sSup>
                  </m:oMath>
                </a14:m>
                <a:r>
                  <a:rPr sz="2400" b="0">
                    <a:solidFill>
                      <a:srgbClr val="78350F"/>
                    </a:solidFill>
                    <a:latin typeface="Arial"/>
                  </a:rPr>
                  <a:t> in a product of two binomials.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r>
                  <a:rPr lang="en-IN" sz="2400">
                    <a:solidFill>
                      <a:srgbClr val="78350F"/>
                    </a:solidFill>
                    <a:latin typeface="Cambria Math" panose="02040503050406030204" pitchFamily="18" charset="0"/>
                  </a:rPr>
                  <a:t>$\binom{23}{r}=\binom{23}{23-r}$</a:t>
                </a:r>
                <a:r>
                  <a:rPr sz="2400" b="0">
                    <a:solidFill>
                      <a:srgbClr val="78350F"/>
                    </a:solidFill>
                    <a:latin typeface="Arial"/>
                  </a:rPr>
                  <a:t>, the sum is a coefficient of </a:t>
                </a:r>
                <a:r>
                  <a:rPr lang="en-IN" sz="2400">
                    <a:solidFill>
                      <a:srgbClr val="78350F"/>
                    </a:solidFill>
                    <a:latin typeface="Cambria Math" panose="02040503050406030204" pitchFamily="18" charset="0"/>
                  </a:rPr>
                  <a:t>$x^{23}$</a:t>
                </a:r>
                <a:r>
                  <a:rPr sz="2400" b="0">
                    <a:solidFill>
                      <a:srgbClr val="78350F"/>
                    </a:solidFill>
                    <a:latin typeface="Arial"/>
                  </a:rPr>
                  <a:t> in a product of two binomials.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e>
                    </m:d>
                  </m:oMath>
                </a14:m>
                <a:r>
                  <a:rPr sz="2400" b="0">
                    <a:solidFill>
                      <a:srgbClr val="111827"/>
                    </a:solidFill>
                    <a:latin typeface="Arial"/>
                  </a:rPr>
                  <a:t>, so the sum equals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22</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𝑟</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0</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23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1</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22</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22</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0</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1</m:t>
                            </m:r>
                          </m:den>
                        </m:f>
                      </m:e>
                    </m:d>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22</m:t>
                            </m:r>
                          </m:den>
                        </m:f>
                      </m:e>
                    </m:d>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23</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0</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1</m:t>
                            </m:r>
                          </m:den>
                        </m:f>
                      </m:e>
                    </m:d>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23</m:t>
                            </m:r>
                          </m:den>
                        </m:f>
                      </m:e>
                    </m:d>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23</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Use </a:t>
                </a:r>
                <a:r>
                  <a:rPr lang="en-IN" sz="2400">
                    <a:solidFill>
                      <a:srgbClr val="111827"/>
                    </a:solidFill>
                    <a:latin typeface="Cambria Math" panose="02040503050406030204" pitchFamily="18" charset="0"/>
                  </a:rPr>
                  <a:t>$\binom{23}{r}=\binom{23}{23-r}$</a:t>
                </a:r>
                <a:r>
                  <a:rPr sz="2400" b="0">
                    <a:solidFill>
                      <a:srgbClr val="111827"/>
                    </a:solidFill>
                    <a:latin typeface="Arial"/>
                  </a:rPr>
                  <a:t>, so the sum equals </a:t>
                </a:r>
                <a:r>
                  <a:rPr lang="en-IN" sz="2400">
                    <a:solidFill>
                      <a:srgbClr val="111827"/>
                    </a:solidFill>
                    <a:latin typeface="Cambria Math" panose="02040503050406030204" pitchFamily="18" charset="0"/>
                  </a:rPr>
                  <a:t>$\sum_{r=0}^{22}\binom{22}{r}\binom{23}{23-r}=\binom{22}{0}\binom{23}{23}+\binom{22}{1}\binom{23}{22}+\dots+\binom{22}{22}\binom{23}{1}$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$(1+x)^{22}=\binom{22}{0}+\binom{22}{1}x+\dots+\binom{22}{22}x^{22}$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$(1+x)^{23}=\binom{23}{0}+\binom{23}{1}x+\dots+\binom{23}{23}x^{23}$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23</m:t>
                        </m:r>
                      </m:sup>
                    </m:sSup>
                  </m:oMath>
                </a14:m>
                <a:r>
                  <a:rPr sz="2400" b="0">
                    <a:solidFill>
                      <a:srgbClr val="111827"/>
                    </a:solidFill>
                    <a:latin typeface="Arial"/>
                  </a:rPr>
                  <a:t>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23</m:t>
                        </m:r>
                      </m:sup>
                    </m:sSup>
                  </m:oMath>
                </a14:m>
                <a:r>
                  <a:rPr sz="2400" b="0">
                    <a:solidFill>
                      <a:srgbClr val="111827"/>
                    </a:solidFill>
                    <a:latin typeface="Arial"/>
                  </a:rPr>
                  <a:t> is obtained by pairing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from the first factor with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oMath>
                </a14:m>
                <a:r>
                  <a:rPr sz="2400" b="0">
                    <a:solidFill>
                      <a:srgbClr val="111827"/>
                    </a:solidFill>
                    <a:latin typeface="Arial"/>
                  </a:rPr>
                  <a:t> from the second, i.e. it equals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22</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𝑟</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45</m:t>
                        </m:r>
                      </m:sup>
                    </m:sSup>
                  </m:oMath>
                </a14:m>
                <a:r>
                  <a:rPr sz="2400" b="0">
                    <a:solidFill>
                      <a:srgbClr val="111827"/>
                    </a:solidFill>
                    <a:latin typeface="Arial"/>
                  </a:rPr>
                  <a:t>, whose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23</m:t>
                        </m:r>
                      </m:sup>
                    </m:sSup>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23</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22</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𝑟</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23</m:t>
                            </m:r>
                          </m:den>
                        </m:f>
                      </m:e>
                    </m:d>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$(1+x)^{22}(1+x)^{23}$</a:t>
                </a:r>
                <a:r>
                  <a:rPr sz="2400" b="0">
                    <a:solidFill>
                      <a:srgbClr val="111827"/>
                    </a:solidFill>
                    <a:latin typeface="Arial"/>
                  </a:rPr>
                  <a:t> the coefficient of </a:t>
                </a:r>
                <a:r>
                  <a:rPr lang="en-IN" sz="2400">
                    <a:solidFill>
                      <a:srgbClr val="111827"/>
                    </a:solidFill>
                    <a:latin typeface="Cambria Math" panose="02040503050406030204" pitchFamily="18" charset="0"/>
                  </a:rPr>
                  <a:t>$x^{23}$</a:t>
                </a:r>
                <a:r>
                  <a:rPr sz="2400" b="0">
                    <a:solidFill>
                      <a:srgbClr val="111827"/>
                    </a:solidFill>
                    <a:latin typeface="Arial"/>
                  </a:rPr>
                  <a:t> is obtained by pairing </a:t>
                </a:r>
                <a:r>
                  <a:rPr lang="en-IN" sz="2400">
                    <a:solidFill>
                      <a:srgbClr val="111827"/>
                    </a:solidFill>
                    <a:latin typeface="Cambria Math" panose="02040503050406030204" pitchFamily="18" charset="0"/>
                  </a:rPr>
                  <a:t>$x^{r}$</a:t>
                </a:r>
                <a:r>
                  <a:rPr sz="2400" b="0">
                    <a:solidFill>
                      <a:srgbClr val="111827"/>
                    </a:solidFill>
                    <a:latin typeface="Arial"/>
                  </a:rPr>
                  <a:t> from the first factor with </a:t>
                </a:r>
                <a:r>
                  <a:rPr lang="en-IN" sz="2400">
                    <a:solidFill>
                      <a:srgbClr val="111827"/>
                    </a:solidFill>
                    <a:latin typeface="Cambria Math" panose="02040503050406030204" pitchFamily="18" charset="0"/>
                  </a:rPr>
                  <a:t>$x^{23-r}$</a:t>
                </a:r>
                <a:r>
                  <a:rPr sz="2400" b="0">
                    <a:solidFill>
                      <a:srgbClr val="111827"/>
                    </a:solidFill>
                    <a:latin typeface="Arial"/>
                  </a:rPr>
                  <a:t> from the second, i.e. it equals </a:t>
                </a:r>
                <a:r>
                  <a:rPr lang="en-IN" sz="2400">
                    <a:solidFill>
                      <a:srgbClr val="111827"/>
                    </a:solidFill>
                    <a:latin typeface="Cambria Math" panose="02040503050406030204" pitchFamily="18" charset="0"/>
                  </a:rPr>
                  <a:t>$\sum_{r=0}^{22}\binom{22}{r}\binom{23}{23-r}$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$(1+x)^{22}(1+x)^{23}=(1+x)^{45}$</a:t>
                </a:r>
                <a:r>
                  <a:rPr sz="2400" b="0">
                    <a:solidFill>
                      <a:srgbClr val="111827"/>
                    </a:solidFill>
                    <a:latin typeface="Arial"/>
                  </a:rPr>
                  <a:t>, whose coefficient of </a:t>
                </a:r>
                <a:r>
                  <a:rPr lang="en-IN" sz="2400">
                    <a:solidFill>
                      <a:srgbClr val="111827"/>
                    </a:solidFill>
                    <a:latin typeface="Cambria Math" panose="02040503050406030204" pitchFamily="18" charset="0"/>
                  </a:rPr>
                  <a:t>$x^{23}$</a:t>
                </a:r>
                <a:r>
                  <a:rPr sz="2400" b="0">
                    <a:solidFill>
                      <a:srgbClr val="111827"/>
                    </a:solidFill>
                    <a:latin typeface="Arial"/>
                  </a:rPr>
                  <a:t> is </a:t>
                </a:r>
                <a:r>
                  <a:rPr lang="en-IN" sz="2400">
                    <a:solidFill>
                      <a:srgbClr val="111827"/>
                    </a:solidFill>
                    <a:latin typeface="Cambria Math" panose="02040503050406030204" pitchFamily="18" charset="0"/>
                  </a:rPr>
                  <a:t>$\binom{45}{23}$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$\sum_{r=0}^{22}\binom{22}{r}\binom{23}{r}=\binom{45}{23}$</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f>
                          <m:fPr>
                            <m:type m:val="no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45</m:t>
                            </m:r>
                          </m:num>
                          <m:den>
                            <m:r>
                              <a:rPr lang="en-IN" sz="2800" i="1">
                                <a:solidFill>
                                  <a:srgbClr val="15803D"/>
                                </a:solidFill>
                                <a:latin typeface="Cambria Math" panose="02040503050406030204" pitchFamily="18" charset="0"/>
                              </a:rPr>
                              <m:t>23</m:t>
                            </m:r>
                          </m:den>
                        </m:f>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$\binom{45}{23}$</a:t>
                </a:r>
                <a:endParaRPr sz="2800">
                  <a:solidFill>
                    <a:srgbClr val="15803D"/>
                  </a:solidFill>
                </a:endParaRP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committees: choose </a:t>
                </a:r>
                <a14:m>
                  <m:oMath xmlns:m="http://schemas.openxmlformats.org/officeDocument/2006/math">
                    <m:r>
                      <a:rPr lang="en-IN" sz="2400" i="1">
                        <a:solidFill>
                          <a:srgbClr val="78350F"/>
                        </a:solidFill>
                        <a:latin typeface="Cambria Math" panose="02040503050406030204" pitchFamily="18" charset="0"/>
                      </a:rPr>
                      <m:t>22</m:t>
                    </m:r>
                  </m:oMath>
                </a14:m>
                <a:r>
                  <a:rPr sz="2400" b="0">
                    <a:solidFill>
                      <a:srgbClr val="78350F"/>
                    </a:solidFill>
                    <a:latin typeface="Arial"/>
                  </a:rPr>
                  <a:t> people out of </a:t>
                </a:r>
                <a14:m>
                  <m:oMath xmlns:m="http://schemas.openxmlformats.org/officeDocument/2006/math">
                    <m:r>
                      <a:rPr lang="en-IN" sz="2400" i="1">
                        <a:solidFill>
                          <a:srgbClr val="78350F"/>
                        </a:solidFill>
                        <a:latin typeface="Cambria Math" panose="02040503050406030204" pitchFamily="18" charset="0"/>
                      </a:rPr>
                      <m:t>22</m:t>
                    </m:r>
                  </m:oMath>
                </a14:m>
                <a:r>
                  <a:rPr sz="2400" b="0">
                    <a:solidFill>
                      <a:srgbClr val="78350F"/>
                    </a:solidFill>
                    <a:latin typeface="Arial"/>
                  </a:rPr>
                  <a:t> men and </a:t>
                </a:r>
                <a14:m>
                  <m:oMath xmlns:m="http://schemas.openxmlformats.org/officeDocument/2006/math">
                    <m:r>
                      <a:rPr lang="en-IN" sz="2400" i="1">
                        <a:solidFill>
                          <a:srgbClr val="78350F"/>
                        </a:solidFill>
                        <a:latin typeface="Cambria Math" panose="02040503050406030204" pitchFamily="18" charset="0"/>
                      </a:rPr>
                      <m:t>23</m:t>
                    </m:r>
                  </m:oMath>
                </a14:m>
                <a:r>
                  <a:rPr sz="2400" b="0">
                    <a:solidFill>
                      <a:srgbClr val="78350F"/>
                    </a:solidFill>
                    <a:latin typeface="Arial"/>
                  </a:rPr>
                  <a:t> women, the number of men not chosen being tied to the women chosen.</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committees: choose </a:t>
                </a:r>
                <a:r>
                  <a:rPr lang="en-IN" sz="2400">
                    <a:solidFill>
                      <a:srgbClr val="78350F"/>
                    </a:solidFill>
                    <a:latin typeface="Cambria Math" panose="02040503050406030204" pitchFamily="18" charset="0"/>
                  </a:rPr>
                  <a:t>$22$</a:t>
                </a:r>
                <a:r>
                  <a:rPr sz="2400" b="0">
                    <a:solidFill>
                      <a:srgbClr val="78350F"/>
                    </a:solidFill>
                    <a:latin typeface="Arial"/>
                  </a:rPr>
                  <a:t> people out of </a:t>
                </a:r>
                <a:r>
                  <a:rPr lang="en-IN" sz="2400">
                    <a:solidFill>
                      <a:srgbClr val="78350F"/>
                    </a:solidFill>
                    <a:latin typeface="Cambria Math" panose="02040503050406030204" pitchFamily="18" charset="0"/>
                  </a:rPr>
                  <a:t>$22$</a:t>
                </a:r>
                <a:r>
                  <a:rPr sz="2400" b="0">
                    <a:solidFill>
                      <a:srgbClr val="78350F"/>
                    </a:solidFill>
                    <a:latin typeface="Arial"/>
                  </a:rPr>
                  <a:t> men and </a:t>
                </a:r>
                <a:r>
                  <a:rPr lang="en-IN" sz="2400">
                    <a:solidFill>
                      <a:srgbClr val="78350F"/>
                    </a:solidFill>
                    <a:latin typeface="Cambria Math" panose="02040503050406030204" pitchFamily="18" charset="0"/>
                  </a:rPr>
                  <a:t>$23$</a:t>
                </a:r>
                <a:r>
                  <a:rPr sz="2400" b="0">
                    <a:solidFill>
                      <a:srgbClr val="78350F"/>
                    </a:solidFill>
                    <a:latin typeface="Arial"/>
                  </a:rPr>
                  <a:t> women, the number of men not chosen being tied to the women chosen.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 group of </a:t>
                </a:r>
                <a14:m>
                  <m:oMath xmlns:m="http://schemas.openxmlformats.org/officeDocument/2006/math">
                    <m:r>
                      <a:rPr lang="en-IN" sz="2400" i="1">
                        <a:solidFill>
                          <a:srgbClr val="111827"/>
                        </a:solidFill>
                        <a:latin typeface="Cambria Math" panose="02040503050406030204" pitchFamily="18" charset="0"/>
                      </a:rPr>
                      <m:t>22</m:t>
                    </m:r>
                  </m:oMath>
                </a14:m>
                <a:r>
                  <a:rPr sz="2400" b="0">
                    <a:solidFill>
                      <a:srgbClr val="111827"/>
                    </a:solidFill>
                    <a:latin typeface="Arial"/>
                  </a:rPr>
                  <a:t> men and </a:t>
                </a:r>
                <a14:m>
                  <m:oMath xmlns:m="http://schemas.openxmlformats.org/officeDocument/2006/math">
                    <m:r>
                      <a:rPr lang="en-IN" sz="2400" i="1">
                        <a:solidFill>
                          <a:srgbClr val="111827"/>
                        </a:solidFill>
                        <a:latin typeface="Cambria Math" panose="02040503050406030204" pitchFamily="18" charset="0"/>
                      </a:rPr>
                      <m:t>23</m:t>
                    </m:r>
                  </m:oMath>
                </a14:m>
                <a:r>
                  <a:rPr sz="2400" b="0">
                    <a:solidFill>
                      <a:srgbClr val="111827"/>
                    </a:solidFill>
                    <a:latin typeface="Arial"/>
                  </a:rPr>
                  <a:t> women, </a:t>
                </a:r>
                <a14:m>
                  <m:oMath xmlns:m="http://schemas.openxmlformats.org/officeDocument/2006/math">
                    <m:r>
                      <a:rPr lang="en-IN" sz="2400" i="1">
                        <a:solidFill>
                          <a:srgbClr val="111827"/>
                        </a:solidFill>
                        <a:latin typeface="Cambria Math" panose="02040503050406030204" pitchFamily="18" charset="0"/>
                      </a:rPr>
                      <m:t>45</m:t>
                    </m:r>
                  </m:oMath>
                </a14:m>
                <a:r>
                  <a:rPr sz="2400" b="0">
                    <a:solidFill>
                      <a:srgbClr val="111827"/>
                    </a:solidFill>
                    <a:latin typeface="Arial"/>
                  </a:rPr>
                  <a:t> people in all. Count the committees of size </a:t>
                </a:r>
                <a14:m>
                  <m:oMath xmlns:m="http://schemas.openxmlformats.org/officeDocument/2006/math">
                    <m:r>
                      <a:rPr lang="en-IN" sz="2400" i="1">
                        <a:solidFill>
                          <a:srgbClr val="111827"/>
                        </a:solidFill>
                        <a:latin typeface="Cambria Math" panose="02040503050406030204" pitchFamily="18" charset="0"/>
                      </a:rPr>
                      <m:t>22</m:t>
                    </m:r>
                  </m:oMath>
                </a14:m>
                <a:r>
                  <a:rPr sz="2400" b="0">
                    <a:solidFill>
                      <a:srgbClr val="111827"/>
                    </a:solidFill>
                    <a:latin typeface="Arial"/>
                  </a:rPr>
                  <a:t> in two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Directly: any </a:t>
                </a:r>
                <a14:m>
                  <m:oMath xmlns:m="http://schemas.openxmlformats.org/officeDocument/2006/math">
                    <m:r>
                      <a:rPr lang="en-IN" sz="2400" i="1">
                        <a:solidFill>
                          <a:srgbClr val="111827"/>
                        </a:solidFill>
                        <a:latin typeface="Cambria Math" panose="02040503050406030204" pitchFamily="18" charset="0"/>
                      </a:rPr>
                      <m:t>22</m:t>
                    </m:r>
                  </m:oMath>
                </a14:m>
                <a:r>
                  <a:rPr sz="2400" b="0">
                    <a:solidFill>
                      <a:srgbClr val="111827"/>
                    </a:solidFill>
                    <a:latin typeface="Arial"/>
                  </a:rPr>
                  <a:t> of the </a:t>
                </a:r>
                <a14:m>
                  <m:oMath xmlns:m="http://schemas.openxmlformats.org/officeDocument/2006/math">
                    <m:r>
                      <a:rPr lang="en-IN" sz="2400" i="1">
                        <a:solidFill>
                          <a:srgbClr val="111827"/>
                        </a:solidFill>
                        <a:latin typeface="Cambria Math" panose="02040503050406030204" pitchFamily="18" charset="0"/>
                      </a:rPr>
                      <m:t>45</m:t>
                    </m:r>
                  </m:oMath>
                </a14:m>
                <a:r>
                  <a:rPr sz="2400" b="0">
                    <a:solidFill>
                      <a:srgbClr val="111827"/>
                    </a:solidFill>
                    <a:latin typeface="Arial"/>
                  </a:rPr>
                  <a:t> people, giving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22</m:t>
                            </m:r>
                          </m:den>
                        </m:f>
                      </m:e>
                    </m:d>
                  </m:oMath>
                </a14:m>
                <a:r>
                  <a:rPr sz="2400" b="0">
                    <a:solidFill>
                      <a:srgbClr val="111827"/>
                    </a:solidFill>
                    <a:latin typeface="Arial"/>
                  </a:rPr>
                  <a:t> committees.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composition: choose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women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ways, and the remaining </a:t>
                </a:r>
                <a14:m>
                  <m:oMath xmlns:m="http://schemas.openxmlformats.org/officeDocument/2006/math">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members from the men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ways,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 group of </a:t>
                </a:r>
                <a:r>
                  <a:rPr lang="en-IN" sz="2400">
                    <a:solidFill>
                      <a:srgbClr val="111827"/>
                    </a:solidFill>
                    <a:latin typeface="Cambria Math" panose="02040503050406030204" pitchFamily="18" charset="0"/>
                  </a:rPr>
                  <a:t>$22$</a:t>
                </a:r>
                <a:r>
                  <a:rPr sz="2400" b="0">
                    <a:solidFill>
                      <a:srgbClr val="111827"/>
                    </a:solidFill>
                    <a:latin typeface="Arial"/>
                  </a:rPr>
                  <a:t> men and </a:t>
                </a:r>
                <a:r>
                  <a:rPr lang="en-IN" sz="2400">
                    <a:solidFill>
                      <a:srgbClr val="111827"/>
                    </a:solidFill>
                    <a:latin typeface="Cambria Math" panose="02040503050406030204" pitchFamily="18" charset="0"/>
                  </a:rPr>
                  <a:t>$23$</a:t>
                </a:r>
                <a:r>
                  <a:rPr sz="2400" b="0">
                    <a:solidFill>
                      <a:srgbClr val="111827"/>
                    </a:solidFill>
                    <a:latin typeface="Arial"/>
                  </a:rPr>
                  <a:t> women, </a:t>
                </a:r>
                <a:r>
                  <a:rPr lang="en-IN" sz="2400">
                    <a:solidFill>
                      <a:srgbClr val="111827"/>
                    </a:solidFill>
                    <a:latin typeface="Cambria Math" panose="02040503050406030204" pitchFamily="18" charset="0"/>
                  </a:rPr>
                  <a:t>$45$</a:t>
                </a:r>
                <a:r>
                  <a:rPr sz="2400" b="0">
                    <a:solidFill>
                      <a:srgbClr val="111827"/>
                    </a:solidFill>
                    <a:latin typeface="Arial"/>
                  </a:rPr>
                  <a:t> people in all. Count the committees of size </a:t>
                </a:r>
                <a:r>
                  <a:rPr lang="en-IN" sz="2400">
                    <a:solidFill>
                      <a:srgbClr val="111827"/>
                    </a:solidFill>
                    <a:latin typeface="Cambria Math" panose="02040503050406030204" pitchFamily="18" charset="0"/>
                  </a:rPr>
                  <a:t>$22$</a:t>
                </a:r>
                <a:r>
                  <a:rPr sz="2400" b="0">
                    <a:solidFill>
                      <a:srgbClr val="111827"/>
                    </a:solidFill>
                    <a:latin typeface="Arial"/>
                  </a:rPr>
                  <a:t> in two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Directly: any </a:t>
                </a:r>
                <a:r>
                  <a:rPr lang="en-IN" sz="2400">
                    <a:solidFill>
                      <a:srgbClr val="111827"/>
                    </a:solidFill>
                    <a:latin typeface="Cambria Math" panose="02040503050406030204" pitchFamily="18" charset="0"/>
                  </a:rPr>
                  <a:t>$22$</a:t>
                </a:r>
                <a:r>
                  <a:rPr sz="2400" b="0">
                    <a:solidFill>
                      <a:srgbClr val="111827"/>
                    </a:solidFill>
                    <a:latin typeface="Arial"/>
                  </a:rPr>
                  <a:t> of the </a:t>
                </a:r>
                <a:r>
                  <a:rPr lang="en-IN" sz="2400">
                    <a:solidFill>
                      <a:srgbClr val="111827"/>
                    </a:solidFill>
                    <a:latin typeface="Cambria Math" panose="02040503050406030204" pitchFamily="18" charset="0"/>
                  </a:rPr>
                  <a:t>$45$</a:t>
                </a:r>
                <a:r>
                  <a:rPr sz="2400" b="0">
                    <a:solidFill>
                      <a:srgbClr val="111827"/>
                    </a:solidFill>
                    <a:latin typeface="Arial"/>
                  </a:rPr>
                  <a:t> people, giving </a:t>
                </a:r>
                <a:r>
                  <a:rPr lang="en-IN" sz="2400">
                    <a:solidFill>
                      <a:srgbClr val="111827"/>
                    </a:solidFill>
                    <a:latin typeface="Cambria Math" panose="02040503050406030204" pitchFamily="18" charset="0"/>
                  </a:rPr>
                  <a:t>$\binom{45}{22}$</a:t>
                </a:r>
                <a:r>
                  <a:rPr sz="2400" b="0">
                    <a:solidFill>
                      <a:srgbClr val="111827"/>
                    </a:solidFill>
                    <a:latin typeface="Arial"/>
                  </a:rPr>
                  <a:t> committees.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composition: choose </a:t>
                </a:r>
                <a:r>
                  <a:rPr lang="en-IN" sz="2400">
                    <a:solidFill>
                      <a:srgbClr val="111827"/>
                    </a:solidFill>
                    <a:latin typeface="Cambria Math" panose="02040503050406030204" pitchFamily="18" charset="0"/>
                  </a:rPr>
                  <a:t>$r$</a:t>
                </a:r>
                <a:r>
                  <a:rPr sz="2400" b="0">
                    <a:solidFill>
                      <a:srgbClr val="111827"/>
                    </a:solidFill>
                    <a:latin typeface="Arial"/>
                  </a:rPr>
                  <a:t> women in </a:t>
                </a:r>
                <a:r>
                  <a:rPr lang="en-IN" sz="2400">
                    <a:solidFill>
                      <a:srgbClr val="111827"/>
                    </a:solidFill>
                    <a:latin typeface="Cambria Math" panose="02040503050406030204" pitchFamily="18" charset="0"/>
                  </a:rPr>
                  <a:t>$\binom{23}{r}$</a:t>
                </a:r>
                <a:r>
                  <a:rPr sz="2400" b="0">
                    <a:solidFill>
                      <a:srgbClr val="111827"/>
                    </a:solidFill>
                    <a:latin typeface="Arial"/>
                  </a:rPr>
                  <a:t> ways, and the remaining </a:t>
                </a:r>
                <a:r>
                  <a:rPr lang="en-IN" sz="2400">
                    <a:solidFill>
                      <a:srgbClr val="111827"/>
                    </a:solidFill>
                    <a:latin typeface="Cambria Math" panose="02040503050406030204" pitchFamily="18" charset="0"/>
                  </a:rPr>
                  <a:t>$22-r$</a:t>
                </a:r>
                <a:r>
                  <a:rPr sz="2400" b="0">
                    <a:solidFill>
                      <a:srgbClr val="111827"/>
                    </a:solidFill>
                    <a:latin typeface="Arial"/>
                  </a:rPr>
                  <a:t> members from the men in </a:t>
                </a:r>
                <a:r>
                  <a:rPr lang="en-IN" sz="2400">
                    <a:solidFill>
                      <a:srgbClr val="111827"/>
                    </a:solidFill>
                    <a:latin typeface="Cambria Math" panose="02040503050406030204" pitchFamily="18" charset="0"/>
                  </a:rPr>
                  <a:t>$\binom{22}{22-r}=\binom{22}{r}$</a:t>
                </a:r>
                <a:r>
                  <a:rPr sz="2400" b="0">
                    <a:solidFill>
                      <a:srgbClr val="111827"/>
                    </a:solidFill>
                    <a:latin typeface="Arial"/>
                  </a:rPr>
                  <a:t> ways, for </a:t>
                </a:r>
                <a:r>
                  <a:rPr lang="en-IN" sz="2400">
                    <a:solidFill>
                      <a:srgbClr val="111827"/>
                    </a:solidFill>
                    <a:latin typeface="Cambria Math" panose="02040503050406030204" pitchFamily="18" charset="0"/>
                  </a:rPr>
                  <a:t>$r=0,1,\dots,22$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Adding over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counts every committee exactly once, so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22</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𝑟</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22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22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23</m:t>
                            </m:r>
                          </m:den>
                        </m:f>
                      </m:e>
                    </m:d>
                  </m:oMath>
                </a14:m>
                <a:r>
                  <a:rPr sz="2400" b="0">
                    <a:solidFill>
                      <a:srgbClr val="111827"/>
                    </a:solidFill>
                    <a:latin typeface="Arial"/>
                  </a:rPr>
                  <a:t>, the value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23</m:t>
                            </m:r>
                          </m:den>
                        </m:f>
                      </m:e>
                    </m:d>
                  </m:oMath>
                </a14:m>
                <a:r>
                  <a:rPr sz="2400" b="0">
                    <a:solidFill>
                      <a:srgbClr val="111827"/>
                    </a:solidFill>
                    <a:latin typeface="Arial"/>
                  </a:rPr>
                  <a:t>, option (C)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Adding over </a:t>
                </a:r>
                <a:r>
                  <a:rPr lang="en-IN" sz="2400">
                    <a:solidFill>
                      <a:srgbClr val="111827"/>
                    </a:solidFill>
                    <a:latin typeface="Cambria Math" panose="02040503050406030204" pitchFamily="18" charset="0"/>
                  </a:rPr>
                  <a:t>$r$</a:t>
                </a:r>
                <a:r>
                  <a:rPr sz="2400" b="0">
                    <a:solidFill>
                      <a:srgbClr val="111827"/>
                    </a:solidFill>
                    <a:latin typeface="Arial"/>
                  </a:rPr>
                  <a:t> counts every committee exactly once, so </a:t>
                </a:r>
                <a:r>
                  <a:rPr lang="en-IN" sz="2400">
                    <a:solidFill>
                      <a:srgbClr val="111827"/>
                    </a:solidFill>
                    <a:latin typeface="Cambria Math" panose="02040503050406030204" pitchFamily="18" charset="0"/>
                  </a:rPr>
                  <a:t>$\sum_{r=0}^{22}\binom{22}{r}\binom{23}{r}=\binom{45}{22}$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$\binom{45}{22}=\binom{45}{23}$</a:t>
                </a:r>
                <a:r>
                  <a:rPr sz="2400" b="0">
                    <a:solidFill>
                      <a:srgbClr val="111827"/>
                    </a:solidFill>
                    <a:latin typeface="Arial"/>
                  </a:rPr>
                  <a:t>, the value is </a:t>
                </a:r>
                <a:r>
                  <a:rPr lang="en-IN" sz="2400">
                    <a:solidFill>
                      <a:srgbClr val="111827"/>
                    </a:solidFill>
                    <a:latin typeface="Cambria Math" panose="02040503050406030204" pitchFamily="18" charset="0"/>
                  </a:rPr>
                  <a:t>$\binom{45}{23}$</a:t>
                </a:r>
                <a:r>
                  <a:rPr sz="2400" b="0">
                    <a:solidFill>
                      <a:srgbClr val="111827"/>
                    </a:solidFill>
                    <a:latin typeface="Arial"/>
                  </a:rPr>
                  <a:t>, option (C)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f>
                          <m:fPr>
                            <m:type m:val="no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45</m:t>
                            </m:r>
                          </m:num>
                          <m:den>
                            <m:r>
                              <a:rPr lang="en-IN" sz="2800" i="1">
                                <a:solidFill>
                                  <a:srgbClr val="15803D"/>
                                </a:solidFill>
                                <a:latin typeface="Cambria Math" panose="02040503050406030204" pitchFamily="18" charset="0"/>
                              </a:rPr>
                              <m:t>23</m:t>
                            </m:r>
                          </m:den>
                        </m:f>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$\binom{45}{23}$</a:t>
                </a:r>
                <a:endParaRPr sz="2800">
                  <a:solidFill>
                    <a:srgbClr val="15803D"/>
                  </a:solidFill>
                </a:endParaRP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Vandermonde: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𝑟</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Convolution of the 'same-lower-index' type: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𝑚</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𝑟</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𝑚</m:t>
                            </m:r>
                          </m:den>
                        </m:f>
                      </m:e>
                    </m:d>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 giving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22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 a sum of products of two binomials whose lower indices add (or differ) by a constant is a coefficient in a product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use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e>
                    </m:d>
                  </m:oMath>
                </a14:m>
                <a:r>
                  <a:rPr sz="2400" b="0">
                    <a:solidFill>
                      <a:srgbClr val="111827"/>
                    </a:solidFill>
                    <a:latin typeface="Arial"/>
                  </a:rPr>
                  <a:t> to make the indices add up.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0</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0</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Vandermonde: </a:t>
                </a:r>
                <a:r>
                  <a:rPr lang="en-IN" sz="2400">
                    <a:solidFill>
                      <a:srgbClr val="111827"/>
                    </a:solidFill>
                    <a:latin typeface="Cambria Math" panose="02040503050406030204" pitchFamily="18" charset="0"/>
                  </a:rPr>
                  <a:t>$\sum_{r}\binom{m}{r}\binom{n}{k-r}=\binom{m+n}{k}$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Convolution of the 'same-lower-index' type: </a:t>
                </a:r>
                <a:r>
                  <a:rPr lang="en-IN" sz="2400">
                    <a:solidFill>
                      <a:srgbClr val="111827"/>
                    </a:solidFill>
                    <a:latin typeface="Cambria Math" panose="02040503050406030204" pitchFamily="18" charset="0"/>
                  </a:rPr>
                  <a:t>$\sum_{r=0}^{m}\binom{m}{r}\binom{n}{r}=\binom{m+n}{m}$</a:t>
                </a:r>
                <a:r>
                  <a:rPr sz="2400" b="0">
                    <a:solidFill>
                      <a:srgbClr val="111827"/>
                    </a:solidFill>
                    <a:latin typeface="Arial"/>
                  </a:rPr>
                  <a:t> (here </a:t>
                </a:r>
                <a:r>
                  <a:rPr lang="en-IN" sz="2400">
                    <a:solidFill>
                      <a:srgbClr val="111827"/>
                    </a:solidFill>
                    <a:latin typeface="Cambria Math" panose="02040503050406030204" pitchFamily="18" charset="0"/>
                  </a:rPr>
                  <a:t>$m=22$</a:t>
                </a:r>
                <a:r>
                  <a:rPr sz="2400" b="0">
                    <a:solidFill>
                      <a:srgbClr val="111827"/>
                    </a:solidFill>
                    <a:latin typeface="Arial"/>
                  </a:rPr>
                  <a:t>, </a:t>
                </a:r>
                <a:r>
                  <a:rPr lang="en-IN" sz="2400">
                    <a:solidFill>
                      <a:srgbClr val="111827"/>
                    </a:solidFill>
                    <a:latin typeface="Cambria Math" panose="02040503050406030204" pitchFamily="18" charset="0"/>
                  </a:rPr>
                  <a:t>$n=23$</a:t>
                </a:r>
                <a:r>
                  <a:rPr sz="2400" b="0">
                    <a:solidFill>
                      <a:srgbClr val="111827"/>
                    </a:solidFill>
                    <a:latin typeface="Arial"/>
                  </a:rPr>
                  <a:t>, giving </a:t>
                </a:r>
                <a:r>
                  <a:rPr lang="en-IN" sz="2400">
                    <a:solidFill>
                      <a:srgbClr val="111827"/>
                    </a:solidFill>
                    <a:latin typeface="Cambria Math" panose="02040503050406030204" pitchFamily="18" charset="0"/>
                  </a:rPr>
                  <a:t>$\binom{45}{22}$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 a sum of products of two binomials whose lower indices add (or differ) by a constant is a coefficient in a product </a:t>
                </a:r>
                <a:r>
                  <a:rPr lang="en-IN" sz="2400">
                    <a:solidFill>
                      <a:srgbClr val="111827"/>
                    </a:solidFill>
                    <a:latin typeface="Cambria Math" panose="02040503050406030204" pitchFamily="18" charset="0"/>
                  </a:rPr>
                  <a:t>$(1+x)^m(1+x)^n$</a:t>
                </a:r>
                <a:r>
                  <a:rPr sz="2400" b="0">
                    <a:solidFill>
                      <a:srgbClr val="111827"/>
                    </a:solidFill>
                    <a:latin typeface="Arial"/>
                  </a:rPr>
                  <a:t>; use </a:t>
                </a:r>
                <a:r>
                  <a:rPr lang="en-IN" sz="2400">
                    <a:solidFill>
                      <a:srgbClr val="111827"/>
                    </a:solidFill>
                    <a:latin typeface="Cambria Math" panose="02040503050406030204" pitchFamily="18" charset="0"/>
                  </a:rPr>
                  <a:t>$\binom{n}{r}=\binom{n}{n-r}$</a:t>
                </a:r>
                <a:r>
                  <a:rPr sz="2400" b="0">
                    <a:solidFill>
                      <a:srgbClr val="111827"/>
                    </a:solidFill>
                    <a:latin typeface="Arial"/>
                  </a:rPr>
                  <a:t> to make the indices add up.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$m=1,n=2$</a:t>
                </a:r>
                <a:r>
                  <a:rPr sz="2400" b="0">
                    <a:solidFill>
                      <a:srgbClr val="111827"/>
                    </a:solidFill>
                    <a:latin typeface="Arial"/>
                  </a:rPr>
                  <a:t>: </a:t>
                </a:r>
                <a:r>
                  <a:rPr lang="en-IN" sz="2400">
                    <a:solidFill>
                      <a:srgbClr val="111827"/>
                    </a:solidFill>
                    <a:latin typeface="Cambria Math" panose="02040503050406030204" pitchFamily="18" charset="0"/>
                  </a:rPr>
                  <a:t>$\binom10\binom20+\binom11\binom21=3=\binom31$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0949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30</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30</m:t>
                    </m:r>
                  </m:oMath>
                </a14:m>
                <a:endParaRPr sz="2400">
                  <a:solidFill>
                    <a:srgbClr val="111827"/>
                  </a:solidFill>
                </a:endParaRPr>
              </a:p>
            </p:txBody>
          </p:sp>
        </mc:Choice>
        <mc:Fallback>
          <p:sp>
            <p:nvSpPr>
              <p:cNvPr id="4" name="Rounded Rectangle 3"/>
              <p:cNvSpPr/>
              <p:nvPr/>
            </p:nvSpPr>
            <p:spPr>
              <a:xfrm>
                <a:off x="731520" y="1280160"/>
                <a:ext cx="10725912" cy="180949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$(^{30}C_1)^2+2(^{30}C_2)^2+3(^{30}C_3)^2+\dots+30(^{30}C_{30})^2=\dfrac{\alpha\,60!}{(30!)^2}$</a:t>
                </a:r>
                <a:r>
                  <a:rPr sz="2400" b="0">
                    <a:solidFill>
                      <a:srgbClr val="111827"/>
                    </a:solidFill>
                    <a:latin typeface="Arial"/>
                  </a:rPr>
                  <a:t>, then </a:t>
                </a:r>
                <a:r>
                  <a:rPr lang="en-IN" sz="2400">
                    <a:solidFill>
                      <a:srgbClr val="111827"/>
                    </a:solidFill>
                    <a:latin typeface="Cambria Math" panose="02040503050406030204" pitchFamily="18" charset="0"/>
                  </a:rPr>
                  <a:t>$\alpha$</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$15$</a:t>
                </a:r>
                <a:r>
                  <a:rPr sz="2400" b="0">
                    <a:solidFill>
                      <a:srgbClr val="111827"/>
                    </a:solidFill>
                    <a:latin typeface="Arial"/>
                  </a:rPr>
                  <a:t>   (B) </a:t>
                </a:r>
                <a:r>
                  <a:rPr lang="en-IN" sz="2400">
                    <a:solidFill>
                      <a:srgbClr val="111827"/>
                    </a:solidFill>
                    <a:latin typeface="Cambria Math" panose="02040503050406030204" pitchFamily="18" charset="0"/>
                  </a:rPr>
                  <a:t>$60$</a:t>
                </a:r>
                <a:r>
                  <a:rPr sz="2400" b="0">
                    <a:solidFill>
                      <a:srgbClr val="111827"/>
                    </a:solidFill>
                    <a:latin typeface="Arial"/>
                  </a:rPr>
                  <a:t>   (C) </a:t>
                </a:r>
                <a:r>
                  <a:rPr lang="en-IN" sz="2400">
                    <a:solidFill>
                      <a:srgbClr val="111827"/>
                    </a:solidFill>
                    <a:latin typeface="Cambria Math" panose="02040503050406030204" pitchFamily="18" charset="0"/>
                  </a:rPr>
                  <a:t>$10$</a:t>
                </a:r>
                <a:r>
                  <a:rPr sz="2400" b="0">
                    <a:solidFill>
                      <a:srgbClr val="111827"/>
                    </a:solidFill>
                    <a:latin typeface="Arial"/>
                  </a:rPr>
                  <a:t>   (D) </a:t>
                </a:r>
                <a:r>
                  <a:rPr lang="en-IN" sz="2400">
                    <a:solidFill>
                      <a:srgbClr val="111827"/>
                    </a:solidFill>
                    <a:latin typeface="Cambria Math" panose="02040503050406030204" pitchFamily="18" charset="0"/>
                  </a:rPr>
                  <a:t>$30$</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31825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coefficient identities (sum of </a:t>
                </a:r>
                <a14:m>
                  <m:oMath xmlns:m="http://schemas.openxmlformats.org/officeDocument/2006/math">
                    <m:r>
                      <a:rPr lang="en-IN" sz="2400" i="1">
                        <a:solidFill>
                          <a:srgbClr val="111827"/>
                        </a:solidFill>
                        <a:latin typeface="Cambria Math" panose="02040503050406030204" pitchFamily="18" charset="0"/>
                      </a:rPr>
                      <m:t>𝑟</m:t>
                    </m:r>
                    <m:s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31825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coefficient identities (sum of </a:t>
                </a:r>
                <a:r>
                  <a:rPr lang="en-IN" sz="2400">
                    <a:solidFill>
                      <a:srgbClr val="111827"/>
                    </a:solidFill>
                    <a:latin typeface="Cambria Math" panose="02040503050406030204" pitchFamily="18" charset="0"/>
                  </a:rPr>
                  <a:t>$r\binom{n}{r}^2$</a:t>
                </a:r>
                <a:r>
                  <a:rPr sz="2400" b="0">
                    <a:solidFill>
                      <a:srgbClr val="111827"/>
                    </a:solidFill>
                    <a:latin typeface="Arial"/>
                  </a:rPr>
                  <a: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Reverse the order of the terms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oMath>
                </a14:m>
                <a:r>
                  <a:rPr sz="2400" b="0">
                    <a:solidFill>
                      <a:srgbClr val="78350F"/>
                    </a:solidFill>
                    <a:latin typeface="Arial"/>
                  </a:rPr>
                  <a:t>) and add: each pair of terms combines to </a:t>
                </a:r>
                <a14:m>
                  <m:oMath xmlns:m="http://schemas.openxmlformats.org/officeDocument/2006/math">
                    <m:r>
                      <a:rPr lang="en-IN" sz="2400" i="1">
                        <a:solidFill>
                          <a:srgbClr val="78350F"/>
                        </a:solidFill>
                        <a:latin typeface="Cambria Math" panose="02040503050406030204" pitchFamily="18" charset="0"/>
                      </a:rPr>
                      <m:t>30</m:t>
                    </m:r>
                    <m:sSup>
                      <m:e>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30</m:t>
                                </m:r>
                              </m:num>
                              <m:den>
                                <m:r>
                                  <a:rPr lang="en-IN" sz="2400" i="1">
                                    <a:solidFill>
                                      <a:srgbClr val="78350F"/>
                                    </a:solidFill>
                                    <a:latin typeface="Cambria Math" panose="02040503050406030204" pitchFamily="18" charset="0"/>
                                  </a:rPr>
                                  <m:t>𝑟</m:t>
                                </m:r>
                              </m:den>
                            </m:f>
                          </m:e>
                        </m:d>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Reverse the order of the terms (</a:t>
                </a:r>
                <a:r>
                  <a:rPr lang="en-IN" sz="2400">
                    <a:solidFill>
                      <a:srgbClr val="78350F"/>
                    </a:solidFill>
                    <a:latin typeface="Cambria Math" panose="02040503050406030204" pitchFamily="18" charset="0"/>
                  </a:rPr>
                  <a:t>$r\to30-r$</a:t>
                </a:r>
                <a:r>
                  <a:rPr sz="2400" b="0">
                    <a:solidFill>
                      <a:srgbClr val="78350F"/>
                    </a:solidFill>
                    <a:latin typeface="Arial"/>
                  </a:rPr>
                  <a:t>) and add: each pair of terms combines to </a:t>
                </a:r>
                <a:r>
                  <a:rPr lang="en-IN" sz="2400">
                    <a:solidFill>
                      <a:srgbClr val="78350F"/>
                    </a:solidFill>
                    <a:latin typeface="Cambria Math" panose="02040503050406030204" pitchFamily="18" charset="0"/>
                  </a:rPr>
                  <a:t>$30\binom{30}{r}^2$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0</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1</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s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30</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the terms in the reverse order and use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s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0</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s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1</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s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30</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the two expressions term by term: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d>
                      <m:dPr>
                        <m:begChr m:val="["/>
                        <m:sepChr m:val=""/>
                        <m:endChr m:val="]"/>
                        <m:grow/>
                        <m:ctrlPr>
                          <a:rPr lang="en-IN" sz="2400" i="1">
                            <a:solidFill>
                              <a:srgbClr val="111827"/>
                            </a:solidFill>
                            <a:latin typeface="Cambria Math" panose="02040503050406030204" pitchFamily="18" charset="0"/>
                          </a:rPr>
                        </m:ctrlPr>
                      </m:dPr>
                      <m:e>
                        <m:s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0</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1</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30</m:t>
                                    </m:r>
                                  </m:den>
                                </m:f>
                              </m:e>
                            </m:d>
                          </m:e>
                          <m:sup>
                            <m:r>
                              <a:rPr lang="en-IN" sz="2400" i="1">
                                <a:solidFill>
                                  <a:srgbClr val="111827"/>
                                </a:solidFill>
                                <a:latin typeface="Cambria Math" panose="02040503050406030204" pitchFamily="18" charset="0"/>
                              </a:rPr>
                              <m:t>2</m:t>
                            </m:r>
                          </m:sup>
                        </m:sSup>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$S=0\cdot\binom{30}{0}^2+1\cdot\binom{30}{1}^2+2\binom{30}{2}^2+\dots+30\binom{30}{30}^2$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the terms in the reverse order and use </a:t>
                </a:r>
                <a:r>
                  <a:rPr lang="en-IN" sz="2400">
                    <a:solidFill>
                      <a:srgbClr val="111827"/>
                    </a:solidFill>
                    <a:latin typeface="Cambria Math" panose="02040503050406030204" pitchFamily="18" charset="0"/>
                  </a:rPr>
                  <a:t>$\binom{30}{r}=\binom{30}{30-r}$</a:t>
                </a:r>
                <a:r>
                  <a:rPr sz="2400" b="0">
                    <a:solidFill>
                      <a:srgbClr val="111827"/>
                    </a:solidFill>
                    <a:latin typeface="Arial"/>
                  </a:rPr>
                  <a:t>: </a:t>
                </a:r>
                <a:r>
                  <a:rPr lang="en-IN" sz="2400">
                    <a:solidFill>
                      <a:srgbClr val="111827"/>
                    </a:solidFill>
                    <a:latin typeface="Cambria Math" panose="02040503050406030204" pitchFamily="18" charset="0"/>
                  </a:rPr>
                  <a:t>$S=30\binom{30}{0}^2+29\binom{30}{1}^2+28\binom{30}{2}^2+\dots+0\cdot\binom{30}{30}^2$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the two expressions term by term: </a:t>
                </a:r>
                <a:r>
                  <a:rPr lang="en-IN" sz="2400">
                    <a:solidFill>
                      <a:srgbClr val="111827"/>
                    </a:solidFill>
                    <a:latin typeface="Cambria Math" panose="02040503050406030204" pitchFamily="18" charset="0"/>
                  </a:rPr>
                  <a:t>$2S=30\left[\binom{30}{0}^2+\binom{30}{1}^2+\dots+\binom{30}{30}^2\right]$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Use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30</m:t>
                        </m:r>
                      </m:sup>
                      <m:e>
                        <m:s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𝑟</m:t>
                                    </m:r>
                                  </m:den>
                                </m:f>
                              </m:e>
                            </m:d>
                          </m:e>
                          <m:sup>
                            <m:r>
                              <a:rPr lang="en-IN" sz="2400" i="1">
                                <a:solidFill>
                                  <a:srgbClr val="111827"/>
                                </a:solidFill>
                                <a:latin typeface="Cambria Math" panose="02040503050406030204" pitchFamily="18" charset="0"/>
                              </a:rPr>
                              <m:t>2</m:t>
                            </m:r>
                          </m:sup>
                        </m:sSup>
                      </m:e>
                    </m:nary>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30</m:t>
                            </m:r>
                          </m:den>
                        </m:f>
                      </m:e>
                    </m:d>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30</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Compare with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Use </a:t>
                </a:r>
                <a:r>
                  <a:rPr lang="en-IN" sz="2400">
                    <a:solidFill>
                      <a:srgbClr val="111827"/>
                    </a:solidFill>
                    <a:latin typeface="Cambria Math" panose="02040503050406030204" pitchFamily="18" charset="0"/>
                  </a:rPr>
                  <a:t>$\sum_{r=0}^{30}\binom{30}{r}^2=\binom{60}{30}$</a:t>
                </a:r>
                <a:r>
                  <a:rPr sz="2400" b="0">
                    <a:solidFill>
                      <a:srgbClr val="111827"/>
                    </a:solidFill>
                    <a:latin typeface="Arial"/>
                  </a:rPr>
                  <a:t>. Hence </a:t>
                </a:r>
                <a:r>
                  <a:rPr lang="en-IN" sz="2400">
                    <a:solidFill>
                      <a:srgbClr val="111827"/>
                    </a:solidFill>
                    <a:latin typeface="Cambria Math" panose="02040503050406030204" pitchFamily="18" charset="0"/>
                  </a:rPr>
                  <a:t>$S=15\binom{60}{30}=15\cdot\dfrac{60!}{(30!)^2}$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Compare with </a:t>
                </a:r>
                <a:r>
                  <a:rPr lang="en-IN" sz="2400">
                    <a:solidFill>
                      <a:srgbClr val="111827"/>
                    </a:solidFill>
                    <a:latin typeface="Cambria Math" panose="02040503050406030204" pitchFamily="18" charset="0"/>
                  </a:rPr>
                  <a:t>$\dfrac{\alpha\,60!}{(30!)^2}$</a:t>
                </a:r>
                <a:r>
                  <a:rPr sz="2400" b="0">
                    <a:solidFill>
                      <a:srgbClr val="111827"/>
                    </a:solidFill>
                    <a:latin typeface="Arial"/>
                  </a:rPr>
                  <a:t>: </a:t>
                </a:r>
                <a:r>
                  <a:rPr lang="en-IN" sz="2400">
                    <a:solidFill>
                      <a:srgbClr val="111827"/>
                    </a:solidFill>
                    <a:latin typeface="Cambria Math" panose="02040503050406030204" pitchFamily="18" charset="0"/>
                  </a:rPr>
                  <a:t>$\alpha=15$</a:t>
                </a:r>
                <a:r>
                  <a:rPr sz="2400" b="0">
                    <a:solidFill>
                      <a:srgbClr val="111827"/>
                    </a:solidFill>
                    <a:latin typeface="Arial"/>
                  </a:rPr>
                  <a:t>,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15</a:t>
            </a:r>
            <a:endParaRPr sz="2800">
              <a:solidFill>
                <a:srgbClr val="15803D"/>
              </a:solidFill>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14:m>
                  <m:oMath xmlns:m="http://schemas.openxmlformats.org/officeDocument/2006/math">
                    <m:r>
                      <a:rPr lang="en-IN" sz="2400" i="1">
                        <a:solidFill>
                          <a:srgbClr val="78350F"/>
                        </a:solidFill>
                        <a:latin typeface="Cambria Math" panose="02040503050406030204" pitchFamily="18" charset="0"/>
                      </a:rPr>
                      <m:t>𝑟</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𝑟</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e>
                    </m:d>
                  </m:oMath>
                </a14:m>
                <a:r>
                  <a:rPr sz="2400" b="0">
                    <a:solidFill>
                      <a:srgbClr val="78350F"/>
                    </a:solidFill>
                    <a:latin typeface="Arial"/>
                  </a:rPr>
                  <a:t> to reduce the sum to a Vandermonde convolution.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r>
                  <a:rPr lang="en-IN" sz="2400">
                    <a:solidFill>
                      <a:srgbClr val="78350F"/>
                    </a:solidFill>
                    <a:latin typeface="Cambria Math" panose="02040503050406030204" pitchFamily="18" charset="0"/>
                  </a:rPr>
                  <a:t>$r\binom{n}{r}=n\binom{n-1}{r-1}$</a:t>
                </a:r>
                <a:r>
                  <a:rPr sz="2400" b="0">
                    <a:solidFill>
                      <a:srgbClr val="78350F"/>
                    </a:solidFill>
                    <a:latin typeface="Arial"/>
                  </a:rPr>
                  <a:t> to reduce the sum to a Vandermonde convolution.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𝑟</m:t>
                    </m:r>
                    <m:s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𝑟</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𝑟</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𝑟</m:t>
                                </m:r>
                              </m:den>
                            </m:f>
                          </m:e>
                        </m:d>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e>
                    </m: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30</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lower indices add up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oMath>
                </a14:m>
                <a:r>
                  <a:rPr sz="2400" b="0">
                    <a:solidFill>
                      <a:srgbClr val="111827"/>
                    </a:solidFill>
                    <a:latin typeface="Arial"/>
                  </a:rPr>
                  <a:t>, so by Vandermonde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59</m:t>
                            </m:r>
                          </m:num>
                          <m:den>
                            <m:r>
                              <a:rPr lang="en-IN" sz="2400" i="1">
                                <a:solidFill>
                                  <a:srgbClr val="111827"/>
                                </a:solidFill>
                                <a:latin typeface="Cambria Math" panose="02040503050406030204" pitchFamily="18" charset="0"/>
                              </a:rPr>
                              <m:t>29</m:t>
                            </m:r>
                          </m:den>
                        </m:f>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$r\binom{30}{r}^2=\left[r\binom{30}{r}\right]\binom{30}{r}=30\binom{29}{r-1}\binom{30}{r}$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r>
                  <a:rPr lang="en-IN" sz="2400">
                    <a:solidFill>
                      <a:srgbClr val="111827"/>
                    </a:solidFill>
                    <a:latin typeface="Cambria Math" panose="02040503050406030204" pitchFamily="18" charset="0"/>
                  </a:rPr>
                  <a:t>$\binom{30}{r}=\binom{30}{30-r}$</a:t>
                </a:r>
                <a:r>
                  <a:rPr sz="2400" b="0">
                    <a:solidFill>
                      <a:srgbClr val="111827"/>
                    </a:solidFill>
                    <a:latin typeface="Arial"/>
                  </a:rPr>
                  <a:t>, so </a:t>
                </a:r>
                <a:r>
                  <a:rPr lang="en-IN" sz="2400">
                    <a:solidFill>
                      <a:srgbClr val="111827"/>
                    </a:solidFill>
                    <a:latin typeface="Cambria Math" panose="02040503050406030204" pitchFamily="18" charset="0"/>
                  </a:rPr>
                  <a:t>$S=30\sum_{r=1}^{30}\binom{29}{r-1}\binom{30}{30-r}$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lower indices add up to </a:t>
                </a:r>
                <a:r>
                  <a:rPr lang="en-IN" sz="2400">
                    <a:solidFill>
                      <a:srgbClr val="111827"/>
                    </a:solidFill>
                    <a:latin typeface="Cambria Math" panose="02040503050406030204" pitchFamily="18" charset="0"/>
                  </a:rPr>
                  <a:t>$(r-1)+(30-r)=29$</a:t>
                </a:r>
                <a:r>
                  <a:rPr sz="2400" b="0">
                    <a:solidFill>
                      <a:srgbClr val="111827"/>
                    </a:solidFill>
                    <a:latin typeface="Arial"/>
                  </a:rPr>
                  <a:t>, so by Vandermonde </a:t>
                </a:r>
                <a:r>
                  <a:rPr lang="en-IN" sz="2400">
                    <a:solidFill>
                      <a:srgbClr val="111827"/>
                    </a:solidFill>
                    <a:latin typeface="Cambria Math" panose="02040503050406030204" pitchFamily="18" charset="0"/>
                  </a:rPr>
                  <a:t>$\sum_{r}\binom{29}{r-1}\binom{30}{30-r}=\binom{59}{29}$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59</m:t>
                            </m:r>
                          </m:num>
                          <m:den>
                            <m:r>
                              <a:rPr lang="en-IN" sz="2400" i="1">
                                <a:solidFill>
                                  <a:srgbClr val="111827"/>
                                </a:solidFill>
                                <a:latin typeface="Cambria Math" panose="02040503050406030204" pitchFamily="18" charset="0"/>
                              </a:rPr>
                              <m:t>29</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59</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59</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59</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Equating with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59</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$S=30\binom{59}{29}=30\cdot\dfrac{59!}{29!\,30!}$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$(30!)^2=30\cdot29!\cdot30!$</a:t>
                </a:r>
                <a:r>
                  <a:rPr sz="2400" b="0">
                    <a:solidFill>
                      <a:srgbClr val="111827"/>
                    </a:solidFill>
                    <a:latin typeface="Arial"/>
                  </a:rPr>
                  <a:t>, </a:t>
                </a:r>
                <a:r>
                  <a:rPr lang="en-IN" sz="2400">
                    <a:solidFill>
                      <a:srgbClr val="111827"/>
                    </a:solidFill>
                    <a:latin typeface="Cambria Math" panose="02040503050406030204" pitchFamily="18" charset="0"/>
                  </a:rPr>
                  <a:t>$\dfrac{\alpha\,60!}{(30!)^2}=\dfrac{60\alpha\cdot59!}{30\cdot29!\,30!}=\dfrac{2\alpha\cdot59!}{29!\,30!}$</a:t>
                </a:r>
                <a:r>
                  <a:rPr sz="2400" b="0">
                    <a:solidFill>
                      <a:srgbClr val="111827"/>
                    </a:solidFill>
                    <a:latin typeface="Arial"/>
                  </a:rPr>
                  <a:t>. Equating with </a:t>
                </a:r>
                <a:r>
                  <a:rPr lang="en-IN" sz="2400">
                    <a:solidFill>
                      <a:srgbClr val="111827"/>
                    </a:solidFill>
                    <a:latin typeface="Cambria Math" panose="02040503050406030204" pitchFamily="18" charset="0"/>
                  </a:rPr>
                  <a:t>$\dfrac{30\cdot59!}{29!\,30!}$</a:t>
                </a:r>
                <a:r>
                  <a:rPr sz="2400" b="0">
                    <a:solidFill>
                      <a:srgbClr val="111827"/>
                    </a:solidFill>
                    <a:latin typeface="Arial"/>
                  </a:rPr>
                  <a:t> gives </a:t>
                </a:r>
                <a:r>
                  <a:rPr lang="en-IN" sz="2400">
                    <a:solidFill>
                      <a:srgbClr val="111827"/>
                    </a:solidFill>
                    <a:latin typeface="Cambria Math" panose="02040503050406030204" pitchFamily="18" charset="0"/>
                  </a:rPr>
                  <a:t>$2\alpha=30$</a:t>
                </a:r>
                <a:r>
                  <a:rPr sz="2400" b="0">
                    <a:solidFill>
                      <a:srgbClr val="111827"/>
                    </a:solidFill>
                    <a:latin typeface="Arial"/>
                  </a:rPr>
                  <a:t>, so </a:t>
                </a:r>
                <a:r>
                  <a:rPr lang="en-IN" sz="2400">
                    <a:solidFill>
                      <a:srgbClr val="111827"/>
                    </a:solidFill>
                    <a:latin typeface="Cambria Math" panose="02040503050406030204" pitchFamily="18" charset="0"/>
                  </a:rPr>
                  <a:t>$\alpha=15$</a:t>
                </a:r>
                <a:r>
                  <a:rPr sz="2400" b="0">
                    <a:solidFill>
                      <a:srgbClr val="111827"/>
                    </a:solidFill>
                    <a:latin typeface="Arial"/>
                  </a:rPr>
                  <a:t>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15</a:t>
            </a:r>
            <a:endParaRPr sz="2800">
              <a:solidFill>
                <a:srgbClr val="15803D"/>
              </a:solidFill>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𝑟</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(absorption).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r>
                          <a:rPr lang="en-IN" sz="2400" i="1">
                            <a:solidFill>
                              <a:srgbClr val="111827"/>
                            </a:solidFill>
                            <a:latin typeface="Cambria Math" panose="02040503050406030204" pitchFamily="18" charset="0"/>
                          </a:rPr>
                          <m:t>𝑟</m:t>
                        </m:r>
                      </m:e>
                    </m:nary>
                    <m:s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this is </a:t>
                </a:r>
                <a14:m>
                  <m:oMath xmlns:m="http://schemas.openxmlformats.org/officeDocument/2006/math">
                    <m:r>
                      <a:rPr lang="en-IN" sz="2400" i="1">
                        <a:solidFill>
                          <a:srgbClr val="111827"/>
                        </a:solidFill>
                        <a:latin typeface="Cambria Math" panose="02040503050406030204" pitchFamily="18" charset="0"/>
                      </a:rPr>
                      <m:t>15</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30</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Reversal trick: 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constant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whenever the weights are symmetric, </a:t>
                </a:r>
                <a14:m>
                  <m:oMath xmlns:m="http://schemas.openxmlformats.org/officeDocument/2006/math">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$r\binom{n}{r}=n\binom{n-1}{r-1}$</a:t>
                </a:r>
                <a:r>
                  <a:rPr sz="2400" b="0">
                    <a:solidFill>
                      <a:srgbClr val="111827"/>
                    </a:solidFill>
                    <a:latin typeface="Arial"/>
                  </a:rPr>
                  <a:t> (absorption).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$\sum_{r=0}^{n} r\binom{n}{r}^2=\dfrac{n}{2}\binom{2n}{n}=n\binom{2n-1}{n-1}$</a:t>
                </a:r>
                <a:r>
                  <a:rPr sz="2400" b="0">
                    <a:solidFill>
                      <a:srgbClr val="111827"/>
                    </a:solidFill>
                    <a:latin typeface="Arial"/>
                  </a:rPr>
                  <a:t>; for </a:t>
                </a:r>
                <a:r>
                  <a:rPr lang="en-IN" sz="2400">
                    <a:solidFill>
                      <a:srgbClr val="111827"/>
                    </a:solidFill>
                    <a:latin typeface="Cambria Math" panose="02040503050406030204" pitchFamily="18" charset="0"/>
                  </a:rPr>
                  <a:t>$n=30$</a:t>
                </a:r>
                <a:r>
                  <a:rPr sz="2400" b="0">
                    <a:solidFill>
                      <a:srgbClr val="111827"/>
                    </a:solidFill>
                    <a:latin typeface="Arial"/>
                  </a:rPr>
                  <a:t> this is </a:t>
                </a:r>
                <a:r>
                  <a:rPr lang="en-IN" sz="2400">
                    <a:solidFill>
                      <a:srgbClr val="111827"/>
                    </a:solidFill>
                    <a:latin typeface="Cambria Math" panose="02040503050406030204" pitchFamily="18" charset="0"/>
                  </a:rPr>
                  <a:t>$15\binom{60}{30}$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Reversal trick: if </a:t>
                </a:r>
                <a:r>
                  <a:rPr lang="en-IN" sz="2400">
                    <a:solidFill>
                      <a:srgbClr val="111827"/>
                    </a:solidFill>
                    <a:latin typeface="Cambria Math" panose="02040503050406030204" pitchFamily="18" charset="0"/>
                  </a:rPr>
                  <a:t>$f(r)+f(n-r)$</a:t>
                </a:r>
                <a:r>
                  <a:rPr sz="2400" b="0">
                    <a:solidFill>
                      <a:srgbClr val="111827"/>
                    </a:solidFill>
                    <a:latin typeface="Arial"/>
                  </a:rPr>
                  <a:t> is constant then </a:t>
                </a:r>
                <a:r>
                  <a:rPr lang="en-IN" sz="2400">
                    <a:solidFill>
                      <a:srgbClr val="111827"/>
                    </a:solidFill>
                    <a:latin typeface="Cambria Math" panose="02040503050406030204" pitchFamily="18" charset="0"/>
                  </a:rPr>
                  <a:t>$\sum f(r)w_r=\frac{c}{2}\sum w_r$</a:t>
                </a:r>
                <a:r>
                  <a:rPr sz="2400" b="0">
                    <a:solidFill>
                      <a:srgbClr val="111827"/>
                    </a:solidFill>
                    <a:latin typeface="Arial"/>
                  </a:rPr>
                  <a:t> whenever the weights are symmetric, </a:t>
                </a:r>
                <a:r>
                  <a:rPr lang="en-IN" sz="2400">
                    <a:solidFill>
                      <a:srgbClr val="111827"/>
                    </a:solidFill>
                    <a:latin typeface="Cambria Math" panose="02040503050406030204" pitchFamily="18" charset="0"/>
                  </a:rPr>
                  <a:t>$w_r=w_{n-r}$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$n=2$</a:t>
                </a:r>
                <a:r>
                  <a:rPr sz="2400" b="0">
                    <a:solidFill>
                      <a:srgbClr val="111827"/>
                    </a:solidFill>
                    <a:latin typeface="Arial"/>
                  </a:rPr>
                  <a:t>: </a:t>
                </a:r>
                <a:r>
                  <a:rPr lang="en-IN" sz="2400">
                    <a:solidFill>
                      <a:srgbClr val="111827"/>
                    </a:solidFill>
                    <a:latin typeface="Cambria Math" panose="02040503050406030204" pitchFamily="18" charset="0"/>
                  </a:rPr>
                  <a:t>$1\cdot2^2+2\cdot1^2=6=\frac22\binom42$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is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oMath>
                </a14:m>
                <a:r>
                  <a:rPr sz="2400" b="0">
                    <a:solidFill>
                      <a:srgbClr val="111827"/>
                    </a:solidFill>
                    <a:latin typeface="Arial"/>
                  </a:rPr>
                  <a:t> in the binomial expansion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oMath>
                </a14:m>
                <a:r>
                  <a:rPr sz="2400" b="0">
                    <a:solidFill>
                      <a:srgbClr val="111827"/>
                    </a:solidFill>
                    <a:latin typeface="Arial"/>
                  </a:rPr>
                  <a:t>, then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e>
                    </m:nary>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𝑟</m:t>
                                    </m:r>
                                  </m:sub>
                                </m:sSub>
                              </m:num>
                              <m:den>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4895</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5445</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3025</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1210</m:t>
                    </m:r>
                  </m:oMath>
                </a14:m>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$a_r$</a:t>
                </a:r>
                <a:r>
                  <a:rPr sz="2400" b="0">
                    <a:solidFill>
                      <a:srgbClr val="111827"/>
                    </a:solidFill>
                    <a:latin typeface="Arial"/>
                  </a:rPr>
                  <a:t> is the coefficient of </a:t>
                </a:r>
                <a:r>
                  <a:rPr lang="en-IN" sz="2400">
                    <a:solidFill>
                      <a:srgbClr val="111827"/>
                    </a:solidFill>
                    <a:latin typeface="Cambria Math" panose="02040503050406030204" pitchFamily="18" charset="0"/>
                  </a:rPr>
                  <a:t>$x^{10-r}$</a:t>
                </a:r>
                <a:r>
                  <a:rPr sz="2400" b="0">
                    <a:solidFill>
                      <a:srgbClr val="111827"/>
                    </a:solidFill>
                    <a:latin typeface="Arial"/>
                  </a:rPr>
                  <a:t> in the binomial expansion of </a:t>
                </a:r>
                <a:r>
                  <a:rPr lang="en-IN" sz="2400">
                    <a:solidFill>
                      <a:srgbClr val="111827"/>
                    </a:solidFill>
                    <a:latin typeface="Cambria Math" panose="02040503050406030204" pitchFamily="18" charset="0"/>
                  </a:rPr>
                  <a:t>$(1+x)^{10}$</a:t>
                </a:r>
                <a:r>
                  <a:rPr sz="2400" b="0">
                    <a:solidFill>
                      <a:srgbClr val="111827"/>
                    </a:solidFill>
                    <a:latin typeface="Arial"/>
                  </a:rPr>
                  <a:t>, then </a:t>
                </a:r>
                <a:r>
                  <a:rPr lang="en-IN" sz="2400">
                    <a:solidFill>
                      <a:srgbClr val="111827"/>
                    </a:solidFill>
                    <a:latin typeface="Cambria Math" panose="02040503050406030204" pitchFamily="18" charset="0"/>
                  </a:rPr>
                  <a:t>$\sum_{r=1}^{10}r^3\left(\dfrac{a_r}{a_{r-1}}\right)^2$</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$4895$</a:t>
                </a:r>
                <a:r>
                  <a:rPr sz="2400" b="0">
                    <a:solidFill>
                      <a:srgbClr val="111827"/>
                    </a:solidFill>
                    <a:latin typeface="Arial"/>
                  </a:rPr>
                  <a:t>   (B) </a:t>
                </a:r>
                <a:r>
                  <a:rPr lang="en-IN" sz="2400">
                    <a:solidFill>
                      <a:srgbClr val="111827"/>
                    </a:solidFill>
                    <a:latin typeface="Cambria Math" panose="02040503050406030204" pitchFamily="18" charset="0"/>
                  </a:rPr>
                  <a:t>$5445$</a:t>
                </a:r>
                <a:r>
                  <a:rPr sz="2400" b="0">
                    <a:solidFill>
                      <a:srgbClr val="111827"/>
                    </a:solidFill>
                    <a:latin typeface="Arial"/>
                  </a:rPr>
                  <a:t>   (C) </a:t>
                </a:r>
                <a:r>
                  <a:rPr lang="en-IN" sz="2400">
                    <a:solidFill>
                      <a:srgbClr val="111827"/>
                    </a:solidFill>
                    <a:latin typeface="Cambria Math" panose="02040503050406030204" pitchFamily="18" charset="0"/>
                  </a:rPr>
                  <a:t>$3025$</a:t>
                </a:r>
                <a:r>
                  <a:rPr sz="2400" b="0">
                    <a:solidFill>
                      <a:srgbClr val="111827"/>
                    </a:solidFill>
                    <a:latin typeface="Arial"/>
                  </a:rPr>
                  <a:t>   (D) </a:t>
                </a:r>
                <a:r>
                  <a:rPr lang="en-IN" sz="2400">
                    <a:solidFill>
                      <a:srgbClr val="111827"/>
                    </a:solidFill>
                    <a:latin typeface="Cambria Math" panose="02040503050406030204" pitchFamily="18" charset="0"/>
                  </a:rPr>
                  <a:t>$1210$</a:t>
                </a:r>
                <a:endParaRPr sz="2400">
                  <a:solidFill>
                    <a:srgbClr val="111827"/>
                  </a:solidFill>
                </a:endParaRPr>
              </a:p>
            </p:txBody>
          </p:sp>
        </mc:Fallback>
      </mc:AlternateContent>
      <p:sp>
        <p:nvSpPr>
          <p:cNvPr id="5" name="Rectangle 4"/>
          <p:cNvSpPr/>
          <p:nvPr/>
        </p:nvSpPr>
        <p:spPr>
          <a:xfrm>
            <a:off x="731520" y="369011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Coefficients of a binomial expansion and sums of powers of natural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f>
                      <m:fPr>
                        <m:type m:val="bar"/>
                        <m:ctrlPr>
                          <a:rPr lang="en-IN" sz="2400" i="1">
                            <a:solidFill>
                              <a:srgbClr val="78350F"/>
                            </a:solidFill>
                            <a:latin typeface="Cambria Math" panose="02040503050406030204" pitchFamily="18" charset="0"/>
                          </a:rPr>
                        </m:ctrlPr>
                      </m:fPr>
                      <m:num>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𝑟</m:t>
                            </m:r>
                          </m:sub>
                        </m:sSub>
                      </m:num>
                      <m:den>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num>
                      <m:den>
                        <m:r>
                          <a:rPr lang="en-IN" sz="2400" i="1">
                            <a:solidFill>
                              <a:srgbClr val="78350F"/>
                            </a:solidFill>
                            <a:latin typeface="Cambria Math" panose="02040503050406030204" pitchFamily="18" charset="0"/>
                          </a:rPr>
                          <m:t>𝑟</m:t>
                        </m:r>
                      </m:den>
                    </m:f>
                  </m:oMath>
                </a14:m>
                <a:r>
                  <a:rPr sz="2400" b="0">
                    <a:solidFill>
                      <a:srgbClr val="78350F"/>
                    </a:solidFill>
                    <a:latin typeface="Arial"/>
                  </a:rPr>
                  <a:t>, so the sum collapses to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$\dfrac{a_r}{a_{r-1}}=\dfrac{11-r}{r}$</a:t>
                </a:r>
                <a:r>
                  <a:rPr sz="2400" b="0">
                    <a:solidFill>
                      <a:srgbClr val="78350F"/>
                    </a:solidFill>
                    <a:latin typeface="Arial"/>
                  </a:rPr>
                  <a:t>, so the sum collapses to </a:t>
                </a:r>
                <a:r>
                  <a:rPr lang="en-IN" sz="2400">
                    <a:solidFill>
                      <a:srgbClr val="78350F"/>
                    </a:solidFill>
                    <a:latin typeface="Cambria Math" panose="02040503050406030204" pitchFamily="18" charset="0"/>
                  </a:rPr>
                  <a:t>$\sum r(11-r)^2$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oMath>
                </a14:m>
                <a:r>
                  <a:rPr sz="2400" b="0">
                    <a:solidFill>
                      <a:srgbClr val="111827"/>
                    </a:solidFill>
                    <a:latin typeface="Arial"/>
                  </a:rPr>
                  <a:t> is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𝑟</m:t>
                            </m:r>
                          </m:sub>
                        </m:sSub>
                      </m:num>
                      <m:den>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𝑟</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𝑟</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e>
                    </m:nary>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𝑟</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r>
                          <a:rPr lang="en-IN" sz="2400" i="1">
                            <a:solidFill>
                              <a:srgbClr val="111827"/>
                            </a:solidFill>
                            <a:latin typeface="Cambria Math" panose="02040503050406030204" pitchFamily="18" charset="0"/>
                          </a:rPr>
                          <m:t>𝑟</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term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so the lower limit does not matter).</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$x^{10-r}$</a:t>
                </a:r>
                <a:r>
                  <a:rPr sz="2400" b="0">
                    <a:solidFill>
                      <a:srgbClr val="111827"/>
                    </a:solidFill>
                    <a:latin typeface="Arial"/>
                  </a:rPr>
                  <a:t> in </a:t>
                </a:r>
                <a:r>
                  <a:rPr lang="en-IN" sz="2400">
                    <a:solidFill>
                      <a:srgbClr val="111827"/>
                    </a:solidFill>
                    <a:latin typeface="Cambria Math" panose="02040503050406030204" pitchFamily="18" charset="0"/>
                  </a:rPr>
                  <a:t>$(1+x)^{10}$</a:t>
                </a:r>
                <a:r>
                  <a:rPr sz="2400" b="0">
                    <a:solidFill>
                      <a:srgbClr val="111827"/>
                    </a:solidFill>
                    <a:latin typeface="Arial"/>
                  </a:rPr>
                  <a:t> is </a:t>
                </a:r>
                <a:r>
                  <a:rPr lang="en-IN" sz="2400">
                    <a:solidFill>
                      <a:srgbClr val="111827"/>
                    </a:solidFill>
                    <a:latin typeface="Cambria Math" panose="02040503050406030204" pitchFamily="18" charset="0"/>
                  </a:rPr>
                  <a:t>$a_r=\binom{10}{10-r}=\binom{10}{r}$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$\dfrac{a_r}{a_{r-1}}=\dfrac{\binom{10}{r}}{\binom{10}{r-1}}=\dfrac{10-r+1}{r}=\dfrac{11-r}{r}$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$\sum_{r=1}^{10}r^3\left(\dfrac{11-r}{r}\right)^2=\sum_{r=1}^{10}r(11-r)^2$</a:t>
                </a:r>
                <a:r>
                  <a:rPr sz="2400" b="0">
                    <a:solidFill>
                      <a:srgbClr val="111827"/>
                    </a:solidFill>
                    <a:latin typeface="Arial"/>
                  </a:rPr>
                  <a:t> (the </a:t>
                </a:r>
                <a:r>
                  <a:rPr lang="en-IN" sz="2400">
                    <a:solidFill>
                      <a:srgbClr val="111827"/>
                    </a:solidFill>
                    <a:latin typeface="Cambria Math" panose="02040503050406030204" pitchFamily="18" charset="0"/>
                  </a:rPr>
                  <a:t>$r=0$</a:t>
                </a:r>
                <a:r>
                  <a:rPr sz="2400" b="0">
                    <a:solidFill>
                      <a:srgbClr val="111827"/>
                    </a:solidFill>
                    <a:latin typeface="Arial"/>
                  </a:rPr>
                  <a:t> term is </a:t>
                </a:r>
                <a:r>
                  <a:rPr lang="en-IN" sz="2400">
                    <a:solidFill>
                      <a:srgbClr val="111827"/>
                    </a:solidFill>
                    <a:latin typeface="Cambria Math" panose="02040503050406030204" pitchFamily="18" charset="0"/>
                  </a:rPr>
                  <a:t>$0$</a:t>
                </a:r>
                <a:r>
                  <a:rPr sz="2400" b="0">
                    <a:solidFill>
                      <a:srgbClr val="111827"/>
                    </a:solidFill>
                    <a:latin typeface="Arial"/>
                  </a:rPr>
                  <a:t>, so the lower limit does not matter).</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11</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1210</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$r(11-r)^2=r^3-22r^2+121r$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r^3-22\sum r^2+121\sum r=\left(\dfrac{10\cdot11}{2}\right)^2-22\cdot\dfrac{10\cdot11\cdot21}{6}+121\cdot\dfrac{10\cdot11}{2}$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$=55^2-11\cdot11\cdot70+5\cdot11^3=11^2[25-70+55]=11^2\times10=1210$</a:t>
                </a:r>
                <a:r>
                  <a:rPr sz="2400" b="0">
                    <a:solidFill>
                      <a:srgbClr val="111827"/>
                    </a:solidFill>
                    <a:latin typeface="Arial"/>
                  </a:rPr>
                  <a:t>,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1210</a:t>
            </a:r>
            <a:endParaRPr sz="2800">
              <a:solidFill>
                <a:srgbClr val="15803D"/>
              </a:solidFil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Pair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11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oMath>
                </a14:m>
                <a:r>
                  <a:rPr sz="2400" b="0">
                    <a:solidFill>
                      <a:srgbClr val="78350F"/>
                    </a:solidFill>
                    <a:latin typeface="Arial"/>
                  </a:rPr>
                  <a:t>: the sum of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𝑟</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factorises.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Pair </a:t>
                </a:r>
                <a:r>
                  <a:rPr lang="en-IN" sz="2400">
                    <a:solidFill>
                      <a:srgbClr val="78350F"/>
                    </a:solidFill>
                    <a:latin typeface="Cambria Math" panose="02040503050406030204" pitchFamily="18" charset="0"/>
                  </a:rPr>
                  <a:t>$r$</a:t>
                </a:r>
                <a:r>
                  <a:rPr sz="2400" b="0">
                    <a:solidFill>
                      <a:srgbClr val="78350F"/>
                    </a:solidFill>
                    <a:latin typeface="Arial"/>
                  </a:rPr>
                  <a:t> with </a:t>
                </a:r>
                <a:r>
                  <a:rPr lang="en-IN" sz="2400">
                    <a:solidFill>
                      <a:srgbClr val="78350F"/>
                    </a:solidFill>
                    <a:latin typeface="Cambria Math" panose="02040503050406030204" pitchFamily="18" charset="0"/>
                  </a:rPr>
                  <a:t>$11-r$</a:t>
                </a:r>
                <a:r>
                  <a:rPr sz="2400" b="0">
                    <a:solidFill>
                      <a:srgbClr val="78350F"/>
                    </a:solidFill>
                    <a:latin typeface="Arial"/>
                  </a:rPr>
                  <a:t>: the sum of </a:t>
                </a:r>
                <a:r>
                  <a:rPr lang="en-IN" sz="2400">
                    <a:solidFill>
                      <a:srgbClr val="78350F"/>
                    </a:solidFill>
                    <a:latin typeface="Cambria Math" panose="02040503050406030204" pitchFamily="18" charset="0"/>
                  </a:rPr>
                  <a:t>$r(11-r)^2$</a:t>
                </a:r>
                <a:r>
                  <a:rPr sz="2400" b="0">
                    <a:solidFill>
                      <a:srgbClr val="78350F"/>
                    </a:solidFill>
                    <a:latin typeface="Arial"/>
                  </a:rPr>
                  <a:t> and </a:t>
                </a:r>
                <a:r>
                  <a:rPr lang="en-IN" sz="2400">
                    <a:solidFill>
                      <a:srgbClr val="78350F"/>
                    </a:solidFill>
                    <a:latin typeface="Cambria Math" panose="02040503050406030204" pitchFamily="18" charset="0"/>
                  </a:rPr>
                  <a:t>$(11-r)r^2$</a:t>
                </a:r>
                <a:r>
                  <a:rPr sz="2400" b="0">
                    <a:solidFill>
                      <a:srgbClr val="78350F"/>
                    </a:solidFill>
                    <a:latin typeface="Arial"/>
                  </a:rPr>
                  <a:t> factorises.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r>
                          <a:rPr lang="en-IN" sz="2400" i="1">
                            <a:solidFill>
                              <a:srgbClr val="111827"/>
                            </a:solidFill>
                            <a:latin typeface="Cambria Math" panose="02040503050406030204" pitchFamily="18" charset="0"/>
                          </a:rPr>
                          <m:t>𝑟</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Replace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(the index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unchanged):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the two forms: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r>
                          <a:rPr lang="en-IN" sz="2400" i="1">
                            <a:solidFill>
                              <a:srgbClr val="111827"/>
                            </a:solidFill>
                            <a:latin typeface="Cambria Math" panose="02040503050406030204" pitchFamily="18" charset="0"/>
                          </a:rPr>
                          <m:t>𝑟</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r>
                          <a:rPr lang="en-IN" sz="2400" i="1">
                            <a:solidFill>
                              <a:srgbClr val="111827"/>
                            </a:solidFill>
                            <a:latin typeface="Cambria Math" panose="02040503050406030204" pitchFamily="18" charset="0"/>
                          </a:rPr>
                          <m:t>𝑟</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r>
                          <a:rPr lang="en-IN" sz="2400" i="1">
                            <a:solidFill>
                              <a:srgbClr val="111827"/>
                            </a:solidFill>
                            <a:latin typeface="Cambria Math" panose="02040503050406030204" pitchFamily="18" charset="0"/>
                          </a:rPr>
                          <m:t>𝑟</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2420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1210</m:t>
                    </m:r>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$S=\sum_{r=1}^{10}r(11-r)^2$</a:t>
                </a:r>
                <a:r>
                  <a:rPr sz="2400" b="0">
                    <a:solidFill>
                      <a:srgbClr val="111827"/>
                    </a:solidFill>
                    <a:latin typeface="Arial"/>
                  </a:rPr>
                  <a:t>. Replace </a:t>
                </a:r>
                <a:r>
                  <a:rPr lang="en-IN" sz="2400">
                    <a:solidFill>
                      <a:srgbClr val="111827"/>
                    </a:solidFill>
                    <a:latin typeface="Cambria Math" panose="02040503050406030204" pitchFamily="18" charset="0"/>
                  </a:rPr>
                  <a:t>$r$</a:t>
                </a:r>
                <a:r>
                  <a:rPr sz="2400" b="0">
                    <a:solidFill>
                      <a:srgbClr val="111827"/>
                    </a:solidFill>
                    <a:latin typeface="Arial"/>
                  </a:rPr>
                  <a:t> by </a:t>
                </a:r>
                <a:r>
                  <a:rPr lang="en-IN" sz="2400">
                    <a:solidFill>
                      <a:srgbClr val="111827"/>
                    </a:solidFill>
                    <a:latin typeface="Cambria Math" panose="02040503050406030204" pitchFamily="18" charset="0"/>
                  </a:rPr>
                  <a:t>$11-r$</a:t>
                </a:r>
                <a:r>
                  <a:rPr sz="2400" b="0">
                    <a:solidFill>
                      <a:srgbClr val="111827"/>
                    </a:solidFill>
                    <a:latin typeface="Arial"/>
                  </a:rPr>
                  <a:t> (the index set </a:t>
                </a:r>
                <a:r>
                  <a:rPr lang="en-IN" sz="2400">
                    <a:solidFill>
                      <a:srgbClr val="111827"/>
                    </a:solidFill>
                    <a:latin typeface="Cambria Math" panose="02040503050406030204" pitchFamily="18" charset="0"/>
                  </a:rPr>
                  <a:t>$\{1,\dots,10\}$</a:t>
                </a:r>
                <a:r>
                  <a:rPr sz="2400" b="0">
                    <a:solidFill>
                      <a:srgbClr val="111827"/>
                    </a:solidFill>
                    <a:latin typeface="Arial"/>
                  </a:rPr>
                  <a:t> is unchanged): </a:t>
                </a:r>
                <a:r>
                  <a:rPr lang="en-IN" sz="2400">
                    <a:solidFill>
                      <a:srgbClr val="111827"/>
                    </a:solidFill>
                    <a:latin typeface="Cambria Math" panose="02040503050406030204" pitchFamily="18" charset="0"/>
                  </a:rPr>
                  <a:t>$S=\sum_{r=1}^{10}(11-r)r^2$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the two forms: </a:t>
                </a:r>
                <a:r>
                  <a:rPr lang="en-IN" sz="2400">
                    <a:solidFill>
                      <a:srgbClr val="111827"/>
                    </a:solidFill>
                    <a:latin typeface="Cambria Math" panose="02040503050406030204" pitchFamily="18" charset="0"/>
                  </a:rPr>
                  <a:t>$2S=\sum_{r=1}^{10}r(11-r)\left[(11-r)+r\right]=11\sum_{r=1}^{10}r(11-r)$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$\sum_{r=1}^{10}r(11-r)=11\sum r-\sum r^2=11\cdot55-385=220$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$2S=11\cdot220=2420$</a:t>
                </a:r>
                <a:r>
                  <a:rPr sz="2400" b="0">
                    <a:solidFill>
                      <a:srgbClr val="111827"/>
                    </a:solidFill>
                    <a:latin typeface="Arial"/>
                  </a:rPr>
                  <a:t> and </a:t>
                </a:r>
                <a:r>
                  <a:rPr lang="en-IN" sz="2400">
                    <a:solidFill>
                      <a:srgbClr val="111827"/>
                    </a:solidFill>
                    <a:latin typeface="Cambria Math" panose="02040503050406030204" pitchFamily="18" charset="0"/>
                  </a:rPr>
                  <a:t>$S=1210$</a:t>
                </a:r>
                <a:r>
                  <a:rPr sz="2400" b="0">
                    <a:solidFill>
                      <a:srgbClr val="111827"/>
                    </a:solidFill>
                    <a:latin typeface="Arial"/>
                  </a:rPr>
                  <a:t>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1210</a:t>
            </a:r>
            <a:endParaRPr sz="2800">
              <a:solidFill>
                <a:srgbClr val="15803D"/>
              </a:solidFill>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symmetric index range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of consecutive binomial coefficients: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r>
                          <a:rPr lang="en-IN" sz="2400" i="1">
                            <a:solidFill>
                              <a:srgbClr val="111827"/>
                            </a:solidFill>
                            <a:latin typeface="Cambria Math" panose="02040503050406030204" pitchFamily="18" charset="0"/>
                          </a:rPr>
                          <m:t>𝑟</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it is </a:t>
                </a:r>
                <a14:m>
                  <m:oMath xmlns:m="http://schemas.openxmlformats.org/officeDocument/2006/math">
                    <m:r>
                      <a:rPr lang="en-IN" sz="2400" i="1">
                        <a:solidFill>
                          <a:srgbClr val="111827"/>
                        </a:solidFill>
                        <a:latin typeface="Cambria Math" panose="02040503050406030204" pitchFamily="18" charset="0"/>
                      </a:rPr>
                      <m:t>220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Closed form for this question: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r>
                          <a:rPr lang="en-IN" sz="2400" i="1">
                            <a:solidFill>
                              <a:srgbClr val="111827"/>
                            </a:solidFill>
                            <a:latin typeface="Cambria Math" panose="02040503050406030204" pitchFamily="18" charset="0"/>
                          </a:rPr>
                          <m:t>𝑟</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symmetric index range </a:t>
                </a:r>
                <a:r>
                  <a:rPr lang="en-IN" sz="2400">
                    <a:solidFill>
                      <a:srgbClr val="111827"/>
                    </a:solidFill>
                    <a:latin typeface="Cambria Math" panose="02040503050406030204" pitchFamily="18" charset="0"/>
                  </a:rPr>
                  <a:t>$\{1,\dots,n\}$</a:t>
                </a:r>
                <a:r>
                  <a:rPr sz="2400" b="0">
                    <a:solidFill>
                      <a:srgbClr val="111827"/>
                    </a:solidFill>
                    <a:latin typeface="Arial"/>
                  </a:rPr>
                  <a:t> with </a:t>
                </a:r>
                <a:r>
                  <a:rPr lang="en-IN" sz="2400">
                    <a:solidFill>
                      <a:srgbClr val="111827"/>
                    </a:solidFill>
                    <a:latin typeface="Cambria Math" panose="02040503050406030204" pitchFamily="18" charset="0"/>
                  </a:rPr>
                  <a:t>$n+1=m$</a:t>
                </a:r>
                <a:r>
                  <a:rPr sz="2400" b="0">
                    <a:solidFill>
                      <a:srgbClr val="111827"/>
                    </a:solidFill>
                    <a:latin typeface="Arial"/>
                  </a:rPr>
                  <a:t>: </a:t>
                </a:r>
                <a:r>
                  <a:rPr lang="en-IN" sz="2400">
                    <a:solidFill>
                      <a:srgbClr val="111827"/>
                    </a:solidFill>
                    <a:latin typeface="Cambria Math" panose="02040503050406030204" pitchFamily="18" charset="0"/>
                  </a:rPr>
                  <a:t>$\sum r(m-r)^2=\frac m2\sum r(m-r)=\frac{m}{2}\cdot\frac{(m-1)m(m+1)}{6}$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of consecutive binomial coefficients: </a:t>
                </a:r>
                <a:r>
                  <a:rPr lang="en-IN" sz="2400">
                    <a:solidFill>
                      <a:srgbClr val="111827"/>
                    </a:solidFill>
                    <a:latin typeface="Cambria Math" panose="02040503050406030204" pitchFamily="18" charset="0"/>
                  </a:rPr>
                  <a:t>$\dfrac{\binom nr}{\binom n{r-1}}=\dfrac{n-r+1}{r}$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$\sum_{r=1}^{n}r(n+1-r)=\dfrac{n(n+1)(n+2)}{6}$</a:t>
                </a:r>
                <a:r>
                  <a:rPr sz="2400" b="0">
                    <a:solidFill>
                      <a:srgbClr val="111827"/>
                    </a:solidFill>
                    <a:latin typeface="Arial"/>
                  </a:rPr>
                  <a:t>; for </a:t>
                </a:r>
                <a:r>
                  <a:rPr lang="en-IN" sz="2400">
                    <a:solidFill>
                      <a:srgbClr val="111827"/>
                    </a:solidFill>
                    <a:latin typeface="Cambria Math" panose="02040503050406030204" pitchFamily="18" charset="0"/>
                  </a:rPr>
                  <a:t>$n=10$</a:t>
                </a:r>
                <a:r>
                  <a:rPr sz="2400" b="0">
                    <a:solidFill>
                      <a:srgbClr val="111827"/>
                    </a:solidFill>
                    <a:latin typeface="Arial"/>
                  </a:rPr>
                  <a:t> it is </a:t>
                </a:r>
                <a:r>
                  <a:rPr lang="en-IN" sz="2400">
                    <a:solidFill>
                      <a:srgbClr val="111827"/>
                    </a:solidFill>
                    <a:latin typeface="Cambria Math" panose="02040503050406030204" pitchFamily="18" charset="0"/>
                  </a:rPr>
                  <a:t>$220$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Closed form for this question: </a:t>
                </a:r>
                <a:r>
                  <a:rPr lang="en-IN" sz="2400">
                    <a:solidFill>
                      <a:srgbClr val="111827"/>
                    </a:solidFill>
                    <a:latin typeface="Cambria Math" panose="02040503050406030204" pitchFamily="18" charset="0"/>
                  </a:rPr>
                  <a:t>$\sum_{r=1}^{n}r(n+1-r)^2=\dfrac{n(n+1)^2(n+2)}{12}$</a:t>
                </a:r>
                <a:r>
                  <a:rPr sz="2400" b="0">
                    <a:solidFill>
                      <a:srgbClr val="111827"/>
                    </a:solidFill>
                    <a:latin typeface="Arial"/>
                  </a:rPr>
                  <a:t>; </a:t>
                </a:r>
                <a:r>
                  <a:rPr lang="en-IN" sz="2400">
                    <a:solidFill>
                      <a:srgbClr val="111827"/>
                    </a:solidFill>
                    <a:latin typeface="Cambria Math" panose="02040503050406030204" pitchFamily="18" charset="0"/>
                  </a:rPr>
                  <a:t>$n=10$</a:t>
                </a:r>
                <a:r>
                  <a:rPr sz="2400" b="0">
                    <a:solidFill>
                      <a:srgbClr val="111827"/>
                    </a:solidFill>
                    <a:latin typeface="Arial"/>
                  </a:rPr>
                  <a:t> gives </a:t>
                </a:r>
                <a:r>
                  <a:rPr lang="en-IN" sz="2400">
                    <a:solidFill>
                      <a:srgbClr val="111827"/>
                    </a:solidFill>
                    <a:latin typeface="Cambria Math" panose="02040503050406030204" pitchFamily="18" charset="0"/>
                  </a:rPr>
                  <a:t>$\frac{10\cdot121\cdot12}{12}=1210$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33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6</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3</m:t>
                                </m:r>
                              </m:den>
                            </m:f>
                          </m:e>
                        </m:d>
                      </m:e>
                    </m:nary>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4</m:t>
                            </m:r>
                          </m:den>
                        </m:f>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52</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4</m:t>
                            </m:r>
                          </m:den>
                        </m:f>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3</m:t>
                            </m:r>
                          </m:den>
                        </m:f>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52</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3</m:t>
                            </m:r>
                          </m:den>
                        </m:f>
                      </m:e>
                    </m:d>
                  </m:oMath>
                </a14:m>
                <a:endParaRPr sz="2400">
                  <a:solidFill>
                    <a:srgbClr val="111827"/>
                  </a:solidFill>
                </a:endParaRPr>
              </a:p>
            </p:txBody>
          </p:sp>
        </mc:Choice>
        <mc:Fallback>
          <p:sp>
            <p:nvSpPr>
              <p:cNvPr id="4" name="Rounded Rectangle 3"/>
              <p:cNvSpPr/>
              <p:nvPr/>
            </p:nvSpPr>
            <p:spPr>
              <a:xfrm>
                <a:off x="731520" y="1280160"/>
                <a:ext cx="10725912" cy="2633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lang="en-IN" sz="2400">
                    <a:solidFill>
                      <a:srgbClr val="111827"/>
                    </a:solidFill>
                    <a:latin typeface="Cambria Math" panose="02040503050406030204" pitchFamily="18" charset="0"/>
                  </a:rPr>
                  <a:t>$\sum_{k=0}^{6}\binom{51-k}{3}$</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$\binom{51}{4}-\binom{45}{4}$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$\binom{52}{4}-\binom{45}{4}$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$\binom{51}{3}-\binom{45}{3}$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$\binom{52}{3}-\binom{45}{3}$</a:t>
                </a:r>
                <a:endParaRPr sz="2400">
                  <a:solidFill>
                    <a:srgbClr val="111827"/>
                  </a:solidFill>
                </a:endParaRPr>
              </a:p>
            </p:txBody>
          </p:sp>
        </mc:Fallback>
      </mc:AlternateContent>
      <p:sp>
        <p:nvSpPr>
          <p:cNvPr id="5" name="Rectangle 4"/>
          <p:cNvSpPr/>
          <p:nvPr/>
        </p:nvSpPr>
        <p:spPr>
          <a:xfrm>
            <a:off x="731520" y="41427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Hockey-stick identity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Add and subtract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45</m:t>
                            </m:r>
                          </m:num>
                          <m:den>
                            <m:r>
                              <a:rPr lang="en-IN" sz="2400" i="1">
                                <a:solidFill>
                                  <a:srgbClr val="78350F"/>
                                </a:solidFill>
                                <a:latin typeface="Cambria Math" panose="02040503050406030204" pitchFamily="18" charset="0"/>
                              </a:rPr>
                              <m:t>4</m:t>
                            </m:r>
                          </m:den>
                        </m:f>
                      </m:e>
                    </m:d>
                  </m:oMath>
                </a14:m>
                <a:r>
                  <a:rPr sz="2400" b="0">
                    <a:solidFill>
                      <a:srgbClr val="78350F"/>
                    </a:solidFill>
                    <a:latin typeface="Arial"/>
                  </a:rPr>
                  <a:t> and use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𝑟</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𝑟</m:t>
                            </m:r>
                          </m:den>
                        </m:f>
                      </m:e>
                    </m:d>
                  </m:oMath>
                </a14:m>
                <a:r>
                  <a:rPr sz="2400" b="0">
                    <a:solidFill>
                      <a:srgbClr val="78350F"/>
                    </a:solidFill>
                    <a:latin typeface="Arial"/>
                  </a:rPr>
                  <a:t> repeatedly (hockey stick).</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Add and subtract </a:t>
                </a:r>
                <a:r>
                  <a:rPr lang="en-IN" sz="2400">
                    <a:solidFill>
                      <a:srgbClr val="78350F"/>
                    </a:solidFill>
                    <a:latin typeface="Cambria Math" panose="02040503050406030204" pitchFamily="18" charset="0"/>
                  </a:rPr>
                  <a:t>$\binom{45}{4}$</a:t>
                </a:r>
                <a:r>
                  <a:rPr sz="2400" b="0">
                    <a:solidFill>
                      <a:srgbClr val="78350F"/>
                    </a:solidFill>
                    <a:latin typeface="Arial"/>
                  </a:rPr>
                  <a:t> and use </a:t>
                </a:r>
                <a:r>
                  <a:rPr lang="en-IN" sz="2400">
                    <a:solidFill>
                      <a:srgbClr val="78350F"/>
                    </a:solidFill>
                    <a:latin typeface="Cambria Math" panose="02040503050406030204" pitchFamily="18" charset="0"/>
                  </a:rPr>
                  <a:t>$\binom{n}{r}+\binom{n}{r-1}=\binom{n+1}{r}$</a:t>
                </a:r>
                <a:r>
                  <a:rPr sz="2400" b="0">
                    <a:solidFill>
                      <a:srgbClr val="78350F"/>
                    </a:solidFill>
                    <a:latin typeface="Arial"/>
                  </a:rPr>
                  <a:t> repeatedly (hockey stick).</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sum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48</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47</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and subtract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and put it next to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47</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then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47</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47</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48</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and so on up to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52</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whole sum equals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52</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option (B).</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sum is </a:t>
                </a:r>
                <a:r>
                  <a:rPr lang="en-IN" sz="2400">
                    <a:solidFill>
                      <a:srgbClr val="111827"/>
                    </a:solidFill>
                    <a:latin typeface="Cambria Math" panose="02040503050406030204" pitchFamily="18" charset="0"/>
                  </a:rPr>
                  <a:t>$\binom{51}{3}+\binom{50}{3}+\binom{49}{3}+\binom{48}{3}+\binom{47}{3}+\binom{46}{3}+\binom{45}{3}$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and subtract </a:t>
                </a:r>
                <a:r>
                  <a:rPr lang="en-IN" sz="2400">
                    <a:solidFill>
                      <a:srgbClr val="111827"/>
                    </a:solidFill>
                    <a:latin typeface="Cambria Math" panose="02040503050406030204" pitchFamily="18" charset="0"/>
                  </a:rPr>
                  <a:t>$\binom{45}{4}$</a:t>
                </a:r>
                <a:r>
                  <a:rPr sz="2400" b="0">
                    <a:solidFill>
                      <a:srgbClr val="111827"/>
                    </a:solidFill>
                    <a:latin typeface="Arial"/>
                  </a:rPr>
                  <a:t> and put it next to </a:t>
                </a:r>
                <a:r>
                  <a:rPr lang="en-IN" sz="2400">
                    <a:solidFill>
                      <a:srgbClr val="111827"/>
                    </a:solidFill>
                    <a:latin typeface="Cambria Math" panose="02040503050406030204" pitchFamily="18" charset="0"/>
                  </a:rPr>
                  <a:t>$\binom{45}{3}$</a:t>
                </a:r>
                <a:r>
                  <a:rPr sz="2400" b="0">
                    <a:solidFill>
                      <a:srgbClr val="111827"/>
                    </a:solidFill>
                    <a:latin typeface="Arial"/>
                  </a:rPr>
                  <a:t>: </a:t>
                </a:r>
                <a:r>
                  <a:rPr lang="en-IN" sz="2400">
                    <a:solidFill>
                      <a:srgbClr val="111827"/>
                    </a:solidFill>
                    <a:latin typeface="Cambria Math" panose="02040503050406030204" pitchFamily="18" charset="0"/>
                  </a:rPr>
                  <a:t>$\binom{45}{4}+\binom{45}{3}=\binom{46}{4}$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$\binom{46}{4}+\binom{46}{3}=\binom{47}{4}$</a:t>
                </a:r>
                <a:r>
                  <a:rPr sz="2400" b="0">
                    <a:solidFill>
                      <a:srgbClr val="111827"/>
                    </a:solidFill>
                    <a:latin typeface="Arial"/>
                  </a:rPr>
                  <a:t>, then </a:t>
                </a:r>
                <a:r>
                  <a:rPr lang="en-IN" sz="2400">
                    <a:solidFill>
                      <a:srgbClr val="111827"/>
                    </a:solidFill>
                    <a:latin typeface="Cambria Math" panose="02040503050406030204" pitchFamily="18" charset="0"/>
                  </a:rPr>
                  <a:t>$\binom{47}{4}+\binom{47}{3}=\binom{48}{4}$</a:t>
                </a:r>
                <a:r>
                  <a:rPr sz="2400" b="0">
                    <a:solidFill>
                      <a:srgbClr val="111827"/>
                    </a:solidFill>
                    <a:latin typeface="Arial"/>
                  </a:rPr>
                  <a:t>, and so on up to </a:t>
                </a:r>
                <a:r>
                  <a:rPr lang="en-IN" sz="2400">
                    <a:solidFill>
                      <a:srgbClr val="111827"/>
                    </a:solidFill>
                    <a:latin typeface="Cambria Math" panose="02040503050406030204" pitchFamily="18" charset="0"/>
                  </a:rPr>
                  <a:t>$\binom{51}{4}+\binom{51}{3}=\binom{52}{4}$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whole sum equals </a:t>
                </a:r>
                <a:r>
                  <a:rPr lang="en-IN" sz="2400">
                    <a:solidFill>
                      <a:srgbClr val="111827"/>
                    </a:solidFill>
                    <a:latin typeface="Cambria Math" panose="02040503050406030204" pitchFamily="18" charset="0"/>
                  </a:rPr>
                  <a:t>$\binom{52}{4}-\binom{45}{4}$</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f>
                          <m:fPr>
                            <m:type m:val="no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52</m:t>
                            </m:r>
                          </m:num>
                          <m:den>
                            <m:r>
                              <a:rPr lang="en-IN" sz="2800" i="1">
                                <a:solidFill>
                                  <a:srgbClr val="15803D"/>
                                </a:solidFill>
                                <a:latin typeface="Cambria Math" panose="02040503050406030204" pitchFamily="18" charset="0"/>
                              </a:rPr>
                              <m:t>4</m:t>
                            </m:r>
                          </m:den>
                        </m:f>
                      </m:e>
                    </m:d>
                    <m:r>
                      <m:rPr>
                        <m:sty m:val="p"/>
                      </m:rPr>
                      <a:rPr lang="en-IN" sz="2800">
                        <a:solidFill>
                          <a:srgbClr val="15803D"/>
                        </a:solidFill>
                        <a:latin typeface="Cambria Math" panose="02040503050406030204" pitchFamily="18" charset="0"/>
                      </a:rPr>
                      <m:t>−</m:t>
                    </m:r>
                    <m:d>
                      <m:dPr>
                        <m:begChr m:val="("/>
                        <m:sepChr m:val=""/>
                        <m:endChr m:val=")"/>
                        <m:grow/>
                        <m:ctrlPr>
                          <a:rPr lang="en-IN" sz="2800" i="1">
                            <a:solidFill>
                              <a:srgbClr val="15803D"/>
                            </a:solidFill>
                            <a:latin typeface="Cambria Math" panose="02040503050406030204" pitchFamily="18" charset="0"/>
                          </a:rPr>
                        </m:ctrlPr>
                      </m:dPr>
                      <m:e>
                        <m:f>
                          <m:fPr>
                            <m:type m:val="no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45</m:t>
                            </m:r>
                          </m:num>
                          <m:den>
                            <m:r>
                              <a:rPr lang="en-IN" sz="2800" i="1">
                                <a:solidFill>
                                  <a:srgbClr val="15803D"/>
                                </a:solidFill>
                                <a:latin typeface="Cambria Math" panose="02040503050406030204" pitchFamily="18" charset="0"/>
                              </a:rPr>
                              <m:t>4</m:t>
                            </m:r>
                          </m:den>
                        </m:f>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$\binom{52}{4}-\binom{45}{4}$</a:t>
                </a:r>
                <a:endParaRPr sz="2800">
                  <a:solidFill>
                    <a:srgbClr val="15803D"/>
                  </a:solidFill>
                </a:endParaRP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-element subsets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by their largest element.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a:t>
                </a:r>
                <a:r>
                  <a:rPr lang="en-IN" sz="2400">
                    <a:solidFill>
                      <a:srgbClr val="78350F"/>
                    </a:solidFill>
                    <a:latin typeface="Cambria Math" panose="02040503050406030204" pitchFamily="18" charset="0"/>
                  </a:rPr>
                  <a:t>$4$</a:t>
                </a:r>
                <a:r>
                  <a:rPr sz="2400" b="0">
                    <a:solidFill>
                      <a:srgbClr val="78350F"/>
                    </a:solidFill>
                    <a:latin typeface="Arial"/>
                  </a:rPr>
                  <a:t>-element subsets of </a:t>
                </a:r>
                <a:r>
                  <a:rPr lang="en-IN" sz="2400">
                    <a:solidFill>
                      <a:srgbClr val="78350F"/>
                    </a:solidFill>
                    <a:latin typeface="Cambria Math" panose="02040503050406030204" pitchFamily="18" charset="0"/>
                  </a:rPr>
                  <a:t>$\{1,2,\dots,52\}$</a:t>
                </a:r>
                <a:r>
                  <a:rPr sz="2400" b="0">
                    <a:solidFill>
                      <a:srgbClr val="78350F"/>
                    </a:solidFill>
                    <a:latin typeface="Arial"/>
                  </a:rPr>
                  <a:t> by their largest element.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-subsets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whose largest element is </a:t>
                </a:r>
                <a14:m>
                  <m:oMath xmlns:m="http://schemas.openxmlformats.org/officeDocument/2006/math">
                    <m:r>
                      <a:rPr lang="en-IN" sz="2400" i="1">
                        <a:solidFill>
                          <a:srgbClr val="111827"/>
                        </a:solidFill>
                        <a:latin typeface="Cambria Math" panose="02040503050406030204" pitchFamily="18" charset="0"/>
                      </a:rPr>
                      <m:t>𝑗</m:t>
                    </m:r>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(the other three come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is exactly the count with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 of </a:t>
                </a:r>
                <a:r>
                  <a:rPr lang="en-IN" sz="2400">
                    <a:solidFill>
                      <a:srgbClr val="111827"/>
                    </a:solidFill>
                    <a:latin typeface="Cambria Math" panose="02040503050406030204" pitchFamily="18" charset="0"/>
                  </a:rPr>
                  <a:t>$4$</a:t>
                </a:r>
                <a:r>
                  <a:rPr sz="2400" b="0">
                    <a:solidFill>
                      <a:srgbClr val="111827"/>
                    </a:solidFill>
                    <a:latin typeface="Arial"/>
                  </a:rPr>
                  <a:t>-subsets of </a:t>
                </a:r>
                <a:r>
                  <a:rPr lang="en-IN" sz="2400">
                    <a:solidFill>
                      <a:srgbClr val="111827"/>
                    </a:solidFill>
                    <a:latin typeface="Cambria Math" panose="02040503050406030204" pitchFamily="18" charset="0"/>
                  </a:rPr>
                  <a:t>$\{1,\dots,52\}$</a:t>
                </a:r>
                <a:r>
                  <a:rPr sz="2400" b="0">
                    <a:solidFill>
                      <a:srgbClr val="111827"/>
                    </a:solidFill>
                    <a:latin typeface="Arial"/>
                  </a:rPr>
                  <a:t> whose largest element is </a:t>
                </a:r>
                <a:r>
                  <a:rPr lang="en-IN" sz="2400">
                    <a:solidFill>
                      <a:srgbClr val="111827"/>
                    </a:solidFill>
                    <a:latin typeface="Cambria Math" panose="02040503050406030204" pitchFamily="18" charset="0"/>
                  </a:rPr>
                  <a:t>$j$</a:t>
                </a:r>
                <a:r>
                  <a:rPr sz="2400" b="0">
                    <a:solidFill>
                      <a:srgbClr val="111827"/>
                    </a:solidFill>
                    <a:latin typeface="Arial"/>
                  </a:rPr>
                  <a:t> is </a:t>
                </a:r>
                <a:r>
                  <a:rPr lang="en-IN" sz="2400">
                    <a:solidFill>
                      <a:srgbClr val="111827"/>
                    </a:solidFill>
                    <a:latin typeface="Cambria Math" panose="02040503050406030204" pitchFamily="18" charset="0"/>
                  </a:rPr>
                  <a:t>$\binom{j-1}{3}$</a:t>
                </a:r>
                <a:r>
                  <a:rPr sz="2400" b="0">
                    <a:solidFill>
                      <a:srgbClr val="111827"/>
                    </a:solidFill>
                    <a:latin typeface="Arial"/>
                  </a:rPr>
                  <a:t> (the other three come from </a:t>
                </a:r>
                <a:r>
                  <a:rPr lang="en-IN" sz="2400">
                    <a:solidFill>
                      <a:srgbClr val="111827"/>
                    </a:solidFill>
                    <a:latin typeface="Cambria Math" panose="02040503050406030204" pitchFamily="18" charset="0"/>
                  </a:rPr>
                  <a:t>$\{1,\dots,j-1\}$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a:t>
                </a:r>
                <a:r>
                  <a:rPr lang="en-IN" sz="2400">
                    <a:solidFill>
                      <a:srgbClr val="111827"/>
                    </a:solidFill>
                    <a:latin typeface="Cambria Math" panose="02040503050406030204" pitchFamily="18" charset="0"/>
                  </a:rPr>
                  <a:t>$\binom{45}{3}+\dots+\binom{51}{3}$</a:t>
                </a:r>
                <a:r>
                  <a:rPr sz="2400" b="0">
                    <a:solidFill>
                      <a:srgbClr val="111827"/>
                    </a:solidFill>
                    <a:latin typeface="Arial"/>
                  </a:rPr>
                  <a:t> is exactly the count with </a:t>
                </a:r>
                <a:r>
                  <a:rPr lang="en-IN" sz="2400">
                    <a:solidFill>
                      <a:srgbClr val="111827"/>
                    </a:solidFill>
                    <a:latin typeface="Cambria Math" panose="02040503050406030204" pitchFamily="18" charset="0"/>
                  </a:rPr>
                  <a:t>$j=46,47,\dots,52$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-subsets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52</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those with largest element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-subsets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required sum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52</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option (B)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$4$</a:t>
                </a:r>
                <a:r>
                  <a:rPr sz="2400" b="0">
                    <a:solidFill>
                      <a:srgbClr val="111827"/>
                    </a:solidFill>
                    <a:latin typeface="Arial"/>
                  </a:rPr>
                  <a:t>-subsets of </a:t>
                </a:r>
                <a:r>
                  <a:rPr lang="en-IN" sz="2400">
                    <a:solidFill>
                      <a:srgbClr val="111827"/>
                    </a:solidFill>
                    <a:latin typeface="Cambria Math" panose="02040503050406030204" pitchFamily="18" charset="0"/>
                  </a:rPr>
                  <a:t>$\{1,\dots,52\}$</a:t>
                </a:r>
                <a:r>
                  <a:rPr sz="2400" b="0">
                    <a:solidFill>
                      <a:srgbClr val="111827"/>
                    </a:solidFill>
                    <a:latin typeface="Arial"/>
                  </a:rPr>
                  <a:t> is </a:t>
                </a:r>
                <a:r>
                  <a:rPr lang="en-IN" sz="2400">
                    <a:solidFill>
                      <a:srgbClr val="111827"/>
                    </a:solidFill>
                    <a:latin typeface="Cambria Math" panose="02040503050406030204" pitchFamily="18" charset="0"/>
                  </a:rPr>
                  <a:t>$\binom{52}{4}$</a:t>
                </a:r>
                <a:r>
                  <a:rPr sz="2400" b="0">
                    <a:solidFill>
                      <a:srgbClr val="111827"/>
                    </a:solidFill>
                    <a:latin typeface="Arial"/>
                  </a:rPr>
                  <a:t>; those with largest element </a:t>
                </a:r>
                <a:r>
                  <a:rPr lang="en-IN" sz="2400">
                    <a:solidFill>
                      <a:srgbClr val="111827"/>
                    </a:solidFill>
                    <a:latin typeface="Cambria Math" panose="02040503050406030204" pitchFamily="18" charset="0"/>
                  </a:rPr>
                  <a:t>$\le45$</a:t>
                </a:r>
                <a:r>
                  <a:rPr sz="2400" b="0">
                    <a:solidFill>
                      <a:srgbClr val="111827"/>
                    </a:solidFill>
                    <a:latin typeface="Arial"/>
                  </a:rPr>
                  <a:t> are </a:t>
                </a:r>
                <a:r>
                  <a:rPr lang="en-IN" sz="2400">
                    <a:solidFill>
                      <a:srgbClr val="111827"/>
                    </a:solidFill>
                    <a:latin typeface="Cambria Math" panose="02040503050406030204" pitchFamily="18" charset="0"/>
                  </a:rPr>
                  <a:t>$4$</a:t>
                </a:r>
                <a:r>
                  <a:rPr sz="2400" b="0">
                    <a:solidFill>
                      <a:srgbClr val="111827"/>
                    </a:solidFill>
                    <a:latin typeface="Arial"/>
                  </a:rPr>
                  <a:t>-subsets of </a:t>
                </a:r>
                <a:r>
                  <a:rPr lang="en-IN" sz="2400">
                    <a:solidFill>
                      <a:srgbClr val="111827"/>
                    </a:solidFill>
                    <a:latin typeface="Cambria Math" panose="02040503050406030204" pitchFamily="18" charset="0"/>
                  </a:rPr>
                  <a:t>$\{1,\dots,45\}$</a:t>
                </a:r>
                <a:r>
                  <a:rPr sz="2400" b="0">
                    <a:solidFill>
                      <a:srgbClr val="111827"/>
                    </a:solidFill>
                    <a:latin typeface="Arial"/>
                  </a:rPr>
                  <a:t>, i.e. </a:t>
                </a:r>
                <a:r>
                  <a:rPr lang="en-IN" sz="2400">
                    <a:solidFill>
                      <a:srgbClr val="111827"/>
                    </a:solidFill>
                    <a:latin typeface="Cambria Math" panose="02040503050406030204" pitchFamily="18" charset="0"/>
                  </a:rPr>
                  <a:t>$\binom{45}{4}$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required sum is </a:t>
                </a:r>
                <a:r>
                  <a:rPr lang="en-IN" sz="2400">
                    <a:solidFill>
                      <a:srgbClr val="111827"/>
                    </a:solidFill>
                    <a:latin typeface="Cambria Math" panose="02040503050406030204" pitchFamily="18" charset="0"/>
                  </a:rPr>
                  <a:t>$\binom{52}{4}-\binom{45}{4}$</a:t>
                </a:r>
                <a:r>
                  <a:rPr sz="2400" b="0">
                    <a:solidFill>
                      <a:srgbClr val="111827"/>
                    </a:solidFill>
                    <a:latin typeface="Arial"/>
                  </a:rPr>
                  <a:t>, option (B)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f>
                          <m:fPr>
                            <m:type m:val="no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52</m:t>
                            </m:r>
                          </m:num>
                          <m:den>
                            <m:r>
                              <a:rPr lang="en-IN" sz="2800" i="1">
                                <a:solidFill>
                                  <a:srgbClr val="15803D"/>
                                </a:solidFill>
                                <a:latin typeface="Cambria Math" panose="02040503050406030204" pitchFamily="18" charset="0"/>
                              </a:rPr>
                              <m:t>4</m:t>
                            </m:r>
                          </m:den>
                        </m:f>
                      </m:e>
                    </m:d>
                    <m:r>
                      <m:rPr>
                        <m:sty m:val="p"/>
                      </m:rPr>
                      <a:rPr lang="en-IN" sz="2800">
                        <a:solidFill>
                          <a:srgbClr val="15803D"/>
                        </a:solidFill>
                        <a:latin typeface="Cambria Math" panose="02040503050406030204" pitchFamily="18" charset="0"/>
                      </a:rPr>
                      <m:t>−</m:t>
                    </m:r>
                    <m:d>
                      <m:dPr>
                        <m:begChr m:val="("/>
                        <m:sepChr m:val=""/>
                        <m:endChr m:val=")"/>
                        <m:grow/>
                        <m:ctrlPr>
                          <a:rPr lang="en-IN" sz="2800" i="1">
                            <a:solidFill>
                              <a:srgbClr val="15803D"/>
                            </a:solidFill>
                            <a:latin typeface="Cambria Math" panose="02040503050406030204" pitchFamily="18" charset="0"/>
                          </a:rPr>
                        </m:ctrlPr>
                      </m:dPr>
                      <m:e>
                        <m:f>
                          <m:fPr>
                            <m:type m:val="no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45</m:t>
                            </m:r>
                          </m:num>
                          <m:den>
                            <m:r>
                              <a:rPr lang="en-IN" sz="2800" i="1">
                                <a:solidFill>
                                  <a:srgbClr val="15803D"/>
                                </a:solidFill>
                                <a:latin typeface="Cambria Math" panose="02040503050406030204" pitchFamily="18" charset="0"/>
                              </a:rPr>
                              <m:t>4</m:t>
                            </m:r>
                          </m:den>
                        </m:f>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$\binom{52}{4}-\binom{45}{4}$</a:t>
                </a:r>
                <a:endParaRPr sz="2800">
                  <a:solidFill>
                    <a:srgbClr val="15803D"/>
                  </a:solidFill>
                </a:endParaRP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Hockey stick: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b>
                      <m:sup>
                        <m:r>
                          <a:rPr lang="en-IN" sz="2400" i="1">
                            <a:solidFill>
                              <a:srgbClr val="111827"/>
                            </a:solidFill>
                            <a:latin typeface="Cambria Math" panose="02040503050406030204" pitchFamily="18" charset="0"/>
                          </a:rPr>
                          <m:t>𝑁</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e>
                    </m:nary>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and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ub>
                      <m:sup>
                        <m:r>
                          <a:rPr lang="en-IN" sz="2400" i="1">
                            <a:solidFill>
                              <a:srgbClr val="111827"/>
                            </a:solidFill>
                            <a:latin typeface="Cambria Math" panose="02040503050406030204" pitchFamily="18" charset="0"/>
                          </a:rPr>
                          <m:t>𝑁</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e>
                    </m:nary>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52</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 a sum of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with the same lower index and consecutive upper indices is always a difference of two single binomial coefficients.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Hockey stick: </a:t>
                </a:r>
                <a:r>
                  <a:rPr lang="en-IN" sz="2400">
                    <a:solidFill>
                      <a:srgbClr val="111827"/>
                    </a:solidFill>
                    <a:latin typeface="Cambria Math" panose="02040503050406030204" pitchFamily="18" charset="0"/>
                  </a:rPr>
                  <a:t>$\sum_{n=r}^{N}\binom{n}{r}=\binom{N+1}{r+1}$</a:t>
                </a:r>
                <a:r>
                  <a:rPr sz="2400" b="0">
                    <a:solidFill>
                      <a:srgbClr val="111827"/>
                    </a:solidFill>
                    <a:latin typeface="Arial"/>
                  </a:rPr>
                  <a:t>, and </a:t>
                </a:r>
                <a:r>
                  <a:rPr lang="en-IN" sz="2400">
                    <a:solidFill>
                      <a:srgbClr val="111827"/>
                    </a:solidFill>
                    <a:latin typeface="Cambria Math" panose="02040503050406030204" pitchFamily="18" charset="0"/>
                  </a:rPr>
                  <a:t>$\sum_{n=a}^{N}\binom nr=\binom{N+1}{r+1}-\binom{a}{r+1}$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$a=45$</a:t>
                </a:r>
                <a:r>
                  <a:rPr sz="2400" b="0">
                    <a:solidFill>
                      <a:srgbClr val="111827"/>
                    </a:solidFill>
                    <a:latin typeface="Arial"/>
                  </a:rPr>
                  <a:t>, </a:t>
                </a:r>
                <a:r>
                  <a:rPr lang="en-IN" sz="2400">
                    <a:solidFill>
                      <a:srgbClr val="111827"/>
                    </a:solidFill>
                    <a:latin typeface="Cambria Math" panose="02040503050406030204" pitchFamily="18" charset="0"/>
                  </a:rPr>
                  <a:t>$N=51$</a:t>
                </a:r>
                <a:r>
                  <a:rPr sz="2400" b="0">
                    <a:solidFill>
                      <a:srgbClr val="111827"/>
                    </a:solidFill>
                    <a:latin typeface="Arial"/>
                  </a:rPr>
                  <a:t>, </a:t>
                </a:r>
                <a:r>
                  <a:rPr lang="en-IN" sz="2400">
                    <a:solidFill>
                      <a:srgbClr val="111827"/>
                    </a:solidFill>
                    <a:latin typeface="Cambria Math" panose="02040503050406030204" pitchFamily="18" charset="0"/>
                  </a:rPr>
                  <a:t>$r=3$</a:t>
                </a:r>
                <a:r>
                  <a:rPr sz="2400" b="0">
                    <a:solidFill>
                      <a:srgbClr val="111827"/>
                    </a:solidFill>
                    <a:latin typeface="Arial"/>
                  </a:rPr>
                  <a:t>: </a:t>
                </a:r>
                <a:r>
                  <a:rPr lang="en-IN" sz="2400">
                    <a:solidFill>
                      <a:srgbClr val="111827"/>
                    </a:solidFill>
                    <a:latin typeface="Cambria Math" panose="02040503050406030204" pitchFamily="18" charset="0"/>
                  </a:rPr>
                  <a:t>$\binom{52}{4}-\binom{45}{4}$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 a sum of </a:t>
                </a:r>
                <a:r>
                  <a:rPr lang="en-IN" sz="2400">
                    <a:solidFill>
                      <a:srgbClr val="111827"/>
                    </a:solidFill>
                    <a:latin typeface="Cambria Math" panose="02040503050406030204" pitchFamily="18" charset="0"/>
                  </a:rPr>
                  <a:t>$\binom{n}{r}$</a:t>
                </a:r>
                <a:r>
                  <a:rPr sz="2400" b="0">
                    <a:solidFill>
                      <a:srgbClr val="111827"/>
                    </a:solidFill>
                    <a:latin typeface="Arial"/>
                  </a:rPr>
                  <a:t> with the same lower index and consecutive upper indices is always a difference of two single binomial coefficients.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$\binom22+\binom32+\binom42=1+3+6=10=\binom53$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726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𝐾</m:t>
                    </m:r>
                  </m:oMath>
                </a14:m>
                <a:r>
                  <a:rPr sz="2400" b="0">
                    <a:solidFill>
                      <a:srgbClr val="111827"/>
                    </a:solidFill>
                    <a:latin typeface="Arial"/>
                  </a:rPr>
                  <a:t> be the sum of the coefficients of the odd powers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the expansion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99</m:t>
                        </m:r>
                      </m:sup>
                    </m:sSup>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be the middle term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e>
                        </m:d>
                      </m:e>
                      <m:sup>
                        <m:r>
                          <a:rPr lang="en-IN" sz="2400" i="1">
                            <a:solidFill>
                              <a:srgbClr val="111827"/>
                            </a:solidFill>
                            <a:latin typeface="Cambria Math" panose="02040503050406030204" pitchFamily="18" charset="0"/>
                          </a:rPr>
                          <m:t>200</m:t>
                        </m:r>
                      </m:sup>
                    </m:sSup>
                  </m:oMath>
                </a14:m>
                <a:r>
                  <a:rPr sz="2400" b="0">
                    <a:solidFill>
                      <a:srgbClr val="111827"/>
                    </a:solidFill>
                    <a:latin typeface="Arial"/>
                  </a:rPr>
                  <a:t>. If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m:t>
                                </m:r>
                              </m:num>
                              <m:den>
                                <m:r>
                                  <a:rPr lang="en-IN" sz="2400" i="1">
                                    <a:solidFill>
                                      <a:srgbClr val="111827"/>
                                    </a:solidFill>
                                    <a:latin typeface="Cambria Math" panose="02040503050406030204" pitchFamily="18" charset="0"/>
                                  </a:rPr>
                                  <m:t>99</m:t>
                                </m:r>
                              </m:den>
                            </m:f>
                          </m:e>
                        </m:d>
                        <m:r>
                          <a:rPr lang="en-IN" sz="2400" i="1">
                            <a:solidFill>
                              <a:srgbClr val="111827"/>
                            </a:solidFill>
                            <a:latin typeface="Cambria Math" panose="02040503050406030204" pitchFamily="18" charset="0"/>
                          </a:rPr>
                          <m:t>𝐾</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ℓ</m:t>
                            </m:r>
                          </m:sup>
                        </m:sSup>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are odd numbers, then the ordered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27726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$K$</a:t>
                </a:r>
                <a:r>
                  <a:rPr sz="2400" b="0">
                    <a:solidFill>
                      <a:srgbClr val="111827"/>
                    </a:solidFill>
                    <a:latin typeface="Arial"/>
                  </a:rPr>
                  <a:t> be the sum of the coefficients of the odd powers of </a:t>
                </a:r>
                <a:r>
                  <a:rPr lang="en-IN" sz="2400">
                    <a:solidFill>
                      <a:srgbClr val="111827"/>
                    </a:solidFill>
                    <a:latin typeface="Cambria Math" panose="02040503050406030204" pitchFamily="18" charset="0"/>
                  </a:rPr>
                  <a:t>$x$</a:t>
                </a:r>
                <a:r>
                  <a:rPr sz="2400" b="0">
                    <a:solidFill>
                      <a:srgbClr val="111827"/>
                    </a:solidFill>
                    <a:latin typeface="Arial"/>
                  </a:rPr>
                  <a:t> in the expansion of </a:t>
                </a:r>
                <a:r>
                  <a:rPr lang="en-IN" sz="2400">
                    <a:solidFill>
                      <a:srgbClr val="111827"/>
                    </a:solidFill>
                    <a:latin typeface="Cambria Math" panose="02040503050406030204" pitchFamily="18" charset="0"/>
                  </a:rPr>
                  <a:t>$(1+x)^{99}$</a:t>
                </a:r>
                <a:r>
                  <a:rPr sz="2400" b="0">
                    <a:solidFill>
                      <a:srgbClr val="111827"/>
                    </a:solidFill>
                    <a:latin typeface="Arial"/>
                  </a:rPr>
                  <a:t>. Let </a:t>
                </a:r>
                <a:r>
                  <a:rPr lang="en-IN" sz="2400">
                    <a:solidFill>
                      <a:srgbClr val="111827"/>
                    </a:solidFill>
                    <a:latin typeface="Cambria Math" panose="02040503050406030204" pitchFamily="18" charset="0"/>
                  </a:rPr>
                  <a:t>$a$</a:t>
                </a:r>
                <a:r>
                  <a:rPr sz="2400" b="0">
                    <a:solidFill>
                      <a:srgbClr val="111827"/>
                    </a:solidFill>
                    <a:latin typeface="Arial"/>
                  </a:rPr>
                  <a:t> be the middle term in the expansion of </a:t>
                </a:r>
                <a:r>
                  <a:rPr lang="en-IN" sz="2400">
                    <a:solidFill>
                      <a:srgbClr val="111827"/>
                    </a:solidFill>
                    <a:latin typeface="Cambria Math" panose="02040503050406030204" pitchFamily="18" charset="0"/>
                  </a:rPr>
                  <a:t>$\left(2+\dfrac{1}{\sqrt2}\right)^{200}$</a:t>
                </a:r>
                <a:r>
                  <a:rPr sz="2400" b="0">
                    <a:solidFill>
                      <a:srgbClr val="111827"/>
                    </a:solidFill>
                    <a:latin typeface="Arial"/>
                  </a:rPr>
                  <a:t>. If </a:t>
                </a:r>
                <a:r>
                  <a:rPr lang="en-IN" sz="2400">
                    <a:solidFill>
                      <a:srgbClr val="111827"/>
                    </a:solidFill>
                    <a:latin typeface="Cambria Math" panose="02040503050406030204" pitchFamily="18" charset="0"/>
                  </a:rPr>
                  <a:t>$\dfrac{\binom{200}{99}K}{a}=\dfrac{2^{\ell}m}{n}$</a:t>
                </a:r>
                <a:r>
                  <a:rPr sz="2400" b="0">
                    <a:solidFill>
                      <a:srgbClr val="111827"/>
                    </a:solidFill>
                    <a:latin typeface="Arial"/>
                  </a:rPr>
                  <a:t>, where </a:t>
                </a:r>
                <a:r>
                  <a:rPr lang="en-IN" sz="2400">
                    <a:solidFill>
                      <a:srgbClr val="111827"/>
                    </a:solidFill>
                    <a:latin typeface="Cambria Math" panose="02040503050406030204" pitchFamily="18" charset="0"/>
                  </a:rPr>
                  <a:t>$m$</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are odd numbers, then the ordered pair </a:t>
                </a:r>
                <a:r>
                  <a:rPr lang="en-IN" sz="2400">
                    <a:solidFill>
                      <a:srgbClr val="111827"/>
                    </a:solidFill>
                    <a:latin typeface="Cambria Math" panose="02040503050406030204" pitchFamily="18" charset="0"/>
                  </a:rPr>
                  <a:t>$(\ell,n)$</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$(50,51)$</a:t>
                </a:r>
                <a:r>
                  <a:rPr sz="2400" b="0">
                    <a:solidFill>
                      <a:srgbClr val="111827"/>
                    </a:solidFill>
                    <a:latin typeface="Arial"/>
                  </a:rPr>
                  <a:t>   (B) </a:t>
                </a:r>
                <a:r>
                  <a:rPr lang="en-IN" sz="2400">
                    <a:solidFill>
                      <a:srgbClr val="111827"/>
                    </a:solidFill>
                    <a:latin typeface="Cambria Math" panose="02040503050406030204" pitchFamily="18" charset="0"/>
                  </a:rPr>
                  <a:t>$(51,101)$</a:t>
                </a:r>
                <a:r>
                  <a:rPr sz="2400" b="0">
                    <a:solidFill>
                      <a:srgbClr val="111827"/>
                    </a:solidFill>
                    <a:latin typeface="Arial"/>
                  </a:rPr>
                  <a:t>   (C) </a:t>
                </a:r>
                <a:r>
                  <a:rPr lang="en-IN" sz="2400">
                    <a:solidFill>
                      <a:srgbClr val="111827"/>
                    </a:solidFill>
                    <a:latin typeface="Cambria Math" panose="02040503050406030204" pitchFamily="18" charset="0"/>
                  </a:rPr>
                  <a:t>$(50,101)$</a:t>
                </a:r>
                <a:r>
                  <a:rPr sz="2400" b="0">
                    <a:solidFill>
                      <a:srgbClr val="111827"/>
                    </a:solidFill>
                    <a:latin typeface="Arial"/>
                  </a:rPr>
                  <a:t>   (D) </a:t>
                </a:r>
                <a:r>
                  <a:rPr lang="en-IN" sz="2400">
                    <a:solidFill>
                      <a:srgbClr val="111827"/>
                    </a:solidFill>
                    <a:latin typeface="Cambria Math" panose="02040503050406030204" pitchFamily="18" charset="0"/>
                  </a:rPr>
                  <a:t>$(51,99)$</a:t>
                </a:r>
                <a:endParaRPr sz="2400">
                  <a:solidFill>
                    <a:srgbClr val="111827"/>
                  </a:solidFill>
                </a:endParaRPr>
              </a:p>
            </p:txBody>
          </p:sp>
        </mc:Fallback>
      </mc:AlternateContent>
      <p:sp>
        <p:nvSpPr>
          <p:cNvPr id="5" name="Rectangle 4"/>
          <p:cNvSpPr/>
          <p:nvPr/>
        </p:nvSpPr>
        <p:spPr>
          <a:xfrm>
            <a:off x="731520" y="428142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Middle term and sum of odd-power coefficients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𝐾</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98</m:t>
                        </m:r>
                      </m:sup>
                    </m:sSup>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200</m:t>
                            </m:r>
                          </m:num>
                          <m:den>
                            <m:r>
                              <a:rPr lang="en-IN" sz="2400" i="1">
                                <a:solidFill>
                                  <a:srgbClr val="78350F"/>
                                </a:solidFill>
                                <a:latin typeface="Cambria Math" panose="02040503050406030204" pitchFamily="18" charset="0"/>
                              </a:rPr>
                              <m:t>100</m:t>
                            </m:r>
                          </m:den>
                        </m:f>
                      </m:e>
                    </m:d>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50</m:t>
                        </m:r>
                      </m:sup>
                    </m:sSup>
                  </m:oMath>
                </a14:m>
                <a:r>
                  <a:rPr sz="2400" b="0">
                    <a:solidFill>
                      <a:srgbClr val="78350F"/>
                    </a:solidFill>
                    <a:latin typeface="Arial"/>
                  </a:rPr>
                  <a:t>; only the ratio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200</m:t>
                            </m:r>
                          </m:num>
                          <m:den>
                            <m:r>
                              <a:rPr lang="en-IN" sz="2400" i="1">
                                <a:solidFill>
                                  <a:srgbClr val="78350F"/>
                                </a:solidFill>
                                <a:latin typeface="Cambria Math" panose="02040503050406030204" pitchFamily="18" charset="0"/>
                              </a:rPr>
                              <m:t>99</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200</m:t>
                            </m:r>
                          </m:num>
                          <m:den>
                            <m:r>
                              <a:rPr lang="en-IN" sz="2400" i="1">
                                <a:solidFill>
                                  <a:srgbClr val="78350F"/>
                                </a:solidFill>
                                <a:latin typeface="Cambria Math" panose="02040503050406030204" pitchFamily="18" charset="0"/>
                              </a:rPr>
                              <m:t>100</m:t>
                            </m:r>
                          </m:den>
                        </m:f>
                      </m:e>
                    </m:d>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100</m:t>
                        </m:r>
                      </m:num>
                      <m:den>
                        <m:r>
                          <a:rPr lang="en-IN" sz="2400" i="1">
                            <a:solidFill>
                              <a:srgbClr val="78350F"/>
                            </a:solidFill>
                            <a:latin typeface="Cambria Math" panose="02040503050406030204" pitchFamily="18" charset="0"/>
                          </a:rPr>
                          <m:t>101</m:t>
                        </m:r>
                      </m:den>
                    </m:f>
                  </m:oMath>
                </a14:m>
                <a:r>
                  <a:rPr sz="2400" b="0">
                    <a:solidFill>
                      <a:srgbClr val="78350F"/>
                    </a:solidFill>
                    <a:latin typeface="Arial"/>
                  </a:rPr>
                  <a:t> matters.</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$K=2^{98}$</a:t>
                </a:r>
                <a:r>
                  <a:rPr sz="2400" b="0">
                    <a:solidFill>
                      <a:srgbClr val="78350F"/>
                    </a:solidFill>
                    <a:latin typeface="Arial"/>
                  </a:rPr>
                  <a:t> and </a:t>
                </a:r>
                <a:r>
                  <a:rPr lang="en-IN" sz="2400">
                    <a:solidFill>
                      <a:srgbClr val="78350F"/>
                    </a:solidFill>
                    <a:latin typeface="Cambria Math" panose="02040503050406030204" pitchFamily="18" charset="0"/>
                  </a:rPr>
                  <a:t>$a=\binom{200}{100}2^{50}$</a:t>
                </a:r>
                <a:r>
                  <a:rPr sz="2400" b="0">
                    <a:solidFill>
                      <a:srgbClr val="78350F"/>
                    </a:solidFill>
                    <a:latin typeface="Arial"/>
                  </a:rPr>
                  <a:t>; only the ratio </a:t>
                </a:r>
                <a:r>
                  <a:rPr lang="en-IN" sz="2400">
                    <a:solidFill>
                      <a:srgbClr val="78350F"/>
                    </a:solidFill>
                    <a:latin typeface="Cambria Math" panose="02040503050406030204" pitchFamily="18" charset="0"/>
                  </a:rPr>
                  <a:t>$\binom{200}{99}/\binom{200}{100}=\frac{100}{101}$</a:t>
                </a:r>
                <a:r>
                  <a:rPr sz="2400" b="0">
                    <a:solidFill>
                      <a:srgbClr val="78350F"/>
                    </a:solidFill>
                    <a:latin typeface="Arial"/>
                  </a:rPr>
                  <a:t> matters.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odd-power coefficients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99</m:t>
                        </m:r>
                      </m:sup>
                    </m:sSup>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99</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a:rPr lang="en-IN" sz="2400" i="1">
                                <a:solidFill>
                                  <a:srgbClr val="111827"/>
                                </a:solidFill>
                                <a:latin typeface="Cambria Math" panose="02040503050406030204" pitchFamily="18" charset="0"/>
                              </a:rPr>
                              <m:t>99</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98</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98</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e>
                        </m:d>
                      </m:e>
                      <m:sup>
                        <m:r>
                          <a:rPr lang="en-IN" sz="2400" i="1">
                            <a:solidFill>
                              <a:srgbClr val="111827"/>
                            </a:solidFill>
                            <a:latin typeface="Cambria Math" panose="02040503050406030204" pitchFamily="18" charset="0"/>
                          </a:rPr>
                          <m:t>200</m:t>
                        </m:r>
                      </m:sup>
                    </m:sSup>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201</m:t>
                    </m:r>
                  </m:oMath>
                </a14:m>
                <a:r>
                  <a:rPr sz="2400" b="0">
                    <a:solidFill>
                      <a:srgbClr val="111827"/>
                    </a:solidFill>
                    <a:latin typeface="Arial"/>
                  </a:rPr>
                  <a:t> terms; the middle term is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101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m:t>
                            </m:r>
                          </m:num>
                          <m:den>
                            <m:r>
                              <a:rPr lang="en-IN" sz="2400" i="1">
                                <a:solidFill>
                                  <a:srgbClr val="111827"/>
                                </a:solidFill>
                                <a:latin typeface="Cambria Math" panose="02040503050406030204" pitchFamily="18" charset="0"/>
                              </a:rPr>
                              <m:t>100</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100</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e>
                        </m:d>
                      </m:e>
                      <m:sup>
                        <m:r>
                          <a:rPr lang="en-IN" sz="2400" i="1">
                            <a:solidFill>
                              <a:srgbClr val="111827"/>
                            </a:solidFill>
                            <a:latin typeface="Cambria Math" panose="02040503050406030204" pitchFamily="18" charset="0"/>
                          </a:rPr>
                          <m:t>100</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m:t>
                            </m:r>
                          </m:num>
                          <m:den>
                            <m:r>
                              <a:rPr lang="en-IN" sz="2400" i="1">
                                <a:solidFill>
                                  <a:srgbClr val="111827"/>
                                </a:solidFill>
                                <a:latin typeface="Cambria Math" panose="02040503050406030204" pitchFamily="18" charset="0"/>
                              </a:rPr>
                              <m:t>100</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100</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50</m:t>
                            </m:r>
                          </m:sup>
                        </m:sSup>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m:t>
                            </m:r>
                          </m:num>
                          <m:den>
                            <m:r>
                              <a:rPr lang="en-IN" sz="2400" i="1">
                                <a:solidFill>
                                  <a:srgbClr val="111827"/>
                                </a:solidFill>
                                <a:latin typeface="Cambria Math" panose="02040503050406030204" pitchFamily="18" charset="0"/>
                              </a:rPr>
                              <m:t>100</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50</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m:t>
                                </m:r>
                              </m:num>
                              <m:den>
                                <m:r>
                                  <a:rPr lang="en-IN" sz="2400" i="1">
                                    <a:solidFill>
                                      <a:srgbClr val="111827"/>
                                    </a:solidFill>
                                    <a:latin typeface="Cambria Math" panose="02040503050406030204" pitchFamily="18" charset="0"/>
                                  </a:rPr>
                                  <m:t>99</m:t>
                                </m:r>
                              </m:den>
                            </m:f>
                          </m:e>
                        </m:d>
                        <m:r>
                          <a:rPr lang="en-IN" sz="2400" i="1">
                            <a:solidFill>
                              <a:srgbClr val="111827"/>
                            </a:solidFill>
                            <a:latin typeface="Cambria Math" panose="02040503050406030204" pitchFamily="18" charset="0"/>
                          </a:rPr>
                          <m:t>𝐾</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98</m:t>
                            </m:r>
                          </m:sup>
                        </m:sSup>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m:t>
                                </m:r>
                              </m:num>
                              <m:den>
                                <m:r>
                                  <a:rPr lang="en-IN" sz="2400" i="1">
                                    <a:solidFill>
                                      <a:srgbClr val="111827"/>
                                    </a:solidFill>
                                    <a:latin typeface="Cambria Math" panose="02040503050406030204" pitchFamily="18" charset="0"/>
                                  </a:rPr>
                                  <m:t>100</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50</m:t>
                            </m:r>
                          </m:sup>
                        </m:sSup>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odd-power coefficients of </a:t>
                </a:r>
                <a:r>
                  <a:rPr lang="en-IN" sz="2400">
                    <a:solidFill>
                      <a:srgbClr val="111827"/>
                    </a:solidFill>
                    <a:latin typeface="Cambria Math" panose="02040503050406030204" pitchFamily="18" charset="0"/>
                  </a:rPr>
                  <a:t>$(1+x)^{99}$</a:t>
                </a:r>
                <a:r>
                  <a:rPr sz="2400" b="0">
                    <a:solidFill>
                      <a:srgbClr val="111827"/>
                    </a:solidFill>
                    <a:latin typeface="Arial"/>
                  </a:rPr>
                  <a:t> is </a:t>
                </a:r>
                <a:r>
                  <a:rPr lang="en-IN" sz="2400">
                    <a:solidFill>
                      <a:srgbClr val="111827"/>
                    </a:solidFill>
                    <a:latin typeface="Cambria Math" panose="02040503050406030204" pitchFamily="18" charset="0"/>
                  </a:rPr>
                  <a:t>$\dfrac{2^{99}-0^{99}}{2}=2^{98}$</a:t>
                </a:r>
                <a:r>
                  <a:rPr sz="2400" b="0">
                    <a:solidFill>
                      <a:srgbClr val="111827"/>
                    </a:solidFill>
                    <a:latin typeface="Arial"/>
                  </a:rPr>
                  <a:t>, so </a:t>
                </a:r>
                <a:r>
                  <a:rPr lang="en-IN" sz="2400">
                    <a:solidFill>
                      <a:srgbClr val="111827"/>
                    </a:solidFill>
                    <a:latin typeface="Cambria Math" panose="02040503050406030204" pitchFamily="18" charset="0"/>
                  </a:rPr>
                  <a:t>$K=2^{98}$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expansion of </a:t>
                </a:r>
                <a:r>
                  <a:rPr lang="en-IN" sz="2400">
                    <a:solidFill>
                      <a:srgbClr val="111827"/>
                    </a:solidFill>
                    <a:latin typeface="Cambria Math" panose="02040503050406030204" pitchFamily="18" charset="0"/>
                  </a:rPr>
                  <a:t>$\left(2+\frac1{\sqrt2}\right)^{200}$</a:t>
                </a:r>
                <a:r>
                  <a:rPr sz="2400" b="0">
                    <a:solidFill>
                      <a:srgbClr val="111827"/>
                    </a:solidFill>
                    <a:latin typeface="Arial"/>
                  </a:rPr>
                  <a:t> has </a:t>
                </a:r>
                <a:r>
                  <a:rPr lang="en-IN" sz="2400">
                    <a:solidFill>
                      <a:srgbClr val="111827"/>
                    </a:solidFill>
                    <a:latin typeface="Cambria Math" panose="02040503050406030204" pitchFamily="18" charset="0"/>
                  </a:rPr>
                  <a:t>$201$</a:t>
                </a:r>
                <a:r>
                  <a:rPr sz="2400" b="0">
                    <a:solidFill>
                      <a:srgbClr val="111827"/>
                    </a:solidFill>
                    <a:latin typeface="Arial"/>
                  </a:rPr>
                  <a:t> terms; the middle term is </a:t>
                </a:r>
                <a:r>
                  <a:rPr lang="en-IN" sz="2400">
                    <a:solidFill>
                      <a:srgbClr val="111827"/>
                    </a:solidFill>
                    <a:latin typeface="Cambria Math" panose="02040503050406030204" pitchFamily="18" charset="0"/>
                  </a:rPr>
                  <a:t>$T_{101}=\binom{200}{100}2^{100}\left(\frac{1}{\sqrt2}\right)^{100}=\binom{200}{100}\dfrac{2^{100}}{2^{50}}=\binom{200}{100}2^{50}$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$\dfrac{\binom{200}{99}K}{a}=\dfrac{200!}{100!\,99!}\cdot\dfrac{2^{98}}{\binom{200}{100}2^{50}}$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m:t>
                                </m:r>
                              </m:num>
                              <m:den>
                                <m:r>
                                  <a:rPr lang="en-IN" sz="2400" i="1">
                                    <a:solidFill>
                                      <a:srgbClr val="111827"/>
                                    </a:solidFill>
                                    <a:latin typeface="Cambria Math" panose="02040503050406030204" pitchFamily="18" charset="0"/>
                                  </a:rPr>
                                  <m:t>99</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m:t>
                                </m:r>
                              </m:num>
                              <m:den>
                                <m:r>
                                  <a:rPr lang="en-IN" sz="2400" i="1">
                                    <a:solidFill>
                                      <a:srgbClr val="111827"/>
                                    </a:solidFill>
                                    <a:latin typeface="Cambria Math" panose="02040503050406030204" pitchFamily="18" charset="0"/>
                                  </a:rPr>
                                  <m:t>100</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101</m:t>
                        </m:r>
                      </m:den>
                    </m:f>
                  </m:oMath>
                </a14:m>
                <a:r>
                  <a:rPr sz="2400" b="0">
                    <a:solidFill>
                      <a:srgbClr val="111827"/>
                    </a:solidFill>
                    <a:latin typeface="Arial"/>
                  </a:rPr>
                  <a:t>, this equals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101</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48</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101</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48</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101</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48</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101</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50</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oMath>
                </a14:m>
                <a:r>
                  <a:rPr sz="2400" b="0">
                    <a:solidFill>
                      <a:srgbClr val="111827"/>
                    </a:solidFill>
                    <a:latin typeface="Arial"/>
                  </a:rPr>
                  <a:t> odd.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$\dfrac{\binom{200}{99}}{\binom{200}{100}}=\dfrac{100}{101}$</a:t>
                </a:r>
                <a:r>
                  <a:rPr sz="2400" b="0">
                    <a:solidFill>
                      <a:srgbClr val="111827"/>
                    </a:solidFill>
                    <a:latin typeface="Arial"/>
                  </a:rPr>
                  <a:t>, this equals </a:t>
                </a:r>
                <a:r>
                  <a:rPr lang="en-IN" sz="2400">
                    <a:solidFill>
                      <a:srgbClr val="111827"/>
                    </a:solidFill>
                    <a:latin typeface="Cambria Math" panose="02040503050406030204" pitchFamily="18" charset="0"/>
                  </a:rPr>
                  <a:t>$\dfrac{100}{101}\cdot2^{48}$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$\dfrac{100}{101}\cdot2^{48}=\dfrac{4\cdot25}{101}\cdot2^{48}=\dfrac{25}{101}\cdot2^{50}$</a:t>
                </a:r>
                <a:r>
                  <a:rPr sz="2400" b="0">
                    <a:solidFill>
                      <a:srgbClr val="111827"/>
                    </a:solidFill>
                    <a:latin typeface="Arial"/>
                  </a:rPr>
                  <a:t> with </a:t>
                </a:r>
                <a:r>
                  <a:rPr lang="en-IN" sz="2400">
                    <a:solidFill>
                      <a:srgbClr val="111827"/>
                    </a:solidFill>
                    <a:latin typeface="Cambria Math" panose="02040503050406030204" pitchFamily="18" charset="0"/>
                  </a:rPr>
                  <a:t>$m=25$</a:t>
                </a:r>
                <a:r>
                  <a:rPr sz="2400" b="0">
                    <a:solidFill>
                      <a:srgbClr val="111827"/>
                    </a:solidFill>
                    <a:latin typeface="Arial"/>
                  </a:rPr>
                  <a:t> and </a:t>
                </a:r>
                <a:r>
                  <a:rPr lang="en-IN" sz="2400">
                    <a:solidFill>
                      <a:srgbClr val="111827"/>
                    </a:solidFill>
                    <a:latin typeface="Cambria Math" panose="02040503050406030204" pitchFamily="18" charset="0"/>
                  </a:rPr>
                  <a:t>$n=101$</a:t>
                </a:r>
                <a:r>
                  <a:rPr sz="2400" b="0">
                    <a:solidFill>
                      <a:srgbClr val="111827"/>
                    </a:solidFill>
                    <a:latin typeface="Arial"/>
                  </a:rPr>
                  <a:t> odd.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$(\ell,n)=(50,101)$</a:t>
                </a:r>
                <a:r>
                  <a:rPr sz="2400" b="0">
                    <a:solidFill>
                      <a:srgbClr val="111827"/>
                    </a:solidFill>
                    <a:latin typeface="Arial"/>
                  </a:rPr>
                  <a:t>, option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(50,101)</a:t>
            </a:r>
            <a:endParaRPr sz="2800">
              <a:solidFill>
                <a:srgbClr val="15803D"/>
              </a:solidFill>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Track only the power of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(the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-adic valuation) and the odd part.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Track only the power of </a:t>
                </a:r>
                <a:r>
                  <a:rPr lang="en-IN" sz="2400">
                    <a:solidFill>
                      <a:srgbClr val="78350F"/>
                    </a:solidFill>
                    <a:latin typeface="Cambria Math" panose="02040503050406030204" pitchFamily="18" charset="0"/>
                  </a:rPr>
                  <a:t>$2$</a:t>
                </a:r>
                <a:r>
                  <a:rPr sz="2400" b="0">
                    <a:solidFill>
                      <a:srgbClr val="78350F"/>
                    </a:solidFill>
                    <a:latin typeface="Arial"/>
                  </a:rPr>
                  <a:t> (the </a:t>
                </a:r>
                <a:r>
                  <a:rPr lang="en-IN" sz="2400">
                    <a:solidFill>
                      <a:srgbClr val="78350F"/>
                    </a:solidFill>
                    <a:latin typeface="Cambria Math" panose="02040503050406030204" pitchFamily="18" charset="0"/>
                  </a:rPr>
                  <a:t>$2$</a:t>
                </a:r>
                <a:r>
                  <a:rPr sz="2400" b="0">
                    <a:solidFill>
                      <a:srgbClr val="78350F"/>
                    </a:solidFill>
                    <a:latin typeface="Arial"/>
                  </a:rPr>
                  <a:t>-adic valuation) and the odd part.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98</m:t>
                        </m:r>
                      </m:sup>
                    </m:sSup>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-adic valuation </a:t>
                </a:r>
                <a14:m>
                  <m:oMath xmlns:m="http://schemas.openxmlformats.org/officeDocument/2006/math">
                    <m:r>
                      <a:rPr lang="en-IN" sz="2400" i="1">
                        <a:solidFill>
                          <a:srgbClr val="111827"/>
                        </a:solidFill>
                        <a:latin typeface="Cambria Math" panose="02040503050406030204" pitchFamily="18" charset="0"/>
                      </a:rPr>
                      <m:t>98</m:t>
                    </m:r>
                  </m:oMath>
                </a14:m>
                <a:r>
                  <a:rPr sz="2400" b="0">
                    <a:solidFill>
                      <a:srgbClr val="111827"/>
                    </a:solidFill>
                    <a:latin typeface="Arial"/>
                  </a:rPr>
                  <a:t> and odd part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m:t>
                            </m:r>
                          </m:num>
                          <m:den>
                            <m:r>
                              <a:rPr lang="en-IN" sz="2400" i="1">
                                <a:solidFill>
                                  <a:srgbClr val="111827"/>
                                </a:solidFill>
                                <a:latin typeface="Cambria Math" panose="02040503050406030204" pitchFamily="18" charset="0"/>
                              </a:rPr>
                              <m:t>99</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m:t>
                            </m:r>
                          </m:num>
                          <m:den>
                            <m:r>
                              <a:rPr lang="en-IN" sz="2400" i="1">
                                <a:solidFill>
                                  <a:srgbClr val="111827"/>
                                </a:solidFill>
                                <a:latin typeface="Cambria Math" panose="02040503050406030204" pitchFamily="18" charset="0"/>
                              </a:rPr>
                              <m:t>100</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101</m:t>
                        </m:r>
                      </m:den>
                    </m:f>
                  </m:oMath>
                </a14:m>
                <a:r>
                  <a:rPr sz="2400" b="0">
                    <a:solidFill>
                      <a:srgbClr val="111827"/>
                    </a:solidFill>
                    <a:latin typeface="Arial"/>
                  </a:rPr>
                  <a:t>, whose valuation is </a:t>
                </a:r>
                <a14:m>
                  <m:oMath xmlns:m="http://schemas.openxmlformats.org/officeDocument/2006/math">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odd part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101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m:t>
                            </m:r>
                          </m:num>
                          <m:den>
                            <m:r>
                              <a:rPr lang="en-IN" sz="2400" i="1">
                                <a:solidFill>
                                  <a:srgbClr val="111827"/>
                                </a:solidFill>
                                <a:latin typeface="Cambria Math" panose="02040503050406030204" pitchFamily="18" charset="0"/>
                              </a:rPr>
                              <m:t>100</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50</m:t>
                        </m:r>
                      </m:sup>
                    </m:sSup>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m:t>
                                </m:r>
                              </m:num>
                              <m:den>
                                <m:r>
                                  <a:rPr lang="en-IN" sz="2400" i="1">
                                    <a:solidFill>
                                      <a:srgbClr val="111827"/>
                                    </a:solidFill>
                                    <a:latin typeface="Cambria Math" panose="02040503050406030204" pitchFamily="18" charset="0"/>
                                  </a:rPr>
                                  <m:t>99</m:t>
                                </m:r>
                              </m:den>
                            </m:f>
                          </m:e>
                        </m:d>
                        <m:r>
                          <a:rPr lang="en-IN" sz="2400" i="1">
                            <a:solidFill>
                              <a:srgbClr val="111827"/>
                            </a:solidFill>
                            <a:latin typeface="Cambria Math" panose="02040503050406030204" pitchFamily="18" charset="0"/>
                          </a:rPr>
                          <m:t>𝐾</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101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98</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50</m:t>
                            </m:r>
                          </m:sup>
                        </m:sSup>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$K=2^{98}$</a:t>
                </a:r>
                <a:r>
                  <a:rPr sz="2400" b="0">
                    <a:solidFill>
                      <a:srgbClr val="111827"/>
                    </a:solidFill>
                    <a:latin typeface="Arial"/>
                  </a:rPr>
                  <a:t> has </a:t>
                </a:r>
                <a:r>
                  <a:rPr lang="en-IN" sz="2400">
                    <a:solidFill>
                      <a:srgbClr val="111827"/>
                    </a:solidFill>
                    <a:latin typeface="Cambria Math" panose="02040503050406030204" pitchFamily="18" charset="0"/>
                  </a:rPr>
                  <a:t>$2$</a:t>
                </a:r>
                <a:r>
                  <a:rPr sz="2400" b="0">
                    <a:solidFill>
                      <a:srgbClr val="111827"/>
                    </a:solidFill>
                    <a:latin typeface="Arial"/>
                  </a:rPr>
                  <a:t>-adic valuation </a:t>
                </a:r>
                <a:r>
                  <a:rPr lang="en-IN" sz="2400">
                    <a:solidFill>
                      <a:srgbClr val="111827"/>
                    </a:solidFill>
                    <a:latin typeface="Cambria Math" panose="02040503050406030204" pitchFamily="18" charset="0"/>
                  </a:rPr>
                  <a:t>$98$</a:t>
                </a:r>
                <a:r>
                  <a:rPr sz="2400" b="0">
                    <a:solidFill>
                      <a:srgbClr val="111827"/>
                    </a:solidFill>
                    <a:latin typeface="Arial"/>
                  </a:rPr>
                  <a:t> and odd part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$\binom{200}{99}/\binom{200}{100}=\frac{100}{101}$</a:t>
                </a:r>
                <a:r>
                  <a:rPr sz="2400" b="0">
                    <a:solidFill>
                      <a:srgbClr val="111827"/>
                    </a:solidFill>
                    <a:latin typeface="Arial"/>
                  </a:rPr>
                  <a:t>, whose valuation is </a:t>
                </a:r>
                <a:r>
                  <a:rPr lang="en-IN" sz="2400">
                    <a:solidFill>
                      <a:srgbClr val="111827"/>
                    </a:solidFill>
                    <a:latin typeface="Cambria Math" panose="02040503050406030204" pitchFamily="18" charset="0"/>
                  </a:rPr>
                  <a:t>$v_2(100)=2$</a:t>
                </a:r>
                <a:r>
                  <a:rPr sz="2400" b="0">
                    <a:solidFill>
                      <a:srgbClr val="111827"/>
                    </a:solidFill>
                    <a:latin typeface="Arial"/>
                  </a:rPr>
                  <a:t> and odd part </a:t>
                </a:r>
                <a:r>
                  <a:rPr lang="en-IN" sz="2400">
                    <a:solidFill>
                      <a:srgbClr val="111827"/>
                    </a:solidFill>
                    <a:latin typeface="Cambria Math" panose="02040503050406030204" pitchFamily="18" charset="0"/>
                  </a:rPr>
                  <a:t>$\frac{25}{101}$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$a=\binom{200}{100}2^{50}$</a:t>
                </a:r>
                <a:r>
                  <a:rPr sz="2400" b="0">
                    <a:solidFill>
                      <a:srgbClr val="111827"/>
                    </a:solidFill>
                    <a:latin typeface="Arial"/>
                  </a:rPr>
                  <a:t>, so </a:t>
                </a:r>
                <a:r>
                  <a:rPr lang="en-IN" sz="2400">
                    <a:solidFill>
                      <a:srgbClr val="111827"/>
                    </a:solidFill>
                    <a:latin typeface="Cambria Math" panose="02040503050406030204" pitchFamily="18" charset="0"/>
                  </a:rPr>
                  <a:t>$\dfrac{\binom{200}{99}K}{a}=\dfrac{100}{101}\cdot\dfrac{2^{98}}{2^{50}}$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power of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the remaining odd fraction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101</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pair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(C)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power of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$2+98-50=50$</a:t>
                </a:r>
                <a:r>
                  <a:rPr sz="2400" b="0">
                    <a:solidFill>
                      <a:srgbClr val="111827"/>
                    </a:solidFill>
                    <a:latin typeface="Arial"/>
                  </a:rPr>
                  <a:t>, hence </a:t>
                </a:r>
                <a:r>
                  <a:rPr lang="en-IN" sz="2400">
                    <a:solidFill>
                      <a:srgbClr val="111827"/>
                    </a:solidFill>
                    <a:latin typeface="Cambria Math" panose="02040503050406030204" pitchFamily="18" charset="0"/>
                  </a:rPr>
                  <a:t>$\ell=50$</a:t>
                </a:r>
                <a:r>
                  <a:rPr sz="2400" b="0">
                    <a:solidFill>
                      <a:srgbClr val="111827"/>
                    </a:solidFill>
                    <a:latin typeface="Arial"/>
                  </a:rPr>
                  <a:t>; the remaining odd fraction is </a:t>
                </a:r>
                <a:r>
                  <a:rPr lang="en-IN" sz="2400">
                    <a:solidFill>
                      <a:srgbClr val="111827"/>
                    </a:solidFill>
                    <a:latin typeface="Cambria Math" panose="02040503050406030204" pitchFamily="18" charset="0"/>
                  </a:rPr>
                  <a:t>$\frac{25}{101}$</a:t>
                </a:r>
                <a:r>
                  <a:rPr sz="2400" b="0">
                    <a:solidFill>
                      <a:srgbClr val="111827"/>
                    </a:solidFill>
                    <a:latin typeface="Arial"/>
                  </a:rPr>
                  <a:t>, so </a:t>
                </a:r>
                <a:r>
                  <a:rPr lang="en-IN" sz="2400">
                    <a:solidFill>
                      <a:srgbClr val="111827"/>
                    </a:solidFill>
                    <a:latin typeface="Cambria Math" panose="02040503050406030204" pitchFamily="18" charset="0"/>
                  </a:rPr>
                  <a:t>$m=25$</a:t>
                </a:r>
                <a:r>
                  <a:rPr sz="2400" b="0">
                    <a:solidFill>
                      <a:srgbClr val="111827"/>
                    </a:solidFill>
                    <a:latin typeface="Arial"/>
                  </a:rPr>
                  <a:t> and </a:t>
                </a:r>
                <a:r>
                  <a:rPr lang="en-IN" sz="2400">
                    <a:solidFill>
                      <a:srgbClr val="111827"/>
                    </a:solidFill>
                    <a:latin typeface="Cambria Math" panose="02040503050406030204" pitchFamily="18" charset="0"/>
                  </a:rPr>
                  <a:t>$n=101$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pair is </a:t>
                </a:r>
                <a:r>
                  <a:rPr lang="en-IN" sz="2400">
                    <a:solidFill>
                      <a:srgbClr val="111827"/>
                    </a:solidFill>
                    <a:latin typeface="Cambria Math" panose="02040503050406030204" pitchFamily="18" charset="0"/>
                  </a:rPr>
                  <a:t>$(50,101)$</a:t>
                </a:r>
                <a:r>
                  <a:rPr sz="2400" b="0">
                    <a:solidFill>
                      <a:srgbClr val="111827"/>
                    </a:solidFill>
                    <a:latin typeface="Arial"/>
                  </a:rPr>
                  <a:t>, option (C)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(50,101)</a:t>
            </a:r>
            <a:endParaRPr sz="2800">
              <a:solidFill>
                <a:srgbClr val="15803D"/>
              </a:solidFill>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coefficients of odd powers (even powers)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each,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in general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of neighbouring coefficients: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m:t>
                                </m:r>
                              </m:num>
                              <m:den>
                                <m:r>
                                  <a:rPr lang="en-IN" sz="2400" i="1">
                                    <a:solidFill>
                                      <a:srgbClr val="111827"/>
                                    </a:solidFill>
                                    <a:latin typeface="Cambria Math" panose="02040503050406030204" pitchFamily="18" charset="0"/>
                                  </a:rPr>
                                  <m:t>99</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m:t>
                                </m:r>
                              </m:num>
                              <m:den>
                                <m:r>
                                  <a:rPr lang="en-IN" sz="2400" i="1">
                                    <a:solidFill>
                                      <a:srgbClr val="111827"/>
                                    </a:solidFill>
                                    <a:latin typeface="Cambria Math" panose="02040503050406030204" pitchFamily="18" charset="0"/>
                                  </a:rPr>
                                  <m:t>100</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101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Middle term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p>
                    </m:sSup>
                  </m:oMath>
                </a14:m>
                <a:r>
                  <a:rPr sz="2400" b="0">
                    <a:solidFill>
                      <a:srgbClr val="111827"/>
                    </a:solidFill>
                    <a:latin typeface="Arial"/>
                  </a:rPr>
                  <a:t> is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den>
                        </m:f>
                      </m:e>
                    </m:d>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write a rational number as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ℓ</m:t>
                        </m:r>
                      </m:sup>
                    </m:s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odd, read off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of numerator minus </a:t>
                </a:r>
                <a14:m>
                  <m:oMath xmlns:m="http://schemas.openxmlformats.org/officeDocument/2006/math">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of denominator.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coefficients of odd powers (even powers) of </a:t>
                </a:r>
                <a:r>
                  <a:rPr lang="en-IN" sz="2400">
                    <a:solidFill>
                      <a:srgbClr val="111827"/>
                    </a:solidFill>
                    <a:latin typeface="Cambria Math" panose="02040503050406030204" pitchFamily="18" charset="0"/>
                  </a:rPr>
                  <a:t>$(1+x)^n$</a:t>
                </a:r>
                <a:r>
                  <a:rPr sz="2400" b="0">
                    <a:solidFill>
                      <a:srgbClr val="111827"/>
                    </a:solidFill>
                    <a:latin typeface="Arial"/>
                  </a:rPr>
                  <a:t>: </a:t>
                </a:r>
                <a:r>
                  <a:rPr lang="en-IN" sz="2400">
                    <a:solidFill>
                      <a:srgbClr val="111827"/>
                    </a:solidFill>
                    <a:latin typeface="Cambria Math" panose="02040503050406030204" pitchFamily="18" charset="0"/>
                  </a:rPr>
                  <a:t>$2^{n-1}$</a:t>
                </a:r>
                <a:r>
                  <a:rPr sz="2400" b="0">
                    <a:solidFill>
                      <a:srgbClr val="111827"/>
                    </a:solidFill>
                    <a:latin typeface="Arial"/>
                  </a:rPr>
                  <a:t> each, for </a:t>
                </a:r>
                <a:r>
                  <a:rPr lang="en-IN" sz="2400">
                    <a:solidFill>
                      <a:srgbClr val="111827"/>
                    </a:solidFill>
                    <a:latin typeface="Cambria Math" panose="02040503050406030204" pitchFamily="18" charset="0"/>
                  </a:rPr>
                  <a:t>$n\ge1$</a:t>
                </a:r>
                <a:r>
                  <a:rPr sz="2400" b="0">
                    <a:solidFill>
                      <a:srgbClr val="111827"/>
                    </a:solidFill>
                    <a:latin typeface="Arial"/>
                  </a:rPr>
                  <a:t>; in general </a:t>
                </a:r>
                <a:r>
                  <a:rPr lang="en-IN" sz="2400">
                    <a:solidFill>
                      <a:srgbClr val="111827"/>
                    </a:solidFill>
                    <a:latin typeface="Cambria Math" panose="02040503050406030204" pitchFamily="18" charset="0"/>
                  </a:rPr>
                  <a:t>$\frac{f(1)\mp f(-1)}{2}$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of neighbouring coefficients: </a:t>
                </a:r>
                <a:r>
                  <a:rPr lang="en-IN" sz="2400">
                    <a:solidFill>
                      <a:srgbClr val="111827"/>
                    </a:solidFill>
                    <a:latin typeface="Cambria Math" panose="02040503050406030204" pitchFamily="18" charset="0"/>
                  </a:rPr>
                  <a:t>$\dfrac{\binom{n}{r}}{\binom{n}{r+1}}=\dfrac{r+1}{n-r}$</a:t>
                </a:r>
                <a:r>
                  <a:rPr sz="2400" b="0">
                    <a:solidFill>
                      <a:srgbClr val="111827"/>
                    </a:solidFill>
                    <a:latin typeface="Arial"/>
                  </a:rPr>
                  <a:t>; here </a:t>
                </a:r>
                <a:r>
                  <a:rPr lang="en-IN" sz="2400">
                    <a:solidFill>
                      <a:srgbClr val="111827"/>
                    </a:solidFill>
                    <a:latin typeface="Cambria Math" panose="02040503050406030204" pitchFamily="18" charset="0"/>
                  </a:rPr>
                  <a:t>$\frac{\binom{200}{99}}{\binom{200}{100}}=\frac{100}{101}$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Middle term of </a:t>
                </a:r>
                <a:r>
                  <a:rPr lang="en-IN" sz="2400">
                    <a:solidFill>
                      <a:srgbClr val="111827"/>
                    </a:solidFill>
                    <a:latin typeface="Cambria Math" panose="02040503050406030204" pitchFamily="18" charset="0"/>
                  </a:rPr>
                  <a:t>$(a+b)^{2n}$</a:t>
                </a:r>
                <a:r>
                  <a:rPr sz="2400" b="0">
                    <a:solidFill>
                      <a:srgbClr val="111827"/>
                    </a:solidFill>
                    <a:latin typeface="Arial"/>
                  </a:rPr>
                  <a:t> is </a:t>
                </a:r>
                <a:r>
                  <a:rPr lang="en-IN" sz="2400">
                    <a:solidFill>
                      <a:srgbClr val="111827"/>
                    </a:solidFill>
                    <a:latin typeface="Cambria Math" panose="02040503050406030204" pitchFamily="18" charset="0"/>
                  </a:rPr>
                  <a:t>$T_{n+1}=\binom{2n}{n}a^nb^n$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write a rational number as </a:t>
                </a:r>
                <a:r>
                  <a:rPr lang="en-IN" sz="2400">
                    <a:solidFill>
                      <a:srgbClr val="111827"/>
                    </a:solidFill>
                    <a:latin typeface="Cambria Math" panose="02040503050406030204" pitchFamily="18" charset="0"/>
                  </a:rPr>
                  <a:t>$2^{\ell}m/n$</a:t>
                </a:r>
                <a:r>
                  <a:rPr sz="2400" b="0">
                    <a:solidFill>
                      <a:srgbClr val="111827"/>
                    </a:solidFill>
                    <a:latin typeface="Arial"/>
                  </a:rPr>
                  <a:t> with </a:t>
                </a:r>
                <a:r>
                  <a:rPr lang="en-IN" sz="2400">
                    <a:solidFill>
                      <a:srgbClr val="111827"/>
                    </a:solidFill>
                    <a:latin typeface="Cambria Math" panose="02040503050406030204" pitchFamily="18" charset="0"/>
                  </a:rPr>
                  <a:t>$m,n$</a:t>
                </a:r>
                <a:r>
                  <a:rPr sz="2400" b="0">
                    <a:solidFill>
                      <a:srgbClr val="111827"/>
                    </a:solidFill>
                    <a:latin typeface="Arial"/>
                  </a:rPr>
                  <a:t> odd, read off </a:t>
                </a:r>
                <a:r>
                  <a:rPr lang="en-IN" sz="2400">
                    <a:solidFill>
                      <a:srgbClr val="111827"/>
                    </a:solidFill>
                    <a:latin typeface="Cambria Math" panose="02040503050406030204" pitchFamily="18" charset="0"/>
                  </a:rPr>
                  <a:t>$\ell=v_2$</a:t>
                </a:r>
                <a:r>
                  <a:rPr sz="2400" b="0">
                    <a:solidFill>
                      <a:srgbClr val="111827"/>
                    </a:solidFill>
                    <a:latin typeface="Arial"/>
                  </a:rPr>
                  <a:t> of numerator minus </a:t>
                </a:r>
                <a:r>
                  <a:rPr lang="en-IN" sz="2400">
                    <a:solidFill>
                      <a:srgbClr val="111827"/>
                    </a:solidFill>
                    <a:latin typeface="Cambria Math" panose="02040503050406030204" pitchFamily="18" charset="0"/>
                  </a:rPr>
                  <a:t>$v_2$</a:t>
                </a:r>
                <a:r>
                  <a:rPr sz="2400" b="0">
                    <a:solidFill>
                      <a:srgbClr val="111827"/>
                    </a:solidFill>
                    <a:latin typeface="Arial"/>
                  </a:rPr>
                  <a:t> of denominator.</a:t>
                </a:r>
                <a:endParaRPr sz="2400">
                  <a:solidFill>
                    <a:srgbClr val="111827"/>
                  </a:solidFill>
                </a:endParaRP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sup>
                    </m:sSup>
                  </m:oMath>
                </a14:m>
                <a:r>
                  <a:rPr sz="2400" b="0">
                    <a:solidFill>
                      <a:srgbClr val="111827"/>
                    </a:solidFill>
                    <a:latin typeface="Arial"/>
                  </a:rPr>
                  <a:t>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15</m:t>
                        </m:r>
                      </m:sup>
                    </m:sSup>
                  </m:oMath>
                </a14:m>
                <a:r>
                  <a:rPr sz="2400" b="0">
                    <a:solidFill>
                      <a:srgbClr val="111827"/>
                    </a:solidFill>
                    <a:latin typeface="Arial"/>
                  </a:rPr>
                  <a:t> is equal to the 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sup>
                    </m:sSup>
                  </m:oMath>
                </a14:m>
                <a:r>
                  <a:rPr sz="2400" b="0">
                    <a:solidFill>
                      <a:srgbClr val="111827"/>
                    </a:solidFill>
                    <a:latin typeface="Arial"/>
                  </a:rPr>
                  <a:t>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15</m:t>
                        </m:r>
                      </m:sup>
                    </m:sSup>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are positive real numbers, then for each such ordered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endParaRPr sz="2400">
                  <a:solidFill>
                    <a:srgbClr val="111827"/>
                  </a:solidFill>
                </a:endParaRPr>
              </a:p>
            </p:txBody>
          </p:sp>
        </mc:Choice>
        <mc:Fallback>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coefficient of </a:t>
                </a:r>
                <a:r>
                  <a:rPr lang="en-IN" sz="2400">
                    <a:solidFill>
                      <a:srgbClr val="111827"/>
                    </a:solidFill>
                    <a:latin typeface="Cambria Math" panose="02040503050406030204" pitchFamily="18" charset="0"/>
                  </a:rPr>
                  <a:t>$x^{15}$</a:t>
                </a:r>
                <a:r>
                  <a:rPr sz="2400" b="0">
                    <a:solidFill>
                      <a:srgbClr val="111827"/>
                    </a:solidFill>
                    <a:latin typeface="Arial"/>
                  </a:rPr>
                  <a:t> in the expansion of </a:t>
                </a:r>
                <a:r>
                  <a:rPr lang="en-IN" sz="2400">
                    <a:solidFill>
                      <a:srgbClr val="111827"/>
                    </a:solidFill>
                    <a:latin typeface="Cambria Math" panose="02040503050406030204" pitchFamily="18" charset="0"/>
                  </a:rPr>
                  <a:t>$\left(ax^3+\dfrac{1}{bx^{1/3}}\right)^{15}$</a:t>
                </a:r>
                <a:r>
                  <a:rPr sz="2400" b="0">
                    <a:solidFill>
                      <a:srgbClr val="111827"/>
                    </a:solidFill>
                    <a:latin typeface="Arial"/>
                  </a:rPr>
                  <a:t> is equal to the coefficient of </a:t>
                </a:r>
                <a:r>
                  <a:rPr lang="en-IN" sz="2400">
                    <a:solidFill>
                      <a:srgbClr val="111827"/>
                    </a:solidFill>
                    <a:latin typeface="Cambria Math" panose="02040503050406030204" pitchFamily="18" charset="0"/>
                  </a:rPr>
                  <a:t>$x^{-15}$</a:t>
                </a:r>
                <a:r>
                  <a:rPr sz="2400" b="0">
                    <a:solidFill>
                      <a:srgbClr val="111827"/>
                    </a:solidFill>
                    <a:latin typeface="Arial"/>
                  </a:rPr>
                  <a:t> in the expansion of </a:t>
                </a:r>
                <a:r>
                  <a:rPr lang="en-IN" sz="2400">
                    <a:solidFill>
                      <a:srgbClr val="111827"/>
                    </a:solidFill>
                    <a:latin typeface="Cambria Math" panose="02040503050406030204" pitchFamily="18" charset="0"/>
                  </a:rPr>
                  <a:t>$\left(ax^{1/3}-\dfrac{1}{bx^{3}}\right)^{15}$</a:t>
                </a:r>
                <a:r>
                  <a:rPr sz="2400" b="0">
                    <a:solidFill>
                      <a:srgbClr val="111827"/>
                    </a:solidFill>
                    <a:latin typeface="Arial"/>
                  </a:rPr>
                  <a:t>, where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are positive real numbers, then for each such ordered pair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$a=b$</a:t>
                </a:r>
                <a:r>
                  <a:rPr sz="2400" b="0">
                    <a:solidFill>
                      <a:srgbClr val="111827"/>
                    </a:solidFill>
                    <a:latin typeface="Arial"/>
                  </a:rPr>
                  <a:t>   (B) </a:t>
                </a:r>
                <a:r>
                  <a:rPr lang="en-IN" sz="2400">
                    <a:solidFill>
                      <a:srgbClr val="111827"/>
                    </a:solidFill>
                    <a:latin typeface="Cambria Math" panose="02040503050406030204" pitchFamily="18" charset="0"/>
                  </a:rPr>
                  <a:t>$ab=1$</a:t>
                </a:r>
                <a:r>
                  <a:rPr sz="2400" b="0">
                    <a:solidFill>
                      <a:srgbClr val="111827"/>
                    </a:solidFill>
                    <a:latin typeface="Arial"/>
                  </a:rPr>
                  <a:t>   (C) </a:t>
                </a:r>
                <a:r>
                  <a:rPr lang="en-IN" sz="2400">
                    <a:solidFill>
                      <a:srgbClr val="111827"/>
                    </a:solidFill>
                    <a:latin typeface="Cambria Math" panose="02040503050406030204" pitchFamily="18" charset="0"/>
                  </a:rPr>
                  <a:t>$a=3b$</a:t>
                </a:r>
                <a:r>
                  <a:rPr sz="2400" b="0">
                    <a:solidFill>
                      <a:srgbClr val="111827"/>
                    </a:solidFill>
                    <a:latin typeface="Arial"/>
                  </a:rPr>
                  <a:t>   (D) </a:t>
                </a:r>
                <a:r>
                  <a:rPr lang="en-IN" sz="2400">
                    <a:solidFill>
                      <a:srgbClr val="111827"/>
                    </a:solidFill>
                    <a:latin typeface="Cambria Math" panose="02040503050406030204" pitchFamily="18" charset="0"/>
                  </a:rPr>
                  <a:t>$ab=3$</a:t>
                </a:r>
                <a:endParaRPr sz="2400">
                  <a:solidFill>
                    <a:srgbClr val="111827"/>
                  </a:solidFill>
                </a:endParaRPr>
              </a:p>
            </p:txBody>
          </p:sp>
        </mc:Fallback>
      </mc:AlternateContent>
      <p:sp>
        <p:nvSpPr>
          <p:cNvPr id="5" name="Rectangle 4"/>
          <p:cNvSpPr/>
          <p:nvPr/>
        </p:nvSpPr>
        <p:spPr>
          <a:xfrm>
            <a:off x="731520" y="45435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the term index in each expansion from the power of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the equal binomial coefficients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15</m:t>
                            </m:r>
                          </m:num>
                          <m:den>
                            <m:r>
                              <a:rPr lang="en-IN" sz="2400" i="1">
                                <a:solidFill>
                                  <a:srgbClr val="78350F"/>
                                </a:solidFill>
                                <a:latin typeface="Cambria Math" panose="02040503050406030204" pitchFamily="18" charset="0"/>
                              </a:rPr>
                              <m:t>9</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15</m:t>
                            </m:r>
                          </m:num>
                          <m:den>
                            <m:r>
                              <a:rPr lang="en-IN" sz="2400" i="1">
                                <a:solidFill>
                                  <a:srgbClr val="78350F"/>
                                </a:solidFill>
                                <a:latin typeface="Cambria Math" panose="02040503050406030204" pitchFamily="18" charset="0"/>
                              </a:rPr>
                              <m:t>6</m:t>
                            </m:r>
                          </m:den>
                        </m:f>
                      </m:e>
                    </m:d>
                  </m:oMath>
                </a14:m>
                <a:r>
                  <a:rPr sz="2400" b="0">
                    <a:solidFill>
                      <a:srgbClr val="78350F"/>
                    </a:solidFill>
                    <a:latin typeface="Arial"/>
                  </a:rPr>
                  <a:t> cancel.</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the term index in each expansion from the power of </a:t>
                </a:r>
                <a:r>
                  <a:rPr lang="en-IN" sz="2400">
                    <a:solidFill>
                      <a:srgbClr val="78350F"/>
                    </a:solidFill>
                    <a:latin typeface="Cambria Math" panose="02040503050406030204" pitchFamily="18" charset="0"/>
                  </a:rPr>
                  <a:t>$x$</a:t>
                </a:r>
                <a:r>
                  <a:rPr sz="2400" b="0">
                    <a:solidFill>
                      <a:srgbClr val="78350F"/>
                    </a:solidFill>
                    <a:latin typeface="Arial"/>
                  </a:rPr>
                  <a:t>; the equal binomial coefficients </a:t>
                </a:r>
                <a:r>
                  <a:rPr lang="en-IN" sz="2400">
                    <a:solidFill>
                      <a:srgbClr val="78350F"/>
                    </a:solidFill>
                    <a:latin typeface="Cambria Math" panose="02040503050406030204" pitchFamily="18" charset="0"/>
                  </a:rPr>
                  <a:t>$\binom{15}{9}=\binom{15}{6}$</a:t>
                </a:r>
                <a:r>
                  <a:rPr sz="2400" b="0">
                    <a:solidFill>
                      <a:srgbClr val="78350F"/>
                    </a:solidFill>
                    <a:latin typeface="Arial"/>
                  </a:rPr>
                  <a:t> cancel.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expansion: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with power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equal to </a:t>
                </a:r>
                <a14:m>
                  <m:oMath xmlns:m="http://schemas.openxmlformats.org/officeDocument/2006/math">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sup>
                    </m:sSup>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9</m:t>
                            </m:r>
                          </m:den>
                        </m:f>
                      </m:e>
                    </m:d>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6</m:t>
                        </m:r>
                      </m:sup>
                    </m:sSup>
                    <m:sSup>
                      <m:e>
                        <m:r>
                          <a:rPr lang="en-IN" sz="2400" i="1">
                            <a:solidFill>
                              <a:srgbClr val="111827"/>
                            </a:solidFill>
                            <a:latin typeface="Cambria Math" panose="02040503050406030204" pitchFamily="18" charset="0"/>
                          </a:rPr>
                          <m:t>𝑏</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expansion: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𝑟</m:t>
                            </m:r>
                          </m:den>
                        </m:f>
                      </m:e>
                    </m:d>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with power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equal to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expansion: </a:t>
                </a:r>
                <a:r>
                  <a:rPr lang="en-IN" sz="2400">
                    <a:solidFill>
                      <a:srgbClr val="111827"/>
                    </a:solidFill>
                    <a:latin typeface="Cambria Math" panose="02040503050406030204" pitchFamily="18" charset="0"/>
                  </a:rPr>
                  <a:t>$T_{r+1}=\binom{15}{r}(ax^3)^{15-r}\left(\dfrac{1}{bx^{1/3}}\right)^{r}$</a:t>
                </a:r>
                <a:r>
                  <a:rPr sz="2400" b="0">
                    <a:solidFill>
                      <a:srgbClr val="111827"/>
                    </a:solidFill>
                    <a:latin typeface="Arial"/>
                  </a:rPr>
                  <a:t>, with power of </a:t>
                </a:r>
                <a:r>
                  <a:rPr lang="en-IN" sz="2400">
                    <a:solidFill>
                      <a:srgbClr val="111827"/>
                    </a:solidFill>
                    <a:latin typeface="Cambria Math" panose="02040503050406030204" pitchFamily="18" charset="0"/>
                  </a:rPr>
                  <a:t>$x$</a:t>
                </a:r>
                <a:r>
                  <a:rPr sz="2400" b="0">
                    <a:solidFill>
                      <a:srgbClr val="111827"/>
                    </a:solidFill>
                    <a:latin typeface="Arial"/>
                  </a:rPr>
                  <a:t> equal to </a:t>
                </a:r>
                <a:r>
                  <a:rPr lang="en-IN" sz="2400">
                    <a:solidFill>
                      <a:srgbClr val="111827"/>
                    </a:solidFill>
                    <a:latin typeface="Cambria Math" panose="02040503050406030204" pitchFamily="18" charset="0"/>
                  </a:rPr>
                  <a:t>$45-3r-\frac r3$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$x^{15}$</a:t>
                </a:r>
                <a:r>
                  <a:rPr sz="2400" b="0">
                    <a:solidFill>
                      <a:srgbClr val="111827"/>
                    </a:solidFill>
                    <a:latin typeface="Arial"/>
                  </a:rPr>
                  <a:t>: </a:t>
                </a:r>
                <a:r>
                  <a:rPr lang="en-IN" sz="2400">
                    <a:solidFill>
                      <a:srgbClr val="111827"/>
                    </a:solidFill>
                    <a:latin typeface="Cambria Math" panose="02040503050406030204" pitchFamily="18" charset="0"/>
                  </a:rPr>
                  <a:t>$45-3r-\frac r3=15$</a:t>
                </a:r>
                <a:r>
                  <a:rPr sz="2400" b="0">
                    <a:solidFill>
                      <a:srgbClr val="111827"/>
                    </a:solidFill>
                    <a:latin typeface="Arial"/>
                  </a:rPr>
                  <a:t>, so </a:t>
                </a:r>
                <a:r>
                  <a:rPr lang="en-IN" sz="2400">
                    <a:solidFill>
                      <a:srgbClr val="111827"/>
                    </a:solidFill>
                    <a:latin typeface="Cambria Math" panose="02040503050406030204" pitchFamily="18" charset="0"/>
                  </a:rPr>
                  <a:t>$30=\frac{10r}{3}$</a:t>
                </a:r>
                <a:r>
                  <a:rPr sz="2400" b="0">
                    <a:solidFill>
                      <a:srgbClr val="111827"/>
                    </a:solidFill>
                    <a:latin typeface="Arial"/>
                  </a:rPr>
                  <a:t> and </a:t>
                </a:r>
                <a:r>
                  <a:rPr lang="en-IN" sz="2400">
                    <a:solidFill>
                      <a:srgbClr val="111827"/>
                    </a:solidFill>
                    <a:latin typeface="Cambria Math" panose="02040503050406030204" pitchFamily="18" charset="0"/>
                  </a:rPr>
                  <a:t>$r=9$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$x^{15}$</a:t>
                </a:r>
                <a:r>
                  <a:rPr sz="2400" b="0">
                    <a:solidFill>
                      <a:srgbClr val="111827"/>
                    </a:solidFill>
                    <a:latin typeface="Arial"/>
                  </a:rPr>
                  <a:t> is </a:t>
                </a:r>
                <a:r>
                  <a:rPr lang="en-IN" sz="2400">
                    <a:solidFill>
                      <a:srgbClr val="111827"/>
                    </a:solidFill>
                    <a:latin typeface="Cambria Math" panose="02040503050406030204" pitchFamily="18" charset="0"/>
                  </a:rPr>
                  <a:t>$\binom{15}{9}a^{6}b^{-9}$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expansion: </a:t>
                </a:r>
                <a:r>
                  <a:rPr lang="en-IN" sz="2400">
                    <a:solidFill>
                      <a:srgbClr val="111827"/>
                    </a:solidFill>
                    <a:latin typeface="Cambria Math" panose="02040503050406030204" pitchFamily="18" charset="0"/>
                  </a:rPr>
                  <a:t>$T_{r+1}=\binom{15}{r}\left(ax^{1/3}\right)^{15-r}\left(-\dfrac{1}{bx^{3}}\right)^{r}$</a:t>
                </a:r>
                <a:r>
                  <a:rPr sz="2400" b="0">
                    <a:solidFill>
                      <a:srgbClr val="111827"/>
                    </a:solidFill>
                    <a:latin typeface="Arial"/>
                  </a:rPr>
                  <a:t>, with power of </a:t>
                </a:r>
                <a:r>
                  <a:rPr lang="en-IN" sz="2400">
                    <a:solidFill>
                      <a:srgbClr val="111827"/>
                    </a:solidFill>
                    <a:latin typeface="Cambria Math" panose="02040503050406030204" pitchFamily="18" charset="0"/>
                  </a:rPr>
                  <a:t>$x$</a:t>
                </a:r>
                <a:r>
                  <a:rPr sz="2400" b="0">
                    <a:solidFill>
                      <a:srgbClr val="111827"/>
                    </a:solidFill>
                    <a:latin typeface="Arial"/>
                  </a:rPr>
                  <a:t> equal to </a:t>
                </a:r>
                <a:r>
                  <a:rPr lang="en-IN" sz="2400">
                    <a:solidFill>
                      <a:srgbClr val="111827"/>
                    </a:solidFill>
                    <a:latin typeface="Cambria Math" panose="02040503050406030204" pitchFamily="18" charset="0"/>
                  </a:rPr>
                  <a:t>$5-\frac r3-3r$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sup>
                    </m:sSup>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9</m:t>
                        </m:r>
                      </m:sup>
                    </m:sSup>
                    <m:sSup>
                      <m:e>
                        <m:r>
                          <a:rPr lang="en-IN" sz="2400" i="1">
                            <a:solidFill>
                              <a:srgbClr val="111827"/>
                            </a:solidFill>
                            <a:latin typeface="Cambria Math" panose="02040503050406030204" pitchFamily="18" charset="0"/>
                          </a:rPr>
                          <m:t>𝑏</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6</m:t>
                            </m:r>
                          </m:den>
                        </m:f>
                      </m:e>
                    </m:d>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9</m:t>
                        </m:r>
                      </m:sup>
                    </m:sSup>
                    <m:sSup>
                      <m:e>
                        <m:r>
                          <a:rPr lang="en-IN" sz="2400" i="1">
                            <a:solidFill>
                              <a:srgbClr val="111827"/>
                            </a:solidFill>
                            <a:latin typeface="Cambria Math" panose="02040503050406030204" pitchFamily="18" charset="0"/>
                          </a:rPr>
                          <m:t>𝑏</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Equate them (and use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9</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6</m:t>
                            </m:r>
                          </m:den>
                        </m:f>
                      </m:e>
                    </m:d>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6</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9</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9</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6</m:t>
                            </m:r>
                          </m:sup>
                        </m:sSup>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$x^{-15}$</a:t>
                </a:r>
                <a:r>
                  <a:rPr sz="2400" b="0">
                    <a:solidFill>
                      <a:srgbClr val="111827"/>
                    </a:solidFill>
                    <a:latin typeface="Arial"/>
                  </a:rPr>
                  <a:t>: </a:t>
                </a:r>
                <a:r>
                  <a:rPr lang="en-IN" sz="2400">
                    <a:solidFill>
                      <a:srgbClr val="111827"/>
                    </a:solidFill>
                    <a:latin typeface="Cambria Math" panose="02040503050406030204" pitchFamily="18" charset="0"/>
                  </a:rPr>
                  <a:t>$5-\frac r3-3r=-15$</a:t>
                </a:r>
                <a:r>
                  <a:rPr sz="2400" b="0">
                    <a:solidFill>
                      <a:srgbClr val="111827"/>
                    </a:solidFill>
                    <a:latin typeface="Arial"/>
                  </a:rPr>
                  <a:t>, so </a:t>
                </a:r>
                <a:r>
                  <a:rPr lang="en-IN" sz="2400">
                    <a:solidFill>
                      <a:srgbClr val="111827"/>
                    </a:solidFill>
                    <a:latin typeface="Cambria Math" panose="02040503050406030204" pitchFamily="18" charset="0"/>
                  </a:rPr>
                  <a:t>$\frac{10r}{3}=20$</a:t>
                </a:r>
                <a:r>
                  <a:rPr sz="2400" b="0">
                    <a:solidFill>
                      <a:srgbClr val="111827"/>
                    </a:solidFill>
                    <a:latin typeface="Arial"/>
                  </a:rPr>
                  <a:t> and </a:t>
                </a:r>
                <a:r>
                  <a:rPr lang="en-IN" sz="2400">
                    <a:solidFill>
                      <a:srgbClr val="111827"/>
                    </a:solidFill>
                    <a:latin typeface="Cambria Math" panose="02040503050406030204" pitchFamily="18" charset="0"/>
                  </a:rPr>
                  <a:t>$r=6$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$x^{-15}$</a:t>
                </a:r>
                <a:r>
                  <a:rPr sz="2400" b="0">
                    <a:solidFill>
                      <a:srgbClr val="111827"/>
                    </a:solidFill>
                    <a:latin typeface="Arial"/>
                  </a:rPr>
                  <a:t> is </a:t>
                </a:r>
                <a:r>
                  <a:rPr lang="en-IN" sz="2400">
                    <a:solidFill>
                      <a:srgbClr val="111827"/>
                    </a:solidFill>
                    <a:latin typeface="Cambria Math" panose="02040503050406030204" pitchFamily="18" charset="0"/>
                  </a:rPr>
                  <a:t>$\binom{15}{6}(-1)^6a^{9}b^{-6}=\binom{15}{6}a^9b^{-6}$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Equate them (and use </a:t>
                </a:r>
                <a:r>
                  <a:rPr lang="en-IN" sz="2400">
                    <a:solidFill>
                      <a:srgbClr val="111827"/>
                    </a:solidFill>
                    <a:latin typeface="Cambria Math" panose="02040503050406030204" pitchFamily="18" charset="0"/>
                  </a:rPr>
                  <a:t>$\binom{15}{9}=\binom{15}{6}$</a:t>
                </a:r>
                <a:r>
                  <a:rPr sz="2400" b="0">
                    <a:solidFill>
                      <a:srgbClr val="111827"/>
                    </a:solidFill>
                    <a:latin typeface="Arial"/>
                  </a:rPr>
                  <a:t>): </a:t>
                </a:r>
                <a:r>
                  <a:rPr lang="en-IN" sz="2400">
                    <a:solidFill>
                      <a:srgbClr val="111827"/>
                    </a:solidFill>
                    <a:latin typeface="Cambria Math" panose="02040503050406030204" pitchFamily="18" charset="0"/>
                  </a:rPr>
                  <a:t>$\dfrac{a^6}{b^9}=\dfrac{a^9}{b^6}\Rightarrow a^3b^3=1\Rightarrow ab=1$</a:t>
                </a:r>
                <a:r>
                  <a:rPr sz="2400" b="0">
                    <a:solidFill>
                      <a:srgbClr val="111827"/>
                    </a:solidFill>
                    <a:latin typeface="Arial"/>
                  </a:rPr>
                  <a:t> (as </a:t>
                </a:r>
                <a:r>
                  <a:rPr lang="en-IN" sz="2400">
                    <a:solidFill>
                      <a:srgbClr val="111827"/>
                    </a:solidFill>
                    <a:latin typeface="Cambria Math" panose="02040503050406030204" pitchFamily="18" charset="0"/>
                  </a:rPr>
                  <a:t>$a,b&gt;0$</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𝑎</m:t>
                    </m:r>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$ab=1$</a:t>
                </a:r>
                <a:endParaRPr sz="2800">
                  <a:solidFill>
                    <a:srgbClr val="15803D"/>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 out the denominator of each bracket so that only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oMath>
                </a14:m>
                <a:r>
                  <a:rPr sz="2400" b="0">
                    <a:solidFill>
                      <a:srgbClr val="78350F"/>
                    </a:solidFill>
                    <a:latin typeface="Arial"/>
                  </a:rPr>
                  <a:t> appears: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𝑎</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𝑏</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up>
                            </m:sSup>
                          </m:den>
                        </m:f>
                      </m:e>
                    </m:d>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 </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10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up>
                        </m:sSup>
                      </m:num>
                      <m:den>
                        <m:r>
                          <a:rPr lang="en-IN" sz="2400" i="1">
                            <a:solidFill>
                              <a:srgbClr val="78350F"/>
                            </a:solidFill>
                            <a:latin typeface="Cambria Math" panose="02040503050406030204" pitchFamily="18" charset="0"/>
                          </a:rPr>
                          <m:t>𝑏</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up>
                        </m:sSup>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 out the denominator of each bracket so that only </a:t>
                </a:r>
                <a:r>
                  <a:rPr lang="en-IN" sz="2400">
                    <a:solidFill>
                      <a:srgbClr val="78350F"/>
                    </a:solidFill>
                    <a:latin typeface="Cambria Math" panose="02040503050406030204" pitchFamily="18" charset="0"/>
                  </a:rPr>
                  <a:t>$ab$</a:t>
                </a:r>
                <a:r>
                  <a:rPr sz="2400" b="0">
                    <a:solidFill>
                      <a:srgbClr val="78350F"/>
                    </a:solidFill>
                    <a:latin typeface="Arial"/>
                  </a:rPr>
                  <a:t> appears: </a:t>
                </a:r>
                <a:r>
                  <a:rPr lang="en-IN" sz="2400">
                    <a:solidFill>
                      <a:srgbClr val="78350F"/>
                    </a:solidFill>
                    <a:latin typeface="Cambria Math" panose="02040503050406030204" pitchFamily="18" charset="0"/>
                  </a:rPr>
                  <a:t>$\left(ax^3+\frac1{bx^{1/3}}\right)=\frac{1+ab\,x^{10/3}}{bx^{1/3}}$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15</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15</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15</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den>
                    </m:f>
                  </m:oMath>
                </a14:m>
                <a:r>
                  <a:rPr sz="2400" b="0">
                    <a:solidFill>
                      <a:srgbClr val="111827"/>
                    </a:solidFill>
                    <a:latin typeface="Arial"/>
                  </a:rPr>
                  <a:t>, so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sup>
                    </m:sSup>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15</m:t>
                            </m:r>
                          </m:sup>
                        </m:sSup>
                      </m:den>
                    </m:f>
                  </m:oMath>
                </a14:m>
                <a:r>
                  <a:rPr sz="2400" b="0">
                    <a:solidFill>
                      <a:srgbClr val="111827"/>
                    </a:solidFill>
                    <a:latin typeface="Arial"/>
                  </a:rPr>
                  <a:t> times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20</m:t>
                        </m:r>
                      </m:sup>
                    </m:sSup>
                  </m:oMath>
                </a14:m>
                <a:r>
                  <a:rPr sz="2400" b="0">
                    <a:solidFill>
                      <a:srgbClr val="111827"/>
                    </a:solidFill>
                    <a:latin typeface="Arial"/>
                  </a:rPr>
                  <a:t> in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15</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20</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6</m:t>
                        </m:r>
                      </m:sup>
                    </m:sSup>
                  </m:oMath>
                </a14:m>
                <a:r>
                  <a:rPr sz="2400" b="0">
                    <a:solidFill>
                      <a:srgbClr val="111827"/>
                    </a:solidFill>
                    <a:latin typeface="Arial"/>
                  </a:rPr>
                  <a:t>, so this coefficient is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15</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15</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e>
                          <m:sup>
                            <m:r>
                              <a:rPr lang="en-IN" sz="2400" i="1">
                                <a:solidFill>
                                  <a:srgbClr val="111827"/>
                                </a:solidFill>
                                <a:latin typeface="Cambria Math" panose="02040503050406030204" pitchFamily="18" charset="0"/>
                              </a:rPr>
                              <m:t>15</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15</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45</m:t>
                            </m:r>
                          </m:sup>
                        </m:sSup>
                      </m:den>
                    </m:f>
                  </m:oMath>
                </a14:m>
                <a:r>
                  <a:rPr sz="2400" b="0">
                    <a:solidFill>
                      <a:srgbClr val="111827"/>
                    </a:solidFill>
                    <a:latin typeface="Arial"/>
                  </a:rPr>
                  <a:t>, so the 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sup>
                    </m:sSup>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15</m:t>
                            </m:r>
                          </m:sup>
                        </m:sSup>
                      </m:den>
                    </m:f>
                  </m:oMath>
                </a14:m>
                <a:r>
                  <a:rPr sz="2400" b="0">
                    <a:solidFill>
                      <a:srgbClr val="111827"/>
                    </a:solidFill>
                    <a:latin typeface="Arial"/>
                  </a:rPr>
                  <a:t> times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30</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9</m:t>
                        </m:r>
                      </m:sup>
                    </m:sSup>
                  </m:oMath>
                </a14:m>
                <a:r>
                  <a:rPr sz="2400" b="0">
                    <a:solidFill>
                      <a:srgbClr val="111827"/>
                    </a:solidFill>
                    <a:latin typeface="Arial"/>
                  </a:rPr>
                  <a:t> in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e>
                      <m:sup>
                        <m:r>
                          <a:rPr lang="en-IN" sz="2400" i="1">
                            <a:solidFill>
                              <a:srgbClr val="111827"/>
                            </a:solidFill>
                            <a:latin typeface="Cambria Math" panose="02040503050406030204" pitchFamily="18" charset="0"/>
                          </a:rPr>
                          <m:t>15</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$\left(ax^3+\dfrac1{bx^{1/3}}\right)^{15}=\dfrac{\left(1+ab\,x^{10/3}\right)^{15}}{b^{15}x^{5}}$</a:t>
                </a:r>
                <a:r>
                  <a:rPr sz="2400" b="0">
                    <a:solidFill>
                      <a:srgbClr val="111827"/>
                    </a:solidFill>
                    <a:latin typeface="Arial"/>
                  </a:rPr>
                  <a:t>, so the coefficient of </a:t>
                </a:r>
                <a:r>
                  <a:rPr lang="en-IN" sz="2400">
                    <a:solidFill>
                      <a:srgbClr val="111827"/>
                    </a:solidFill>
                    <a:latin typeface="Cambria Math" panose="02040503050406030204" pitchFamily="18" charset="0"/>
                  </a:rPr>
                  <a:t>$x^{15}$</a:t>
                </a:r>
                <a:r>
                  <a:rPr sz="2400" b="0">
                    <a:solidFill>
                      <a:srgbClr val="111827"/>
                    </a:solidFill>
                    <a:latin typeface="Arial"/>
                  </a:rPr>
                  <a:t> is </a:t>
                </a:r>
                <a:r>
                  <a:rPr lang="en-IN" sz="2400">
                    <a:solidFill>
                      <a:srgbClr val="111827"/>
                    </a:solidFill>
                    <a:latin typeface="Cambria Math" panose="02040503050406030204" pitchFamily="18" charset="0"/>
                  </a:rPr>
                  <a:t>$\dfrac1{b^{15}}$</a:t>
                </a:r>
                <a:r>
                  <a:rPr sz="2400" b="0">
                    <a:solidFill>
                      <a:srgbClr val="111827"/>
                    </a:solidFill>
                    <a:latin typeface="Arial"/>
                  </a:rPr>
                  <a:t> times the coefficient of </a:t>
                </a:r>
                <a:r>
                  <a:rPr lang="en-IN" sz="2400">
                    <a:solidFill>
                      <a:srgbClr val="111827"/>
                    </a:solidFill>
                    <a:latin typeface="Cambria Math" panose="02040503050406030204" pitchFamily="18" charset="0"/>
                  </a:rPr>
                  <a:t>$x^{20}$</a:t>
                </a:r>
                <a:r>
                  <a:rPr sz="2400" b="0">
                    <a:solidFill>
                      <a:srgbClr val="111827"/>
                    </a:solidFill>
                    <a:latin typeface="Arial"/>
                  </a:rPr>
                  <a:t> in </a:t>
                </a:r>
                <a:r>
                  <a:rPr lang="en-IN" sz="2400">
                    <a:solidFill>
                      <a:srgbClr val="111827"/>
                    </a:solidFill>
                    <a:latin typeface="Cambria Math" panose="02040503050406030204" pitchFamily="18" charset="0"/>
                  </a:rPr>
                  <a:t>$\left(1+ab\,x^{10/3}\right)^{15}$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$x^{20}=\left(x^{10/3}\right)^{6}$</a:t>
                </a:r>
                <a:r>
                  <a:rPr sz="2400" b="0">
                    <a:solidFill>
                      <a:srgbClr val="111827"/>
                    </a:solidFill>
                    <a:latin typeface="Arial"/>
                  </a:rPr>
                  <a:t>, so this coefficient is </a:t>
                </a:r>
                <a:r>
                  <a:rPr lang="en-IN" sz="2400">
                    <a:solidFill>
                      <a:srgbClr val="111827"/>
                    </a:solidFill>
                    <a:latin typeface="Cambria Math" panose="02040503050406030204" pitchFamily="18" charset="0"/>
                  </a:rPr>
                  <a:t>$\dfrac{\binom{15}{6}(ab)^6}{b^{15}}$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$\left(ax^{1/3}-\dfrac1{bx^3}\right)^{15}=\dfrac{\left(ab\,x^{10/3}-1\right)^{15}}{b^{15}x^{45}}$</a:t>
                </a:r>
                <a:r>
                  <a:rPr sz="2400" b="0">
                    <a:solidFill>
                      <a:srgbClr val="111827"/>
                    </a:solidFill>
                    <a:latin typeface="Arial"/>
                  </a:rPr>
                  <a:t>, so the coefficient of </a:t>
                </a:r>
                <a:r>
                  <a:rPr lang="en-IN" sz="2400">
                    <a:solidFill>
                      <a:srgbClr val="111827"/>
                    </a:solidFill>
                    <a:latin typeface="Cambria Math" panose="02040503050406030204" pitchFamily="18" charset="0"/>
                  </a:rPr>
                  <a:t>$x^{-15}$</a:t>
                </a:r>
                <a:r>
                  <a:rPr sz="2400" b="0">
                    <a:solidFill>
                      <a:srgbClr val="111827"/>
                    </a:solidFill>
                    <a:latin typeface="Arial"/>
                  </a:rPr>
                  <a:t> is </a:t>
                </a:r>
                <a:r>
                  <a:rPr lang="en-IN" sz="2400">
                    <a:solidFill>
                      <a:srgbClr val="111827"/>
                    </a:solidFill>
                    <a:latin typeface="Cambria Math" panose="02040503050406030204" pitchFamily="18" charset="0"/>
                  </a:rPr>
                  <a:t>$\dfrac1{b^{15}}$</a:t>
                </a:r>
                <a:r>
                  <a:rPr sz="2400" b="0">
                    <a:solidFill>
                      <a:srgbClr val="111827"/>
                    </a:solidFill>
                    <a:latin typeface="Arial"/>
                  </a:rPr>
                  <a:t> times the coefficient of </a:t>
                </a:r>
                <a:r>
                  <a:rPr lang="en-IN" sz="2400">
                    <a:solidFill>
                      <a:srgbClr val="111827"/>
                    </a:solidFill>
                    <a:latin typeface="Cambria Math" panose="02040503050406030204" pitchFamily="18" charset="0"/>
                  </a:rPr>
                  <a:t>$x^{30}=\left(x^{10/3}\right)^9$</a:t>
                </a:r>
                <a:r>
                  <a:rPr sz="2400" b="0">
                    <a:solidFill>
                      <a:srgbClr val="111827"/>
                    </a:solidFill>
                    <a:latin typeface="Arial"/>
                  </a:rPr>
                  <a:t> in </a:t>
                </a:r>
                <a:r>
                  <a:rPr lang="en-IN" sz="2400">
                    <a:solidFill>
                      <a:srgbClr val="111827"/>
                    </a:solidFill>
                    <a:latin typeface="Cambria Math" panose="02040503050406030204" pitchFamily="18" charset="0"/>
                  </a:rPr>
                  <a:t>$\left(ab\,x^{10/3}-1\right)^{15}$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That coefficient is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9</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15</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Equating (and using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9</m:t>
                            </m:r>
                          </m:den>
                        </m:f>
                      </m:e>
                    </m: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option (B)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That coefficient is </a:t>
                </a:r>
                <a:r>
                  <a:rPr lang="en-IN" sz="2400">
                    <a:solidFill>
                      <a:srgbClr val="111827"/>
                    </a:solidFill>
                    <a:latin typeface="Cambria Math" panose="02040503050406030204" pitchFamily="18" charset="0"/>
                  </a:rPr>
                  <a:t>$\dfrac{\binom{15}{9}(ab)^9(-1)^6}{b^{15}}$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Equating (and using </a:t>
                </a:r>
                <a:r>
                  <a:rPr lang="en-IN" sz="2400">
                    <a:solidFill>
                      <a:srgbClr val="111827"/>
                    </a:solidFill>
                    <a:latin typeface="Cambria Math" panose="02040503050406030204" pitchFamily="18" charset="0"/>
                  </a:rPr>
                  <a:t>$\binom{15}{6}=\binom{15}{9}$</a:t>
                </a:r>
                <a:r>
                  <a:rPr sz="2400" b="0">
                    <a:solidFill>
                      <a:srgbClr val="111827"/>
                    </a:solidFill>
                    <a:latin typeface="Arial"/>
                  </a:rPr>
                  <a:t>): </a:t>
                </a:r>
                <a:r>
                  <a:rPr lang="en-IN" sz="2400">
                    <a:solidFill>
                      <a:srgbClr val="111827"/>
                    </a:solidFill>
                    <a:latin typeface="Cambria Math" panose="02040503050406030204" pitchFamily="18" charset="0"/>
                  </a:rPr>
                  <a:t>$(ab)^6=(ab)^9$</a:t>
                </a:r>
                <a:r>
                  <a:rPr sz="2400" b="0">
                    <a:solidFill>
                      <a:srgbClr val="111827"/>
                    </a:solidFill>
                    <a:latin typeface="Arial"/>
                  </a:rPr>
                  <a:t>, so </a:t>
                </a:r>
                <a:r>
                  <a:rPr lang="en-IN" sz="2400">
                    <a:solidFill>
                      <a:srgbClr val="111827"/>
                    </a:solidFill>
                    <a:latin typeface="Cambria Math" panose="02040503050406030204" pitchFamily="18" charset="0"/>
                  </a:rPr>
                  <a:t>$(ab)^3=1$</a:t>
                </a:r>
                <a:r>
                  <a:rPr sz="2400" b="0">
                    <a:solidFill>
                      <a:srgbClr val="111827"/>
                    </a:solidFill>
                    <a:latin typeface="Arial"/>
                  </a:rPr>
                  <a:t> and </a:t>
                </a:r>
                <a:r>
                  <a:rPr lang="en-IN" sz="2400">
                    <a:solidFill>
                      <a:srgbClr val="111827"/>
                    </a:solidFill>
                    <a:latin typeface="Cambria Math" panose="02040503050406030204" pitchFamily="18" charset="0"/>
                  </a:rPr>
                  <a:t>$ab=1$</a:t>
                </a:r>
                <a:r>
                  <a:rPr sz="2400" b="0">
                    <a:solidFill>
                      <a:srgbClr val="111827"/>
                    </a:solidFill>
                    <a:latin typeface="Arial"/>
                  </a:rPr>
                  <a:t> (as </a:t>
                </a:r>
                <a:r>
                  <a:rPr lang="en-IN" sz="2400">
                    <a:solidFill>
                      <a:srgbClr val="111827"/>
                    </a:solidFill>
                    <a:latin typeface="Cambria Math" panose="02040503050406030204" pitchFamily="18" charset="0"/>
                  </a:rPr>
                  <a:t>$a,b&gt;0$</a:t>
                </a:r>
                <a:r>
                  <a:rPr sz="2400" b="0">
                    <a:solidFill>
                      <a:srgbClr val="111827"/>
                    </a:solidFill>
                    <a:latin typeface="Arial"/>
                  </a:rPr>
                  <a:t>), option (B)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𝑎</m:t>
                    </m:r>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$ab=1$</a:t>
                </a:r>
                <a:endParaRPr sz="2800">
                  <a:solidFill>
                    <a:srgbClr val="15803D"/>
                  </a:solidFill>
                </a:endParaRP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General term: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𝑝</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𝑞</m:t>
                        </m:r>
                      </m:sup>
                    </m:sSup>
                  </m:oMath>
                </a14:m>
                <a:r>
                  <a:rPr sz="2400" b="0">
                    <a:solidFill>
                      <a:srgbClr val="111827"/>
                    </a:solidFill>
                    <a:latin typeface="Arial"/>
                  </a:rPr>
                  <a:t> the exponent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𝑟</m:t>
                    </m:r>
                  </m:oMath>
                </a14:m>
                <a:r>
                  <a:rPr sz="2400" b="0">
                    <a:solidFill>
                      <a:srgbClr val="111827"/>
                    </a:solidFill>
                    <a:latin typeface="Arial"/>
                  </a:rPr>
                  <a:t>, linear in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solve for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first; the coefficients then involve only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9</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6</m:t>
                            </m:r>
                          </m:den>
                        </m:f>
                      </m:e>
                    </m:d>
                  </m:oMath>
                </a14:m>
                <a:r>
                  <a:rPr sz="2400" b="0">
                    <a:solidFill>
                      <a:srgbClr val="111827"/>
                    </a:solidFill>
                    <a:latin typeface="Arial"/>
                  </a:rPr>
                  <a:t> often cancels the numerical factors in such 'coefficient equals coefficient' questions.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 sign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appears, check parity of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before cancelling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here, so the sign is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General term: </a:t>
                </a:r>
                <a:r>
                  <a:rPr lang="en-IN" sz="2400">
                    <a:solidFill>
                      <a:srgbClr val="111827"/>
                    </a:solidFill>
                    <a:latin typeface="Cambria Math" panose="02040503050406030204" pitchFamily="18" charset="0"/>
                  </a:rPr>
                  <a:t>$T_{r+1}=\binom nr A^{n-r}B^r$</a:t>
                </a:r>
                <a:r>
                  <a:rPr sz="2400" b="0">
                    <a:solidFill>
                      <a:srgbClr val="111827"/>
                    </a:solidFill>
                    <a:latin typeface="Arial"/>
                  </a:rPr>
                  <a:t>; with </a:t>
                </a:r>
                <a:r>
                  <a:rPr lang="en-IN" sz="2400">
                    <a:solidFill>
                      <a:srgbClr val="111827"/>
                    </a:solidFill>
                    <a:latin typeface="Cambria Math" panose="02040503050406030204" pitchFamily="18" charset="0"/>
                  </a:rPr>
                  <a:t>$A=ax^p$</a:t>
                </a:r>
                <a:r>
                  <a:rPr sz="2400" b="0">
                    <a:solidFill>
                      <a:srgbClr val="111827"/>
                    </a:solidFill>
                    <a:latin typeface="Arial"/>
                  </a:rPr>
                  <a:t> and </a:t>
                </a:r>
                <a:r>
                  <a:rPr lang="en-IN" sz="2400">
                    <a:solidFill>
                      <a:srgbClr val="111827"/>
                    </a:solidFill>
                    <a:latin typeface="Cambria Math" panose="02040503050406030204" pitchFamily="18" charset="0"/>
                  </a:rPr>
                  <a:t>$B=bx^q$</a:t>
                </a:r>
                <a:r>
                  <a:rPr sz="2400" b="0">
                    <a:solidFill>
                      <a:srgbClr val="111827"/>
                    </a:solidFill>
                    <a:latin typeface="Arial"/>
                  </a:rPr>
                  <a:t> the exponent of </a:t>
                </a:r>
                <a:r>
                  <a:rPr lang="en-IN" sz="2400">
                    <a:solidFill>
                      <a:srgbClr val="111827"/>
                    </a:solidFill>
                    <a:latin typeface="Cambria Math" panose="02040503050406030204" pitchFamily="18" charset="0"/>
                  </a:rPr>
                  <a:t>$x$</a:t>
                </a:r>
                <a:r>
                  <a:rPr sz="2400" b="0">
                    <a:solidFill>
                      <a:srgbClr val="111827"/>
                    </a:solidFill>
                    <a:latin typeface="Arial"/>
                  </a:rPr>
                  <a:t> is </a:t>
                </a:r>
                <a:r>
                  <a:rPr lang="en-IN" sz="2400">
                    <a:solidFill>
                      <a:srgbClr val="111827"/>
                    </a:solidFill>
                    <a:latin typeface="Cambria Math" panose="02040503050406030204" pitchFamily="18" charset="0"/>
                  </a:rPr>
                  <a:t>$p(n-r)+qr$</a:t>
                </a:r>
                <a:r>
                  <a:rPr sz="2400" b="0">
                    <a:solidFill>
                      <a:srgbClr val="111827"/>
                    </a:solidFill>
                    <a:latin typeface="Arial"/>
                  </a:rPr>
                  <a:t>, linear in </a:t>
                </a:r>
                <a:r>
                  <a:rPr lang="en-IN" sz="2400">
                    <a:solidFill>
                      <a:srgbClr val="111827"/>
                    </a:solidFill>
                    <a:latin typeface="Cambria Math" panose="02040503050406030204" pitchFamily="18" charset="0"/>
                  </a:rPr>
                  <a:t>$r$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solve for </a:t>
                </a:r>
                <a:r>
                  <a:rPr lang="en-IN" sz="2400">
                    <a:solidFill>
                      <a:srgbClr val="111827"/>
                    </a:solidFill>
                    <a:latin typeface="Cambria Math" panose="02040503050406030204" pitchFamily="18" charset="0"/>
                  </a:rPr>
                  <a:t>$r$</a:t>
                </a:r>
                <a:r>
                  <a:rPr sz="2400" b="0">
                    <a:solidFill>
                      <a:srgbClr val="111827"/>
                    </a:solidFill>
                    <a:latin typeface="Arial"/>
                  </a:rPr>
                  <a:t> first; the coefficients then involve only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$\binom nr$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Symmetry </a:t>
                </a:r>
                <a:r>
                  <a:rPr lang="en-IN" sz="2400">
                    <a:solidFill>
                      <a:srgbClr val="111827"/>
                    </a:solidFill>
                    <a:latin typeface="Cambria Math" panose="02040503050406030204" pitchFamily="18" charset="0"/>
                  </a:rPr>
                  <a:t>$\binom{15}{9}=\binom{15}{6}$</a:t>
                </a:r>
                <a:r>
                  <a:rPr sz="2400" b="0">
                    <a:solidFill>
                      <a:srgbClr val="111827"/>
                    </a:solidFill>
                    <a:latin typeface="Arial"/>
                  </a:rPr>
                  <a:t> often cancels the numerical factors in such 'coefficient equals coefficient' questions.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 sign </a:t>
                </a:r>
                <a:r>
                  <a:rPr lang="en-IN" sz="2400">
                    <a:solidFill>
                      <a:srgbClr val="111827"/>
                    </a:solidFill>
                    <a:latin typeface="Cambria Math" panose="02040503050406030204" pitchFamily="18" charset="0"/>
                  </a:rPr>
                  <a:t>$(-1)^r$</a:t>
                </a:r>
                <a:r>
                  <a:rPr sz="2400" b="0">
                    <a:solidFill>
                      <a:srgbClr val="111827"/>
                    </a:solidFill>
                    <a:latin typeface="Arial"/>
                  </a:rPr>
                  <a:t> appears, check parity of </a:t>
                </a:r>
                <a:r>
                  <a:rPr lang="en-IN" sz="2400">
                    <a:solidFill>
                      <a:srgbClr val="111827"/>
                    </a:solidFill>
                    <a:latin typeface="Cambria Math" panose="02040503050406030204" pitchFamily="18" charset="0"/>
                  </a:rPr>
                  <a:t>$r$</a:t>
                </a:r>
                <a:r>
                  <a:rPr sz="2400" b="0">
                    <a:solidFill>
                      <a:srgbClr val="111827"/>
                    </a:solidFill>
                    <a:latin typeface="Arial"/>
                  </a:rPr>
                  <a:t> before cancelling (</a:t>
                </a:r>
                <a:r>
                  <a:rPr lang="en-IN" sz="2400">
                    <a:solidFill>
                      <a:srgbClr val="111827"/>
                    </a:solidFill>
                    <a:latin typeface="Cambria Math" panose="02040503050406030204" pitchFamily="18" charset="0"/>
                  </a:rPr>
                  <a:t>$r=6$</a:t>
                </a:r>
                <a:r>
                  <a:rPr sz="2400" b="0">
                    <a:solidFill>
                      <a:srgbClr val="111827"/>
                    </a:solidFill>
                    <a:latin typeface="Arial"/>
                  </a:rPr>
                  <a:t> here, so the sign is </a:t>
                </a:r>
                <a:r>
                  <a:rPr lang="en-IN" sz="2400">
                    <a:solidFill>
                      <a:srgbClr val="111827"/>
                    </a:solidFill>
                    <a:latin typeface="Cambria Math" panose="02040503050406030204" pitchFamily="18" charset="0"/>
                  </a:rPr>
                  <a: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301</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500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499</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498</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500</m:t>
                        </m:r>
                      </m:sup>
                    </m:sSup>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501</m:t>
                            </m:r>
                          </m:num>
                          <m:den>
                            <m:r>
                              <a:rPr lang="en-IN" sz="2400" i="1">
                                <a:solidFill>
                                  <a:srgbClr val="111827"/>
                                </a:solidFill>
                                <a:latin typeface="Cambria Math" panose="02040503050406030204" pitchFamily="18" charset="0"/>
                              </a:rPr>
                              <m:t>302</m:t>
                            </m:r>
                          </m:den>
                        </m:f>
                      </m:e>
                    </m:d>
                  </m:oMath>
                </a14:m>
                <a:r>
                  <a:rPr sz="2400" b="0">
                    <a:solidFill>
                      <a:srgbClr val="111827"/>
                    </a:solidFill>
                    <a:latin typeface="Arial"/>
                  </a:rPr>
                  <a:t>   (B)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500</m:t>
                            </m:r>
                          </m:num>
                          <m:den>
                            <m:r>
                              <a:rPr lang="en-IN" sz="2400" i="1">
                                <a:solidFill>
                                  <a:srgbClr val="111827"/>
                                </a:solidFill>
                                <a:latin typeface="Cambria Math" panose="02040503050406030204" pitchFamily="18" charset="0"/>
                              </a:rPr>
                              <m:t>300</m:t>
                            </m:r>
                          </m:den>
                        </m:f>
                      </m:e>
                    </m:d>
                  </m:oMath>
                </a14:m>
                <a:r>
                  <a:rPr sz="2400" b="0">
                    <a:solidFill>
                      <a:srgbClr val="111827"/>
                    </a:solidFill>
                    <a:latin typeface="Arial"/>
                  </a:rPr>
                  <a:t>   (C)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500</m:t>
                            </m:r>
                          </m:num>
                          <m:den>
                            <m:r>
                              <a:rPr lang="en-IN" sz="2400" i="1">
                                <a:solidFill>
                                  <a:srgbClr val="111827"/>
                                </a:solidFill>
                                <a:latin typeface="Cambria Math" panose="02040503050406030204" pitchFamily="18" charset="0"/>
                              </a:rPr>
                              <m:t>301</m:t>
                            </m:r>
                          </m:den>
                        </m:f>
                      </m:e>
                    </m:d>
                  </m:oMath>
                </a14:m>
                <a:r>
                  <a:rPr sz="2400" b="0">
                    <a:solidFill>
                      <a:srgbClr val="111827"/>
                    </a:solidFill>
                    <a:latin typeface="Arial"/>
                  </a:rPr>
                  <a:t>   (D)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501</m:t>
                            </m:r>
                          </m:num>
                          <m:den>
                            <m:r>
                              <a:rPr lang="en-IN" sz="2400" i="1">
                                <a:solidFill>
                                  <a:srgbClr val="111827"/>
                                </a:solidFill>
                                <a:latin typeface="Cambria Math" panose="02040503050406030204" pitchFamily="18" charset="0"/>
                              </a:rPr>
                              <m:t>200</m:t>
                            </m:r>
                          </m:den>
                        </m:f>
                      </m:e>
                    </m:d>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$x^{301}$</a:t>
                </a:r>
                <a:r>
                  <a:rPr sz="2400" b="0">
                    <a:solidFill>
                      <a:srgbClr val="111827"/>
                    </a:solidFill>
                    <a:latin typeface="Arial"/>
                  </a:rPr>
                  <a:t> in </a:t>
                </a:r>
                <a:r>
                  <a:rPr lang="en-IN" sz="2400">
                    <a:solidFill>
                      <a:srgbClr val="111827"/>
                    </a:solidFill>
                    <a:latin typeface="Cambria Math" panose="02040503050406030204" pitchFamily="18" charset="0"/>
                  </a:rPr>
                  <a:t>$(1+x)^{500}+x(1+x)^{499}+x^2(1+x)^{498}+\dots+x^{500}$</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$\binom{501}{302}$</a:t>
                </a:r>
                <a:r>
                  <a:rPr sz="2400" b="0">
                    <a:solidFill>
                      <a:srgbClr val="111827"/>
                    </a:solidFill>
                    <a:latin typeface="Arial"/>
                  </a:rPr>
                  <a:t>   (B) </a:t>
                </a:r>
                <a:r>
                  <a:rPr lang="en-IN" sz="2400">
                    <a:solidFill>
                      <a:srgbClr val="111827"/>
                    </a:solidFill>
                    <a:latin typeface="Cambria Math" panose="02040503050406030204" pitchFamily="18" charset="0"/>
                  </a:rPr>
                  <a:t>$\binom{500}{300}$</a:t>
                </a:r>
                <a:r>
                  <a:rPr sz="2400" b="0">
                    <a:solidFill>
                      <a:srgbClr val="111827"/>
                    </a:solidFill>
                    <a:latin typeface="Arial"/>
                  </a:rPr>
                  <a:t>   (C) </a:t>
                </a:r>
                <a:r>
                  <a:rPr lang="en-IN" sz="2400">
                    <a:solidFill>
                      <a:srgbClr val="111827"/>
                    </a:solidFill>
                    <a:latin typeface="Cambria Math" panose="02040503050406030204" pitchFamily="18" charset="0"/>
                  </a:rPr>
                  <a:t>$\binom{500}{301}$</a:t>
                </a:r>
                <a:r>
                  <a:rPr sz="2400" b="0">
                    <a:solidFill>
                      <a:srgbClr val="111827"/>
                    </a:solidFill>
                    <a:latin typeface="Arial"/>
                  </a:rPr>
                  <a:t>   (D) </a:t>
                </a:r>
                <a:r>
                  <a:rPr lang="en-IN" sz="2400">
                    <a:solidFill>
                      <a:srgbClr val="111827"/>
                    </a:solidFill>
                    <a:latin typeface="Cambria Math" panose="02040503050406030204" pitchFamily="18" charset="0"/>
                  </a:rPr>
                  <a:t>$\binom{501}{200}$</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a geometric progression in binomial expansions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t>
                </a:r>
                <a14:m>
                  <m:oMath xmlns:m="http://schemas.openxmlformats.org/officeDocument/2006/math">
                    <m:r>
                      <a:rPr lang="en-IN" sz="2400" i="1">
                        <a:solidFill>
                          <a:srgbClr val="78350F"/>
                        </a:solidFill>
                        <a:latin typeface="Cambria Math" panose="02040503050406030204" pitchFamily="18" charset="0"/>
                      </a:rPr>
                      <m:t>501</m:t>
                    </m:r>
                  </m:oMath>
                </a14:m>
                <a:r>
                  <a:rPr sz="2400" b="0">
                    <a:solidFill>
                      <a:srgbClr val="78350F"/>
                    </a:solidFill>
                    <a:latin typeface="Arial"/>
                  </a:rPr>
                  <a:t> terms form a G.P. with ratio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den>
                    </m:f>
                  </m:oMath>
                </a14:m>
                <a:r>
                  <a:rPr sz="2400" b="0">
                    <a:solidFill>
                      <a:srgbClr val="78350F"/>
                    </a:solidFill>
                    <a:latin typeface="Arial"/>
                  </a:rPr>
                  <a:t>; it sums to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501</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501</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t>
                </a:r>
                <a:r>
                  <a:rPr lang="en-IN" sz="2400">
                    <a:solidFill>
                      <a:srgbClr val="78350F"/>
                    </a:solidFill>
                    <a:latin typeface="Cambria Math" panose="02040503050406030204" pitchFamily="18" charset="0"/>
                  </a:rPr>
                  <a:t>$501$</a:t>
                </a:r>
                <a:r>
                  <a:rPr sz="2400" b="0">
                    <a:solidFill>
                      <a:srgbClr val="78350F"/>
                    </a:solidFill>
                    <a:latin typeface="Arial"/>
                  </a:rPr>
                  <a:t> terms form a G.P. with ratio </a:t>
                </a:r>
                <a:r>
                  <a:rPr lang="en-IN" sz="2400">
                    <a:solidFill>
                      <a:srgbClr val="78350F"/>
                    </a:solidFill>
                    <a:latin typeface="Cambria Math" panose="02040503050406030204" pitchFamily="18" charset="0"/>
                  </a:rPr>
                  <a:t>$\frac{x}{1+x}$</a:t>
                </a:r>
                <a:r>
                  <a:rPr sz="2400" b="0">
                    <a:solidFill>
                      <a:srgbClr val="78350F"/>
                    </a:solidFill>
                    <a:latin typeface="Arial"/>
                  </a:rPr>
                  <a:t>; it sums to </a:t>
                </a:r>
                <a:r>
                  <a:rPr lang="en-IN" sz="2400">
                    <a:solidFill>
                      <a:srgbClr val="78350F"/>
                    </a:solidFill>
                    <a:latin typeface="Cambria Math" panose="02040503050406030204" pitchFamily="18" charset="0"/>
                  </a:rPr>
                  <a:t>$(1+x)^{501}-x^{501}$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terms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500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499</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500</m:t>
                        </m:r>
                      </m:sup>
                    </m:sSup>
                  </m:oMath>
                </a14:m>
                <a:r>
                  <a:rPr sz="2400" b="0">
                    <a:solidFill>
                      <a:srgbClr val="111827"/>
                    </a:solidFill>
                    <a:latin typeface="Arial"/>
                  </a:rPr>
                  <a:t> form a G.P. with first term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500</m:t>
                        </m:r>
                      </m:sup>
                    </m:sSup>
                  </m:oMath>
                </a14:m>
                <a:r>
                  <a:rPr sz="2400" b="0">
                    <a:solidFill>
                      <a:srgbClr val="111827"/>
                    </a:solidFill>
                    <a:latin typeface="Arial"/>
                  </a:rPr>
                  <a:t>, common ratio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501</m:t>
                    </m:r>
                  </m:oMath>
                </a14:m>
                <a:r>
                  <a:rPr sz="2400" b="0">
                    <a:solidFill>
                      <a:srgbClr val="111827"/>
                    </a:solidFill>
                    <a:latin typeface="Arial"/>
                  </a:rPr>
                  <a:t>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500</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501</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500</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501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501</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501</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501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501</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terms </a:t>
                </a:r>
                <a:r>
                  <a:rPr lang="en-IN" sz="2400">
                    <a:solidFill>
                      <a:srgbClr val="111827"/>
                    </a:solidFill>
                    <a:latin typeface="Cambria Math" panose="02040503050406030204" pitchFamily="18" charset="0"/>
                  </a:rPr>
                  <a:t>$(1+x)^{500},\,x(1+x)^{499},\,\dots,x^{500}$</a:t>
                </a:r>
                <a:r>
                  <a:rPr sz="2400" b="0">
                    <a:solidFill>
                      <a:srgbClr val="111827"/>
                    </a:solidFill>
                    <a:latin typeface="Arial"/>
                  </a:rPr>
                  <a:t> form a G.P. with first term </a:t>
                </a:r>
                <a:r>
                  <a:rPr lang="en-IN" sz="2400">
                    <a:solidFill>
                      <a:srgbClr val="111827"/>
                    </a:solidFill>
                    <a:latin typeface="Cambria Math" panose="02040503050406030204" pitchFamily="18" charset="0"/>
                  </a:rPr>
                  <a:t>$(1+x)^{500}$</a:t>
                </a:r>
                <a:r>
                  <a:rPr sz="2400" b="0">
                    <a:solidFill>
                      <a:srgbClr val="111827"/>
                    </a:solidFill>
                    <a:latin typeface="Arial"/>
                  </a:rPr>
                  <a:t>, common ratio </a:t>
                </a:r>
                <a:r>
                  <a:rPr lang="en-IN" sz="2400">
                    <a:solidFill>
                      <a:srgbClr val="111827"/>
                    </a:solidFill>
                    <a:latin typeface="Cambria Math" panose="02040503050406030204" pitchFamily="18" charset="0"/>
                  </a:rPr>
                  <a:t>$\frac{x}{1+x}$</a:t>
                </a:r>
                <a:r>
                  <a:rPr sz="2400" b="0">
                    <a:solidFill>
                      <a:srgbClr val="111827"/>
                    </a:solidFill>
                    <a:latin typeface="Arial"/>
                  </a:rPr>
                  <a:t> and </a:t>
                </a:r>
                <a:r>
                  <a:rPr lang="en-IN" sz="2400">
                    <a:solidFill>
                      <a:srgbClr val="111827"/>
                    </a:solidFill>
                    <a:latin typeface="Cambria Math" panose="02040503050406030204" pitchFamily="18" charset="0"/>
                  </a:rPr>
                  <a:t>$501$</a:t>
                </a:r>
                <a:r>
                  <a:rPr sz="2400" b="0">
                    <a:solidFill>
                      <a:srgbClr val="111827"/>
                    </a:solidFill>
                    <a:latin typeface="Arial"/>
                  </a:rPr>
                  <a:t>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$=(1+x)^{500}\cdot\dfrac{1-\left(\frac{x}{1+x}\right)^{501}}{1-\frac{x}{1+x}}$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$=(1+x)^{500}\cdot\dfrac{(1+x)^{501}-x^{501}}{(1+x)^{501}}\cdot(1+x)=(1+x)^{501}-x^{501}$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301</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501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501</m:t>
                        </m:r>
                      </m:sup>
                    </m:sSup>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501</m:t>
                            </m:r>
                          </m:num>
                          <m:den>
                            <m:r>
                              <a:rPr lang="en-IN" sz="2400" i="1">
                                <a:solidFill>
                                  <a:srgbClr val="111827"/>
                                </a:solidFill>
                                <a:latin typeface="Cambria Math" panose="02040503050406030204" pitchFamily="18" charset="0"/>
                              </a:rPr>
                              <m:t>301</m:t>
                            </m:r>
                          </m:den>
                        </m:f>
                      </m:e>
                    </m:d>
                  </m:oMath>
                </a14:m>
                <a:r>
                  <a:rPr sz="2400" b="0">
                    <a:solidFill>
                      <a:srgbClr val="111827"/>
                    </a:solidFill>
                    <a:latin typeface="Arial"/>
                  </a:rPr>
                  <a:t> (the term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501</m:t>
                        </m:r>
                      </m:sup>
                    </m:sSup>
                  </m:oMath>
                </a14:m>
                <a:r>
                  <a:rPr sz="2400" b="0">
                    <a:solidFill>
                      <a:srgbClr val="111827"/>
                    </a:solidFill>
                    <a:latin typeface="Arial"/>
                  </a:rPr>
                  <a:t> does not affect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301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501</m:t>
                            </m:r>
                          </m:num>
                          <m:den>
                            <m:r>
                              <a:rPr lang="en-IN" sz="2400" i="1">
                                <a:solidFill>
                                  <a:srgbClr val="111827"/>
                                </a:solidFill>
                                <a:latin typeface="Cambria Math" panose="02040503050406030204" pitchFamily="18" charset="0"/>
                              </a:rPr>
                              <m:t>301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501</m:t>
                            </m:r>
                          </m:num>
                          <m:den>
                            <m:r>
                              <a:rPr lang="en-IN" sz="2400" i="1">
                                <a:solidFill>
                                  <a:srgbClr val="111827"/>
                                </a:solidFill>
                                <a:latin typeface="Cambria Math" panose="02040503050406030204" pitchFamily="18" charset="0"/>
                              </a:rPr>
                              <m:t>200</m:t>
                            </m:r>
                          </m:den>
                        </m:f>
                      </m:e>
                    </m:d>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$x^{301}$</a:t>
                </a:r>
                <a:r>
                  <a:rPr sz="2400" b="0">
                    <a:solidFill>
                      <a:srgbClr val="111827"/>
                    </a:solidFill>
                    <a:latin typeface="Arial"/>
                  </a:rPr>
                  <a:t> in </a:t>
                </a:r>
                <a:r>
                  <a:rPr lang="en-IN" sz="2400">
                    <a:solidFill>
                      <a:srgbClr val="111827"/>
                    </a:solidFill>
                    <a:latin typeface="Cambria Math" panose="02040503050406030204" pitchFamily="18" charset="0"/>
                  </a:rPr>
                  <a:t>$(1+x)^{501}-x^{501}$</a:t>
                </a:r>
                <a:r>
                  <a:rPr sz="2400" b="0">
                    <a:solidFill>
                      <a:srgbClr val="111827"/>
                    </a:solidFill>
                    <a:latin typeface="Arial"/>
                  </a:rPr>
                  <a:t> is </a:t>
                </a:r>
                <a:r>
                  <a:rPr lang="en-IN" sz="2400">
                    <a:solidFill>
                      <a:srgbClr val="111827"/>
                    </a:solidFill>
                    <a:latin typeface="Cambria Math" panose="02040503050406030204" pitchFamily="18" charset="0"/>
                  </a:rPr>
                  <a:t>$\binom{501}{301}$</a:t>
                </a:r>
                <a:r>
                  <a:rPr sz="2400" b="0">
                    <a:solidFill>
                      <a:srgbClr val="111827"/>
                    </a:solidFill>
                    <a:latin typeface="Arial"/>
                  </a:rPr>
                  <a:t> (the term </a:t>
                </a:r>
                <a:r>
                  <a:rPr lang="en-IN" sz="2400">
                    <a:solidFill>
                      <a:srgbClr val="111827"/>
                    </a:solidFill>
                    <a:latin typeface="Cambria Math" panose="02040503050406030204" pitchFamily="18" charset="0"/>
                  </a:rPr>
                  <a:t>$x^{501}$</a:t>
                </a:r>
                <a:r>
                  <a:rPr sz="2400" b="0">
                    <a:solidFill>
                      <a:srgbClr val="111827"/>
                    </a:solidFill>
                    <a:latin typeface="Arial"/>
                  </a:rPr>
                  <a:t> does not affect </a:t>
                </a:r>
                <a:r>
                  <a:rPr lang="en-IN" sz="2400">
                    <a:solidFill>
                      <a:srgbClr val="111827"/>
                    </a:solidFill>
                    <a:latin typeface="Cambria Math" panose="02040503050406030204" pitchFamily="18" charset="0"/>
                  </a:rPr>
                  <a:t>$x^{301}$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$\binom{501}{301}=\binom{501}{200}$</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f>
                          <m:fPr>
                            <m:type m:val="no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501</m:t>
                            </m:r>
                          </m:num>
                          <m:den>
                            <m:r>
                              <a:rPr lang="en-IN" sz="2800" i="1">
                                <a:solidFill>
                                  <a:srgbClr val="15803D"/>
                                </a:solidFill>
                                <a:latin typeface="Cambria Math" panose="02040503050406030204" pitchFamily="18" charset="0"/>
                              </a:rPr>
                              <m:t>200</m:t>
                            </m:r>
                          </m:den>
                        </m:f>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$\binom{501}{200}$</a:t>
                </a:r>
                <a:endParaRPr sz="2800">
                  <a:solidFill>
                    <a:srgbClr val="15803D"/>
                  </a:solidFill>
                </a:endParaRP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Add the coefficient of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301</m:t>
                        </m:r>
                      </m:sup>
                    </m:sSup>
                  </m:oMath>
                </a14:m>
                <a:r>
                  <a:rPr sz="2400" b="0">
                    <a:solidFill>
                      <a:srgbClr val="78350F"/>
                    </a:solidFill>
                    <a:latin typeface="Arial"/>
                  </a:rPr>
                  <a:t> term by term and use the hockey-stick identity.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Add the coefficient of </a:t>
                </a:r>
                <a:r>
                  <a:rPr lang="en-IN" sz="2400">
                    <a:solidFill>
                      <a:srgbClr val="78350F"/>
                    </a:solidFill>
                    <a:latin typeface="Cambria Math" panose="02040503050406030204" pitchFamily="18" charset="0"/>
                  </a:rPr>
                  <a:t>$x^{301}$</a:t>
                </a:r>
                <a:r>
                  <a:rPr sz="2400" b="0">
                    <a:solidFill>
                      <a:srgbClr val="78350F"/>
                    </a:solidFill>
                    <a:latin typeface="Arial"/>
                  </a:rPr>
                  <a:t> term by term and use the hockey-stick identity.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term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contributes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namely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301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199</m:t>
                            </m:r>
                          </m:den>
                        </m:f>
                      </m:e>
                    </m:d>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runs over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runs over </a:t>
                </a:r>
                <a14:m>
                  <m:oMath xmlns:m="http://schemas.openxmlformats.org/officeDocument/2006/math">
                    <m:r>
                      <a:rPr lang="en-IN" sz="2400" i="1">
                        <a:solidFill>
                          <a:srgbClr val="111827"/>
                        </a:solidFill>
                        <a:latin typeface="Cambria Math" panose="02040503050406030204" pitchFamily="18" charset="0"/>
                      </a:rPr>
                      <m:t>199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301</m:t>
                    </m:r>
                  </m:oMath>
                </a14:m>
                <a:r>
                  <a:rPr sz="2400" b="0">
                    <a:solidFill>
                      <a:srgbClr val="111827"/>
                    </a:solidFill>
                    <a:latin typeface="Arial"/>
                  </a:rPr>
                  <a:t> the contribution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term </a:t>
                </a:r>
                <a:r>
                  <a:rPr lang="en-IN" sz="2400">
                    <a:solidFill>
                      <a:srgbClr val="111827"/>
                    </a:solidFill>
                    <a:latin typeface="Cambria Math" panose="02040503050406030204" pitchFamily="18" charset="0"/>
                  </a:rPr>
                  <a:t>$x^k(1+x)^{500-k}$</a:t>
                </a:r>
                <a:r>
                  <a:rPr sz="2400" b="0">
                    <a:solidFill>
                      <a:srgbClr val="111827"/>
                    </a:solidFill>
                    <a:latin typeface="Arial"/>
                  </a:rPr>
                  <a:t> contributes the coefficient of </a:t>
                </a:r>
                <a:r>
                  <a:rPr lang="en-IN" sz="2400">
                    <a:solidFill>
                      <a:srgbClr val="111827"/>
                    </a:solidFill>
                    <a:latin typeface="Cambria Math" panose="02040503050406030204" pitchFamily="18" charset="0"/>
                  </a:rPr>
                  <a:t>$x^{301-k}$</a:t>
                </a:r>
                <a:r>
                  <a:rPr sz="2400" b="0">
                    <a:solidFill>
                      <a:srgbClr val="111827"/>
                    </a:solidFill>
                    <a:latin typeface="Arial"/>
                  </a:rPr>
                  <a:t> in </a:t>
                </a:r>
                <a:r>
                  <a:rPr lang="en-IN" sz="2400">
                    <a:solidFill>
                      <a:srgbClr val="111827"/>
                    </a:solidFill>
                    <a:latin typeface="Cambria Math" panose="02040503050406030204" pitchFamily="18" charset="0"/>
                  </a:rPr>
                  <a:t>$(1+x)^{500-k}$</a:t>
                </a:r>
                <a:r>
                  <a:rPr sz="2400" b="0">
                    <a:solidFill>
                      <a:srgbClr val="111827"/>
                    </a:solidFill>
                    <a:latin typeface="Arial"/>
                  </a:rPr>
                  <a:t>, namely </a:t>
                </a:r>
                <a:r>
                  <a:rPr lang="en-IN" sz="2400">
                    <a:solidFill>
                      <a:srgbClr val="111827"/>
                    </a:solidFill>
                    <a:latin typeface="Cambria Math" panose="02040503050406030204" pitchFamily="18" charset="0"/>
                  </a:rPr>
                  <a:t>$\binom{500-k}{301-k}=\binom{500-k}{199}$</a:t>
                </a:r>
                <a:r>
                  <a:rPr sz="2400" b="0">
                    <a:solidFill>
                      <a:srgbClr val="111827"/>
                    </a:solidFill>
                    <a:latin typeface="Arial"/>
                  </a:rPr>
                  <a:t>, for </a:t>
                </a:r>
                <a:r>
                  <a:rPr lang="en-IN" sz="2400">
                    <a:solidFill>
                      <a:srgbClr val="111827"/>
                    </a:solidFill>
                    <a:latin typeface="Cambria Math" panose="02040503050406030204" pitchFamily="18" charset="0"/>
                  </a:rPr>
                  <a:t>$k=0,1,\dots,301$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$m=500-k$</a:t>
                </a:r>
                <a:r>
                  <a:rPr sz="2400" b="0">
                    <a:solidFill>
                      <a:srgbClr val="111827"/>
                    </a:solidFill>
                    <a:latin typeface="Arial"/>
                  </a:rPr>
                  <a:t>; as </a:t>
                </a:r>
                <a:r>
                  <a:rPr lang="en-IN" sz="2400">
                    <a:solidFill>
                      <a:srgbClr val="111827"/>
                    </a:solidFill>
                    <a:latin typeface="Cambria Math" panose="02040503050406030204" pitchFamily="18" charset="0"/>
                  </a:rPr>
                  <a:t>$k$</a:t>
                </a:r>
                <a:r>
                  <a:rPr sz="2400" b="0">
                    <a:solidFill>
                      <a:srgbClr val="111827"/>
                    </a:solidFill>
                    <a:latin typeface="Arial"/>
                  </a:rPr>
                  <a:t> runs over </a:t>
                </a:r>
                <a:r>
                  <a:rPr lang="en-IN" sz="2400">
                    <a:solidFill>
                      <a:srgbClr val="111827"/>
                    </a:solidFill>
                    <a:latin typeface="Cambria Math" panose="02040503050406030204" pitchFamily="18" charset="0"/>
                  </a:rPr>
                  <a:t>$0,\dots,301$</a:t>
                </a:r>
                <a:r>
                  <a:rPr sz="2400" b="0">
                    <a:solidFill>
                      <a:srgbClr val="111827"/>
                    </a:solidFill>
                    <a:latin typeface="Arial"/>
                  </a:rPr>
                  <a:t>, </a:t>
                </a:r>
                <a:r>
                  <a:rPr lang="en-IN" sz="2400">
                    <a:solidFill>
                      <a:srgbClr val="111827"/>
                    </a:solidFill>
                    <a:latin typeface="Cambria Math" panose="02040503050406030204" pitchFamily="18" charset="0"/>
                  </a:rPr>
                  <a:t>$m$</a:t>
                </a:r>
                <a:r>
                  <a:rPr sz="2400" b="0">
                    <a:solidFill>
                      <a:srgbClr val="111827"/>
                    </a:solidFill>
                    <a:latin typeface="Arial"/>
                  </a:rPr>
                  <a:t> runs over </a:t>
                </a:r>
                <a:r>
                  <a:rPr lang="en-IN" sz="2400">
                    <a:solidFill>
                      <a:srgbClr val="111827"/>
                    </a:solidFill>
                    <a:latin typeface="Cambria Math" panose="02040503050406030204" pitchFamily="18" charset="0"/>
                  </a:rPr>
                  <a:t>$199,\dots,500$</a:t>
                </a:r>
                <a:r>
                  <a:rPr sz="2400" b="0">
                    <a:solidFill>
                      <a:srgbClr val="111827"/>
                    </a:solidFill>
                    <a:latin typeface="Arial"/>
                  </a:rPr>
                  <a:t> (for </a:t>
                </a:r>
                <a:r>
                  <a:rPr lang="en-IN" sz="2400">
                    <a:solidFill>
                      <a:srgbClr val="111827"/>
                    </a:solidFill>
                    <a:latin typeface="Cambria Math" panose="02040503050406030204" pitchFamily="18" charset="0"/>
                  </a:rPr>
                  <a:t>$k&gt;301$</a:t>
                </a:r>
                <a:r>
                  <a:rPr sz="2400" b="0">
                    <a:solidFill>
                      <a:srgbClr val="111827"/>
                    </a:solidFill>
                    <a:latin typeface="Arial"/>
                  </a:rPr>
                  <a:t> the contribution is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199</m:t>
                        </m:r>
                      </m:sub>
                      <m:sup>
                        <m:r>
                          <a:rPr lang="en-IN" sz="2400" i="1">
                            <a:solidFill>
                              <a:srgbClr val="111827"/>
                            </a:solidFill>
                            <a:latin typeface="Cambria Math" panose="02040503050406030204" pitchFamily="18" charset="0"/>
                          </a:rPr>
                          <m:t>500</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199</m:t>
                                </m:r>
                              </m:den>
                            </m:f>
                          </m:e>
                        </m:d>
                      </m:e>
                    </m:nary>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501</m:t>
                            </m:r>
                          </m:num>
                          <m:den>
                            <m:r>
                              <a:rPr lang="en-IN" sz="2400" i="1">
                                <a:solidFill>
                                  <a:srgbClr val="111827"/>
                                </a:solidFill>
                                <a:latin typeface="Cambria Math" panose="02040503050406030204" pitchFamily="18" charset="0"/>
                              </a:rPr>
                              <m:t>200</m:t>
                            </m:r>
                          </m:den>
                        </m:f>
                      </m:e>
                    </m:d>
                  </m:oMath>
                </a14:m>
                <a:r>
                  <a:rPr sz="2400" b="0">
                    <a:solidFill>
                      <a:srgbClr val="111827"/>
                    </a:solidFill>
                    <a:latin typeface="Arial"/>
                  </a:rPr>
                  <a:t> by the hockey-stick identity.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coefficient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501</m:t>
                            </m:r>
                          </m:num>
                          <m:den>
                            <m:r>
                              <a:rPr lang="en-IN" sz="2400" i="1">
                                <a:solidFill>
                                  <a:srgbClr val="111827"/>
                                </a:solidFill>
                                <a:latin typeface="Cambria Math" panose="02040503050406030204" pitchFamily="18" charset="0"/>
                              </a:rPr>
                              <m:t>200</m:t>
                            </m:r>
                          </m:den>
                        </m:f>
                      </m:e>
                    </m:d>
                  </m:oMath>
                </a14:m>
                <a:r>
                  <a:rPr sz="2400" b="0">
                    <a:solidFill>
                      <a:srgbClr val="111827"/>
                    </a:solidFill>
                    <a:latin typeface="Arial"/>
                  </a:rPr>
                  <a:t>, option (D)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$=\sum_{m=199}^{500}\binom{m}{199}=\binom{501}{200}$</a:t>
                </a:r>
                <a:r>
                  <a:rPr sz="2400" b="0">
                    <a:solidFill>
                      <a:srgbClr val="111827"/>
                    </a:solidFill>
                    <a:latin typeface="Arial"/>
                  </a:rPr>
                  <a:t> by the hockey-stick identity.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coefficient is </a:t>
                </a:r>
                <a:r>
                  <a:rPr lang="en-IN" sz="2400">
                    <a:solidFill>
                      <a:srgbClr val="111827"/>
                    </a:solidFill>
                    <a:latin typeface="Cambria Math" panose="02040503050406030204" pitchFamily="18" charset="0"/>
                  </a:rPr>
                  <a:t>$\binom{501}{200}$</a:t>
                </a:r>
                <a:r>
                  <a:rPr sz="2400" b="0">
                    <a:solidFill>
                      <a:srgbClr val="111827"/>
                    </a:solidFill>
                    <a:latin typeface="Arial"/>
                  </a:rPr>
                  <a:t>, option (D)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f>
                          <m:fPr>
                            <m:type m:val="no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501</m:t>
                            </m:r>
                          </m:num>
                          <m:den>
                            <m:r>
                              <a:rPr lang="en-IN" sz="2800" i="1">
                                <a:solidFill>
                                  <a:srgbClr val="15803D"/>
                                </a:solidFill>
                                <a:latin typeface="Cambria Math" panose="02040503050406030204" pitchFamily="18" charset="0"/>
                              </a:rPr>
                              <m:t>200</m:t>
                            </m:r>
                          </m:den>
                        </m:f>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$\binom{501}{200}$</a:t>
                </a:r>
                <a:endParaRPr sz="2800">
                  <a:solidFill>
                    <a:srgbClr val="15803D"/>
                  </a:solidFill>
                </a:endParaRP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(use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has coefficient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𝑗</m:t>
                            </m:r>
                          </m:den>
                        </m:f>
                      </m:e>
                    </m:d>
                  </m:oMath>
                </a14:m>
                <a:r>
                  <a:rPr sz="2400" b="0">
                    <a:solidFill>
                      <a:srgbClr val="111827"/>
                    </a:solidFill>
                    <a:latin typeface="Arial"/>
                  </a:rPr>
                  <a: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𝑗</m:t>
                        </m:r>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Whenever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is a constant,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collapses to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up to that constant.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$\sum_{k=0}^{n}x^k(1+x)^{n-k}=\dfrac{(1+x)^{n+1}-x^{n+1}}{(1+x)-x}=(1+x)^{n+1}-x^{n+1}$</a:t>
                </a:r>
                <a:r>
                  <a:rPr sz="2400" b="0">
                    <a:solidFill>
                      <a:srgbClr val="111827"/>
                    </a:solidFill>
                    <a:latin typeface="Arial"/>
                  </a:rPr>
                  <a:t> (use </a:t>
                </a:r>
                <a:r>
                  <a:rPr lang="en-IN" sz="2400">
                    <a:solidFill>
                      <a:srgbClr val="111827"/>
                    </a:solidFill>
                    <a:latin typeface="Cambria Math" panose="02040503050406030204" pitchFamily="18" charset="0"/>
                  </a:rPr>
                  <a:t>$\frac{A^{n+1}-B^{n+1}}{A-B}$</a:t>
                </a:r>
                <a:r>
                  <a:rPr sz="2400" b="0">
                    <a:solidFill>
                      <a:srgbClr val="111827"/>
                    </a:solidFill>
                    <a:latin typeface="Arial"/>
                  </a:rPr>
                  <a:t> with </a:t>
                </a:r>
                <a:r>
                  <a:rPr lang="en-IN" sz="2400">
                    <a:solidFill>
                      <a:srgbClr val="111827"/>
                    </a:solidFill>
                    <a:latin typeface="Cambria Math" panose="02040503050406030204" pitchFamily="18" charset="0"/>
                  </a:rPr>
                  <a:t>$A=1+x$</a:t>
                </a:r>
                <a:r>
                  <a:rPr sz="2400" b="0">
                    <a:solidFill>
                      <a:srgbClr val="111827"/>
                    </a:solidFill>
                    <a:latin typeface="Arial"/>
                  </a:rPr>
                  <a:t>, </a:t>
                </a:r>
                <a:r>
                  <a:rPr lang="en-IN" sz="2400">
                    <a:solidFill>
                      <a:srgbClr val="111827"/>
                    </a:solidFill>
                    <a:latin typeface="Cambria Math" panose="02040503050406030204" pitchFamily="18" charset="0"/>
                  </a:rPr>
                  <a:t>$B=x$</a:t>
                </a:r>
                <a:r>
                  <a:rPr sz="2400" b="0">
                    <a:solidFill>
                      <a:srgbClr val="111827"/>
                    </a:solidFill>
                    <a:latin typeface="Arial"/>
                  </a:rPr>
                  <a:t>, </a:t>
                </a:r>
                <a:r>
                  <a:rPr lang="en-IN" sz="2400">
                    <a:solidFill>
                      <a:srgbClr val="111827"/>
                    </a:solidFill>
                    <a:latin typeface="Cambria Math" panose="02040503050406030204" pitchFamily="18" charset="0"/>
                  </a:rPr>
                  <a:t>$A-B=1$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$\sum_{k=0}^{n}x^k(1+x)^{n-k}$</a:t>
                </a:r>
                <a:r>
                  <a:rPr sz="2400" b="0">
                    <a:solidFill>
                      <a:srgbClr val="111827"/>
                    </a:solidFill>
                    <a:latin typeface="Arial"/>
                  </a:rPr>
                  <a:t> has coefficient </a:t>
                </a:r>
                <a:r>
                  <a:rPr lang="en-IN" sz="2400">
                    <a:solidFill>
                      <a:srgbClr val="111827"/>
                    </a:solidFill>
                    <a:latin typeface="Cambria Math" panose="02040503050406030204" pitchFamily="18" charset="0"/>
                  </a:rPr>
                  <a:t>$\binom{n+1}{j}$</a:t>
                </a:r>
                <a:r>
                  <a:rPr sz="2400" b="0">
                    <a:solidFill>
                      <a:srgbClr val="111827"/>
                    </a:solidFill>
                    <a:latin typeface="Arial"/>
                  </a:rPr>
                  <a:t> of </a:t>
                </a:r>
                <a:r>
                  <a:rPr lang="en-IN" sz="2400">
                    <a:solidFill>
                      <a:srgbClr val="111827"/>
                    </a:solidFill>
                    <a:latin typeface="Cambria Math" panose="02040503050406030204" pitchFamily="18" charset="0"/>
                  </a:rPr>
                  <a:t>$x^j$</a:t>
                </a:r>
                <a:r>
                  <a:rPr sz="2400" b="0">
                    <a:solidFill>
                      <a:srgbClr val="111827"/>
                    </a:solidFill>
                    <a:latin typeface="Arial"/>
                  </a:rPr>
                  <a:t> for </a:t>
                </a:r>
                <a:r>
                  <a:rPr lang="en-IN" sz="2400">
                    <a:solidFill>
                      <a:srgbClr val="111827"/>
                    </a:solidFill>
                    <a:latin typeface="Cambria Math" panose="02040503050406030204" pitchFamily="18" charset="0"/>
                  </a:rPr>
                  <a:t>$j\le 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Whenever </a:t>
                </a:r>
                <a:r>
                  <a:rPr lang="en-IN" sz="2400">
                    <a:solidFill>
                      <a:srgbClr val="111827"/>
                    </a:solidFill>
                    <a:latin typeface="Cambria Math" panose="02040503050406030204" pitchFamily="18" charset="0"/>
                  </a:rPr>
                  <a:t>$A-B$</a:t>
                </a:r>
                <a:r>
                  <a:rPr sz="2400" b="0">
                    <a:solidFill>
                      <a:srgbClr val="111827"/>
                    </a:solidFill>
                    <a:latin typeface="Arial"/>
                  </a:rPr>
                  <a:t> is a constant, </a:t>
                </a:r>
                <a:r>
                  <a:rPr lang="en-IN" sz="2400">
                    <a:solidFill>
                      <a:srgbClr val="111827"/>
                    </a:solidFill>
                    <a:latin typeface="Cambria Math" panose="02040503050406030204" pitchFamily="18" charset="0"/>
                  </a:rPr>
                  <a:t>$\sum A^{n-k}B^k$</a:t>
                </a:r>
                <a:r>
                  <a:rPr sz="2400" b="0">
                    <a:solidFill>
                      <a:srgbClr val="111827"/>
                    </a:solidFill>
                    <a:latin typeface="Arial"/>
                  </a:rPr>
                  <a:t> collapses to </a:t>
                </a:r>
                <a:r>
                  <a:rPr lang="en-IN" sz="2400">
                    <a:solidFill>
                      <a:srgbClr val="111827"/>
                    </a:solidFill>
                    <a:latin typeface="Cambria Math" panose="02040503050406030204" pitchFamily="18" charset="0"/>
                  </a:rPr>
                  <a:t>$A^{n+1}-B^{n+1}$</a:t>
                </a:r>
                <a:r>
                  <a:rPr sz="2400" b="0">
                    <a:solidFill>
                      <a:srgbClr val="111827"/>
                    </a:solidFill>
                    <a:latin typeface="Arial"/>
                  </a:rPr>
                  <a:t> up to that constant.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$n=1$</a:t>
                </a:r>
                <a:r>
                  <a:rPr sz="2400" b="0">
                    <a:solidFill>
                      <a:srgbClr val="111827"/>
                    </a:solidFill>
                    <a:latin typeface="Arial"/>
                  </a:rPr>
                  <a:t>: </a:t>
                </a:r>
                <a:r>
                  <a:rPr lang="en-IN" sz="2400">
                    <a:solidFill>
                      <a:srgbClr val="111827"/>
                    </a:solidFill>
                    <a:latin typeface="Cambria Math" panose="02040503050406030204" pitchFamily="18" charset="0"/>
                  </a:rPr>
                  <a:t>$(1+x)+x=1+2x=(1+x)^2-x^2$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13</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oMath>
                </a14:m>
                <a:r>
                  <a:rPr sz="2400" b="0">
                    <a:solidFill>
                      <a:srgbClr val="111827"/>
                    </a:solidFill>
                    <a:latin typeface="Arial"/>
                  </a:rPr>
                  <a:t>. If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denotes the greatest integer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even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odd</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even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both odd</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odd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even</a:t>
                </a:r>
                <a:endParaRPr sz="2400">
                  <a:solidFill>
                    <a:srgbClr val="111827"/>
                  </a:solidFill>
                </a:endParaRPr>
              </a:p>
            </p:txBody>
          </p:sp>
        </mc:Choice>
        <mc:Fallback>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$x=(8\sqrt3+13)^{13}$</a:t>
                </a:r>
                <a:r>
                  <a:rPr sz="2400" b="0">
                    <a:solidFill>
                      <a:srgbClr val="111827"/>
                    </a:solidFill>
                    <a:latin typeface="Arial"/>
                  </a:rPr>
                  <a:t> and </a:t>
                </a:r>
                <a:r>
                  <a:rPr lang="en-IN" sz="2400">
                    <a:solidFill>
                      <a:srgbClr val="111827"/>
                    </a:solidFill>
                    <a:latin typeface="Cambria Math" panose="02040503050406030204" pitchFamily="18" charset="0"/>
                  </a:rPr>
                  <a:t>$y=(7\sqrt2+9)^{9}$</a:t>
                </a:r>
                <a:r>
                  <a:rPr sz="2400" b="0">
                    <a:solidFill>
                      <a:srgbClr val="111827"/>
                    </a:solidFill>
                    <a:latin typeface="Arial"/>
                  </a:rPr>
                  <a:t>. If </a:t>
                </a:r>
                <a:r>
                  <a:rPr lang="en-IN" sz="2400">
                    <a:solidFill>
                      <a:srgbClr val="111827"/>
                    </a:solidFill>
                    <a:latin typeface="Cambria Math" panose="02040503050406030204" pitchFamily="18" charset="0"/>
                  </a:rPr>
                  <a:t>$[t]$</a:t>
                </a:r>
                <a:r>
                  <a:rPr sz="2400" b="0">
                    <a:solidFill>
                      <a:srgbClr val="111827"/>
                    </a:solidFill>
                    <a:latin typeface="Arial"/>
                  </a:rPr>
                  <a:t> denotes the greatest integer </a:t>
                </a:r>
                <a:r>
                  <a:rPr lang="en-IN" sz="2400">
                    <a:solidFill>
                      <a:srgbClr val="111827"/>
                    </a:solidFill>
                    <a:latin typeface="Cambria Math" panose="02040503050406030204" pitchFamily="18" charset="0"/>
                  </a:rPr>
                  <a:t>$\le t$</a:t>
                </a:r>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$[x]$</a:t>
                </a:r>
                <a:r>
                  <a:rPr sz="2400" b="0">
                    <a:solidFill>
                      <a:srgbClr val="111827"/>
                    </a:solidFill>
                    <a:latin typeface="Arial"/>
                  </a:rPr>
                  <a:t> is even but </a:t>
                </a:r>
                <a:r>
                  <a:rPr lang="en-IN" sz="2400">
                    <a:solidFill>
                      <a:srgbClr val="111827"/>
                    </a:solidFill>
                    <a:latin typeface="Cambria Math" panose="02040503050406030204" pitchFamily="18" charset="0"/>
                  </a:rPr>
                  <a:t>$[y]$</a:t>
                </a:r>
                <a:r>
                  <a:rPr sz="2400" b="0">
                    <a:solidFill>
                      <a:srgbClr val="111827"/>
                    </a:solidFill>
                    <a:latin typeface="Arial"/>
                  </a:rPr>
                  <a:t> is odd</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$[x]+[y]$</a:t>
                </a:r>
                <a:r>
                  <a:rPr sz="2400" b="0">
                    <a:solidFill>
                      <a:srgbClr val="111827"/>
                    </a:solidFill>
                    <a:latin typeface="Arial"/>
                  </a:rPr>
                  <a:t> is even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are both odd</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$[x]$</a:t>
                </a:r>
                <a:r>
                  <a:rPr sz="2400" b="0">
                    <a:solidFill>
                      <a:srgbClr val="111827"/>
                    </a:solidFill>
                    <a:latin typeface="Arial"/>
                  </a:rPr>
                  <a:t> is odd but </a:t>
                </a:r>
                <a:r>
                  <a:rPr lang="en-IN" sz="2400">
                    <a:solidFill>
                      <a:srgbClr val="111827"/>
                    </a:solidFill>
                    <a:latin typeface="Cambria Math" panose="02040503050406030204" pitchFamily="18" charset="0"/>
                  </a:rPr>
                  <a:t>$[y]$</a:t>
                </a:r>
                <a:r>
                  <a:rPr sz="2400" b="0">
                    <a:solidFill>
                      <a:srgbClr val="111827"/>
                    </a:solidFill>
                    <a:latin typeface="Arial"/>
                  </a:rPr>
                  <a:t> is even</a:t>
                </a:r>
                <a:endParaRPr sz="2400">
                  <a:solidFill>
                    <a:srgbClr val="111827"/>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Integral part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𝑏</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via the conjugate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Integral part of </a:t>
                </a:r>
                <a:r>
                  <a:rPr lang="en-IN" sz="2400">
                    <a:solidFill>
                      <a:srgbClr val="111827"/>
                    </a:solidFill>
                    <a:latin typeface="Cambria Math" panose="02040503050406030204" pitchFamily="18" charset="0"/>
                  </a:rPr>
                  <a:t>$(a+\sqrt b)^n$</a:t>
                </a:r>
                <a:r>
                  <a:rPr sz="2400" b="0">
                    <a:solidFill>
                      <a:srgbClr val="111827"/>
                    </a:solidFill>
                    <a:latin typeface="Arial"/>
                  </a:rPr>
                  <a:t> via the conjugate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Pair each power with its conjugate </a:t>
                </a:r>
                <a14:m>
                  <m:oMath xmlns:m="http://schemas.openxmlformats.org/officeDocument/2006/math">
                    <m:sSup>
                      <m:e>
                        <m:r>
                          <a:rPr lang="en-IN" sz="2400" i="1">
                            <a:solidFill>
                              <a:srgbClr val="78350F"/>
                            </a:solidFill>
                            <a:latin typeface="Cambria Math" panose="02040503050406030204" pitchFamily="18" charset="0"/>
                          </a:rPr>
                          <m:t>𝑥</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13</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13</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is an even integer, so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Pair each power with its conjugate </a:t>
                </a:r>
                <a:r>
                  <a:rPr lang="en-IN" sz="2400">
                    <a:solidFill>
                      <a:srgbClr val="78350F"/>
                    </a:solidFill>
                    <a:latin typeface="Cambria Math" panose="02040503050406030204" pitchFamily="18" charset="0"/>
                  </a:rPr>
                  <a:t>$x'=(8\sqrt3-13)^{13}\in(0,1)$</a:t>
                </a:r>
                <a:r>
                  <a:rPr sz="2400" b="0">
                    <a:solidFill>
                      <a:srgbClr val="78350F"/>
                    </a:solidFill>
                    <a:latin typeface="Arial"/>
                  </a:rPr>
                  <a:t>; </a:t>
                </a:r>
                <a:r>
                  <a:rPr lang="en-IN" sz="2400">
                    <a:solidFill>
                      <a:srgbClr val="78350F"/>
                    </a:solidFill>
                    <a:latin typeface="Cambria Math" panose="02040503050406030204" pitchFamily="18" charset="0"/>
                  </a:rPr>
                  <a:t>$x-x'$</a:t>
                </a:r>
                <a:r>
                  <a:rPr sz="2400" b="0">
                    <a:solidFill>
                      <a:srgbClr val="78350F"/>
                    </a:solidFill>
                    <a:latin typeface="Arial"/>
                  </a:rPr>
                  <a:t> is an even integer, so </a:t>
                </a:r>
                <a:r>
                  <a:rPr lang="en-IN" sz="2400">
                    <a:solidFill>
                      <a:srgbClr val="78350F"/>
                    </a:solidFill>
                    <a:latin typeface="Cambria Math" panose="02040503050406030204" pitchFamily="18" charset="0"/>
                  </a:rPr>
                  <a:t>$[x]=x-x'$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13</m:t>
                        </m:r>
                      </m:sup>
                    </m:sSup>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13.86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and so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$x'=(8\sqrt3-13)^{13}$</a:t>
                </a:r>
                <a:r>
                  <a:rPr sz="2400" b="0">
                    <a:solidFill>
                      <a:srgbClr val="111827"/>
                    </a:solidFill>
                    <a:latin typeface="Arial"/>
                  </a:rPr>
                  <a:t>. Since </a:t>
                </a:r>
                <a:r>
                  <a:rPr lang="en-IN" sz="2400">
                    <a:solidFill>
                      <a:srgbClr val="111827"/>
                    </a:solidFill>
                    <a:latin typeface="Cambria Math" panose="02040503050406030204" pitchFamily="18" charset="0"/>
                  </a:rPr>
                  <a:t>$8\sqrt3\approx13.86$</a:t>
                </a:r>
                <a:r>
                  <a:rPr sz="2400" b="0">
                    <a:solidFill>
                      <a:srgbClr val="111827"/>
                    </a:solidFill>
                    <a:latin typeface="Arial"/>
                  </a:rPr>
                  <a:t>, </a:t>
                </a:r>
                <a:r>
                  <a:rPr lang="en-IN" sz="2400">
                    <a:solidFill>
                      <a:srgbClr val="111827"/>
                    </a:solidFill>
                    <a:latin typeface="Cambria Math" panose="02040503050406030204" pitchFamily="18" charset="0"/>
                  </a:rPr>
                  <a:t>$0&lt;8\sqrt3-13&lt;1$</a:t>
                </a:r>
                <a:r>
                  <a:rPr sz="2400" b="0">
                    <a:solidFill>
                      <a:srgbClr val="111827"/>
                    </a:solidFill>
                    <a:latin typeface="Arial"/>
                  </a:rPr>
                  <a:t> and so </a:t>
                </a:r>
                <a:r>
                  <a:rPr lang="en-IN" sz="2400">
                    <a:solidFill>
                      <a:srgbClr val="111827"/>
                    </a:solidFill>
                    <a:latin typeface="Cambria Math" panose="02040503050406030204" pitchFamily="18" charset="0"/>
                  </a:rPr>
                  <a:t>$0&lt;x'&lt;1$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the surviving powers of </a:t>
                </a:r>
                <a14:m>
                  <m:oMath xmlns:m="http://schemas.openxmlformats.org/officeDocument/2006/math">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are even, so every term is an integer.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an even integer, and since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let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is an even integer,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even, hence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even,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$x-x'=2\left[\binom{13}{1}(8\sqrt3)^{12}(13)^1+\binom{13}{3}(8\sqrt3)^{10}(13)^3+\dots\right]$</a:t>
                </a:r>
                <a:r>
                  <a:rPr sz="2400" b="0">
                    <a:solidFill>
                      <a:srgbClr val="111827"/>
                    </a:solidFill>
                    <a:latin typeface="Arial"/>
                  </a:rPr>
                  <a:t>; the surviving powers of </a:t>
                </a:r>
                <a:r>
                  <a:rPr lang="en-IN" sz="2400">
                    <a:solidFill>
                      <a:srgbClr val="111827"/>
                    </a:solidFill>
                    <a:latin typeface="Cambria Math" panose="02040503050406030204" pitchFamily="18" charset="0"/>
                  </a:rPr>
                  <a:t>$8\sqrt3$</a:t>
                </a:r>
                <a:r>
                  <a:rPr sz="2400" b="0">
                    <a:solidFill>
                      <a:srgbClr val="111827"/>
                    </a:solidFill>
                    <a:latin typeface="Arial"/>
                  </a:rPr>
                  <a:t> are even, so every term is an integer.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$x-x'$</a:t>
                </a:r>
                <a:r>
                  <a:rPr sz="2400" b="0">
                    <a:solidFill>
                      <a:srgbClr val="111827"/>
                    </a:solidFill>
                    <a:latin typeface="Arial"/>
                  </a:rPr>
                  <a:t> is an even integer, and since </a:t>
                </a:r>
                <a:r>
                  <a:rPr lang="en-IN" sz="2400">
                    <a:solidFill>
                      <a:srgbClr val="111827"/>
                    </a:solidFill>
                    <a:latin typeface="Cambria Math" panose="02040503050406030204" pitchFamily="18" charset="0"/>
                  </a:rPr>
                  <a:t>$0&lt;x'&lt;1$</a:t>
                </a:r>
                <a:r>
                  <a:rPr sz="2400" b="0">
                    <a:solidFill>
                      <a:srgbClr val="111827"/>
                    </a:solidFill>
                    <a:latin typeface="Arial"/>
                  </a:rPr>
                  <a:t>, </a:t>
                </a:r>
                <a:r>
                  <a:rPr lang="en-IN" sz="2400">
                    <a:solidFill>
                      <a:srgbClr val="111827"/>
                    </a:solidFill>
                    <a:latin typeface="Cambria Math" panose="02040503050406030204" pitchFamily="18" charset="0"/>
                  </a:rPr>
                  <a:t>$[x]=x-x'$</a:t>
                </a:r>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let </a:t>
                </a:r>
                <a:r>
                  <a:rPr lang="en-IN" sz="2400">
                    <a:solidFill>
                      <a:srgbClr val="111827"/>
                    </a:solidFill>
                    <a:latin typeface="Cambria Math" panose="02040503050406030204" pitchFamily="18" charset="0"/>
                  </a:rPr>
                  <a:t>$y'=(7\sqrt2-9)^{9}$</a:t>
                </a:r>
                <a:r>
                  <a:rPr sz="2400" b="0">
                    <a:solidFill>
                      <a:srgbClr val="111827"/>
                    </a:solidFill>
                    <a:latin typeface="Arial"/>
                  </a:rPr>
                  <a:t>; </a:t>
                </a:r>
                <a:r>
                  <a:rPr lang="en-IN" sz="2400">
                    <a:solidFill>
                      <a:srgbClr val="111827"/>
                    </a:solidFill>
                    <a:latin typeface="Cambria Math" panose="02040503050406030204" pitchFamily="18" charset="0"/>
                  </a:rPr>
                  <a:t>$7\sqrt2\approx9.90$</a:t>
                </a:r>
                <a:r>
                  <a:rPr sz="2400" b="0">
                    <a:solidFill>
                      <a:srgbClr val="111827"/>
                    </a:solidFill>
                    <a:latin typeface="Arial"/>
                  </a:rPr>
                  <a:t>, so </a:t>
                </a:r>
                <a:r>
                  <a:rPr lang="en-IN" sz="2400">
                    <a:solidFill>
                      <a:srgbClr val="111827"/>
                    </a:solidFill>
                    <a:latin typeface="Cambria Math" panose="02040503050406030204" pitchFamily="18" charset="0"/>
                  </a:rPr>
                  <a:t>$0&lt;y'&lt;1$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$y-y'=2\left[\binom91(7\sqrt2)^8(9)^1+\binom93(7\sqrt2)^6(9)^3+\dots\right]$</a:t>
                </a:r>
                <a:r>
                  <a:rPr sz="2400" b="0">
                    <a:solidFill>
                      <a:srgbClr val="111827"/>
                    </a:solidFill>
                    <a:latin typeface="Arial"/>
                  </a:rPr>
                  <a:t> is an even integer, so </a:t>
                </a:r>
                <a:r>
                  <a:rPr lang="en-IN" sz="2400">
                    <a:solidFill>
                      <a:srgbClr val="111827"/>
                    </a:solidFill>
                    <a:latin typeface="Cambria Math" panose="02040503050406030204" pitchFamily="18" charset="0"/>
                  </a:rPr>
                  <a:t>$[y]$</a:t>
                </a:r>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are even, hence </a:t>
                </a:r>
                <a:r>
                  <a:rPr lang="en-IN" sz="2400">
                    <a:solidFill>
                      <a:srgbClr val="111827"/>
                    </a:solidFill>
                    <a:latin typeface="Cambria Math" panose="02040503050406030204" pitchFamily="18" charset="0"/>
                  </a:rPr>
                  <a:t>$[x]+[y]$</a:t>
                </a:r>
                <a:r>
                  <a:rPr sz="2400" b="0">
                    <a:solidFill>
                      <a:srgbClr val="111827"/>
                    </a:solidFill>
                    <a:latin typeface="Arial"/>
                  </a:rPr>
                  <a:t> is even,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oMath>
                </a14:m>
                <a:r>
                  <a:rPr sz="2800" b="1">
                    <a:solidFill>
                      <a:srgbClr val="15803D"/>
                    </a:solidFill>
                    <a:latin typeface="Arial"/>
                  </a:rPr>
                  <a:t> is even</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$[x]+[y]$</a:t>
                </a:r>
                <a:r>
                  <a:rPr sz="2800" b="1">
                    <a:solidFill>
                      <a:srgbClr val="15803D"/>
                    </a:solidFill>
                    <a:latin typeface="Arial"/>
                  </a:rPr>
                  <a:t> is even</a:t>
                </a:r>
                <a:endParaRPr sz="2800">
                  <a:solidFill>
                    <a:srgbClr val="15803D"/>
                  </a:solidFill>
                </a:endParaRP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linear recurrence satisfied by </a:t>
                </a:r>
                <a14:m>
                  <m:oMath xmlns:m="http://schemas.openxmlformats.org/officeDocument/2006/math">
                    <m:sSup>
                      <m:e>
                        <m:r>
                          <a:rPr lang="en-IN" sz="2400" i="1">
                            <a:solidFill>
                              <a:srgbClr val="78350F"/>
                            </a:solidFill>
                            <a:latin typeface="Cambria Math" panose="02040503050406030204" pitchFamily="18" charset="0"/>
                          </a:rPr>
                          <m:t>𝑝</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𝑞</m:t>
                        </m:r>
                      </m:e>
                      <m:sup>
                        <m:r>
                          <a:rPr lang="en-IN" sz="2400" i="1">
                            <a:solidFill>
                              <a:srgbClr val="78350F"/>
                            </a:solidFill>
                            <a:latin typeface="Cambria Math" panose="02040503050406030204" pitchFamily="18" charset="0"/>
                          </a:rPr>
                          <m:t>𝑛</m:t>
                        </m:r>
                      </m:sup>
                    </m:sSup>
                  </m:oMath>
                </a14:m>
                <a:r>
                  <a:rPr sz="2400" b="0">
                    <a:solidFill>
                      <a:srgbClr val="78350F"/>
                    </a:solidFill>
                    <a:latin typeface="Arial"/>
                  </a:rPr>
                  <a:t> for the conjugate pair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oMath>
                </a14:m>
                <a:r>
                  <a:rPr sz="2400" b="0">
                    <a:solidFill>
                      <a:srgbClr val="78350F"/>
                    </a:solidFill>
                    <a:latin typeface="Arial"/>
                  </a:rPr>
                  <a:t> and show every term is even.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linear recurrence satisfied by </a:t>
                </a:r>
                <a:r>
                  <a:rPr lang="en-IN" sz="2400">
                    <a:solidFill>
                      <a:srgbClr val="78350F"/>
                    </a:solidFill>
                    <a:latin typeface="Cambria Math" panose="02040503050406030204" pitchFamily="18" charset="0"/>
                  </a:rPr>
                  <a:t>$p^n+q^n$</a:t>
                </a:r>
                <a:r>
                  <a:rPr sz="2400" b="0">
                    <a:solidFill>
                      <a:srgbClr val="78350F"/>
                    </a:solidFill>
                    <a:latin typeface="Arial"/>
                  </a:rPr>
                  <a:t> for the conjugate pair </a:t>
                </a:r>
                <a:r>
                  <a:rPr lang="en-IN" sz="2400">
                    <a:solidFill>
                      <a:srgbClr val="78350F"/>
                    </a:solidFill>
                    <a:latin typeface="Cambria Math" panose="02040503050406030204" pitchFamily="18" charset="0"/>
                  </a:rPr>
                  <a:t>$p,q=13\pm8\sqrt3$</a:t>
                </a:r>
                <a:r>
                  <a:rPr sz="2400" b="0">
                    <a:solidFill>
                      <a:srgbClr val="78350F"/>
                    </a:solidFill>
                    <a:latin typeface="Arial"/>
                  </a:rPr>
                  <a:t> and show every term is even.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satisfies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 all integers.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Modulo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the recurrence reads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are even, so every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0.86</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13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13</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13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13</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13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𝑎 𝑛𝑢𝑚𝑏𝑒𝑟 𝑖𝑛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13</m:t>
                        </m:r>
                      </m:sub>
                    </m:sSub>
                  </m:oMath>
                </a14:m>
                <a:r>
                  <a:rPr sz="2400" b="0">
                    <a:solidFill>
                      <a:srgbClr val="111827"/>
                    </a:solidFill>
                    <a:latin typeface="Arial"/>
                  </a:rPr>
                  <a:t> is even.</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$p=13+8\sqrt3$</a:t>
                </a:r>
                <a:r>
                  <a:rPr sz="2400" b="0">
                    <a:solidFill>
                      <a:srgbClr val="111827"/>
                    </a:solidFill>
                    <a:latin typeface="Arial"/>
                  </a:rPr>
                  <a:t>, </a:t>
                </a:r>
                <a:r>
                  <a:rPr lang="en-IN" sz="2400">
                    <a:solidFill>
                      <a:srgbClr val="111827"/>
                    </a:solidFill>
                    <a:latin typeface="Cambria Math" panose="02040503050406030204" pitchFamily="18" charset="0"/>
                  </a:rPr>
                  <a:t>$q=13-8\sqrt3$</a:t>
                </a:r>
                <a:r>
                  <a:rPr sz="2400" b="0">
                    <a:solidFill>
                      <a:srgbClr val="111827"/>
                    </a:solidFill>
                    <a:latin typeface="Arial"/>
                  </a:rPr>
                  <a:t>: </a:t>
                </a:r>
                <a:r>
                  <a:rPr lang="en-IN" sz="2400">
                    <a:solidFill>
                      <a:srgbClr val="111827"/>
                    </a:solidFill>
                    <a:latin typeface="Cambria Math" panose="02040503050406030204" pitchFamily="18" charset="0"/>
                  </a:rPr>
                  <a:t>$p+q=26$</a:t>
                </a:r>
                <a:r>
                  <a:rPr sz="2400" b="0">
                    <a:solidFill>
                      <a:srgbClr val="111827"/>
                    </a:solidFill>
                    <a:latin typeface="Arial"/>
                  </a:rPr>
                  <a:t>, </a:t>
                </a:r>
                <a:r>
                  <a:rPr lang="en-IN" sz="2400">
                    <a:solidFill>
                      <a:srgbClr val="111827"/>
                    </a:solidFill>
                    <a:latin typeface="Cambria Math" panose="02040503050406030204" pitchFamily="18" charset="0"/>
                  </a:rPr>
                  <a:t>$pq=169-192=-23$</a:t>
                </a:r>
                <a:r>
                  <a:rPr sz="2400" b="0">
                    <a:solidFill>
                      <a:srgbClr val="111827"/>
                    </a:solidFill>
                    <a:latin typeface="Arial"/>
                  </a:rPr>
                  <a:t>. So </a:t>
                </a:r>
                <a:r>
                  <a:rPr lang="en-IN" sz="2400">
                    <a:solidFill>
                      <a:srgbClr val="111827"/>
                    </a:solidFill>
                    <a:latin typeface="Cambria Math" panose="02040503050406030204" pitchFamily="18" charset="0"/>
                  </a:rPr>
                  <a:t>$s_n=p^n+q^n$</a:t>
                </a:r>
                <a:r>
                  <a:rPr sz="2400" b="0">
                    <a:solidFill>
                      <a:srgbClr val="111827"/>
                    </a:solidFill>
                    <a:latin typeface="Arial"/>
                  </a:rPr>
                  <a:t> satisfies </a:t>
                </a:r>
                <a:r>
                  <a:rPr lang="en-IN" sz="2400">
                    <a:solidFill>
                      <a:srgbClr val="111827"/>
                    </a:solidFill>
                    <a:latin typeface="Cambria Math" panose="02040503050406030204" pitchFamily="18" charset="0"/>
                  </a:rPr>
                  <a:t>$s_n=26s_{n-1}+23s_{n-2}$</a:t>
                </a:r>
                <a:r>
                  <a:rPr sz="2400" b="0">
                    <a:solidFill>
                      <a:srgbClr val="111827"/>
                    </a:solidFill>
                    <a:latin typeface="Arial"/>
                  </a:rPr>
                  <a:t> with </a:t>
                </a:r>
                <a:r>
                  <a:rPr lang="en-IN" sz="2400">
                    <a:solidFill>
                      <a:srgbClr val="111827"/>
                    </a:solidFill>
                    <a:latin typeface="Cambria Math" panose="02040503050406030204" pitchFamily="18" charset="0"/>
                  </a:rPr>
                  <a:t>$s_0=2$</a:t>
                </a:r>
                <a:r>
                  <a:rPr sz="2400" b="0">
                    <a:solidFill>
                      <a:srgbClr val="111827"/>
                    </a:solidFill>
                    <a:latin typeface="Arial"/>
                  </a:rPr>
                  <a:t>, </a:t>
                </a:r>
                <a:r>
                  <a:rPr lang="en-IN" sz="2400">
                    <a:solidFill>
                      <a:srgbClr val="111827"/>
                    </a:solidFill>
                    <a:latin typeface="Cambria Math" panose="02040503050406030204" pitchFamily="18" charset="0"/>
                  </a:rPr>
                  <a:t>$s_1=26$</a:t>
                </a:r>
                <a:r>
                  <a:rPr sz="2400" b="0">
                    <a:solidFill>
                      <a:srgbClr val="111827"/>
                    </a:solidFill>
                    <a:latin typeface="Arial"/>
                  </a:rPr>
                  <a:t>, all integers.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Modulo </a:t>
                </a:r>
                <a:r>
                  <a:rPr lang="en-IN" sz="2400">
                    <a:solidFill>
                      <a:srgbClr val="111827"/>
                    </a:solidFill>
                    <a:latin typeface="Cambria Math" panose="02040503050406030204" pitchFamily="18" charset="0"/>
                  </a:rPr>
                  <a:t>$2$</a:t>
                </a:r>
                <a:r>
                  <a:rPr sz="2400" b="0">
                    <a:solidFill>
                      <a:srgbClr val="111827"/>
                    </a:solidFill>
                    <a:latin typeface="Arial"/>
                  </a:rPr>
                  <a:t> the recurrence reads </a:t>
                </a:r>
                <a:r>
                  <a:rPr lang="en-IN" sz="2400">
                    <a:solidFill>
                      <a:srgbClr val="111827"/>
                    </a:solidFill>
                    <a:latin typeface="Cambria Math" panose="02040503050406030204" pitchFamily="18" charset="0"/>
                  </a:rPr>
                  <a:t>$s_n\equiv s_{n-2}$</a:t>
                </a:r>
                <a:r>
                  <a:rPr sz="2400" b="0">
                    <a:solidFill>
                      <a:srgbClr val="111827"/>
                    </a:solidFill>
                    <a:latin typeface="Arial"/>
                  </a:rPr>
                  <a:t>, and </a:t>
                </a:r>
                <a:r>
                  <a:rPr lang="en-IN" sz="2400">
                    <a:solidFill>
                      <a:srgbClr val="111827"/>
                    </a:solidFill>
                    <a:latin typeface="Cambria Math" panose="02040503050406030204" pitchFamily="18" charset="0"/>
                  </a:rPr>
                  <a:t>$s_0,s_1$</a:t>
                </a:r>
                <a:r>
                  <a:rPr sz="2400" b="0">
                    <a:solidFill>
                      <a:srgbClr val="111827"/>
                    </a:solidFill>
                    <a:latin typeface="Arial"/>
                  </a:rPr>
                  <a:t> are even, so every </a:t>
                </a:r>
                <a:r>
                  <a:rPr lang="en-IN" sz="2400">
                    <a:solidFill>
                      <a:srgbClr val="111827"/>
                    </a:solidFill>
                    <a:latin typeface="Cambria Math" panose="02040503050406030204" pitchFamily="18" charset="0"/>
                  </a:rPr>
                  <a:t>$s_n$</a:t>
                </a:r>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$q=13-8\sqrt3\approx-0.86$</a:t>
                </a:r>
                <a:r>
                  <a:rPr sz="2400" b="0">
                    <a:solidFill>
                      <a:srgbClr val="111827"/>
                    </a:solidFill>
                    <a:latin typeface="Arial"/>
                  </a:rPr>
                  <a:t> so </a:t>
                </a:r>
                <a:r>
                  <a:rPr lang="en-IN" sz="2400">
                    <a:solidFill>
                      <a:srgbClr val="111827"/>
                    </a:solidFill>
                    <a:latin typeface="Cambria Math" panose="02040503050406030204" pitchFamily="18" charset="0"/>
                  </a:rPr>
                  <a:t>$q^{13}\in(-1,0)$</a:t>
                </a:r>
                <a:r>
                  <a:rPr sz="2400" b="0">
                    <a:solidFill>
                      <a:srgbClr val="111827"/>
                    </a:solidFill>
                    <a:latin typeface="Arial"/>
                  </a:rPr>
                  <a:t>; hence </a:t>
                </a:r>
                <a:r>
                  <a:rPr lang="en-IN" sz="2400">
                    <a:solidFill>
                      <a:srgbClr val="111827"/>
                    </a:solidFill>
                    <a:latin typeface="Cambria Math" panose="02040503050406030204" pitchFamily="18" charset="0"/>
                  </a:rPr>
                  <a:t>$x=p^{13}=s_{13}-q^{13}=s_{13}+(\text{a number in }(0,1))$</a:t>
                </a:r>
                <a:r>
                  <a:rPr sz="2400" b="0">
                    <a:solidFill>
                      <a:srgbClr val="111827"/>
                    </a:solidFill>
                    <a:latin typeface="Arial"/>
                  </a:rPr>
                  <a:t>, so </a:t>
                </a:r>
                <a:r>
                  <a:rPr lang="en-IN" sz="2400">
                    <a:solidFill>
                      <a:srgbClr val="111827"/>
                    </a:solidFill>
                    <a:latin typeface="Cambria Math" panose="02040503050406030204" pitchFamily="18" charset="0"/>
                  </a:rPr>
                  <a:t>$[x]=s_{13}$</a:t>
                </a:r>
                <a:r>
                  <a:rPr sz="2400" b="0">
                    <a:solidFill>
                      <a:srgbClr val="111827"/>
                    </a:solidFill>
                    <a:latin typeface="Arial"/>
                  </a:rPr>
                  <a:t> is even.</a:t>
                </a:r>
                <a:endParaRPr sz="2400">
                  <a:solidFill>
                    <a:srgbClr val="111827"/>
                  </a:solidFill>
                </a:endParaRP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0.90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again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all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are even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9</m:t>
                        </m:r>
                      </m:sub>
                    </m:sSub>
                  </m:oMath>
                </a14:m>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even, option (B)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$y$</a:t>
                </a:r>
                <a:r>
                  <a:rPr sz="2400" b="0">
                    <a:solidFill>
                      <a:srgbClr val="111827"/>
                    </a:solidFill>
                    <a:latin typeface="Arial"/>
                  </a:rPr>
                  <a:t>: </a:t>
                </a:r>
                <a:r>
                  <a:rPr lang="en-IN" sz="2400">
                    <a:solidFill>
                      <a:srgbClr val="111827"/>
                    </a:solidFill>
                    <a:latin typeface="Cambria Math" panose="02040503050406030204" pitchFamily="18" charset="0"/>
                  </a:rPr>
                  <a:t>$p=9+7\sqrt2$</a:t>
                </a:r>
                <a:r>
                  <a:rPr sz="2400" b="0">
                    <a:solidFill>
                      <a:srgbClr val="111827"/>
                    </a:solidFill>
                    <a:latin typeface="Arial"/>
                  </a:rPr>
                  <a:t>, </a:t>
                </a:r>
                <a:r>
                  <a:rPr lang="en-IN" sz="2400">
                    <a:solidFill>
                      <a:srgbClr val="111827"/>
                    </a:solidFill>
                    <a:latin typeface="Cambria Math" panose="02040503050406030204" pitchFamily="18" charset="0"/>
                  </a:rPr>
                  <a:t>$q=9-7\sqrt2\approx-0.90$</a:t>
                </a:r>
                <a:r>
                  <a:rPr sz="2400" b="0">
                    <a:solidFill>
                      <a:srgbClr val="111827"/>
                    </a:solidFill>
                    <a:latin typeface="Arial"/>
                  </a:rPr>
                  <a:t>, </a:t>
                </a:r>
                <a:r>
                  <a:rPr lang="en-IN" sz="2400">
                    <a:solidFill>
                      <a:srgbClr val="111827"/>
                    </a:solidFill>
                    <a:latin typeface="Cambria Math" panose="02040503050406030204" pitchFamily="18" charset="0"/>
                  </a:rPr>
                  <a:t>$p+q=18$</a:t>
                </a:r>
                <a:r>
                  <a:rPr sz="2400" b="0">
                    <a:solidFill>
                      <a:srgbClr val="111827"/>
                    </a:solidFill>
                    <a:latin typeface="Arial"/>
                  </a:rPr>
                  <a:t>, </a:t>
                </a:r>
                <a:r>
                  <a:rPr lang="en-IN" sz="2400">
                    <a:solidFill>
                      <a:srgbClr val="111827"/>
                    </a:solidFill>
                    <a:latin typeface="Cambria Math" panose="02040503050406030204" pitchFamily="18" charset="0"/>
                  </a:rPr>
                  <a:t>$pq=81-98=-17$</a:t>
                </a:r>
                <a:r>
                  <a:rPr sz="2400" b="0">
                    <a:solidFill>
                      <a:srgbClr val="111827"/>
                    </a:solidFill>
                    <a:latin typeface="Arial"/>
                  </a:rPr>
                  <a:t>; </a:t>
                </a:r>
                <a:r>
                  <a:rPr lang="en-IN" sz="2400">
                    <a:solidFill>
                      <a:srgbClr val="111827"/>
                    </a:solidFill>
                    <a:latin typeface="Cambria Math" panose="02040503050406030204" pitchFamily="18" charset="0"/>
                  </a:rPr>
                  <a:t>$s_n=18s_{n-1}+17s_{n-2}$</a:t>
                </a:r>
                <a:r>
                  <a:rPr sz="2400" b="0">
                    <a:solidFill>
                      <a:srgbClr val="111827"/>
                    </a:solidFill>
                    <a:latin typeface="Arial"/>
                  </a:rPr>
                  <a:t>, </a:t>
                </a:r>
                <a:r>
                  <a:rPr lang="en-IN" sz="2400">
                    <a:solidFill>
                      <a:srgbClr val="111827"/>
                    </a:solidFill>
                    <a:latin typeface="Cambria Math" panose="02040503050406030204" pitchFamily="18" charset="0"/>
                  </a:rPr>
                  <a:t>$s_0=2$</a:t>
                </a:r>
                <a:r>
                  <a:rPr sz="2400" b="0">
                    <a:solidFill>
                      <a:srgbClr val="111827"/>
                    </a:solidFill>
                    <a:latin typeface="Arial"/>
                  </a:rPr>
                  <a:t>, </a:t>
                </a:r>
                <a:r>
                  <a:rPr lang="en-IN" sz="2400">
                    <a:solidFill>
                      <a:srgbClr val="111827"/>
                    </a:solidFill>
                    <a:latin typeface="Cambria Math" panose="02040503050406030204" pitchFamily="18" charset="0"/>
                  </a:rPr>
                  <a:t>$s_1=18$</a:t>
                </a:r>
                <a:r>
                  <a:rPr sz="2400" b="0">
                    <a:solidFill>
                      <a:srgbClr val="111827"/>
                    </a:solidFill>
                    <a:latin typeface="Arial"/>
                  </a:rPr>
                  <a:t>, again </a:t>
                </a:r>
                <a:r>
                  <a:rPr lang="en-IN" sz="2400">
                    <a:solidFill>
                      <a:srgbClr val="111827"/>
                    </a:solidFill>
                    <a:latin typeface="Cambria Math" panose="02040503050406030204" pitchFamily="18" charset="0"/>
                  </a:rPr>
                  <a:t>$s_n\equiv s_{n-2}\pmod 2$</a:t>
                </a:r>
                <a:r>
                  <a:rPr sz="2400" b="0">
                    <a:solidFill>
                      <a:srgbClr val="111827"/>
                    </a:solidFill>
                    <a:latin typeface="Arial"/>
                  </a:rPr>
                  <a:t>, so all </a:t>
                </a:r>
                <a:r>
                  <a:rPr lang="en-IN" sz="2400">
                    <a:solidFill>
                      <a:srgbClr val="111827"/>
                    </a:solidFill>
                    <a:latin typeface="Cambria Math" panose="02040503050406030204" pitchFamily="18" charset="0"/>
                  </a:rPr>
                  <a:t>$s_n$</a:t>
                </a:r>
                <a:r>
                  <a:rPr sz="2400" b="0">
                    <a:solidFill>
                      <a:srgbClr val="111827"/>
                    </a:solidFill>
                    <a:latin typeface="Arial"/>
                  </a:rPr>
                  <a:t> are even and </a:t>
                </a:r>
                <a:r>
                  <a:rPr lang="en-IN" sz="2400">
                    <a:solidFill>
                      <a:srgbClr val="111827"/>
                    </a:solidFill>
                    <a:latin typeface="Cambria Math" panose="02040503050406030204" pitchFamily="18" charset="0"/>
                  </a:rPr>
                  <a:t>$[y]=s_9$</a:t>
                </a:r>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$[x]+[y]$</a:t>
                </a:r>
                <a:r>
                  <a:rPr sz="2400" b="0">
                    <a:solidFill>
                      <a:srgbClr val="111827"/>
                    </a:solidFill>
                    <a:latin typeface="Arial"/>
                  </a:rPr>
                  <a:t> is even, option (B)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oMath>
                </a14:m>
                <a:r>
                  <a:rPr sz="2800" b="1">
                    <a:solidFill>
                      <a:srgbClr val="15803D"/>
                    </a:solidFill>
                    <a:latin typeface="Arial"/>
                  </a:rPr>
                  <a:t> is even</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$[x]+[y]$</a:t>
                </a:r>
                <a:r>
                  <a:rPr sz="2800" b="1">
                    <a:solidFill>
                      <a:srgbClr val="15803D"/>
                    </a:solidFill>
                    <a:latin typeface="Arial"/>
                  </a:rPr>
                  <a:t> is even</a:t>
                </a:r>
                <a:endParaRPr sz="2800">
                  <a:solidFill>
                    <a:srgbClr val="15803D"/>
                  </a:solidFill>
                </a:endParaRP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𝑏</m:t>
                        </m:r>
                      </m:e>
                    </m:rad>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𝑏</m:t>
                        </m:r>
                      </m:e>
                    </m:ra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is an integer, so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if </a:t>
                </a:r>
                <a14:m>
                  <m:oMath xmlns:m="http://schemas.openxmlformats.org/officeDocument/2006/math">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if </a:t>
                </a:r>
                <a14:m>
                  <m:oMath xmlns:m="http://schemas.openxmlformats.org/officeDocument/2006/math">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satisfies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(Newton / Lucas sequence): no binomial expansion is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Standard variants: remainder or last digits of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fractional part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𝑏</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$p=a+\sqrt b$</a:t>
                </a:r>
                <a:r>
                  <a:rPr sz="2400" b="0">
                    <a:solidFill>
                      <a:srgbClr val="111827"/>
                    </a:solidFill>
                    <a:latin typeface="Arial"/>
                  </a:rPr>
                  <a:t> with </a:t>
                </a:r>
                <a:r>
                  <a:rPr lang="en-IN" sz="2400">
                    <a:solidFill>
                      <a:srgbClr val="111827"/>
                    </a:solidFill>
                    <a:latin typeface="Cambria Math" panose="02040503050406030204" pitchFamily="18" charset="0"/>
                  </a:rPr>
                  <a:t>$q=a-\sqrt b$</a:t>
                </a:r>
                <a:r>
                  <a:rPr sz="2400" b="0">
                    <a:solidFill>
                      <a:srgbClr val="111827"/>
                    </a:solidFill>
                    <a:latin typeface="Arial"/>
                  </a:rPr>
                  <a:t>, </a:t>
                </a:r>
                <a:r>
                  <a:rPr lang="en-IN" sz="2400">
                    <a:solidFill>
                      <a:srgbClr val="111827"/>
                    </a:solidFill>
                    <a:latin typeface="Cambria Math" panose="02040503050406030204" pitchFamily="18" charset="0"/>
                  </a:rPr>
                  <a:t>$|q|&lt;1$</a:t>
                </a:r>
                <a:r>
                  <a:rPr sz="2400" b="0">
                    <a:solidFill>
                      <a:srgbClr val="111827"/>
                    </a:solidFill>
                    <a:latin typeface="Arial"/>
                  </a:rPr>
                  <a:t>: </a:t>
                </a:r>
                <a:r>
                  <a:rPr lang="en-IN" sz="2400">
                    <a:solidFill>
                      <a:srgbClr val="111827"/>
                    </a:solidFill>
                    <a:latin typeface="Cambria Math" panose="02040503050406030204" pitchFamily="18" charset="0"/>
                  </a:rPr>
                  <a:t>$p^n+q^n$</a:t>
                </a:r>
                <a:r>
                  <a:rPr sz="2400" b="0">
                    <a:solidFill>
                      <a:srgbClr val="111827"/>
                    </a:solidFill>
                    <a:latin typeface="Arial"/>
                  </a:rPr>
                  <a:t> is an integer, so </a:t>
                </a:r>
                <a:r>
                  <a:rPr lang="en-IN" sz="2400">
                    <a:solidFill>
                      <a:srgbClr val="111827"/>
                    </a:solidFill>
                    <a:latin typeface="Cambria Math" panose="02040503050406030204" pitchFamily="18" charset="0"/>
                  </a:rPr>
                  <a:t>$[p^n]=p^n+q^n$</a:t>
                </a:r>
                <a:r>
                  <a:rPr sz="2400" b="0">
                    <a:solidFill>
                      <a:srgbClr val="111827"/>
                    </a:solidFill>
                    <a:latin typeface="Arial"/>
                  </a:rPr>
                  <a:t> if </a:t>
                </a:r>
                <a:r>
                  <a:rPr lang="en-IN" sz="2400">
                    <a:solidFill>
                      <a:srgbClr val="111827"/>
                    </a:solidFill>
                    <a:latin typeface="Cambria Math" panose="02040503050406030204" pitchFamily="18" charset="0"/>
                  </a:rPr>
                  <a:t>$q^n\in(-1,0)$</a:t>
                </a:r>
                <a:r>
                  <a:rPr sz="2400" b="0">
                    <a:solidFill>
                      <a:srgbClr val="111827"/>
                    </a:solidFill>
                    <a:latin typeface="Arial"/>
                  </a:rPr>
                  <a:t> and </a:t>
                </a:r>
                <a:r>
                  <a:rPr lang="en-IN" sz="2400">
                    <a:solidFill>
                      <a:srgbClr val="111827"/>
                    </a:solidFill>
                    <a:latin typeface="Cambria Math" panose="02040503050406030204" pitchFamily="18" charset="0"/>
                  </a:rPr>
                  <a:t>$p^n+q^n-1$</a:t>
                </a:r>
                <a:r>
                  <a:rPr sz="2400" b="0">
                    <a:solidFill>
                      <a:srgbClr val="111827"/>
                    </a:solidFill>
                    <a:latin typeface="Arial"/>
                  </a:rPr>
                  <a:t> if </a:t>
                </a:r>
                <a:r>
                  <a:rPr lang="en-IN" sz="2400">
                    <a:solidFill>
                      <a:srgbClr val="111827"/>
                    </a:solidFill>
                    <a:latin typeface="Cambria Math" panose="02040503050406030204" pitchFamily="18" charset="0"/>
                  </a:rPr>
                  <a:t>$q^n\in(0,1)$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$p^n+q^n$</a:t>
                </a:r>
                <a:r>
                  <a:rPr sz="2400" b="0">
                    <a:solidFill>
                      <a:srgbClr val="111827"/>
                    </a:solidFill>
                    <a:latin typeface="Arial"/>
                  </a:rPr>
                  <a:t> satisfies </a:t>
                </a:r>
                <a:r>
                  <a:rPr lang="en-IN" sz="2400">
                    <a:solidFill>
                      <a:srgbClr val="111827"/>
                    </a:solidFill>
                    <a:latin typeface="Cambria Math" panose="02040503050406030204" pitchFamily="18" charset="0"/>
                  </a:rPr>
                  <a:t>$s_n=(p+q)s_{n-1}-pq\,s_{n-2}$</a:t>
                </a:r>
                <a:r>
                  <a:rPr sz="2400" b="0">
                    <a:solidFill>
                      <a:srgbClr val="111827"/>
                    </a:solidFill>
                    <a:latin typeface="Arial"/>
                  </a:rPr>
                  <a:t> (Newton / Lucas sequence): no binomial expansion is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Standard variants: remainder or last digits of </a:t>
                </a:r>
                <a:r>
                  <a:rPr lang="en-IN" sz="2400">
                    <a:solidFill>
                      <a:srgbClr val="111827"/>
                    </a:solidFill>
                    <a:latin typeface="Cambria Math" panose="02040503050406030204" pitchFamily="18" charset="0"/>
                  </a:rPr>
                  <a:t>$[(\sqrt a+b)^n]$</a:t>
                </a:r>
                <a:r>
                  <a:rPr sz="2400" b="0">
                    <a:solidFill>
                      <a:srgbClr val="111827"/>
                    </a:solidFill>
                    <a:latin typeface="Arial"/>
                  </a:rPr>
                  <a:t>; fractional part of </a:t>
                </a:r>
                <a:r>
                  <a:rPr lang="en-IN" sz="2400">
                    <a:solidFill>
                      <a:srgbClr val="111827"/>
                    </a:solidFill>
                    <a:latin typeface="Cambria Math" panose="02040503050406030204" pitchFamily="18" charset="0"/>
                  </a:rPr>
                  <a:t>$(a+\sqrt b)^n$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$p,q=1\pm\sqrt2$</a:t>
                </a:r>
                <a:r>
                  <a:rPr sz="2400" b="0">
                    <a:solidFill>
                      <a:srgbClr val="111827"/>
                    </a:solidFill>
                    <a:latin typeface="Arial"/>
                  </a:rPr>
                  <a:t>: </a:t>
                </a:r>
                <a:r>
                  <a:rPr lang="en-IN" sz="2400">
                    <a:solidFill>
                      <a:srgbClr val="111827"/>
                    </a:solidFill>
                    <a:latin typeface="Cambria Math" panose="02040503050406030204" pitchFamily="18" charset="0"/>
                  </a:rPr>
                  <a:t>$p+q=2$</a:t>
                </a:r>
                <a:r>
                  <a:rPr sz="2400" b="0">
                    <a:solidFill>
                      <a:srgbClr val="111827"/>
                    </a:solidFill>
                    <a:latin typeface="Arial"/>
                  </a:rPr>
                  <a:t>, </a:t>
                </a:r>
                <a:r>
                  <a:rPr lang="en-IN" sz="2400">
                    <a:solidFill>
                      <a:srgbClr val="111827"/>
                    </a:solidFill>
                    <a:latin typeface="Cambria Math" panose="02040503050406030204" pitchFamily="18" charset="0"/>
                  </a:rPr>
                  <a:t>$pq=-1$</a:t>
                </a:r>
                <a:r>
                  <a:rPr sz="2400" b="0">
                    <a:solidFill>
                      <a:srgbClr val="111827"/>
                    </a:solidFill>
                    <a:latin typeface="Arial"/>
                  </a:rPr>
                  <a:t>, </a:t>
                </a:r>
                <a:r>
                  <a:rPr lang="en-IN" sz="2400">
                    <a:solidFill>
                      <a:srgbClr val="111827"/>
                    </a:solidFill>
                    <a:latin typeface="Cambria Math" panose="02040503050406030204" pitchFamily="18" charset="0"/>
                  </a:rPr>
                  <a:t>$s_0=s_1=2$</a:t>
                </a:r>
                <a:r>
                  <a:rPr sz="2400" b="0">
                    <a:solidFill>
                      <a:srgbClr val="111827"/>
                    </a:solidFill>
                    <a:latin typeface="Arial"/>
                  </a:rPr>
                  <a:t>, </a:t>
                </a:r>
                <a:r>
                  <a:rPr lang="en-IN" sz="2400">
                    <a:solidFill>
                      <a:srgbClr val="111827"/>
                    </a:solidFill>
                    <a:latin typeface="Cambria Math" panose="02040503050406030204" pitchFamily="18" charset="0"/>
                  </a:rPr>
                  <a:t>$s_2=2s_1+s_0=6=(1+\sqrt2)^2+(1-\sqrt2)^2$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105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value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46</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51</m:t>
                            </m:r>
                          </m:sup>
                        </m:sSup>
                      </m:num>
                      <m:den>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50</m:t>
                            </m:r>
                          </m:sup>
                        </m:sSup>
                      </m:num>
                      <m:den>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51</m:t>
                            </m:r>
                          </m:sup>
                        </m:sSup>
                      </m:num>
                      <m:den>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50</m:t>
                            </m:r>
                          </m:sup>
                        </m:sSup>
                      </m:num>
                      <m:den>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den>
                    </m:f>
                  </m:oMath>
                </a14:m>
                <a:endParaRPr sz="2400">
                  <a:solidFill>
                    <a:srgbClr val="111827"/>
                  </a:solidFill>
                </a:endParaRPr>
              </a:p>
            </p:txBody>
          </p:sp>
        </mc:Choice>
        <mc:Fallback>
          <p:sp>
            <p:nvSpPr>
              <p:cNvPr id="4" name="Rounded Rectangle 3"/>
              <p:cNvSpPr/>
              <p:nvPr/>
            </p:nvSpPr>
            <p:spPr>
              <a:xfrm>
                <a:off x="731520" y="1280160"/>
                <a:ext cx="10725912" cy="25105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value of </a:t>
                </a:r>
                <a:r>
                  <a:rPr lang="en-IN" sz="2400">
                    <a:solidFill>
                      <a:srgbClr val="111827"/>
                    </a:solidFill>
                    <a:latin typeface="Cambria Math" panose="02040503050406030204" pitchFamily="18" charset="0"/>
                  </a:rPr>
                  <a:t>$\dfrac{1}{1!\,50!}+\dfrac{1}{3!\,48!}+\dfrac{1}{5!\,46!}+\dots+\dfrac{1}{49!\,2!}+\dfrac{1}{51!\,1!}$</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$\dfrac{2^{51}}{51!}$</a:t>
                </a:r>
                <a:r>
                  <a:rPr sz="2400" b="0">
                    <a:solidFill>
                      <a:srgbClr val="111827"/>
                    </a:solidFill>
                    <a:latin typeface="Arial"/>
                  </a:rPr>
                  <a:t>   (B) </a:t>
                </a:r>
                <a:r>
                  <a:rPr lang="en-IN" sz="2400">
                    <a:solidFill>
                      <a:srgbClr val="111827"/>
                    </a:solidFill>
                    <a:latin typeface="Cambria Math" panose="02040503050406030204" pitchFamily="18" charset="0"/>
                  </a:rPr>
                  <a:t>$\dfrac{2^{50}}{51!}$</a:t>
                </a:r>
                <a:r>
                  <a:rPr sz="2400" b="0">
                    <a:solidFill>
                      <a:srgbClr val="111827"/>
                    </a:solidFill>
                    <a:latin typeface="Arial"/>
                  </a:rPr>
                  <a:t>   (C) </a:t>
                </a:r>
                <a:r>
                  <a:rPr lang="en-IN" sz="2400">
                    <a:solidFill>
                      <a:srgbClr val="111827"/>
                    </a:solidFill>
                    <a:latin typeface="Cambria Math" panose="02040503050406030204" pitchFamily="18" charset="0"/>
                  </a:rPr>
                  <a:t>$\dfrac{2^{51}}{50!}$</a:t>
                </a:r>
                <a:r>
                  <a:rPr sz="2400" b="0">
                    <a:solidFill>
                      <a:srgbClr val="111827"/>
                    </a:solidFill>
                    <a:latin typeface="Arial"/>
                  </a:rPr>
                  <a:t>   (D) </a:t>
                </a:r>
                <a:r>
                  <a:rPr lang="en-IN" sz="2400">
                    <a:solidFill>
                      <a:srgbClr val="111827"/>
                    </a:solidFill>
                    <a:latin typeface="Cambria Math" panose="02040503050406030204" pitchFamily="18" charset="0"/>
                  </a:rPr>
                  <a:t>$\dfrac{2^{50}}{50!}$</a:t>
                </a:r>
                <a:endParaRPr sz="2400">
                  <a:solidFill>
                    <a:srgbClr val="111827"/>
                  </a:solidFill>
                </a:endParaRPr>
              </a:p>
            </p:txBody>
          </p:sp>
        </mc:Fallback>
      </mc:AlternateContent>
      <p:sp>
        <p:nvSpPr>
          <p:cNvPr id="5" name="Rectangle 4"/>
          <p:cNvSpPr/>
          <p:nvPr/>
        </p:nvSpPr>
        <p:spPr>
          <a:xfrm>
            <a:off x="731520" y="401929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binomial coefficients of odd rank</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term is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51</m:t>
                        </m:r>
                        <m:r>
                          <m:rPr>
                            <m:sty m:val="p"/>
                          </m:rPr>
                          <a:rPr lang="en-IN" sz="2400">
                            <a:solidFill>
                              <a:srgbClr val="78350F"/>
                            </a:solidFill>
                            <a:latin typeface="Cambria Math" panose="02040503050406030204" pitchFamily="18" charset="0"/>
                          </a:rPr>
                          <m:t>!</m:t>
                        </m:r>
                      </m:den>
                    </m:f>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51</m:t>
                            </m:r>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e>
                    </m:d>
                  </m:oMath>
                </a14:m>
                <a:r>
                  <a:rPr sz="2400" b="0">
                    <a:solidFill>
                      <a:srgbClr val="78350F"/>
                    </a:solidFill>
                    <a:latin typeface="Arial"/>
                  </a:rPr>
                  <a:t>, so the sum is the sum of odd-rank binomial coefficients of </a:t>
                </a:r>
                <a14:m>
                  <m:oMath xmlns:m="http://schemas.openxmlformats.org/officeDocument/2006/math">
                    <m:r>
                      <a:rPr lang="en-IN" sz="2400" i="1">
                        <a:solidFill>
                          <a:srgbClr val="78350F"/>
                        </a:solidFill>
                        <a:latin typeface="Cambria Math" panose="02040503050406030204" pitchFamily="18" charset="0"/>
                      </a:rPr>
                      <m:t>51</m:t>
                    </m:r>
                  </m:oMath>
                </a14:m>
                <a:r>
                  <a:rPr sz="2400" b="0">
                    <a:solidFill>
                      <a:srgbClr val="78350F"/>
                    </a:solidFill>
                    <a:latin typeface="Arial"/>
                  </a:rPr>
                  <a:t>, divided by </a:t>
                </a:r>
                <a14:m>
                  <m:oMath xmlns:m="http://schemas.openxmlformats.org/officeDocument/2006/math">
                    <m:r>
                      <a:rPr lang="en-IN" sz="2400" i="1">
                        <a:solidFill>
                          <a:srgbClr val="78350F"/>
                        </a:solidFill>
                        <a:latin typeface="Cambria Math" panose="02040503050406030204" pitchFamily="18" charset="0"/>
                      </a:rPr>
                      <m:t>51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term is </a:t>
                </a:r>
                <a:r>
                  <a:rPr lang="en-IN" sz="2400">
                    <a:solidFill>
                      <a:srgbClr val="78350F"/>
                    </a:solidFill>
                    <a:latin typeface="Cambria Math" panose="02040503050406030204" pitchFamily="18" charset="0"/>
                  </a:rPr>
                  <a:t>$\frac{1}{51!}\binom{51}{2r-1}$</a:t>
                </a:r>
                <a:r>
                  <a:rPr sz="2400" b="0">
                    <a:solidFill>
                      <a:srgbClr val="78350F"/>
                    </a:solidFill>
                    <a:latin typeface="Arial"/>
                  </a:rPr>
                  <a:t>, so the sum is the sum of odd-rank binomial coefficients of </a:t>
                </a:r>
                <a:r>
                  <a:rPr lang="en-IN" sz="2400">
                    <a:solidFill>
                      <a:srgbClr val="78350F"/>
                    </a:solidFill>
                    <a:latin typeface="Cambria Math" panose="02040503050406030204" pitchFamily="18" charset="0"/>
                  </a:rPr>
                  <a:t>$51$</a:t>
                </a:r>
                <a:r>
                  <a:rPr sz="2400" b="0">
                    <a:solidFill>
                      <a:srgbClr val="78350F"/>
                    </a:solidFill>
                    <a:latin typeface="Arial"/>
                  </a:rPr>
                  <a:t>, divided by </a:t>
                </a:r>
                <a:r>
                  <a:rPr lang="en-IN" sz="2400">
                    <a:solidFill>
                      <a:srgbClr val="78350F"/>
                    </a:solidFill>
                    <a:latin typeface="Cambria Math" panose="02040503050406030204" pitchFamily="18" charset="0"/>
                  </a:rPr>
                  <a:t>$51!$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terms are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 (the denominators' arguments add up to </a:t>
                </a:r>
                <a14:m>
                  <m:oMath xmlns:m="http://schemas.openxmlformats.org/officeDocument/2006/math">
                    <m:r>
                      <a:rPr lang="en-IN" sz="2400" i="1">
                        <a:solidFill>
                          <a:srgbClr val="111827"/>
                        </a:solidFill>
                        <a:latin typeface="Cambria Math" panose="02040503050406030204" pitchFamily="18" charset="0"/>
                      </a:rPr>
                      <m:t>51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terms are </a:t>
                </a:r>
                <a:r>
                  <a:rPr lang="en-IN" sz="2400">
                    <a:solidFill>
                      <a:srgbClr val="111827"/>
                    </a:solidFill>
                    <a:latin typeface="Cambria Math" panose="02040503050406030204" pitchFamily="18" charset="0"/>
                  </a:rPr>
                  <a:t>$\dfrac{1}{(2r-1)!\,(51-(2r-1))!}$</a:t>
                </a:r>
                <a:r>
                  <a:rPr sz="2400" b="0">
                    <a:solidFill>
                      <a:srgbClr val="111827"/>
                    </a:solidFill>
                    <a:latin typeface="Arial"/>
                  </a:rPr>
                  <a:t> for </a:t>
                </a:r>
                <a:r>
                  <a:rPr lang="en-IN" sz="2400">
                    <a:solidFill>
                      <a:srgbClr val="111827"/>
                    </a:solidFill>
                    <a:latin typeface="Cambria Math" panose="02040503050406030204" pitchFamily="18" charset="0"/>
                  </a:rPr>
                  <a:t>$r=1,2,\dots,26$</a:t>
                </a:r>
                <a:r>
                  <a:rPr sz="2400" b="0">
                    <a:solidFill>
                      <a:srgbClr val="111827"/>
                    </a:solidFill>
                    <a:latin typeface="Arial"/>
                  </a:rPr>
                  <a:t> (the denominators' arguments add up to </a:t>
                </a:r>
                <a:r>
                  <a:rPr lang="en-IN" sz="2400">
                    <a:solidFill>
                      <a:srgbClr val="111827"/>
                    </a:solidFill>
                    <a:latin typeface="Cambria Math" panose="02040503050406030204" pitchFamily="18" charset="0"/>
                  </a:rPr>
                  <a:t>$51$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$\dfrac{1}{(2r-1)!\,(51-(2r-1))!}=\dfrac{1}{51!}\binom{51}{2r-1}$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sum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den>
                    </m:f>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m:t>
                                </m:r>
                              </m:num>
                              <m:den>
                                <m:r>
                                  <a:rPr lang="en-IN" sz="2400" i="1">
                                    <a:solidFill>
                                      <a:srgbClr val="111827"/>
                                    </a:solidFill>
                                    <a:latin typeface="Cambria Math" panose="02040503050406030204" pitchFamily="18" charset="0"/>
                                  </a:rPr>
                                  <m:t>51</m:t>
                                </m:r>
                              </m:den>
                            </m:f>
                          </m:e>
                        </m:d>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the odd-rank binomial coefficients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51</m:t>
                        </m:r>
                      </m:sup>
                    </m:sSup>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50</m:t>
                        </m:r>
                      </m:sup>
                    </m:sSup>
                  </m:oMath>
                </a14:m>
                <a:r>
                  <a:rPr sz="2400" b="0">
                    <a:solidFill>
                      <a:srgbClr val="111827"/>
                    </a:solidFill>
                    <a:latin typeface="Arial"/>
                  </a:rPr>
                  <a:t>, so the value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50</m:t>
                            </m:r>
                          </m:sup>
                        </m:sSup>
                      </m:num>
                      <m:den>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sum is </a:t>
                </a:r>
                <a:r>
                  <a:rPr lang="en-IN" sz="2400">
                    <a:solidFill>
                      <a:srgbClr val="111827"/>
                    </a:solidFill>
                    <a:latin typeface="Cambria Math" panose="02040503050406030204" pitchFamily="18" charset="0"/>
                  </a:rPr>
                  <a:t>$\dfrac{1}{51!}\left[\binom{51}{1}+\binom{51}{3}+\dots+\binom{51}{51}\right]$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the odd-rank binomial coefficients of </a:t>
                </a:r>
                <a:r>
                  <a:rPr lang="en-IN" sz="2400">
                    <a:solidFill>
                      <a:srgbClr val="111827"/>
                    </a:solidFill>
                    <a:latin typeface="Cambria Math" panose="02040503050406030204" pitchFamily="18" charset="0"/>
                  </a:rPr>
                  <a:t>$(1+x)^{51}$</a:t>
                </a:r>
                <a:r>
                  <a:rPr sz="2400" b="0">
                    <a:solidFill>
                      <a:srgbClr val="111827"/>
                    </a:solidFill>
                    <a:latin typeface="Arial"/>
                  </a:rPr>
                  <a:t> is </a:t>
                </a:r>
                <a:r>
                  <a:rPr lang="en-IN" sz="2400">
                    <a:solidFill>
                      <a:srgbClr val="111827"/>
                    </a:solidFill>
                    <a:latin typeface="Cambria Math" panose="02040503050406030204" pitchFamily="18" charset="0"/>
                  </a:rPr>
                  <a:t>$2^{50}$</a:t>
                </a:r>
                <a:r>
                  <a:rPr sz="2400" b="0">
                    <a:solidFill>
                      <a:srgbClr val="111827"/>
                    </a:solidFill>
                    <a:latin typeface="Arial"/>
                  </a:rPr>
                  <a:t>, so the value is </a:t>
                </a:r>
                <a:r>
                  <a:rPr lang="en-IN" sz="2400">
                    <a:solidFill>
                      <a:srgbClr val="111827"/>
                    </a:solidFill>
                    <a:latin typeface="Cambria Math" panose="02040503050406030204" pitchFamily="18" charset="0"/>
                  </a:rPr>
                  <a:t>$\dfrac{2^{50}}{51!}$</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sSup>
                          <m:e>
                            <m:r>
                              <a:rPr lang="en-IN" sz="2800" i="1">
                                <a:solidFill>
                                  <a:srgbClr val="15803D"/>
                                </a:solidFill>
                                <a:latin typeface="Cambria Math" panose="02040503050406030204" pitchFamily="18" charset="0"/>
                              </a:rPr>
                              <m:t>2</m:t>
                            </m:r>
                          </m:e>
                          <m:sup>
                            <m:r>
                              <a:rPr lang="en-IN" sz="2800" i="1">
                                <a:solidFill>
                                  <a:srgbClr val="15803D"/>
                                </a:solidFill>
                                <a:latin typeface="Cambria Math" panose="02040503050406030204" pitchFamily="18" charset="0"/>
                              </a:rPr>
                              <m:t>50</m:t>
                            </m:r>
                          </m:sup>
                        </m:sSup>
                      </m:num>
                      <m:den>
                        <m:r>
                          <a:rPr lang="en-IN" sz="2800" i="1">
                            <a:solidFill>
                              <a:srgbClr val="15803D"/>
                            </a:solidFill>
                            <a:latin typeface="Cambria Math" panose="02040503050406030204" pitchFamily="18" charset="0"/>
                          </a:rPr>
                          <m:t>51</m:t>
                        </m:r>
                        <m:r>
                          <m:rPr>
                            <m:sty m:val="p"/>
                          </m:rPr>
                          <a:rPr lang="en-IN" sz="2800">
                            <a:solidFill>
                              <a:srgbClr val="15803D"/>
                            </a:solidFill>
                            <a:latin typeface="Cambria Math" panose="02040503050406030204" pitchFamily="18" charset="0"/>
                          </a:rPr>
                          <m:t>!</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$\dfrac{2^{50}}{51!}$</a:t>
                </a:r>
                <a:endParaRPr sz="2800">
                  <a:solidFill>
                    <a:srgbClr val="15803D"/>
                  </a:solidFill>
                </a:endParaRPr>
              </a:p>
            </p:txBody>
          </p:sp>
        </mc:Fallback>
      </mc:AlternateContent>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Read the sum as a coefficient in the product of exponential series </a:t>
                </a:r>
                <a14:m>
                  <m:oMath xmlns:m="http://schemas.openxmlformats.org/officeDocument/2006/math">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sinh</m:t>
                    </m:r>
                    <m:r>
                      <a:rPr lang="en-IN" sz="2400" i="1">
                        <a:solidFill>
                          <a:srgbClr val="78350F"/>
                        </a:solidFill>
                        <a:latin typeface="Cambria Math" panose="02040503050406030204" pitchFamily="18" charset="0"/>
                      </a:rPr>
                      <m:t>𝑥</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Read the sum as a coefficient in the product of exponential series </a:t>
                </a:r>
                <a:r>
                  <a:rPr lang="en-IN" sz="2400">
                    <a:solidFill>
                      <a:srgbClr val="78350F"/>
                    </a:solidFill>
                    <a:latin typeface="Cambria Math" panose="02040503050406030204" pitchFamily="18" charset="0"/>
                  </a:rPr>
                  <a:t>$e^x\sinh 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sinh</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nor/>
                          </m:rPr>
                          <a:rPr lang="en-IN" sz="2400" i="1">
                            <a:solidFill>
                              <a:srgbClr val="111827"/>
                            </a:solidFill>
                            <a:latin typeface="Cambria Math" panose="02040503050406030204" pitchFamily="18" charset="0"/>
                          </a:rPr>
                          <m:t> 𝑜𝑑𝑑</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𝑗</m:t>
                                </m:r>
                              </m:sup>
                            </m:sSup>
                          </m:num>
                          <m:den>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den>
                        </m:f>
                      </m:e>
                    </m:nary>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den>
                        </m:f>
                      </m:e>
                    </m:nary>
                  </m:oMath>
                </a14:m>
                <a:r>
                  <a:rPr sz="2400" b="0">
                    <a:solidFill>
                      <a:srgbClr val="111827"/>
                    </a:solidFill>
                    <a:latin typeface="Arial"/>
                  </a:rPr>
                  <a:t>, so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51</m:t>
                        </m:r>
                      </m:sup>
                    </m:sSup>
                  </m:oMath>
                </a14:m>
                <a:r>
                  <a:rPr sz="2400" b="0">
                    <a:solidFill>
                      <a:srgbClr val="111827"/>
                    </a:solidFill>
                    <a:latin typeface="Arial"/>
                  </a:rPr>
                  <a:t> in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sinh</m:t>
                    </m:r>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nor/>
                          </m:rPr>
                          <a:rPr lang="en-IN" sz="2400" i="1">
                            <a:solidFill>
                              <a:srgbClr val="111827"/>
                            </a:solidFill>
                            <a:latin typeface="Cambria Math" panose="02040503050406030204" pitchFamily="18" charset="0"/>
                          </a:rPr>
                          <m:t> 𝑜𝑑𝑑</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oMath>
                </a14:m>
                <a:r>
                  <a:rPr sz="2400" b="0">
                    <a:solidFill>
                      <a:srgbClr val="111827"/>
                    </a:solidFill>
                    <a:latin typeface="Arial"/>
                  </a:rPr>
                  <a:t>, which is our sum.</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sinh</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e>
                        </m: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$\sinh x=\sum_{j\text{ odd}}\dfrac{x^j}{j!}$</a:t>
                </a:r>
                <a:r>
                  <a:rPr sz="2400" b="0">
                    <a:solidFill>
                      <a:srgbClr val="111827"/>
                    </a:solidFill>
                    <a:latin typeface="Arial"/>
                  </a:rPr>
                  <a:t> and </a:t>
                </a:r>
                <a:r>
                  <a:rPr lang="en-IN" sz="2400">
                    <a:solidFill>
                      <a:srgbClr val="111827"/>
                    </a:solidFill>
                    <a:latin typeface="Cambria Math" panose="02040503050406030204" pitchFamily="18" charset="0"/>
                  </a:rPr>
                  <a:t>$e^x=\sum_{k\ge0}\dfrac{x^k}{k!}$</a:t>
                </a:r>
                <a:r>
                  <a:rPr sz="2400" b="0">
                    <a:solidFill>
                      <a:srgbClr val="111827"/>
                    </a:solidFill>
                    <a:latin typeface="Arial"/>
                  </a:rPr>
                  <a:t>, so the coefficient of </a:t>
                </a:r>
                <a:r>
                  <a:rPr lang="en-IN" sz="2400">
                    <a:solidFill>
                      <a:srgbClr val="111827"/>
                    </a:solidFill>
                    <a:latin typeface="Cambria Math" panose="02040503050406030204" pitchFamily="18" charset="0"/>
                  </a:rPr>
                  <a:t>$x^{51}$</a:t>
                </a:r>
                <a:r>
                  <a:rPr sz="2400" b="0">
                    <a:solidFill>
                      <a:srgbClr val="111827"/>
                    </a:solidFill>
                    <a:latin typeface="Arial"/>
                  </a:rPr>
                  <a:t> in </a:t>
                </a:r>
                <a:r>
                  <a:rPr lang="en-IN" sz="2400">
                    <a:solidFill>
                      <a:srgbClr val="111827"/>
                    </a:solidFill>
                    <a:latin typeface="Cambria Math" panose="02040503050406030204" pitchFamily="18" charset="0"/>
                  </a:rPr>
                  <a:t>$e^x\sinh x$</a:t>
                </a:r>
                <a:r>
                  <a:rPr sz="2400" b="0">
                    <a:solidFill>
                      <a:srgbClr val="111827"/>
                    </a:solidFill>
                    <a:latin typeface="Arial"/>
                  </a:rPr>
                  <a:t> is </a:t>
                </a:r>
                <a:r>
                  <a:rPr lang="en-IN" sz="2400">
                    <a:solidFill>
                      <a:srgbClr val="111827"/>
                    </a:solidFill>
                    <a:latin typeface="Cambria Math" panose="02040503050406030204" pitchFamily="18" charset="0"/>
                  </a:rPr>
                  <a:t>$\sum_{j\text{ odd}}\dfrac{1}{j!\,(51-j)!}$</a:t>
                </a:r>
                <a:r>
                  <a:rPr sz="2400" b="0">
                    <a:solidFill>
                      <a:srgbClr val="111827"/>
                    </a:solidFill>
                    <a:latin typeface="Arial"/>
                  </a:rPr>
                  <a:t>, which is our sum.</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$e^x\sinh x=\dfrac{e^{x}\left(e^x-e^{-x}\right)}{2}=\dfrac{e^{2x}-1}{2}$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51</m:t>
                        </m:r>
                      </m:sup>
                    </m:sSup>
                  </m:oMath>
                </a14:m>
                <a:r>
                  <a:rPr sz="2400" b="0">
                    <a:solidFill>
                      <a:srgbClr val="111827"/>
                    </a:solidFill>
                    <a:latin typeface="Arial"/>
                  </a:rPr>
                  <a:t> in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51</m:t>
                            </m:r>
                          </m:sup>
                        </m:sSup>
                      </m:num>
                      <m:den>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50</m:t>
                            </m:r>
                          </m:sup>
                        </m:sSup>
                      </m:num>
                      <m:den>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value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50</m:t>
                            </m:r>
                          </m:sup>
                        </m:sSup>
                      </m:num>
                      <m:den>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option (B)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$x^{51}$</a:t>
                </a:r>
                <a:r>
                  <a:rPr sz="2400" b="0">
                    <a:solidFill>
                      <a:srgbClr val="111827"/>
                    </a:solidFill>
                    <a:latin typeface="Arial"/>
                  </a:rPr>
                  <a:t> in </a:t>
                </a:r>
                <a:r>
                  <a:rPr lang="en-IN" sz="2400">
                    <a:solidFill>
                      <a:srgbClr val="111827"/>
                    </a:solidFill>
                    <a:latin typeface="Cambria Math" panose="02040503050406030204" pitchFamily="18" charset="0"/>
                  </a:rPr>
                  <a:t>$\dfrac{e^{2x}-1}{2}$</a:t>
                </a:r>
                <a:r>
                  <a:rPr sz="2400" b="0">
                    <a:solidFill>
                      <a:srgbClr val="111827"/>
                    </a:solidFill>
                    <a:latin typeface="Arial"/>
                  </a:rPr>
                  <a:t> is </a:t>
                </a:r>
                <a:r>
                  <a:rPr lang="en-IN" sz="2400">
                    <a:solidFill>
                      <a:srgbClr val="111827"/>
                    </a:solidFill>
                    <a:latin typeface="Cambria Math" panose="02040503050406030204" pitchFamily="18" charset="0"/>
                  </a:rPr>
                  <a:t>$\dfrac12\cdot\dfrac{2^{51}}{51!}=\dfrac{2^{50}}{51!}$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value is </a:t>
                </a:r>
                <a:r>
                  <a:rPr lang="en-IN" sz="2400">
                    <a:solidFill>
                      <a:srgbClr val="111827"/>
                    </a:solidFill>
                    <a:latin typeface="Cambria Math" panose="02040503050406030204" pitchFamily="18" charset="0"/>
                  </a:rPr>
                  <a:t>$\dfrac{2^{50}}{51!}$</a:t>
                </a:r>
                <a:r>
                  <a:rPr sz="2400" b="0">
                    <a:solidFill>
                      <a:srgbClr val="111827"/>
                    </a:solidFill>
                    <a:latin typeface="Arial"/>
                  </a:rPr>
                  <a:t>, option (B)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sSup>
                          <m:e>
                            <m:r>
                              <a:rPr lang="en-IN" sz="2800" i="1">
                                <a:solidFill>
                                  <a:srgbClr val="15803D"/>
                                </a:solidFill>
                                <a:latin typeface="Cambria Math" panose="02040503050406030204" pitchFamily="18" charset="0"/>
                              </a:rPr>
                              <m:t>2</m:t>
                            </m:r>
                          </m:e>
                          <m:sup>
                            <m:r>
                              <a:rPr lang="en-IN" sz="2800" i="1">
                                <a:solidFill>
                                  <a:srgbClr val="15803D"/>
                                </a:solidFill>
                                <a:latin typeface="Cambria Math" panose="02040503050406030204" pitchFamily="18" charset="0"/>
                              </a:rPr>
                              <m:t>50</m:t>
                            </m:r>
                          </m:sup>
                        </m:sSup>
                      </m:num>
                      <m:den>
                        <m:r>
                          <a:rPr lang="en-IN" sz="2800" i="1">
                            <a:solidFill>
                              <a:srgbClr val="15803D"/>
                            </a:solidFill>
                            <a:latin typeface="Cambria Math" panose="02040503050406030204" pitchFamily="18" charset="0"/>
                          </a:rPr>
                          <m:t>51</m:t>
                        </m:r>
                        <m:r>
                          <m:rPr>
                            <m:sty m:val="p"/>
                          </m:rPr>
                          <a:rPr lang="en-IN" sz="2800">
                            <a:solidFill>
                              <a:srgbClr val="15803D"/>
                            </a:solidFill>
                            <a:latin typeface="Cambria Math" panose="02040503050406030204" pitchFamily="18" charset="0"/>
                          </a:rPr>
                          <m:t>!</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$\dfrac{2^{50}}{51!}$</a:t>
                </a:r>
                <a:endParaRPr sz="2800">
                  <a:solidFill>
                    <a:srgbClr val="15803D"/>
                  </a:solidFill>
                </a:endParaRPr>
              </a:p>
            </p:txBody>
          </p:sp>
        </mc:Fallback>
      </mc:AlternateContent>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0</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Recognition cue: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𝑎</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nor/>
                          </m:rPr>
                          <a:rPr lang="en-IN" sz="2400" i="1">
                            <a:solidFill>
                              <a:srgbClr val="111827"/>
                            </a:solidFill>
                            <a:latin typeface="Cambria Math" panose="02040503050406030204" pitchFamily="18" charset="0"/>
                          </a:rPr>
                          <m:t> 𝑜𝑑𝑑</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and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nor/>
                          </m:rPr>
                          <a:rPr lang="en-IN" sz="2400" i="1">
                            <a:solidFill>
                              <a:srgbClr val="111827"/>
                            </a:solidFill>
                            <a:latin typeface="Cambria Math" panose="02040503050406030204" pitchFamily="18" charset="0"/>
                          </a:rPr>
                          <m:t> 𝑒𝑣𝑒𝑛</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$\binom{n}{1}+\binom n3+\binom n5+\dots=\binom n0+\binom n2+\binom n4+\dots=2^{n-1}$</a:t>
                </a:r>
                <a:r>
                  <a:rPr sz="2400" b="0">
                    <a:solidFill>
                      <a:srgbClr val="111827"/>
                    </a:solidFill>
                    <a:latin typeface="Arial"/>
                  </a:rPr>
                  <a:t> for </a:t>
                </a:r>
                <a:r>
                  <a:rPr lang="en-IN" sz="2400">
                    <a:solidFill>
                      <a:srgbClr val="111827"/>
                    </a:solidFill>
                    <a:latin typeface="Cambria Math" panose="02040503050406030204" pitchFamily="18" charset="0"/>
                  </a:rPr>
                  <a:t>$n\ge1$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Recognition cue: </a:t>
                </a:r>
                <a:r>
                  <a:rPr lang="en-IN" sz="2400">
                    <a:solidFill>
                      <a:srgbClr val="111827"/>
                    </a:solidFill>
                    <a:latin typeface="Cambria Math" panose="02040503050406030204" pitchFamily="18" charset="0"/>
                  </a:rPr>
                  <a:t>$\dfrac{1}{a!\,b!}$</a:t>
                </a:r>
                <a:r>
                  <a:rPr sz="2400" b="0">
                    <a:solidFill>
                      <a:srgbClr val="111827"/>
                    </a:solidFill>
                    <a:latin typeface="Arial"/>
                  </a:rPr>
                  <a:t> with </a:t>
                </a:r>
                <a:r>
                  <a:rPr lang="en-IN" sz="2400">
                    <a:solidFill>
                      <a:srgbClr val="111827"/>
                    </a:solidFill>
                    <a:latin typeface="Cambria Math" panose="02040503050406030204" pitchFamily="18" charset="0"/>
                  </a:rPr>
                  <a:t>$a+b=n$</a:t>
                </a:r>
                <a:r>
                  <a:rPr sz="2400" b="0">
                    <a:solidFill>
                      <a:srgbClr val="111827"/>
                    </a:solidFill>
                    <a:latin typeface="Arial"/>
                  </a:rPr>
                  <a:t> is </a:t>
                </a:r>
                <a:r>
                  <a:rPr lang="en-IN" sz="2400">
                    <a:solidFill>
                      <a:srgbClr val="111827"/>
                    </a:solidFill>
                    <a:latin typeface="Cambria Math" panose="02040503050406030204" pitchFamily="18" charset="0"/>
                  </a:rPr>
                  <a:t>$\dfrac{1}{n!}\binom{n}{a}$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$\sum_{j\text{ odd}}\frac{1}{j!(n-j)!}=\frac{2^{n-1}}{n!}$</a:t>
                </a:r>
                <a:r>
                  <a:rPr sz="2400" b="0">
                    <a:solidFill>
                      <a:srgbClr val="111827"/>
                    </a:solidFill>
                    <a:latin typeface="Arial"/>
                  </a:rPr>
                  <a:t> and </a:t>
                </a:r>
                <a:r>
                  <a:rPr lang="en-IN" sz="2400">
                    <a:solidFill>
                      <a:srgbClr val="111827"/>
                    </a:solidFill>
                    <a:latin typeface="Cambria Math" panose="02040503050406030204" pitchFamily="18" charset="0"/>
                  </a:rPr>
                  <a:t>$\sum_{j\text{ even}}\frac1{j!(n-j)!}=\frac{2^{n-1}}{n!}$</a:t>
                </a:r>
                <a:r>
                  <a:rPr sz="2400" b="0">
                    <a:solidFill>
                      <a:srgbClr val="111827"/>
                    </a:solidFill>
                    <a:latin typeface="Arial"/>
                  </a:rPr>
                  <a:t> for </a:t>
                </a:r>
                <a:r>
                  <a:rPr lang="en-IN" sz="2400">
                    <a:solidFill>
                      <a:srgbClr val="111827"/>
                    </a:solidFill>
                    <a:latin typeface="Cambria Math" panose="02040503050406030204" pitchFamily="18" charset="0"/>
                  </a:rPr>
                  <a:t>$n\ge1$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$n=3$</a:t>
                </a:r>
                <a:r>
                  <a:rPr sz="2400" b="0">
                    <a:solidFill>
                      <a:srgbClr val="111827"/>
                    </a:solidFill>
                    <a:latin typeface="Arial"/>
                  </a:rPr>
                  <a:t>: </a:t>
                </a:r>
                <a:r>
                  <a:rPr lang="en-IN" sz="2400">
                    <a:solidFill>
                      <a:srgbClr val="111827"/>
                    </a:solidFill>
                    <a:latin typeface="Cambria Math" panose="02040503050406030204" pitchFamily="18" charset="0"/>
                  </a:rPr>
                  <a:t>$\frac{1}{1!2!}+\frac{1}{3!0!}=\frac12+\frac16=\frac23=\frac{2^2}{3!}$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826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m:rPr>
                            <m:sty m:val="p"/>
                          </m:rPr>
                          <a:rPr lang="en-IN" sz="2400">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𝑒</m:t>
                        </m:r>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𝑒</m:t>
                        </m:r>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endParaRPr sz="2400">
                  <a:solidFill>
                    <a:srgbClr val="111827"/>
                  </a:solidFill>
                </a:endParaRPr>
              </a:p>
            </p:txBody>
          </p:sp>
        </mc:Choice>
        <mc:Fallback>
          <p:sp>
            <p:nvSpPr>
              <p:cNvPr id="4" name="Rounded Rectangle 3"/>
              <p:cNvSpPr/>
              <p:nvPr/>
            </p:nvSpPr>
            <p:spPr>
              <a:xfrm>
                <a:off x="731520" y="1280160"/>
                <a:ext cx="10725912" cy="31826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a:t>
                </a:r>
                <a:r>
                  <a:rPr lang="en-IN" sz="2400">
                    <a:solidFill>
                      <a:srgbClr val="111827"/>
                    </a:solidFill>
                    <a:latin typeface="Cambria Math" panose="02040503050406030204" pitchFamily="18" charset="0"/>
                  </a:rPr>
                  <a:t>$\sum_{n=1}^{\infty}\dfrac{2n^2+3n+4}{(2n)!}$</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$\dfrac{13e}{4}+\dfrac{5}{4e}$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$\dfrac{13e}{4}+\dfrac{5}{4e}-4$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$\dfrac{11e}{2}+\dfrac{7}{2e}$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$\dfrac{11e}{2}+\dfrac{7}{2e}-4$</a:t>
                </a:r>
                <a:endParaRPr sz="2400">
                  <a:solidFill>
                    <a:srgbClr val="111827"/>
                  </a:solidFill>
                </a:endParaRP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Exponential series (sum of series with factorial denominators)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r>
                <a14:m>
                  <m:oMath xmlns:m="http://schemas.openxmlformats.org/officeDocument/2006/math">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so that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cancels against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leaving </a:t>
                </a:r>
                <a14:m>
                  <m:oMath xmlns:m="http://schemas.openxmlformats.org/officeDocument/2006/math">
                    <m:r>
                      <m:rPr>
                        <m:sty m:val="p"/>
                      </m:rPr>
                      <a:rPr lang="en-IN" sz="2400">
                        <a:solidFill>
                          <a:srgbClr val="78350F"/>
                        </a:solidFill>
                        <a:latin typeface="Cambria Math" panose="02040503050406030204" pitchFamily="18" charset="0"/>
                      </a:rPr>
                      <m:t>cosh</m:t>
                    </m:r>
                    <m:r>
                      <a:rPr lang="en-IN" sz="2400" i="1">
                        <a:solidFill>
                          <a:srgbClr val="78350F"/>
                        </a:solidFill>
                        <a:latin typeface="Cambria Math" panose="02040503050406030204" pitchFamily="18" charset="0"/>
                      </a:rPr>
                      <m:t>1</m:t>
                    </m:r>
                  </m:oMath>
                </a14:m>
                <a:r>
                  <a:rPr sz="2400" b="0">
                    <a:solidFill>
                      <a:srgbClr val="78350F"/>
                    </a:solidFill>
                    <a:latin typeface="Arial"/>
                  </a:rPr>
                  <a:t>, </a:t>
                </a:r>
                <a14:m>
                  <m:oMath xmlns:m="http://schemas.openxmlformats.org/officeDocument/2006/math">
                    <m:r>
                      <m:rPr>
                        <m:sty m:val="p"/>
                      </m:rPr>
                      <a:rPr lang="en-IN" sz="2400">
                        <a:solidFill>
                          <a:srgbClr val="78350F"/>
                        </a:solidFill>
                        <a:latin typeface="Cambria Math" panose="02040503050406030204" pitchFamily="18" charset="0"/>
                      </a:rPr>
                      <m:t>sinh</m:t>
                    </m:r>
                    <m:r>
                      <a:rPr lang="en-IN" sz="2400" i="1">
                        <a:solidFill>
                          <a:srgbClr val="78350F"/>
                        </a:solidFill>
                        <a:latin typeface="Cambria Math" panose="02040503050406030204" pitchFamily="18" charset="0"/>
                      </a:rPr>
                      <m:t>1</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cosh</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series.</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r>
                <a:r>
                  <a:rPr lang="en-IN" sz="2400">
                    <a:solidFill>
                      <a:srgbClr val="78350F"/>
                    </a:solidFill>
                    <a:latin typeface="Cambria Math" panose="02040503050406030204" pitchFamily="18" charset="0"/>
                  </a:rPr>
                  <a:t>$2n^2+3n+4$</a:t>
                </a:r>
                <a:r>
                  <a:rPr sz="2400" b="0">
                    <a:solidFill>
                      <a:srgbClr val="78350F"/>
                    </a:solidFill>
                    <a:latin typeface="Arial"/>
                  </a:rPr>
                  <a:t> so that </a:t>
                </a:r>
                <a:r>
                  <a:rPr lang="en-IN" sz="2400">
                    <a:solidFill>
                      <a:srgbClr val="78350F"/>
                    </a:solidFill>
                    <a:latin typeface="Cambria Math" panose="02040503050406030204" pitchFamily="18" charset="0"/>
                  </a:rPr>
                  <a:t>$2n(2n-1)$</a:t>
                </a:r>
                <a:r>
                  <a:rPr sz="2400" b="0">
                    <a:solidFill>
                      <a:srgbClr val="78350F"/>
                    </a:solidFill>
                    <a:latin typeface="Arial"/>
                  </a:rPr>
                  <a:t> cancels against </a:t>
                </a:r>
                <a:r>
                  <a:rPr lang="en-IN" sz="2400">
                    <a:solidFill>
                      <a:srgbClr val="78350F"/>
                    </a:solidFill>
                    <a:latin typeface="Cambria Math" panose="02040503050406030204" pitchFamily="18" charset="0"/>
                  </a:rPr>
                  <a:t>$(2n)!$</a:t>
                </a:r>
                <a:r>
                  <a:rPr sz="2400" b="0">
                    <a:solidFill>
                      <a:srgbClr val="78350F"/>
                    </a:solidFill>
                    <a:latin typeface="Arial"/>
                  </a:rPr>
                  <a:t>, leaving </a:t>
                </a:r>
                <a:r>
                  <a:rPr lang="en-IN" sz="2400">
                    <a:solidFill>
                      <a:srgbClr val="78350F"/>
                    </a:solidFill>
                    <a:latin typeface="Cambria Math" panose="02040503050406030204" pitchFamily="18" charset="0"/>
                  </a:rPr>
                  <a:t>$\cosh1$</a:t>
                </a:r>
                <a:r>
                  <a:rPr sz="2400" b="0">
                    <a:solidFill>
                      <a:srgbClr val="78350F"/>
                    </a:solidFill>
                    <a:latin typeface="Arial"/>
                  </a:rPr>
                  <a:t>, </a:t>
                </a:r>
                <a:r>
                  <a:rPr lang="en-IN" sz="2400">
                    <a:solidFill>
                      <a:srgbClr val="78350F"/>
                    </a:solidFill>
                    <a:latin typeface="Cambria Math" panose="02040503050406030204" pitchFamily="18" charset="0"/>
                  </a:rPr>
                  <a:t>$\sinh1$</a:t>
                </a:r>
                <a:r>
                  <a:rPr sz="2400" b="0">
                    <a:solidFill>
                      <a:srgbClr val="78350F"/>
                    </a:solidFill>
                    <a:latin typeface="Arial"/>
                  </a:rPr>
                  <a:t> and </a:t>
                </a:r>
                <a:r>
                  <a:rPr lang="en-IN" sz="2400">
                    <a:solidFill>
                      <a:srgbClr val="78350F"/>
                    </a:solidFill>
                    <a:latin typeface="Cambria Math" panose="02040503050406030204" pitchFamily="18" charset="0"/>
                  </a:rPr>
                  <a:t>$\cosh 1-1$</a:t>
                </a:r>
                <a:r>
                  <a:rPr sz="2400" b="0">
                    <a:solidFill>
                      <a:srgbClr val="78350F"/>
                    </a:solidFill>
                    <a:latin typeface="Arial"/>
                  </a:rPr>
                  <a:t> series.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we have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$4n^2+6n+8=2n(2n-1)+8n+8$</a:t>
                </a:r>
                <a:r>
                  <a:rPr sz="2400" b="0">
                    <a:solidFill>
                      <a:srgbClr val="111827"/>
                    </a:solidFill>
                    <a:latin typeface="Arial"/>
                  </a:rPr>
                  <a:t>, we have </a:t>
                </a:r>
                <a:r>
                  <a:rPr lang="en-IN" sz="2400">
                    <a:solidFill>
                      <a:srgbClr val="111827"/>
                    </a:solidFill>
                    <a:latin typeface="Cambria Math" panose="02040503050406030204" pitchFamily="18" charset="0"/>
                  </a:rPr>
                  <a:t>$2n^2+3n+4=\dfrac12\left[2n(2n-1)+8n+8\right]$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d>
                      </m:e>
                    </m:nary>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$\sum_{n\ge1}\dfrac{2n^2+3n+4}{(2n)!}=\dfrac12\sum_{n\ge1}\left[\dfrac{1}{(2n-2)!}+\dfrac{4}{(2n-1)!}+\dfrac{8}{(2n)!}\right]$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$\sum_{n\ge1}\dfrac{1}{(2n-2)!}=1+\dfrac1{2!}+\dfrac1{4!}+\dots=\dfrac{e+e^{-1}}{2}$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$\sum_{n\ge1}\dfrac{1}{(2n-1)!}=1+\dfrac1{3!}+\dots=\dfrac{e-e^{-1}}{2}$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$\sum_{n\ge1}\dfrac{1}{(2n)!}=\dfrac{e+e^{-1}}{2}-1$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is </a:t>
                </a:r>
                <a:r>
                  <a:rPr lang="en-IN" sz="2400">
                    <a:solidFill>
                      <a:srgbClr val="111827"/>
                    </a:solidFill>
                    <a:latin typeface="Cambria Math" panose="02040503050406030204" pitchFamily="18" charset="0"/>
                  </a:rPr>
                  <a:t>$\dfrac12\left[\dfrac{e+e^{-1}}{2}+4\cdot\dfrac{e-e^{-1}}{2}+8\left(\dfrac{e+e^{-1}}{2}-1\right)\right]=\dfrac14\left(13e+5e^{-1}-16\right)$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$=\dfrac{13e}{4}+\dfrac{5}{4e}-4$</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13</m:t>
                        </m:r>
                        <m:r>
                          <a:rPr lang="en-IN" sz="2800" i="1">
                            <a:solidFill>
                              <a:srgbClr val="15803D"/>
                            </a:solidFill>
                            <a:latin typeface="Cambria Math" panose="02040503050406030204" pitchFamily="18" charset="0"/>
                          </a:rPr>
                          <m:t>𝑒</m:t>
                        </m:r>
                      </m:num>
                      <m:den>
                        <m:r>
                          <a:rPr lang="en-IN" sz="2800" i="1">
                            <a:solidFill>
                              <a:srgbClr val="15803D"/>
                            </a:solidFill>
                            <a:latin typeface="Cambria Math" panose="02040503050406030204" pitchFamily="18" charset="0"/>
                          </a:rPr>
                          <m:t>4</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m:t>
                        </m:r>
                      </m:num>
                      <m:den>
                        <m:r>
                          <a:rPr lang="en-IN" sz="2800" i="1">
                            <a:solidFill>
                              <a:srgbClr val="15803D"/>
                            </a:solidFill>
                            <a:latin typeface="Cambria Math" panose="02040503050406030204" pitchFamily="18" charset="0"/>
                          </a:rPr>
                          <m:t>4</m:t>
                        </m:r>
                        <m:r>
                          <a:rPr lang="en-IN" sz="2800" i="1">
                            <a:solidFill>
                              <a:srgbClr val="15803D"/>
                            </a:solidFill>
                            <a:latin typeface="Cambria Math" panose="02040503050406030204" pitchFamily="18" charset="0"/>
                          </a:rPr>
                          <m:t>𝑒</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4</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$\dfrac{13e}{4}+\dfrac{5}{4e}-4$</a:t>
                </a:r>
                <a:endParaRPr sz="2800">
                  <a:solidFill>
                    <a:srgbClr val="15803D"/>
                  </a:solidFill>
                </a:endParaRP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Differentiate the generating function </a:t>
                </a:r>
                <a14:m>
                  <m:oMath xmlns:m="http://schemas.openxmlformats.org/officeDocument/2006/math">
                    <m:r>
                      <m:rPr>
                        <m:sty m:val="p"/>
                      </m:rPr>
                      <a:rPr lang="en-IN" sz="2400">
                        <a:solidFill>
                          <a:srgbClr val="78350F"/>
                        </a:solidFill>
                        <a:latin typeface="Cambria Math" panose="02040503050406030204" pitchFamily="18" charset="0"/>
                      </a:rPr>
                      <m:t>cosh</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sup>
                        </m:sSup>
                      </m:num>
                      <m:den>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to produce the factors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Differentiate the generating function </a:t>
                </a:r>
                <a:r>
                  <a:rPr lang="en-IN" sz="2400">
                    <a:solidFill>
                      <a:srgbClr val="78350F"/>
                    </a:solidFill>
                    <a:latin typeface="Cambria Math" panose="02040503050406030204" pitchFamily="18" charset="0"/>
                  </a:rPr>
                  <a:t>$\cosh x=\sum\frac{x^{2n}}{(2n)!}$</a:t>
                </a:r>
                <a:r>
                  <a:rPr sz="2400" b="0">
                    <a:solidFill>
                      <a:srgbClr val="78350F"/>
                    </a:solidFill>
                    <a:latin typeface="Arial"/>
                  </a:rPr>
                  <a:t> to produce the factors </a:t>
                </a:r>
                <a:r>
                  <a:rPr lang="en-IN" sz="2400">
                    <a:solidFill>
                      <a:srgbClr val="78350F"/>
                    </a:solidFill>
                    <a:latin typeface="Cambria Math" panose="02040503050406030204" pitchFamily="18" charset="0"/>
                  </a:rPr>
                  <a:t>$n$</a:t>
                </a:r>
                <a:r>
                  <a:rPr sz="2400" b="0">
                    <a:solidFill>
                      <a:srgbClr val="78350F"/>
                    </a:solidFill>
                    <a:latin typeface="Arial"/>
                  </a:rPr>
                  <a:t> and </a:t>
                </a:r>
                <a:r>
                  <a:rPr lang="en-IN" sz="2400">
                    <a:solidFill>
                      <a:srgbClr val="78350F"/>
                    </a:solidFill>
                    <a:latin typeface="Cambria Math" panose="02040503050406030204" pitchFamily="18" charset="0"/>
                  </a:rPr>
                  <a:t>$n^2$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cosh</m:t>
                    </m:r>
                    <m:r>
                      <a:rPr lang="en-IN" sz="2400" i="1">
                        <a:solidFill>
                          <a:srgbClr val="111827"/>
                        </a:solidFill>
                        <a:latin typeface="Cambria Math" panose="02040503050406030204" pitchFamily="18" charset="0"/>
                      </a:rPr>
                      <m:t>𝑥</m:t>
                    </m:r>
                  </m:oMath>
                </a14:m>
                <a:r>
                  <a:rPr sz="2400" b="0">
                    <a:solidFill>
                      <a:srgbClr val="111827"/>
                    </a:solidFill>
                    <a:latin typeface="Arial"/>
                  </a:rPr>
                  <a:t>. The operator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multiplies the term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p>
                    </m:sSup>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cosh</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sinh</m:t>
                    </m:r>
                    <m:r>
                      <a:rPr lang="en-IN" sz="2400" i="1">
                        <a:solidFill>
                          <a:srgbClr val="111827"/>
                        </a:solidFill>
                        <a:latin typeface="Cambria Math" panose="02040503050406030204" pitchFamily="18" charset="0"/>
                      </a:rPr>
                      <m:t>𝑥</m:t>
                    </m:r>
                  </m:oMath>
                </a14:m>
                <a:r>
                  <a:rPr sz="2400" b="0">
                    <a:solidFill>
                      <a:srgbClr val="111827"/>
                    </a:solidFill>
                    <a:latin typeface="Arial"/>
                  </a:rPr>
                  <a:t>, which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sinh</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sinh</m:t>
                        </m:r>
                        <m:r>
                          <a:rPr lang="en-IN" sz="2400" i="1">
                            <a:solidFill>
                              <a:srgbClr val="111827"/>
                            </a:solidFill>
                            <a:latin typeface="Cambria Math" panose="02040503050406030204" pitchFamily="18" charset="0"/>
                          </a:rPr>
                          <m:t>𝑥</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sinh</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cosh</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this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sinh</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cosh</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$f(x)=\sum_{n\ge0}\dfrac{x^{2n}}{(2n)!}=\cosh x$</a:t>
                </a:r>
                <a:r>
                  <a:rPr sz="2400" b="0">
                    <a:solidFill>
                      <a:srgbClr val="111827"/>
                    </a:solidFill>
                    <a:latin typeface="Arial"/>
                  </a:rPr>
                  <a:t>. The operator </a:t>
                </a:r>
                <a:r>
                  <a:rPr lang="en-IN" sz="2400">
                    <a:solidFill>
                      <a:srgbClr val="111827"/>
                    </a:solidFill>
                    <a:latin typeface="Cambria Math" panose="02040503050406030204" pitchFamily="18" charset="0"/>
                  </a:rPr>
                  <a:t>$\theta=\frac x2\frac{d}{dx}$</a:t>
                </a:r>
                <a:r>
                  <a:rPr sz="2400" b="0">
                    <a:solidFill>
                      <a:srgbClr val="111827"/>
                    </a:solidFill>
                    <a:latin typeface="Arial"/>
                  </a:rPr>
                  <a:t> multiplies the term </a:t>
                </a:r>
                <a:r>
                  <a:rPr lang="en-IN" sz="2400">
                    <a:solidFill>
                      <a:srgbClr val="111827"/>
                    </a:solidFill>
                    <a:latin typeface="Cambria Math" panose="02040503050406030204" pitchFamily="18" charset="0"/>
                  </a:rPr>
                  <a:t>$x^{2n}$</a:t>
                </a:r>
                <a:r>
                  <a:rPr sz="2400" b="0">
                    <a:solidFill>
                      <a:srgbClr val="111827"/>
                    </a:solidFill>
                    <a:latin typeface="Arial"/>
                  </a:rPr>
                  <a:t> by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n\frac{x^{2n}}{(2n)!}=\theta\cosh x=\frac x2\sinh x$</a:t>
                </a:r>
                <a:r>
                  <a:rPr sz="2400" b="0">
                    <a:solidFill>
                      <a:srgbClr val="111827"/>
                    </a:solidFill>
                    <a:latin typeface="Arial"/>
                  </a:rPr>
                  <a:t>, which at </a:t>
                </a:r>
                <a:r>
                  <a:rPr lang="en-IN" sz="2400">
                    <a:solidFill>
                      <a:srgbClr val="111827"/>
                    </a:solidFill>
                    <a:latin typeface="Cambria Math" panose="02040503050406030204" pitchFamily="18" charset="0"/>
                  </a:rPr>
                  <a:t>$x=1$</a:t>
                </a:r>
                <a:r>
                  <a:rPr sz="2400" b="0">
                    <a:solidFill>
                      <a:srgbClr val="111827"/>
                    </a:solidFill>
                    <a:latin typeface="Arial"/>
                  </a:rPr>
                  <a:t> is </a:t>
                </a:r>
                <a:r>
                  <a:rPr lang="en-IN" sz="2400">
                    <a:solidFill>
                      <a:srgbClr val="111827"/>
                    </a:solidFill>
                    <a:latin typeface="Cambria Math" panose="02040503050406030204" pitchFamily="18" charset="0"/>
                  </a:rPr>
                  <a:t>$\frac{\sinh1}{2}$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n^2\frac{x^{2n}}{(2n)!}=\theta\left(\frac x2\sinh x\right)=\frac x2\left[\frac{\sinh x}{2}+\frac{x\cosh x}{2}\right]$</a:t>
                </a:r>
                <a:r>
                  <a:rPr sz="2400" b="0">
                    <a:solidFill>
                      <a:srgbClr val="111827"/>
                    </a:solidFill>
                    <a:latin typeface="Arial"/>
                  </a:rPr>
                  <a:t>; at </a:t>
                </a:r>
                <a:r>
                  <a:rPr lang="en-IN" sz="2400">
                    <a:solidFill>
                      <a:srgbClr val="111827"/>
                    </a:solidFill>
                    <a:latin typeface="Cambria Math" panose="02040503050406030204" pitchFamily="18" charset="0"/>
                  </a:rPr>
                  <a:t>$x=1$</a:t>
                </a:r>
                <a:r>
                  <a:rPr sz="2400" b="0">
                    <a:solidFill>
                      <a:srgbClr val="111827"/>
                    </a:solidFill>
                    <a:latin typeface="Arial"/>
                  </a:rPr>
                  <a:t> this is </a:t>
                </a:r>
                <a:r>
                  <a:rPr lang="en-IN" sz="2400">
                    <a:solidFill>
                      <a:srgbClr val="111827"/>
                    </a:solidFill>
                    <a:latin typeface="Cambria Math" panose="02040503050406030204" pitchFamily="18" charset="0"/>
                  </a:rPr>
                  <a:t>$\frac{\sinh1+\cosh1}{4}=\frac e4$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cosh</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terms of the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sums are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sinh</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cosh</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option (B)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$\sum_{n\ge1}\frac1{(2n)!}=\cosh1-1$</a:t>
                </a:r>
                <a:r>
                  <a:rPr sz="2400" b="0">
                    <a:solidFill>
                      <a:srgbClr val="111827"/>
                    </a:solidFill>
                    <a:latin typeface="Arial"/>
                  </a:rPr>
                  <a:t> (the </a:t>
                </a:r>
                <a:r>
                  <a:rPr lang="en-IN" sz="2400">
                    <a:solidFill>
                      <a:srgbClr val="111827"/>
                    </a:solidFill>
                    <a:latin typeface="Cambria Math" panose="02040503050406030204" pitchFamily="18" charset="0"/>
                  </a:rPr>
                  <a:t>$n=0$</a:t>
                </a:r>
                <a:r>
                  <a:rPr sz="2400" b="0">
                    <a:solidFill>
                      <a:srgbClr val="111827"/>
                    </a:solidFill>
                    <a:latin typeface="Arial"/>
                  </a:rPr>
                  <a:t> terms of the </a:t>
                </a:r>
                <a:r>
                  <a:rPr lang="en-IN" sz="2400">
                    <a:solidFill>
                      <a:srgbClr val="111827"/>
                    </a:solidFill>
                    <a:latin typeface="Cambria Math" panose="02040503050406030204" pitchFamily="18" charset="0"/>
                  </a:rPr>
                  <a:t>$n$</a:t>
                </a:r>
                <a:r>
                  <a:rPr sz="2400" b="0">
                    <a:solidFill>
                      <a:srgbClr val="111827"/>
                    </a:solidFill>
                    <a:latin typeface="Arial"/>
                  </a:rPr>
                  <a:t> and </a:t>
                </a:r>
                <a:r>
                  <a:rPr lang="en-IN" sz="2400">
                    <a:solidFill>
                      <a:srgbClr val="111827"/>
                    </a:solidFill>
                    <a:latin typeface="Cambria Math" panose="02040503050406030204" pitchFamily="18" charset="0"/>
                  </a:rPr>
                  <a:t>$n^2$</a:t>
                </a:r>
                <a:r>
                  <a:rPr sz="2400" b="0">
                    <a:solidFill>
                      <a:srgbClr val="111827"/>
                    </a:solidFill>
                    <a:latin typeface="Arial"/>
                  </a:rPr>
                  <a:t> sums are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$=2\cdot\frac e4+3\cdot\frac{\sinh1}{2}+4(\cosh1-1)=\frac e2+\frac34\left(e-\frac1e\right)+2\left(e+\frac1e\right)-4$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$=\frac{13e}{4}+\frac{5}{4e}-4$</a:t>
                </a:r>
                <a:r>
                  <a:rPr sz="2400" b="0">
                    <a:solidFill>
                      <a:srgbClr val="111827"/>
                    </a:solidFill>
                    <a:latin typeface="Arial"/>
                  </a:rPr>
                  <a:t>, option (B)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13</m:t>
                        </m:r>
                        <m:r>
                          <a:rPr lang="en-IN" sz="2800" i="1">
                            <a:solidFill>
                              <a:srgbClr val="15803D"/>
                            </a:solidFill>
                            <a:latin typeface="Cambria Math" panose="02040503050406030204" pitchFamily="18" charset="0"/>
                          </a:rPr>
                          <m:t>𝑒</m:t>
                        </m:r>
                      </m:num>
                      <m:den>
                        <m:r>
                          <a:rPr lang="en-IN" sz="2800" i="1">
                            <a:solidFill>
                              <a:srgbClr val="15803D"/>
                            </a:solidFill>
                            <a:latin typeface="Cambria Math" panose="02040503050406030204" pitchFamily="18" charset="0"/>
                          </a:rPr>
                          <m:t>4</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m:t>
                        </m:r>
                      </m:num>
                      <m:den>
                        <m:r>
                          <a:rPr lang="en-IN" sz="2800" i="1">
                            <a:solidFill>
                              <a:srgbClr val="15803D"/>
                            </a:solidFill>
                            <a:latin typeface="Cambria Math" panose="02040503050406030204" pitchFamily="18" charset="0"/>
                          </a:rPr>
                          <m:t>4</m:t>
                        </m:r>
                        <m:r>
                          <a:rPr lang="en-IN" sz="2800" i="1">
                            <a:solidFill>
                              <a:srgbClr val="15803D"/>
                            </a:solidFill>
                            <a:latin typeface="Cambria Math" panose="02040503050406030204" pitchFamily="18" charset="0"/>
                          </a:rPr>
                          <m:t>𝑒</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4</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$\dfrac{13e}{4}+\dfrac{5}{4e}-4$</a:t>
                </a:r>
                <a:endParaRPr sz="2800">
                  <a:solidFill>
                    <a:srgbClr val="15803D"/>
                  </a:solidFill>
                </a:endParaRP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cosh</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sinh</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the numerator in falling factorials of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cancels two factors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giving a shifted series.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Operator view: </a:t>
                </a:r>
                <a14:m>
                  <m:oMath xmlns:m="http://schemas.openxmlformats.org/officeDocument/2006/math">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multiplies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so polynomial-in-</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numerators come from differentiating the base series.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numerically: the first three terms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24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34</m:t>
                        </m:r>
                      </m:num>
                      <m:den>
                        <m:r>
                          <a:rPr lang="en-IN" sz="2400" i="1">
                            <a:solidFill>
                              <a:srgbClr val="111827"/>
                            </a:solidFill>
                            <a:latin typeface="Cambria Math" panose="02040503050406030204" pitchFamily="18" charset="0"/>
                          </a:rPr>
                          <m:t>720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5.297</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5.295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$\sum_{n\ge0}\frac{1}{(2n)!}=\cosh1=\frac{e+e^{-1}}{2}$</a:t>
                </a:r>
                <a:r>
                  <a:rPr sz="2400" b="0">
                    <a:solidFill>
                      <a:srgbClr val="111827"/>
                    </a:solidFill>
                    <a:latin typeface="Arial"/>
                  </a:rPr>
                  <a:t> and </a:t>
                </a:r>
                <a:r>
                  <a:rPr lang="en-IN" sz="2400">
                    <a:solidFill>
                      <a:srgbClr val="111827"/>
                    </a:solidFill>
                    <a:latin typeface="Cambria Math" panose="02040503050406030204" pitchFamily="18" charset="0"/>
                  </a:rPr>
                  <a:t>$\sum_{n\ge0}\frac{1}{(2n+1)!}=\sinh1=\frac{e-e^{-1}}{2}$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the numerator in falling factorials of </a:t>
                </a:r>
                <a:r>
                  <a:rPr lang="en-IN" sz="2400">
                    <a:solidFill>
                      <a:srgbClr val="111827"/>
                    </a:solidFill>
                    <a:latin typeface="Cambria Math" panose="02040503050406030204" pitchFamily="18" charset="0"/>
                  </a:rPr>
                  <a:t>$2n$</a:t>
                </a:r>
                <a:r>
                  <a:rPr sz="2400" b="0">
                    <a:solidFill>
                      <a:srgbClr val="111827"/>
                    </a:solidFill>
                    <a:latin typeface="Arial"/>
                  </a:rPr>
                  <a:t>: </a:t>
                </a:r>
                <a:r>
                  <a:rPr lang="en-IN" sz="2400">
                    <a:solidFill>
                      <a:srgbClr val="111827"/>
                    </a:solidFill>
                    <a:latin typeface="Cambria Math" panose="02040503050406030204" pitchFamily="18" charset="0"/>
                  </a:rPr>
                  <a:t>$2n(2n-1)$</a:t>
                </a:r>
                <a:r>
                  <a:rPr sz="2400" b="0">
                    <a:solidFill>
                      <a:srgbClr val="111827"/>
                    </a:solidFill>
                    <a:latin typeface="Arial"/>
                  </a:rPr>
                  <a:t> cancels two factors of </a:t>
                </a:r>
                <a:r>
                  <a:rPr lang="en-IN" sz="2400">
                    <a:solidFill>
                      <a:srgbClr val="111827"/>
                    </a:solidFill>
                    <a:latin typeface="Cambria Math" panose="02040503050406030204" pitchFamily="18" charset="0"/>
                  </a:rPr>
                  <a:t>$(2n)!$</a:t>
                </a:r>
                <a:r>
                  <a:rPr sz="2400" b="0">
                    <a:solidFill>
                      <a:srgbClr val="111827"/>
                    </a:solidFill>
                    <a:latin typeface="Arial"/>
                  </a:rPr>
                  <a:t>, giving a shifted series.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Operator view: </a:t>
                </a:r>
                <a:r>
                  <a:rPr lang="en-IN" sz="2400">
                    <a:solidFill>
                      <a:srgbClr val="111827"/>
                    </a:solidFill>
                    <a:latin typeface="Cambria Math" panose="02040503050406030204" pitchFamily="18" charset="0"/>
                  </a:rPr>
                  <a:t>$x\frac{d}{dx}$</a:t>
                </a:r>
                <a:r>
                  <a:rPr sz="2400" b="0">
                    <a:solidFill>
                      <a:srgbClr val="111827"/>
                    </a:solidFill>
                    <a:latin typeface="Arial"/>
                  </a:rPr>
                  <a:t> multiplies the coefficient of </a:t>
                </a:r>
                <a:r>
                  <a:rPr lang="en-IN" sz="2400">
                    <a:solidFill>
                      <a:srgbClr val="111827"/>
                    </a:solidFill>
                    <a:latin typeface="Cambria Math" panose="02040503050406030204" pitchFamily="18" charset="0"/>
                  </a:rPr>
                  <a:t>$x^k$</a:t>
                </a:r>
                <a:r>
                  <a:rPr sz="2400" b="0">
                    <a:solidFill>
                      <a:srgbClr val="111827"/>
                    </a:solidFill>
                    <a:latin typeface="Arial"/>
                  </a:rPr>
                  <a:t> by </a:t>
                </a:r>
                <a:r>
                  <a:rPr lang="en-IN" sz="2400">
                    <a:solidFill>
                      <a:srgbClr val="111827"/>
                    </a:solidFill>
                    <a:latin typeface="Cambria Math" panose="02040503050406030204" pitchFamily="18" charset="0"/>
                  </a:rPr>
                  <a:t>$k$</a:t>
                </a:r>
                <a:r>
                  <a:rPr sz="2400" b="0">
                    <a:solidFill>
                      <a:srgbClr val="111827"/>
                    </a:solidFill>
                    <a:latin typeface="Arial"/>
                  </a:rPr>
                  <a:t>, so polynomial-in-</a:t>
                </a:r>
                <a:r>
                  <a:rPr lang="en-IN" sz="2400">
                    <a:solidFill>
                      <a:srgbClr val="111827"/>
                    </a:solidFill>
                    <a:latin typeface="Cambria Math" panose="02040503050406030204" pitchFamily="18" charset="0"/>
                  </a:rPr>
                  <a:t>$n$</a:t>
                </a:r>
                <a:r>
                  <a:rPr sz="2400" b="0">
                    <a:solidFill>
                      <a:srgbClr val="111827"/>
                    </a:solidFill>
                    <a:latin typeface="Arial"/>
                  </a:rPr>
                  <a:t> numerators come from differentiating the base series.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numerically: the first three terms </a:t>
                </a:r>
                <a:r>
                  <a:rPr lang="en-IN" sz="2400">
                    <a:solidFill>
                      <a:srgbClr val="111827"/>
                    </a:solidFill>
                    <a:latin typeface="Cambria Math" panose="02040503050406030204" pitchFamily="18" charset="0"/>
                  </a:rPr>
                  <a:t>$\frac{9}{2}+\frac{18}{24}+\frac{34}{720}\approx5.297$</a:t>
                </a:r>
                <a:r>
                  <a:rPr sz="2400" b="0">
                    <a:solidFill>
                      <a:srgbClr val="111827"/>
                    </a:solidFill>
                    <a:latin typeface="Arial"/>
                  </a:rPr>
                  <a:t> and </a:t>
                </a:r>
                <a:r>
                  <a:rPr lang="en-IN" sz="2400">
                    <a:solidFill>
                      <a:srgbClr val="111827"/>
                    </a:solidFill>
                    <a:latin typeface="Cambria Math" panose="02040503050406030204" pitchFamily="18" charset="0"/>
                  </a:rPr>
                  <a:t>$\frac{13e}{4}+\frac5{4e}-4\approx5.295$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Q11 – Q25</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Assumed +4 each (JEE Advanced default)</a:t>
            </a:r>
            <a:endParaRPr sz="2800">
              <a:solidFill>
                <a:srgbClr val="FFFFFF"/>
              </a:solidFill>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oMath>
                </a14:m>
                <a:r>
                  <a:rPr sz="2400" b="0">
                    <a:solidFill>
                      <a:srgbClr val="111827"/>
                    </a:solidFill>
                    <a:latin typeface="Arial"/>
                  </a:rPr>
                  <a:t>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9</m:t>
                        </m:r>
                      </m:sup>
                    </m:sSup>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$x^{-6}$</a:t>
                </a:r>
                <a:r>
                  <a:rPr sz="2400" b="0">
                    <a:solidFill>
                      <a:srgbClr val="111827"/>
                    </a:solidFill>
                    <a:latin typeface="Arial"/>
                  </a:rPr>
                  <a:t> in the expansion of </a:t>
                </a:r>
                <a:r>
                  <a:rPr lang="en-IN" sz="2400">
                    <a:solidFill>
                      <a:srgbClr val="111827"/>
                    </a:solidFill>
                    <a:latin typeface="Cambria Math" panose="02040503050406030204" pitchFamily="18" charset="0"/>
                  </a:rPr>
                  <a:t>$\left(\dfrac{4x}{5}+\dfrac{5}{2x^2}\right)^{9}$</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Solve </a:t>
                </a:r>
                <a14:m>
                  <m:oMath xmlns:m="http://schemas.openxmlformats.org/officeDocument/2006/math">
                    <m:r>
                      <a:rPr lang="en-IN" sz="2400" i="1">
                        <a:solidFill>
                          <a:srgbClr val="78350F"/>
                        </a:solidFill>
                        <a:latin typeface="Cambria Math" panose="02040503050406030204" pitchFamily="18" charset="0"/>
                      </a:rPr>
                      <m:t>9</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for the term index, then compute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9</m:t>
                            </m:r>
                          </m:num>
                          <m:den>
                            <m:r>
                              <a:rPr lang="en-IN" sz="2400" i="1">
                                <a:solidFill>
                                  <a:srgbClr val="78350F"/>
                                </a:solidFill>
                                <a:latin typeface="Cambria Math" panose="02040503050406030204" pitchFamily="18" charset="0"/>
                              </a:rPr>
                              <m:t>5</m:t>
                            </m:r>
                          </m:den>
                        </m:f>
                      </m:e>
                    </m:d>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3</m:t>
                            </m:r>
                          </m:sup>
                        </m:sSup>
                      </m:num>
                      <m:den>
                        <m:sSup>
                          <m:e>
                            <m:r>
                              <a:rPr lang="en-IN" sz="2400" i="1">
                                <a:solidFill>
                                  <a:srgbClr val="78350F"/>
                                </a:solidFill>
                                <a:latin typeface="Cambria Math" panose="02040503050406030204" pitchFamily="18" charset="0"/>
                              </a:rPr>
                              <m:t>5</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Solve </a:t>
                </a:r>
                <a:r>
                  <a:rPr lang="en-IN" sz="2400">
                    <a:solidFill>
                      <a:srgbClr val="78350F"/>
                    </a:solidFill>
                    <a:latin typeface="Cambria Math" panose="02040503050406030204" pitchFamily="18" charset="0"/>
                  </a:rPr>
                  <a:t>$9-3r=-6$</a:t>
                </a:r>
                <a:r>
                  <a:rPr sz="2400" b="0">
                    <a:solidFill>
                      <a:srgbClr val="78350F"/>
                    </a:solidFill>
                    <a:latin typeface="Arial"/>
                  </a:rPr>
                  <a:t> for the term index, then compute </a:t>
                </a:r>
                <a:r>
                  <a:rPr lang="en-IN" sz="2400">
                    <a:solidFill>
                      <a:srgbClr val="78350F"/>
                    </a:solidFill>
                    <a:latin typeface="Cambria Math" panose="02040503050406030204" pitchFamily="18" charset="0"/>
                  </a:rPr>
                  <a:t>$\binom95\frac{2^3}{5^{-1}}$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general term is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𝑟</m:t>
                            </m:r>
                          </m:den>
                        </m:f>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5</m:t>
                                </m:r>
                              </m:den>
                            </m:f>
                          </m:e>
                        </m:d>
                      </m:e>
                      <m:sup>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𝑟</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sup>
                        </m:sSup>
                      </m:num>
                      <m:den>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sup>
                        </m:sSup>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num>
                      <m:den>
                        <m:sSup>
                          <m:e>
                            <m:r>
                              <a:rPr lang="en-IN" sz="2400" i="1">
                                <a:solidFill>
                                  <a:srgbClr val="111827"/>
                                </a:solidFill>
                                <a:latin typeface="Cambria Math" panose="02040503050406030204" pitchFamily="18" charset="0"/>
                              </a:rPr>
                              <m:t>5</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general term is </a:t>
                </a:r>
                <a:r>
                  <a:rPr lang="en-IN" sz="2400">
                    <a:solidFill>
                      <a:srgbClr val="111827"/>
                    </a:solidFill>
                    <a:latin typeface="Cambria Math" panose="02040503050406030204" pitchFamily="18" charset="0"/>
                  </a:rPr>
                  <a:t>$T_{r+1}=\binom9r\left(\dfrac{5}{2x^2}\right)^r\left(\dfrac{4x}{5}\right)^{9-r}=\binom9r\dfrac{2^{18-3r}}{5^{9-2r}}x^{9-3r}$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coefficient of </a:t>
                </a:r>
                <a:r>
                  <a:rPr lang="en-IN" sz="2400">
                    <a:solidFill>
                      <a:srgbClr val="111827"/>
                    </a:solidFill>
                    <a:latin typeface="Cambria Math" panose="02040503050406030204" pitchFamily="18" charset="0"/>
                  </a:rPr>
                  <a:t>$x^{-6}$</a:t>
                </a:r>
                <a:r>
                  <a:rPr sz="2400" b="0">
                    <a:solidFill>
                      <a:srgbClr val="111827"/>
                    </a:solidFill>
                    <a:latin typeface="Arial"/>
                  </a:rPr>
                  <a:t>: </a:t>
                </a:r>
                <a:r>
                  <a:rPr lang="en-IN" sz="2400">
                    <a:solidFill>
                      <a:srgbClr val="111827"/>
                    </a:solidFill>
                    <a:latin typeface="Cambria Math" panose="02040503050406030204" pitchFamily="18" charset="0"/>
                  </a:rPr>
                  <a:t>$9-3r=-6$</a:t>
                </a:r>
                <a:r>
                  <a:rPr sz="2400" b="0">
                    <a:solidFill>
                      <a:srgbClr val="111827"/>
                    </a:solidFill>
                    <a:latin typeface="Arial"/>
                  </a:rPr>
                  <a:t>, so </a:t>
                </a:r>
                <a:r>
                  <a:rPr lang="en-IN" sz="2400">
                    <a:solidFill>
                      <a:srgbClr val="111827"/>
                    </a:solidFill>
                    <a:latin typeface="Cambria Math" panose="02040503050406030204" pitchFamily="18" charset="0"/>
                  </a:rPr>
                  <a:t>$r=5$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a:t>
                </a:r>
                <a:r>
                  <a:rPr lang="en-IN" sz="2400">
                    <a:solidFill>
                      <a:srgbClr val="111827"/>
                    </a:solidFill>
                    <a:latin typeface="Cambria Math" panose="02040503050406030204" pitchFamily="18" charset="0"/>
                  </a:rPr>
                  <a:t>$=\binom95\dfrac{2^{3}}{5^{-1}}=\dfrac{9\cdot8\cdot7\cdot5}{4\cdot3\cdot2\cdot1}\cdot(8\cdot5)$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$=126\times40=5040$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5040</a:t>
            </a:r>
            <a:endParaRPr sz="2800">
              <a:solidFill>
                <a:srgbClr val="15803D"/>
              </a:solidFill>
            </a:endParaRP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Clear the fractions: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5</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5</m:t>
                        </m:r>
                      </m:num>
                      <m:den>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8</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25</m:t>
                        </m:r>
                      </m:num>
                      <m:den>
                        <m:r>
                          <a:rPr lang="en-IN" sz="2400" i="1">
                            <a:solidFill>
                              <a:srgbClr val="78350F"/>
                            </a:solidFill>
                            <a:latin typeface="Cambria Math" panose="02040503050406030204" pitchFamily="18" charset="0"/>
                          </a:rPr>
                          <m:t>10</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den>
                    </m:f>
                  </m:oMath>
                </a14:m>
                <a:r>
                  <a:rPr sz="2400" b="0">
                    <a:solidFill>
                      <a:srgbClr val="78350F"/>
                    </a:solidFill>
                    <a:latin typeface="Arial"/>
                  </a:rPr>
                  <a:t>, so only one clean coefficient is needed.</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Clear the fractions: </a:t>
                </a:r>
                <a:r>
                  <a:rPr lang="en-IN" sz="2400">
                    <a:solidFill>
                      <a:srgbClr val="78350F"/>
                    </a:solidFill>
                    <a:latin typeface="Cambria Math" panose="02040503050406030204" pitchFamily="18" charset="0"/>
                  </a:rPr>
                  <a:t>$\frac{4x}{5}+\frac{5}{2x^2}=\frac{8x^3+25}{10x^2}$</a:t>
                </a:r>
                <a:r>
                  <a:rPr sz="2400" b="0">
                    <a:solidFill>
                      <a:srgbClr val="78350F"/>
                    </a:solidFill>
                    <a:latin typeface="Arial"/>
                  </a:rPr>
                  <a:t>, so only one clean coefficient is needed.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9</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num>
                      <m:den>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9</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18</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oMath>
                </a14:m>
                <a:r>
                  <a:rPr sz="2400" b="0">
                    <a:solidFill>
                      <a:srgbClr val="111827"/>
                    </a:solidFill>
                    <a:latin typeface="Arial"/>
                  </a:rPr>
                  <a:t> here equals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12</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oMath>
                </a14:m>
                <a:r>
                  <a:rPr sz="2400" b="0">
                    <a:solidFill>
                      <a:srgbClr val="111827"/>
                    </a:solidFill>
                    <a:latin typeface="Arial"/>
                  </a:rPr>
                  <a:t>, divided by </a:t>
                </a:r>
                <a14:m>
                  <m:oMath xmlns:m="http://schemas.openxmlformats.org/officeDocument/2006/math">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9</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$\left(\dfrac{4x}{5}+\dfrac{5}{2x^2}\right)^9=\dfrac{(8x^3+25)^9}{10^9x^{18}}$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$x^{-6}$</a:t>
                </a:r>
                <a:r>
                  <a:rPr sz="2400" b="0">
                    <a:solidFill>
                      <a:srgbClr val="111827"/>
                    </a:solidFill>
                    <a:latin typeface="Arial"/>
                  </a:rPr>
                  <a:t> here equals the coefficient of </a:t>
                </a:r>
                <a:r>
                  <a:rPr lang="en-IN" sz="2400">
                    <a:solidFill>
                      <a:srgbClr val="111827"/>
                    </a:solidFill>
                    <a:latin typeface="Cambria Math" panose="02040503050406030204" pitchFamily="18" charset="0"/>
                  </a:rPr>
                  <a:t>$x^{12}$</a:t>
                </a:r>
                <a:r>
                  <a:rPr sz="2400" b="0">
                    <a:solidFill>
                      <a:srgbClr val="111827"/>
                    </a:solidFill>
                    <a:latin typeface="Arial"/>
                  </a:rPr>
                  <a:t> in </a:t>
                </a:r>
                <a:r>
                  <a:rPr lang="en-IN" sz="2400">
                    <a:solidFill>
                      <a:srgbClr val="111827"/>
                    </a:solidFill>
                    <a:latin typeface="Cambria Math" panose="02040503050406030204" pitchFamily="18" charset="0"/>
                  </a:rPr>
                  <a:t>$(8x^3+25)^9$</a:t>
                </a:r>
                <a:r>
                  <a:rPr sz="2400" b="0">
                    <a:solidFill>
                      <a:srgbClr val="111827"/>
                    </a:solidFill>
                    <a:latin typeface="Arial"/>
                  </a:rPr>
                  <a:t>, divided by </a:t>
                </a:r>
                <a:r>
                  <a:rPr lang="en-IN" sz="2400">
                    <a:solidFill>
                      <a:srgbClr val="111827"/>
                    </a:solidFill>
                    <a:latin typeface="Cambria Math" panose="02040503050406030204" pitchFamily="18" charset="0"/>
                  </a:rPr>
                  <a:t>$10^9$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so the coefficient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e>
                    </m: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4</m:t>
                        </m:r>
                      </m:sup>
                    </m:sSup>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25</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e>
                        </m:d>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4</m:t>
                            </m:r>
                          </m:sup>
                        </m:sSup>
                        <m:sSup>
                          <m:e>
                            <m:r>
                              <a:rPr lang="en-IN" sz="2400" i="1">
                                <a:solidFill>
                                  <a:srgbClr val="111827"/>
                                </a:solidFill>
                                <a:latin typeface="Cambria Math" panose="02040503050406030204" pitchFamily="18" charset="0"/>
                              </a:rPr>
                              <m:t>25</m:t>
                            </m:r>
                          </m:e>
                          <m:sup>
                            <m:r>
                              <a:rPr lang="en-IN" sz="2400" i="1">
                                <a:solidFill>
                                  <a:srgbClr val="111827"/>
                                </a:solidFill>
                                <a:latin typeface="Cambria Math" panose="02040503050406030204" pitchFamily="18" charset="0"/>
                              </a:rPr>
                              <m:t>5</m:t>
                            </m:r>
                          </m:sup>
                        </m:sSup>
                      </m:num>
                      <m:den>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9</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10</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9</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m:t>
                    </m:r>
                  </m:oMath>
                </a14:m>
                <a:r>
                  <a:rPr sz="2400" b="0">
                    <a:solidFill>
                      <a:srgbClr val="111827"/>
                    </a:solidFill>
                    <a:latin typeface="Arial"/>
                  </a:rPr>
                  <a:t>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$x^{12}=(x^3)^4$</a:t>
                </a:r>
                <a:r>
                  <a:rPr sz="2400" b="0">
                    <a:solidFill>
                      <a:srgbClr val="111827"/>
                    </a:solidFill>
                    <a:latin typeface="Arial"/>
                  </a:rPr>
                  <a:t>, so the coefficient is </a:t>
                </a:r>
                <a:r>
                  <a:rPr lang="en-IN" sz="2400">
                    <a:solidFill>
                      <a:srgbClr val="111827"/>
                    </a:solidFill>
                    <a:latin typeface="Cambria Math" panose="02040503050406030204" pitchFamily="18" charset="0"/>
                  </a:rPr>
                  <a:t>$\binom94\,8^4\,25^5$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$\dfrac{\binom94 8^4 25^5}{10^9}=126\cdot\dfrac{2^{12}\cdot5^{10}}{2^9\cdot5^9}=126\cdot2^3\cdot5=5040$</a:t>
                </a:r>
                <a:r>
                  <a:rPr sz="2400" b="0">
                    <a:solidFill>
                      <a:srgbClr val="111827"/>
                    </a:solidFill>
                    <a:latin typeface="Arial"/>
                  </a:rPr>
                  <a:t>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5040</a:t>
            </a:r>
            <a:endParaRPr sz="2800">
              <a:solidFill>
                <a:srgbClr val="15803D"/>
              </a:solidFill>
            </a:endParaR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𝑎</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𝑠</m:t>
                                </m:r>
                              </m:den>
                            </m:f>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up>
                            </m:sSup>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the exponent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is linear in the index; always solve that equation first.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Combine the two terms over a common denominator to remove fractional coefficients: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then the question becomes a coefficient of a pure polynomial.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form: if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copies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𝑎</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copies of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up>
                    </m:sSup>
                  </m:oMath>
                </a14:m>
                <a:r>
                  <a:rPr sz="2400" b="0">
                    <a:solidFill>
                      <a:srgbClr val="111827"/>
                    </a:solidFill>
                    <a:latin typeface="Arial"/>
                  </a:rPr>
                  <a:t> are used, solve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𝑡𝑎𝑟𝑔𝑒𝑡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0</m:t>
                        </m:r>
                      </m:sup>
                    </m:sSup>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$\left(\frac pq x^a+\frac rs x^{-b}\right)^n$</a:t>
                </a:r>
                <a:r>
                  <a:rPr sz="2400" b="0">
                    <a:solidFill>
                      <a:srgbClr val="111827"/>
                    </a:solidFill>
                    <a:latin typeface="Arial"/>
                  </a:rPr>
                  <a:t> the exponent of </a:t>
                </a:r>
                <a:r>
                  <a:rPr lang="en-IN" sz="2400">
                    <a:solidFill>
                      <a:srgbClr val="111827"/>
                    </a:solidFill>
                    <a:latin typeface="Cambria Math" panose="02040503050406030204" pitchFamily="18" charset="0"/>
                  </a:rPr>
                  <a:t>$x$</a:t>
                </a:r>
                <a:r>
                  <a:rPr sz="2400" b="0">
                    <a:solidFill>
                      <a:srgbClr val="111827"/>
                    </a:solidFill>
                    <a:latin typeface="Arial"/>
                  </a:rPr>
                  <a:t> in </a:t>
                </a:r>
                <a:r>
                  <a:rPr lang="en-IN" sz="2400">
                    <a:solidFill>
                      <a:srgbClr val="111827"/>
                    </a:solidFill>
                    <a:latin typeface="Cambria Math" panose="02040503050406030204" pitchFamily="18" charset="0"/>
                  </a:rPr>
                  <a:t>$T_{r+1}$</a:t>
                </a:r>
                <a:r>
                  <a:rPr sz="2400" b="0">
                    <a:solidFill>
                      <a:srgbClr val="111827"/>
                    </a:solidFill>
                    <a:latin typeface="Arial"/>
                  </a:rPr>
                  <a:t> is linear in the index; always solve that equation first.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Combine the two terms over a common denominator to remove fractional coefficients: </a:t>
                </a:r>
                <a:r>
                  <a:rPr lang="en-IN" sz="2400">
                    <a:solidFill>
                      <a:srgbClr val="111827"/>
                    </a:solidFill>
                    <a:latin typeface="Cambria Math" panose="02040503050406030204" pitchFamily="18" charset="0"/>
                  </a:rPr>
                  <a:t>$\frac{4x}{5}+\frac5{2x^2}=\frac{8x^3+25}{10x^2}$</a:t>
                </a:r>
                <a:r>
                  <a:rPr sz="2400" b="0">
                    <a:solidFill>
                      <a:srgbClr val="111827"/>
                    </a:solidFill>
                    <a:latin typeface="Arial"/>
                  </a:rPr>
                  <a:t>; then the question becomes a coefficient of a pure polynomial.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form: if </a:t>
                </a:r>
                <a:r>
                  <a:rPr lang="en-IN" sz="2400">
                    <a:solidFill>
                      <a:srgbClr val="111827"/>
                    </a:solidFill>
                    <a:latin typeface="Cambria Math" panose="02040503050406030204" pitchFamily="18" charset="0"/>
                  </a:rPr>
                  <a:t>$p$</a:t>
                </a:r>
                <a:r>
                  <a:rPr sz="2400" b="0">
                    <a:solidFill>
                      <a:srgbClr val="111827"/>
                    </a:solidFill>
                    <a:latin typeface="Arial"/>
                  </a:rPr>
                  <a:t> copies of </a:t>
                </a:r>
                <a:r>
                  <a:rPr lang="en-IN" sz="2400">
                    <a:solidFill>
                      <a:srgbClr val="111827"/>
                    </a:solidFill>
                    <a:latin typeface="Cambria Math" panose="02040503050406030204" pitchFamily="18" charset="0"/>
                  </a:rPr>
                  <a:t>$A=x^a$</a:t>
                </a:r>
                <a:r>
                  <a:rPr sz="2400" b="0">
                    <a:solidFill>
                      <a:srgbClr val="111827"/>
                    </a:solidFill>
                    <a:latin typeface="Arial"/>
                  </a:rPr>
                  <a:t> and </a:t>
                </a:r>
                <a:r>
                  <a:rPr lang="en-IN" sz="2400">
                    <a:solidFill>
                      <a:srgbClr val="111827"/>
                    </a:solidFill>
                    <a:latin typeface="Cambria Math" panose="02040503050406030204" pitchFamily="18" charset="0"/>
                  </a:rPr>
                  <a:t>$q$</a:t>
                </a:r>
                <a:r>
                  <a:rPr sz="2400" b="0">
                    <a:solidFill>
                      <a:srgbClr val="111827"/>
                    </a:solidFill>
                    <a:latin typeface="Arial"/>
                  </a:rPr>
                  <a:t> copies of </a:t>
                </a:r>
                <a:r>
                  <a:rPr lang="en-IN" sz="2400">
                    <a:solidFill>
                      <a:srgbClr val="111827"/>
                    </a:solidFill>
                    <a:latin typeface="Cambria Math" panose="02040503050406030204" pitchFamily="18" charset="0"/>
                  </a:rPr>
                  <a:t>$B=x^{-b}$</a:t>
                </a:r>
                <a:r>
                  <a:rPr sz="2400" b="0">
                    <a:solidFill>
                      <a:srgbClr val="111827"/>
                    </a:solidFill>
                    <a:latin typeface="Arial"/>
                  </a:rPr>
                  <a:t> are used, solve </a:t>
                </a:r>
                <a:r>
                  <a:rPr lang="en-IN" sz="2400">
                    <a:solidFill>
                      <a:srgbClr val="111827"/>
                    </a:solidFill>
                    <a:latin typeface="Cambria Math" panose="02040503050406030204" pitchFamily="18" charset="0"/>
                  </a:rPr>
                  <a:t>$p+q=n$</a:t>
                </a:r>
                <a:r>
                  <a:rPr sz="2400" b="0">
                    <a:solidFill>
                      <a:srgbClr val="111827"/>
                    </a:solidFill>
                    <a:latin typeface="Arial"/>
                  </a:rPr>
                  <a:t> and </a:t>
                </a:r>
                <a:r>
                  <a:rPr lang="en-IN" sz="2400">
                    <a:solidFill>
                      <a:srgbClr val="111827"/>
                    </a:solidFill>
                    <a:latin typeface="Cambria Math" panose="02040503050406030204" pitchFamily="18" charset="0"/>
                  </a:rPr>
                  <a:t>$ap-bq=\text{target}$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$\left(x+\frac1x\right)^2$</a:t>
                </a:r>
                <a:r>
                  <a:rPr sz="2400" b="0">
                    <a:solidFill>
                      <a:srgbClr val="111827"/>
                    </a:solidFill>
                    <a:latin typeface="Arial"/>
                  </a:rPr>
                  <a:t>, coefficient of </a:t>
                </a:r>
                <a:r>
                  <a:rPr lang="en-IN" sz="2400">
                    <a:solidFill>
                      <a:srgbClr val="111827"/>
                    </a:solidFill>
                    <a:latin typeface="Cambria Math" panose="02040503050406030204" pitchFamily="18" charset="0"/>
                  </a:rPr>
                  <a:t>$x^0$</a:t>
                </a:r>
                <a:r>
                  <a:rPr sz="2400" b="0">
                    <a:solidFill>
                      <a:srgbClr val="111827"/>
                    </a:solidFill>
                    <a:latin typeface="Arial"/>
                  </a:rPr>
                  <a:t> is </a:t>
                </a:r>
                <a:r>
                  <a:rPr lang="en-IN" sz="2400">
                    <a:solidFill>
                      <a:srgbClr val="111827"/>
                    </a:solidFill>
                    <a:latin typeface="Cambria Math" panose="02040503050406030204" pitchFamily="18" charset="0"/>
                  </a:rPr>
                  <a:t>$\binom21=2$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275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constant term in the binomial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ℓ</m:t>
                                    </m:r>
                                  </m:sup>
                                </m:sSup>
                              </m:den>
                            </m:f>
                          </m:e>
                        </m:d>
                      </m:e>
                      <m:sup>
                        <m:r>
                          <a:rPr lang="en-IN" sz="2400" i="1">
                            <a:solidFill>
                              <a:srgbClr val="111827"/>
                            </a:solidFill>
                            <a:latin typeface="Cambria Math" panose="02040503050406030204" pitchFamily="18" charset="0"/>
                          </a:rPr>
                          <m:t>9</m:t>
                        </m:r>
                      </m:sup>
                    </m:sSup>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oMath>
                </a14:m>
                <a:r>
                  <a:rPr sz="2400" b="0">
                    <a:solidFill>
                      <a:srgbClr val="111827"/>
                    </a:solidFill>
                    <a:latin typeface="Arial"/>
                  </a:rPr>
                  <a:t> and the 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ℓ</m:t>
                        </m:r>
                      </m:sup>
                    </m:sSup>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α</m:t>
                        </m:r>
                      </m:sup>
                    </m:sSup>
                    <m:r>
                      <a:rPr lang="en-IN" sz="2400" i="1">
                        <a:solidFill>
                          <a:srgbClr val="111827"/>
                        </a:solidFill>
                        <a:latin typeface="Cambria Math" panose="02040503050406030204" pitchFamily="18" charset="0"/>
                      </a:rPr>
                      <m:t>β</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is an odd number,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22275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constant term in the binomial expansion of </a:t>
                </a:r>
                <a:r>
                  <a:rPr lang="en-IN" sz="2400">
                    <a:solidFill>
                      <a:srgbClr val="111827"/>
                    </a:solidFill>
                    <a:latin typeface="Cambria Math" panose="02040503050406030204" pitchFamily="18" charset="0"/>
                  </a:rPr>
                  <a:t>$\left(\dfrac{x^{5/2}}{2}-\dfrac{4}{x^{\ell}}\right)^{9}$</a:t>
                </a:r>
                <a:r>
                  <a:rPr sz="2400" b="0">
                    <a:solidFill>
                      <a:srgbClr val="111827"/>
                    </a:solidFill>
                    <a:latin typeface="Arial"/>
                  </a:rPr>
                  <a:t> is </a:t>
                </a:r>
                <a:r>
                  <a:rPr lang="en-IN" sz="2400">
                    <a:solidFill>
                      <a:srgbClr val="111827"/>
                    </a:solidFill>
                    <a:latin typeface="Cambria Math" panose="02040503050406030204" pitchFamily="18" charset="0"/>
                  </a:rPr>
                  <a:t>$-84$</a:t>
                </a:r>
                <a:r>
                  <a:rPr sz="2400" b="0">
                    <a:solidFill>
                      <a:srgbClr val="111827"/>
                    </a:solidFill>
                    <a:latin typeface="Arial"/>
                  </a:rPr>
                  <a:t> and the coefficient of </a:t>
                </a:r>
                <a:r>
                  <a:rPr lang="en-IN" sz="2400">
                    <a:solidFill>
                      <a:srgbClr val="111827"/>
                    </a:solidFill>
                    <a:latin typeface="Cambria Math" panose="02040503050406030204" pitchFamily="18" charset="0"/>
                  </a:rPr>
                  <a:t>$x^{-3\ell}$</a:t>
                </a:r>
                <a:r>
                  <a:rPr sz="2400" b="0">
                    <a:solidFill>
                      <a:srgbClr val="111827"/>
                    </a:solidFill>
                    <a:latin typeface="Arial"/>
                  </a:rPr>
                  <a:t> is </a:t>
                </a:r>
                <a:r>
                  <a:rPr lang="en-IN" sz="2400">
                    <a:solidFill>
                      <a:srgbClr val="111827"/>
                    </a:solidFill>
                    <a:latin typeface="Cambria Math" panose="02040503050406030204" pitchFamily="18" charset="0"/>
                  </a:rPr>
                  <a:t>$2^{\alpha}\beta$</a:t>
                </a:r>
                <a:r>
                  <a:rPr sz="2400" b="0">
                    <a:solidFill>
                      <a:srgbClr val="111827"/>
                    </a:solidFill>
                    <a:latin typeface="Arial"/>
                  </a:rPr>
                  <a:t>, where </a:t>
                </a:r>
                <a:r>
                  <a:rPr lang="en-IN" sz="2400">
                    <a:solidFill>
                      <a:srgbClr val="111827"/>
                    </a:solidFill>
                    <a:latin typeface="Cambria Math" panose="02040503050406030204" pitchFamily="18" charset="0"/>
                  </a:rPr>
                  <a:t>$\beta&lt;0$</a:t>
                </a:r>
                <a:r>
                  <a:rPr sz="2400" b="0">
                    <a:solidFill>
                      <a:srgbClr val="111827"/>
                    </a:solidFill>
                    <a:latin typeface="Arial"/>
                  </a:rPr>
                  <a:t> is an odd number, then </a:t>
                </a:r>
                <a:r>
                  <a:rPr lang="en-IN" sz="2400">
                    <a:solidFill>
                      <a:srgbClr val="111827"/>
                    </a:solidFill>
                    <a:latin typeface="Cambria Math" panose="02040503050406030204" pitchFamily="18" charset="0"/>
                  </a:rPr>
                  <a:t>$|\alpha\ell-\beta|$</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7363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 Constant term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constant term fixes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(only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gives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84</m:t>
                    </m:r>
                  </m:oMath>
                </a14:m>
                <a:r>
                  <a:rPr sz="2400" b="0">
                    <a:solidFill>
                      <a:srgbClr val="78350F"/>
                    </a:solidFill>
                    <a:latin typeface="Arial"/>
                  </a:rPr>
                  <a:t>) and then </a:t>
                </a:r>
                <a14:m>
                  <m:oMath xmlns:m="http://schemas.openxmlformats.org/officeDocument/2006/math">
                    <m:r>
                      <a:rPr lang="en-IN" sz="2400" i="1">
                        <a:solidFill>
                          <a:srgbClr val="78350F"/>
                        </a:solidFill>
                        <a:latin typeface="Cambria Math" panose="02040503050406030204" pitchFamily="18" charset="0"/>
                      </a:rPr>
                      <m:t>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constant term fixes </a:t>
                </a:r>
                <a:r>
                  <a:rPr lang="en-IN" sz="2400">
                    <a:solidFill>
                      <a:srgbClr val="78350F"/>
                    </a:solidFill>
                    <a:latin typeface="Cambria Math" panose="02040503050406030204" pitchFamily="18" charset="0"/>
                  </a:rPr>
                  <a:t>$r=3$</a:t>
                </a:r>
                <a:r>
                  <a:rPr sz="2400" b="0">
                    <a:solidFill>
                      <a:srgbClr val="78350F"/>
                    </a:solidFill>
                    <a:latin typeface="Arial"/>
                  </a:rPr>
                  <a:t> (only </a:t>
                </a:r>
                <a:r>
                  <a:rPr lang="en-IN" sz="2400">
                    <a:solidFill>
                      <a:srgbClr val="78350F"/>
                    </a:solidFill>
                    <a:latin typeface="Cambria Math" panose="02040503050406030204" pitchFamily="18" charset="0"/>
                  </a:rPr>
                  <a:t>$2^{3r-9}=1$</a:t>
                </a:r>
                <a:r>
                  <a:rPr sz="2400" b="0">
                    <a:solidFill>
                      <a:srgbClr val="78350F"/>
                    </a:solidFill>
                    <a:latin typeface="Arial"/>
                  </a:rPr>
                  <a:t> gives </a:t>
                </a:r>
                <a:r>
                  <a:rPr lang="en-IN" sz="2400">
                    <a:solidFill>
                      <a:srgbClr val="78350F"/>
                    </a:solidFill>
                    <a:latin typeface="Cambria Math" panose="02040503050406030204" pitchFamily="18" charset="0"/>
                  </a:rPr>
                  <a:t>$-84$</a:t>
                </a:r>
                <a:r>
                  <a:rPr sz="2400" b="0">
                    <a:solidFill>
                      <a:srgbClr val="78350F"/>
                    </a:solidFill>
                    <a:latin typeface="Arial"/>
                  </a:rPr>
                  <a:t>) and then </a:t>
                </a:r>
                <a:r>
                  <a:rPr lang="en-IN" sz="2400">
                    <a:solidFill>
                      <a:srgbClr val="78350F"/>
                    </a:solidFill>
                    <a:latin typeface="Cambria Math" panose="02040503050406030204" pitchFamily="18" charset="0"/>
                  </a:rPr>
                  <a:t>$\ell=5$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𝑟</m:t>
                            </m:r>
                          </m:den>
                        </m:f>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ℓ</m:t>
                                    </m:r>
                                  </m:sup>
                                </m:sSup>
                              </m:den>
                            </m:f>
                          </m:e>
                        </m:d>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𝑟</m:t>
                                </m:r>
                              </m:den>
                            </m:f>
                          </m:e>
                        </m:d>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den>
                    </m:f>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𝑟</m:t>
                        </m:r>
                      </m:sup>
                    </m:sSup>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ℓ</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ℓ</m:t>
                        </m:r>
                      </m:den>
                    </m:f>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Its value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𝑟</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𝑟</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takes the values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the factor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up>
                    </m:sSup>
                  </m:oMath>
                </a14:m>
                <a:r>
                  <a:rPr sz="2400" b="0">
                    <a:solidFill>
                      <a:srgbClr val="111827"/>
                    </a:solidFill>
                    <a:latin typeface="Arial"/>
                  </a:rPr>
                  <a:t> must equal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(it cannot supply the extra factors), so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oMath>
                </a14:m>
                <a:r>
                  <a:rPr sz="2400" b="0">
                    <a:solidFill>
                      <a:srgbClr val="111827"/>
                    </a:solidFill>
                    <a:latin typeface="Arial"/>
                  </a:rPr>
                  <a:t> checks.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$T_{r+1}=\binom9r\left(\dfrac{x^{5/2}}{2}\right)^{9-r}\left(-\dfrac{4}{x^{\ell}}\right)^r=(-1)^r\dfrac{\binom9r}{2^{9-r}}4^r\,x^{\frac{5(9-r)}{2}-\ell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a:t>
                </a:r>
                <a:r>
                  <a:rPr lang="en-IN" sz="2400">
                    <a:solidFill>
                      <a:srgbClr val="111827"/>
                    </a:solidFill>
                    <a:latin typeface="Cambria Math" panose="02040503050406030204" pitchFamily="18" charset="0"/>
                  </a:rPr>
                  <a:t>$\dfrac{45-5r}{2}-\ell r=0$</a:t>
                </a:r>
                <a:r>
                  <a:rPr sz="2400" b="0">
                    <a:solidFill>
                      <a:srgbClr val="111827"/>
                    </a:solidFill>
                    <a:latin typeface="Arial"/>
                  </a:rPr>
                  <a:t>, so </a:t>
                </a:r>
                <a:r>
                  <a:rPr lang="en-IN" sz="2400">
                    <a:solidFill>
                      <a:srgbClr val="111827"/>
                    </a:solidFill>
                    <a:latin typeface="Cambria Math" panose="02040503050406030204" pitchFamily="18" charset="0"/>
                  </a:rPr>
                  <a:t>$45-5r-2\ell r=0$</a:t>
                </a:r>
                <a:r>
                  <a:rPr sz="2400" b="0">
                    <a:solidFill>
                      <a:srgbClr val="111827"/>
                    </a:solidFill>
                    <a:latin typeface="Arial"/>
                  </a:rPr>
                  <a:t> and </a:t>
                </a:r>
                <a:r>
                  <a:rPr lang="en-IN" sz="2400">
                    <a:solidFill>
                      <a:srgbClr val="111827"/>
                    </a:solidFill>
                    <a:latin typeface="Cambria Math" panose="02040503050406030204" pitchFamily="18" charset="0"/>
                  </a:rPr>
                  <a:t>$r=\dfrac{45}{5+2\ell}$</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Its value is </a:t>
                </a:r>
                <a:r>
                  <a:rPr lang="en-IN" sz="2400">
                    <a:solidFill>
                      <a:srgbClr val="111827"/>
                    </a:solidFill>
                    <a:latin typeface="Cambria Math" panose="02040503050406030204" pitchFamily="18" charset="0"/>
                  </a:rPr>
                  <a:t>$(-1)^r\binom9r\dfrac{4^r}{2^{9-r}}=(-1)^r\binom9r2^{3r-9}=-84=-21\times4$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$\binom9r$</a:t>
                </a:r>
                <a:r>
                  <a:rPr sz="2400" b="0">
                    <a:solidFill>
                      <a:srgbClr val="111827"/>
                    </a:solidFill>
                    <a:latin typeface="Arial"/>
                  </a:rPr>
                  <a:t> takes the values </a:t>
                </a:r>
                <a:r>
                  <a:rPr lang="en-IN" sz="2400">
                    <a:solidFill>
                      <a:srgbClr val="111827"/>
                    </a:solidFill>
                    <a:latin typeface="Cambria Math" panose="02040503050406030204" pitchFamily="18" charset="0"/>
                  </a:rPr>
                  <a:t>$1,9,36,84,126,\dots$</a:t>
                </a:r>
                <a:r>
                  <a:rPr sz="2400" b="0">
                    <a:solidFill>
                      <a:srgbClr val="111827"/>
                    </a:solidFill>
                    <a:latin typeface="Arial"/>
                  </a:rPr>
                  <a:t> and </a:t>
                </a:r>
                <a:r>
                  <a:rPr lang="en-IN" sz="2400">
                    <a:solidFill>
                      <a:srgbClr val="111827"/>
                    </a:solidFill>
                    <a:latin typeface="Cambria Math" panose="02040503050406030204" pitchFamily="18" charset="0"/>
                  </a:rPr>
                  <a:t>$84=\binom93$</a:t>
                </a:r>
                <a:r>
                  <a:rPr sz="2400" b="0">
                    <a:solidFill>
                      <a:srgbClr val="111827"/>
                    </a:solidFill>
                    <a:latin typeface="Arial"/>
                  </a:rPr>
                  <a:t>; the factor </a:t>
                </a:r>
                <a:r>
                  <a:rPr lang="en-IN" sz="2400">
                    <a:solidFill>
                      <a:srgbClr val="111827"/>
                    </a:solidFill>
                    <a:latin typeface="Cambria Math" panose="02040503050406030204" pitchFamily="18" charset="0"/>
                  </a:rPr>
                  <a:t>$2^{3r-9}$</a:t>
                </a:r>
                <a:r>
                  <a:rPr sz="2400" b="0">
                    <a:solidFill>
                      <a:srgbClr val="111827"/>
                    </a:solidFill>
                    <a:latin typeface="Arial"/>
                  </a:rPr>
                  <a:t> must equal </a:t>
                </a:r>
                <a:r>
                  <a:rPr lang="en-IN" sz="2400">
                    <a:solidFill>
                      <a:srgbClr val="111827"/>
                    </a:solidFill>
                    <a:latin typeface="Cambria Math" panose="02040503050406030204" pitchFamily="18" charset="0"/>
                  </a:rPr>
                  <a:t>$1$</a:t>
                </a:r>
                <a:r>
                  <a:rPr sz="2400" b="0">
                    <a:solidFill>
                      <a:srgbClr val="111827"/>
                    </a:solidFill>
                    <a:latin typeface="Arial"/>
                  </a:rPr>
                  <a:t> (it cannot supply the extra factors), so </a:t>
                </a:r>
                <a:r>
                  <a:rPr lang="en-IN" sz="2400">
                    <a:solidFill>
                      <a:srgbClr val="111827"/>
                    </a:solidFill>
                    <a:latin typeface="Cambria Math" panose="02040503050406030204" pitchFamily="18" charset="0"/>
                  </a:rPr>
                  <a:t>$3r-9=0$</a:t>
                </a:r>
                <a:r>
                  <a:rPr sz="2400" b="0">
                    <a:solidFill>
                      <a:srgbClr val="111827"/>
                    </a:solidFill>
                    <a:latin typeface="Arial"/>
                  </a:rPr>
                  <a:t>, </a:t>
                </a:r>
                <a:r>
                  <a:rPr lang="en-IN" sz="2400">
                    <a:solidFill>
                      <a:srgbClr val="111827"/>
                    </a:solidFill>
                    <a:latin typeface="Cambria Math" panose="02040503050406030204" pitchFamily="18" charset="0"/>
                  </a:rPr>
                  <a:t>$r=3$</a:t>
                </a:r>
                <a:r>
                  <a:rPr sz="2400" b="0">
                    <a:solidFill>
                      <a:srgbClr val="111827"/>
                    </a:solidFill>
                    <a:latin typeface="Arial"/>
                  </a:rPr>
                  <a:t> and </a:t>
                </a:r>
                <a:r>
                  <a:rPr lang="en-IN" sz="2400">
                    <a:solidFill>
                      <a:srgbClr val="111827"/>
                    </a:solidFill>
                    <a:latin typeface="Cambria Math" panose="02040503050406030204" pitchFamily="18" charset="0"/>
                  </a:rPr>
                  <a:t>$(-1)^3\binom93=-84$</a:t>
                </a:r>
                <a:r>
                  <a:rPr sz="2400" b="0">
                    <a:solidFill>
                      <a:srgbClr val="111827"/>
                    </a:solidFill>
                    <a:latin typeface="Arial"/>
                  </a:rPr>
                  <a:t> checks.</a:t>
                </a:r>
                <a:endParaRPr sz="2400">
                  <a:solidFill>
                    <a:srgbClr val="111827"/>
                  </a:solidFill>
                </a:endParaRPr>
              </a:p>
            </p:txBody>
          </p:sp>
        </mc:Fallback>
      </mc:AlternateContent>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(1):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ℓ</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ℓ</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5</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α</m:t>
                        </m:r>
                      </m:sup>
                    </m:sSup>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oMath>
                </a14:m>
                <a:r>
                  <a:rPr sz="2400" b="0">
                    <a:solidFill>
                      <a:srgbClr val="111827"/>
                    </a:solidFill>
                    <a:latin typeface="Arial"/>
                  </a:rPr>
                  <a:t> (odd, negative)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(1): </a:t>
                </a:r>
                <a:r>
                  <a:rPr lang="en-IN" sz="2400">
                    <a:solidFill>
                      <a:srgbClr val="111827"/>
                    </a:solidFill>
                    <a:latin typeface="Cambria Math" panose="02040503050406030204" pitchFamily="18" charset="0"/>
                  </a:rPr>
                  <a:t>$3=\dfrac{45}{5+2\ell}$</a:t>
                </a:r>
                <a:r>
                  <a:rPr sz="2400" b="0">
                    <a:solidFill>
                      <a:srgbClr val="111827"/>
                    </a:solidFill>
                    <a:latin typeface="Arial"/>
                  </a:rPr>
                  <a:t>, so </a:t>
                </a:r>
                <a:r>
                  <a:rPr lang="en-IN" sz="2400">
                    <a:solidFill>
                      <a:srgbClr val="111827"/>
                    </a:solidFill>
                    <a:latin typeface="Cambria Math" panose="02040503050406030204" pitchFamily="18" charset="0"/>
                  </a:rPr>
                  <a:t>$5+2\ell=15$</a:t>
                </a:r>
                <a:r>
                  <a:rPr sz="2400" b="0">
                    <a:solidFill>
                      <a:srgbClr val="111827"/>
                    </a:solidFill>
                    <a:latin typeface="Arial"/>
                  </a:rPr>
                  <a:t> and </a:t>
                </a:r>
                <a:r>
                  <a:rPr lang="en-IN" sz="2400">
                    <a:solidFill>
                      <a:srgbClr val="111827"/>
                    </a:solidFill>
                    <a:latin typeface="Cambria Math" panose="02040503050406030204" pitchFamily="18" charset="0"/>
                  </a:rPr>
                  <a:t>$\ell=5$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$x^{-3\ell}=x^{-15}$</a:t>
                </a:r>
                <a:r>
                  <a:rPr sz="2400" b="0">
                    <a:solidFill>
                      <a:srgbClr val="111827"/>
                    </a:solidFill>
                    <a:latin typeface="Arial"/>
                  </a:rPr>
                  <a:t>: </a:t>
                </a:r>
                <a:r>
                  <a:rPr lang="en-IN" sz="2400">
                    <a:solidFill>
                      <a:srgbClr val="111827"/>
                    </a:solidFill>
                    <a:latin typeface="Cambria Math" panose="02040503050406030204" pitchFamily="18" charset="0"/>
                  </a:rPr>
                  <a:t>$\dfrac{45-5r}{2}-5r=-15$</a:t>
                </a:r>
                <a:r>
                  <a:rPr sz="2400" b="0">
                    <a:solidFill>
                      <a:srgbClr val="111827"/>
                    </a:solidFill>
                    <a:latin typeface="Arial"/>
                  </a:rPr>
                  <a:t>, so </a:t>
                </a:r>
                <a:r>
                  <a:rPr lang="en-IN" sz="2400">
                    <a:solidFill>
                      <a:srgbClr val="111827"/>
                    </a:solidFill>
                    <a:latin typeface="Cambria Math" panose="02040503050406030204" pitchFamily="18" charset="0"/>
                  </a:rPr>
                  <a:t>$45-15r=-30$</a:t>
                </a:r>
                <a:r>
                  <a:rPr sz="2400" b="0">
                    <a:solidFill>
                      <a:srgbClr val="111827"/>
                    </a:solidFill>
                    <a:latin typeface="Arial"/>
                  </a:rPr>
                  <a:t> and </a:t>
                </a:r>
                <a:r>
                  <a:rPr lang="en-IN" sz="2400">
                    <a:solidFill>
                      <a:srgbClr val="111827"/>
                    </a:solidFill>
                    <a:latin typeface="Cambria Math" panose="02040503050406030204" pitchFamily="18" charset="0"/>
                  </a:rPr>
                  <a:t>$r=5$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a:t>
                </a:r>
                <a:r>
                  <a:rPr lang="en-IN" sz="2400">
                    <a:solidFill>
                      <a:srgbClr val="111827"/>
                    </a:solidFill>
                    <a:latin typeface="Cambria Math" panose="02040503050406030204" pitchFamily="18" charset="0"/>
                  </a:rPr>
                  <a:t>$=(-1)^5\binom95\dfrac{4^5}{2^4}=-126\cdot64=-63\times2^7$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$2^\alpha\beta=-63\cdot2^7$</a:t>
                </a:r>
                <a:r>
                  <a:rPr sz="2400" b="0">
                    <a:solidFill>
                      <a:srgbClr val="111827"/>
                    </a:solidFill>
                    <a:latin typeface="Arial"/>
                  </a:rPr>
                  <a:t> with </a:t>
                </a:r>
                <a:r>
                  <a:rPr lang="en-IN" sz="2400">
                    <a:solidFill>
                      <a:srgbClr val="111827"/>
                    </a:solidFill>
                    <a:latin typeface="Cambria Math" panose="02040503050406030204" pitchFamily="18" charset="0"/>
                  </a:rPr>
                  <a:t>$\beta=-63$</a:t>
                </a:r>
                <a:r>
                  <a:rPr sz="2400" b="0">
                    <a:solidFill>
                      <a:srgbClr val="111827"/>
                    </a:solidFill>
                    <a:latin typeface="Arial"/>
                  </a:rPr>
                  <a:t> (odd, negative) and </a:t>
                </a:r>
                <a:r>
                  <a:rPr lang="en-IN" sz="2400">
                    <a:solidFill>
                      <a:srgbClr val="111827"/>
                    </a:solidFill>
                    <a:latin typeface="Cambria Math" panose="02040503050406030204" pitchFamily="18" charset="0"/>
                  </a:rPr>
                  <a:t>$\alpha=7$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$|\alpha\ell-\beta|=|35+63|=98$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98</a:t>
            </a:r>
            <a:endParaRPr sz="2800">
              <a:solidFill>
                <a:srgbClr val="15803D"/>
              </a:solidFill>
            </a:endParaRP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Constant term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𝑝</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𝑎</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up>
                            </m:sSup>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solve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oMath>
                </a14:m>
                <a:r>
                  <a:rPr sz="2400" b="0">
                    <a:solidFill>
                      <a:srgbClr val="111827"/>
                    </a:solidFill>
                    <a:latin typeface="Arial"/>
                  </a:rPr>
                  <a:t> must be an integer.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 number as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α</m:t>
                        </m:r>
                      </m:sup>
                    </m:sSup>
                    <m:r>
                      <a:rPr lang="en-IN" sz="2400" i="1">
                        <a:solidFill>
                          <a:srgbClr val="111827"/>
                        </a:solidFill>
                        <a:latin typeface="Cambria Math" panose="02040503050406030204" pitchFamily="18" charset="0"/>
                      </a:rPr>
                      <m:t>β</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odd by pulling out the full power of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-adic valuation).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an unknown exponent </a:t>
                </a:r>
                <a14:m>
                  <m:oMath xmlns:m="http://schemas.openxmlformats.org/officeDocument/2006/math">
                    <m:r>
                      <a:rPr lang="en-IN" sz="2400" i="1">
                        <a:solidFill>
                          <a:srgbClr val="111827"/>
                        </a:solidFill>
                        <a:latin typeface="Cambria Math" panose="02040503050406030204" pitchFamily="18" charset="0"/>
                      </a:rPr>
                      <m:t>ℓ</m:t>
                    </m:r>
                  </m:oMath>
                </a14:m>
                <a:r>
                  <a:rPr sz="2400" b="0">
                    <a:solidFill>
                      <a:srgbClr val="111827"/>
                    </a:solidFill>
                    <a:latin typeface="Arial"/>
                  </a:rPr>
                  <a:t> and an unknown index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appear together, the coefficient equation is usually what pins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down; then the exponent equation gives </a:t>
                </a:r>
                <a14:m>
                  <m:oMath xmlns:m="http://schemas.openxmlformats.org/officeDocument/2006/math">
                    <m:r>
                      <a:rPr lang="en-IN" sz="2400" i="1">
                        <a:solidFill>
                          <a:srgbClr val="111827"/>
                        </a:solidFill>
                        <a:latin typeface="Cambria Math" panose="02040503050406030204" pitchFamily="18" charset="0"/>
                      </a:rPr>
                      <m:t>ℓ</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Constant term of </a:t>
                </a:r>
                <a:r>
                  <a:rPr lang="en-IN" sz="2400">
                    <a:solidFill>
                      <a:srgbClr val="111827"/>
                    </a:solidFill>
                    <a:latin typeface="Cambria Math" panose="02040503050406030204" pitchFamily="18" charset="0"/>
                  </a:rPr>
                  <a:t>$\left(px^a+qx^{-b}\right)^n$</a:t>
                </a:r>
                <a:r>
                  <a:rPr sz="2400" b="0">
                    <a:solidFill>
                      <a:srgbClr val="111827"/>
                    </a:solidFill>
                    <a:latin typeface="Arial"/>
                  </a:rPr>
                  <a:t>: solve </a:t>
                </a:r>
                <a:r>
                  <a:rPr lang="en-IN" sz="2400">
                    <a:solidFill>
                      <a:srgbClr val="111827"/>
                    </a:solidFill>
                    <a:latin typeface="Cambria Math" panose="02040503050406030204" pitchFamily="18" charset="0"/>
                  </a:rPr>
                  <a:t>$a(n-r)-br=0$</a:t>
                </a:r>
                <a:r>
                  <a:rPr sz="2400" b="0">
                    <a:solidFill>
                      <a:srgbClr val="111827"/>
                    </a:solidFill>
                    <a:latin typeface="Arial"/>
                  </a:rPr>
                  <a:t>, so </a:t>
                </a:r>
                <a:r>
                  <a:rPr lang="en-IN" sz="2400">
                    <a:solidFill>
                      <a:srgbClr val="111827"/>
                    </a:solidFill>
                    <a:latin typeface="Cambria Math" panose="02040503050406030204" pitchFamily="18" charset="0"/>
                  </a:rPr>
                  <a:t>$r=\frac{an}{a+b}$</a:t>
                </a:r>
                <a:r>
                  <a:rPr sz="2400" b="0">
                    <a:solidFill>
                      <a:srgbClr val="111827"/>
                    </a:solidFill>
                    <a:latin typeface="Arial"/>
                  </a:rPr>
                  <a:t> must be an integer.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 number as </a:t>
                </a:r>
                <a:r>
                  <a:rPr lang="en-IN" sz="2400">
                    <a:solidFill>
                      <a:srgbClr val="111827"/>
                    </a:solidFill>
                    <a:latin typeface="Cambria Math" panose="02040503050406030204" pitchFamily="18" charset="0"/>
                  </a:rPr>
                  <a:t>$2^\alpha\beta$</a:t>
                </a:r>
                <a:r>
                  <a:rPr sz="2400" b="0">
                    <a:solidFill>
                      <a:srgbClr val="111827"/>
                    </a:solidFill>
                    <a:latin typeface="Arial"/>
                  </a:rPr>
                  <a:t> with </a:t>
                </a:r>
                <a:r>
                  <a:rPr lang="en-IN" sz="2400">
                    <a:solidFill>
                      <a:srgbClr val="111827"/>
                    </a:solidFill>
                    <a:latin typeface="Cambria Math" panose="02040503050406030204" pitchFamily="18" charset="0"/>
                  </a:rPr>
                  <a:t>$\beta$</a:t>
                </a:r>
                <a:r>
                  <a:rPr sz="2400" b="0">
                    <a:solidFill>
                      <a:srgbClr val="111827"/>
                    </a:solidFill>
                    <a:latin typeface="Arial"/>
                  </a:rPr>
                  <a:t> odd by pulling out the full power of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-adic valuation).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an unknown exponent </a:t>
                </a:r>
                <a:r>
                  <a:rPr lang="en-IN" sz="2400">
                    <a:solidFill>
                      <a:srgbClr val="111827"/>
                    </a:solidFill>
                    <a:latin typeface="Cambria Math" panose="02040503050406030204" pitchFamily="18" charset="0"/>
                  </a:rPr>
                  <a:t>$\ell$</a:t>
                </a:r>
                <a:r>
                  <a:rPr sz="2400" b="0">
                    <a:solidFill>
                      <a:srgbClr val="111827"/>
                    </a:solidFill>
                    <a:latin typeface="Arial"/>
                  </a:rPr>
                  <a:t> and an unknown index </a:t>
                </a:r>
                <a:r>
                  <a:rPr lang="en-IN" sz="2400">
                    <a:solidFill>
                      <a:srgbClr val="111827"/>
                    </a:solidFill>
                    <a:latin typeface="Cambria Math" panose="02040503050406030204" pitchFamily="18" charset="0"/>
                  </a:rPr>
                  <a:t>$r$</a:t>
                </a:r>
                <a:r>
                  <a:rPr sz="2400" b="0">
                    <a:solidFill>
                      <a:srgbClr val="111827"/>
                    </a:solidFill>
                    <a:latin typeface="Arial"/>
                  </a:rPr>
                  <a:t> appear together, the coefficient equation is usually what pins </a:t>
                </a:r>
                <a:r>
                  <a:rPr lang="en-IN" sz="2400">
                    <a:solidFill>
                      <a:srgbClr val="111827"/>
                    </a:solidFill>
                    <a:latin typeface="Cambria Math" panose="02040503050406030204" pitchFamily="18" charset="0"/>
                  </a:rPr>
                  <a:t>$r$</a:t>
                </a:r>
                <a:r>
                  <a:rPr sz="2400" b="0">
                    <a:solidFill>
                      <a:srgbClr val="111827"/>
                    </a:solidFill>
                    <a:latin typeface="Arial"/>
                  </a:rPr>
                  <a:t> down; then the exponent equation gives </a:t>
                </a:r>
                <a:r>
                  <a:rPr lang="en-IN" sz="2400">
                    <a:solidFill>
                      <a:srgbClr val="111827"/>
                    </a:solidFill>
                    <a:latin typeface="Cambria Math" panose="02040503050406030204" pitchFamily="18" charset="0"/>
                  </a:rPr>
                  <a:t>$\ell$</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$\binom93\cdot2^{0}=84$</a:t>
                </a:r>
                <a:r>
                  <a:rPr sz="2400" b="0">
                    <a:solidFill>
                      <a:srgbClr val="111827"/>
                    </a:solidFill>
                    <a:latin typeface="Arial"/>
                  </a:rPr>
                  <a:t> and </a:t>
                </a:r>
                <a:r>
                  <a:rPr lang="en-IN" sz="2400">
                    <a:solidFill>
                      <a:srgbClr val="111827"/>
                    </a:solidFill>
                    <a:latin typeface="Cambria Math" panose="02040503050406030204" pitchFamily="18" charset="0"/>
                  </a:rPr>
                  <a:t>$\binom95\cdot2^{6}=126\cdot64=8064=63\cdot128$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Suppose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2023</m:t>
                        </m:r>
                      </m:sup>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e>
                    </m:nary>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2023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2022</m:t>
                        </m:r>
                      </m:sup>
                    </m:sSup>
                  </m:oMath>
                </a14:m>
                <a:r>
                  <a:rPr sz="2400" b="0">
                    <a:solidFill>
                      <a:srgbClr val="111827"/>
                    </a:solidFill>
                    <a:latin typeface="Arial"/>
                  </a:rPr>
                  <a:t>. Then the value of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Suppose </a:t>
                </a:r>
                <a:r>
                  <a:rPr lang="en-IN" sz="2400">
                    <a:solidFill>
                      <a:srgbClr val="111827"/>
                    </a:solidFill>
                    <a:latin typeface="Cambria Math" panose="02040503050406030204" pitchFamily="18" charset="0"/>
                  </a:rPr>
                  <a:t>$\sum_{r=0}^{2023}r^2\,{}^{2023}C_r=2023\times\alpha\times2^{2022}$</a:t>
                </a:r>
                <a:r>
                  <a:rPr sz="2400" b="0">
                    <a:solidFill>
                      <a:srgbClr val="111827"/>
                    </a:solidFill>
                    <a:latin typeface="Arial"/>
                  </a:rPr>
                  <a:t>. Then the value of </a:t>
                </a:r>
                <a:r>
                  <a:rPr lang="en-IN" sz="2400">
                    <a:solidFill>
                      <a:srgbClr val="111827"/>
                    </a:solidFill>
                    <a:latin typeface="Cambria Math" panose="02040503050406030204" pitchFamily="18" charset="0"/>
                  </a:rPr>
                  <a:t>$\alpha$</a:t>
                </a:r>
                <a:r>
                  <a:rPr sz="2400" b="0">
                    <a:solidFill>
                      <a:srgbClr val="111827"/>
                    </a:solidFill>
                    <a:latin typeface="Arial"/>
                  </a:rPr>
                  <a:t> is ________.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coefficient identities (sum of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coefficient identities (sum of </a:t>
                </a:r>
                <a:r>
                  <a:rPr lang="en-IN" sz="2400">
                    <a:solidFill>
                      <a:srgbClr val="111827"/>
                    </a:solidFill>
                    <a:latin typeface="Cambria Math" panose="02040503050406030204" pitchFamily="18" charset="0"/>
                  </a:rPr>
                  <a:t>$r^2\binom nr$</a:t>
                </a:r>
                <a:r>
                  <a:rPr sz="2400" b="0">
                    <a:solidFill>
                      <a:srgbClr val="111827"/>
                    </a:solidFill>
                    <a:latin typeface="Arial"/>
                  </a:rPr>
                  <a: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a:t>
                </a:r>
                <a14:m>
                  <m:oMath xmlns:m="http://schemas.openxmlformats.org/officeDocument/2006/math">
                    <m:r>
                      <a:rPr lang="en-IN" sz="2400" i="1">
                        <a:solidFill>
                          <a:srgbClr val="78350F"/>
                        </a:solidFill>
                        <a:latin typeface="Cambria Math" panose="02040503050406030204" pitchFamily="18" charset="0"/>
                      </a:rPr>
                      <m:t>𝑟</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𝑟</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e>
                    </m:d>
                  </m:oMath>
                </a14:m>
                <a:r>
                  <a:rPr sz="2400" b="0">
                    <a:solidFill>
                      <a:srgbClr val="78350F"/>
                    </a:solidFill>
                    <a:latin typeface="Arial"/>
                  </a:rPr>
                  <a:t> and split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a:t>
                </a:r>
                <a:r>
                  <a:rPr lang="en-IN" sz="2400">
                    <a:solidFill>
                      <a:srgbClr val="78350F"/>
                    </a:solidFill>
                    <a:latin typeface="Cambria Math" panose="02040503050406030204" pitchFamily="18" charset="0"/>
                  </a:rPr>
                  <a:t>$r\binom nr=n\binom{n-1}{r-1}$</a:t>
                </a:r>
                <a:r>
                  <a:rPr sz="2400" b="0">
                    <a:solidFill>
                      <a:srgbClr val="78350F"/>
                    </a:solidFill>
                    <a:latin typeface="Arial"/>
                  </a:rPr>
                  <a:t> and split </a:t>
                </a:r>
                <a:r>
                  <a:rPr lang="en-IN" sz="2400">
                    <a:solidFill>
                      <a:srgbClr val="78350F"/>
                    </a:solidFill>
                    <a:latin typeface="Cambria Math" panose="02040503050406030204" pitchFamily="18" charset="0"/>
                  </a:rPr>
                  <a:t>$r=(r-1)+1$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2023</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2023</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2023</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2023</m:t>
                        </m:r>
                      </m:sup>
                      <m:e>
                        <m:r>
                          <a:rPr lang="en-IN" sz="2400" i="1">
                            <a:solidFill>
                              <a:srgbClr val="111827"/>
                            </a:solidFill>
                            <a:latin typeface="Cambria Math" panose="02040503050406030204" pitchFamily="18" charset="0"/>
                          </a:rPr>
                          <m:t>𝑟</m:t>
                        </m:r>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2023</m:t>
                    </m:r>
                    <m:d>
                      <m:dPr>
                        <m:begChr m:val="["/>
                        <m:sepChr m:val=""/>
                        <m:endChr m:val="]"/>
                        <m:grow/>
                        <m:ctrlPr>
                          <a:rPr lang="en-IN" sz="2400" i="1">
                            <a:solidFill>
                              <a:srgbClr val="111827"/>
                            </a:solidFill>
                            <a:latin typeface="Cambria Math" panose="02040503050406030204" pitchFamily="18" charset="0"/>
                          </a:rPr>
                        </m:ctrlPr>
                      </m:dPr>
                      <m:e>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2023</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2023</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e>
                        </m:nary>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first part use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e>
                    </m:d>
                  </m:oMath>
                </a14:m>
                <a:r>
                  <a:rPr sz="2400" b="0">
                    <a:solidFill>
                      <a:srgbClr val="111827"/>
                    </a:solidFill>
                    <a:latin typeface="Arial"/>
                  </a:rPr>
                  <a:t>, so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2023</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2021</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r\cdot r\binom{2023}{r}=\sum r\cdot2023\binom{2022}{r-1}=2023\sum_{r=1}^{2023}r\binom{2022}{r-1}$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$r=(r-1)+1$</a:t>
                </a:r>
                <a:r>
                  <a:rPr sz="2400" b="0">
                    <a:solidFill>
                      <a:srgbClr val="111827"/>
                    </a:solidFill>
                    <a:latin typeface="Arial"/>
                  </a:rPr>
                  <a:t>: </a:t>
                </a:r>
                <a:r>
                  <a:rPr lang="en-IN" sz="2400">
                    <a:solidFill>
                      <a:srgbClr val="111827"/>
                    </a:solidFill>
                    <a:latin typeface="Cambria Math" panose="02040503050406030204" pitchFamily="18" charset="0"/>
                  </a:rPr>
                  <a:t>$2023\left[\sum_{r=1}^{2023}(r-1)\binom{2022}{r-1}+\sum_{r=1}^{2023}\binom{2022}{r-1}\right]$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first part use </a:t>
                </a:r>
                <a:r>
                  <a:rPr lang="en-IN" sz="2400">
                    <a:solidFill>
                      <a:srgbClr val="111827"/>
                    </a:solidFill>
                    <a:latin typeface="Cambria Math" panose="02040503050406030204" pitchFamily="18" charset="0"/>
                  </a:rPr>
                  <a:t>$(r-1)\binom{2022}{r-1}=2022\binom{2021}{r-2}$</a:t>
                </a:r>
                <a:r>
                  <a:rPr sz="2400" b="0">
                    <a:solidFill>
                      <a:srgbClr val="111827"/>
                    </a:solidFill>
                    <a:latin typeface="Arial"/>
                  </a:rPr>
                  <a:t>, so </a:t>
                </a:r>
                <a:r>
                  <a:rPr lang="en-IN" sz="2400">
                    <a:solidFill>
                      <a:srgbClr val="111827"/>
                    </a:solidFill>
                    <a:latin typeface="Cambria Math" panose="02040503050406030204" pitchFamily="18" charset="0"/>
                  </a:rPr>
                  <a:t>$\sum_{r=2}^{2023}(r-1)\binom{2022}{r-1}=2022\cdot2^{2021}$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second part is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2023</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e>
                    </m:nary>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2022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2023</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2022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2021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2022</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2022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2022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14:m>
                  <m:oMath xmlns:m="http://schemas.openxmlformats.org/officeDocument/2006/math">
                    <m:r>
                      <a:rPr lang="en-IN" sz="2400" i="1">
                        <a:solidFill>
                          <a:srgbClr val="111827"/>
                        </a:solidFill>
                        <a:latin typeface="Cambria Math" panose="02040503050406030204" pitchFamily="18" charset="0"/>
                      </a:rPr>
                      <m:t>2023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2022</m:t>
                        </m:r>
                      </m:sup>
                    </m:sSup>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second part is </a:t>
                </a:r>
                <a:r>
                  <a:rPr lang="en-IN" sz="2400">
                    <a:solidFill>
                      <a:srgbClr val="111827"/>
                    </a:solidFill>
                    <a:latin typeface="Cambria Math" panose="02040503050406030204" pitchFamily="18" charset="0"/>
                  </a:rPr>
                  <a:t>$\sum_{r=1}^{2023}\binom{2022}{r-1}=2^{2022}$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$=2023\left(2022\cdot2^{2021}+2^{2022}\right)=2023\cdot2^{2022}(1011+1)=2^{2022}\cdot2023\cdot1012$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r>
                  <a:rPr lang="en-IN" sz="2400">
                    <a:solidFill>
                      <a:srgbClr val="111827"/>
                    </a:solidFill>
                    <a:latin typeface="Cambria Math" panose="02040503050406030204" pitchFamily="18" charset="0"/>
                  </a:rPr>
                  <a:t>$2023\times\alpha\times2^{2022}$</a:t>
                </a:r>
                <a:r>
                  <a:rPr sz="2400" b="0">
                    <a:solidFill>
                      <a:srgbClr val="111827"/>
                    </a:solidFill>
                    <a:latin typeface="Arial"/>
                  </a:rPr>
                  <a:t> gives </a:t>
                </a:r>
                <a:r>
                  <a:rPr lang="en-IN" sz="2400">
                    <a:solidFill>
                      <a:srgbClr val="111827"/>
                    </a:solidFill>
                    <a:latin typeface="Cambria Math" panose="02040503050406030204" pitchFamily="18" charset="0"/>
                  </a:rPr>
                  <a:t>$\alpha=1012$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1012</a:t>
            </a:r>
            <a:endParaRPr sz="2800">
              <a:solidFill>
                <a:srgbClr val="15803D"/>
              </a:solidFill>
            </a:endParaRP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Apply the operator </a:t>
                </a:r>
                <a14:m>
                  <m:oMath xmlns:m="http://schemas.openxmlformats.org/officeDocument/2006/math">
                    <m:r>
                      <a:rPr lang="en-IN" sz="2400" i="1">
                        <a:solidFill>
                          <a:srgbClr val="78350F"/>
                        </a:solidFill>
                        <a:latin typeface="Cambria Math" panose="02040503050406030204" pitchFamily="18" charset="0"/>
                      </a:rPr>
                      <m:t>𝑥</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den>
                    </m:f>
                  </m:oMath>
                </a14:m>
                <a:r>
                  <a:rPr sz="2400" b="0">
                    <a:solidFill>
                      <a:srgbClr val="78350F"/>
                    </a:solidFill>
                    <a:latin typeface="Arial"/>
                  </a:rPr>
                  <a:t> twice to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𝑛</m:t>
                        </m:r>
                      </m:sup>
                    </m:sSup>
                  </m:oMath>
                </a14:m>
                <a:r>
                  <a:rPr sz="2400" b="0">
                    <a:solidFill>
                      <a:srgbClr val="78350F"/>
                    </a:solidFill>
                    <a:latin typeface="Arial"/>
                  </a:rPr>
                  <a:t> and put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Apply the operator </a:t>
                </a:r>
                <a:r>
                  <a:rPr lang="en-IN" sz="2400">
                    <a:solidFill>
                      <a:srgbClr val="78350F"/>
                    </a:solidFill>
                    <a:latin typeface="Cambria Math" panose="02040503050406030204" pitchFamily="18" charset="0"/>
                  </a:rPr>
                  <a:t>$x\frac{d}{dx}$</a:t>
                </a:r>
                <a:r>
                  <a:rPr sz="2400" b="0">
                    <a:solidFill>
                      <a:srgbClr val="78350F"/>
                    </a:solidFill>
                    <a:latin typeface="Arial"/>
                  </a:rPr>
                  <a:t> twice to </a:t>
                </a:r>
                <a:r>
                  <a:rPr lang="en-IN" sz="2400">
                    <a:solidFill>
                      <a:srgbClr val="78350F"/>
                    </a:solidFill>
                    <a:latin typeface="Cambria Math" panose="02040503050406030204" pitchFamily="18" charset="0"/>
                  </a:rPr>
                  <a:t>$(1+x)^n$</a:t>
                </a:r>
                <a:r>
                  <a:rPr sz="2400" b="0">
                    <a:solidFill>
                      <a:srgbClr val="78350F"/>
                    </a:solidFill>
                    <a:latin typeface="Arial"/>
                  </a:rPr>
                  <a:t> and put </a:t>
                </a:r>
                <a:r>
                  <a:rPr lang="en-IN" sz="2400">
                    <a:solidFill>
                      <a:srgbClr val="78350F"/>
                    </a:solidFill>
                    <a:latin typeface="Cambria Math" panose="02040503050406030204" pitchFamily="18" charset="0"/>
                  </a:rPr>
                  <a:t>$x=1$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Then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2021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2022</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1012</m:t>
                    </m:r>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$f(x)=(1+x)^n=\sum\binom nrx^r$</a:t>
                </a:r>
                <a:r>
                  <a:rPr sz="2400" b="0">
                    <a:solidFill>
                      <a:srgbClr val="111827"/>
                    </a:solidFill>
                    <a:latin typeface="Arial"/>
                  </a:rPr>
                  <a:t>. Then </a:t>
                </a:r>
                <a:r>
                  <a:rPr lang="en-IN" sz="2400">
                    <a:solidFill>
                      <a:srgbClr val="111827"/>
                    </a:solidFill>
                    <a:latin typeface="Cambria Math" panose="02040503050406030204" pitchFamily="18" charset="0"/>
                  </a:rPr>
                  <a:t>$\left(x\frac{d}{dx}\right)^2f=\sum r^2\binom nrx^r$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 f'=nx(1+x)^{n-1}$</a:t>
                </a:r>
                <a:r>
                  <a:rPr sz="2400" b="0">
                    <a:solidFill>
                      <a:srgbClr val="111827"/>
                    </a:solidFill>
                    <a:latin typeface="Arial"/>
                  </a:rPr>
                  <a:t>, and </a:t>
                </a:r>
                <a:r>
                  <a:rPr lang="en-IN" sz="2400">
                    <a:solidFill>
                      <a:srgbClr val="111827"/>
                    </a:solidFill>
                    <a:latin typeface="Cambria Math" panose="02040503050406030204" pitchFamily="18" charset="0"/>
                  </a:rPr>
                  <a:t>$x\frac{d}{dx}\left[nx(1+x)^{n-1}\right]=nx(1+x)^{n-1}+n(n-1)x^2(1+x)^{n-2}$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$\sum r^2\binom nr=n2^{n-1}+n(n-1)2^{n-2}=n(n+1)2^{n-2}$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$n=2023$</a:t>
                </a:r>
                <a:r>
                  <a:rPr sz="2400" b="0">
                    <a:solidFill>
                      <a:srgbClr val="111827"/>
                    </a:solidFill>
                    <a:latin typeface="Arial"/>
                  </a:rPr>
                  <a:t>: </a:t>
                </a:r>
                <a:r>
                  <a:rPr lang="en-IN" sz="2400">
                    <a:solidFill>
                      <a:srgbClr val="111827"/>
                    </a:solidFill>
                    <a:latin typeface="Cambria Math" panose="02040503050406030204" pitchFamily="18" charset="0"/>
                  </a:rPr>
                  <a:t>$2023\cdot2024\cdot2^{2021}=2023\cdot1012\cdot2^{2022}$</a:t>
                </a:r>
                <a:r>
                  <a:rPr sz="2400" b="0">
                    <a:solidFill>
                      <a:srgbClr val="111827"/>
                    </a:solidFill>
                    <a:latin typeface="Arial"/>
                  </a:rPr>
                  <a:t>, so </a:t>
                </a:r>
                <a:r>
                  <a:rPr lang="en-IN" sz="2400">
                    <a:solidFill>
                      <a:srgbClr val="111827"/>
                    </a:solidFill>
                    <a:latin typeface="Cambria Math" panose="02040503050406030204" pitchFamily="18" charset="0"/>
                  </a:rPr>
                  <a:t>$\alpha=1012$</a:t>
                </a:r>
                <a:r>
                  <a:rPr sz="2400" b="0">
                    <a:solidFill>
                      <a:srgbClr val="111827"/>
                    </a:solidFill>
                    <a:latin typeface="Arial"/>
                  </a:rPr>
                  <a:t>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1012</a:t>
            </a:r>
            <a:endParaRPr sz="2800">
              <a:solidFill>
                <a:srgbClr val="15803D"/>
              </a:solidFill>
            </a:endParaRP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Absorption: </a:t>
                </a:r>
                <a14:m>
                  <m:oMath xmlns:m="http://schemas.openxmlformats.org/officeDocument/2006/math">
                    <m:r>
                      <a:rPr lang="en-IN" sz="2400" i="1">
                        <a:solidFill>
                          <a:srgbClr val="111827"/>
                        </a:solidFill>
                        <a:latin typeface="Cambria Math" panose="02040503050406030204" pitchFamily="18" charset="0"/>
                      </a:rPr>
                      <m:t>𝑟</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r\binom nr=n2^{n-1}$</a:t>
                </a:r>
                <a:r>
                  <a:rPr sz="2400" b="0">
                    <a:solidFill>
                      <a:srgbClr val="111827"/>
                    </a:solidFill>
                    <a:latin typeface="Arial"/>
                  </a:rPr>
                  <a:t>, </a:t>
                </a:r>
                <a:r>
                  <a:rPr lang="en-IN" sz="2400">
                    <a:solidFill>
                      <a:srgbClr val="111827"/>
                    </a:solidFill>
                    <a:latin typeface="Cambria Math" panose="02040503050406030204" pitchFamily="18" charset="0"/>
                  </a:rPr>
                  <a:t>$\sum r^2\binom nr=n(n+1)2^{n-2}$</a:t>
                </a:r>
                <a:r>
                  <a:rPr sz="2400" b="0">
                    <a:solidFill>
                      <a:srgbClr val="111827"/>
                    </a:solidFill>
                    <a:latin typeface="Arial"/>
                  </a:rPr>
                  <a:t>, </a:t>
                </a:r>
                <a:r>
                  <a:rPr lang="en-IN" sz="2400">
                    <a:solidFill>
                      <a:srgbClr val="111827"/>
                    </a:solidFill>
                    <a:latin typeface="Cambria Math" panose="02040503050406030204" pitchFamily="18" charset="0"/>
                  </a:rPr>
                  <a:t>$\sum r(r-1)\binom nr=n(n-1)2^{n-2}$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r^3\binom nr=n^2(n+3)2^{n-3}$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Absorption: </a:t>
                </a:r>
                <a:r>
                  <a:rPr lang="en-IN" sz="2400">
                    <a:solidFill>
                      <a:srgbClr val="111827"/>
                    </a:solidFill>
                    <a:latin typeface="Cambria Math" panose="02040503050406030204" pitchFamily="18" charset="0"/>
                  </a:rPr>
                  <a:t>$r\binom nr=n\binom{n-1}{r-1}$</a:t>
                </a:r>
                <a:r>
                  <a:rPr sz="2400" b="0">
                    <a:solidFill>
                      <a:srgbClr val="111827"/>
                    </a:solidFill>
                    <a:latin typeface="Arial"/>
                  </a:rPr>
                  <a:t> and </a:t>
                </a:r>
                <a:r>
                  <a:rPr lang="en-IN" sz="2400">
                    <a:solidFill>
                      <a:srgbClr val="111827"/>
                    </a:solidFill>
                    <a:latin typeface="Cambria Math" panose="02040503050406030204" pitchFamily="18" charset="0"/>
                  </a:rPr>
                  <a:t>$r(r-1)\binom nr=n(n-1)\binom{n-2}{r-2}$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$n=3$</a:t>
                </a:r>
                <a:r>
                  <a:rPr sz="2400" b="0">
                    <a:solidFill>
                      <a:srgbClr val="111827"/>
                    </a:solidFill>
                    <a:latin typeface="Arial"/>
                  </a:rPr>
                  <a:t>: </a:t>
                </a:r>
                <a:r>
                  <a:rPr lang="en-IN" sz="2400">
                    <a:solidFill>
                      <a:srgbClr val="111827"/>
                    </a:solidFill>
                    <a:latin typeface="Cambria Math" panose="02040503050406030204" pitchFamily="18" charset="0"/>
                  </a:rPr>
                  <a:t>$\sum r^2\binom3r=3+12+9=24=3\cdot4\cdot2$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sum of the coefficients of the first three terms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be </a:t>
                </a:r>
                <a14:m>
                  <m:oMath xmlns:m="http://schemas.openxmlformats.org/officeDocument/2006/math">
                    <m:r>
                      <a:rPr lang="en-IN" sz="2400" i="1">
                        <a:solidFill>
                          <a:srgbClr val="111827"/>
                        </a:solidFill>
                        <a:latin typeface="Cambria Math" panose="02040503050406030204" pitchFamily="18" charset="0"/>
                      </a:rPr>
                      <m:t>376</m:t>
                    </m:r>
                  </m:oMath>
                </a14:m>
                <a:r>
                  <a:rPr sz="2400" b="0">
                    <a:solidFill>
                      <a:srgbClr val="111827"/>
                    </a:solidFill>
                    <a:latin typeface="Arial"/>
                  </a:rPr>
                  <a:t>. Then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sum of the coefficients of the first three terms in the expansion of </a:t>
                </a:r>
                <a:r>
                  <a:rPr lang="en-IN" sz="2400">
                    <a:solidFill>
                      <a:srgbClr val="111827"/>
                    </a:solidFill>
                    <a:latin typeface="Cambria Math" panose="02040503050406030204" pitchFamily="18" charset="0"/>
                  </a:rPr>
                  <a:t>$\left(x-\dfrac{3}{x^2}\right)^{n}$</a:t>
                </a:r>
                <a:r>
                  <a:rPr sz="2400" b="0">
                    <a:solidFill>
                      <a:srgbClr val="111827"/>
                    </a:solidFill>
                    <a:latin typeface="Arial"/>
                  </a:rPr>
                  <a:t>, </a:t>
                </a:r>
                <a:r>
                  <a:rPr lang="en-IN" sz="2400">
                    <a:solidFill>
                      <a:srgbClr val="111827"/>
                    </a:solidFill>
                    <a:latin typeface="Cambria Math" panose="02040503050406030204" pitchFamily="18" charset="0"/>
                  </a:rPr>
                  <a:t>$x\ne0$</a:t>
                </a:r>
                <a:r>
                  <a:rPr sz="2400" b="0">
                    <a:solidFill>
                      <a:srgbClr val="111827"/>
                    </a:solidFill>
                    <a:latin typeface="Arial"/>
                  </a:rPr>
                  <a:t>, </a:t>
                </a:r>
                <a:r>
                  <a:rPr lang="en-IN" sz="2400">
                    <a:solidFill>
                      <a:srgbClr val="111827"/>
                    </a:solidFill>
                    <a:latin typeface="Cambria Math" panose="02040503050406030204" pitchFamily="18" charset="0"/>
                  </a:rPr>
                  <a:t>$n\in\mathbb N$</a:t>
                </a:r>
                <a:r>
                  <a:rPr sz="2400" b="0">
                    <a:solidFill>
                      <a:srgbClr val="111827"/>
                    </a:solidFill>
                    <a:latin typeface="Arial"/>
                  </a:rPr>
                  <a:t>, be </a:t>
                </a:r>
                <a:r>
                  <a:rPr lang="en-IN" sz="2400">
                    <a:solidFill>
                      <a:srgbClr val="111827"/>
                    </a:solidFill>
                    <a:latin typeface="Cambria Math" panose="02040503050406030204" pitchFamily="18" charset="0"/>
                  </a:rPr>
                  <a:t>$376$</a:t>
                </a:r>
                <a:r>
                  <a:rPr sz="2400" b="0">
                    <a:solidFill>
                      <a:srgbClr val="111827"/>
                    </a:solidFill>
                    <a:latin typeface="Arial"/>
                  </a:rPr>
                  <a:t>. Then the coefficient of </a:t>
                </a:r>
                <a:r>
                  <a:rPr lang="en-IN" sz="2400">
                    <a:solidFill>
                      <a:srgbClr val="111827"/>
                    </a:solidFill>
                    <a:latin typeface="Cambria Math" panose="02040503050406030204" pitchFamily="18" charset="0"/>
                  </a:rPr>
                  <a:t>$x^4$</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25475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 Sum of coefficients of the first terms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First three coefficients are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9</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2</m:t>
                            </m:r>
                          </m:den>
                        </m:f>
                      </m:e>
                    </m:d>
                  </m:oMath>
                </a14:m>
                <a:r>
                  <a:rPr sz="2400" b="0">
                    <a:solidFill>
                      <a:srgbClr val="78350F"/>
                    </a:solidFill>
                    <a:latin typeface="Arial"/>
                  </a:rPr>
                  <a:t>, giving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oMath>
                </a14:m>
                <a:r>
                  <a:rPr sz="2400" b="0">
                    <a:solidFill>
                      <a:srgbClr val="78350F"/>
                    </a:solidFill>
                    <a:latin typeface="Arial"/>
                  </a:rPr>
                  <a:t>; then solve </a:t>
                </a:r>
                <a14:m>
                  <m:oMath xmlns:m="http://schemas.openxmlformats.org/officeDocument/2006/math">
                    <m:r>
                      <a:rPr lang="en-IN" sz="2400" i="1">
                        <a:solidFill>
                          <a:srgbClr val="78350F"/>
                        </a:solidFill>
                        <a:latin typeface="Cambria Math" panose="02040503050406030204" pitchFamily="18" charset="0"/>
                      </a:rPr>
                      <m:t>10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First three coefficients are </a:t>
                </a:r>
                <a:r>
                  <a:rPr lang="en-IN" sz="2400">
                    <a:solidFill>
                      <a:srgbClr val="78350F"/>
                    </a:solidFill>
                    <a:latin typeface="Cambria Math" panose="02040503050406030204" pitchFamily="18" charset="0"/>
                  </a:rPr>
                  <a:t>$1,\,-3n,\,9\binom n2$</a:t>
                </a:r>
                <a:r>
                  <a:rPr sz="2400" b="0">
                    <a:solidFill>
                      <a:srgbClr val="78350F"/>
                    </a:solidFill>
                    <a:latin typeface="Arial"/>
                  </a:rPr>
                  <a:t>, giving </a:t>
                </a:r>
                <a:r>
                  <a:rPr lang="en-IN" sz="2400">
                    <a:solidFill>
                      <a:srgbClr val="78350F"/>
                    </a:solidFill>
                    <a:latin typeface="Cambria Math" panose="02040503050406030204" pitchFamily="18" charset="0"/>
                  </a:rPr>
                  <a:t>$n=10$</a:t>
                </a:r>
                <a:r>
                  <a:rPr sz="2400" b="0">
                    <a:solidFill>
                      <a:srgbClr val="78350F"/>
                    </a:solidFill>
                    <a:latin typeface="Arial"/>
                  </a:rPr>
                  <a:t>; then solve </a:t>
                </a:r>
                <a:r>
                  <a:rPr lang="en-IN" sz="2400">
                    <a:solidFill>
                      <a:srgbClr val="78350F"/>
                    </a:solidFill>
                    <a:latin typeface="Cambria Math" panose="02040503050406030204" pitchFamily="18" charset="0"/>
                  </a:rPr>
                  <a:t>$10-3r=4$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three coefficients are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0</m:t>
                            </m:r>
                          </m:den>
                        </m:f>
                      </m:e>
                    </m: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1</m:t>
                            </m:r>
                          </m:den>
                        </m:f>
                      </m:e>
                    </m: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9</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0</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(the root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is rejected).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𝑟</m:t>
                            </m:r>
                          </m:den>
                        </m:f>
                      </m:e>
                    </m:d>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three coefficients are </a:t>
                </a:r>
                <a:r>
                  <a:rPr lang="en-IN" sz="2400">
                    <a:solidFill>
                      <a:srgbClr val="111827"/>
                    </a:solidFill>
                    <a:latin typeface="Cambria Math" panose="02040503050406030204" pitchFamily="18" charset="0"/>
                  </a:rPr>
                  <a:t>$\binom n0$</a:t>
                </a:r>
                <a:r>
                  <a:rPr sz="2400" b="0">
                    <a:solidFill>
                      <a:srgbClr val="111827"/>
                    </a:solidFill>
                    <a:latin typeface="Arial"/>
                  </a:rPr>
                  <a:t>, </a:t>
                </a:r>
                <a:r>
                  <a:rPr lang="en-IN" sz="2400">
                    <a:solidFill>
                      <a:srgbClr val="111827"/>
                    </a:solidFill>
                    <a:latin typeface="Cambria Math" panose="02040503050406030204" pitchFamily="18" charset="0"/>
                  </a:rPr>
                  <a:t>$-3\binom n1$</a:t>
                </a:r>
                <a:r>
                  <a:rPr sz="2400" b="0">
                    <a:solidFill>
                      <a:srgbClr val="111827"/>
                    </a:solidFill>
                    <a:latin typeface="Arial"/>
                  </a:rPr>
                  <a:t> and </a:t>
                </a:r>
                <a:r>
                  <a:rPr lang="en-IN" sz="2400">
                    <a:solidFill>
                      <a:srgbClr val="111827"/>
                    </a:solidFill>
                    <a:latin typeface="Cambria Math" panose="02040503050406030204" pitchFamily="18" charset="0"/>
                  </a:rPr>
                  <a:t>$9\binom n2$</a:t>
                </a:r>
                <a:r>
                  <a:rPr sz="2400" b="0">
                    <a:solidFill>
                      <a:srgbClr val="111827"/>
                    </a:solidFill>
                    <a:latin typeface="Arial"/>
                  </a:rPr>
                  <a:t>, so </a:t>
                </a:r>
                <a:r>
                  <a:rPr lang="en-IN" sz="2400">
                    <a:solidFill>
                      <a:srgbClr val="111827"/>
                    </a:solidFill>
                    <a:latin typeface="Cambria Math" panose="02040503050406030204" pitchFamily="18" charset="0"/>
                  </a:rPr>
                  <a:t>$\binom n0-3\binom n1+9\binom n2=376$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$1-3n+\dfrac{9n(n-1)}{2}=376\Rightarrow 3n^2-5n-250=0\Rightarrow n=10$</a:t>
                </a:r>
                <a:r>
                  <a:rPr sz="2400" b="0">
                    <a:solidFill>
                      <a:srgbClr val="111827"/>
                    </a:solidFill>
                    <a:latin typeface="Arial"/>
                  </a:rPr>
                  <a:t> (the root </a:t>
                </a:r>
                <a:r>
                  <a:rPr lang="en-IN" sz="2400">
                    <a:solidFill>
                      <a:srgbClr val="111827"/>
                    </a:solidFill>
                    <a:latin typeface="Cambria Math" panose="02040503050406030204" pitchFamily="18" charset="0"/>
                  </a:rPr>
                  <a:t>$n=-\frac{25}{3}$</a:t>
                </a:r>
                <a:r>
                  <a:rPr sz="2400" b="0">
                    <a:solidFill>
                      <a:srgbClr val="111827"/>
                    </a:solidFill>
                    <a:latin typeface="Arial"/>
                  </a:rPr>
                  <a:t> is rejected).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$T_{r+1}=\binom{10}{r}\left(-\dfrac{3}{x^2}\right)^r x^{10-r}=\binom{10}{r}(-3)^r x^{10-3r}$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$x^4$</a:t>
                </a:r>
                <a:r>
                  <a:rPr sz="2400" b="0">
                    <a:solidFill>
                      <a:srgbClr val="111827"/>
                    </a:solidFill>
                    <a:latin typeface="Arial"/>
                  </a:rPr>
                  <a:t>: </a:t>
                </a:r>
                <a:r>
                  <a:rPr lang="en-IN" sz="2400">
                    <a:solidFill>
                      <a:srgbClr val="111827"/>
                    </a:solidFill>
                    <a:latin typeface="Cambria Math" panose="02040503050406030204" pitchFamily="18" charset="0"/>
                  </a:rPr>
                  <a:t>$10-3r=4$</a:t>
                </a:r>
                <a:r>
                  <a:rPr sz="2400" b="0">
                    <a:solidFill>
                      <a:srgbClr val="111827"/>
                    </a:solidFill>
                    <a:latin typeface="Arial"/>
                  </a:rPr>
                  <a:t>, so </a:t>
                </a:r>
                <a:r>
                  <a:rPr lang="en-IN" sz="2400">
                    <a:solidFill>
                      <a:srgbClr val="111827"/>
                    </a:solidFill>
                    <a:latin typeface="Cambria Math" panose="02040503050406030204" pitchFamily="18" charset="0"/>
                  </a:rPr>
                  <a:t>$r=2$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$x^4$</a:t>
                </a:r>
                <a:r>
                  <a:rPr sz="2400" b="0">
                    <a:solidFill>
                      <a:srgbClr val="111827"/>
                    </a:solidFill>
                    <a:latin typeface="Arial"/>
                  </a:rPr>
                  <a:t> </a:t>
                </a:r>
                <a:r>
                  <a:rPr lang="en-IN" sz="2400">
                    <a:solidFill>
                      <a:srgbClr val="111827"/>
                    </a:solidFill>
                    <a:latin typeface="Cambria Math" panose="02040503050406030204" pitchFamily="18" charset="0"/>
                  </a:rPr>
                  <a:t>$=\binom{10}{2}(-3)^2=45\times9=405$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405</a:t>
            </a:r>
            <a:endParaRPr sz="2800">
              <a:solidFill>
                <a:srgbClr val="15803D"/>
              </a:solidFill>
            </a:endParaRP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Remove the denominator: </a:t>
                </a:r>
                <a14:m>
                  <m:oMath xmlns:m="http://schemas.openxmlformats.org/officeDocument/2006/math">
                    <m:sSup>
                      <m:e>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den>
                            </m:f>
                          </m:e>
                        </m:d>
                      </m:e>
                      <m:sup>
                        <m:r>
                          <a:rPr lang="en-IN" sz="2400" i="1">
                            <a:solidFill>
                              <a:srgbClr val="78350F"/>
                            </a:solidFill>
                            <a:latin typeface="Cambria Math" panose="02040503050406030204" pitchFamily="18" charset="0"/>
                          </a:rPr>
                          <m:t>10</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10</m:t>
                            </m:r>
                          </m:sup>
                        </m:sSup>
                      </m:num>
                      <m:den>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20</m:t>
                            </m:r>
                          </m:sup>
                        </m:sSup>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Remove the denominator: </a:t>
                </a:r>
                <a:r>
                  <a:rPr lang="en-IN" sz="2400">
                    <a:solidFill>
                      <a:srgbClr val="78350F"/>
                    </a:solidFill>
                    <a:latin typeface="Cambria Math" panose="02040503050406030204" pitchFamily="18" charset="0"/>
                  </a:rPr>
                  <a:t>$\left(x-\frac3{x^2}\right)^{10}=\frac{(x^3-3)^{10}}{x^{20}}$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(found from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376</m:t>
                    </m:r>
                  </m:oMath>
                </a14:m>
                <a:r>
                  <a:rPr sz="2400" b="0">
                    <a:solidFill>
                      <a:srgbClr val="111827"/>
                    </a:solidFill>
                    <a:latin typeface="Arial"/>
                  </a:rPr>
                  <a:t>),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20</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is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24</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oMath>
                </a14:m>
                <a:r>
                  <a:rPr sz="2400" b="0">
                    <a:solidFill>
                      <a:srgbClr val="111827"/>
                    </a:solidFill>
                    <a:latin typeface="Arial"/>
                  </a:rPr>
                  <a:t>, i.e. of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8</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405</m:t>
                    </m:r>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$n=10$</a:t>
                </a:r>
                <a:r>
                  <a:rPr sz="2400" b="0">
                    <a:solidFill>
                      <a:srgbClr val="111827"/>
                    </a:solidFill>
                    <a:latin typeface="Arial"/>
                  </a:rPr>
                  <a:t> (found from </a:t>
                </a:r>
                <a:r>
                  <a:rPr lang="en-IN" sz="2400">
                    <a:solidFill>
                      <a:srgbClr val="111827"/>
                    </a:solidFill>
                    <a:latin typeface="Cambria Math" panose="02040503050406030204" pitchFamily="18" charset="0"/>
                  </a:rPr>
                  <a:t>$1-3n+\frac92n(n-1)=376$</a:t>
                </a:r>
                <a:r>
                  <a:rPr sz="2400" b="0">
                    <a:solidFill>
                      <a:srgbClr val="111827"/>
                    </a:solidFill>
                    <a:latin typeface="Arial"/>
                  </a:rPr>
                  <a:t>), </a:t>
                </a:r>
                <a:r>
                  <a:rPr lang="en-IN" sz="2400">
                    <a:solidFill>
                      <a:srgbClr val="111827"/>
                    </a:solidFill>
                    <a:latin typeface="Cambria Math" panose="02040503050406030204" pitchFamily="18" charset="0"/>
                  </a:rPr>
                  <a:t>$\left(x-\dfrac{3}{x^2}\right)^{10}=\dfrac{(x^3-3)^{10}}{x^{20}}$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$x^4$</a:t>
                </a:r>
                <a:r>
                  <a:rPr sz="2400" b="0">
                    <a:solidFill>
                      <a:srgbClr val="111827"/>
                    </a:solidFill>
                    <a:latin typeface="Arial"/>
                  </a:rPr>
                  <a:t> is the coefficient of </a:t>
                </a:r>
                <a:r>
                  <a:rPr lang="en-IN" sz="2400">
                    <a:solidFill>
                      <a:srgbClr val="111827"/>
                    </a:solidFill>
                    <a:latin typeface="Cambria Math" panose="02040503050406030204" pitchFamily="18" charset="0"/>
                  </a:rPr>
                  <a:t>$x^{24}$</a:t>
                </a:r>
                <a:r>
                  <a:rPr sz="2400" b="0">
                    <a:solidFill>
                      <a:srgbClr val="111827"/>
                    </a:solidFill>
                    <a:latin typeface="Arial"/>
                  </a:rPr>
                  <a:t> in </a:t>
                </a:r>
                <a:r>
                  <a:rPr lang="en-IN" sz="2400">
                    <a:solidFill>
                      <a:srgbClr val="111827"/>
                    </a:solidFill>
                    <a:latin typeface="Cambria Math" panose="02040503050406030204" pitchFamily="18" charset="0"/>
                  </a:rPr>
                  <a:t>$(x^3-3)^{10}$</a:t>
                </a:r>
                <a:r>
                  <a:rPr sz="2400" b="0">
                    <a:solidFill>
                      <a:srgbClr val="111827"/>
                    </a:solidFill>
                    <a:latin typeface="Arial"/>
                  </a:rPr>
                  <a:t>, i.e. of </a:t>
                </a:r>
                <a:r>
                  <a:rPr lang="en-IN" sz="2400">
                    <a:solidFill>
                      <a:srgbClr val="111827"/>
                    </a:solidFill>
                    <a:latin typeface="Cambria Math" panose="02040503050406030204" pitchFamily="18" charset="0"/>
                  </a:rPr>
                  <a:t>$(x^3)^8$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is </a:t>
                </a:r>
                <a:r>
                  <a:rPr lang="en-IN" sz="2400">
                    <a:solidFill>
                      <a:srgbClr val="111827"/>
                    </a:solidFill>
                    <a:latin typeface="Cambria Math" panose="02040503050406030204" pitchFamily="18" charset="0"/>
                  </a:rPr>
                  <a:t>$\binom{10}{8}(-3)^{2}=45\cdot9=405$</a:t>
                </a:r>
                <a:r>
                  <a:rPr sz="2400" b="0">
                    <a:solidFill>
                      <a:srgbClr val="111827"/>
                    </a:solidFill>
                    <a:latin typeface="Arial"/>
                  </a:rPr>
                  <a:t>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405</a:t>
            </a:r>
            <a:endParaRPr sz="2800">
              <a:solidFill>
                <a:srgbClr val="15803D"/>
              </a:solidFill>
            </a:endParaRP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the first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coefficients (numerical parts)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𝑗</m:t>
                                </m:r>
                              </m:den>
                            </m:f>
                          </m:e>
                        </m:d>
                      </m:e>
                    </m:nary>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𝑗</m:t>
                        </m:r>
                      </m:sup>
                    </m:sSup>
                  </m:oMath>
                </a14:m>
                <a:r>
                  <a:rPr sz="2400" b="0">
                    <a:solidFill>
                      <a:srgbClr val="111827"/>
                    </a:solidFill>
                    <a:latin typeface="Arial"/>
                  </a:rPr>
                  <a:t>; for three terms it is quadratic in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𝑎</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𝑏</m:t>
                                    </m:r>
                                  </m:sup>
                                </m:sSup>
                              </m:den>
                            </m:f>
                          </m:e>
                        </m:d>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𝑛</m:t>
                            </m:r>
                          </m:sup>
                        </m:sSup>
                      </m:den>
                    </m:f>
                  </m:oMath>
                </a14:m>
                <a:r>
                  <a:rPr sz="2400" b="0">
                    <a:solidFill>
                      <a:srgbClr val="111827"/>
                    </a:solidFill>
                    <a:latin typeface="Arial"/>
                  </a:rPr>
                  <a:t>: clearing the denominator turns exponent-matching into picking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exponent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oMath>
                </a14:m>
                <a:r>
                  <a:rPr sz="2400" b="0">
                    <a:solidFill>
                      <a:srgbClr val="111827"/>
                    </a:solidFill>
                    <a:latin typeface="Arial"/>
                  </a:rPr>
                  <a:t>, so the term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only if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the first </a:t>
                </a:r>
                <a:r>
                  <a:rPr lang="en-IN" sz="2400">
                    <a:solidFill>
                      <a:srgbClr val="111827"/>
                    </a:solidFill>
                    <a:latin typeface="Cambria Math" panose="02040503050406030204" pitchFamily="18" charset="0"/>
                  </a:rPr>
                  <a:t>$k$</a:t>
                </a:r>
                <a:r>
                  <a:rPr sz="2400" b="0">
                    <a:solidFill>
                      <a:srgbClr val="111827"/>
                    </a:solidFill>
                    <a:latin typeface="Arial"/>
                  </a:rPr>
                  <a:t> coefficients (numerical parts) of </a:t>
                </a:r>
                <a:r>
                  <a:rPr lang="en-IN" sz="2400">
                    <a:solidFill>
                      <a:srgbClr val="111827"/>
                    </a:solidFill>
                    <a:latin typeface="Cambria Math" panose="02040503050406030204" pitchFamily="18" charset="0"/>
                  </a:rPr>
                  <a:t>$(x+a y)^n$</a:t>
                </a:r>
                <a:r>
                  <a:rPr sz="2400" b="0">
                    <a:solidFill>
                      <a:srgbClr val="111827"/>
                    </a:solidFill>
                    <a:latin typeface="Arial"/>
                  </a:rPr>
                  <a:t>: </a:t>
                </a:r>
                <a:r>
                  <a:rPr lang="en-IN" sz="2400">
                    <a:solidFill>
                      <a:srgbClr val="111827"/>
                    </a:solidFill>
                    <a:latin typeface="Cambria Math" panose="02040503050406030204" pitchFamily="18" charset="0"/>
                  </a:rPr>
                  <a:t>$\sum_{j&lt;k}\binom nj a^j$</a:t>
                </a:r>
                <a:r>
                  <a:rPr sz="2400" b="0">
                    <a:solidFill>
                      <a:srgbClr val="111827"/>
                    </a:solidFill>
                    <a:latin typeface="Arial"/>
                  </a:rPr>
                  <a:t>; for three terms it is quadratic in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$\left(x^a+\frac{c}{x^b}\right)^n=\frac{(x^{a+b}+c)^n}{x^{bn}}$</a:t>
                </a:r>
                <a:r>
                  <a:rPr sz="2400" b="0">
                    <a:solidFill>
                      <a:srgbClr val="111827"/>
                    </a:solidFill>
                    <a:latin typeface="Arial"/>
                  </a:rPr>
                  <a:t>: clearing the denominator turns exponent-matching into picking </a:t>
                </a:r>
                <a:r>
                  <a:rPr lang="en-IN" sz="2400">
                    <a:solidFill>
                      <a:srgbClr val="111827"/>
                    </a:solidFill>
                    <a:latin typeface="Cambria Math" panose="02040503050406030204" pitchFamily="18" charset="0"/>
                  </a:rPr>
                  <a:t>$(x^{a+b})^j$</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$\left(x-\frac3{x^2}\right)^{n}$</a:t>
                </a:r>
                <a:r>
                  <a:rPr sz="2400" b="0">
                    <a:solidFill>
                      <a:srgbClr val="111827"/>
                    </a:solidFill>
                    <a:latin typeface="Arial"/>
                  </a:rPr>
                  <a:t>: exponent of </a:t>
                </a:r>
                <a:r>
                  <a:rPr lang="en-IN" sz="2400">
                    <a:solidFill>
                      <a:srgbClr val="111827"/>
                    </a:solidFill>
                    <a:latin typeface="Cambria Math" panose="02040503050406030204" pitchFamily="18" charset="0"/>
                  </a:rPr>
                  <a:t>$x$</a:t>
                </a:r>
                <a:r>
                  <a:rPr sz="2400" b="0">
                    <a:solidFill>
                      <a:srgbClr val="111827"/>
                    </a:solidFill>
                    <a:latin typeface="Arial"/>
                  </a:rPr>
                  <a:t> in </a:t>
                </a:r>
                <a:r>
                  <a:rPr lang="en-IN" sz="2400">
                    <a:solidFill>
                      <a:srgbClr val="111827"/>
                    </a:solidFill>
                    <a:latin typeface="Cambria Math" panose="02040503050406030204" pitchFamily="18" charset="0"/>
                  </a:rPr>
                  <a:t>$T_{r+1}$</a:t>
                </a:r>
                <a:r>
                  <a:rPr sz="2400" b="0">
                    <a:solidFill>
                      <a:srgbClr val="111827"/>
                    </a:solidFill>
                    <a:latin typeface="Arial"/>
                  </a:rPr>
                  <a:t> is </a:t>
                </a:r>
                <a:r>
                  <a:rPr lang="en-IN" sz="2400">
                    <a:solidFill>
                      <a:srgbClr val="111827"/>
                    </a:solidFill>
                    <a:latin typeface="Cambria Math" panose="02040503050406030204" pitchFamily="18" charset="0"/>
                  </a:rPr>
                  <a:t>$n-3r$</a:t>
                </a:r>
                <a:r>
                  <a:rPr sz="2400" b="0">
                    <a:solidFill>
                      <a:srgbClr val="111827"/>
                    </a:solidFill>
                    <a:latin typeface="Arial"/>
                  </a:rPr>
                  <a:t>, so the term is </a:t>
                </a:r>
                <a:r>
                  <a:rPr lang="en-IN" sz="2400">
                    <a:solidFill>
                      <a:srgbClr val="111827"/>
                    </a:solidFill>
                    <a:latin typeface="Cambria Math" panose="02040503050406030204" pitchFamily="18" charset="0"/>
                  </a:rPr>
                  <a:t>$x^4$</a:t>
                </a:r>
                <a:r>
                  <a:rPr sz="2400" b="0">
                    <a:solidFill>
                      <a:srgbClr val="111827"/>
                    </a:solidFill>
                    <a:latin typeface="Arial"/>
                  </a:rPr>
                  <a:t> only if </a:t>
                </a:r>
                <a:r>
                  <a:rPr lang="en-IN" sz="2400">
                    <a:solidFill>
                      <a:srgbClr val="111827"/>
                    </a:solidFill>
                    <a:latin typeface="Cambria Math" panose="02040503050406030204" pitchFamily="18" charset="0"/>
                  </a:rPr>
                  <a:t>$n\equiv4\pmod3$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$n=10$</a:t>
                </a:r>
                <a:r>
                  <a:rPr sz="2400" b="0">
                    <a:solidFill>
                      <a:srgbClr val="111827"/>
                    </a:solidFill>
                    <a:latin typeface="Arial"/>
                  </a:rPr>
                  <a:t>, </a:t>
                </a:r>
                <a:r>
                  <a:rPr lang="en-IN" sz="2400">
                    <a:solidFill>
                      <a:srgbClr val="111827"/>
                    </a:solidFill>
                    <a:latin typeface="Cambria Math" panose="02040503050406030204" pitchFamily="18" charset="0"/>
                  </a:rPr>
                  <a:t>$1-30+405=376$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constant term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constant term in the expansion of </a:t>
                </a:r>
                <a:r>
                  <a:rPr lang="en-IN" sz="2400">
                    <a:solidFill>
                      <a:srgbClr val="111827"/>
                    </a:solidFill>
                    <a:latin typeface="Cambria Math" panose="02040503050406030204" pitchFamily="18" charset="0"/>
                  </a:rPr>
                  <a:t>$\left(2x+\dfrac{1}{x^7}+3x^2\right)^{5}$</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Multinomial expansion (constant term)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multinomial term </a:t>
                </a:r>
                <a14:m>
                  <m:oMath xmlns:m="http://schemas.openxmlformats.org/officeDocument/2006/math">
                    <m:sSup>
                      <m:e>
                        <m:r>
                          <a:rPr lang="en-IN" sz="2400" i="1">
                            <a:solidFill>
                              <a:srgbClr val="78350F"/>
                            </a:solidFill>
                            <a:latin typeface="Cambria Math" panose="02040503050406030204" pitchFamily="18" charset="0"/>
                          </a:rPr>
                          <m:t>𝑥</m:t>
                        </m:r>
                      </m:e>
                      <m:sup>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1</m:t>
                            </m:r>
                          </m:sub>
                        </m:sSub>
                      </m:sup>
                    </m:sSup>
                    <m:sSup>
                      <m:e>
                        <m:r>
                          <a:rPr lang="en-IN" sz="2400" i="1">
                            <a:solidFill>
                              <a:srgbClr val="78350F"/>
                            </a:solidFill>
                            <a:latin typeface="Cambria Math" panose="02040503050406030204" pitchFamily="18" charset="0"/>
                          </a:rPr>
                          <m:t>𝑥</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2</m:t>
                            </m:r>
                          </m:sub>
                        </m:sSub>
                      </m:sup>
                    </m:sSup>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3</m:t>
                            </m:r>
                          </m:sub>
                        </m:sSub>
                      </m:sup>
                    </m:sSup>
                  </m:oMath>
                </a14:m>
                <a:r>
                  <a:rPr sz="2400" b="0">
                    <a:solidFill>
                      <a:srgbClr val="78350F"/>
                    </a:solidFill>
                    <a:latin typeface="Arial"/>
                  </a:rPr>
                  <a:t> is constant when </a:t>
                </a:r>
                <a14:m>
                  <m:oMath xmlns:m="http://schemas.openxmlformats.org/officeDocument/2006/math">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3</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with </a:t>
                </a:r>
                <a14:m>
                  <m:oMath xmlns:m="http://schemas.openxmlformats.org/officeDocument/2006/math">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3</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 only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works.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multinomial term </a:t>
                </a:r>
                <a:r>
                  <a:rPr lang="en-IN" sz="2400">
                    <a:solidFill>
                      <a:srgbClr val="78350F"/>
                    </a:solidFill>
                    <a:latin typeface="Cambria Math" panose="02040503050406030204" pitchFamily="18" charset="0"/>
                  </a:rPr>
                  <a:t>$x^{n_1}x^{-7n_2}x^{2n_3}$</a:t>
                </a:r>
                <a:r>
                  <a:rPr sz="2400" b="0">
                    <a:solidFill>
                      <a:srgbClr val="78350F"/>
                    </a:solidFill>
                    <a:latin typeface="Arial"/>
                  </a:rPr>
                  <a:t> is constant when </a:t>
                </a:r>
                <a:r>
                  <a:rPr lang="en-IN" sz="2400">
                    <a:solidFill>
                      <a:srgbClr val="78350F"/>
                    </a:solidFill>
                    <a:latin typeface="Cambria Math" panose="02040503050406030204" pitchFamily="18" charset="0"/>
                  </a:rPr>
                  <a:t>$n_1+2n_3=7n_2$</a:t>
                </a:r>
                <a:r>
                  <a:rPr sz="2400" b="0">
                    <a:solidFill>
                      <a:srgbClr val="78350F"/>
                    </a:solidFill>
                    <a:latin typeface="Arial"/>
                  </a:rPr>
                  <a:t>; with </a:t>
                </a:r>
                <a:r>
                  <a:rPr lang="en-IN" sz="2400">
                    <a:solidFill>
                      <a:srgbClr val="78350F"/>
                    </a:solidFill>
                    <a:latin typeface="Cambria Math" panose="02040503050406030204" pitchFamily="18" charset="0"/>
                  </a:rPr>
                  <a:t>$n_1+n_2+n_3=5$</a:t>
                </a:r>
                <a:r>
                  <a:rPr sz="2400" b="0">
                    <a:solidFill>
                      <a:srgbClr val="78350F"/>
                    </a:solidFill>
                    <a:latin typeface="Arial"/>
                  </a:rPr>
                  <a:t> only </a:t>
                </a:r>
                <a:r>
                  <a:rPr lang="en-IN" sz="2400">
                    <a:solidFill>
                      <a:srgbClr val="78350F"/>
                    </a:solidFill>
                    <a:latin typeface="Cambria Math" panose="02040503050406030204" pitchFamily="18" charset="0"/>
                  </a:rPr>
                  <a:t>$(1,1,3)$</a:t>
                </a:r>
                <a:r>
                  <a:rPr sz="2400" b="0">
                    <a:solidFill>
                      <a:srgbClr val="78350F"/>
                    </a:solidFill>
                    <a:latin typeface="Arial"/>
                  </a:rPr>
                  <a:t> works.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general term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sup>
                    </m:sSup>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up>
                            </m:sSup>
                          </m:e>
                        </m:d>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sup>
                    </m:sSup>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Eliminating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gives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only solution is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general term is </a:t>
                </a:r>
                <a:r>
                  <a:rPr lang="en-IN" sz="2400">
                    <a:solidFill>
                      <a:srgbClr val="111827"/>
                    </a:solidFill>
                    <a:latin typeface="Cambria Math" panose="02040503050406030204" pitchFamily="18" charset="0"/>
                  </a:rPr>
                  <a:t>$\dfrac{5!}{n_1!\,n_2!\,n_3!}(2x)^{n_1}\left(x^{-7}\right)^{n_2}(3x^2)^{n_3}$</a:t>
                </a:r>
                <a:r>
                  <a:rPr sz="2400" b="0">
                    <a:solidFill>
                      <a:srgbClr val="111827"/>
                    </a:solidFill>
                    <a:latin typeface="Arial"/>
                  </a:rPr>
                  <a:t> with </a:t>
                </a:r>
                <a:r>
                  <a:rPr lang="en-IN" sz="2400">
                    <a:solidFill>
                      <a:srgbClr val="111827"/>
                    </a:solidFill>
                    <a:latin typeface="Cambria Math" panose="02040503050406030204" pitchFamily="18" charset="0"/>
                  </a:rPr>
                  <a:t>$n_1+n_2+n_3=5$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a:t>
                </a:r>
                <a:r>
                  <a:rPr lang="en-IN" sz="2400">
                    <a:solidFill>
                      <a:srgbClr val="111827"/>
                    </a:solidFill>
                    <a:latin typeface="Cambria Math" panose="02040503050406030204" pitchFamily="18" charset="0"/>
                  </a:rPr>
                  <a:t>$n_1-7n_2+2n_3=0$</a:t>
                </a:r>
                <a:r>
                  <a:rPr sz="2400" b="0">
                    <a:solidFill>
                      <a:srgbClr val="111827"/>
                    </a:solidFill>
                    <a:latin typeface="Arial"/>
                  </a:rPr>
                  <a:t>, i.e. </a:t>
                </a:r>
                <a:r>
                  <a:rPr lang="en-IN" sz="2400">
                    <a:solidFill>
                      <a:srgbClr val="111827"/>
                    </a:solidFill>
                    <a:latin typeface="Cambria Math" panose="02040503050406030204" pitchFamily="18" charset="0"/>
                  </a:rPr>
                  <a:t>$n_1+2n_3=7n_2$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Eliminating </a:t>
                </a:r>
                <a:r>
                  <a:rPr lang="en-IN" sz="2400">
                    <a:solidFill>
                      <a:srgbClr val="111827"/>
                    </a:solidFill>
                    <a:latin typeface="Cambria Math" panose="02040503050406030204" pitchFamily="18" charset="0"/>
                  </a:rPr>
                  <a:t>$n_1=5-n_2-n_3$</a:t>
                </a:r>
                <a:r>
                  <a:rPr sz="2400" b="0">
                    <a:solidFill>
                      <a:srgbClr val="111827"/>
                    </a:solidFill>
                    <a:latin typeface="Arial"/>
                  </a:rPr>
                  <a:t> gives </a:t>
                </a:r>
                <a:r>
                  <a:rPr lang="en-IN" sz="2400">
                    <a:solidFill>
                      <a:srgbClr val="111827"/>
                    </a:solidFill>
                    <a:latin typeface="Cambria Math" panose="02040503050406030204" pitchFamily="18" charset="0"/>
                  </a:rPr>
                  <a:t>$n_3=8n_2-5$</a:t>
                </a:r>
                <a:r>
                  <a:rPr sz="2400" b="0">
                    <a:solidFill>
                      <a:srgbClr val="111827"/>
                    </a:solidFill>
                    <a:latin typeface="Arial"/>
                  </a:rPr>
                  <a:t>; with </a:t>
                </a:r>
                <a:r>
                  <a:rPr lang="en-IN" sz="2400">
                    <a:solidFill>
                      <a:srgbClr val="111827"/>
                    </a:solidFill>
                    <a:latin typeface="Cambria Math" panose="02040503050406030204" pitchFamily="18" charset="0"/>
                  </a:rPr>
                  <a:t>$n_2+n_3\le5$</a:t>
                </a:r>
                <a:r>
                  <a:rPr sz="2400" b="0">
                    <a:solidFill>
                      <a:srgbClr val="111827"/>
                    </a:solidFill>
                    <a:latin typeface="Arial"/>
                  </a:rPr>
                  <a:t> and </a:t>
                </a:r>
                <a:r>
                  <a:rPr lang="en-IN" sz="2400">
                    <a:solidFill>
                      <a:srgbClr val="111827"/>
                    </a:solidFill>
                    <a:latin typeface="Cambria Math" panose="02040503050406030204" pitchFamily="18" charset="0"/>
                  </a:rPr>
                  <a:t>$n_3\ge0$</a:t>
                </a:r>
                <a:r>
                  <a:rPr sz="2400" b="0">
                    <a:solidFill>
                      <a:srgbClr val="111827"/>
                    </a:solidFill>
                    <a:latin typeface="Arial"/>
                  </a:rPr>
                  <a:t> the only solution is </a:t>
                </a:r>
                <a:r>
                  <a:rPr lang="en-IN" sz="2400">
                    <a:solidFill>
                      <a:srgbClr val="111827"/>
                    </a:solidFill>
                    <a:latin typeface="Cambria Math" panose="02040503050406030204" pitchFamily="18" charset="0"/>
                  </a:rPr>
                  <a:t>$n_2=1$</a:t>
                </a:r>
                <a:r>
                  <a:rPr sz="2400" b="0">
                    <a:solidFill>
                      <a:srgbClr val="111827"/>
                    </a:solidFill>
                    <a:latin typeface="Arial"/>
                  </a:rPr>
                  <a:t>, </a:t>
                </a:r>
                <a:r>
                  <a:rPr lang="en-IN" sz="2400">
                    <a:solidFill>
                      <a:srgbClr val="111827"/>
                    </a:solidFill>
                    <a:latin typeface="Cambria Math" panose="02040503050406030204" pitchFamily="18" charset="0"/>
                  </a:rPr>
                  <a:t>$n_3=3$</a:t>
                </a:r>
                <a:r>
                  <a:rPr sz="2400" b="0">
                    <a:solidFill>
                      <a:srgbClr val="111827"/>
                    </a:solidFill>
                    <a:latin typeface="Arial"/>
                  </a:rPr>
                  <a:t>, </a:t>
                </a:r>
                <a:r>
                  <a:rPr lang="en-IN" sz="2400">
                    <a:solidFill>
                      <a:srgbClr val="111827"/>
                    </a:solidFill>
                    <a:latin typeface="Cambria Math" panose="02040503050406030204" pitchFamily="18" charset="0"/>
                  </a:rPr>
                  <a:t>$n_1=1$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a:t>
                </a:r>
                <a:r>
                  <a:rPr lang="en-IN" sz="2400">
                    <a:solidFill>
                      <a:srgbClr val="111827"/>
                    </a:solidFill>
                    <a:latin typeface="Cambria Math" panose="02040503050406030204" pitchFamily="18" charset="0"/>
                  </a:rPr>
                  <a:t>$=\dfrac{5!}{1!\,1!\,3!}\cdot2^{1}\cdot3^{3}=20\cdot2\cdot27=1080$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1080</a:t>
            </a:r>
            <a:endParaRPr sz="2800">
              <a:solidFill>
                <a:srgbClr val="15803D"/>
              </a:solidFill>
            </a:endParaRP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Multiply through by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7</m:t>
                        </m:r>
                      </m:sup>
                    </m:sSup>
                  </m:oMath>
                </a14:m>
                <a:r>
                  <a:rPr sz="2400" b="0">
                    <a:solidFill>
                      <a:srgbClr val="78350F"/>
                    </a:solidFill>
                    <a:latin typeface="Arial"/>
                  </a:rPr>
                  <a:t> to make the polynomial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8</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9</m:t>
                        </m:r>
                      </m:sup>
                    </m:sSup>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5</m:t>
                        </m:r>
                      </m:sup>
                    </m:sSup>
                  </m:oMath>
                </a14:m>
                <a:r>
                  <a:rPr sz="2400" b="0">
                    <a:solidFill>
                      <a:srgbClr val="78350F"/>
                    </a:solidFill>
                    <a:latin typeface="Arial"/>
                  </a:rPr>
                  <a:t> and read off the coefficient of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35</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Multiply through by </a:t>
                </a:r>
                <a:r>
                  <a:rPr lang="en-IN" sz="2400">
                    <a:solidFill>
                      <a:srgbClr val="78350F"/>
                    </a:solidFill>
                    <a:latin typeface="Cambria Math" panose="02040503050406030204" pitchFamily="18" charset="0"/>
                  </a:rPr>
                  <a:t>$x^{7}$</a:t>
                </a:r>
                <a:r>
                  <a:rPr sz="2400" b="0">
                    <a:solidFill>
                      <a:srgbClr val="78350F"/>
                    </a:solidFill>
                    <a:latin typeface="Arial"/>
                  </a:rPr>
                  <a:t> to make the polynomial </a:t>
                </a:r>
                <a:r>
                  <a:rPr lang="en-IN" sz="2400">
                    <a:solidFill>
                      <a:srgbClr val="78350F"/>
                    </a:solidFill>
                    <a:latin typeface="Cambria Math" panose="02040503050406030204" pitchFamily="18" charset="0"/>
                  </a:rPr>
                  <a:t>$(1+2x^8+3x^9)^5$</a:t>
                </a:r>
                <a:r>
                  <a:rPr sz="2400" b="0">
                    <a:solidFill>
                      <a:srgbClr val="78350F"/>
                    </a:solidFill>
                    <a:latin typeface="Arial"/>
                  </a:rPr>
                  <a:t> and read off the coefficient of </a:t>
                </a:r>
                <a:r>
                  <a:rPr lang="en-IN" sz="2400">
                    <a:solidFill>
                      <a:srgbClr val="78350F"/>
                    </a:solidFill>
                    <a:latin typeface="Cambria Math" panose="02040503050406030204" pitchFamily="18" charset="0"/>
                  </a:rPr>
                  <a:t>$x^{35}$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9</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den>
                    </m:f>
                  </m:oMath>
                </a14:m>
                <a:r>
                  <a:rPr sz="2400" b="0">
                    <a:solidFill>
                      <a:srgbClr val="111827"/>
                    </a:solidFill>
                    <a:latin typeface="Arial"/>
                  </a:rPr>
                  <a:t>, so the expression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9</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35</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constant term is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35</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9</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factors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8</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factors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9</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factors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$\left(2x+\dfrac{1}{x^7}+3x^2\right)=\dfrac{1+2x^8+3x^9}{x^7}$</a:t>
                </a:r>
                <a:r>
                  <a:rPr sz="2400" b="0">
                    <a:solidFill>
                      <a:srgbClr val="111827"/>
                    </a:solidFill>
                    <a:latin typeface="Arial"/>
                  </a:rPr>
                  <a:t>, so the expression is </a:t>
                </a:r>
                <a:r>
                  <a:rPr lang="en-IN" sz="2400">
                    <a:solidFill>
                      <a:srgbClr val="111827"/>
                    </a:solidFill>
                    <a:latin typeface="Cambria Math" panose="02040503050406030204" pitchFamily="18" charset="0"/>
                  </a:rPr>
                  <a:t>$\dfrac{(1+2x^8+3x^9)^5}{x^{35}}$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constant term is the coefficient of </a:t>
                </a:r>
                <a:r>
                  <a:rPr lang="en-IN" sz="2400">
                    <a:solidFill>
                      <a:srgbClr val="111827"/>
                    </a:solidFill>
                    <a:latin typeface="Cambria Math" panose="02040503050406030204" pitchFamily="18" charset="0"/>
                  </a:rPr>
                  <a:t>$x^{35}$</a:t>
                </a:r>
                <a:r>
                  <a:rPr sz="2400" b="0">
                    <a:solidFill>
                      <a:srgbClr val="111827"/>
                    </a:solidFill>
                    <a:latin typeface="Arial"/>
                  </a:rPr>
                  <a:t> in </a:t>
                </a:r>
                <a:r>
                  <a:rPr lang="en-IN" sz="2400">
                    <a:solidFill>
                      <a:srgbClr val="111827"/>
                    </a:solidFill>
                    <a:latin typeface="Cambria Math" panose="02040503050406030204" pitchFamily="18" charset="0"/>
                  </a:rPr>
                  <a:t>$(1+2x^8+3x^9)^5$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$a$</a:t>
                </a:r>
                <a:r>
                  <a:rPr sz="2400" b="0">
                    <a:solidFill>
                      <a:srgbClr val="111827"/>
                    </a:solidFill>
                    <a:latin typeface="Arial"/>
                  </a:rPr>
                  <a:t> factors </a:t>
                </a:r>
                <a:r>
                  <a:rPr lang="en-IN" sz="2400">
                    <a:solidFill>
                      <a:srgbClr val="111827"/>
                    </a:solidFill>
                    <a:latin typeface="Cambria Math" panose="02040503050406030204" pitchFamily="18" charset="0"/>
                  </a:rPr>
                  <a:t>$2x^8$</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factors </a:t>
                </a:r>
                <a:r>
                  <a:rPr lang="en-IN" sz="2400">
                    <a:solidFill>
                      <a:srgbClr val="111827"/>
                    </a:solidFill>
                    <a:latin typeface="Cambria Math" panose="02040503050406030204" pitchFamily="18" charset="0"/>
                  </a:rPr>
                  <a:t>$3x^9$</a:t>
                </a:r>
                <a:r>
                  <a:rPr sz="2400" b="0">
                    <a:solidFill>
                      <a:srgbClr val="111827"/>
                    </a:solidFill>
                    <a:latin typeface="Arial"/>
                  </a:rPr>
                  <a:t> and </a:t>
                </a:r>
                <a:r>
                  <a:rPr lang="en-IN" sz="2400">
                    <a:solidFill>
                      <a:srgbClr val="111827"/>
                    </a:solidFill>
                    <a:latin typeface="Cambria Math" panose="02040503050406030204" pitchFamily="18" charset="0"/>
                  </a:rPr>
                  <a:t>$5-a-b$</a:t>
                </a:r>
                <a:r>
                  <a:rPr sz="2400" b="0">
                    <a:solidFill>
                      <a:srgbClr val="111827"/>
                    </a:solidFill>
                    <a:latin typeface="Arial"/>
                  </a:rPr>
                  <a:t> factors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$8a+9b=35$</a:t>
                </a:r>
                <a:r>
                  <a:rPr sz="2400" b="0">
                    <a:solidFill>
                      <a:srgbClr val="111827"/>
                    </a:solidFill>
                    <a:latin typeface="Arial"/>
                  </a:rPr>
                  <a:t> with </a:t>
                </a:r>
                <a:r>
                  <a:rPr lang="en-IN" sz="2400">
                    <a:solidFill>
                      <a:srgbClr val="111827"/>
                    </a:solidFill>
                    <a:latin typeface="Cambria Math" panose="02040503050406030204" pitchFamily="18" charset="0"/>
                  </a:rPr>
                  <a:t>$a+b\le5$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1080</m:t>
                    </m:r>
                  </m:oMath>
                </a14:m>
                <a:r>
                  <a:rPr sz="2400" b="0">
                    <a:solidFill>
                      <a:srgbClr val="111827"/>
                    </a:solidFill>
                    <a:latin typeface="Arial"/>
                  </a:rPr>
                  <a:t>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$9b\equiv35\pmod 8\Rightarrow b\equiv3\pmod 8$</a:t>
                </a:r>
                <a:r>
                  <a:rPr sz="2400" b="0">
                    <a:solidFill>
                      <a:srgbClr val="111827"/>
                    </a:solidFill>
                    <a:latin typeface="Arial"/>
                  </a:rPr>
                  <a:t>, so </a:t>
                </a:r>
                <a:r>
                  <a:rPr lang="en-IN" sz="2400">
                    <a:solidFill>
                      <a:srgbClr val="111827"/>
                    </a:solidFill>
                    <a:latin typeface="Cambria Math" panose="02040503050406030204" pitchFamily="18" charset="0"/>
                  </a:rPr>
                  <a:t>$b=3$</a:t>
                </a:r>
                <a:r>
                  <a:rPr sz="2400" b="0">
                    <a:solidFill>
                      <a:srgbClr val="111827"/>
                    </a:solidFill>
                    <a:latin typeface="Arial"/>
                  </a:rPr>
                  <a:t>, </a:t>
                </a:r>
                <a:r>
                  <a:rPr lang="en-IN" sz="2400">
                    <a:solidFill>
                      <a:srgbClr val="111827"/>
                    </a:solidFill>
                    <a:latin typeface="Cambria Math" panose="02040503050406030204" pitchFamily="18" charset="0"/>
                  </a:rPr>
                  <a:t>$a=1$</a:t>
                </a:r>
                <a:r>
                  <a:rPr sz="2400" b="0">
                    <a:solidFill>
                      <a:srgbClr val="111827"/>
                    </a:solidFill>
                    <a:latin typeface="Arial"/>
                  </a:rPr>
                  <a:t> (and </a:t>
                </a:r>
                <a:r>
                  <a:rPr lang="en-IN" sz="2400">
                    <a:solidFill>
                      <a:srgbClr val="111827"/>
                    </a:solidFill>
                    <a:latin typeface="Cambria Math" panose="02040503050406030204" pitchFamily="18" charset="0"/>
                  </a:rPr>
                  <a:t>$1+3\le5$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a:t>
                </a:r>
                <a:r>
                  <a:rPr lang="en-IN" sz="2400">
                    <a:solidFill>
                      <a:srgbClr val="111827"/>
                    </a:solidFill>
                    <a:latin typeface="Cambria Math" panose="02040503050406030204" pitchFamily="18" charset="0"/>
                  </a:rPr>
                  <a:t>$=\dfrac{5!}{1!\,3!\,1!}\cdot2\cdot3^3=20\cdot54=1080$</a:t>
                </a:r>
                <a:r>
                  <a:rPr sz="2400" b="0">
                    <a:solidFill>
                      <a:srgbClr val="111827"/>
                    </a:solidFill>
                    <a:latin typeface="Arial"/>
                  </a:rPr>
                  <a:t>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1080</a:t>
            </a:r>
            <a:endParaRPr sz="2800">
              <a:solidFill>
                <a:srgbClr val="15803D"/>
              </a:solidFill>
            </a:endParaRP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Multinomial theorem: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den>
                    </m:f>
                    <m:sSup>
                      <m:e>
                        <m:r>
                          <a:rPr lang="en-IN" sz="2400" i="1">
                            <a:solidFill>
                              <a:srgbClr val="111827"/>
                            </a:solidFill>
                            <a:latin typeface="Cambria Math" panose="02040503050406030204" pitchFamily="18" charset="0"/>
                          </a:rPr>
                          <m:t>𝑎</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sup>
                    </m:sSup>
                    <m:sSup>
                      <m:e>
                        <m:r>
                          <a:rPr lang="en-IN" sz="2400" i="1">
                            <a:solidFill>
                              <a:srgbClr val="111827"/>
                            </a:solidFill>
                            <a:latin typeface="Cambria Math" panose="02040503050406030204" pitchFamily="18" charset="0"/>
                          </a:rPr>
                          <m:t>𝑏</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sup>
                    </m:sSup>
                    <m:sSup>
                      <m:e>
                        <m:r>
                          <a:rPr lang="en-IN" sz="2400" i="1">
                            <a:solidFill>
                              <a:srgbClr val="111827"/>
                            </a:solidFill>
                            <a:latin typeface="Cambria Math" panose="02040503050406030204" pitchFamily="18" charset="0"/>
                          </a:rPr>
                          <m:t>𝑐</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Reduce to a single polynomial by multiplying by the lowest power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then the target is a coefficient and a linear Diophantine condition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appears.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Constraint pattern: exponent equation plus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usually leaves one or two solutions only; list them systematically.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constant term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Multinomial theorem: </a:t>
                </a:r>
                <a:r>
                  <a:rPr lang="en-IN" sz="2400">
                    <a:solidFill>
                      <a:srgbClr val="111827"/>
                    </a:solidFill>
                    <a:latin typeface="Cambria Math" panose="02040503050406030204" pitchFamily="18" charset="0"/>
                  </a:rPr>
                  <a:t>$(a+b+c)^n=\sum\frac{n!}{n_1!n_2!n_3!}a^{n_1}b^{n_2}c^{n_3}$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Reduce to a single polynomial by multiplying by the lowest power of </a:t>
                </a:r>
                <a:r>
                  <a:rPr lang="en-IN" sz="2400">
                    <a:solidFill>
                      <a:srgbClr val="111827"/>
                    </a:solidFill>
                    <a:latin typeface="Cambria Math" panose="02040503050406030204" pitchFamily="18" charset="0"/>
                  </a:rPr>
                  <a:t>$x$</a:t>
                </a:r>
                <a:r>
                  <a:rPr sz="2400" b="0">
                    <a:solidFill>
                      <a:srgbClr val="111827"/>
                    </a:solidFill>
                    <a:latin typeface="Arial"/>
                  </a:rPr>
                  <a:t>; then the target is a coefficient and a linear Diophantine condition </a:t>
                </a:r>
                <a:r>
                  <a:rPr lang="en-IN" sz="2400">
                    <a:solidFill>
                      <a:srgbClr val="111827"/>
                    </a:solidFill>
                    <a:latin typeface="Cambria Math" panose="02040503050406030204" pitchFamily="18" charset="0"/>
                  </a:rPr>
                  <a:t>$8a+9b=35$</a:t>
                </a:r>
                <a:r>
                  <a:rPr sz="2400" b="0">
                    <a:solidFill>
                      <a:srgbClr val="111827"/>
                    </a:solidFill>
                    <a:latin typeface="Arial"/>
                  </a:rPr>
                  <a:t> appears.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Constraint pattern: exponent equation plus </a:t>
                </a:r>
                <a:r>
                  <a:rPr lang="en-IN" sz="2400">
                    <a:solidFill>
                      <a:srgbClr val="111827"/>
                    </a:solidFill>
                    <a:latin typeface="Cambria Math" panose="02040503050406030204" pitchFamily="18" charset="0"/>
                  </a:rPr>
                  <a:t>$n_1+n_2+n_3=n$</a:t>
                </a:r>
                <a:r>
                  <a:rPr sz="2400" b="0">
                    <a:solidFill>
                      <a:srgbClr val="111827"/>
                    </a:solidFill>
                    <a:latin typeface="Arial"/>
                  </a:rPr>
                  <a:t> usually leaves one or two solutions only; list them systematically.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constant term of </a:t>
                </a:r>
                <a:r>
                  <a:rPr lang="en-IN" sz="2400">
                    <a:solidFill>
                      <a:srgbClr val="111827"/>
                    </a:solidFill>
                    <a:latin typeface="Cambria Math" panose="02040503050406030204" pitchFamily="18" charset="0"/>
                  </a:rPr>
                  <a:t>$\left(x+\frac1x+1\right)^2$</a:t>
                </a:r>
                <a:r>
                  <a:rPr sz="2400" b="0">
                    <a:solidFill>
                      <a:srgbClr val="111827"/>
                    </a:solidFill>
                    <a:latin typeface="Arial"/>
                  </a:rPr>
                  <a:t>: </a:t>
                </a:r>
                <a:r>
                  <a:rPr lang="en-IN" sz="2400">
                    <a:solidFill>
                      <a:srgbClr val="111827"/>
                    </a:solidFill>
                    <a:latin typeface="Cambria Math" panose="02040503050406030204" pitchFamily="18" charset="0"/>
                  </a:rPr>
                  <a:t>$(n_1,n_2,n_3)=(0,0,2),(1,1,0)$</a:t>
                </a:r>
                <a:r>
                  <a:rPr sz="2400" b="0">
                    <a:solidFill>
                      <a:srgbClr val="111827"/>
                    </a:solidFill>
                    <a:latin typeface="Arial"/>
                  </a:rPr>
                  <a:t> give </a:t>
                </a:r>
                <a:r>
                  <a:rPr lang="en-IN" sz="2400">
                    <a:solidFill>
                      <a:srgbClr val="111827"/>
                    </a:solidFill>
                    <a:latin typeface="Cambria Math" panose="02040503050406030204" pitchFamily="18" charset="0"/>
                  </a:rPr>
                  <a:t>$1+2=3$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remainder when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2023</m:t>
                        </m:r>
                      </m:sup>
                    </m:sSup>
                  </m:oMath>
                </a14:m>
                <a:r>
                  <a:rPr sz="2400" b="0">
                    <a:solidFill>
                      <a:srgbClr val="111827"/>
                    </a:solidFill>
                    <a:latin typeface="Arial"/>
                  </a:rPr>
                  <a:t> is divided by </a:t>
                </a:r>
                <a14:m>
                  <m:oMath xmlns:m="http://schemas.openxmlformats.org/officeDocument/2006/math">
                    <m:r>
                      <a:rPr lang="en-IN" sz="2400" i="1">
                        <a:solidFill>
                          <a:srgbClr val="111827"/>
                        </a:solidFill>
                        <a:latin typeface="Cambria Math" panose="02040503050406030204" pitchFamily="18" charset="0"/>
                      </a:rPr>
                      <m:t>35</m:t>
                    </m:r>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remainder when </a:t>
                </a:r>
                <a:r>
                  <a:rPr lang="en-IN" sz="2400">
                    <a:solidFill>
                      <a:srgbClr val="111827"/>
                    </a:solidFill>
                    <a:latin typeface="Cambria Math" panose="02040503050406030204" pitchFamily="18" charset="0"/>
                  </a:rPr>
                  <a:t>$(2023)^{2023}$</a:t>
                </a:r>
                <a:r>
                  <a:rPr sz="2400" b="0">
                    <a:solidFill>
                      <a:srgbClr val="111827"/>
                    </a:solidFill>
                    <a:latin typeface="Arial"/>
                  </a:rPr>
                  <a:t> is divided by </a:t>
                </a:r>
                <a:r>
                  <a:rPr lang="en-IN" sz="2400">
                    <a:solidFill>
                      <a:srgbClr val="111827"/>
                    </a:solidFill>
                    <a:latin typeface="Cambria Math" panose="02040503050406030204" pitchFamily="18" charset="0"/>
                  </a:rPr>
                  <a:t>$35$</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Remainder (divisibility) using the binomial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2023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35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7</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49</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so </a:t>
                </a:r>
                <a14:m>
                  <m:oMath xmlns:m="http://schemas.openxmlformats.org/officeDocument/2006/math">
                    <m:sSup>
                      <m:e>
                        <m:r>
                          <a:rPr lang="en-IN" sz="2400" i="1">
                            <a:solidFill>
                              <a:srgbClr val="78350F"/>
                            </a:solidFill>
                            <a:latin typeface="Cambria Math" panose="02040503050406030204" pitchFamily="18" charset="0"/>
                          </a:rPr>
                          <m:t>7</m:t>
                        </m:r>
                      </m:e>
                      <m:sup>
                        <m:r>
                          <a:rPr lang="en-IN" sz="2400" i="1">
                            <a:solidFill>
                              <a:srgbClr val="78350F"/>
                            </a:solidFill>
                            <a:latin typeface="Cambria Math" panose="02040503050406030204" pitchFamily="18" charset="0"/>
                          </a:rPr>
                          <m:t>2022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1011</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$2023\equiv-7\pmod{35}$</a:t>
                </a:r>
                <a:r>
                  <a:rPr sz="2400" b="0">
                    <a:solidFill>
                      <a:srgbClr val="78350F"/>
                    </a:solidFill>
                    <a:latin typeface="Arial"/>
                  </a:rPr>
                  <a:t> and </a:t>
                </a:r>
                <a:r>
                  <a:rPr lang="en-IN" sz="2400">
                    <a:solidFill>
                      <a:srgbClr val="78350F"/>
                    </a:solidFill>
                    <a:latin typeface="Cambria Math" panose="02040503050406030204" pitchFamily="18" charset="0"/>
                  </a:rPr>
                  <a:t>$7^2=49=50-1$</a:t>
                </a:r>
                <a:r>
                  <a:rPr sz="2400" b="0">
                    <a:solidFill>
                      <a:srgbClr val="78350F"/>
                    </a:solidFill>
                    <a:latin typeface="Arial"/>
                  </a:rPr>
                  <a:t>, so </a:t>
                </a:r>
                <a:r>
                  <a:rPr lang="en-IN" sz="2400">
                    <a:solidFill>
                      <a:srgbClr val="78350F"/>
                    </a:solidFill>
                    <a:latin typeface="Cambria Math" panose="02040503050406030204" pitchFamily="18" charset="0"/>
                  </a:rPr>
                  <a:t>$7^{2022}=(50-1)^{1011}\equiv-1\pmod5$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2023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2023</m:t>
                        </m:r>
                      </m:e>
                      <m:sup>
                        <m:r>
                          <a:rPr lang="en-IN" sz="2400" i="1">
                            <a:solidFill>
                              <a:srgbClr val="111827"/>
                            </a:solidFill>
                            <a:latin typeface="Cambria Math" panose="02040503050406030204" pitchFamily="18" charset="0"/>
                          </a:rPr>
                          <m:t>2023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2023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2023</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2023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2022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1011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1011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1011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integers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2023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2023</m:t>
                        </m:r>
                      </m:e>
                      <m:sup>
                        <m:r>
                          <a:rPr lang="en-IN" sz="2400" i="1">
                            <a:solidFill>
                              <a:srgbClr val="111827"/>
                            </a:solidFill>
                            <a:latin typeface="Cambria Math" panose="02040503050406030204" pitchFamily="18" charset="0"/>
                          </a:rPr>
                          <m:t>2023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remainder is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$2023=2030-7=35\cdot58-7$</a:t>
                </a:r>
                <a:r>
                  <a:rPr sz="2400" b="0">
                    <a:solidFill>
                      <a:srgbClr val="111827"/>
                    </a:solidFill>
                    <a:latin typeface="Arial"/>
                  </a:rPr>
                  <a:t>, so </a:t>
                </a:r>
                <a:r>
                  <a:rPr lang="en-IN" sz="2400">
                    <a:solidFill>
                      <a:srgbClr val="111827"/>
                    </a:solidFill>
                    <a:latin typeface="Cambria Math" panose="02040503050406030204" pitchFamily="18" charset="0"/>
                  </a:rPr>
                  <a:t>$2023^{2023}\equiv(-7)^{2023}=-7^{2023}\pmod{35}$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$-7^{2023}=-7\cdot7^{2022}=-7\cdot(49)^{1011}$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$49=50-1$</a:t>
                </a:r>
                <a:r>
                  <a:rPr sz="2400" b="0">
                    <a:solidFill>
                      <a:srgbClr val="111827"/>
                    </a:solidFill>
                    <a:latin typeface="Arial"/>
                  </a:rPr>
                  <a:t>, so </a:t>
                </a:r>
                <a:r>
                  <a:rPr lang="en-IN" sz="2400">
                    <a:solidFill>
                      <a:srgbClr val="111827"/>
                    </a:solidFill>
                    <a:latin typeface="Cambria Math" panose="02040503050406030204" pitchFamily="18" charset="0"/>
                  </a:rPr>
                  <a:t>$(49)^{1011}=(50-1)^{1011}=50k-1=5\lambda-1$</a:t>
                </a:r>
                <a:r>
                  <a:rPr sz="2400" b="0">
                    <a:solidFill>
                      <a:srgbClr val="111827"/>
                    </a:solidFill>
                    <a:latin typeface="Arial"/>
                  </a:rPr>
                  <a:t> for integers </a:t>
                </a:r>
                <a:r>
                  <a:rPr lang="en-IN" sz="2400">
                    <a:solidFill>
                      <a:srgbClr val="111827"/>
                    </a:solidFill>
                    <a:latin typeface="Cambria Math" panose="02040503050406030204" pitchFamily="18" charset="0"/>
                  </a:rPr>
                  <a:t>$k,\lambda$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$-7^{2023}=-7(5\lambda-1)=-35\lambda+7$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$2023^{2023}\equiv7\pmod{35}$</a:t>
                </a:r>
                <a:r>
                  <a:rPr sz="2400" b="0">
                    <a:solidFill>
                      <a:srgbClr val="111827"/>
                    </a:solidFill>
                    <a:latin typeface="Arial"/>
                  </a:rPr>
                  <a:t> and the remainder is </a:t>
                </a:r>
                <a:r>
                  <a:rPr lang="en-IN" sz="2400">
                    <a:solidFill>
                      <a:srgbClr val="111827"/>
                    </a:solidFill>
                    <a:latin typeface="Cambria Math" panose="02040503050406030204" pitchFamily="18" charset="0"/>
                  </a:rPr>
                  <a:t>$7$</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7</a:t>
            </a:r>
            <a:endParaRPr sz="2800">
              <a:solidFill>
                <a:srgbClr val="15803D"/>
              </a:solidFill>
            </a:endParaRP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Work modulo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and modulo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 separately and recombine (Chinese remainder theorem with Fermat's little theorem).</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Work modulo </a:t>
                </a:r>
                <a:r>
                  <a:rPr lang="en-IN" sz="2400">
                    <a:solidFill>
                      <a:srgbClr val="78350F"/>
                    </a:solidFill>
                    <a:latin typeface="Cambria Math" panose="02040503050406030204" pitchFamily="18" charset="0"/>
                  </a:rPr>
                  <a:t>$5$</a:t>
                </a:r>
                <a:r>
                  <a:rPr sz="2400" b="0">
                    <a:solidFill>
                      <a:srgbClr val="78350F"/>
                    </a:solidFill>
                    <a:latin typeface="Arial"/>
                  </a:rPr>
                  <a:t> and modulo </a:t>
                </a:r>
                <a:r>
                  <a:rPr lang="en-IN" sz="2400">
                    <a:solidFill>
                      <a:srgbClr val="78350F"/>
                    </a:solidFill>
                    <a:latin typeface="Cambria Math" panose="02040503050406030204" pitchFamily="18" charset="0"/>
                  </a:rPr>
                  <a:t>$7$</a:t>
                </a:r>
                <a:r>
                  <a:rPr sz="2400" b="0">
                    <a:solidFill>
                      <a:srgbClr val="78350F"/>
                    </a:solidFill>
                    <a:latin typeface="Arial"/>
                  </a:rPr>
                  <a:t> separately and recombine (Chinese remainder theorem with Fermat's little theorem).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Modulo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289</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2023</m:t>
                        </m:r>
                      </m:e>
                      <m:sup>
                        <m:r>
                          <a:rPr lang="en-IN" sz="2400" i="1">
                            <a:solidFill>
                              <a:srgbClr val="111827"/>
                            </a:solidFill>
                            <a:latin typeface="Cambria Math" panose="02040503050406030204" pitchFamily="18" charset="0"/>
                          </a:rPr>
                          <m:t>2023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Modulo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2023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need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multiples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below </a:t>
                </a:r>
                <a14:m>
                  <m:oMath xmlns:m="http://schemas.openxmlformats.org/officeDocument/2006/math">
                    <m:r>
                      <a:rPr lang="en-IN" sz="2400" i="1">
                        <a:solidFill>
                          <a:srgbClr val="111827"/>
                        </a:solidFill>
                        <a:latin typeface="Cambria Math" panose="02040503050406030204" pitchFamily="18" charset="0"/>
                      </a:rPr>
                      <m:t>35</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 with residues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modulo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has residue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so the remainder is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Modulo </a:t>
                </a:r>
                <a:r>
                  <a:rPr lang="en-IN" sz="2400">
                    <a:solidFill>
                      <a:srgbClr val="111827"/>
                    </a:solidFill>
                    <a:latin typeface="Cambria Math" panose="02040503050406030204" pitchFamily="18" charset="0"/>
                  </a:rPr>
                  <a:t>$7$</a:t>
                </a:r>
                <a:r>
                  <a:rPr sz="2400" b="0">
                    <a:solidFill>
                      <a:srgbClr val="111827"/>
                    </a:solidFill>
                    <a:latin typeface="Arial"/>
                  </a:rPr>
                  <a:t>: </a:t>
                </a:r>
                <a:r>
                  <a:rPr lang="en-IN" sz="2400">
                    <a:solidFill>
                      <a:srgbClr val="111827"/>
                    </a:solidFill>
                    <a:latin typeface="Cambria Math" panose="02040503050406030204" pitchFamily="18" charset="0"/>
                  </a:rPr>
                  <a:t>$2023=7\cdot289$</a:t>
                </a:r>
                <a:r>
                  <a:rPr sz="2400" b="0">
                    <a:solidFill>
                      <a:srgbClr val="111827"/>
                    </a:solidFill>
                    <a:latin typeface="Arial"/>
                  </a:rPr>
                  <a:t>, so </a:t>
                </a:r>
                <a:r>
                  <a:rPr lang="en-IN" sz="2400">
                    <a:solidFill>
                      <a:srgbClr val="111827"/>
                    </a:solidFill>
                    <a:latin typeface="Cambria Math" panose="02040503050406030204" pitchFamily="18" charset="0"/>
                  </a:rPr>
                  <a:t>$2023^{2023}\equiv0$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Modulo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$2023\equiv3$</a:t>
                </a:r>
                <a:r>
                  <a:rPr sz="2400" b="0">
                    <a:solidFill>
                      <a:srgbClr val="111827"/>
                    </a:solidFill>
                    <a:latin typeface="Arial"/>
                  </a:rPr>
                  <a:t> and </a:t>
                </a:r>
                <a:r>
                  <a:rPr lang="en-IN" sz="2400">
                    <a:solidFill>
                      <a:srgbClr val="111827"/>
                    </a:solidFill>
                    <a:latin typeface="Cambria Math" panose="02040503050406030204" pitchFamily="18" charset="0"/>
                  </a:rPr>
                  <a:t>$3^4\equiv1$</a:t>
                </a:r>
                <a:r>
                  <a:rPr sz="2400" b="0">
                    <a:solidFill>
                      <a:srgbClr val="111827"/>
                    </a:solidFill>
                    <a:latin typeface="Arial"/>
                  </a:rPr>
                  <a:t>, so </a:t>
                </a:r>
                <a:r>
                  <a:rPr lang="en-IN" sz="2400">
                    <a:solidFill>
                      <a:srgbClr val="111827"/>
                    </a:solidFill>
                    <a:latin typeface="Cambria Math" panose="02040503050406030204" pitchFamily="18" charset="0"/>
                  </a:rPr>
                  <a:t>$3^{2023}=3^{4\cdot505+3}\equiv3^3=27\equiv2$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need </a:t>
                </a:r>
                <a:r>
                  <a:rPr lang="en-IN" sz="2400">
                    <a:solidFill>
                      <a:srgbClr val="111827"/>
                    </a:solidFill>
                    <a:latin typeface="Cambria Math" panose="02040503050406030204" pitchFamily="18" charset="0"/>
                  </a:rPr>
                  <a:t>$N\in[0,35)$</a:t>
                </a:r>
                <a:r>
                  <a:rPr sz="2400" b="0">
                    <a:solidFill>
                      <a:srgbClr val="111827"/>
                    </a:solidFill>
                    <a:latin typeface="Arial"/>
                  </a:rPr>
                  <a:t> with </a:t>
                </a:r>
                <a:r>
                  <a:rPr lang="en-IN" sz="2400">
                    <a:solidFill>
                      <a:srgbClr val="111827"/>
                    </a:solidFill>
                    <a:latin typeface="Cambria Math" panose="02040503050406030204" pitchFamily="18" charset="0"/>
                  </a:rPr>
                  <a:t>$N\equiv0\pmod7$</a:t>
                </a:r>
                <a:r>
                  <a:rPr sz="2400" b="0">
                    <a:solidFill>
                      <a:srgbClr val="111827"/>
                    </a:solidFill>
                    <a:latin typeface="Arial"/>
                  </a:rPr>
                  <a:t> and </a:t>
                </a:r>
                <a:r>
                  <a:rPr lang="en-IN" sz="2400">
                    <a:solidFill>
                      <a:srgbClr val="111827"/>
                    </a:solidFill>
                    <a:latin typeface="Cambria Math" panose="02040503050406030204" pitchFamily="18" charset="0"/>
                  </a:rPr>
                  <a:t>$N\equiv2\pmod5$</a:t>
                </a:r>
                <a:r>
                  <a:rPr sz="2400" b="0">
                    <a:solidFill>
                      <a:srgbClr val="111827"/>
                    </a:solidFill>
                    <a:latin typeface="Arial"/>
                  </a:rPr>
                  <a:t>: the multiples of </a:t>
                </a:r>
                <a:r>
                  <a:rPr lang="en-IN" sz="2400">
                    <a:solidFill>
                      <a:srgbClr val="111827"/>
                    </a:solidFill>
                    <a:latin typeface="Cambria Math" panose="02040503050406030204" pitchFamily="18" charset="0"/>
                  </a:rPr>
                  <a:t>$7$</a:t>
                </a:r>
                <a:r>
                  <a:rPr sz="2400" b="0">
                    <a:solidFill>
                      <a:srgbClr val="111827"/>
                    </a:solidFill>
                    <a:latin typeface="Arial"/>
                  </a:rPr>
                  <a:t> below </a:t>
                </a:r>
                <a:r>
                  <a:rPr lang="en-IN" sz="2400">
                    <a:solidFill>
                      <a:srgbClr val="111827"/>
                    </a:solidFill>
                    <a:latin typeface="Cambria Math" panose="02040503050406030204" pitchFamily="18" charset="0"/>
                  </a:rPr>
                  <a:t>$35$</a:t>
                </a:r>
                <a:r>
                  <a:rPr sz="2400" b="0">
                    <a:solidFill>
                      <a:srgbClr val="111827"/>
                    </a:solidFill>
                    <a:latin typeface="Arial"/>
                  </a:rPr>
                  <a:t> are </a:t>
                </a:r>
                <a:r>
                  <a:rPr lang="en-IN" sz="2400">
                    <a:solidFill>
                      <a:srgbClr val="111827"/>
                    </a:solidFill>
                    <a:latin typeface="Cambria Math" panose="02040503050406030204" pitchFamily="18" charset="0"/>
                  </a:rPr>
                  <a:t>$0,7,14,21,28$</a:t>
                </a:r>
                <a:r>
                  <a:rPr sz="2400" b="0">
                    <a:solidFill>
                      <a:srgbClr val="111827"/>
                    </a:solidFill>
                    <a:latin typeface="Arial"/>
                  </a:rPr>
                  <a:t>, with residues </a:t>
                </a:r>
                <a:r>
                  <a:rPr lang="en-IN" sz="2400">
                    <a:solidFill>
                      <a:srgbClr val="111827"/>
                    </a:solidFill>
                    <a:latin typeface="Cambria Math" panose="02040503050406030204" pitchFamily="18" charset="0"/>
                  </a:rPr>
                  <a:t>$0,2,4,1,3$</a:t>
                </a:r>
                <a:r>
                  <a:rPr sz="2400" b="0">
                    <a:solidFill>
                      <a:srgbClr val="111827"/>
                    </a:solidFill>
                    <a:latin typeface="Arial"/>
                  </a:rPr>
                  <a:t> modulo </a:t>
                </a:r>
                <a:r>
                  <a:rPr lang="en-IN" sz="2400">
                    <a:solidFill>
                      <a:srgbClr val="111827"/>
                    </a:solidFill>
                    <a:latin typeface="Cambria Math" panose="02040503050406030204" pitchFamily="18" charset="0"/>
                  </a:rPr>
                  <a:t>$5$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t>
                </a:r>
                <a:r>
                  <a:rPr lang="en-IN" sz="2400">
                    <a:solidFill>
                      <a:srgbClr val="111827"/>
                    </a:solidFill>
                    <a:latin typeface="Cambria Math" panose="02040503050406030204" pitchFamily="18" charset="0"/>
                  </a:rPr>
                  <a:t>$7$</a:t>
                </a:r>
                <a:r>
                  <a:rPr sz="2400" b="0">
                    <a:solidFill>
                      <a:srgbClr val="111827"/>
                    </a:solidFill>
                    <a:latin typeface="Arial"/>
                  </a:rPr>
                  <a:t> has residue </a:t>
                </a:r>
                <a:r>
                  <a:rPr lang="en-IN" sz="2400">
                    <a:solidFill>
                      <a:srgbClr val="111827"/>
                    </a:solidFill>
                    <a:latin typeface="Cambria Math" panose="02040503050406030204" pitchFamily="18" charset="0"/>
                  </a:rPr>
                  <a:t>$2$</a:t>
                </a:r>
                <a:r>
                  <a:rPr sz="2400" b="0">
                    <a:solidFill>
                      <a:srgbClr val="111827"/>
                    </a:solidFill>
                    <a:latin typeface="Arial"/>
                  </a:rPr>
                  <a:t>, so the remainder is </a:t>
                </a:r>
                <a:r>
                  <a:rPr lang="en-IN" sz="2400">
                    <a:solidFill>
                      <a:srgbClr val="111827"/>
                    </a:solidFill>
                    <a:latin typeface="Cambria Math" panose="02040503050406030204" pitchFamily="18" charset="0"/>
                  </a:rPr>
                  <a:t>$7$</a:t>
                </a:r>
                <a:r>
                  <a:rPr sz="2400" b="0">
                    <a:solidFill>
                      <a:srgbClr val="111827"/>
                    </a:solidFill>
                    <a:latin typeface="Arial"/>
                  </a:rPr>
                  <a:t>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7</a:t>
            </a:r>
            <a:endParaRPr sz="2800">
              <a:solidFill>
                <a:srgbClr val="15803D"/>
              </a:solidFill>
            </a:endParaRP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replacing </a:t>
                </a:r>
                <a14:m>
                  <m:oMath xmlns:m="http://schemas.openxmlformats.org/officeDocument/2006/math">
                    <m:r>
                      <a:rPr lang="en-IN" sz="2400" i="1">
                        <a:solidFill>
                          <a:srgbClr val="111827"/>
                        </a:solidFill>
                        <a:latin typeface="Cambria Math" panose="02040503050406030204" pitchFamily="18" charset="0"/>
                      </a:rPr>
                      <m:t>2023</m:t>
                    </m:r>
                  </m:oMath>
                </a14:m>
                <a:r>
                  <a:rPr sz="2400" b="0">
                    <a:solidFill>
                      <a:srgbClr val="111827"/>
                    </a:solidFill>
                    <a:latin typeface="Arial"/>
                  </a:rPr>
                  <a:t> by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makes powers tiny.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Binomial form: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when the power is even); e.g. </a:t>
                </a:r>
                <a14:m>
                  <m:oMath xmlns:m="http://schemas.openxmlformats.org/officeDocument/2006/math">
                    <m:sSup>
                      <m:e>
                        <m:r>
                          <a:rPr lang="en-IN" sz="2400" i="1">
                            <a:solidFill>
                              <a:srgbClr val="111827"/>
                            </a:solidFill>
                            <a:latin typeface="Cambria Math" panose="02040503050406030204" pitchFamily="18" charset="0"/>
                          </a:rPr>
                          <m:t>49</m:t>
                        </m:r>
                      </m:e>
                      <m:sup>
                        <m:r>
                          <a:rPr lang="en-IN" sz="2400" i="1">
                            <a:solidFill>
                              <a:srgbClr val="111827"/>
                            </a:solidFill>
                            <a:latin typeface="Cambria Math" panose="02040503050406030204" pitchFamily="18" charset="0"/>
                          </a:rPr>
                          <m:t>1011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1011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composite modulus </a:t>
                </a:r>
                <a14:m>
                  <m:oMath xmlns:m="http://schemas.openxmlformats.org/officeDocument/2006/math">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use CRT: find the residues modulo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then combine.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p>
                      <m:e>
                        <m:r>
                          <a:rPr lang="en-IN" sz="2400" i="1">
                            <a:solidFill>
                              <a:srgbClr val="111827"/>
                            </a:solidFill>
                            <a:latin typeface="Cambria Math" panose="02040503050406030204" pitchFamily="18" charset="0"/>
                          </a:rPr>
                          <m:t>2023</m:t>
                        </m:r>
                      </m:e>
                      <m:sup>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 while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$a\equiv a'\pmod m\Rightarrow a^n\equiv a'^n\pmod m$</a:t>
                </a:r>
                <a:r>
                  <a:rPr sz="2400" b="0">
                    <a:solidFill>
                      <a:srgbClr val="111827"/>
                    </a:solidFill>
                    <a:latin typeface="Arial"/>
                  </a:rPr>
                  <a:t>; replacing </a:t>
                </a:r>
                <a:r>
                  <a:rPr lang="en-IN" sz="2400">
                    <a:solidFill>
                      <a:srgbClr val="111827"/>
                    </a:solidFill>
                    <a:latin typeface="Cambria Math" panose="02040503050406030204" pitchFamily="18" charset="0"/>
                  </a:rPr>
                  <a:t>$2023$</a:t>
                </a:r>
                <a:r>
                  <a:rPr sz="2400" b="0">
                    <a:solidFill>
                      <a:srgbClr val="111827"/>
                    </a:solidFill>
                    <a:latin typeface="Arial"/>
                  </a:rPr>
                  <a:t> by </a:t>
                </a:r>
                <a:r>
                  <a:rPr lang="en-IN" sz="2400">
                    <a:solidFill>
                      <a:srgbClr val="111827"/>
                    </a:solidFill>
                    <a:latin typeface="Cambria Math" panose="02040503050406030204" pitchFamily="18" charset="0"/>
                  </a:rPr>
                  <a:t>$-7$</a:t>
                </a:r>
                <a:r>
                  <a:rPr sz="2400" b="0">
                    <a:solidFill>
                      <a:srgbClr val="111827"/>
                    </a:solidFill>
                    <a:latin typeface="Arial"/>
                  </a:rPr>
                  <a:t> makes powers tiny.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Binomial form: </a:t>
                </a:r>
                <a:r>
                  <a:rPr lang="en-IN" sz="2400">
                    <a:solidFill>
                      <a:srgbClr val="111827"/>
                    </a:solidFill>
                    <a:latin typeface="Cambria Math" panose="02040503050406030204" pitchFamily="18" charset="0"/>
                  </a:rPr>
                  <a:t>$(km\pm1)^n=m\lambda\pm1$</a:t>
                </a:r>
                <a:r>
                  <a:rPr sz="2400" b="0">
                    <a:solidFill>
                      <a:srgbClr val="111827"/>
                    </a:solidFill>
                    <a:latin typeface="Arial"/>
                  </a:rPr>
                  <a:t> (or </a:t>
                </a:r>
                <a:r>
                  <a:rPr lang="en-IN" sz="2400">
                    <a:solidFill>
                      <a:srgbClr val="111827"/>
                    </a:solidFill>
                    <a:latin typeface="Cambria Math" panose="02040503050406030204" pitchFamily="18" charset="0"/>
                  </a:rPr>
                  <a:t>$+1$</a:t>
                </a:r>
                <a:r>
                  <a:rPr sz="2400" b="0">
                    <a:solidFill>
                      <a:srgbClr val="111827"/>
                    </a:solidFill>
                    <a:latin typeface="Arial"/>
                  </a:rPr>
                  <a:t> when the power is even); e.g. </a:t>
                </a:r>
                <a:r>
                  <a:rPr lang="en-IN" sz="2400">
                    <a:solidFill>
                      <a:srgbClr val="111827"/>
                    </a:solidFill>
                    <a:latin typeface="Cambria Math" panose="02040503050406030204" pitchFamily="18" charset="0"/>
                  </a:rPr>
                  <a:t>$49^{1011}=(50-1)^{1011}\equiv-1\pmod5$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composite modulus </a:t>
                </a:r>
                <a:r>
                  <a:rPr lang="en-IN" sz="2400">
                    <a:solidFill>
                      <a:srgbClr val="111827"/>
                    </a:solidFill>
                    <a:latin typeface="Cambria Math" panose="02040503050406030204" pitchFamily="18" charset="0"/>
                  </a:rPr>
                  <a:t>$35=5\cdot7$</a:t>
                </a:r>
                <a:r>
                  <a:rPr sz="2400" b="0">
                    <a:solidFill>
                      <a:srgbClr val="111827"/>
                    </a:solidFill>
                    <a:latin typeface="Arial"/>
                  </a:rPr>
                  <a:t> use CRT: find the residues modulo </a:t>
                </a:r>
                <a:r>
                  <a:rPr lang="en-IN" sz="2400">
                    <a:solidFill>
                      <a:srgbClr val="111827"/>
                    </a:solidFill>
                    <a:latin typeface="Cambria Math" panose="02040503050406030204" pitchFamily="18" charset="0"/>
                  </a:rPr>
                  <a:t>$5$</a:t>
                </a:r>
                <a:r>
                  <a:rPr sz="2400" b="0">
                    <a:solidFill>
                      <a:srgbClr val="111827"/>
                    </a:solidFill>
                    <a:latin typeface="Arial"/>
                  </a:rPr>
                  <a:t> and </a:t>
                </a:r>
                <a:r>
                  <a:rPr lang="en-IN" sz="2400">
                    <a:solidFill>
                      <a:srgbClr val="111827"/>
                    </a:solidFill>
                    <a:latin typeface="Cambria Math" panose="02040503050406030204" pitchFamily="18" charset="0"/>
                  </a:rPr>
                  <a:t>$7$</a:t>
                </a:r>
                <a:r>
                  <a:rPr sz="2400" b="0">
                    <a:solidFill>
                      <a:srgbClr val="111827"/>
                    </a:solidFill>
                    <a:latin typeface="Arial"/>
                  </a:rPr>
                  <a:t>, then combine.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$2023^{1}\bmod35=28$</a:t>
                </a:r>
                <a:r>
                  <a:rPr sz="2400" b="0">
                    <a:solidFill>
                      <a:srgbClr val="111827"/>
                    </a:solidFill>
                    <a:latin typeface="Arial"/>
                  </a:rPr>
                  <a:t>, while </a:t>
                </a:r>
                <a:r>
                  <a:rPr lang="en-IN" sz="2400">
                    <a:solidFill>
                      <a:srgbClr val="111827"/>
                    </a:solidFill>
                    <a:latin typeface="Cambria Math" panose="02040503050406030204" pitchFamily="18" charset="0"/>
                  </a:rPr>
                  <a:t>$-7\bmod35=28$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275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9</m:t>
                        </m:r>
                      </m:sup>
                    </m:sSup>
                  </m:oMath>
                </a14:m>
                <a:r>
                  <a:rPr sz="2400" b="0">
                    <a:solidFill>
                      <a:srgbClr val="111827"/>
                    </a:solidFill>
                    <a:latin typeface="Arial"/>
                  </a:rPr>
                  <a:t> in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11</m:t>
                        </m:r>
                      </m:sup>
                    </m:sSup>
                  </m:oMath>
                </a14:m>
                <a:r>
                  <a:rPr sz="2400" b="0">
                    <a:solidFill>
                      <a:srgbClr val="111827"/>
                    </a:solidFill>
                    <a:latin typeface="Arial"/>
                  </a:rPr>
                  <a:t> and the 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up>
                    </m:sSup>
                  </m:oMath>
                </a14:m>
                <a:r>
                  <a:rPr sz="2400" b="0">
                    <a:solidFill>
                      <a:srgbClr val="111827"/>
                    </a:solidFill>
                    <a:latin typeface="Arial"/>
                  </a:rPr>
                  <a:t> in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β</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11</m:t>
                        </m:r>
                      </m:sup>
                    </m:sSup>
                  </m:oMath>
                </a14:m>
                <a:r>
                  <a:rPr sz="2400" b="0">
                    <a:solidFill>
                      <a:srgbClr val="111827"/>
                    </a:solidFill>
                    <a:latin typeface="Arial"/>
                  </a:rPr>
                  <a:t> are equal,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22275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coefficient of </a:t>
                </a:r>
                <a:r>
                  <a:rPr lang="en-IN" sz="2400">
                    <a:solidFill>
                      <a:srgbClr val="111827"/>
                    </a:solidFill>
                    <a:latin typeface="Cambria Math" panose="02040503050406030204" pitchFamily="18" charset="0"/>
                  </a:rPr>
                  <a:t>$x^{9}$</a:t>
                </a:r>
                <a:r>
                  <a:rPr sz="2400" b="0">
                    <a:solidFill>
                      <a:srgbClr val="111827"/>
                    </a:solidFill>
                    <a:latin typeface="Arial"/>
                  </a:rPr>
                  <a:t> in </a:t>
                </a:r>
                <a:r>
                  <a:rPr lang="en-IN" sz="2400">
                    <a:solidFill>
                      <a:srgbClr val="111827"/>
                    </a:solidFill>
                    <a:latin typeface="Cambria Math" panose="02040503050406030204" pitchFamily="18" charset="0"/>
                  </a:rPr>
                  <a:t>$\left(\alpha x^3+\dfrac{1}{\beta x}\right)^{11}$</a:t>
                </a:r>
                <a:r>
                  <a:rPr sz="2400" b="0">
                    <a:solidFill>
                      <a:srgbClr val="111827"/>
                    </a:solidFill>
                    <a:latin typeface="Arial"/>
                  </a:rPr>
                  <a:t> and the coefficient of </a:t>
                </a:r>
                <a:r>
                  <a:rPr lang="en-IN" sz="2400">
                    <a:solidFill>
                      <a:srgbClr val="111827"/>
                    </a:solidFill>
                    <a:latin typeface="Cambria Math" panose="02040503050406030204" pitchFamily="18" charset="0"/>
                  </a:rPr>
                  <a:t>$x^{-9}$</a:t>
                </a:r>
                <a:r>
                  <a:rPr sz="2400" b="0">
                    <a:solidFill>
                      <a:srgbClr val="111827"/>
                    </a:solidFill>
                    <a:latin typeface="Arial"/>
                  </a:rPr>
                  <a:t> in </a:t>
                </a:r>
                <a:r>
                  <a:rPr lang="en-IN" sz="2400">
                    <a:solidFill>
                      <a:srgbClr val="111827"/>
                    </a:solidFill>
                    <a:latin typeface="Cambria Math" panose="02040503050406030204" pitchFamily="18" charset="0"/>
                  </a:rPr>
                  <a:t>$\left(\alpha x-\dfrac{1}{\beta x^{3}}\right)^{11}$</a:t>
                </a:r>
                <a:r>
                  <a:rPr sz="2400" b="0">
                    <a:solidFill>
                      <a:srgbClr val="111827"/>
                    </a:solidFill>
                    <a:latin typeface="Arial"/>
                  </a:rPr>
                  <a:t> are equal, then </a:t>
                </a:r>
                <a:r>
                  <a:rPr lang="en-IN" sz="2400">
                    <a:solidFill>
                      <a:srgbClr val="111827"/>
                    </a:solidFill>
                    <a:latin typeface="Cambria Math" panose="02040503050406030204" pitchFamily="18" charset="0"/>
                  </a:rPr>
                  <a:t>$(\alpha\beta)^2$</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7363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terms involve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11</m:t>
                            </m:r>
                          </m:num>
                          <m:den>
                            <m:r>
                              <a:rPr lang="en-IN" sz="2400" i="1">
                                <a:solidFill>
                                  <a:srgbClr val="78350F"/>
                                </a:solidFill>
                                <a:latin typeface="Cambria Math" panose="02040503050406030204" pitchFamily="18" charset="0"/>
                              </a:rPr>
                              <m:t>6</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11</m:t>
                            </m:r>
                          </m:num>
                          <m:den>
                            <m:r>
                              <a:rPr lang="en-IN" sz="2400" i="1">
                                <a:solidFill>
                                  <a:srgbClr val="78350F"/>
                                </a:solidFill>
                                <a:latin typeface="Cambria Math" panose="02040503050406030204" pitchFamily="18" charset="0"/>
                              </a:rPr>
                              <m:t>5</m:t>
                            </m:r>
                          </m:den>
                        </m:f>
                      </m:e>
                    </m:d>
                  </m:oMath>
                </a14:m>
                <a:r>
                  <a:rPr sz="2400" b="0">
                    <a:solidFill>
                      <a:srgbClr val="78350F"/>
                    </a:solidFill>
                    <a:latin typeface="Arial"/>
                  </a:rPr>
                  <a:t>; the equality reduces to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β</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terms involve </a:t>
                </a:r>
                <a:r>
                  <a:rPr lang="en-IN" sz="2400">
                    <a:solidFill>
                      <a:srgbClr val="78350F"/>
                    </a:solidFill>
                    <a:latin typeface="Cambria Math" panose="02040503050406030204" pitchFamily="18" charset="0"/>
                  </a:rPr>
                  <a:t>$\binom{11}{6}=\binom{11}{5}$</a:t>
                </a:r>
                <a:r>
                  <a:rPr sz="2400" b="0">
                    <a:solidFill>
                      <a:srgbClr val="78350F"/>
                    </a:solidFill>
                    <a:latin typeface="Arial"/>
                  </a:rPr>
                  <a:t>; the equality reduces to </a:t>
                </a:r>
                <a:r>
                  <a:rPr lang="en-IN" sz="2400">
                    <a:solidFill>
                      <a:srgbClr val="78350F"/>
                    </a:solidFill>
                    <a:latin typeface="Cambria Math" panose="02040503050406030204" pitchFamily="18" charset="0"/>
                  </a:rPr>
                  <a:t>$\frac1\beta=-\alpha$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expansion: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power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the coefficient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6</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5</m:t>
                            </m:r>
                          </m:sup>
                        </m:sSup>
                      </m:num>
                      <m:den>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6</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expansion: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β</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power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the coefficient is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6</m:t>
                            </m:r>
                          </m:sup>
                        </m:sSup>
                      </m:num>
                      <m:den>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5</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6</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5</m:t>
                            </m:r>
                          </m:sup>
                        </m:sSup>
                      </m:num>
                      <m:den>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6</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6</m:t>
                            </m:r>
                          </m:sup>
                        </m:sSup>
                      </m:num>
                      <m:den>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5</m:t>
                            </m:r>
                          </m:sup>
                        </m:sSup>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expansion: </a:t>
                </a:r>
                <a:r>
                  <a:rPr lang="en-IN" sz="2400">
                    <a:solidFill>
                      <a:srgbClr val="111827"/>
                    </a:solidFill>
                    <a:latin typeface="Cambria Math" panose="02040503050406030204" pitchFamily="18" charset="0"/>
                  </a:rPr>
                  <a:t>$T_{r+1}=\binom{11}{r}(\alpha x^3)^{11-r}\left(\frac{1}{\beta x}\right)^r$</a:t>
                </a:r>
                <a:r>
                  <a:rPr sz="2400" b="0">
                    <a:solidFill>
                      <a:srgbClr val="111827"/>
                    </a:solidFill>
                    <a:latin typeface="Arial"/>
                  </a:rPr>
                  <a:t>; power of </a:t>
                </a:r>
                <a:r>
                  <a:rPr lang="en-IN" sz="2400">
                    <a:solidFill>
                      <a:srgbClr val="111827"/>
                    </a:solidFill>
                    <a:latin typeface="Cambria Math" panose="02040503050406030204" pitchFamily="18" charset="0"/>
                  </a:rPr>
                  <a:t>$x$</a:t>
                </a:r>
                <a:r>
                  <a:rPr sz="2400" b="0">
                    <a:solidFill>
                      <a:srgbClr val="111827"/>
                    </a:solidFill>
                    <a:latin typeface="Arial"/>
                  </a:rPr>
                  <a:t> is </a:t>
                </a:r>
                <a:r>
                  <a:rPr lang="en-IN" sz="2400">
                    <a:solidFill>
                      <a:srgbClr val="111827"/>
                    </a:solidFill>
                    <a:latin typeface="Cambria Math" panose="02040503050406030204" pitchFamily="18" charset="0"/>
                  </a:rPr>
                  <a:t>$33-3r-r=9$</a:t>
                </a:r>
                <a:r>
                  <a:rPr sz="2400" b="0">
                    <a:solidFill>
                      <a:srgbClr val="111827"/>
                    </a:solidFill>
                    <a:latin typeface="Arial"/>
                  </a:rPr>
                  <a:t>, so </a:t>
                </a:r>
                <a:r>
                  <a:rPr lang="en-IN" sz="2400">
                    <a:solidFill>
                      <a:srgbClr val="111827"/>
                    </a:solidFill>
                    <a:latin typeface="Cambria Math" panose="02040503050406030204" pitchFamily="18" charset="0"/>
                  </a:rPr>
                  <a:t>$r=6$</a:t>
                </a:r>
                <a:r>
                  <a:rPr sz="2400" b="0">
                    <a:solidFill>
                      <a:srgbClr val="111827"/>
                    </a:solidFill>
                    <a:latin typeface="Arial"/>
                  </a:rPr>
                  <a:t> and the coefficient is </a:t>
                </a:r>
                <a:r>
                  <a:rPr lang="en-IN" sz="2400">
                    <a:solidFill>
                      <a:srgbClr val="111827"/>
                    </a:solidFill>
                    <a:latin typeface="Cambria Math" panose="02040503050406030204" pitchFamily="18" charset="0"/>
                  </a:rPr>
                  <a:t>$\binom{11}{6}\dfrac{\alpha^5}{\beta^6}$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expansion: </a:t>
                </a:r>
                <a:r>
                  <a:rPr lang="en-IN" sz="2400">
                    <a:solidFill>
                      <a:srgbClr val="111827"/>
                    </a:solidFill>
                    <a:latin typeface="Cambria Math" panose="02040503050406030204" pitchFamily="18" charset="0"/>
                  </a:rPr>
                  <a:t>$T_{r+1}=\binom{11}{r}(\alpha x)^{11-r}\left(-\frac{1}{\beta x^3}\right)^r$</a:t>
                </a:r>
                <a:r>
                  <a:rPr sz="2400" b="0">
                    <a:solidFill>
                      <a:srgbClr val="111827"/>
                    </a:solidFill>
                    <a:latin typeface="Arial"/>
                  </a:rPr>
                  <a:t>; power of </a:t>
                </a:r>
                <a:r>
                  <a:rPr lang="en-IN" sz="2400">
                    <a:solidFill>
                      <a:srgbClr val="111827"/>
                    </a:solidFill>
                    <a:latin typeface="Cambria Math" panose="02040503050406030204" pitchFamily="18" charset="0"/>
                  </a:rPr>
                  <a:t>$x$</a:t>
                </a:r>
                <a:r>
                  <a:rPr sz="2400" b="0">
                    <a:solidFill>
                      <a:srgbClr val="111827"/>
                    </a:solidFill>
                    <a:latin typeface="Arial"/>
                  </a:rPr>
                  <a:t> is </a:t>
                </a:r>
                <a:r>
                  <a:rPr lang="en-IN" sz="2400">
                    <a:solidFill>
                      <a:srgbClr val="111827"/>
                    </a:solidFill>
                    <a:latin typeface="Cambria Math" panose="02040503050406030204" pitchFamily="18" charset="0"/>
                  </a:rPr>
                  <a:t>$11-r-3r=-9$</a:t>
                </a:r>
                <a:r>
                  <a:rPr sz="2400" b="0">
                    <a:solidFill>
                      <a:srgbClr val="111827"/>
                    </a:solidFill>
                    <a:latin typeface="Arial"/>
                  </a:rPr>
                  <a:t>, so </a:t>
                </a:r>
                <a:r>
                  <a:rPr lang="en-IN" sz="2400">
                    <a:solidFill>
                      <a:srgbClr val="111827"/>
                    </a:solidFill>
                    <a:latin typeface="Cambria Math" panose="02040503050406030204" pitchFamily="18" charset="0"/>
                  </a:rPr>
                  <a:t>$r=5$</a:t>
                </a:r>
                <a:r>
                  <a:rPr sz="2400" b="0">
                    <a:solidFill>
                      <a:srgbClr val="111827"/>
                    </a:solidFill>
                    <a:latin typeface="Arial"/>
                  </a:rPr>
                  <a:t> and the coefficient is </a:t>
                </a:r>
                <a:r>
                  <a:rPr lang="en-IN" sz="2400">
                    <a:solidFill>
                      <a:srgbClr val="111827"/>
                    </a:solidFill>
                    <a:latin typeface="Cambria Math" panose="02040503050406030204" pitchFamily="18" charset="0"/>
                  </a:rPr>
                  <a:t>$-\binom{11}{5}\dfrac{\alpha^6}{\beta^5}$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Equate: </a:t>
                </a:r>
                <a:r>
                  <a:rPr lang="en-IN" sz="2400">
                    <a:solidFill>
                      <a:srgbClr val="111827"/>
                    </a:solidFill>
                    <a:latin typeface="Cambria Math" panose="02040503050406030204" pitchFamily="18" charset="0"/>
                  </a:rPr>
                  <a:t>$\binom{11}{6}\dfrac{\alpha^5}{\beta^6}=-\binom{11}{5}\dfrac{\alpha^6}{\beta^5}$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oMath>
                </a14:m>
                <a:r>
                  <a:rPr sz="2400" b="0">
                    <a:solidFill>
                      <a:srgbClr val="111827"/>
                    </a:solidFill>
                    <a:latin typeface="Arial"/>
                  </a:rPr>
                  <a:t>, we get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β</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$\binom{11}{6}=\binom{11}{5}$</a:t>
                </a:r>
                <a:r>
                  <a:rPr sz="2400" b="0">
                    <a:solidFill>
                      <a:srgbClr val="111827"/>
                    </a:solidFill>
                    <a:latin typeface="Arial"/>
                  </a:rPr>
                  <a:t>, we get </a:t>
                </a:r>
                <a:r>
                  <a:rPr lang="en-IN" sz="2400">
                    <a:solidFill>
                      <a:srgbClr val="111827"/>
                    </a:solidFill>
                    <a:latin typeface="Cambria Math" panose="02040503050406030204" pitchFamily="18" charset="0"/>
                  </a:rPr>
                  <a:t>$\dfrac{1}{\beta}=-\alpha$</a:t>
                </a:r>
                <a:r>
                  <a:rPr sz="2400" b="0">
                    <a:solidFill>
                      <a:srgbClr val="111827"/>
                    </a:solidFill>
                    <a:latin typeface="Arial"/>
                  </a:rPr>
                  <a:t>, i.e. </a:t>
                </a:r>
                <a:r>
                  <a:rPr lang="en-IN" sz="2400">
                    <a:solidFill>
                      <a:srgbClr val="111827"/>
                    </a:solidFill>
                    <a:latin typeface="Cambria Math" panose="02040503050406030204" pitchFamily="18" charset="0"/>
                  </a:rPr>
                  <a:t>$\alpha\beta=-1$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$(\alpha\beta)^2=1$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a:t>
            </a:r>
            <a:endParaRPr sz="2800">
              <a:solidFill>
                <a:srgbClr val="15803D"/>
              </a:solidFill>
            </a:endParaRP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 each bracket as (monomial)</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(polynomial in </a:t>
                </a:r>
                <a14:m>
                  <m:oMath xmlns:m="http://schemas.openxmlformats.org/officeDocument/2006/math">
                    <m:r>
                      <a:rPr lang="en-IN" sz="2400" i="1">
                        <a:solidFill>
                          <a:srgbClr val="78350F"/>
                        </a:solidFill>
                        <a:latin typeface="Cambria Math" panose="02040503050406030204" pitchFamily="18" charset="0"/>
                      </a:rPr>
                      <m:t>α</m:t>
                    </m:r>
                    <m:r>
                      <a:rPr lang="en-IN" sz="2400" i="1">
                        <a:solidFill>
                          <a:srgbClr val="78350F"/>
                        </a:solidFill>
                        <a:latin typeface="Cambria Math" panose="02040503050406030204" pitchFamily="18" charset="0"/>
                      </a:rPr>
                      <m:t>β</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4</m:t>
                        </m:r>
                      </m:sup>
                    </m:sSup>
                  </m:oMath>
                </a14:m>
                <a:r>
                  <a:rPr sz="2400" b="0">
                    <a:solidFill>
                      <a:srgbClr val="78350F"/>
                    </a:solidFill>
                    <a:latin typeface="Arial"/>
                  </a:rPr>
                  <a:t>), so that only the product </a:t>
                </a:r>
                <a14:m>
                  <m:oMath xmlns:m="http://schemas.openxmlformats.org/officeDocument/2006/math">
                    <m:r>
                      <a:rPr lang="en-IN" sz="2400" i="1">
                        <a:solidFill>
                          <a:srgbClr val="78350F"/>
                        </a:solidFill>
                        <a:latin typeface="Cambria Math" panose="02040503050406030204" pitchFamily="18" charset="0"/>
                      </a:rPr>
                      <m:t>α</m:t>
                    </m:r>
                    <m:r>
                      <a:rPr lang="en-IN" sz="2400" i="1">
                        <a:solidFill>
                          <a:srgbClr val="78350F"/>
                        </a:solidFill>
                        <a:latin typeface="Cambria Math" panose="02040503050406030204" pitchFamily="18" charset="0"/>
                      </a:rPr>
                      <m:t>β</m:t>
                    </m:r>
                  </m:oMath>
                </a14:m>
                <a:r>
                  <a:rPr sz="2400" b="0">
                    <a:solidFill>
                      <a:srgbClr val="78350F"/>
                    </a:solidFill>
                    <a:latin typeface="Arial"/>
                  </a:rPr>
                  <a:t> can appear.</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 each bracket as (monomial)</a:t>
                </a:r>
                <a:r>
                  <a:rPr lang="en-IN" sz="2400">
                    <a:solidFill>
                      <a:srgbClr val="78350F"/>
                    </a:solidFill>
                    <a:latin typeface="Cambria Math" panose="02040503050406030204" pitchFamily="18" charset="0"/>
                  </a:rPr>
                  <a:t>$\times$</a:t>
                </a:r>
                <a:r>
                  <a:rPr sz="2400" b="0">
                    <a:solidFill>
                      <a:srgbClr val="78350F"/>
                    </a:solidFill>
                    <a:latin typeface="Arial"/>
                  </a:rPr>
                  <a:t>(polynomial in </a:t>
                </a:r>
                <a:r>
                  <a:rPr lang="en-IN" sz="2400">
                    <a:solidFill>
                      <a:srgbClr val="78350F"/>
                    </a:solidFill>
                    <a:latin typeface="Cambria Math" panose="02040503050406030204" pitchFamily="18" charset="0"/>
                  </a:rPr>
                  <a:t>$\alpha\beta x^4$</a:t>
                </a:r>
                <a:r>
                  <a:rPr sz="2400" b="0">
                    <a:solidFill>
                      <a:srgbClr val="78350F"/>
                    </a:solidFill>
                    <a:latin typeface="Arial"/>
                  </a:rPr>
                  <a:t>), so that only the product </a:t>
                </a:r>
                <a:r>
                  <a:rPr lang="en-IN" sz="2400">
                    <a:solidFill>
                      <a:srgbClr val="78350F"/>
                    </a:solidFill>
                    <a:latin typeface="Cambria Math" panose="02040503050406030204" pitchFamily="18" charset="0"/>
                  </a:rPr>
                  <a:t>$\alpha\beta$</a:t>
                </a:r>
                <a:r>
                  <a:rPr sz="2400" b="0">
                    <a:solidFill>
                      <a:srgbClr val="78350F"/>
                    </a:solidFill>
                    <a:latin typeface="Arial"/>
                  </a:rPr>
                  <a:t> can appear.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𝑥</m:t>
                        </m:r>
                      </m:den>
                    </m:f>
                  </m:oMath>
                </a14:m>
                <a:r>
                  <a:rPr sz="2400" b="0">
                    <a:solidFill>
                      <a:srgbClr val="111827"/>
                    </a:solidFill>
                    <a:latin typeface="Arial"/>
                  </a:rPr>
                  <a:t>, so the first expression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num>
                      <m:den>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11</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11</m:t>
                            </m:r>
                          </m:sup>
                        </m:sSup>
                      </m:den>
                    </m:f>
                  </m:oMath>
                </a14:m>
                <a:r>
                  <a:rPr sz="2400" b="0">
                    <a:solidFill>
                      <a:srgbClr val="111827"/>
                    </a:solidFill>
                    <a:latin typeface="Arial"/>
                  </a:rPr>
                  <a:t>; its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9</m:t>
                        </m:r>
                      </m:sup>
                    </m:sSup>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11</m:t>
                            </m:r>
                          </m:sup>
                        </m:sSup>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20</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num>
                      <m:den>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11</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β</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β</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 so the second expression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num>
                      <m:den>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11</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33</m:t>
                            </m:r>
                          </m:sup>
                        </m:sSup>
                      </m:den>
                    </m:f>
                  </m:oMath>
                </a14:m>
                <a:r>
                  <a:rPr sz="2400" b="0">
                    <a:solidFill>
                      <a:srgbClr val="111827"/>
                    </a:solidFill>
                    <a:latin typeface="Arial"/>
                  </a:rPr>
                  <a:t>; its 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up>
                    </m:sSup>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11</m:t>
                            </m:r>
                          </m:sup>
                        </m:sSup>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24</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num>
                      <m:den>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11</m:t>
                            </m:r>
                          </m:sup>
                        </m:sSup>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 x^3+\dfrac1{\beta x}=\dfrac{\alpha\beta x^4+1}{\beta x}$</a:t>
                </a:r>
                <a:r>
                  <a:rPr sz="2400" b="0">
                    <a:solidFill>
                      <a:srgbClr val="111827"/>
                    </a:solidFill>
                    <a:latin typeface="Arial"/>
                  </a:rPr>
                  <a:t>, so the first expression is </a:t>
                </a:r>
                <a:r>
                  <a:rPr lang="en-IN" sz="2400">
                    <a:solidFill>
                      <a:srgbClr val="111827"/>
                    </a:solidFill>
                    <a:latin typeface="Cambria Math" panose="02040503050406030204" pitchFamily="18" charset="0"/>
                  </a:rPr>
                  <a:t>$\dfrac{(1+\alpha\beta x^4)^{11}}{\beta^{11}x^{11}}$</a:t>
                </a:r>
                <a:r>
                  <a:rPr sz="2400" b="0">
                    <a:solidFill>
                      <a:srgbClr val="111827"/>
                    </a:solidFill>
                    <a:latin typeface="Arial"/>
                  </a:rPr>
                  <a:t>; its coefficient of </a:t>
                </a:r>
                <a:r>
                  <a:rPr lang="en-IN" sz="2400">
                    <a:solidFill>
                      <a:srgbClr val="111827"/>
                    </a:solidFill>
                    <a:latin typeface="Cambria Math" panose="02040503050406030204" pitchFamily="18" charset="0"/>
                  </a:rPr>
                  <a:t>$x^9$</a:t>
                </a:r>
                <a:r>
                  <a:rPr sz="2400" b="0">
                    <a:solidFill>
                      <a:srgbClr val="111827"/>
                    </a:solidFill>
                    <a:latin typeface="Arial"/>
                  </a:rPr>
                  <a:t> is </a:t>
                </a:r>
                <a:r>
                  <a:rPr lang="en-IN" sz="2400">
                    <a:solidFill>
                      <a:srgbClr val="111827"/>
                    </a:solidFill>
                    <a:latin typeface="Cambria Math" panose="02040503050406030204" pitchFamily="18" charset="0"/>
                  </a:rPr>
                  <a:t>$\dfrac1{\beta^{11}}\times$</a:t>
                </a:r>
                <a:r>
                  <a:rPr sz="2400" b="0">
                    <a:solidFill>
                      <a:srgbClr val="111827"/>
                    </a:solidFill>
                    <a:latin typeface="Arial"/>
                  </a:rPr>
                  <a:t> coefficient of </a:t>
                </a:r>
                <a:r>
                  <a:rPr lang="en-IN" sz="2400">
                    <a:solidFill>
                      <a:srgbClr val="111827"/>
                    </a:solidFill>
                    <a:latin typeface="Cambria Math" panose="02040503050406030204" pitchFamily="18" charset="0"/>
                  </a:rPr>
                  <a:t>$x^{20}=(x^4)^5$</a:t>
                </a:r>
                <a:r>
                  <a:rPr sz="2400" b="0">
                    <a:solidFill>
                      <a:srgbClr val="111827"/>
                    </a:solidFill>
                    <a:latin typeface="Arial"/>
                  </a:rPr>
                  <a:t>, i.e. </a:t>
                </a:r>
                <a:r>
                  <a:rPr lang="en-IN" sz="2400">
                    <a:solidFill>
                      <a:srgbClr val="111827"/>
                    </a:solidFill>
                    <a:latin typeface="Cambria Math" panose="02040503050406030204" pitchFamily="18" charset="0"/>
                  </a:rPr>
                  <a:t>$\dfrac{\binom{11}{5}(\alpha\beta)^5}{\beta^{11}}$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 x-\dfrac1{\beta x^3}=\dfrac{\alpha\beta x^4-1}{\beta x^3}$</a:t>
                </a:r>
                <a:r>
                  <a:rPr sz="2400" b="0">
                    <a:solidFill>
                      <a:srgbClr val="111827"/>
                    </a:solidFill>
                    <a:latin typeface="Arial"/>
                  </a:rPr>
                  <a:t>, so the second expression is </a:t>
                </a:r>
                <a:r>
                  <a:rPr lang="en-IN" sz="2400">
                    <a:solidFill>
                      <a:srgbClr val="111827"/>
                    </a:solidFill>
                    <a:latin typeface="Cambria Math" panose="02040503050406030204" pitchFamily="18" charset="0"/>
                  </a:rPr>
                  <a:t>$\dfrac{(\alpha\beta x^4-1)^{11}}{\beta^{11}x^{33}}$</a:t>
                </a:r>
                <a:r>
                  <a:rPr sz="2400" b="0">
                    <a:solidFill>
                      <a:srgbClr val="111827"/>
                    </a:solidFill>
                    <a:latin typeface="Arial"/>
                  </a:rPr>
                  <a:t>; its coefficient of </a:t>
                </a:r>
                <a:r>
                  <a:rPr lang="en-IN" sz="2400">
                    <a:solidFill>
                      <a:srgbClr val="111827"/>
                    </a:solidFill>
                    <a:latin typeface="Cambria Math" panose="02040503050406030204" pitchFamily="18" charset="0"/>
                  </a:rPr>
                  <a:t>$x^{-9}$</a:t>
                </a:r>
                <a:r>
                  <a:rPr sz="2400" b="0">
                    <a:solidFill>
                      <a:srgbClr val="111827"/>
                    </a:solidFill>
                    <a:latin typeface="Arial"/>
                  </a:rPr>
                  <a:t> is </a:t>
                </a:r>
                <a:r>
                  <a:rPr lang="en-IN" sz="2400">
                    <a:solidFill>
                      <a:srgbClr val="111827"/>
                    </a:solidFill>
                    <a:latin typeface="Cambria Math" panose="02040503050406030204" pitchFamily="18" charset="0"/>
                  </a:rPr>
                  <a:t>$\dfrac1{\beta^{11}}\times$</a:t>
                </a:r>
                <a:r>
                  <a:rPr sz="2400" b="0">
                    <a:solidFill>
                      <a:srgbClr val="111827"/>
                    </a:solidFill>
                    <a:latin typeface="Arial"/>
                  </a:rPr>
                  <a:t> coefficient of </a:t>
                </a:r>
                <a:r>
                  <a:rPr lang="en-IN" sz="2400">
                    <a:solidFill>
                      <a:srgbClr val="111827"/>
                    </a:solidFill>
                    <a:latin typeface="Cambria Math" panose="02040503050406030204" pitchFamily="18" charset="0"/>
                  </a:rPr>
                  <a:t>$x^{24}=(x^4)^6$</a:t>
                </a:r>
                <a:r>
                  <a:rPr sz="2400" b="0">
                    <a:solidFill>
                      <a:srgbClr val="111827"/>
                    </a:solidFill>
                    <a:latin typeface="Arial"/>
                  </a:rPr>
                  <a:t>, i.e. </a:t>
                </a:r>
                <a:r>
                  <a:rPr lang="en-IN" sz="2400">
                    <a:solidFill>
                      <a:srgbClr val="111827"/>
                    </a:solidFill>
                    <a:latin typeface="Cambria Math" panose="02040503050406030204" pitchFamily="18" charset="0"/>
                  </a:rPr>
                  <a:t>$\dfrac{\binom{11}{6}(\alpha\beta)^6(-1)^5}{\beta^{11}}$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Equate and cancel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11</m:t>
                        </m:r>
                      </m:sup>
                    </m:sSup>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6</m:t>
                            </m:r>
                          </m:den>
                        </m:f>
                      </m:e>
                    </m: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(else both coefficients vanish and the question is vacuous),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Equate and cancel </a:t>
                </a:r>
                <a:r>
                  <a:rPr lang="en-IN" sz="2400">
                    <a:solidFill>
                      <a:srgbClr val="111827"/>
                    </a:solidFill>
                    <a:latin typeface="Cambria Math" panose="02040503050406030204" pitchFamily="18" charset="0"/>
                  </a:rPr>
                  <a:t>$\beta^{11}$</a:t>
                </a:r>
                <a:r>
                  <a:rPr sz="2400" b="0">
                    <a:solidFill>
                      <a:srgbClr val="111827"/>
                    </a:solidFill>
                    <a:latin typeface="Arial"/>
                  </a:rPr>
                  <a:t> and </a:t>
                </a:r>
                <a:r>
                  <a:rPr lang="en-IN" sz="2400">
                    <a:solidFill>
                      <a:srgbClr val="111827"/>
                    </a:solidFill>
                    <a:latin typeface="Cambria Math" panose="02040503050406030204" pitchFamily="18" charset="0"/>
                  </a:rPr>
                  <a:t>$\binom{11}{5}=\binom{11}{6}$</a:t>
                </a:r>
                <a:r>
                  <a:rPr sz="2400" b="0">
                    <a:solidFill>
                      <a:srgbClr val="111827"/>
                    </a:solidFill>
                    <a:latin typeface="Arial"/>
                  </a:rPr>
                  <a:t>: </a:t>
                </a:r>
                <a:r>
                  <a:rPr lang="en-IN" sz="2400">
                    <a:solidFill>
                      <a:srgbClr val="111827"/>
                    </a:solidFill>
                    <a:latin typeface="Cambria Math" panose="02040503050406030204" pitchFamily="18" charset="0"/>
                  </a:rPr>
                  <a:t>$(\alpha\beta)^5=-(\alpha\beta)^6$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$\alpha\beta\neq0$</a:t>
                </a:r>
                <a:r>
                  <a:rPr sz="2400" b="0">
                    <a:solidFill>
                      <a:srgbClr val="111827"/>
                    </a:solidFill>
                    <a:latin typeface="Arial"/>
                  </a:rPr>
                  <a:t> (else both coefficients vanish and the question is vacuous), </a:t>
                </a:r>
                <a:r>
                  <a:rPr lang="en-IN" sz="2400">
                    <a:solidFill>
                      <a:srgbClr val="111827"/>
                    </a:solidFill>
                    <a:latin typeface="Cambria Math" panose="02040503050406030204" pitchFamily="18" charset="0"/>
                  </a:rPr>
                  <a:t>$\alpha\beta=-1$</a:t>
                </a:r>
                <a:r>
                  <a:rPr sz="2400" b="0">
                    <a:solidFill>
                      <a:srgbClr val="111827"/>
                    </a:solidFill>
                    <a:latin typeface="Arial"/>
                  </a:rPr>
                  <a:t> and </a:t>
                </a:r>
                <a:r>
                  <a:rPr lang="en-IN" sz="2400">
                    <a:solidFill>
                      <a:srgbClr val="111827"/>
                    </a:solidFill>
                    <a:latin typeface="Cambria Math" panose="02040503050406030204" pitchFamily="18" charset="0"/>
                  </a:rPr>
                  <a:t>$(\alpha\beta)^2=1$</a:t>
                </a:r>
                <a:r>
                  <a:rPr sz="2400" b="0">
                    <a:solidFill>
                      <a:srgbClr val="111827"/>
                    </a:solidFill>
                    <a:latin typeface="Arial"/>
                  </a:rPr>
                  <a:t>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a:t>
            </a:r>
            <a:endParaRPr sz="2800">
              <a:solidFill>
                <a:srgbClr val="15803D"/>
              </a:solidFill>
            </a:endParaRP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𝑝</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𝑞</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the exponent is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𝑟</m:t>
                    </m:r>
                  </m:oMath>
                </a14:m>
                <a:r>
                  <a:rPr sz="2400" b="0">
                    <a:solidFill>
                      <a:srgbClr val="111827"/>
                    </a:solidFill>
                    <a:latin typeface="Arial"/>
                  </a:rPr>
                  <a:t>; the two coefficients are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and symmetry of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often cancels them.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negative sign in the second binomial appears as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is odd so the sign is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unknowns appear only through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oMath>
                </a14:m>
                <a:r>
                  <a:rPr sz="2400" b="0">
                    <a:solidFill>
                      <a:srgbClr val="111827"/>
                    </a:solidFill>
                    <a:latin typeface="Arial"/>
                  </a:rPr>
                  <a:t>, so equations of this kind typically give a relation like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against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oMath>
                </a14:m>
                <a:r>
                  <a:rPr sz="2400" b="0">
                    <a:solidFill>
                      <a:srgbClr val="111827"/>
                    </a:solidFill>
                    <a:latin typeface="Arial"/>
                  </a:rPr>
                  <a:t>, equal.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$(Ax^p+Bx^q)^n$</a:t>
                </a:r>
                <a:r>
                  <a:rPr sz="2400" b="0">
                    <a:solidFill>
                      <a:srgbClr val="111827"/>
                    </a:solidFill>
                    <a:latin typeface="Arial"/>
                  </a:rPr>
                  <a:t> the exponent is </a:t>
                </a:r>
                <a:r>
                  <a:rPr lang="en-IN" sz="2400">
                    <a:solidFill>
                      <a:srgbClr val="111827"/>
                    </a:solidFill>
                    <a:latin typeface="Cambria Math" panose="02040503050406030204" pitchFamily="18" charset="0"/>
                  </a:rPr>
                  <a:t>$p(n-r)+qr$</a:t>
                </a:r>
                <a:r>
                  <a:rPr sz="2400" b="0">
                    <a:solidFill>
                      <a:srgbClr val="111827"/>
                    </a:solidFill>
                    <a:latin typeface="Arial"/>
                  </a:rPr>
                  <a:t>; the two coefficients are </a:t>
                </a:r>
                <a:r>
                  <a:rPr lang="en-IN" sz="2400">
                    <a:solidFill>
                      <a:srgbClr val="111827"/>
                    </a:solidFill>
                    <a:latin typeface="Cambria Math" panose="02040503050406030204" pitchFamily="18" charset="0"/>
                  </a:rPr>
                  <a:t>$\binom nrA^{n-r}B^r$</a:t>
                </a:r>
                <a:r>
                  <a:rPr sz="2400" b="0">
                    <a:solidFill>
                      <a:srgbClr val="111827"/>
                    </a:solidFill>
                    <a:latin typeface="Arial"/>
                  </a:rPr>
                  <a:t> and symmetry of </a:t>
                </a:r>
                <a:r>
                  <a:rPr lang="en-IN" sz="2400">
                    <a:solidFill>
                      <a:srgbClr val="111827"/>
                    </a:solidFill>
                    <a:latin typeface="Cambria Math" panose="02040503050406030204" pitchFamily="18" charset="0"/>
                  </a:rPr>
                  <a:t>$\binom nr$</a:t>
                </a:r>
                <a:r>
                  <a:rPr sz="2400" b="0">
                    <a:solidFill>
                      <a:srgbClr val="111827"/>
                    </a:solidFill>
                    <a:latin typeface="Arial"/>
                  </a:rPr>
                  <a:t> often cancels them.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negative sign in the second binomial appears as </a:t>
                </a:r>
                <a:r>
                  <a:rPr lang="en-IN" sz="2400">
                    <a:solidFill>
                      <a:srgbClr val="111827"/>
                    </a:solidFill>
                    <a:latin typeface="Cambria Math" panose="02040503050406030204" pitchFamily="18" charset="0"/>
                  </a:rPr>
                  <a:t>$(-1)^r$</a:t>
                </a:r>
                <a:r>
                  <a:rPr sz="2400" b="0">
                    <a:solidFill>
                      <a:srgbClr val="111827"/>
                    </a:solidFill>
                    <a:latin typeface="Arial"/>
                  </a:rPr>
                  <a:t>; here </a:t>
                </a:r>
                <a:r>
                  <a:rPr lang="en-IN" sz="2400">
                    <a:solidFill>
                      <a:srgbClr val="111827"/>
                    </a:solidFill>
                    <a:latin typeface="Cambria Math" panose="02040503050406030204" pitchFamily="18" charset="0"/>
                  </a:rPr>
                  <a:t>$r=5$</a:t>
                </a:r>
                <a:r>
                  <a:rPr sz="2400" b="0">
                    <a:solidFill>
                      <a:srgbClr val="111827"/>
                    </a:solidFill>
                    <a:latin typeface="Arial"/>
                  </a:rPr>
                  <a:t> is odd so the sign is </a:t>
                </a:r>
                <a:r>
                  <a:rPr lang="en-IN" sz="2400">
                    <a:solidFill>
                      <a:srgbClr val="111827"/>
                    </a:solidFill>
                    <a:latin typeface="Cambria Math" panose="02040503050406030204" pitchFamily="18" charset="0"/>
                  </a:rPr>
                  <a: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unknowns appear only through </a:t>
                </a:r>
                <a:r>
                  <a:rPr lang="en-IN" sz="2400">
                    <a:solidFill>
                      <a:srgbClr val="111827"/>
                    </a:solidFill>
                    <a:latin typeface="Cambria Math" panose="02040503050406030204" pitchFamily="18" charset="0"/>
                  </a:rPr>
                  <a:t>$\alpha\beta$</a:t>
                </a:r>
                <a:r>
                  <a:rPr sz="2400" b="0">
                    <a:solidFill>
                      <a:srgbClr val="111827"/>
                    </a:solidFill>
                    <a:latin typeface="Arial"/>
                  </a:rPr>
                  <a:t>, so equations of this kind typically give a relation like </a:t>
                </a:r>
                <a:r>
                  <a:rPr lang="en-IN" sz="2400">
                    <a:solidFill>
                      <a:srgbClr val="111827"/>
                    </a:solidFill>
                    <a:latin typeface="Cambria Math" panose="02040503050406030204" pitchFamily="18" charset="0"/>
                  </a:rPr>
                  <a:t>$\alpha\beta=\pm1$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$\alpha=1,\beta=-1$</a:t>
                </a:r>
                <a:r>
                  <a:rPr sz="2400" b="0">
                    <a:solidFill>
                      <a:srgbClr val="111827"/>
                    </a:solidFill>
                    <a:latin typeface="Arial"/>
                  </a:rPr>
                  <a:t>: </a:t>
                </a:r>
                <a:r>
                  <a:rPr lang="en-IN" sz="2400">
                    <a:solidFill>
                      <a:srgbClr val="111827"/>
                    </a:solidFill>
                    <a:latin typeface="Cambria Math" panose="02040503050406030204" pitchFamily="18" charset="0"/>
                  </a:rPr>
                  <a:t>$\binom{11}{6}\cdot1$</a:t>
                </a:r>
                <a:r>
                  <a:rPr sz="2400" b="0">
                    <a:solidFill>
                      <a:srgbClr val="111827"/>
                    </a:solidFill>
                    <a:latin typeface="Arial"/>
                  </a:rPr>
                  <a:t> against </a:t>
                </a:r>
                <a:r>
                  <a:rPr lang="en-IN" sz="2400">
                    <a:solidFill>
                      <a:srgbClr val="111827"/>
                    </a:solidFill>
                    <a:latin typeface="Cambria Math" panose="02040503050406030204" pitchFamily="18" charset="0"/>
                  </a:rPr>
                  <a:t>$-\binom{11}{5}\cdot\frac{1}{(-1)^5}=\binom{11}{5}$</a:t>
                </a:r>
                <a:r>
                  <a:rPr sz="2400" b="0">
                    <a:solidFill>
                      <a:srgbClr val="111827"/>
                    </a:solidFill>
                    <a:latin typeface="Arial"/>
                  </a:rPr>
                  <a:t>, equal.</a:t>
                </a:r>
                <a:endParaRPr sz="2400">
                  <a:solidFill>
                    <a:srgbClr val="111827"/>
                  </a:solidFill>
                </a:endParaRPr>
              </a:p>
            </p:txBody>
          </p:sp>
        </mc:Fallback>
      </mc:AlternateContent>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coefficients of three consecutive terms in the binomial expansion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be in the ratio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Then the coefficient of the term which is in the middle of these three terms is ________.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coefficients of three consecutive terms in the binomial expansion of </a:t>
                </a:r>
                <a:r>
                  <a:rPr lang="en-IN" sz="2400">
                    <a:solidFill>
                      <a:srgbClr val="111827"/>
                    </a:solidFill>
                    <a:latin typeface="Cambria Math" panose="02040503050406030204" pitchFamily="18" charset="0"/>
                  </a:rPr>
                  <a:t>$(1+2x)^n$</a:t>
                </a:r>
                <a:r>
                  <a:rPr sz="2400" b="0">
                    <a:solidFill>
                      <a:srgbClr val="111827"/>
                    </a:solidFill>
                    <a:latin typeface="Arial"/>
                  </a:rPr>
                  <a:t> be in the ratio </a:t>
                </a:r>
                <a:r>
                  <a:rPr lang="en-IN" sz="2400">
                    <a:solidFill>
                      <a:srgbClr val="111827"/>
                    </a:solidFill>
                    <a:latin typeface="Cambria Math" panose="02040503050406030204" pitchFamily="18" charset="0"/>
                  </a:rPr>
                  <a:t>$2:5:8$</a:t>
                </a:r>
                <a:r>
                  <a:rPr sz="2400" b="0">
                    <a:solidFill>
                      <a:srgbClr val="111827"/>
                    </a:solidFill>
                    <a:latin typeface="Arial"/>
                  </a:rPr>
                  <a:t>. Then the coefficient of the term which is in the middle of these three terms is ________.</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Ratio of consecutive coefficients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Two ratio equations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give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the middle coefficient is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8</m:t>
                            </m:r>
                          </m:num>
                          <m:den>
                            <m:r>
                              <a:rPr lang="en-IN" sz="2400" i="1">
                                <a:solidFill>
                                  <a:srgbClr val="78350F"/>
                                </a:solidFill>
                                <a:latin typeface="Cambria Math" panose="02040503050406030204" pitchFamily="18" charset="0"/>
                              </a:rPr>
                              <m:t>4</m:t>
                            </m:r>
                          </m:den>
                        </m:f>
                      </m:e>
                    </m:d>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4</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Two ratio equations in </a:t>
                </a:r>
                <a:r>
                  <a:rPr lang="en-IN" sz="2400">
                    <a:solidFill>
                      <a:srgbClr val="78350F"/>
                    </a:solidFill>
                    <a:latin typeface="Cambria Math" panose="02040503050406030204" pitchFamily="18" charset="0"/>
                  </a:rPr>
                  <a:t>$(n,r)$</a:t>
                </a:r>
                <a:r>
                  <a:rPr sz="2400" b="0">
                    <a:solidFill>
                      <a:srgbClr val="78350F"/>
                    </a:solidFill>
                    <a:latin typeface="Arial"/>
                  </a:rPr>
                  <a:t> give </a:t>
                </a:r>
                <a:r>
                  <a:rPr lang="en-IN" sz="2400">
                    <a:solidFill>
                      <a:srgbClr val="78350F"/>
                    </a:solidFill>
                    <a:latin typeface="Cambria Math" panose="02040503050406030204" pitchFamily="18" charset="0"/>
                  </a:rPr>
                  <a:t>$n=8$</a:t>
                </a:r>
                <a:r>
                  <a:rPr sz="2400" b="0">
                    <a:solidFill>
                      <a:srgbClr val="78350F"/>
                    </a:solidFill>
                    <a:latin typeface="Arial"/>
                  </a:rPr>
                  <a:t>, </a:t>
                </a:r>
                <a:r>
                  <a:rPr lang="en-IN" sz="2400">
                    <a:solidFill>
                      <a:srgbClr val="78350F"/>
                    </a:solidFill>
                    <a:latin typeface="Cambria Math" panose="02040503050406030204" pitchFamily="18" charset="0"/>
                  </a:rPr>
                  <a:t>$r=4$</a:t>
                </a:r>
                <a:r>
                  <a:rPr sz="2400" b="0">
                    <a:solidFill>
                      <a:srgbClr val="78350F"/>
                    </a:solidFill>
                    <a:latin typeface="Arial"/>
                  </a:rPr>
                  <a:t>; the middle coefficient is </a:t>
                </a:r>
                <a:r>
                  <a:rPr lang="en-IN" sz="2400">
                    <a:solidFill>
                      <a:srgbClr val="78350F"/>
                    </a:solidFill>
                    <a:latin typeface="Cambria Math" panose="02040503050406030204" pitchFamily="18" charset="0"/>
                  </a:rPr>
                  <a:t>$\binom84 2^4$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three consecutive terms be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the middle one; the three coefficients are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ratio: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ratio: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sup>
                        </m:sSup>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𝑟</m:t>
                    </m:r>
                  </m:oMath>
                </a14:m>
                <a:r>
                  <a:rPr sz="2400" b="0">
                    <a:solidFill>
                      <a:srgbClr val="111827"/>
                    </a:solidFill>
                    <a:latin typeface="Arial"/>
                  </a:rPr>
                  <a:t>. ...(2)</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three consecutive terms be </a:t>
                </a:r>
                <a:r>
                  <a:rPr lang="en-IN" sz="2400">
                    <a:solidFill>
                      <a:srgbClr val="111827"/>
                    </a:solidFill>
                    <a:latin typeface="Cambria Math" panose="02040503050406030204" pitchFamily="18" charset="0"/>
                  </a:rPr>
                  <a:t>$t_r,t_{r+1},t_{r+2}$</a:t>
                </a:r>
                <a:r>
                  <a:rPr sz="2400" b="0">
                    <a:solidFill>
                      <a:srgbClr val="111827"/>
                    </a:solidFill>
                    <a:latin typeface="Arial"/>
                  </a:rPr>
                  <a:t> with </a:t>
                </a:r>
                <a:r>
                  <a:rPr lang="en-IN" sz="2400">
                    <a:solidFill>
                      <a:srgbClr val="111827"/>
                    </a:solidFill>
                    <a:latin typeface="Cambria Math" panose="02040503050406030204" pitchFamily="18" charset="0"/>
                  </a:rPr>
                  <a:t>$t_{r+1}=\binom nr(2x)^r$</a:t>
                </a:r>
                <a:r>
                  <a:rPr sz="2400" b="0">
                    <a:solidFill>
                      <a:srgbClr val="111827"/>
                    </a:solidFill>
                    <a:latin typeface="Arial"/>
                  </a:rPr>
                  <a:t> the middle one; the three coefficients are </a:t>
                </a:r>
                <a:r>
                  <a:rPr lang="en-IN" sz="2400">
                    <a:solidFill>
                      <a:srgbClr val="111827"/>
                    </a:solidFill>
                    <a:latin typeface="Cambria Math" panose="02040503050406030204" pitchFamily="18" charset="0"/>
                  </a:rPr>
                  <a:t>$\binom n{r-1}2^{r-1}:\binom nr2^r:\binom n{r+1}2^{r+1}=2:5:8$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ratio: </a:t>
                </a:r>
                <a:r>
                  <a:rPr lang="en-IN" sz="2400">
                    <a:solidFill>
                      <a:srgbClr val="111827"/>
                    </a:solidFill>
                    <a:latin typeface="Cambria Math" panose="02040503050406030204" pitchFamily="18" charset="0"/>
                  </a:rPr>
                  <a:t>$\dfrac{\binom n{r-1}2^{r-1}}{\binom nr2^r}=\dfrac25\Rightarrow\dfrac{r}{2(n-r+1)}=\dfrac25\Rightarrow5r=4(n-r+1)\Rightarrow9r=4(n+1)$</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ratio: </a:t>
                </a:r>
                <a:r>
                  <a:rPr lang="en-IN" sz="2400">
                    <a:solidFill>
                      <a:srgbClr val="111827"/>
                    </a:solidFill>
                    <a:latin typeface="Cambria Math" panose="02040503050406030204" pitchFamily="18" charset="0"/>
                  </a:rPr>
                  <a:t>$\dfrac{\binom nr2^r}{\binom n{r+1}2^{r+1}}=\dfrac58\Rightarrow\dfrac{r+1}{2(n-r)}=\dfrac58\Rightarrow4(r+1)=5(n-r)\Rightarrow5n-4=9r$</a:t>
                </a:r>
                <a:r>
                  <a:rPr sz="2400" b="0">
                    <a:solidFill>
                      <a:srgbClr val="111827"/>
                    </a:solidFill>
                    <a:latin typeface="Arial"/>
                  </a:rPr>
                  <a:t>. ...(2)</a:t>
                </a:r>
                <a:endParaRPr sz="2400">
                  <a:solidFill>
                    <a:srgbClr val="111827"/>
                  </a:solidFill>
                </a:endParaRPr>
              </a:p>
            </p:txBody>
          </p:sp>
        </mc:Fallback>
      </mc:AlternateContent>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(1) and (2):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middle term has coefficient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1120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(1) and (2): </a:t>
                </a:r>
                <a:r>
                  <a:rPr lang="en-IN" sz="2400">
                    <a:solidFill>
                      <a:srgbClr val="111827"/>
                    </a:solidFill>
                    <a:latin typeface="Cambria Math" panose="02040503050406030204" pitchFamily="18" charset="0"/>
                  </a:rPr>
                  <a:t>$4n+4=5n-4$</a:t>
                </a:r>
                <a:r>
                  <a:rPr sz="2400" b="0">
                    <a:solidFill>
                      <a:srgbClr val="111827"/>
                    </a:solidFill>
                    <a:latin typeface="Arial"/>
                  </a:rPr>
                  <a:t>, so </a:t>
                </a:r>
                <a:r>
                  <a:rPr lang="en-IN" sz="2400">
                    <a:solidFill>
                      <a:srgbClr val="111827"/>
                    </a:solidFill>
                    <a:latin typeface="Cambria Math" panose="02040503050406030204" pitchFamily="18" charset="0"/>
                  </a:rPr>
                  <a:t>$n=8$</a:t>
                </a:r>
                <a:r>
                  <a:rPr sz="2400" b="0">
                    <a:solidFill>
                      <a:srgbClr val="111827"/>
                    </a:solidFill>
                    <a:latin typeface="Arial"/>
                  </a:rPr>
                  <a:t>; then </a:t>
                </a:r>
                <a:r>
                  <a:rPr lang="en-IN" sz="2400">
                    <a:solidFill>
                      <a:srgbClr val="111827"/>
                    </a:solidFill>
                    <a:latin typeface="Cambria Math" panose="02040503050406030204" pitchFamily="18" charset="0"/>
                  </a:rPr>
                  <a:t>$9r=36$</a:t>
                </a:r>
                <a:r>
                  <a:rPr sz="2400" b="0">
                    <a:solidFill>
                      <a:srgbClr val="111827"/>
                    </a:solidFill>
                    <a:latin typeface="Arial"/>
                  </a:rPr>
                  <a:t> and </a:t>
                </a:r>
                <a:r>
                  <a:rPr lang="en-IN" sz="2400">
                    <a:solidFill>
                      <a:srgbClr val="111827"/>
                    </a:solidFill>
                    <a:latin typeface="Cambria Math" panose="02040503050406030204" pitchFamily="18" charset="0"/>
                  </a:rPr>
                  <a:t>$r=4$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middle term has coefficient </a:t>
                </a:r>
                <a:r>
                  <a:rPr lang="en-IN" sz="2400">
                    <a:solidFill>
                      <a:srgbClr val="111827"/>
                    </a:solidFill>
                    <a:latin typeface="Cambria Math" panose="02040503050406030204" pitchFamily="18" charset="0"/>
                  </a:rPr>
                  <a:t>$\binom84\cdot2^4=70\cdot16=1120$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1120</a:t>
            </a:r>
            <a:endParaRPr sz="2800">
              <a:solidFill>
                <a:srgbClr val="15803D"/>
              </a:solidFill>
            </a:endParaRP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14:m>
                  <m:oMath xmlns:m="http://schemas.openxmlformats.org/officeDocument/2006/math">
                    <m:f>
                      <m:fPr>
                        <m:type m:val="bar"/>
                        <m:ctrlPr>
                          <a:rPr lang="en-IN" sz="2400" i="1">
                            <a:solidFill>
                              <a:srgbClr val="78350F"/>
                            </a:solidFill>
                            <a:latin typeface="Cambria Math" panose="02040503050406030204" pitchFamily="18" charset="0"/>
                          </a:rPr>
                        </m:ctrlPr>
                      </m:fPr>
                      <m:num>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𝑘</m:t>
                                </m:r>
                              </m:den>
                            </m:f>
                          </m:e>
                        </m:d>
                      </m:num>
                      <m:den>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e>
                        </m:d>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𝑘</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which makes both equations linear in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𝑘</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r>
                  <a:rPr lang="en-IN" sz="2400">
                    <a:solidFill>
                      <a:srgbClr val="78350F"/>
                    </a:solidFill>
                    <a:latin typeface="Cambria Math" panose="02040503050406030204" pitchFamily="18" charset="0"/>
                  </a:rPr>
                  <a:t>$\dfrac{\binom nk}{\binom n{k-1}}=\dfrac{n+1}{k}-1$</a:t>
                </a:r>
                <a:r>
                  <a:rPr sz="2400" b="0">
                    <a:solidFill>
                      <a:srgbClr val="78350F"/>
                    </a:solidFill>
                    <a:latin typeface="Arial"/>
                  </a:rPr>
                  <a:t>, which makes both equations linear in </a:t>
                </a:r>
                <a:r>
                  <a:rPr lang="en-IN" sz="2400">
                    <a:solidFill>
                      <a:srgbClr val="78350F"/>
                    </a:solidFill>
                    <a:latin typeface="Cambria Math" panose="02040503050406030204" pitchFamily="18" charset="0"/>
                  </a:rPr>
                  <a:t>$\frac{n+1}{k}$</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coefficients are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𝑘</m:t>
                            </m:r>
                          </m:sub>
                        </m:sSub>
                      </m:num>
                      <m:den>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the middle term be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𝑟</m:t>
                            </m:r>
                          </m:sub>
                        </m:sSub>
                      </m:num>
                      <m:den>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𝑟</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coefficients are </a:t>
                </a:r>
                <a:r>
                  <a:rPr lang="en-IN" sz="2400">
                    <a:solidFill>
                      <a:srgbClr val="111827"/>
                    </a:solidFill>
                    <a:latin typeface="Cambria Math" panose="02040503050406030204" pitchFamily="18" charset="0"/>
                  </a:rPr>
                  <a:t>$c_k=\binom nk2^k$</a:t>
                </a:r>
                <a:r>
                  <a:rPr sz="2400" b="0">
                    <a:solidFill>
                      <a:srgbClr val="111827"/>
                    </a:solidFill>
                    <a:latin typeface="Arial"/>
                  </a:rPr>
                  <a:t>, so </a:t>
                </a:r>
                <a:r>
                  <a:rPr lang="en-IN" sz="2400">
                    <a:solidFill>
                      <a:srgbClr val="111827"/>
                    </a:solidFill>
                    <a:latin typeface="Cambria Math" panose="02040503050406030204" pitchFamily="18" charset="0"/>
                  </a:rPr>
                  <a:t>$\dfrac{c_k}{c_{k-1}}=2\left(\dfrac{n+1}{k}-1\right)$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the middle term be </a:t>
                </a:r>
                <a:r>
                  <a:rPr lang="en-IN" sz="2400">
                    <a:solidFill>
                      <a:srgbClr val="111827"/>
                    </a:solidFill>
                    <a:latin typeface="Cambria Math" panose="02040503050406030204" pitchFamily="18" charset="0"/>
                  </a:rPr>
                  <a:t>$c_r$</a:t>
                </a:r>
                <a:r>
                  <a:rPr sz="2400" b="0">
                    <a:solidFill>
                      <a:srgbClr val="111827"/>
                    </a:solidFill>
                    <a:latin typeface="Arial"/>
                  </a:rPr>
                  <a:t>. Then </a:t>
                </a:r>
                <a:r>
                  <a:rPr lang="en-IN" sz="2400">
                    <a:solidFill>
                      <a:srgbClr val="111827"/>
                    </a:solidFill>
                    <a:latin typeface="Cambria Math" panose="02040503050406030204" pitchFamily="18" charset="0"/>
                  </a:rPr>
                  <a:t>$\dfrac{c_r}{c_{r-1}}=\dfrac52$</a:t>
                </a:r>
                <a:r>
                  <a:rPr sz="2400" b="0">
                    <a:solidFill>
                      <a:srgbClr val="111827"/>
                    </a:solidFill>
                    <a:latin typeface="Arial"/>
                  </a:rPr>
                  <a:t> gives </a:t>
                </a:r>
                <a:r>
                  <a:rPr lang="en-IN" sz="2400">
                    <a:solidFill>
                      <a:srgbClr val="111827"/>
                    </a:solidFill>
                    <a:latin typeface="Cambria Math" panose="02040503050406030204" pitchFamily="18" charset="0"/>
                  </a:rPr>
                  <a:t>$\dfrac{n+1}{r}=\dfrac94$</a:t>
                </a:r>
                <a:r>
                  <a:rPr sz="2400" b="0">
                    <a:solidFill>
                      <a:srgbClr val="111827"/>
                    </a:solidFill>
                    <a:latin typeface="Arial"/>
                  </a:rPr>
                  <a:t>, and </a:t>
                </a:r>
                <a:r>
                  <a:rPr lang="en-IN" sz="2400">
                    <a:solidFill>
                      <a:srgbClr val="111827"/>
                    </a:solidFill>
                    <a:latin typeface="Cambria Math" panose="02040503050406030204" pitchFamily="18" charset="0"/>
                  </a:rPr>
                  <a:t>$\dfrac{c_{r+1}}{c_r}=\dfrac85$</a:t>
                </a:r>
                <a:r>
                  <a:rPr sz="2400" b="0">
                    <a:solidFill>
                      <a:srgbClr val="111827"/>
                    </a:solidFill>
                    <a:latin typeface="Arial"/>
                  </a:rPr>
                  <a:t> gives </a:t>
                </a:r>
                <a:r>
                  <a:rPr lang="en-IN" sz="2400">
                    <a:solidFill>
                      <a:srgbClr val="111827"/>
                    </a:solidFill>
                    <a:latin typeface="Cambria Math" panose="02040503050406030204" pitchFamily="18" charset="0"/>
                  </a:rPr>
                  <a:t>$\dfrac{n+1}{r+1}=\dfrac95$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Middle coefficient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1120</m:t>
                    </m:r>
                  </m:oMath>
                </a14:m>
                <a:r>
                  <a:rPr sz="2400" b="0">
                    <a:solidFill>
                      <a:srgbClr val="111827"/>
                    </a:solidFill>
                    <a:latin typeface="Arial"/>
                  </a:rPr>
                  <a:t>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$n+1=\dfrac{9r}{4}=\dfrac{9(r+1)}{5}$</a:t>
                </a:r>
                <a:r>
                  <a:rPr sz="2400" b="0">
                    <a:solidFill>
                      <a:srgbClr val="111827"/>
                    </a:solidFill>
                    <a:latin typeface="Arial"/>
                  </a:rPr>
                  <a:t>, so </a:t>
                </a:r>
                <a:r>
                  <a:rPr lang="en-IN" sz="2400">
                    <a:solidFill>
                      <a:srgbClr val="111827"/>
                    </a:solidFill>
                    <a:latin typeface="Cambria Math" panose="02040503050406030204" pitchFamily="18" charset="0"/>
                  </a:rPr>
                  <a:t>$5r=4r+4$</a:t>
                </a:r>
                <a:r>
                  <a:rPr sz="2400" b="0">
                    <a:solidFill>
                      <a:srgbClr val="111827"/>
                    </a:solidFill>
                    <a:latin typeface="Arial"/>
                  </a:rPr>
                  <a:t>, </a:t>
                </a:r>
                <a:r>
                  <a:rPr lang="en-IN" sz="2400">
                    <a:solidFill>
                      <a:srgbClr val="111827"/>
                    </a:solidFill>
                    <a:latin typeface="Cambria Math" panose="02040503050406030204" pitchFamily="18" charset="0"/>
                  </a:rPr>
                  <a:t>$r=4$</a:t>
                </a:r>
                <a:r>
                  <a:rPr sz="2400" b="0">
                    <a:solidFill>
                      <a:srgbClr val="111827"/>
                    </a:solidFill>
                    <a:latin typeface="Arial"/>
                  </a:rPr>
                  <a:t> and </a:t>
                </a:r>
                <a:r>
                  <a:rPr lang="en-IN" sz="2400">
                    <a:solidFill>
                      <a:srgbClr val="111827"/>
                    </a:solidFill>
                    <a:latin typeface="Cambria Math" panose="02040503050406030204" pitchFamily="18" charset="0"/>
                  </a:rPr>
                  <a:t>$n+1=9$</a:t>
                </a:r>
                <a:r>
                  <a:rPr sz="2400" b="0">
                    <a:solidFill>
                      <a:srgbClr val="111827"/>
                    </a:solidFill>
                    <a:latin typeface="Arial"/>
                  </a:rPr>
                  <a:t>, </a:t>
                </a:r>
                <a:r>
                  <a:rPr lang="en-IN" sz="2400">
                    <a:solidFill>
                      <a:srgbClr val="111827"/>
                    </a:solidFill>
                    <a:latin typeface="Cambria Math" panose="02040503050406030204" pitchFamily="18" charset="0"/>
                  </a:rPr>
                  <a:t>$n=8$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Middle coefficient </a:t>
                </a:r>
                <a:r>
                  <a:rPr lang="en-IN" sz="2400">
                    <a:solidFill>
                      <a:srgbClr val="111827"/>
                    </a:solidFill>
                    <a:latin typeface="Cambria Math" panose="02040503050406030204" pitchFamily="18" charset="0"/>
                  </a:rPr>
                  <a:t>$=\binom84\cdot2^4=1120$</a:t>
                </a:r>
                <a:r>
                  <a:rPr sz="2400" b="0">
                    <a:solidFill>
                      <a:srgbClr val="111827"/>
                    </a:solidFill>
                    <a:latin typeface="Arial"/>
                  </a:rPr>
                  <a:t>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1120</a:t>
            </a:r>
            <a:endParaRPr sz="2800">
              <a:solidFill>
                <a:srgbClr val="15803D"/>
              </a:solidFill>
            </a:endParaRP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𝑘</m:t>
                            </m:r>
                          </m:sub>
                        </m:sSub>
                      </m:den>
                    </m:f>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 consecutive coefficients in ratio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determine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-type equations give a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linear system.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Sanity check for the answer: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4</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1792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ratio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 is given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can be read from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num>
                      <m:den>
                        <m:r>
                          <a:rPr lang="en-IN" sz="2400" i="1">
                            <a:solidFill>
                              <a:srgbClr val="111827"/>
                            </a:solidFill>
                            <a:latin typeface="Cambria Math" panose="02040503050406030204" pitchFamily="18" charset="0"/>
                          </a:rPr>
                          <m:t>𝑝</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𝑠</m:t>
                        </m:r>
                      </m:num>
                      <m:den>
                        <m:r>
                          <a:rPr lang="en-IN" sz="2400" i="1">
                            <a:solidFill>
                              <a:srgbClr val="111827"/>
                            </a:solidFill>
                            <a:latin typeface="Cambria Math" panose="02040503050406030204" pitchFamily="18" charset="0"/>
                          </a:rPr>
                          <m:t>𝑞</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$\dfrac{T_{k+1}}{T_k}$</a:t>
                </a:r>
                <a:r>
                  <a:rPr sz="2400" b="0">
                    <a:solidFill>
                      <a:srgbClr val="111827"/>
                    </a:solidFill>
                    <a:latin typeface="Arial"/>
                  </a:rPr>
                  <a:t> for </a:t>
                </a:r>
                <a:r>
                  <a:rPr lang="en-IN" sz="2400">
                    <a:solidFill>
                      <a:srgbClr val="111827"/>
                    </a:solidFill>
                    <a:latin typeface="Cambria Math" panose="02040503050406030204" pitchFamily="18" charset="0"/>
                  </a:rPr>
                  <a:t>$(1+x)^n$</a:t>
                </a:r>
                <a:r>
                  <a:rPr sz="2400" b="0">
                    <a:solidFill>
                      <a:srgbClr val="111827"/>
                    </a:solidFill>
                    <a:latin typeface="Arial"/>
                  </a:rPr>
                  <a:t> is </a:t>
                </a:r>
                <a:r>
                  <a:rPr lang="en-IN" sz="2400">
                    <a:solidFill>
                      <a:srgbClr val="111827"/>
                    </a:solidFill>
                    <a:latin typeface="Cambria Math" panose="02040503050406030204" pitchFamily="18" charset="0"/>
                  </a:rPr>
                  <a:t>$\dfrac{n-k+1}{k}x=\left(\frac{n+1}{k}-1\right)x$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 consecutive coefficients in ratio </a:t>
                </a:r>
                <a:r>
                  <a:rPr lang="en-IN" sz="2400">
                    <a:solidFill>
                      <a:srgbClr val="111827"/>
                    </a:solidFill>
                    <a:latin typeface="Cambria Math" panose="02040503050406030204" pitchFamily="18" charset="0"/>
                  </a:rPr>
                  <a:t>$a:b:c$</a:t>
                </a:r>
                <a:r>
                  <a:rPr sz="2400" b="0">
                    <a:solidFill>
                      <a:srgbClr val="111827"/>
                    </a:solidFill>
                    <a:latin typeface="Arial"/>
                  </a:rPr>
                  <a:t> determine </a:t>
                </a:r>
                <a:r>
                  <a:rPr lang="en-IN" sz="2400">
                    <a:solidFill>
                      <a:srgbClr val="111827"/>
                    </a:solidFill>
                    <a:latin typeface="Cambria Math" panose="02040503050406030204" pitchFamily="18" charset="0"/>
                  </a:rPr>
                  <a:t>$n$</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a:t>
                </a:r>
                <a:r>
                  <a:rPr lang="en-IN" sz="2400">
                    <a:solidFill>
                      <a:srgbClr val="111827"/>
                    </a:solidFill>
                    <a:latin typeface="Cambria Math" panose="02040503050406030204" pitchFamily="18" charset="0"/>
                  </a:rPr>
                  <a:t>$\frac{n+1}{r}=1+\frac ab$</a:t>
                </a:r>
                <a:r>
                  <a:rPr sz="2400" b="0">
                    <a:solidFill>
                      <a:srgbClr val="111827"/>
                    </a:solidFill>
                    <a:latin typeface="Arial"/>
                  </a:rPr>
                  <a:t>-type equations give a </a:t>
                </a:r>
                <a:r>
                  <a:rPr lang="en-IN" sz="2400">
                    <a:solidFill>
                      <a:srgbClr val="111827"/>
                    </a:solidFill>
                    <a:latin typeface="Cambria Math" panose="02040503050406030204" pitchFamily="18" charset="0"/>
                  </a:rPr>
                  <a:t>$2\times2$</a:t>
                </a:r>
                <a:r>
                  <a:rPr sz="2400" b="0">
                    <a:solidFill>
                      <a:srgbClr val="111827"/>
                    </a:solidFill>
                    <a:latin typeface="Arial"/>
                  </a:rPr>
                  <a:t> linear system.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Sanity check for the answer: </a:t>
                </a:r>
                <a:r>
                  <a:rPr lang="en-IN" sz="2400">
                    <a:solidFill>
                      <a:srgbClr val="111827"/>
                    </a:solidFill>
                    <a:latin typeface="Cambria Math" panose="02040503050406030204" pitchFamily="18" charset="0"/>
                  </a:rPr>
                  <a:t>$\binom83 2^3:\binom84 2^4:\binom85 2^5=448:1120:1792=2:5:8$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ratio </a:t>
                </a:r>
                <a:r>
                  <a:rPr lang="en-IN" sz="2400">
                    <a:solidFill>
                      <a:srgbClr val="111827"/>
                    </a:solidFill>
                    <a:latin typeface="Cambria Math" panose="02040503050406030204" pitchFamily="18" charset="0"/>
                  </a:rPr>
                  <a:t>$p:q:s$</a:t>
                </a:r>
                <a:r>
                  <a:rPr sz="2400" b="0">
                    <a:solidFill>
                      <a:srgbClr val="111827"/>
                    </a:solidFill>
                    <a:latin typeface="Arial"/>
                  </a:rPr>
                  <a:t> is given for </a:t>
                </a:r>
                <a:r>
                  <a:rPr lang="en-IN" sz="2400">
                    <a:solidFill>
                      <a:srgbClr val="111827"/>
                    </a:solidFill>
                    <a:latin typeface="Cambria Math" panose="02040503050406030204" pitchFamily="18" charset="0"/>
                  </a:rPr>
                  <a:t>$(1+x)^n$</a:t>
                </a:r>
                <a:r>
                  <a:rPr sz="2400" b="0">
                    <a:solidFill>
                      <a:srgbClr val="111827"/>
                    </a:solidFill>
                    <a:latin typeface="Arial"/>
                  </a:rPr>
                  <a:t>, then </a:t>
                </a:r>
                <a:r>
                  <a:rPr lang="en-IN" sz="2400">
                    <a:solidFill>
                      <a:srgbClr val="111827"/>
                    </a:solidFill>
                    <a:latin typeface="Cambria Math" panose="02040503050406030204" pitchFamily="18" charset="0"/>
                  </a:rPr>
                  <a:t>$n+1=\dots$</a:t>
                </a:r>
                <a:r>
                  <a:rPr sz="2400" b="0">
                    <a:solidFill>
                      <a:srgbClr val="111827"/>
                    </a:solidFill>
                    <a:latin typeface="Arial"/>
                  </a:rPr>
                  <a:t> can be read from </a:t>
                </a:r>
                <a:r>
                  <a:rPr lang="en-IN" sz="2400">
                    <a:solidFill>
                      <a:srgbClr val="111827"/>
                    </a:solidFill>
                    <a:latin typeface="Cambria Math" panose="02040503050406030204" pitchFamily="18" charset="0"/>
                  </a:rPr>
                  <a:t>$\frac{q}{p}+1=\frac{n+1}{r}$</a:t>
                </a:r>
                <a:r>
                  <a:rPr sz="2400" b="0">
                    <a:solidFill>
                      <a:srgbClr val="111827"/>
                    </a:solidFill>
                    <a:latin typeface="Arial"/>
                  </a:rPr>
                  <a:t> and </a:t>
                </a:r>
                <a:r>
                  <a:rPr lang="en-IN" sz="2400">
                    <a:solidFill>
                      <a:srgbClr val="111827"/>
                    </a:solidFill>
                    <a:latin typeface="Cambria Math" panose="02040503050406030204" pitchFamily="18" charset="0"/>
                  </a:rPr>
                  <a:t>$\frac{s}{q}+1=\frac{n+1}{r+1}$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96545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m:rPr>
                            <m:sty m:val="p"/>
                          </m:rPr>
                          <a:rPr lang="en-IN" sz="2400">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m:rPr>
                            <m:sty m:val="p"/>
                          </m:rPr>
                          <a:rPr lang="en-IN" sz="2400">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den>
                        </m:f>
                      </m:e>
                    </m:nary>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196545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$\sum_{n=0}^{\infty}\dfrac{n^3\,(2n)!+(2n-1)\,n!}{(n!)\,(2n)!}=ae+\dfrac{b}{e}+c$</a:t>
                </a:r>
                <a:r>
                  <a:rPr sz="2400" b="0">
                    <a:solidFill>
                      <a:srgbClr val="111827"/>
                    </a:solidFill>
                    <a:latin typeface="Arial"/>
                  </a:rPr>
                  <a:t>, where </a:t>
                </a:r>
                <a:r>
                  <a:rPr lang="en-IN" sz="2400">
                    <a:solidFill>
                      <a:srgbClr val="111827"/>
                    </a:solidFill>
                    <a:latin typeface="Cambria Math" panose="02040503050406030204" pitchFamily="18" charset="0"/>
                  </a:rPr>
                  <a:t>$a,b,c\in\mathbb Z$</a:t>
                </a:r>
                <a:r>
                  <a:rPr sz="2400" b="0">
                    <a:solidFill>
                      <a:srgbClr val="111827"/>
                    </a:solidFill>
                    <a:latin typeface="Arial"/>
                  </a:rPr>
                  <a:t> and </a:t>
                </a:r>
                <a:r>
                  <a:rPr lang="en-IN" sz="2400">
                    <a:solidFill>
                      <a:srgbClr val="111827"/>
                    </a:solidFill>
                    <a:latin typeface="Cambria Math" panose="02040503050406030204" pitchFamily="18" charset="0"/>
                  </a:rPr>
                  <a:t>$e=\sum_{n=0}^{\infty}\dfrac{1}{n!}$</a:t>
                </a:r>
                <a:r>
                  <a:rPr sz="2400" b="0">
                    <a:solidFill>
                      <a:srgbClr val="111827"/>
                    </a:solidFill>
                    <a:latin typeface="Arial"/>
                  </a:rPr>
                  <a:t>. Then </a:t>
                </a:r>
                <a:r>
                  <a:rPr lang="en-IN" sz="2400">
                    <a:solidFill>
                      <a:srgbClr val="111827"/>
                    </a:solidFill>
                    <a:latin typeface="Cambria Math" panose="02040503050406030204" pitchFamily="18" charset="0"/>
                  </a:rPr>
                  <a:t>$a^2-b+c$</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47421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Exponential series, Binomial coefficient identities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the term into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3</m:t>
                            </m:r>
                          </m:sup>
                        </m:sSup>
                      </m:num>
                      <m:den>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and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the term into </a:t>
                </a:r>
                <a:r>
                  <a:rPr lang="en-IN" sz="2400">
                    <a:solidFill>
                      <a:srgbClr val="78350F"/>
                    </a:solidFill>
                    <a:latin typeface="Cambria Math" panose="02040503050406030204" pitchFamily="18" charset="0"/>
                  </a:rPr>
                  <a:t>$\frac{n^3}{n!}$</a:t>
                </a:r>
                <a:r>
                  <a:rPr sz="2400" b="0">
                    <a:solidFill>
                      <a:srgbClr val="78350F"/>
                    </a:solidFill>
                    <a:latin typeface="Arial"/>
                  </a:rPr>
                  <a:t> and </a:t>
                </a:r>
                <a:r>
                  <a:rPr lang="en-IN" sz="2400">
                    <a:solidFill>
                      <a:srgbClr val="78350F"/>
                    </a:solidFill>
                    <a:latin typeface="Cambria Math" panose="02040503050406030204" pitchFamily="18" charset="0"/>
                  </a:rPr>
                  <a:t>$\frac{2n-1}{(2n)!}=\frac{1}{(2n-1)!}-\frac1{(2n)!}$</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-th term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part: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d>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(the term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$n$</a:t>
                </a:r>
                <a:r>
                  <a:rPr sz="2400" b="0">
                    <a:solidFill>
                      <a:srgbClr val="111827"/>
                    </a:solidFill>
                    <a:latin typeface="Arial"/>
                  </a:rPr>
                  <a:t>-th term is </a:t>
                </a:r>
                <a:r>
                  <a:rPr lang="en-IN" sz="2400">
                    <a:solidFill>
                      <a:srgbClr val="111827"/>
                    </a:solidFill>
                    <a:latin typeface="Cambria Math" panose="02040503050406030204" pitchFamily="18" charset="0"/>
                  </a:rPr>
                  <a:t>$\dfrac{n^3(2n)!}{n!\,(2n)!}+\dfrac{(2n-1)\,n!}{n!\,(2n)!}=\dfrac{n^3}{n!}+\dfrac{2n-1}{(2n)!}$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part: </a:t>
                </a:r>
                <a:r>
                  <a:rPr lang="en-IN" sz="2400">
                    <a:solidFill>
                      <a:srgbClr val="111827"/>
                    </a:solidFill>
                    <a:latin typeface="Cambria Math" panose="02040503050406030204" pitchFamily="18" charset="0"/>
                  </a:rPr>
                  <a:t>$\dfrac{2n-1}{(2n)!}=\dfrac{2n}{(2n)!}-\dfrac{1}{(2n)!}=\dfrac{1}{(2n-1)!}-\dfrac{1}{(2n)!}$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$\sum_{n\ge0}\left[\dfrac{1}{(2n-1)!}-\dfrac{1}{(2n)!}\right]=\dfrac{e-e^{-1}}{2}-\dfrac{e+e^{-1}}{2}=-\dfrac1e$</a:t>
                </a:r>
                <a:r>
                  <a:rPr sz="2400" b="0">
                    <a:solidFill>
                      <a:srgbClr val="111827"/>
                    </a:solidFill>
                    <a:latin typeface="Arial"/>
                  </a:rPr>
                  <a:t> (the term </a:t>
                </a:r>
                <a:r>
                  <a:rPr lang="en-IN" sz="2400">
                    <a:solidFill>
                      <a:srgbClr val="111827"/>
                    </a:solidFill>
                    <a:latin typeface="Cambria Math" panose="02040503050406030204" pitchFamily="18" charset="0"/>
                  </a:rPr>
                  <a:t>$\frac{1}{(-1)!}$</a:t>
                </a:r>
                <a:r>
                  <a:rPr sz="2400" b="0">
                    <a:solidFill>
                      <a:srgbClr val="111827"/>
                    </a:solidFill>
                    <a:latin typeface="Arial"/>
                  </a:rPr>
                  <a:t> is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part: write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𝑒</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part: write </a:t>
                </a:r>
                <a:r>
                  <a:rPr lang="en-IN" sz="2400">
                    <a:solidFill>
                      <a:srgbClr val="111827"/>
                    </a:solidFill>
                    <a:latin typeface="Cambria Math" panose="02040503050406030204" pitchFamily="18" charset="0"/>
                  </a:rPr>
                  <a:t>$n^3=n(n-1)(n-2)+3n(n-1)+n$</a:t>
                </a:r>
                <a:r>
                  <a:rPr sz="2400" b="0">
                    <a:solidFill>
                      <a:srgbClr val="111827"/>
                    </a:solidFill>
                    <a:latin typeface="Arial"/>
                  </a:rPr>
                  <a:t> (check: </a:t>
                </a:r>
                <a:r>
                  <a:rPr lang="en-IN" sz="2400">
                    <a:solidFill>
                      <a:srgbClr val="111827"/>
                    </a:solidFill>
                    <a:latin typeface="Cambria Math" panose="02040503050406030204" pitchFamily="18" charset="0"/>
                  </a:rPr>
                  <a:t>$n=1\Rightarrow c=1$</a:t>
                </a:r>
                <a:r>
                  <a:rPr sz="2400" b="0">
                    <a:solidFill>
                      <a:srgbClr val="111827"/>
                    </a:solidFill>
                    <a:latin typeface="Arial"/>
                  </a:rPr>
                  <a:t>, </a:t>
                </a:r>
                <a:r>
                  <a:rPr lang="en-IN" sz="2400">
                    <a:solidFill>
                      <a:srgbClr val="111827"/>
                    </a:solidFill>
                    <a:latin typeface="Cambria Math" panose="02040503050406030204" pitchFamily="18" charset="0"/>
                  </a:rPr>
                  <a:t>$n=2\Rightarrow8=2b+2\Rightarrow b=3$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$\sum_{n\ge0}\dfrac{n^3}{n!}=\sum_{n\ge3}\dfrac{1}{(n-3)!}+3\sum_{n\ge2}\dfrac{1}{(n-2)!}+\sum_{n\ge1}\dfrac{1}{(n-1)!}=e+3e+e=5e$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$=5e-\dfrac1e$</a:t>
                </a:r>
                <a:r>
                  <a:rPr sz="2400" b="0">
                    <a:solidFill>
                      <a:srgbClr val="111827"/>
                    </a:solidFill>
                    <a:latin typeface="Arial"/>
                  </a:rPr>
                  <a:t>, so </a:t>
                </a:r>
                <a:r>
                  <a:rPr lang="en-IN" sz="2400">
                    <a:solidFill>
                      <a:srgbClr val="111827"/>
                    </a:solidFill>
                    <a:latin typeface="Cambria Math" panose="02040503050406030204" pitchFamily="18" charset="0"/>
                  </a:rPr>
                  <a:t>$a=5$</a:t>
                </a:r>
                <a:r>
                  <a:rPr sz="2400" b="0">
                    <a:solidFill>
                      <a:srgbClr val="111827"/>
                    </a:solidFill>
                    <a:latin typeface="Arial"/>
                  </a:rPr>
                  <a:t>, </a:t>
                </a:r>
                <a:r>
                  <a:rPr lang="en-IN" sz="2400">
                    <a:solidFill>
                      <a:srgbClr val="111827"/>
                    </a:solidFill>
                    <a:latin typeface="Cambria Math" panose="02040503050406030204" pitchFamily="18" charset="0"/>
                  </a:rPr>
                  <a:t>$b=-1$</a:t>
                </a:r>
                <a:r>
                  <a:rPr sz="2400" b="0">
                    <a:solidFill>
                      <a:srgbClr val="111827"/>
                    </a:solidFill>
                    <a:latin typeface="Arial"/>
                  </a:rPr>
                  <a:t>, </a:t>
                </a:r>
                <a:r>
                  <a:rPr lang="en-IN" sz="2400">
                    <a:solidFill>
                      <a:srgbClr val="111827"/>
                    </a:solidFill>
                    <a:latin typeface="Cambria Math" panose="02040503050406030204" pitchFamily="18" charset="0"/>
                  </a:rPr>
                  <a:t>$c=0$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$a^2-b+c=25+1+0=26$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26</a:t>
            </a:r>
            <a:endParaRPr sz="2800">
              <a:solidFill>
                <a:srgbClr val="15803D"/>
              </a:solidFill>
            </a:endParaRP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Touchard (Bell number) identity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𝑘</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𝐵</m:t>
                        </m:r>
                      </m:e>
                      <m:sub>
                        <m:r>
                          <a:rPr lang="en-IN" sz="2400" i="1">
                            <a:solidFill>
                              <a:srgbClr val="78350F"/>
                            </a:solidFill>
                            <a:latin typeface="Cambria Math" panose="02040503050406030204" pitchFamily="18" charset="0"/>
                          </a:rPr>
                          <m:t>𝑘</m:t>
                        </m:r>
                      </m:sub>
                    </m:sSub>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𝑒</m:t>
                    </m:r>
                  </m:oMath>
                </a14:m>
                <a:r>
                  <a:rPr sz="2400" b="0">
                    <a:solidFill>
                      <a:srgbClr val="78350F"/>
                    </a:solidFill>
                    <a:latin typeface="Arial"/>
                  </a:rPr>
                  <a:t> and differentiate </a:t>
                </a:r>
                <a14:m>
                  <m:oMath xmlns:m="http://schemas.openxmlformats.org/officeDocument/2006/math">
                    <m:r>
                      <m:rPr>
                        <m:sty m:val="p"/>
                      </m:rPr>
                      <a:rPr lang="en-IN" sz="2400">
                        <a:solidFill>
                          <a:srgbClr val="78350F"/>
                        </a:solidFill>
                        <a:latin typeface="Cambria Math" panose="02040503050406030204" pitchFamily="18" charset="0"/>
                      </a:rPr>
                      <m:t>cosh</m:t>
                    </m:r>
                    <m:r>
                      <a:rPr lang="en-IN" sz="2400" i="1">
                        <a:solidFill>
                          <a:srgbClr val="78350F"/>
                        </a:solidFill>
                        <a:latin typeface="Cambria Math" panose="02040503050406030204" pitchFamily="18" charset="0"/>
                      </a:rPr>
                      <m:t>𝑥</m:t>
                    </m:r>
                  </m:oMath>
                </a14:m>
                <a:r>
                  <a:rPr sz="2400" b="0">
                    <a:solidFill>
                      <a:srgbClr val="78350F"/>
                    </a:solidFill>
                    <a:latin typeface="Arial"/>
                  </a:rPr>
                  <a:t> for the second part.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Touchard (Bell number) identity </a:t>
                </a:r>
                <a:r>
                  <a:rPr lang="en-IN" sz="2400">
                    <a:solidFill>
                      <a:srgbClr val="78350F"/>
                    </a:solidFill>
                    <a:latin typeface="Cambria Math" panose="02040503050406030204" pitchFamily="18" charset="0"/>
                  </a:rPr>
                  <a:t>$\sum n^k/n!=B_k\,e$</a:t>
                </a:r>
                <a:r>
                  <a:rPr sz="2400" b="0">
                    <a:solidFill>
                      <a:srgbClr val="78350F"/>
                    </a:solidFill>
                    <a:latin typeface="Arial"/>
                  </a:rPr>
                  <a:t> and differentiate </a:t>
                </a:r>
                <a:r>
                  <a:rPr lang="en-IN" sz="2400">
                    <a:solidFill>
                      <a:srgbClr val="78350F"/>
                    </a:solidFill>
                    <a:latin typeface="Cambria Math" panose="02040503050406030204" pitchFamily="18" charset="0"/>
                  </a:rPr>
                  <a:t>$\cosh x$</a:t>
                </a:r>
                <a:r>
                  <a:rPr sz="2400" b="0">
                    <a:solidFill>
                      <a:srgbClr val="78350F"/>
                    </a:solidFill>
                    <a:latin typeface="Arial"/>
                  </a:rPr>
                  <a:t> for the second part.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Split as before: sum </a:t>
                </a:r>
                <a14:m>
                  <m:oMath xmlns:m="http://schemas.openxmlformats.org/officeDocument/2006/math">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3</m:t>
                        </m:r>
                      </m:sub>
                    </m:sSub>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𝑒</m:t>
                    </m:r>
                  </m:oMath>
                </a14:m>
                <a:r>
                  <a:rPr sz="2400" b="0">
                    <a:solidFill>
                      <a:srgbClr val="111827"/>
                    </a:solidFill>
                    <a:latin typeface="Arial"/>
                  </a:rPr>
                  <a:t> where the Bell number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(the number of set partitions of a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-set), so this is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𝑒</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second sum 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cosh</m:t>
                    </m:r>
                    <m:r>
                      <a:rPr lang="en-IN" sz="2400" i="1">
                        <a:solidFill>
                          <a:srgbClr val="111827"/>
                        </a:solidFill>
                        <a:latin typeface="Cambria Math" panose="02040503050406030204" pitchFamily="18" charset="0"/>
                      </a:rPr>
                      <m:t>𝑥</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sinh</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Split as before: sum </a:t>
                </a:r>
                <a:r>
                  <a:rPr lang="en-IN" sz="2400">
                    <a:solidFill>
                      <a:srgbClr val="111827"/>
                    </a:solidFill>
                    <a:latin typeface="Cambria Math" panose="02040503050406030204" pitchFamily="18" charset="0"/>
                  </a:rPr>
                  <a:t>$=\sum_{n\ge0}\dfrac{n^3}{n!}+\sum_{n\ge0}\dfrac{2n-1}{(2n)!}$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$\sum_{n\ge0}\dfrac{n^3}{n!}=B_3\,e$</a:t>
                </a:r>
                <a:r>
                  <a:rPr sz="2400" b="0">
                    <a:solidFill>
                      <a:srgbClr val="111827"/>
                    </a:solidFill>
                    <a:latin typeface="Arial"/>
                  </a:rPr>
                  <a:t> where the Bell number </a:t>
                </a:r>
                <a:r>
                  <a:rPr lang="en-IN" sz="2400">
                    <a:solidFill>
                      <a:srgbClr val="111827"/>
                    </a:solidFill>
                    <a:latin typeface="Cambria Math" panose="02040503050406030204" pitchFamily="18" charset="0"/>
                  </a:rPr>
                  <a:t>$B_3=5$</a:t>
                </a:r>
                <a:r>
                  <a:rPr sz="2400" b="0">
                    <a:solidFill>
                      <a:srgbClr val="111827"/>
                    </a:solidFill>
                    <a:latin typeface="Arial"/>
                  </a:rPr>
                  <a:t> (the number of set partitions of a </a:t>
                </a:r>
                <a:r>
                  <a:rPr lang="en-IN" sz="2400">
                    <a:solidFill>
                      <a:srgbClr val="111827"/>
                    </a:solidFill>
                    <a:latin typeface="Cambria Math" panose="02040503050406030204" pitchFamily="18" charset="0"/>
                  </a:rPr>
                  <a:t>$3$</a:t>
                </a:r>
                <a:r>
                  <a:rPr sz="2400" b="0">
                    <a:solidFill>
                      <a:srgbClr val="111827"/>
                    </a:solidFill>
                    <a:latin typeface="Arial"/>
                  </a:rPr>
                  <a:t>-set), so this is </a:t>
                </a:r>
                <a:r>
                  <a:rPr lang="en-IN" sz="2400">
                    <a:solidFill>
                      <a:srgbClr val="111827"/>
                    </a:solidFill>
                    <a:latin typeface="Cambria Math" panose="02040503050406030204" pitchFamily="18" charset="0"/>
                  </a:rPr>
                  <a:t>$5e$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second sum let </a:t>
                </a:r>
                <a:r>
                  <a:rPr lang="en-IN" sz="2400">
                    <a:solidFill>
                      <a:srgbClr val="111827"/>
                    </a:solidFill>
                    <a:latin typeface="Cambria Math" panose="02040503050406030204" pitchFamily="18" charset="0"/>
                  </a:rPr>
                  <a:t>$f(x)=\sum\dfrac{x^{2n}}{(2n)!}=\cosh x$</a:t>
                </a:r>
                <a:r>
                  <a:rPr sz="2400" b="0">
                    <a:solidFill>
                      <a:srgbClr val="111827"/>
                    </a:solidFill>
                    <a:latin typeface="Arial"/>
                  </a:rPr>
                  <a:t>. Then </a:t>
                </a:r>
                <a:r>
                  <a:rPr lang="en-IN" sz="2400">
                    <a:solidFill>
                      <a:srgbClr val="111827"/>
                    </a:solidFill>
                    <a:latin typeface="Cambria Math" panose="02040503050406030204" pitchFamily="18" charset="0"/>
                  </a:rPr>
                  <a:t>$\sum\dfrac{2n\,x^{2n}}{(2n)!}=xf'(x)=x\sinh 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sinh</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cosh</m:t>
                    </m:r>
                    <m:r>
                      <a:rPr lang="en-IN" sz="2400" i="1">
                        <a:solidFill>
                          <a:srgbClr val="111827"/>
                        </a:solidFill>
                        <a:latin typeface="Cambria Math" panose="02040503050406030204" pitchFamily="18" charset="0"/>
                      </a:rPr>
                      <m:t>𝑥</m:t>
                    </m:r>
                  </m:oMath>
                </a14:m>
                <a:r>
                  <a:rPr sz="2400" b="0">
                    <a:solidFill>
                      <a:srgbClr val="111827"/>
                    </a:solidFill>
                    <a:latin typeface="Arial"/>
                  </a:rPr>
                  <a:t>, which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equals </a:t>
                </a:r>
                <a14:m>
                  <m:oMath xmlns:m="http://schemas.openxmlformats.org/officeDocument/2006/math">
                    <m:r>
                      <m:rPr>
                        <m:sty m:val="p"/>
                      </m:rPr>
                      <a:rPr lang="en-IN" sz="2400">
                        <a:solidFill>
                          <a:srgbClr val="111827"/>
                        </a:solidFill>
                        <a:latin typeface="Cambria Math" panose="02040503050406030204" pitchFamily="18" charset="0"/>
                      </a:rPr>
                      <m:t>sinh</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cosh</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$\sum_{n\ge0}\dfrac{(2n-1)x^{2n}}{(2n)!}=x\sinh x-\cosh x$</a:t>
                </a:r>
                <a:r>
                  <a:rPr sz="2400" b="0">
                    <a:solidFill>
                      <a:srgbClr val="111827"/>
                    </a:solidFill>
                    <a:latin typeface="Arial"/>
                  </a:rPr>
                  <a:t>, which at </a:t>
                </a:r>
                <a:r>
                  <a:rPr lang="en-IN" sz="2400">
                    <a:solidFill>
                      <a:srgbClr val="111827"/>
                    </a:solidFill>
                    <a:latin typeface="Cambria Math" panose="02040503050406030204" pitchFamily="18" charset="0"/>
                  </a:rPr>
                  <a:t>$x=1$</a:t>
                </a:r>
                <a:r>
                  <a:rPr sz="2400" b="0">
                    <a:solidFill>
                      <a:srgbClr val="111827"/>
                    </a:solidFill>
                    <a:latin typeface="Arial"/>
                  </a:rPr>
                  <a:t> equals </a:t>
                </a:r>
                <a:r>
                  <a:rPr lang="en-IN" sz="2400">
                    <a:solidFill>
                      <a:srgbClr val="111827"/>
                    </a:solidFill>
                    <a:latin typeface="Cambria Math" panose="02040503050406030204" pitchFamily="18" charset="0"/>
                  </a:rPr>
                  <a:t>$\sinh1-\cosh1=-e^{-1}$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$5e-\dfrac1e$</a:t>
                </a:r>
                <a:r>
                  <a:rPr sz="2400" b="0">
                    <a:solidFill>
                      <a:srgbClr val="111827"/>
                    </a:solidFill>
                    <a:latin typeface="Arial"/>
                  </a:rPr>
                  <a:t>, so </a:t>
                </a:r>
                <a:r>
                  <a:rPr lang="en-IN" sz="2400">
                    <a:solidFill>
                      <a:srgbClr val="111827"/>
                    </a:solidFill>
                    <a:latin typeface="Cambria Math" panose="02040503050406030204" pitchFamily="18" charset="0"/>
                  </a:rPr>
                  <a:t>$a=5,b=-1,c=0$</a:t>
                </a:r>
                <a:r>
                  <a:rPr sz="2400" b="0">
                    <a:solidFill>
                      <a:srgbClr val="111827"/>
                    </a:solidFill>
                    <a:latin typeface="Arial"/>
                  </a:rPr>
                  <a:t> and </a:t>
                </a:r>
                <a:r>
                  <a:rPr lang="en-IN" sz="2400">
                    <a:solidFill>
                      <a:srgbClr val="111827"/>
                    </a:solidFill>
                    <a:latin typeface="Cambria Math" panose="02040503050406030204" pitchFamily="18" charset="0"/>
                  </a:rPr>
                  <a:t>$a^2-b+c=26$</a:t>
                </a:r>
                <a:r>
                  <a:rPr sz="2400" b="0">
                    <a:solidFill>
                      <a:srgbClr val="111827"/>
                    </a:solidFill>
                    <a:latin typeface="Arial"/>
                  </a:rPr>
                  <a:t>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26</a:t>
            </a:r>
            <a:endParaRPr sz="2800">
              <a:solidFill>
                <a:srgbClr val="15803D"/>
              </a:solidFill>
            </a:endParaRP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𝑘</m:t>
                                </m:r>
                              </m:sup>
                            </m:sSup>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𝑘</m:t>
                        </m:r>
                      </m:sub>
                    </m:sSub>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𝑒</m:t>
                    </m:r>
                  </m:oMath>
                </a14:m>
                <a:r>
                  <a:rPr sz="2400" b="0">
                    <a:solidFill>
                      <a:srgbClr val="111827"/>
                    </a:solidFill>
                    <a:latin typeface="Arial"/>
                  </a:rPr>
                  <a:t> with Bell numbers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Falling-factorial decomposition: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bar>
                          <m:barPr>
                            <m:pos m:val="bot"/>
                            <m:ctrlPr>
                              <a:rPr lang="en-IN" sz="2400" i="1">
                                <a:solidFill>
                                  <a:srgbClr val="111827"/>
                                </a:solidFill>
                                <a:latin typeface="Cambria Math" panose="02040503050406030204" pitchFamily="18" charset="0"/>
                              </a:rPr>
                            </m:ctrlPr>
                          </m:barPr>
                          <m:e>
                            <m:r>
                              <a:rPr lang="en-IN" sz="2400" i="1">
                                <a:solidFill>
                                  <a:srgbClr val="111827"/>
                                </a:solidFill>
                                <a:latin typeface="Cambria Math" panose="02040503050406030204" pitchFamily="18" charset="0"/>
                              </a:rPr>
                              <m:t>3</m:t>
                            </m:r>
                          </m:e>
                        </m:ba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𝑛</m:t>
                        </m:r>
                      </m:e>
                      <m:sup>
                        <m:bar>
                          <m:barPr>
                            <m:pos m:val="bot"/>
                            <m:ctrlPr>
                              <a:rPr lang="en-IN" sz="2400" i="1">
                                <a:solidFill>
                                  <a:srgbClr val="111827"/>
                                </a:solidFill>
                                <a:latin typeface="Cambria Math" panose="02040503050406030204" pitchFamily="18" charset="0"/>
                              </a:rPr>
                            </m:ctrlPr>
                          </m:barPr>
                          <m:e>
                            <m:r>
                              <a:rPr lang="en-IN" sz="2400" i="1">
                                <a:solidFill>
                                  <a:srgbClr val="111827"/>
                                </a:solidFill>
                                <a:latin typeface="Cambria Math" panose="02040503050406030204" pitchFamily="18" charset="0"/>
                              </a:rPr>
                              <m:t>2</m:t>
                            </m:r>
                          </m:e>
                        </m:ba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(coefficients are Stirling numbers of the second kind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bar>
                          <m:barPr>
                            <m:pos m:val="bot"/>
                            <m:ctrlPr>
                              <a:rPr lang="en-IN" sz="2400" i="1">
                                <a:solidFill>
                                  <a:srgbClr val="111827"/>
                                </a:solidFill>
                                <a:latin typeface="Cambria Math" panose="02040503050406030204" pitchFamily="18" charset="0"/>
                              </a:rPr>
                            </m:ctrlPr>
                          </m:barPr>
                          <m:e>
                            <m:r>
                              <a:rPr lang="en-IN" sz="2400" i="1">
                                <a:solidFill>
                                  <a:srgbClr val="111827"/>
                                </a:solidFill>
                                <a:latin typeface="Cambria Math" panose="02040503050406030204" pitchFamily="18" charset="0"/>
                              </a:rPr>
                              <m:t>𝑘</m:t>
                            </m:r>
                          </m:e>
                        </m:ba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cosh</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sinh</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cosh</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sinh</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partial sums of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3.375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$\sum_{n\ge0}\frac{n^k}{n!}=B_k\,e$</a:t>
                </a:r>
                <a:r>
                  <a:rPr sz="2400" b="0">
                    <a:solidFill>
                      <a:srgbClr val="111827"/>
                    </a:solidFill>
                    <a:latin typeface="Arial"/>
                  </a:rPr>
                  <a:t> with Bell numbers </a:t>
                </a:r>
                <a:r>
                  <a:rPr lang="en-IN" sz="2400">
                    <a:solidFill>
                      <a:srgbClr val="111827"/>
                    </a:solidFill>
                    <a:latin typeface="Cambria Math" panose="02040503050406030204" pitchFamily="18" charset="0"/>
                  </a:rPr>
                  <a:t>$B_1,B_2,B_3,B_4=1,2,5,15$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Falling-factorial decomposition: </a:t>
                </a:r>
                <a:r>
                  <a:rPr lang="en-IN" sz="2400">
                    <a:solidFill>
                      <a:srgbClr val="111827"/>
                    </a:solidFill>
                    <a:latin typeface="Cambria Math" panose="02040503050406030204" pitchFamily="18" charset="0"/>
                  </a:rPr>
                  <a:t>$n^3=n^{\underline3}+3n^{\underline2}+n$</a:t>
                </a:r>
                <a:r>
                  <a:rPr sz="2400" b="0">
                    <a:solidFill>
                      <a:srgbClr val="111827"/>
                    </a:solidFill>
                    <a:latin typeface="Arial"/>
                  </a:rPr>
                  <a:t> (coefficients are Stirling numbers of the second kind </a:t>
                </a:r>
                <a:r>
                  <a:rPr lang="en-IN" sz="2400">
                    <a:solidFill>
                      <a:srgbClr val="111827"/>
                    </a:solidFill>
                    <a:latin typeface="Cambria Math" panose="02040503050406030204" pitchFamily="18" charset="0"/>
                  </a:rPr>
                  <a:t>$1,3,1$</a:t>
                </a:r>
                <a:r>
                  <a:rPr sz="2400" b="0">
                    <a:solidFill>
                      <a:srgbClr val="111827"/>
                    </a:solidFill>
                    <a:latin typeface="Arial"/>
                  </a:rPr>
                  <a:t>), and </a:t>
                </a:r>
                <a:r>
                  <a:rPr lang="en-IN" sz="2400">
                    <a:solidFill>
                      <a:srgbClr val="111827"/>
                    </a:solidFill>
                    <a:latin typeface="Cambria Math" panose="02040503050406030204" pitchFamily="18" charset="0"/>
                  </a:rPr>
                  <a:t>$\sum n^{\underline k}/n!=e$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$\sum_{n\ge0}\frac{1}{(2n)!}=\cosh1$</a:t>
                </a:r>
                <a:r>
                  <a:rPr sz="2400" b="0">
                    <a:solidFill>
                      <a:srgbClr val="111827"/>
                    </a:solidFill>
                    <a:latin typeface="Arial"/>
                  </a:rPr>
                  <a:t> and </a:t>
                </a:r>
                <a:r>
                  <a:rPr lang="en-IN" sz="2400">
                    <a:solidFill>
                      <a:srgbClr val="111827"/>
                    </a:solidFill>
                    <a:latin typeface="Cambria Math" panose="02040503050406030204" pitchFamily="18" charset="0"/>
                  </a:rPr>
                  <a:t>$\sum_{n\ge1}\frac{1}{(2n-1)!}=\sinh1$</a:t>
                </a:r>
                <a:r>
                  <a:rPr sz="2400" b="0">
                    <a:solidFill>
                      <a:srgbClr val="111827"/>
                    </a:solidFill>
                    <a:latin typeface="Arial"/>
                  </a:rPr>
                  <a:t>; </a:t>
                </a:r>
                <a:r>
                  <a:rPr lang="en-IN" sz="2400">
                    <a:solidFill>
                      <a:srgbClr val="111827"/>
                    </a:solidFill>
                    <a:latin typeface="Cambria Math" panose="02040503050406030204" pitchFamily="18" charset="0"/>
                  </a:rPr>
                  <a:t>$\cosh1-\sinh1=e^{-1}$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partial sums of </a:t>
                </a:r>
                <a:r>
                  <a:rPr lang="en-IN" sz="2400">
                    <a:solidFill>
                      <a:srgbClr val="111827"/>
                    </a:solidFill>
                    <a:latin typeface="Cambria Math" panose="02040503050406030204" pitchFamily="18" charset="0"/>
                  </a:rPr>
                  <a:t>$\sum n^3/n!$</a:t>
                </a:r>
                <a:r>
                  <a:rPr sz="2400" b="0">
                    <a:solidFill>
                      <a:srgbClr val="111827"/>
                    </a:solidFill>
                    <a:latin typeface="Arial"/>
                  </a:rPr>
                  <a:t>: </a:t>
                </a:r>
                <a:r>
                  <a:rPr lang="en-IN" sz="2400">
                    <a:solidFill>
                      <a:srgbClr val="111827"/>
                    </a:solidFill>
                    <a:latin typeface="Cambria Math" panose="02040503050406030204" pitchFamily="18" charset="0"/>
                  </a:rPr>
                  <a:t>$1+4+4.5+3.375+\dots\to5e\approx13.59$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a:t>
                </a:r>
                <a14:m>
                  <m:oMath xmlns:m="http://schemas.openxmlformats.org/officeDocument/2006/math">
                    <m:sSup>
                      <m:e>
                        <m:r>
                          <a:rPr lang="en-IN" sz="2400" i="1">
                            <a:solidFill>
                              <a:srgbClr val="111827"/>
                            </a:solidFill>
                            <a:latin typeface="Cambria Math" panose="02040503050406030204" pitchFamily="18" charset="0"/>
                          </a:rPr>
                          <m:t>50</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root of a number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and the </a:t>
                </a:r>
                <a14:m>
                  <m:oMath xmlns:m="http://schemas.openxmlformats.org/officeDocument/2006/math">
                    <m:sSup>
                      <m:e>
                        <m:r>
                          <a:rPr lang="en-IN" sz="2400" i="1">
                            <a:solidFill>
                              <a:srgbClr val="111827"/>
                            </a:solidFill>
                            <a:latin typeface="Cambria Math" panose="02040503050406030204" pitchFamily="18" charset="0"/>
                          </a:rPr>
                          <m:t>50</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root of another number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Then the remainder obtained on dividing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$50^{\text{th}}$</a:t>
                </a:r>
                <a:r>
                  <a:rPr sz="2400" b="0">
                    <a:solidFill>
                      <a:srgbClr val="111827"/>
                    </a:solidFill>
                    <a:latin typeface="Arial"/>
                  </a:rPr>
                  <a:t> root of a number </a:t>
                </a:r>
                <a:r>
                  <a:rPr lang="en-IN" sz="2400">
                    <a:solidFill>
                      <a:srgbClr val="111827"/>
                    </a:solidFill>
                    <a:latin typeface="Cambria Math" panose="02040503050406030204" pitchFamily="18" charset="0"/>
                  </a:rPr>
                  <a:t>$x$</a:t>
                </a:r>
                <a:r>
                  <a:rPr sz="2400" b="0">
                    <a:solidFill>
                      <a:srgbClr val="111827"/>
                    </a:solidFill>
                    <a:latin typeface="Arial"/>
                  </a:rPr>
                  <a:t> is </a:t>
                </a:r>
                <a:r>
                  <a:rPr lang="en-IN" sz="2400">
                    <a:solidFill>
                      <a:srgbClr val="111827"/>
                    </a:solidFill>
                    <a:latin typeface="Cambria Math" panose="02040503050406030204" pitchFamily="18" charset="0"/>
                  </a:rPr>
                  <a:t>$12$</a:t>
                </a:r>
                <a:r>
                  <a:rPr sz="2400" b="0">
                    <a:solidFill>
                      <a:srgbClr val="111827"/>
                    </a:solidFill>
                    <a:latin typeface="Arial"/>
                  </a:rPr>
                  <a:t> and the </a:t>
                </a:r>
                <a:r>
                  <a:rPr lang="en-IN" sz="2400">
                    <a:solidFill>
                      <a:srgbClr val="111827"/>
                    </a:solidFill>
                    <a:latin typeface="Cambria Math" panose="02040503050406030204" pitchFamily="18" charset="0"/>
                  </a:rPr>
                  <a:t>$50^{\text{th}}$</a:t>
                </a:r>
                <a:r>
                  <a:rPr sz="2400" b="0">
                    <a:solidFill>
                      <a:srgbClr val="111827"/>
                    </a:solidFill>
                    <a:latin typeface="Arial"/>
                  </a:rPr>
                  <a:t> root of another number </a:t>
                </a:r>
                <a:r>
                  <a:rPr lang="en-IN" sz="2400">
                    <a:solidFill>
                      <a:srgbClr val="111827"/>
                    </a:solidFill>
                    <a:latin typeface="Cambria Math" panose="02040503050406030204" pitchFamily="18" charset="0"/>
                  </a:rPr>
                  <a:t>$y$</a:t>
                </a:r>
                <a:r>
                  <a:rPr sz="2400" b="0">
                    <a:solidFill>
                      <a:srgbClr val="111827"/>
                    </a:solidFill>
                    <a:latin typeface="Arial"/>
                  </a:rPr>
                  <a:t> is </a:t>
                </a:r>
                <a:r>
                  <a:rPr lang="en-IN" sz="2400">
                    <a:solidFill>
                      <a:srgbClr val="111827"/>
                    </a:solidFill>
                    <a:latin typeface="Cambria Math" panose="02040503050406030204" pitchFamily="18" charset="0"/>
                  </a:rPr>
                  <a:t>$18$</a:t>
                </a:r>
                <a:r>
                  <a:rPr sz="2400" b="0">
                    <a:solidFill>
                      <a:srgbClr val="111827"/>
                    </a:solidFill>
                    <a:latin typeface="Arial"/>
                  </a:rPr>
                  <a:t>. Then the remainder obtained on dividing </a:t>
                </a:r>
                <a:r>
                  <a:rPr lang="en-IN" sz="2400">
                    <a:solidFill>
                      <a:srgbClr val="111827"/>
                    </a:solidFill>
                    <a:latin typeface="Cambria Math" panose="02040503050406030204" pitchFamily="18" charset="0"/>
                  </a:rPr>
                  <a:t>$(x+y)$</a:t>
                </a:r>
                <a:r>
                  <a:rPr sz="2400" b="0">
                    <a:solidFill>
                      <a:srgbClr val="111827"/>
                    </a:solidFill>
                    <a:latin typeface="Arial"/>
                  </a:rPr>
                  <a:t> by </a:t>
                </a:r>
                <a:r>
                  <a:rPr lang="en-IN" sz="2400">
                    <a:solidFill>
                      <a:srgbClr val="111827"/>
                    </a:solidFill>
                    <a:latin typeface="Cambria Math" panose="02040503050406030204" pitchFamily="18" charset="0"/>
                  </a:rPr>
                  <a:t>$25$</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Remainder (divisibility) using the binomial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12</m:t>
                        </m:r>
                      </m:e>
                      <m:sup>
                        <m:r>
                          <a:rPr lang="en-IN" sz="2400" i="1">
                            <a:solidFill>
                              <a:srgbClr val="78350F"/>
                            </a:solidFill>
                            <a:latin typeface="Cambria Math" panose="02040503050406030204" pitchFamily="18" charset="0"/>
                          </a:rPr>
                          <m:t>50</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18</m:t>
                        </m:r>
                      </m:e>
                      <m:sup>
                        <m:r>
                          <a:rPr lang="en-IN" sz="2400" i="1">
                            <a:solidFill>
                              <a:srgbClr val="78350F"/>
                            </a:solidFill>
                            <a:latin typeface="Cambria Math" panose="02040503050406030204" pitchFamily="18" charset="0"/>
                          </a:rPr>
                          <m:t>50</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6</m:t>
                        </m:r>
                      </m:e>
                      <m:sup>
                        <m:r>
                          <a:rPr lang="en-IN" sz="2400" i="1">
                            <a:solidFill>
                              <a:srgbClr val="78350F"/>
                            </a:solidFill>
                            <a:latin typeface="Cambria Math" panose="02040503050406030204" pitchFamily="18" charset="0"/>
                          </a:rPr>
                          <m:t>50</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50</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50</m:t>
                        </m:r>
                      </m:sup>
                    </m:sSup>
                    <m:r>
                      <m:rPr>
                        <m:sty m:val="p"/>
                      </m:rPr>
                      <a:rPr lang="en-IN" sz="2400">
                        <a:solidFill>
                          <a:srgbClr val="78350F"/>
                        </a:solidFill>
                        <a:latin typeface="Cambria Math" panose="02040503050406030204" pitchFamily="18" charset="0"/>
                      </a:rPr>
                      <m:t>)</m:t>
                    </m:r>
                  </m:oMath>
                </a14:m>
                <a:r>
                  <a:rPr sz="2400" b="0">
                    <a:solidFill>
                      <a:srgbClr val="78350F"/>
                    </a:solidFill>
                    <a:latin typeface="Arial"/>
                  </a:rPr>
                  <a:t>; write </a:t>
                </a:r>
                <a14:m>
                  <m:oMath xmlns:m="http://schemas.openxmlformats.org/officeDocument/2006/math">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9</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$x+y=12^{50}+18^{50}=6^{50}(2^{50}+3^{50})$</a:t>
                </a:r>
                <a:r>
                  <a:rPr sz="2400" b="0">
                    <a:solidFill>
                      <a:srgbClr val="78350F"/>
                    </a:solidFill>
                    <a:latin typeface="Arial"/>
                  </a:rPr>
                  <a:t>; write </a:t>
                </a:r>
                <a:r>
                  <a:rPr lang="en-IN" sz="2400">
                    <a:solidFill>
                      <a:srgbClr val="78350F"/>
                    </a:solidFill>
                    <a:latin typeface="Cambria Math" panose="02040503050406030204" pitchFamily="18" charset="0"/>
                  </a:rPr>
                  <a:t>$6=5+1$</a:t>
                </a:r>
                <a:r>
                  <a:rPr sz="2400" b="0">
                    <a:solidFill>
                      <a:srgbClr val="78350F"/>
                    </a:solidFill>
                    <a:latin typeface="Arial"/>
                  </a:rPr>
                  <a:t>, </a:t>
                </a:r>
                <a:r>
                  <a:rPr lang="en-IN" sz="2400">
                    <a:solidFill>
                      <a:srgbClr val="78350F"/>
                    </a:solidFill>
                    <a:latin typeface="Cambria Math" panose="02040503050406030204" pitchFamily="18" charset="0"/>
                  </a:rPr>
                  <a:t>$4=5-1$</a:t>
                </a:r>
                <a:r>
                  <a:rPr sz="2400" b="0">
                    <a:solidFill>
                      <a:srgbClr val="78350F"/>
                    </a:solidFill>
                    <a:latin typeface="Arial"/>
                  </a:rPr>
                  <a:t>, </a:t>
                </a:r>
                <a:r>
                  <a:rPr lang="en-IN" sz="2400">
                    <a:solidFill>
                      <a:srgbClr val="78350F"/>
                    </a:solidFill>
                    <a:latin typeface="Cambria Math" panose="02040503050406030204" pitchFamily="18" charset="0"/>
                  </a:rPr>
                  <a:t>$9=10-1$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50</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18</m:t>
                        </m:r>
                      </m:e>
                      <m:sup>
                        <m:r>
                          <a:rPr lang="en-IN" sz="2400" i="1">
                            <a:solidFill>
                              <a:srgbClr val="111827"/>
                            </a:solidFill>
                            <a:latin typeface="Cambria Math" panose="02040503050406030204" pitchFamily="18" charset="0"/>
                          </a:rPr>
                          <m:t>50</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50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18</m:t>
                        </m:r>
                      </m:e>
                      <m:sup>
                        <m:r>
                          <a:rPr lang="en-IN" sz="2400" i="1">
                            <a:solidFill>
                              <a:srgbClr val="111827"/>
                            </a:solidFill>
                            <a:latin typeface="Cambria Math" panose="02040503050406030204" pitchFamily="18" charset="0"/>
                          </a:rPr>
                          <m:t>50</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50</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50</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50</m:t>
                        </m:r>
                      </m:sup>
                    </m:sSup>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50</m:t>
                            </m:r>
                          </m:sup>
                        </m:sSup>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50</m:t>
                        </m:r>
                      </m:sup>
                    </m:sSup>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m:t>
                            </m:r>
                          </m:e>
                          <m:sup>
                            <m:r>
                              <a:rPr lang="en-IN" sz="2400" i="1">
                                <a:solidFill>
                                  <a:srgbClr val="111827"/>
                                </a:solidFill>
                                <a:latin typeface="Cambria Math" panose="02040503050406030204" pitchFamily="18" charset="0"/>
                              </a:rPr>
                              <m:t>25</m:t>
                            </m:r>
                          </m:sup>
                        </m:sSup>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(terms with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or higher are multiples of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m:t>
                            </m:r>
                          </m:num>
                          <m:den>
                            <m:r>
                              <a:rPr lang="en-IN" sz="2400" i="1">
                                <a:solidFill>
                                  <a:srgbClr val="111827"/>
                                </a:solidFill>
                                <a:latin typeface="Cambria Math" panose="02040503050406030204" pitchFamily="18" charset="0"/>
                              </a:rPr>
                              <m:t>1</m:t>
                            </m:r>
                          </m:den>
                        </m:f>
                      </m:e>
                    </m:d>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250</m:t>
                    </m:r>
                  </m:oMath>
                </a14:m>
                <a:r>
                  <a:rPr sz="2400" b="0">
                    <a:solidFill>
                      <a:srgbClr val="111827"/>
                    </a:solidFill>
                    <a:latin typeface="Arial"/>
                  </a:rPr>
                  <a:t> is also a multiple of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$x=12^{50}$</a:t>
                </a:r>
                <a:r>
                  <a:rPr sz="2400" b="0">
                    <a:solidFill>
                      <a:srgbClr val="111827"/>
                    </a:solidFill>
                    <a:latin typeface="Arial"/>
                  </a:rPr>
                  <a:t> and </a:t>
                </a:r>
                <a:r>
                  <a:rPr lang="en-IN" sz="2400">
                    <a:solidFill>
                      <a:srgbClr val="111827"/>
                    </a:solidFill>
                    <a:latin typeface="Cambria Math" panose="02040503050406030204" pitchFamily="18" charset="0"/>
                  </a:rPr>
                  <a:t>$y=18^{50}$</a:t>
                </a:r>
                <a:r>
                  <a:rPr sz="2400" b="0">
                    <a:solidFill>
                      <a:srgbClr val="111827"/>
                    </a:solidFill>
                    <a:latin typeface="Arial"/>
                  </a:rPr>
                  <a:t>, so </a:t>
                </a:r>
                <a:r>
                  <a:rPr lang="en-IN" sz="2400">
                    <a:solidFill>
                      <a:srgbClr val="111827"/>
                    </a:solidFill>
                    <a:latin typeface="Cambria Math" panose="02040503050406030204" pitchFamily="18" charset="0"/>
                  </a:rPr>
                  <a:t>$x+y=12^{50}+18^{50}=(2^2\cdot3)^{50}+(3^2\cdot2)^{50}$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$=6^{50}\left(2^{50}+3^{50}\right)=(5+1)^{50}\left(4^{25}+9^{25}\right)$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$(5+1)^{50}=25\lambda+1$</a:t>
                </a:r>
                <a:r>
                  <a:rPr sz="2400" b="0">
                    <a:solidFill>
                      <a:srgbClr val="111827"/>
                    </a:solidFill>
                    <a:latin typeface="Arial"/>
                  </a:rPr>
                  <a:t> (terms with </a:t>
                </a:r>
                <a:r>
                  <a:rPr lang="en-IN" sz="2400">
                    <a:solidFill>
                      <a:srgbClr val="111827"/>
                    </a:solidFill>
                    <a:latin typeface="Cambria Math" panose="02040503050406030204" pitchFamily="18" charset="0"/>
                  </a:rPr>
                  <a:t>$5^2$</a:t>
                </a:r>
                <a:r>
                  <a:rPr sz="2400" b="0">
                    <a:solidFill>
                      <a:srgbClr val="111827"/>
                    </a:solidFill>
                    <a:latin typeface="Arial"/>
                  </a:rPr>
                  <a:t> or higher are multiples of </a:t>
                </a:r>
                <a:r>
                  <a:rPr lang="en-IN" sz="2400">
                    <a:solidFill>
                      <a:srgbClr val="111827"/>
                    </a:solidFill>
                    <a:latin typeface="Cambria Math" panose="02040503050406030204" pitchFamily="18" charset="0"/>
                  </a:rPr>
                  <a:t>$25$</a:t>
                </a:r>
                <a:r>
                  <a:rPr sz="2400" b="0">
                    <a:solidFill>
                      <a:srgbClr val="111827"/>
                    </a:solidFill>
                    <a:latin typeface="Arial"/>
                  </a:rPr>
                  <a:t>, and </a:t>
                </a:r>
                <a:r>
                  <a:rPr lang="en-IN" sz="2400">
                    <a:solidFill>
                      <a:srgbClr val="111827"/>
                    </a:solidFill>
                    <a:latin typeface="Cambria Math" panose="02040503050406030204" pitchFamily="18" charset="0"/>
                  </a:rPr>
                  <a:t>$\binom{50}{1}5=250$</a:t>
                </a:r>
                <a:r>
                  <a:rPr sz="2400" b="0">
                    <a:solidFill>
                      <a:srgbClr val="111827"/>
                    </a:solidFill>
                    <a:latin typeface="Arial"/>
                  </a:rPr>
                  <a:t> is also a multiple of </a:t>
                </a:r>
                <a:r>
                  <a:rPr lang="en-IN" sz="2400">
                    <a:solidFill>
                      <a:srgbClr val="111827"/>
                    </a:solidFill>
                    <a:latin typeface="Cambria Math" panose="02040503050406030204" pitchFamily="18" charset="0"/>
                  </a:rPr>
                  <a:t>$25$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m:t>
                        </m:r>
                      </m:e>
                      <m:sup>
                        <m:r>
                          <a:rPr lang="en-IN" sz="2400" i="1">
                            <a:solidFill>
                              <a:srgbClr val="111827"/>
                            </a:solidFill>
                            <a:latin typeface="Cambria Math" panose="02040503050406030204" pitchFamily="18" charset="0"/>
                          </a:rPr>
                          <m:t>25</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25</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25</m:t>
                        </m:r>
                      </m:sup>
                    </m:sSup>
                  </m:oMath>
                </a14:m>
                <a:r>
                  <a:rPr sz="2400" b="0">
                    <a:solidFill>
                      <a:srgbClr val="111827"/>
                    </a:solidFill>
                    <a:latin typeface="Arial"/>
                  </a:rPr>
                  <a:t>. Each of these equals </a:t>
                </a:r>
                <a14:m>
                  <m:oMath xmlns:m="http://schemas.openxmlformats.org/officeDocument/2006/math">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term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plus multiples of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250</m:t>
                    </m:r>
                  </m:oMath>
                </a14:m>
                <a:r>
                  <a:rPr sz="2400" b="0">
                    <a:solidFill>
                      <a:srgbClr val="111827"/>
                    </a:solidFill>
                    <a:latin typeface="Arial"/>
                  </a:rPr>
                  <a:t> are multiples of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so the sum is </a:t>
                </a:r>
                <a14:m>
                  <m:oMath xmlns:m="http://schemas.openxmlformats.org/officeDocument/2006/math">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remainder on dividing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$4^{25}+9^{25}=(5-1)^{25}+(10-1)^{25}$</a:t>
                </a:r>
                <a:r>
                  <a:rPr sz="2400" b="0">
                    <a:solidFill>
                      <a:srgbClr val="111827"/>
                    </a:solidFill>
                    <a:latin typeface="Arial"/>
                  </a:rPr>
                  <a:t>. Each of these equals </a:t>
                </a:r>
                <a:r>
                  <a:rPr lang="en-IN" sz="2400">
                    <a:solidFill>
                      <a:srgbClr val="111827"/>
                    </a:solidFill>
                    <a:latin typeface="Cambria Math" panose="02040503050406030204" pitchFamily="18" charset="0"/>
                  </a:rPr>
                  <a:t>$25k-1$</a:t>
                </a:r>
                <a:r>
                  <a:rPr sz="2400" b="0">
                    <a:solidFill>
                      <a:srgbClr val="111827"/>
                    </a:solidFill>
                    <a:latin typeface="Arial"/>
                  </a:rPr>
                  <a:t> (the term </a:t>
                </a:r>
                <a:r>
                  <a:rPr lang="en-IN" sz="2400">
                    <a:solidFill>
                      <a:srgbClr val="111827"/>
                    </a:solidFill>
                    <a:latin typeface="Cambria Math" panose="02040503050406030204" pitchFamily="18" charset="0"/>
                  </a:rPr>
                  <a:t>$-1$</a:t>
                </a:r>
                <a:r>
                  <a:rPr sz="2400" b="0">
                    <a:solidFill>
                      <a:srgbClr val="111827"/>
                    </a:solidFill>
                    <a:latin typeface="Arial"/>
                  </a:rPr>
                  <a:t> plus multiples of </a:t>
                </a:r>
                <a:r>
                  <a:rPr lang="en-IN" sz="2400">
                    <a:solidFill>
                      <a:srgbClr val="111827"/>
                    </a:solidFill>
                    <a:latin typeface="Cambria Math" panose="02040503050406030204" pitchFamily="18" charset="0"/>
                  </a:rPr>
                  <a:t>$25$</a:t>
                </a:r>
                <a:r>
                  <a:rPr sz="2400" b="0">
                    <a:solidFill>
                      <a:srgbClr val="111827"/>
                    </a:solidFill>
                    <a:latin typeface="Arial"/>
                  </a:rPr>
                  <a:t>; </a:t>
                </a:r>
                <a:r>
                  <a:rPr lang="en-IN" sz="2400">
                    <a:solidFill>
                      <a:srgbClr val="111827"/>
                    </a:solidFill>
                    <a:latin typeface="Cambria Math" panose="02040503050406030204" pitchFamily="18" charset="0"/>
                  </a:rPr>
                  <a:t>$25\cdot5=125$</a:t>
                </a:r>
                <a:r>
                  <a:rPr sz="2400" b="0">
                    <a:solidFill>
                      <a:srgbClr val="111827"/>
                    </a:solidFill>
                    <a:latin typeface="Arial"/>
                  </a:rPr>
                  <a:t> and </a:t>
                </a:r>
                <a:r>
                  <a:rPr lang="en-IN" sz="2400">
                    <a:solidFill>
                      <a:srgbClr val="111827"/>
                    </a:solidFill>
                    <a:latin typeface="Cambria Math" panose="02040503050406030204" pitchFamily="18" charset="0"/>
                  </a:rPr>
                  <a:t>$25\cdot10=250$</a:t>
                </a:r>
                <a:r>
                  <a:rPr sz="2400" b="0">
                    <a:solidFill>
                      <a:srgbClr val="111827"/>
                    </a:solidFill>
                    <a:latin typeface="Arial"/>
                  </a:rPr>
                  <a:t> are multiples of </a:t>
                </a:r>
                <a:r>
                  <a:rPr lang="en-IN" sz="2400">
                    <a:solidFill>
                      <a:srgbClr val="111827"/>
                    </a:solidFill>
                    <a:latin typeface="Cambria Math" panose="02040503050406030204" pitchFamily="18" charset="0"/>
                  </a:rPr>
                  <a:t>$25$</a:t>
                </a:r>
                <a:r>
                  <a:rPr sz="2400" b="0">
                    <a:solidFill>
                      <a:srgbClr val="111827"/>
                    </a:solidFill>
                    <a:latin typeface="Arial"/>
                  </a:rPr>
                  <a:t>), so the sum is </a:t>
                </a:r>
                <a:r>
                  <a:rPr lang="en-IN" sz="2400">
                    <a:solidFill>
                      <a:srgbClr val="111827"/>
                    </a:solidFill>
                    <a:latin typeface="Cambria Math" panose="02040503050406030204" pitchFamily="18" charset="0"/>
                  </a:rPr>
                  <a:t>$25t-2=25(t-1)+23$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$(25\lambda+1)(25t+23)=25(\ldots)+23$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remainder on dividing </a:t>
                </a:r>
                <a:r>
                  <a:rPr lang="en-IN" sz="2400">
                    <a:solidFill>
                      <a:srgbClr val="111827"/>
                    </a:solidFill>
                    <a:latin typeface="Cambria Math" panose="02040503050406030204" pitchFamily="18" charset="0"/>
                  </a:rPr>
                  <a:t>$x+y$</a:t>
                </a:r>
                <a:r>
                  <a:rPr sz="2400" b="0">
                    <a:solidFill>
                      <a:srgbClr val="111827"/>
                    </a:solidFill>
                    <a:latin typeface="Arial"/>
                  </a:rPr>
                  <a:t> by </a:t>
                </a:r>
                <a:r>
                  <a:rPr lang="en-IN" sz="2400">
                    <a:solidFill>
                      <a:srgbClr val="111827"/>
                    </a:solidFill>
                    <a:latin typeface="Cambria Math" panose="02040503050406030204" pitchFamily="18" charset="0"/>
                  </a:rPr>
                  <a:t>$25$</a:t>
                </a:r>
                <a:r>
                  <a:rPr sz="2400" b="0">
                    <a:solidFill>
                      <a:srgbClr val="111827"/>
                    </a:solidFill>
                    <a:latin typeface="Arial"/>
                  </a:rPr>
                  <a:t> is </a:t>
                </a:r>
                <a:r>
                  <a:rPr lang="en-IN" sz="2400">
                    <a:solidFill>
                      <a:srgbClr val="111827"/>
                    </a:solidFill>
                    <a:latin typeface="Cambria Math" panose="02040503050406030204" pitchFamily="18" charset="0"/>
                  </a:rPr>
                  <a:t>$23$</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23</a:t>
            </a:r>
            <a:endParaRPr sz="2800">
              <a:solidFill>
                <a:srgbClr val="15803D"/>
              </a:solidFill>
            </a:endParaRP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14:m>
                  <m:oMath xmlns:m="http://schemas.openxmlformats.org/officeDocument/2006/math">
                    <m:sSup>
                      <m:e>
                        <m:r>
                          <a:rPr lang="en-IN" sz="2400" i="1">
                            <a:solidFill>
                              <a:srgbClr val="78350F"/>
                            </a:solidFill>
                            <a:latin typeface="Cambria Math" panose="02040503050406030204" pitchFamily="18" charset="0"/>
                          </a:rPr>
                          <m:t>12</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18</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25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to reduce both powers directly.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r>
                  <a:rPr lang="en-IN" sz="2400">
                    <a:solidFill>
                      <a:srgbClr val="78350F"/>
                    </a:solidFill>
                    <a:latin typeface="Cambria Math" panose="02040503050406030204" pitchFamily="18" charset="0"/>
                  </a:rPr>
                  <a:t>$12^2\equiv-6$</a:t>
                </a:r>
                <a:r>
                  <a:rPr sz="2400" b="0">
                    <a:solidFill>
                      <a:srgbClr val="78350F"/>
                    </a:solidFill>
                    <a:latin typeface="Arial"/>
                  </a:rPr>
                  <a:t> and </a:t>
                </a:r>
                <a:r>
                  <a:rPr lang="en-IN" sz="2400">
                    <a:solidFill>
                      <a:srgbClr val="78350F"/>
                    </a:solidFill>
                    <a:latin typeface="Cambria Math" panose="02040503050406030204" pitchFamily="18" charset="0"/>
                  </a:rPr>
                  <a:t>$18^2\equiv-1\pmod{25}$</a:t>
                </a:r>
                <a:r>
                  <a:rPr sz="2400" b="0">
                    <a:solidFill>
                      <a:srgbClr val="78350F"/>
                    </a:solidFill>
                    <a:latin typeface="Arial"/>
                  </a:rPr>
                  <a:t> to reduce both powers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18</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18</m:t>
                        </m:r>
                      </m:e>
                      <m:sup>
                        <m:r>
                          <a:rPr lang="en-IN" sz="2400" i="1">
                            <a:solidFill>
                              <a:srgbClr val="111827"/>
                            </a:solidFill>
                            <a:latin typeface="Cambria Math" panose="02040503050406030204" pitchFamily="18" charset="0"/>
                          </a:rPr>
                          <m:t>50</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18</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25</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25</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50</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25</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25</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7776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25</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5</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50</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$18^2=324=13\cdot25-1\equiv-1\pmod{25}$</a:t>
                </a:r>
                <a:r>
                  <a:rPr sz="2400" b="0">
                    <a:solidFill>
                      <a:srgbClr val="111827"/>
                    </a:solidFill>
                    <a:latin typeface="Arial"/>
                  </a:rPr>
                  <a:t>, so </a:t>
                </a:r>
                <a:r>
                  <a:rPr lang="en-IN" sz="2400">
                    <a:solidFill>
                      <a:srgbClr val="111827"/>
                    </a:solidFill>
                    <a:latin typeface="Cambria Math" panose="02040503050406030204" pitchFamily="18" charset="0"/>
                  </a:rPr>
                  <a:t>$18^{50}=(18^2)^{25}\equiv(-1)^{25}=-1$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$12^2=144=5\cdot25+19\equiv-6\pmod{25}$</a:t>
                </a:r>
                <a:r>
                  <a:rPr sz="2400" b="0">
                    <a:solidFill>
                      <a:srgbClr val="111827"/>
                    </a:solidFill>
                    <a:latin typeface="Arial"/>
                  </a:rPr>
                  <a:t>, so </a:t>
                </a:r>
                <a:r>
                  <a:rPr lang="en-IN" sz="2400">
                    <a:solidFill>
                      <a:srgbClr val="111827"/>
                    </a:solidFill>
                    <a:latin typeface="Cambria Math" panose="02040503050406030204" pitchFamily="18" charset="0"/>
                  </a:rPr>
                  <a:t>$12^{50}\equiv(-6)^{25}=-6^{25}$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$6^5=7776=311\cdot25+1\equiv1\pmod{25}$</a:t>
                </a:r>
                <a:r>
                  <a:rPr sz="2400" b="0">
                    <a:solidFill>
                      <a:srgbClr val="111827"/>
                    </a:solidFill>
                    <a:latin typeface="Arial"/>
                  </a:rPr>
                  <a:t>, so </a:t>
                </a:r>
                <a:r>
                  <a:rPr lang="en-IN" sz="2400">
                    <a:solidFill>
                      <a:srgbClr val="111827"/>
                    </a:solidFill>
                    <a:latin typeface="Cambria Math" panose="02040503050406030204" pitchFamily="18" charset="0"/>
                  </a:rPr>
                  <a:t>$6^{25}=(6^5)^5\equiv1$</a:t>
                </a:r>
                <a:r>
                  <a:rPr sz="2400" b="0">
                    <a:solidFill>
                      <a:srgbClr val="111827"/>
                    </a:solidFill>
                    <a:latin typeface="Arial"/>
                  </a:rPr>
                  <a:t> and </a:t>
                </a:r>
                <a:r>
                  <a:rPr lang="en-IN" sz="2400">
                    <a:solidFill>
                      <a:srgbClr val="111827"/>
                    </a:solidFill>
                    <a:latin typeface="Cambria Math" panose="02040503050406030204" pitchFamily="18" charset="0"/>
                  </a:rPr>
                  <a:t>$12^{50}\equiv-1$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$x+y\equiv-1-1=-2\equiv23\pmod{25}$</a:t>
                </a:r>
                <a:r>
                  <a:rPr sz="2400" b="0">
                    <a:solidFill>
                      <a:srgbClr val="111827"/>
                    </a:solidFill>
                    <a:latin typeface="Arial"/>
                  </a:rPr>
                  <a:t>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23</a:t>
            </a:r>
            <a:endParaRPr sz="2800">
              <a:solidFill>
                <a:srgbClr val="15803D"/>
              </a:solidFill>
            </a:endParaRP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Reduce by squares: if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high power is trivial.</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50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Euler: </a:t>
                </a:r>
                <a14:m>
                  <m:oMath xmlns:m="http://schemas.openxmlformats.org/officeDocument/2006/math">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so exponents may be reduced mod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7776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7776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Reduce by squares: if </a:t>
                </a:r>
                <a:r>
                  <a:rPr lang="en-IN" sz="2400">
                    <a:solidFill>
                      <a:srgbClr val="111827"/>
                    </a:solidFill>
                    <a:latin typeface="Cambria Math" panose="02040503050406030204" pitchFamily="18" charset="0"/>
                  </a:rPr>
                  <a:t>$a^2\equiv\pm1\pmod m$</a:t>
                </a:r>
                <a:r>
                  <a:rPr sz="2400" b="0">
                    <a:solidFill>
                      <a:srgbClr val="111827"/>
                    </a:solidFill>
                    <a:latin typeface="Arial"/>
                  </a:rPr>
                  <a:t> the high power is trivial.</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$(5k\pm1)^n\equiv1\pm5kn\pmod{25}$</a:t>
                </a:r>
                <a:r>
                  <a:rPr sz="2400" b="0">
                    <a:solidFill>
                      <a:srgbClr val="111827"/>
                    </a:solidFill>
                    <a:latin typeface="Arial"/>
                  </a:rPr>
                  <a:t>, so </a:t>
                </a:r>
                <a:r>
                  <a:rPr lang="en-IN" sz="2400">
                    <a:solidFill>
                      <a:srgbClr val="111827"/>
                    </a:solidFill>
                    <a:latin typeface="Cambria Math" panose="02040503050406030204" pitchFamily="18" charset="0"/>
                  </a:rPr>
                  <a:t>$6^{50}\equiv1+250\equiv1\pmod{25}$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Euler: </a:t>
                </a:r>
                <a:r>
                  <a:rPr lang="en-IN" sz="2400">
                    <a:solidFill>
                      <a:srgbClr val="111827"/>
                    </a:solidFill>
                    <a:latin typeface="Cambria Math" panose="02040503050406030204" pitchFamily="18" charset="0"/>
                  </a:rPr>
                  <a:t>$\varphi(25)=20$</a:t>
                </a:r>
                <a:r>
                  <a:rPr sz="2400" b="0">
                    <a:solidFill>
                      <a:srgbClr val="111827"/>
                    </a:solidFill>
                    <a:latin typeface="Arial"/>
                  </a:rPr>
                  <a:t>, so exponents may be reduced mod </a:t>
                </a:r>
                <a:r>
                  <a:rPr lang="en-IN" sz="2400">
                    <a:solidFill>
                      <a:srgbClr val="111827"/>
                    </a:solidFill>
                    <a:latin typeface="Cambria Math" panose="02040503050406030204" pitchFamily="18" charset="0"/>
                  </a:rPr>
                  <a:t>$20$</a:t>
                </a:r>
                <a:r>
                  <a:rPr sz="2400" b="0">
                    <a:solidFill>
                      <a:srgbClr val="111827"/>
                    </a:solidFill>
                    <a:latin typeface="Arial"/>
                  </a:rPr>
                  <a:t>; </a:t>
                </a:r>
                <a:r>
                  <a:rPr lang="en-IN" sz="2400">
                    <a:solidFill>
                      <a:srgbClr val="111827"/>
                    </a:solidFill>
                    <a:latin typeface="Cambria Math" panose="02040503050406030204" pitchFamily="18" charset="0"/>
                  </a:rPr>
                  <a:t>$50\equiv10\pmod{20}$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$6^5=7776\equiv1\pmod{25}$</a:t>
                </a:r>
                <a:r>
                  <a:rPr sz="2400" b="0">
                    <a:solidFill>
                      <a:srgbClr val="111827"/>
                    </a:solidFill>
                    <a:latin typeface="Arial"/>
                  </a:rPr>
                  <a:t> (</a:t>
                </a:r>
                <a:r>
                  <a:rPr lang="en-IN" sz="2400">
                    <a:solidFill>
                      <a:srgbClr val="111827"/>
                    </a:solidFill>
                    <a:latin typeface="Cambria Math" panose="02040503050406030204" pitchFamily="18" charset="0"/>
                  </a:rPr>
                  <a:t>$7776-311\cdot25=1$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178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be the smallest number such that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30</m:t>
                        </m:r>
                      </m:sup>
                    </m:sSup>
                  </m:oMath>
                </a14:m>
                <a:r>
                  <a:rPr sz="2400" b="0">
                    <a:solidFill>
                      <a:srgbClr val="111827"/>
                    </a:solidFill>
                    <a:latin typeface="Arial"/>
                  </a:rPr>
                  <a:t> has a term </a:t>
                </a:r>
                <a14:m>
                  <m:oMath xmlns:m="http://schemas.openxmlformats.org/officeDocument/2006/math">
                    <m:r>
                      <a:rPr lang="en-IN" sz="2400" i="1">
                        <a:solidFill>
                          <a:srgbClr val="111827"/>
                        </a:solidFill>
                        <a:latin typeface="Cambria Math" panose="02040503050406030204" pitchFamily="18" charset="0"/>
                      </a:rPr>
                      <m:t>β</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21178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$\alpha&gt;0$</a:t>
                </a:r>
                <a:r>
                  <a:rPr sz="2400" b="0">
                    <a:solidFill>
                      <a:srgbClr val="111827"/>
                    </a:solidFill>
                    <a:latin typeface="Arial"/>
                  </a:rPr>
                  <a:t> be the smallest number such that the expansion of </a:t>
                </a:r>
                <a:r>
                  <a:rPr lang="en-IN" sz="2400">
                    <a:solidFill>
                      <a:srgbClr val="111827"/>
                    </a:solidFill>
                    <a:latin typeface="Cambria Math" panose="02040503050406030204" pitchFamily="18" charset="0"/>
                  </a:rPr>
                  <a:t>$\left(x^{2/3}+\dfrac{2}{x^{3}}\right)^{30}$</a:t>
                </a:r>
                <a:r>
                  <a:rPr sz="2400" b="0">
                    <a:solidFill>
                      <a:srgbClr val="111827"/>
                    </a:solidFill>
                    <a:latin typeface="Arial"/>
                  </a:rPr>
                  <a:t> has a term </a:t>
                </a:r>
                <a:r>
                  <a:rPr lang="en-IN" sz="2400">
                    <a:solidFill>
                      <a:srgbClr val="111827"/>
                    </a:solidFill>
                    <a:latin typeface="Cambria Math" panose="02040503050406030204" pitchFamily="18" charset="0"/>
                  </a:rPr>
                  <a:t>$\beta x^{-\alpha}$</a:t>
                </a:r>
                <a:r>
                  <a:rPr sz="2400" b="0">
                    <a:solidFill>
                      <a:srgbClr val="111827"/>
                    </a:solidFill>
                    <a:latin typeface="Arial"/>
                  </a:rPr>
                  <a:t>, </a:t>
                </a:r>
                <a:r>
                  <a:rPr lang="en-IN" sz="2400">
                    <a:solidFill>
                      <a:srgbClr val="111827"/>
                    </a:solidFill>
                    <a:latin typeface="Cambria Math" panose="02040503050406030204" pitchFamily="18" charset="0"/>
                  </a:rPr>
                  <a:t>$\beta\in\mathbb N$</a:t>
                </a:r>
                <a:r>
                  <a:rPr sz="2400" b="0">
                    <a:solidFill>
                      <a:srgbClr val="111827"/>
                    </a:solidFill>
                    <a:latin typeface="Arial"/>
                  </a:rPr>
                  <a:t>. Then </a:t>
                </a:r>
                <a:r>
                  <a:rPr lang="en-IN" sz="2400">
                    <a:solidFill>
                      <a:srgbClr val="111827"/>
                    </a:solidFill>
                    <a:latin typeface="Cambria Math" panose="02040503050406030204" pitchFamily="18" charset="0"/>
                  </a:rPr>
                  <a:t>$\alpha$</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62661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 is </a:t>
                </a:r>
                <a14:m>
                  <m:oMath xmlns:m="http://schemas.openxmlformats.org/officeDocument/2006/math">
                    <m:r>
                      <a:rPr lang="en-IN" sz="2400" i="1">
                        <a:solidFill>
                          <a:srgbClr val="78350F"/>
                        </a:solidFill>
                        <a:latin typeface="Cambria Math" panose="02040503050406030204" pitchFamily="18" charset="0"/>
                      </a:rPr>
                      <m:t>20</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11</m:t>
                        </m:r>
                        <m:r>
                          <a:rPr lang="en-IN" sz="2400" i="1">
                            <a:solidFill>
                              <a:srgbClr val="78350F"/>
                            </a:solidFill>
                            <a:latin typeface="Cambria Math" panose="02040503050406030204" pitchFamily="18" charset="0"/>
                          </a:rPr>
                          <m:t>𝑟</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 the least positive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m:t>
                    </m:r>
                  </m:oMath>
                </a14:m>
                <a:r>
                  <a:rPr sz="2400" b="0">
                    <a:solidFill>
                      <a:srgbClr val="78350F"/>
                    </a:solidFill>
                    <a:latin typeface="Arial"/>
                  </a:rPr>
                  <a:t>exponent occurs at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 is </a:t>
                </a:r>
                <a:r>
                  <a:rPr lang="en-IN" sz="2400">
                    <a:solidFill>
                      <a:srgbClr val="78350F"/>
                    </a:solidFill>
                    <a:latin typeface="Cambria Math" panose="02040503050406030204" pitchFamily="18" charset="0"/>
                  </a:rPr>
                  <a:t>$20-\frac{11r}{3}$</a:t>
                </a:r>
                <a:r>
                  <a:rPr sz="2400" b="0">
                    <a:solidFill>
                      <a:srgbClr val="78350F"/>
                    </a:solidFill>
                    <a:latin typeface="Arial"/>
                  </a:rPr>
                  <a:t>; the least positive </a:t>
                </a:r>
                <a:r>
                  <a:rPr lang="en-IN" sz="2400">
                    <a:solidFill>
                      <a:srgbClr val="78350F"/>
                    </a:solidFill>
                    <a:latin typeface="Cambria Math" panose="02040503050406030204" pitchFamily="18" charset="0"/>
                  </a:rPr>
                  <a:t>$-\!$</a:t>
                </a:r>
                <a:r>
                  <a:rPr sz="2400" b="0">
                    <a:solidFill>
                      <a:srgbClr val="78350F"/>
                    </a:solidFill>
                    <a:latin typeface="Arial"/>
                  </a:rPr>
                  <a:t>exponent occurs at </a:t>
                </a:r>
                <a:r>
                  <a:rPr lang="en-IN" sz="2400">
                    <a:solidFill>
                      <a:srgbClr val="78350F"/>
                    </a:solidFill>
                    <a:latin typeface="Cambria Math" panose="02040503050406030204" pitchFamily="18" charset="0"/>
                  </a:rPr>
                  <a:t>$r=6$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𝑟</m:t>
                            </m:r>
                          </m:den>
                        </m:f>
                      </m:e>
                    </m:d>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sup>
                    </m:sSup>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power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β</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we need </a:t>
                </a:r>
                <a14:m>
                  <m:oMath xmlns:m="http://schemas.openxmlformats.org/officeDocument/2006/math">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the power is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$T_{r+1}=\binom{30}{r}\left(x^{2/3}\right)^{30-r}\left(\dfrac2{x^3}\right)^r=\binom{30}{r}2^r\,x^{20-\frac{2r}{3}-3r}$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power of </a:t>
                </a:r>
                <a:r>
                  <a:rPr lang="en-IN" sz="2400">
                    <a:solidFill>
                      <a:srgbClr val="111827"/>
                    </a:solidFill>
                    <a:latin typeface="Cambria Math" panose="02040503050406030204" pitchFamily="18" charset="0"/>
                  </a:rPr>
                  <a:t>$x$</a:t>
                </a:r>
                <a:r>
                  <a:rPr sz="2400" b="0">
                    <a:solidFill>
                      <a:srgbClr val="111827"/>
                    </a:solidFill>
                    <a:latin typeface="Arial"/>
                  </a:rPr>
                  <a:t> is </a:t>
                </a:r>
                <a:r>
                  <a:rPr lang="en-IN" sz="2400">
                    <a:solidFill>
                      <a:srgbClr val="111827"/>
                    </a:solidFill>
                    <a:latin typeface="Cambria Math" panose="02040503050406030204" pitchFamily="18" charset="0"/>
                  </a:rPr>
                  <a:t>$\dfrac{60-11r}{3}$</a:t>
                </a:r>
                <a:r>
                  <a:rPr sz="2400" b="0">
                    <a:solidFill>
                      <a:srgbClr val="111827"/>
                    </a:solidFill>
                    <a:latin typeface="Arial"/>
                  </a:rPr>
                  <a:t>, </a:t>
                </a:r>
                <a:r>
                  <a:rPr lang="en-IN" sz="2400">
                    <a:solidFill>
                      <a:srgbClr val="111827"/>
                    </a:solidFill>
                    <a:latin typeface="Cambria Math" panose="02040503050406030204" pitchFamily="18" charset="0"/>
                  </a:rPr>
                  <a:t>$0\le r\le30$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$\beta x^{-\alpha}$</a:t>
                </a:r>
                <a:r>
                  <a:rPr sz="2400" b="0">
                    <a:solidFill>
                      <a:srgbClr val="111827"/>
                    </a:solidFill>
                    <a:latin typeface="Arial"/>
                  </a:rPr>
                  <a:t> with </a:t>
                </a:r>
                <a:r>
                  <a:rPr lang="en-IN" sz="2400">
                    <a:solidFill>
                      <a:srgbClr val="111827"/>
                    </a:solidFill>
                    <a:latin typeface="Cambria Math" panose="02040503050406030204" pitchFamily="18" charset="0"/>
                  </a:rPr>
                  <a:t>$\alpha&gt;0$</a:t>
                </a:r>
                <a:r>
                  <a:rPr sz="2400" b="0">
                    <a:solidFill>
                      <a:srgbClr val="111827"/>
                    </a:solidFill>
                    <a:latin typeface="Arial"/>
                  </a:rPr>
                  <a:t> we need </a:t>
                </a:r>
                <a:r>
                  <a:rPr lang="en-IN" sz="2400">
                    <a:solidFill>
                      <a:srgbClr val="111827"/>
                    </a:solidFill>
                    <a:latin typeface="Cambria Math" panose="02040503050406030204" pitchFamily="18" charset="0"/>
                  </a:rPr>
                  <a:t>$60-11r&lt;0$</a:t>
                </a:r>
                <a:r>
                  <a:rPr sz="2400" b="0">
                    <a:solidFill>
                      <a:srgbClr val="111827"/>
                    </a:solidFill>
                    <a:latin typeface="Arial"/>
                  </a:rPr>
                  <a:t>, i.e. </a:t>
                </a:r>
                <a:r>
                  <a:rPr lang="en-IN" sz="2400">
                    <a:solidFill>
                      <a:srgbClr val="111827"/>
                    </a:solidFill>
                    <a:latin typeface="Cambria Math" panose="02040503050406030204" pitchFamily="18" charset="0"/>
                  </a:rPr>
                  <a:t>$r\ge6$</a:t>
                </a:r>
                <a:r>
                  <a:rPr sz="2400" b="0">
                    <a:solidFill>
                      <a:srgbClr val="111827"/>
                    </a:solidFill>
                    <a:latin typeface="Arial"/>
                  </a:rPr>
                  <a:t> (for </a:t>
                </a:r>
                <a:r>
                  <a:rPr lang="en-IN" sz="2400">
                    <a:solidFill>
                      <a:srgbClr val="111827"/>
                    </a:solidFill>
                    <a:latin typeface="Cambria Math" panose="02040503050406030204" pitchFamily="18" charset="0"/>
                  </a:rPr>
                  <a:t>$r=5$</a:t>
                </a:r>
                <a:r>
                  <a:rPr sz="2400" b="0">
                    <a:solidFill>
                      <a:srgbClr val="111827"/>
                    </a:solidFill>
                    <a:latin typeface="Arial"/>
                  </a:rPr>
                  <a:t> the power is </a:t>
                </a:r>
                <a:r>
                  <a:rPr lang="en-IN" sz="2400">
                    <a:solidFill>
                      <a:srgbClr val="111827"/>
                    </a:solidFill>
                    <a:latin typeface="Cambria Math" panose="02040503050406030204" pitchFamily="18" charset="0"/>
                  </a:rPr>
                  <a:t>$+\frac53$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larger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give more negative powers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smallest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(term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6</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$r=6$</a:t>
                </a:r>
                <a:r>
                  <a:rPr sz="2400" b="0">
                    <a:solidFill>
                      <a:srgbClr val="111827"/>
                    </a:solidFill>
                    <a:latin typeface="Arial"/>
                  </a:rPr>
                  <a:t> gives </a:t>
                </a:r>
                <a:r>
                  <a:rPr lang="en-IN" sz="2400">
                    <a:solidFill>
                      <a:srgbClr val="111827"/>
                    </a:solidFill>
                    <a:latin typeface="Cambria Math" panose="02040503050406030204" pitchFamily="18" charset="0"/>
                  </a:rPr>
                  <a:t>$\dfrac{60-66}{3}=-2$</a:t>
                </a:r>
                <a:r>
                  <a:rPr sz="2400" b="0">
                    <a:solidFill>
                      <a:srgbClr val="111827"/>
                    </a:solidFill>
                    <a:latin typeface="Arial"/>
                  </a:rPr>
                  <a:t>, and larger </a:t>
                </a:r>
                <a:r>
                  <a:rPr lang="en-IN" sz="2400">
                    <a:solidFill>
                      <a:srgbClr val="111827"/>
                    </a:solidFill>
                    <a:latin typeface="Cambria Math" panose="02040503050406030204" pitchFamily="18" charset="0"/>
                  </a:rPr>
                  <a:t>$r$</a:t>
                </a:r>
                <a:r>
                  <a:rPr sz="2400" b="0">
                    <a:solidFill>
                      <a:srgbClr val="111827"/>
                    </a:solidFill>
                    <a:latin typeface="Arial"/>
                  </a:rPr>
                  <a:t> give more negative powers </a:t>
                </a:r>
                <a:r>
                  <a:rPr lang="en-IN" sz="2400">
                    <a:solidFill>
                      <a:srgbClr val="111827"/>
                    </a:solidFill>
                    <a:latin typeface="Cambria Math" panose="02040503050406030204" pitchFamily="18" charset="0"/>
                  </a:rPr>
                  <a:t>$-\frac{17}{3},-\frac{28}{3},\dots$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smallest </a:t>
                </a:r>
                <a:r>
                  <a:rPr lang="en-IN" sz="2400">
                    <a:solidFill>
                      <a:srgbClr val="111827"/>
                    </a:solidFill>
                    <a:latin typeface="Cambria Math" panose="02040503050406030204" pitchFamily="18" charset="0"/>
                  </a:rPr>
                  <a:t>$\alpha$</a:t>
                </a:r>
                <a:r>
                  <a:rPr sz="2400" b="0">
                    <a:solidFill>
                      <a:srgbClr val="111827"/>
                    </a:solidFill>
                    <a:latin typeface="Arial"/>
                  </a:rPr>
                  <a:t> is </a:t>
                </a:r>
                <a:r>
                  <a:rPr lang="en-IN" sz="2400">
                    <a:solidFill>
                      <a:srgbClr val="111827"/>
                    </a:solidFill>
                    <a:latin typeface="Cambria Math" panose="02040503050406030204" pitchFamily="18" charset="0"/>
                  </a:rPr>
                  <a:t>$2$</a:t>
                </a:r>
                <a:r>
                  <a:rPr sz="2400" b="0">
                    <a:solidFill>
                      <a:srgbClr val="111827"/>
                    </a:solidFill>
                    <a:latin typeface="Arial"/>
                  </a:rPr>
                  <a:t> (term </a:t>
                </a:r>
                <a:r>
                  <a:rPr lang="en-IN" sz="2400">
                    <a:solidFill>
                      <a:srgbClr val="111827"/>
                    </a:solidFill>
                    <a:latin typeface="Cambria Math" panose="02040503050406030204" pitchFamily="18" charset="0"/>
                  </a:rPr>
                  <a:t>$T_7=\binom{30}{6}2^6x^{-2}$</a:t>
                </a:r>
                <a:r>
                  <a:rPr sz="2400" b="0">
                    <a:solidFill>
                      <a:srgbClr val="111827"/>
                    </a:solidFill>
                    <a:latin typeface="Arial"/>
                  </a:rPr>
                  <a:t>, with </a:t>
                </a:r>
                <a:r>
                  <a:rPr lang="en-IN" sz="2400">
                    <a:solidFill>
                      <a:srgbClr val="111827"/>
                    </a:solidFill>
                    <a:latin typeface="Cambria Math" panose="02040503050406030204" pitchFamily="18" charset="0"/>
                  </a:rPr>
                  <a:t>$\beta=\binom{30}6\cdot2^6\in\mathbb N$</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a:t>
            </a:r>
            <a:endParaRPr sz="2800">
              <a:solidFill>
                <a:srgbClr val="15803D"/>
              </a:solidFill>
            </a:endParaRP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Read the exponents from the other end: </a:t>
                </a:r>
                <a14:m>
                  <m:oMath xmlns:m="http://schemas.openxmlformats.org/officeDocument/2006/math">
                    <m:sSup>
                      <m:e>
                        <m:d>
                          <m:dPr>
                            <m:begChr m:val="("/>
                            <m:sepChr m:val=""/>
                            <m:endChr m:val=")"/>
                            <m:grow/>
                            <m:ctrlPr>
                              <a:rPr lang="en-IN" sz="2400" i="1">
                                <a:solidFill>
                                  <a:srgbClr val="78350F"/>
                                </a:solidFill>
                                <a:latin typeface="Cambria Math" panose="02040503050406030204" pitchFamily="18" charset="0"/>
                              </a:rPr>
                            </m:ctrlPr>
                          </m:dPr>
                          <m:e>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num>
                              <m:den>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den>
                            </m:f>
                          </m:e>
                        </m:d>
                      </m:e>
                      <m:sup>
                        <m:r>
                          <a:rPr lang="en-IN" sz="2400" i="1">
                            <a:solidFill>
                              <a:srgbClr val="78350F"/>
                            </a:solidFill>
                            <a:latin typeface="Cambria Math" panose="02040503050406030204" pitchFamily="18" charset="0"/>
                          </a:rPr>
                          <m:t>30</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90</m:t>
                        </m:r>
                      </m:sup>
                    </m:sSup>
                    <m:sSup>
                      <m:e>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11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up>
                            </m:sSup>
                          </m:e>
                        </m:d>
                      </m:e>
                      <m:sup>
                        <m:r>
                          <a:rPr lang="en-IN" sz="2400" i="1">
                            <a:solidFill>
                              <a:srgbClr val="78350F"/>
                            </a:solidFill>
                            <a:latin typeface="Cambria Math" panose="02040503050406030204" pitchFamily="18" charset="0"/>
                          </a:rPr>
                          <m:t>30</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Read the exponents from the other end: </a:t>
                </a:r>
                <a:r>
                  <a:rPr lang="en-IN" sz="2400">
                    <a:solidFill>
                      <a:srgbClr val="78350F"/>
                    </a:solidFill>
                    <a:latin typeface="Cambria Math" panose="02040503050406030204" pitchFamily="18" charset="0"/>
                  </a:rPr>
                  <a:t>$\left(x^{2/3}+\frac2{x^3}\right)^{30}=x^{-90}\left(2+x^{11/3}\right)^{30}$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 so the expansion is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sup>
                    </m:sSup>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e>
                      <m:sup>
                        <m:r>
                          <a:rPr lang="en-IN" sz="2400" i="1">
                            <a:solidFill>
                              <a:srgbClr val="111827"/>
                            </a:solidFill>
                            <a:latin typeface="Cambria Math" panose="02040503050406030204" pitchFamily="18" charset="0"/>
                          </a:rPr>
                          <m:t>30</m:t>
                        </m:r>
                      </m:sup>
                    </m:sSup>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𝑗</m:t>
                                </m:r>
                              </m:den>
                            </m:f>
                          </m:e>
                        </m:d>
                      </m:e>
                    </m:nary>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sup>
                    </m:sSup>
                    <m:sSup>
                      <m:e>
                        <m:r>
                          <a:rPr lang="en-IN" sz="2400" i="1">
                            <a:solidFill>
                              <a:srgbClr val="111827"/>
                            </a:solidFill>
                            <a:latin typeface="Cambria Math" panose="02040503050406030204" pitchFamily="18" charset="0"/>
                          </a:rPr>
                          <m:t>𝑥</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𝑗</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power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𝑗</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we need it to be negative, i.e.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270</m:t>
                        </m:r>
                      </m:num>
                      <m:den>
                        <m:r>
                          <a:rPr lang="en-IN" sz="2400" i="1">
                            <a:solidFill>
                              <a:srgbClr val="111827"/>
                            </a:solidFill>
                            <a:latin typeface="Cambria Math" panose="02040503050406030204" pitchFamily="18" charset="0"/>
                          </a:rPr>
                          <m:t>11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$x^{2/3}+\dfrac{2}{x^3}=\dfrac{x^{11/3}+2}{x^{3}}$</a:t>
                </a:r>
                <a:r>
                  <a:rPr sz="2400" b="0">
                    <a:solidFill>
                      <a:srgbClr val="111827"/>
                    </a:solidFill>
                    <a:latin typeface="Arial"/>
                  </a:rPr>
                  <a:t>, so the expansion is </a:t>
                </a:r>
                <a:r>
                  <a:rPr lang="en-IN" sz="2400">
                    <a:solidFill>
                      <a:srgbClr val="111827"/>
                    </a:solidFill>
                    <a:latin typeface="Cambria Math" panose="02040503050406030204" pitchFamily="18" charset="0"/>
                  </a:rPr>
                  <a:t>$x^{-90}\left(x^{11/3}+2\right)^{30}=\sum_j\binom{30}{j}2^{30-j}x^{\frac{11j}{3}-90}$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power of </a:t>
                </a:r>
                <a:r>
                  <a:rPr lang="en-IN" sz="2400">
                    <a:solidFill>
                      <a:srgbClr val="111827"/>
                    </a:solidFill>
                    <a:latin typeface="Cambria Math" panose="02040503050406030204" pitchFamily="18" charset="0"/>
                  </a:rPr>
                  <a:t>$x$</a:t>
                </a:r>
                <a:r>
                  <a:rPr sz="2400" b="0">
                    <a:solidFill>
                      <a:srgbClr val="111827"/>
                    </a:solidFill>
                    <a:latin typeface="Arial"/>
                  </a:rPr>
                  <a:t> is </a:t>
                </a:r>
                <a:r>
                  <a:rPr lang="en-IN" sz="2400">
                    <a:solidFill>
                      <a:srgbClr val="111827"/>
                    </a:solidFill>
                    <a:latin typeface="Cambria Math" panose="02040503050406030204" pitchFamily="18" charset="0"/>
                  </a:rPr>
                  <a:t>$\dfrac{11j}{3}-90$</a:t>
                </a:r>
                <a:r>
                  <a:rPr sz="2400" b="0">
                    <a:solidFill>
                      <a:srgbClr val="111827"/>
                    </a:solidFill>
                    <a:latin typeface="Arial"/>
                  </a:rPr>
                  <a:t> for </a:t>
                </a:r>
                <a:r>
                  <a:rPr lang="en-IN" sz="2400">
                    <a:solidFill>
                      <a:srgbClr val="111827"/>
                    </a:solidFill>
                    <a:latin typeface="Cambria Math" panose="02040503050406030204" pitchFamily="18" charset="0"/>
                  </a:rPr>
                  <a:t>$j=0,1,\dots,30$</a:t>
                </a:r>
                <a:r>
                  <a:rPr sz="2400" b="0">
                    <a:solidFill>
                      <a:srgbClr val="111827"/>
                    </a:solidFill>
                    <a:latin typeface="Arial"/>
                  </a:rPr>
                  <a:t>; we need it to be negative, i.e. </a:t>
                </a:r>
                <a:r>
                  <a:rPr lang="en-IN" sz="2400">
                    <a:solidFill>
                      <a:srgbClr val="111827"/>
                    </a:solidFill>
                    <a:latin typeface="Cambria Math" panose="02040503050406030204" pitchFamily="18" charset="0"/>
                  </a:rPr>
                  <a:t>$j&lt;\dfrac{270}{11}\approx24.5$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negative power closest to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occurs for the largest allowed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smallest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(same answer;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corresponds to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in the earlier labelling).</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negative power closest to </a:t>
                </a:r>
                <a:r>
                  <a:rPr lang="en-IN" sz="2400">
                    <a:solidFill>
                      <a:srgbClr val="111827"/>
                    </a:solidFill>
                    <a:latin typeface="Cambria Math" panose="02040503050406030204" pitchFamily="18" charset="0"/>
                  </a:rPr>
                  <a:t>$0$</a:t>
                </a:r>
                <a:r>
                  <a:rPr sz="2400" b="0">
                    <a:solidFill>
                      <a:srgbClr val="111827"/>
                    </a:solidFill>
                    <a:latin typeface="Arial"/>
                  </a:rPr>
                  <a:t> occurs for the largest allowed </a:t>
                </a:r>
                <a:r>
                  <a:rPr lang="en-IN" sz="2400">
                    <a:solidFill>
                      <a:srgbClr val="111827"/>
                    </a:solidFill>
                    <a:latin typeface="Cambria Math" panose="02040503050406030204" pitchFamily="18" charset="0"/>
                  </a:rPr>
                  <a:t>$j=24$</a:t>
                </a:r>
                <a:r>
                  <a:rPr sz="2400" b="0">
                    <a:solidFill>
                      <a:srgbClr val="111827"/>
                    </a:solidFill>
                    <a:latin typeface="Arial"/>
                  </a:rPr>
                  <a:t>: </a:t>
                </a:r>
                <a:r>
                  <a:rPr lang="en-IN" sz="2400">
                    <a:solidFill>
                      <a:srgbClr val="111827"/>
                    </a:solidFill>
                    <a:latin typeface="Cambria Math" panose="02040503050406030204" pitchFamily="18" charset="0"/>
                  </a:rPr>
                  <a:t>$\dfrac{11\cdot24}{3}-90=88-90=-2$</a:t>
                </a:r>
                <a:r>
                  <a:rPr sz="2400" b="0">
                    <a:solidFill>
                      <a:srgbClr val="111827"/>
                    </a:solidFill>
                    <a:latin typeface="Arial"/>
                  </a:rPr>
                  <a:t> (and </a:t>
                </a:r>
                <a:r>
                  <a:rPr lang="en-IN" sz="2400">
                    <a:solidFill>
                      <a:srgbClr val="111827"/>
                    </a:solidFill>
                    <a:latin typeface="Cambria Math" panose="02040503050406030204" pitchFamily="18" charset="0"/>
                  </a:rPr>
                  <a:t>$j=25$</a:t>
                </a:r>
                <a:r>
                  <a:rPr sz="2400" b="0">
                    <a:solidFill>
                      <a:srgbClr val="111827"/>
                    </a:solidFill>
                    <a:latin typeface="Arial"/>
                  </a:rPr>
                  <a:t> gives </a:t>
                </a:r>
                <a:r>
                  <a:rPr lang="en-IN" sz="2400">
                    <a:solidFill>
                      <a:srgbClr val="111827"/>
                    </a:solidFill>
                    <a:latin typeface="Cambria Math" panose="02040503050406030204" pitchFamily="18" charset="0"/>
                  </a:rPr>
                  <a:t>$+\frac53$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smallest </a:t>
                </a:r>
                <a:r>
                  <a:rPr lang="en-IN" sz="2400">
                    <a:solidFill>
                      <a:srgbClr val="111827"/>
                    </a:solidFill>
                    <a:latin typeface="Cambria Math" panose="02040503050406030204" pitchFamily="18" charset="0"/>
                  </a:rPr>
                  <a:t>$\alpha&gt;0$</a:t>
                </a:r>
                <a:r>
                  <a:rPr sz="2400" b="0">
                    <a:solidFill>
                      <a:srgbClr val="111827"/>
                    </a:solidFill>
                    <a:latin typeface="Arial"/>
                  </a:rPr>
                  <a:t> is </a:t>
                </a:r>
                <a:r>
                  <a:rPr lang="en-IN" sz="2400">
                    <a:solidFill>
                      <a:srgbClr val="111827"/>
                    </a:solidFill>
                    <a:latin typeface="Cambria Math" panose="02040503050406030204" pitchFamily="18" charset="0"/>
                  </a:rPr>
                  <a:t>$2$</a:t>
                </a:r>
                <a:r>
                  <a:rPr sz="2400" b="0">
                    <a:solidFill>
                      <a:srgbClr val="111827"/>
                    </a:solidFill>
                    <a:latin typeface="Arial"/>
                  </a:rPr>
                  <a:t> (same answer; </a:t>
                </a:r>
                <a:r>
                  <a:rPr lang="en-IN" sz="2400">
                    <a:solidFill>
                      <a:srgbClr val="111827"/>
                    </a:solidFill>
                    <a:latin typeface="Cambria Math" panose="02040503050406030204" pitchFamily="18" charset="0"/>
                  </a:rPr>
                  <a:t>$j=24$</a:t>
                </a:r>
                <a:r>
                  <a:rPr sz="2400" b="0">
                    <a:solidFill>
                      <a:srgbClr val="111827"/>
                    </a:solidFill>
                    <a:latin typeface="Arial"/>
                  </a:rPr>
                  <a:t> corresponds to </a:t>
                </a:r>
                <a:r>
                  <a:rPr lang="en-IN" sz="2400">
                    <a:solidFill>
                      <a:srgbClr val="111827"/>
                    </a:solidFill>
                    <a:latin typeface="Cambria Math" panose="02040503050406030204" pitchFamily="18" charset="0"/>
                  </a:rPr>
                  <a:t>$r=6$</a:t>
                </a:r>
                <a:r>
                  <a:rPr sz="2400" b="0">
                    <a:solidFill>
                      <a:srgbClr val="111827"/>
                    </a:solidFill>
                    <a:latin typeface="Arial"/>
                  </a:rPr>
                  <a:t> in the earlier labelling).</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a:t>
            </a:r>
            <a:endParaRPr sz="2800">
              <a:solidFill>
                <a:srgbClr val="15803D"/>
              </a:solidFill>
            </a:endParaRP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exponents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𝑝</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𝑞</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form an arithmetic progression with common difference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(here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smallest positive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exponent is the first term of the progression that falls below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coefficient is of the required type (here natural):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6</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oMath>
                </a14:m>
                <a:r>
                  <a:rPr sz="2400" b="0">
                    <a:solidFill>
                      <a:srgbClr val="111827"/>
                    </a:solidFill>
                    <a:latin typeface="Arial"/>
                  </a:rPr>
                  <a:t> is a natural number.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gives exponent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it is not of the form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exponents of </a:t>
                </a:r>
                <a:r>
                  <a:rPr lang="en-IN" sz="2400">
                    <a:solidFill>
                      <a:srgbClr val="111827"/>
                    </a:solidFill>
                    <a:latin typeface="Cambria Math" panose="02040503050406030204" pitchFamily="18" charset="0"/>
                  </a:rPr>
                  <a:t>$x$</a:t>
                </a:r>
                <a:r>
                  <a:rPr sz="2400" b="0">
                    <a:solidFill>
                      <a:srgbClr val="111827"/>
                    </a:solidFill>
                    <a:latin typeface="Arial"/>
                  </a:rPr>
                  <a:t> in </a:t>
                </a:r>
                <a:r>
                  <a:rPr lang="en-IN" sz="2400">
                    <a:solidFill>
                      <a:srgbClr val="111827"/>
                    </a:solidFill>
                    <a:latin typeface="Cambria Math" panose="02040503050406030204" pitchFamily="18" charset="0"/>
                  </a:rPr>
                  <a:t>$(Ax^p+Bx^q)^n$</a:t>
                </a:r>
                <a:r>
                  <a:rPr sz="2400" b="0">
                    <a:solidFill>
                      <a:srgbClr val="111827"/>
                    </a:solidFill>
                    <a:latin typeface="Arial"/>
                  </a:rPr>
                  <a:t> form an arithmetic progression with common difference </a:t>
                </a:r>
                <a:r>
                  <a:rPr lang="en-IN" sz="2400">
                    <a:solidFill>
                      <a:srgbClr val="111827"/>
                    </a:solidFill>
                    <a:latin typeface="Cambria Math" panose="02040503050406030204" pitchFamily="18" charset="0"/>
                  </a:rPr>
                  <a:t>$q-p$</a:t>
                </a:r>
                <a:r>
                  <a:rPr sz="2400" b="0">
                    <a:solidFill>
                      <a:srgbClr val="111827"/>
                    </a:solidFill>
                    <a:latin typeface="Arial"/>
                  </a:rPr>
                  <a:t> in </a:t>
                </a:r>
                <a:r>
                  <a:rPr lang="en-IN" sz="2400">
                    <a:solidFill>
                      <a:srgbClr val="111827"/>
                    </a:solidFill>
                    <a:latin typeface="Cambria Math" panose="02040503050406030204" pitchFamily="18" charset="0"/>
                  </a:rPr>
                  <a:t>$r$</a:t>
                </a:r>
                <a:r>
                  <a:rPr sz="2400" b="0">
                    <a:solidFill>
                      <a:srgbClr val="111827"/>
                    </a:solidFill>
                    <a:latin typeface="Arial"/>
                  </a:rPr>
                  <a:t> (here </a:t>
                </a:r>
                <a:r>
                  <a:rPr lang="en-IN" sz="2400">
                    <a:solidFill>
                      <a:srgbClr val="111827"/>
                    </a:solidFill>
                    <a:latin typeface="Cambria Math" panose="02040503050406030204" pitchFamily="18" charset="0"/>
                  </a:rPr>
                  <a:t>$-\frac{11}{3}$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smallest positive </a:t>
                </a:r>
                <a:r>
                  <a:rPr lang="en-IN" sz="2400">
                    <a:solidFill>
                      <a:srgbClr val="111827"/>
                    </a:solidFill>
                    <a:latin typeface="Cambria Math" panose="02040503050406030204" pitchFamily="18" charset="0"/>
                  </a:rPr>
                  <a:t>$-$</a:t>
                </a:r>
                <a:r>
                  <a:rPr sz="2400" b="0">
                    <a:solidFill>
                      <a:srgbClr val="111827"/>
                    </a:solidFill>
                    <a:latin typeface="Arial"/>
                  </a:rPr>
                  <a:t>exponent is the first term of the progression that falls below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coefficient is of the required type (here natural): </a:t>
                </a:r>
                <a:r>
                  <a:rPr lang="en-IN" sz="2400">
                    <a:solidFill>
                      <a:srgbClr val="111827"/>
                    </a:solidFill>
                    <a:latin typeface="Cambria Math" panose="02040503050406030204" pitchFamily="18" charset="0"/>
                  </a:rPr>
                  <a:t>$\binom{30}6 2^6$</a:t>
                </a:r>
                <a:r>
                  <a:rPr sz="2400" b="0">
                    <a:solidFill>
                      <a:srgbClr val="111827"/>
                    </a:solidFill>
                    <a:latin typeface="Arial"/>
                  </a:rPr>
                  <a:t> is a natural number.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$r=5$</a:t>
                </a:r>
                <a:r>
                  <a:rPr sz="2400" b="0">
                    <a:solidFill>
                      <a:srgbClr val="111827"/>
                    </a:solidFill>
                    <a:latin typeface="Arial"/>
                  </a:rPr>
                  <a:t> gives exponent </a:t>
                </a:r>
                <a:r>
                  <a:rPr lang="en-IN" sz="2400">
                    <a:solidFill>
                      <a:srgbClr val="111827"/>
                    </a:solidFill>
                    <a:latin typeface="Cambria Math" panose="02040503050406030204" pitchFamily="18" charset="0"/>
                  </a:rPr>
                  <a:t>$\frac{60-55}{3}=\frac53&gt;0$</a:t>
                </a:r>
                <a:r>
                  <a:rPr sz="2400" b="0">
                    <a:solidFill>
                      <a:srgbClr val="111827"/>
                    </a:solidFill>
                    <a:latin typeface="Arial"/>
                  </a:rPr>
                  <a:t>, so it is not of the form </a:t>
                </a:r>
                <a:r>
                  <a:rPr lang="en-IN" sz="2400">
                    <a:solidFill>
                      <a:srgbClr val="111827"/>
                    </a:solidFill>
                    <a:latin typeface="Cambria Math" panose="02040503050406030204" pitchFamily="18" charset="0"/>
                  </a:rPr>
                  <a:t>$x^{-\alpha}$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remainder on dividing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99</m:t>
                        </m:r>
                      </m:sup>
                    </m:sSup>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remainder on dividing </a:t>
                </a:r>
                <a:r>
                  <a:rPr lang="en-IN" sz="2400">
                    <a:solidFill>
                      <a:srgbClr val="111827"/>
                    </a:solidFill>
                    <a:latin typeface="Cambria Math" panose="02040503050406030204" pitchFamily="18" charset="0"/>
                  </a:rPr>
                  <a:t>$5^{99}$</a:t>
                </a:r>
                <a:r>
                  <a:rPr sz="2400" b="0">
                    <a:solidFill>
                      <a:srgbClr val="111827"/>
                    </a:solidFill>
                    <a:latin typeface="Arial"/>
                  </a:rPr>
                  <a:t> by </a:t>
                </a:r>
                <a:r>
                  <a:rPr lang="en-IN" sz="2400">
                    <a:solidFill>
                      <a:srgbClr val="111827"/>
                    </a:solidFill>
                    <a:latin typeface="Cambria Math" panose="02040503050406030204" pitchFamily="18" charset="0"/>
                  </a:rPr>
                  <a:t>$11$</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Remainder (divisibility) using the binomial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5</m:t>
                        </m:r>
                      </m:e>
                      <m:sup>
                        <m:r>
                          <a:rPr lang="en-IN" sz="2400" i="1">
                            <a:solidFill>
                              <a:srgbClr val="78350F"/>
                            </a:solidFill>
                            <a:latin typeface="Cambria Math" panose="02040503050406030204" pitchFamily="18" charset="0"/>
                          </a:rPr>
                          <m:t>5</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3125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284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so </a:t>
                </a:r>
                <a14:m>
                  <m:oMath xmlns:m="http://schemas.openxmlformats.org/officeDocument/2006/math">
                    <m:sSup>
                      <m:e>
                        <m:r>
                          <a:rPr lang="en-IN" sz="2400" i="1">
                            <a:solidFill>
                              <a:srgbClr val="78350F"/>
                            </a:solidFill>
                            <a:latin typeface="Cambria Math" panose="02040503050406030204" pitchFamily="18" charset="0"/>
                          </a:rPr>
                          <m:t>5</m:t>
                        </m:r>
                      </m:e>
                      <m:sup>
                        <m:r>
                          <a:rPr lang="en-IN" sz="2400" i="1">
                            <a:solidFill>
                              <a:srgbClr val="78350F"/>
                            </a:solidFill>
                            <a:latin typeface="Cambria Math" panose="02040503050406030204" pitchFamily="18" charset="0"/>
                          </a:rPr>
                          <m:t>99</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5</m:t>
                        </m:r>
                      </m:e>
                      <m:sup>
                        <m:r>
                          <a:rPr lang="en-IN" sz="2400" i="1">
                            <a:solidFill>
                              <a:srgbClr val="78350F"/>
                            </a:solidFill>
                            <a:latin typeface="Cambria Math" panose="02040503050406030204" pitchFamily="18" charset="0"/>
                          </a:rPr>
                          <m:t>4</m:t>
                        </m:r>
                      </m:sup>
                    </m:sSup>
                    <m:sSup>
                      <m:e>
                        <m:d>
                          <m:dPr>
                            <m:begChr m:val="("/>
                            <m:sepChr m:val=""/>
                            <m:endChr m:val=")"/>
                            <m:grow/>
                            <m:ctrlPr>
                              <a:rPr lang="en-IN" sz="2400" i="1">
                                <a:solidFill>
                                  <a:srgbClr val="78350F"/>
                                </a:solidFill>
                                <a:latin typeface="Cambria Math" panose="02040503050406030204" pitchFamily="18" charset="0"/>
                              </a:rPr>
                            </m:ctrlPr>
                          </m:dPr>
                          <m:e>
                            <m:sSup>
                              <m:e>
                                <m:r>
                                  <a:rPr lang="en-IN" sz="2400" i="1">
                                    <a:solidFill>
                                      <a:srgbClr val="78350F"/>
                                    </a:solidFill>
                                    <a:latin typeface="Cambria Math" panose="02040503050406030204" pitchFamily="18" charset="0"/>
                                  </a:rPr>
                                  <m:t>5</m:t>
                                </m:r>
                              </m:e>
                              <m:sup>
                                <m:r>
                                  <a:rPr lang="en-IN" sz="2400" i="1">
                                    <a:solidFill>
                                      <a:srgbClr val="78350F"/>
                                    </a:solidFill>
                                    <a:latin typeface="Cambria Math" panose="02040503050406030204" pitchFamily="18" charset="0"/>
                                  </a:rPr>
                                  <m:t>5</m:t>
                                </m:r>
                              </m:sup>
                            </m:sSup>
                          </m:e>
                        </m:d>
                      </m:e>
                      <m:sup>
                        <m:r>
                          <a:rPr lang="en-IN" sz="2400" i="1">
                            <a:solidFill>
                              <a:srgbClr val="78350F"/>
                            </a:solidFill>
                            <a:latin typeface="Cambria Math" panose="02040503050406030204" pitchFamily="18" charset="0"/>
                          </a:rPr>
                          <m:t>19</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$5^5=3125=11\cdot284+1$</a:t>
                </a:r>
                <a:r>
                  <a:rPr sz="2400" b="0">
                    <a:solidFill>
                      <a:srgbClr val="78350F"/>
                    </a:solidFill>
                    <a:latin typeface="Arial"/>
                  </a:rPr>
                  <a:t>, so </a:t>
                </a:r>
                <a:r>
                  <a:rPr lang="en-IN" sz="2400">
                    <a:solidFill>
                      <a:srgbClr val="78350F"/>
                    </a:solidFill>
                    <a:latin typeface="Cambria Math" panose="02040503050406030204" pitchFamily="18" charset="0"/>
                  </a:rPr>
                  <a:t>$5^{99}=5^4\left(5^5\right)^{19}$</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99</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5</m:t>
                                </m:r>
                              </m:sup>
                            </m:sSup>
                          </m:e>
                        </m:d>
                      </m:e>
                      <m:sup>
                        <m:r>
                          <a:rPr lang="en-IN" sz="2400" i="1">
                            <a:solidFill>
                              <a:srgbClr val="111827"/>
                            </a:solidFill>
                            <a:latin typeface="Cambria Math" panose="02040503050406030204" pitchFamily="18" charset="0"/>
                          </a:rPr>
                          <m:t>19</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625</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19</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an integer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625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99</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and the remainder is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$5^{99}=5^4\cdot5^{95}=625\left(5^5\right)^{19}$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$5^5=3125=3124+1=11\cdot284+1$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$625\,(11\cdot284+1)^{19}=625\,(11k+1)$</a:t>
                </a:r>
                <a:r>
                  <a:rPr sz="2400" b="0">
                    <a:solidFill>
                      <a:srgbClr val="111827"/>
                    </a:solidFill>
                    <a:latin typeface="Arial"/>
                  </a:rPr>
                  <a:t> for an integer </a:t>
                </a:r>
                <a:r>
                  <a:rPr lang="en-IN" sz="2400">
                    <a:solidFill>
                      <a:srgbClr val="111827"/>
                    </a:solidFill>
                    <a:latin typeface="Cambria Math" panose="02040503050406030204" pitchFamily="18" charset="0"/>
                  </a:rPr>
                  <a:t>$k$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$=11\cdot625k+625$</a:t>
                </a:r>
                <a:r>
                  <a:rPr sz="2400" b="0">
                    <a:solidFill>
                      <a:srgbClr val="111827"/>
                    </a:solidFill>
                    <a:latin typeface="Arial"/>
                  </a:rPr>
                  <a:t> and </a:t>
                </a:r>
                <a:r>
                  <a:rPr lang="en-IN" sz="2400">
                    <a:solidFill>
                      <a:srgbClr val="111827"/>
                    </a:solidFill>
                    <a:latin typeface="Cambria Math" panose="02040503050406030204" pitchFamily="18" charset="0"/>
                  </a:rPr>
                  <a:t>$625=11\cdot56+9$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$5^{99}=11k_2+9$</a:t>
                </a:r>
                <a:r>
                  <a:rPr sz="2400" b="0">
                    <a:solidFill>
                      <a:srgbClr val="111827"/>
                    </a:solidFill>
                    <a:latin typeface="Arial"/>
                  </a:rPr>
                  <a:t> and the remainder is </a:t>
                </a:r>
                <a:r>
                  <a:rPr lang="en-IN" sz="2400">
                    <a:solidFill>
                      <a:srgbClr val="111827"/>
                    </a:solidFill>
                    <a:latin typeface="Cambria Math" panose="02040503050406030204" pitchFamily="18" charset="0"/>
                  </a:rPr>
                  <a:t>$9$</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9</a:t>
            </a:r>
            <a:endParaRPr sz="2800">
              <a:solidFill>
                <a:srgbClr val="15803D"/>
              </a:solidFill>
            </a:endParaRP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Fermat's little theorem: </a:t>
                </a:r>
                <a14:m>
                  <m:oMath xmlns:m="http://schemas.openxmlformats.org/officeDocument/2006/math">
                    <m:sSup>
                      <m:e>
                        <m:r>
                          <a:rPr lang="en-IN" sz="2400" i="1">
                            <a:solidFill>
                              <a:srgbClr val="78350F"/>
                            </a:solidFill>
                            <a:latin typeface="Cambria Math" panose="02040503050406030204" pitchFamily="18" charset="0"/>
                          </a:rPr>
                          <m:t>5</m:t>
                        </m:r>
                      </m:e>
                      <m:sup>
                        <m:r>
                          <a:rPr lang="en-IN" sz="2400" i="1">
                            <a:solidFill>
                              <a:srgbClr val="78350F"/>
                            </a:solidFill>
                            <a:latin typeface="Cambria Math" panose="02040503050406030204" pitchFamily="18" charset="0"/>
                          </a:rPr>
                          <m:t>10</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11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a:t>
                </a:r>
                <a14:m>
                  <m:oMath xmlns:m="http://schemas.openxmlformats.org/officeDocument/2006/math">
                    <m:sSup>
                      <m:e>
                        <m:r>
                          <a:rPr lang="en-IN" sz="2400" i="1">
                            <a:solidFill>
                              <a:srgbClr val="78350F"/>
                            </a:solidFill>
                            <a:latin typeface="Cambria Math" panose="02040503050406030204" pitchFamily="18" charset="0"/>
                          </a:rPr>
                          <m:t>5</m:t>
                        </m:r>
                      </m:e>
                      <m:sup>
                        <m:r>
                          <a:rPr lang="en-IN" sz="2400" i="1">
                            <a:solidFill>
                              <a:srgbClr val="78350F"/>
                            </a:solidFill>
                            <a:latin typeface="Cambria Math" panose="02040503050406030204" pitchFamily="18" charset="0"/>
                          </a:rPr>
                          <m:t>99</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5</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Fermat's little theorem: </a:t>
                </a:r>
                <a:r>
                  <a:rPr lang="en-IN" sz="2400">
                    <a:solidFill>
                      <a:srgbClr val="78350F"/>
                    </a:solidFill>
                    <a:latin typeface="Cambria Math" panose="02040503050406030204" pitchFamily="18" charset="0"/>
                  </a:rPr>
                  <a:t>$5^{10}\equiv1\pmod{11}$</a:t>
                </a:r>
                <a:r>
                  <a:rPr sz="2400" b="0">
                    <a:solidFill>
                      <a:srgbClr val="78350F"/>
                    </a:solidFill>
                    <a:latin typeface="Arial"/>
                  </a:rPr>
                  <a:t>, so </a:t>
                </a:r>
                <a:r>
                  <a:rPr lang="en-IN" sz="2400">
                    <a:solidFill>
                      <a:srgbClr val="78350F"/>
                    </a:solidFill>
                    <a:latin typeface="Cambria Math" panose="02040503050406030204" pitchFamily="18" charset="0"/>
                  </a:rPr>
                  <a:t>$5^{99}\equiv5^{-1}$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is prime and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99</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100</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10</m:t>
                                </m:r>
                              </m:sup>
                            </m:sSup>
                          </m:e>
                        </m:d>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99</m:t>
                        </m:r>
                      </m:sup>
                    </m:sSup>
                  </m:oMath>
                </a14:m>
                <a:r>
                  <a:rPr sz="2400" b="0">
                    <a:solidFill>
                      <a:srgbClr val="111827"/>
                    </a:solidFill>
                    <a:latin typeface="Arial"/>
                  </a:rPr>
                  <a:t> is the inverse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modulo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99</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$11$</a:t>
                </a:r>
                <a:r>
                  <a:rPr sz="2400" b="0">
                    <a:solidFill>
                      <a:srgbClr val="111827"/>
                    </a:solidFill>
                    <a:latin typeface="Arial"/>
                  </a:rPr>
                  <a:t> is prime and </a:t>
                </a:r>
                <a:r>
                  <a:rPr lang="en-IN" sz="2400">
                    <a:solidFill>
                      <a:srgbClr val="111827"/>
                    </a:solidFill>
                    <a:latin typeface="Cambria Math" panose="02040503050406030204" pitchFamily="18" charset="0"/>
                  </a:rPr>
                  <a:t>$\gcd(5,11)=1$</a:t>
                </a:r>
                <a:r>
                  <a:rPr sz="2400" b="0">
                    <a:solidFill>
                      <a:srgbClr val="111827"/>
                    </a:solidFill>
                    <a:latin typeface="Arial"/>
                  </a:rPr>
                  <a:t>, </a:t>
                </a:r>
                <a:r>
                  <a:rPr lang="en-IN" sz="2400">
                    <a:solidFill>
                      <a:srgbClr val="111827"/>
                    </a:solidFill>
                    <a:latin typeface="Cambria Math" panose="02040503050406030204" pitchFamily="18" charset="0"/>
                  </a:rPr>
                  <a:t>$5^{10}\equiv1\pmod{11}$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$5^{99}\cdot5=5^{100}=\left(5^{10}\right)^{10}\equiv1$</a:t>
                </a:r>
                <a:r>
                  <a:rPr sz="2400" b="0">
                    <a:solidFill>
                      <a:srgbClr val="111827"/>
                    </a:solidFill>
                    <a:latin typeface="Arial"/>
                  </a:rPr>
                  <a:t>, so </a:t>
                </a:r>
                <a:r>
                  <a:rPr lang="en-IN" sz="2400">
                    <a:solidFill>
                      <a:srgbClr val="111827"/>
                    </a:solidFill>
                    <a:latin typeface="Cambria Math" panose="02040503050406030204" pitchFamily="18" charset="0"/>
                  </a:rPr>
                  <a:t>$5^{99}$</a:t>
                </a:r>
                <a:r>
                  <a:rPr sz="2400" b="0">
                    <a:solidFill>
                      <a:srgbClr val="111827"/>
                    </a:solidFill>
                    <a:latin typeface="Arial"/>
                  </a:rPr>
                  <a:t> is the inverse of </a:t>
                </a:r>
                <a:r>
                  <a:rPr lang="en-IN" sz="2400">
                    <a:solidFill>
                      <a:srgbClr val="111827"/>
                    </a:solidFill>
                    <a:latin typeface="Cambria Math" panose="02040503050406030204" pitchFamily="18" charset="0"/>
                  </a:rPr>
                  <a:t>$5$</a:t>
                </a:r>
                <a:r>
                  <a:rPr sz="2400" b="0">
                    <a:solidFill>
                      <a:srgbClr val="111827"/>
                    </a:solidFill>
                    <a:latin typeface="Arial"/>
                  </a:rPr>
                  <a:t> modulo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$5\cdot9=45=44+1\equiv1$</a:t>
                </a:r>
                <a:r>
                  <a:rPr sz="2400" b="0">
                    <a:solidFill>
                      <a:srgbClr val="111827"/>
                    </a:solidFill>
                    <a:latin typeface="Arial"/>
                  </a:rPr>
                  <a:t>, so </a:t>
                </a:r>
                <a:r>
                  <a:rPr lang="en-IN" sz="2400">
                    <a:solidFill>
                      <a:srgbClr val="111827"/>
                    </a:solidFill>
                    <a:latin typeface="Cambria Math" panose="02040503050406030204" pitchFamily="18" charset="0"/>
                  </a:rPr>
                  <a:t>$5^{99}\equiv9\pmod{11}$</a:t>
                </a:r>
                <a:r>
                  <a:rPr sz="2400" b="0">
                    <a:solidFill>
                      <a:srgbClr val="111827"/>
                    </a:solidFill>
                    <a:latin typeface="Arial"/>
                  </a:rPr>
                  <a:t>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9</a:t>
            </a:r>
            <a:endParaRPr sz="2800">
              <a:solidFill>
                <a:srgbClr val="15803D"/>
              </a:solidFill>
            </a:endParaRP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Fermat: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prime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Finding a small power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reduces any large exponent.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99</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100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Fermat: </a:t>
                </a:r>
                <a:r>
                  <a:rPr lang="en-IN" sz="2400">
                    <a:solidFill>
                      <a:srgbClr val="111827"/>
                    </a:solidFill>
                    <a:latin typeface="Cambria Math" panose="02040503050406030204" pitchFamily="18" charset="0"/>
                  </a:rPr>
                  <a:t>$a^{p-1}\equiv1\pmod p$</a:t>
                </a:r>
                <a:r>
                  <a:rPr sz="2400" b="0">
                    <a:solidFill>
                      <a:srgbClr val="111827"/>
                    </a:solidFill>
                    <a:latin typeface="Arial"/>
                  </a:rPr>
                  <a:t> for prime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$p\nmid a$</a:t>
                </a:r>
                <a:r>
                  <a:rPr sz="2400" b="0">
                    <a:solidFill>
                      <a:srgbClr val="111827"/>
                    </a:solidFill>
                    <a:latin typeface="Arial"/>
                  </a:rPr>
                  <a:t>, so </a:t>
                </a:r>
                <a:r>
                  <a:rPr lang="en-IN" sz="2400">
                    <a:solidFill>
                      <a:srgbClr val="111827"/>
                    </a:solidFill>
                    <a:latin typeface="Cambria Math" panose="02040503050406030204" pitchFamily="18" charset="0"/>
                  </a:rPr>
                  <a:t>$a^{n}\equiv a^{n\bmod(p-1)}$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Finding a small power </a:t>
                </a:r>
                <a:r>
                  <a:rPr lang="en-IN" sz="2400">
                    <a:solidFill>
                      <a:srgbClr val="111827"/>
                    </a:solidFill>
                    <a:latin typeface="Cambria Math" panose="02040503050406030204" pitchFamily="18" charset="0"/>
                  </a:rPr>
                  <a:t>$a^k\equiv\pm1$</a:t>
                </a:r>
                <a:r>
                  <a:rPr sz="2400" b="0">
                    <a:solidFill>
                      <a:srgbClr val="111827"/>
                    </a:solidFill>
                    <a:latin typeface="Arial"/>
                  </a:rPr>
                  <a:t> (</a:t>
                </a:r>
                <a:r>
                  <a:rPr lang="en-IN" sz="2400">
                    <a:solidFill>
                      <a:srgbClr val="111827"/>
                    </a:solidFill>
                    <a:latin typeface="Cambria Math" panose="02040503050406030204" pitchFamily="18" charset="0"/>
                  </a:rPr>
                  <a:t>$5^5\equiv1\pmod{11}$</a:t>
                </a:r>
                <a:r>
                  <a:rPr sz="2400" b="0">
                    <a:solidFill>
                      <a:srgbClr val="111827"/>
                    </a:solidFill>
                    <a:latin typeface="Arial"/>
                  </a:rPr>
                  <a:t>) reduces any large exponent.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$a^{p-2}\equiv a^{-1}\pmod p$</a:t>
                </a:r>
                <a:r>
                  <a:rPr sz="2400" b="0">
                    <a:solidFill>
                      <a:srgbClr val="111827"/>
                    </a:solidFill>
                    <a:latin typeface="Arial"/>
                  </a:rPr>
                  <a:t>: here </a:t>
                </a:r>
                <a:r>
                  <a:rPr lang="en-IN" sz="2400">
                    <a:solidFill>
                      <a:srgbClr val="111827"/>
                    </a:solidFill>
                    <a:latin typeface="Cambria Math" panose="02040503050406030204" pitchFamily="18" charset="0"/>
                  </a:rPr>
                  <a:t>$5^{99}=5^{100}/5\equiv5^{-1}$</a:t>
                </a:r>
                <a:r>
                  <a:rPr sz="2400" b="0">
                    <a:solidFill>
                      <a:srgbClr val="111827"/>
                    </a:solidFill>
                    <a:latin typeface="Arial"/>
                  </a:rPr>
                  <a:t> because </a:t>
                </a:r>
                <a:r>
                  <a:rPr lang="en-IN" sz="2400">
                    <a:solidFill>
                      <a:srgbClr val="111827"/>
                    </a:solidFill>
                    <a:latin typeface="Cambria Math" panose="02040503050406030204" pitchFamily="18" charset="0"/>
                  </a:rPr>
                  <a:t>$100=10\cdot10$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$5^2=25\equiv3$</a:t>
                </a:r>
                <a:r>
                  <a:rPr sz="2400" b="0">
                    <a:solidFill>
                      <a:srgbClr val="111827"/>
                    </a:solidFill>
                    <a:latin typeface="Arial"/>
                  </a:rPr>
                  <a:t>, </a:t>
                </a:r>
                <a:r>
                  <a:rPr lang="en-IN" sz="2400">
                    <a:solidFill>
                      <a:srgbClr val="111827"/>
                    </a:solidFill>
                    <a:latin typeface="Cambria Math" panose="02040503050406030204" pitchFamily="18" charset="0"/>
                  </a:rPr>
                  <a:t>$5^4\equiv9$</a:t>
                </a:r>
                <a:r>
                  <a:rPr sz="2400" b="0">
                    <a:solidFill>
                      <a:srgbClr val="111827"/>
                    </a:solidFill>
                    <a:latin typeface="Arial"/>
                  </a:rPr>
                  <a:t>, </a:t>
                </a:r>
                <a:r>
                  <a:rPr lang="en-IN" sz="2400">
                    <a:solidFill>
                      <a:srgbClr val="111827"/>
                    </a:solidFill>
                    <a:latin typeface="Cambria Math" panose="02040503050406030204" pitchFamily="18" charset="0"/>
                  </a:rPr>
                  <a:t>$5^5\equiv45\equiv1\pmod{11}$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remainder, when </a:t>
                </a:r>
                <a14:m>
                  <m:oMath xmlns:m="http://schemas.openxmlformats.org/officeDocument/2006/math">
                    <m:sSup>
                      <m:e>
                        <m:r>
                          <a:rPr lang="en-IN" sz="2400" i="1">
                            <a:solidFill>
                              <a:srgbClr val="111827"/>
                            </a:solidFill>
                            <a:latin typeface="Cambria Math" panose="02040503050406030204" pitchFamily="18" charset="0"/>
                          </a:rPr>
                          <m:t>19</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23</m:t>
                        </m:r>
                      </m:e>
                      <m:sup>
                        <m:r>
                          <a:rPr lang="en-IN" sz="2400" i="1">
                            <a:solidFill>
                              <a:srgbClr val="111827"/>
                            </a:solidFill>
                            <a:latin typeface="Cambria Math" panose="02040503050406030204" pitchFamily="18" charset="0"/>
                          </a:rPr>
                          <m:t>200</m:t>
                        </m:r>
                      </m:sup>
                    </m:sSup>
                  </m:oMath>
                </a14:m>
                <a:r>
                  <a:rPr sz="2400" b="0">
                    <a:solidFill>
                      <a:srgbClr val="111827"/>
                    </a:solidFill>
                    <a:latin typeface="Arial"/>
                  </a:rPr>
                  <a:t> is divided by </a:t>
                </a:r>
                <a14:m>
                  <m:oMath xmlns:m="http://schemas.openxmlformats.org/officeDocument/2006/math">
                    <m:r>
                      <a:rPr lang="en-IN" sz="2400" i="1">
                        <a:solidFill>
                          <a:srgbClr val="111827"/>
                        </a:solidFill>
                        <a:latin typeface="Cambria Math" panose="02040503050406030204" pitchFamily="18" charset="0"/>
                      </a:rPr>
                      <m:t>49</m:t>
                    </m:r>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remainder, when </a:t>
                </a:r>
                <a:r>
                  <a:rPr lang="en-IN" sz="2400">
                    <a:solidFill>
                      <a:srgbClr val="111827"/>
                    </a:solidFill>
                    <a:latin typeface="Cambria Math" panose="02040503050406030204" pitchFamily="18" charset="0"/>
                  </a:rPr>
                  <a:t>$19^{200}+23^{200}$</a:t>
                </a:r>
                <a:r>
                  <a:rPr sz="2400" b="0">
                    <a:solidFill>
                      <a:srgbClr val="111827"/>
                    </a:solidFill>
                    <a:latin typeface="Arial"/>
                  </a:rPr>
                  <a:t> is divided by </a:t>
                </a:r>
                <a:r>
                  <a:rPr lang="en-IN" sz="2400">
                    <a:solidFill>
                      <a:srgbClr val="111827"/>
                    </a:solidFill>
                    <a:latin typeface="Cambria Math" panose="02040503050406030204" pitchFamily="18" charset="0"/>
                  </a:rPr>
                  <a:t>$49$</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Remainder (divisibility) using the binomial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19</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23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terms with </a:t>
                </a:r>
                <a14:m>
                  <m:oMath xmlns:m="http://schemas.openxmlformats.org/officeDocument/2006/math">
                    <m:sSup>
                      <m:e>
                        <m:r>
                          <a:rPr lang="en-IN" sz="2400" i="1">
                            <a:solidFill>
                              <a:srgbClr val="78350F"/>
                            </a:solidFill>
                            <a:latin typeface="Cambria Math" panose="02040503050406030204" pitchFamily="18" charset="0"/>
                          </a:rPr>
                          <m:t>21</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49</m:t>
                    </m:r>
                  </m:oMath>
                </a14:m>
                <a:r>
                  <a:rPr sz="2400" b="0">
                    <a:solidFill>
                      <a:srgbClr val="78350F"/>
                    </a:solidFill>
                    <a:latin typeface="Arial"/>
                  </a:rPr>
                  <a:t> vanish, leaving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200</m:t>
                        </m:r>
                      </m:sup>
                    </m:sSup>
                  </m:oMath>
                </a14:m>
                <a:r>
                  <a:rPr sz="2400" b="0">
                    <a:solidFill>
                      <a:srgbClr val="78350F"/>
                    </a:solidFill>
                    <a:latin typeface="Arial"/>
                  </a:rPr>
                  <a:t> to reduce by </a:t>
                </a:r>
                <a14:m>
                  <m:oMath xmlns:m="http://schemas.openxmlformats.org/officeDocument/2006/math">
                    <m:sSup>
                      <m:e>
                        <m:r>
                          <a:rPr lang="en-IN" sz="2400" i="1">
                            <a:solidFill>
                              <a:srgbClr val="78350F"/>
                            </a:solidFill>
                            <a:latin typeface="Cambria Math" panose="02040503050406030204" pitchFamily="18" charset="0"/>
                          </a:rPr>
                          <m:t>8</m:t>
                        </m:r>
                      </m:e>
                      <m:sup>
                        <m:r>
                          <a:rPr lang="en-IN" sz="2400" i="1">
                            <a:solidFill>
                              <a:srgbClr val="78350F"/>
                            </a:solidFill>
                            <a:latin typeface="Cambria Math" panose="02040503050406030204" pitchFamily="18" charset="0"/>
                          </a:rPr>
                          <m:t>67</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67</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r>
                  <a:rPr lang="en-IN" sz="2400">
                    <a:solidFill>
                      <a:srgbClr val="78350F"/>
                    </a:solidFill>
                    <a:latin typeface="Cambria Math" panose="02040503050406030204" pitchFamily="18" charset="0"/>
                  </a:rPr>
                  <a:t>$19=21-2$</a:t>
                </a:r>
                <a:r>
                  <a:rPr sz="2400" b="0">
                    <a:solidFill>
                      <a:srgbClr val="78350F"/>
                    </a:solidFill>
                    <a:latin typeface="Arial"/>
                  </a:rPr>
                  <a:t> and </a:t>
                </a:r>
                <a:r>
                  <a:rPr lang="en-IN" sz="2400">
                    <a:solidFill>
                      <a:srgbClr val="78350F"/>
                    </a:solidFill>
                    <a:latin typeface="Cambria Math" panose="02040503050406030204" pitchFamily="18" charset="0"/>
                  </a:rPr>
                  <a:t>$23=21+2$</a:t>
                </a:r>
                <a:r>
                  <a:rPr sz="2400" b="0">
                    <a:solidFill>
                      <a:srgbClr val="78350F"/>
                    </a:solidFill>
                    <a:latin typeface="Arial"/>
                  </a:rPr>
                  <a:t>; terms with </a:t>
                </a:r>
                <a:r>
                  <a:rPr lang="en-IN" sz="2400">
                    <a:solidFill>
                      <a:srgbClr val="78350F"/>
                    </a:solidFill>
                    <a:latin typeface="Cambria Math" panose="02040503050406030204" pitchFamily="18" charset="0"/>
                  </a:rPr>
                  <a:t>$21^2=9\cdot49$</a:t>
                </a:r>
                <a:r>
                  <a:rPr sz="2400" b="0">
                    <a:solidFill>
                      <a:srgbClr val="78350F"/>
                    </a:solidFill>
                    <a:latin typeface="Arial"/>
                  </a:rPr>
                  <a:t> vanish, leaving </a:t>
                </a:r>
                <a:r>
                  <a:rPr lang="en-IN" sz="2400">
                    <a:solidFill>
                      <a:srgbClr val="78350F"/>
                    </a:solidFill>
                    <a:latin typeface="Cambria Math" panose="02040503050406030204" pitchFamily="18" charset="0"/>
                  </a:rPr>
                  <a:t>$2\cdot2^{200}$</a:t>
                </a:r>
                <a:r>
                  <a:rPr sz="2400" b="0">
                    <a:solidFill>
                      <a:srgbClr val="78350F"/>
                    </a:solidFill>
                    <a:latin typeface="Arial"/>
                  </a:rPr>
                  <a:t> to reduce by </a:t>
                </a:r>
                <a:r>
                  <a:rPr lang="en-IN" sz="2400">
                    <a:solidFill>
                      <a:srgbClr val="78350F"/>
                    </a:solidFill>
                    <a:latin typeface="Cambria Math" panose="02040503050406030204" pitchFamily="18" charset="0"/>
                  </a:rPr>
                  <a:t>$8^{67}=(7+1)^{67}$</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19</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23</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200</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sum the odd powers of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cancel, and every term containing </a:t>
                </a:r>
                <a14:m>
                  <m:oMath xmlns:m="http://schemas.openxmlformats.org/officeDocument/2006/math">
                    <m:sSup>
                      <m:e>
                        <m:r>
                          <a:rPr lang="en-IN" sz="2400" i="1">
                            <a:solidFill>
                              <a:srgbClr val="111827"/>
                            </a:solidFill>
                            <a:latin typeface="Cambria Math" panose="02040503050406030204" pitchFamily="18" charset="0"/>
                          </a:rPr>
                          <m:t>21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49</m:t>
                    </m:r>
                  </m:oMath>
                </a14:m>
                <a:r>
                  <a:rPr sz="2400" b="0">
                    <a:solidFill>
                      <a:srgbClr val="111827"/>
                    </a:solidFill>
                    <a:latin typeface="Arial"/>
                  </a:rPr>
                  <a:t>; also the terms with </a:t>
                </a:r>
                <a14:m>
                  <m:oMath xmlns:m="http://schemas.openxmlformats.org/officeDocument/2006/math">
                    <m:sSup>
                      <m:e>
                        <m:r>
                          <a:rPr lang="en-IN" sz="2400" i="1">
                            <a:solidFill>
                              <a:srgbClr val="111827"/>
                            </a:solidFill>
                            <a:latin typeface="Cambria Math" panose="02040503050406030204" pitchFamily="18" charset="0"/>
                          </a:rPr>
                          <m:t>21</m:t>
                        </m:r>
                      </m:e>
                      <m:sup>
                        <m:r>
                          <a:rPr lang="en-IN" sz="2400" i="1">
                            <a:solidFill>
                              <a:srgbClr val="111827"/>
                            </a:solidFill>
                            <a:latin typeface="Cambria Math" panose="02040503050406030204" pitchFamily="18" charset="0"/>
                          </a:rPr>
                          <m:t>1</m:t>
                        </m:r>
                      </m:sup>
                    </m:sSup>
                  </m:oMath>
                </a14:m>
                <a:r>
                  <a:rPr sz="2400" b="0">
                    <a:solidFill>
                      <a:srgbClr val="111827"/>
                    </a:solidFill>
                    <a:latin typeface="Arial"/>
                  </a:rPr>
                  <a:t>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19</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23</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201</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$19^{200}+23^{200}=(21-2)^{200}+(21+2)^{200}$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sum the odd powers of </a:t>
                </a:r>
                <a:r>
                  <a:rPr lang="en-IN" sz="2400">
                    <a:solidFill>
                      <a:srgbClr val="111827"/>
                    </a:solidFill>
                    <a:latin typeface="Cambria Math" panose="02040503050406030204" pitchFamily="18" charset="0"/>
                  </a:rPr>
                  <a:t>$2$</a:t>
                </a:r>
                <a:r>
                  <a:rPr sz="2400" b="0">
                    <a:solidFill>
                      <a:srgbClr val="111827"/>
                    </a:solidFill>
                    <a:latin typeface="Arial"/>
                  </a:rPr>
                  <a:t> cancel, and every term containing </a:t>
                </a:r>
                <a:r>
                  <a:rPr lang="en-IN" sz="2400">
                    <a:solidFill>
                      <a:srgbClr val="111827"/>
                    </a:solidFill>
                    <a:latin typeface="Cambria Math" panose="02040503050406030204" pitchFamily="18" charset="0"/>
                  </a:rPr>
                  <a:t>$21^2=441=9\cdot49$</a:t>
                </a:r>
                <a:r>
                  <a:rPr sz="2400" b="0">
                    <a:solidFill>
                      <a:srgbClr val="111827"/>
                    </a:solidFill>
                    <a:latin typeface="Arial"/>
                  </a:rPr>
                  <a:t> is divisible by </a:t>
                </a:r>
                <a:r>
                  <a:rPr lang="en-IN" sz="2400">
                    <a:solidFill>
                      <a:srgbClr val="111827"/>
                    </a:solidFill>
                    <a:latin typeface="Cambria Math" panose="02040503050406030204" pitchFamily="18" charset="0"/>
                  </a:rPr>
                  <a:t>$49$</a:t>
                </a:r>
                <a:r>
                  <a:rPr sz="2400" b="0">
                    <a:solidFill>
                      <a:srgbClr val="111827"/>
                    </a:solidFill>
                    <a:latin typeface="Arial"/>
                  </a:rPr>
                  <a:t>; also the terms with </a:t>
                </a:r>
                <a:r>
                  <a:rPr lang="en-IN" sz="2400">
                    <a:solidFill>
                      <a:srgbClr val="111827"/>
                    </a:solidFill>
                    <a:latin typeface="Cambria Math" panose="02040503050406030204" pitchFamily="18" charset="0"/>
                  </a:rPr>
                  <a:t>$21^1$</a:t>
                </a:r>
                <a:r>
                  <a:rPr sz="2400" b="0">
                    <a:solidFill>
                      <a:srgbClr val="111827"/>
                    </a:solidFill>
                    <a:latin typeface="Arial"/>
                  </a:rPr>
                  <a:t>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$19^{200}+23^{200}=49\lambda+2\cdot2^{200}=49\lambda+2^{201}$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201</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67</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67</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67</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470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19</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23</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remainder is </a:t>
                </a:r>
                <a14:m>
                  <m:oMath xmlns:m="http://schemas.openxmlformats.org/officeDocument/2006/math">
                    <m:r>
                      <a:rPr lang="en-IN" sz="2400" i="1">
                        <a:solidFill>
                          <a:srgbClr val="111827"/>
                        </a:solidFill>
                        <a:latin typeface="Cambria Math" panose="02040503050406030204" pitchFamily="18" charset="0"/>
                      </a:rPr>
                      <m:t>29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$2^{201}=\left(2^3\right)^{67}=8^{67}=(7+1)^{67}=49\mu+\binom{67}{1}\cdot7+1=49\mu+470$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$470=49\cdot9+29$</a:t>
                </a:r>
                <a:r>
                  <a:rPr sz="2400" b="0">
                    <a:solidFill>
                      <a:srgbClr val="111827"/>
                    </a:solidFill>
                    <a:latin typeface="Arial"/>
                  </a:rPr>
                  <a:t>, so </a:t>
                </a:r>
                <a:r>
                  <a:rPr lang="en-IN" sz="2400">
                    <a:solidFill>
                      <a:srgbClr val="111827"/>
                    </a:solidFill>
                    <a:latin typeface="Cambria Math" panose="02040503050406030204" pitchFamily="18" charset="0"/>
                  </a:rPr>
                  <a:t>$19^{200}+23^{200}=49(\lambda+\mu+9)+29$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remainder is </a:t>
                </a:r>
                <a:r>
                  <a:rPr lang="en-IN" sz="2400">
                    <a:solidFill>
                      <a:srgbClr val="111827"/>
                    </a:solidFill>
                    <a:latin typeface="Cambria Math" panose="02040503050406030204" pitchFamily="18" charset="0"/>
                  </a:rPr>
                  <a:t>$29$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29</a:t>
            </a:r>
            <a:endParaRPr sz="2800">
              <a:solidFill>
                <a:srgbClr val="15803D"/>
              </a:solidFill>
            </a:endParaRP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Compute the multiplicative behaviour of each base modulo </a:t>
                </a:r>
                <a14:m>
                  <m:oMath xmlns:m="http://schemas.openxmlformats.org/officeDocument/2006/math">
                    <m:r>
                      <a:rPr lang="en-IN" sz="2400" i="1">
                        <a:solidFill>
                          <a:srgbClr val="78350F"/>
                        </a:solidFill>
                        <a:latin typeface="Cambria Math" panose="02040503050406030204" pitchFamily="18" charset="0"/>
                      </a:rPr>
                      <m:t>49</m:t>
                    </m:r>
                  </m:oMath>
                </a14:m>
                <a:r>
                  <a:rPr sz="2400" b="0">
                    <a:solidFill>
                      <a:srgbClr val="78350F"/>
                    </a:solidFill>
                    <a:latin typeface="Arial"/>
                  </a:rPr>
                  <a:t>: </a:t>
                </a:r>
                <a14:m>
                  <m:oMath xmlns:m="http://schemas.openxmlformats.org/officeDocument/2006/math">
                    <m:sSup>
                      <m:e>
                        <m:r>
                          <a:rPr lang="en-IN" sz="2400" i="1">
                            <a:solidFill>
                              <a:srgbClr val="78350F"/>
                            </a:solidFill>
                            <a:latin typeface="Cambria Math" panose="02040503050406030204" pitchFamily="18" charset="0"/>
                          </a:rPr>
                          <m:t>19</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23</m:t>
                        </m:r>
                      </m:e>
                      <m:sup>
                        <m:r>
                          <a:rPr lang="en-IN" sz="2400" i="1">
                            <a:solidFill>
                              <a:srgbClr val="78350F"/>
                            </a:solidFill>
                            <a:latin typeface="Cambria Math" panose="02040503050406030204" pitchFamily="18" charset="0"/>
                          </a:rPr>
                          <m:t>4</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Compute the multiplicative behaviour of each base modulo </a:t>
                </a:r>
                <a:r>
                  <a:rPr lang="en-IN" sz="2400">
                    <a:solidFill>
                      <a:srgbClr val="78350F"/>
                    </a:solidFill>
                    <a:latin typeface="Cambria Math" panose="02040503050406030204" pitchFamily="18" charset="0"/>
                  </a:rPr>
                  <a:t>$49$</a:t>
                </a:r>
                <a:r>
                  <a:rPr sz="2400" b="0">
                    <a:solidFill>
                      <a:srgbClr val="78350F"/>
                    </a:solidFill>
                    <a:latin typeface="Arial"/>
                  </a:rPr>
                  <a:t>: </a:t>
                </a:r>
                <a:r>
                  <a:rPr lang="en-IN" sz="2400">
                    <a:solidFill>
                      <a:srgbClr val="78350F"/>
                    </a:solidFill>
                    <a:latin typeface="Cambria Math" panose="02040503050406030204" pitchFamily="18" charset="0"/>
                  </a:rPr>
                  <a:t>$19^3\equiv-1$</a:t>
                </a:r>
                <a:r>
                  <a:rPr sz="2400" b="0">
                    <a:solidFill>
                      <a:srgbClr val="78350F"/>
                    </a:solidFill>
                    <a:latin typeface="Arial"/>
                  </a:rPr>
                  <a:t> and </a:t>
                </a:r>
                <a:r>
                  <a:rPr lang="en-IN" sz="2400">
                    <a:solidFill>
                      <a:srgbClr val="78350F"/>
                    </a:solidFill>
                    <a:latin typeface="Cambria Math" panose="02040503050406030204" pitchFamily="18" charset="0"/>
                  </a:rPr>
                  <a:t>$23^4\equiv2$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19</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19</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6859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19</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19</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19</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23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23</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$19^2=361\equiv18$</a:t>
                </a:r>
                <a:r>
                  <a:rPr sz="2400" b="0">
                    <a:solidFill>
                      <a:srgbClr val="111827"/>
                    </a:solidFill>
                    <a:latin typeface="Arial"/>
                  </a:rPr>
                  <a:t> and </a:t>
                </a:r>
                <a:r>
                  <a:rPr lang="en-IN" sz="2400">
                    <a:solidFill>
                      <a:srgbClr val="111827"/>
                    </a:solidFill>
                    <a:latin typeface="Cambria Math" panose="02040503050406030204" pitchFamily="18" charset="0"/>
                  </a:rPr>
                  <a:t>$19^3=6859=49\cdot140-1\equiv-1\pmod{49}$</a:t>
                </a:r>
                <a:r>
                  <a:rPr sz="2400" b="0">
                    <a:solidFill>
                      <a:srgbClr val="111827"/>
                    </a:solidFill>
                    <a:latin typeface="Arial"/>
                  </a:rPr>
                  <a:t>, so </a:t>
                </a:r>
                <a:r>
                  <a:rPr lang="en-IN" sz="2400">
                    <a:solidFill>
                      <a:srgbClr val="111827"/>
                    </a:solidFill>
                    <a:latin typeface="Cambria Math" panose="02040503050406030204" pitchFamily="18" charset="0"/>
                  </a:rPr>
                  <a:t>$19^6\equiv1$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$200=6\cdot33+2$</a:t>
                </a:r>
                <a:r>
                  <a:rPr sz="2400" b="0">
                    <a:solidFill>
                      <a:srgbClr val="111827"/>
                    </a:solidFill>
                    <a:latin typeface="Arial"/>
                  </a:rPr>
                  <a:t>, so </a:t>
                </a:r>
                <a:r>
                  <a:rPr lang="en-IN" sz="2400">
                    <a:solidFill>
                      <a:srgbClr val="111827"/>
                    </a:solidFill>
                    <a:latin typeface="Cambria Math" panose="02040503050406030204" pitchFamily="18" charset="0"/>
                  </a:rPr>
                  <a:t>$19^{200}\equiv19^2\equiv18$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$23^2=529\equiv39\equiv-10$</a:t>
                </a:r>
                <a:r>
                  <a:rPr sz="2400" b="0">
                    <a:solidFill>
                      <a:srgbClr val="111827"/>
                    </a:solidFill>
                    <a:latin typeface="Arial"/>
                  </a:rPr>
                  <a:t> and </a:t>
                </a:r>
                <a:r>
                  <a:rPr lang="en-IN" sz="2400">
                    <a:solidFill>
                      <a:srgbClr val="111827"/>
                    </a:solidFill>
                    <a:latin typeface="Cambria Math" panose="02040503050406030204" pitchFamily="18" charset="0"/>
                  </a:rPr>
                  <a:t>$23^4\equiv100\equiv2\pmod{49}$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23</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23</m:t>
                                </m:r>
                              </m:e>
                              <m:sup>
                                <m:r>
                                  <a:rPr lang="en-IN" sz="2400" i="1">
                                    <a:solidFill>
                                      <a:srgbClr val="111827"/>
                                    </a:solidFill>
                                    <a:latin typeface="Cambria Math" panose="02040503050406030204" pitchFamily="18" charset="0"/>
                                  </a:rPr>
                                  <m:t>4</m:t>
                                </m:r>
                              </m:sup>
                            </m:sSup>
                          </m:e>
                        </m:d>
                      </m:e>
                      <m:sup>
                        <m:r>
                          <a:rPr lang="en-IN" sz="2400" i="1">
                            <a:solidFill>
                              <a:srgbClr val="111827"/>
                            </a:solidFill>
                            <a:latin typeface="Cambria Math" panose="02040503050406030204" pitchFamily="18" charset="0"/>
                          </a:rPr>
                          <m:t>50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50</m:t>
                        </m:r>
                      </m:sup>
                    </m:sSup>
                  </m:oMath>
                </a14:m>
                <a:r>
                  <a:rPr sz="2400" b="0">
                    <a:solidFill>
                      <a:srgbClr val="111827"/>
                    </a:solidFill>
                    <a:latin typeface="Arial"/>
                  </a:rPr>
                  <a:t>; also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(since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$200=4\cdot50$</a:t>
                </a:r>
                <a:r>
                  <a:rPr sz="2400" b="0">
                    <a:solidFill>
                      <a:srgbClr val="111827"/>
                    </a:solidFill>
                    <a:latin typeface="Arial"/>
                  </a:rPr>
                  <a:t>, so </a:t>
                </a:r>
                <a:r>
                  <a:rPr lang="en-IN" sz="2400">
                    <a:solidFill>
                      <a:srgbClr val="111827"/>
                    </a:solidFill>
                    <a:latin typeface="Cambria Math" panose="02040503050406030204" pitchFamily="18" charset="0"/>
                  </a:rPr>
                  <a:t>$23^{200}=\left(23^4\right)^{50}\equiv2^{50}$</a:t>
                </a:r>
                <a:r>
                  <a:rPr sz="2400" b="0">
                    <a:solidFill>
                      <a:srgbClr val="111827"/>
                    </a:solidFill>
                    <a:latin typeface="Arial"/>
                  </a:rPr>
                  <a:t>; also </a:t>
                </a:r>
                <a:r>
                  <a:rPr lang="en-IN" sz="2400">
                    <a:solidFill>
                      <a:srgbClr val="111827"/>
                    </a:solidFill>
                    <a:latin typeface="Cambria Math" panose="02040503050406030204" pitchFamily="18" charset="0"/>
                  </a:rPr>
                  <a:t>$2^{21}\equiv1\pmod{49}$</a:t>
                </a:r>
                <a:r>
                  <a:rPr sz="2400" b="0">
                    <a:solidFill>
                      <a:srgbClr val="111827"/>
                    </a:solidFill>
                    <a:latin typeface="Arial"/>
                  </a:rPr>
                  <a:t> (since </a:t>
                </a:r>
                <a:r>
                  <a:rPr lang="en-IN" sz="2400">
                    <a:solidFill>
                      <a:srgbClr val="111827"/>
                    </a:solidFill>
                    <a:latin typeface="Cambria Math" panose="02040503050406030204" pitchFamily="18" charset="0"/>
                  </a:rPr>
                  <a:t>$2^{7}=128\equiv30$</a:t>
                </a:r>
                <a:r>
                  <a:rPr sz="2400" b="0">
                    <a:solidFill>
                      <a:srgbClr val="111827"/>
                    </a:solidFill>
                    <a:latin typeface="Arial"/>
                  </a:rPr>
                  <a:t>, </a:t>
                </a:r>
                <a:r>
                  <a:rPr lang="en-IN" sz="2400">
                    <a:solidFill>
                      <a:srgbClr val="111827"/>
                    </a:solidFill>
                    <a:latin typeface="Cambria Math" panose="02040503050406030204" pitchFamily="18" charset="0"/>
                  </a:rPr>
                  <a:t>$2^{14}\equiv900\equiv18$</a:t>
                </a:r>
                <a:r>
                  <a:rPr sz="2400" b="0">
                    <a:solidFill>
                      <a:srgbClr val="111827"/>
                    </a:solidFill>
                    <a:latin typeface="Arial"/>
                  </a:rPr>
                  <a:t>, </a:t>
                </a:r>
                <a:r>
                  <a:rPr lang="en-IN" sz="2400">
                    <a:solidFill>
                      <a:srgbClr val="111827"/>
                    </a:solidFill>
                    <a:latin typeface="Cambria Math" panose="02040503050406030204" pitchFamily="18" charset="0"/>
                  </a:rPr>
                  <a:t>$2^{21}\equiv540\equiv1$</a:t>
                </a:r>
                <a:r>
                  <a:rPr sz="2400" b="0">
                    <a:solidFill>
                      <a:srgbClr val="111827"/>
                    </a:solidFill>
                    <a:latin typeface="Arial"/>
                  </a:rPr>
                  <a:t>), so </a:t>
                </a:r>
                <a:r>
                  <a:rPr lang="en-IN" sz="2400">
                    <a:solidFill>
                      <a:srgbClr val="111827"/>
                    </a:solidFill>
                    <a:latin typeface="Cambria Math" panose="02040503050406030204" pitchFamily="18" charset="0"/>
                  </a:rPr>
                  <a:t>$2^{50}=2^{42}\cdot2^8\equiv256\equiv11$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$\equiv18+11=29\pmod{49}$</a:t>
                </a:r>
                <a:r>
                  <a:rPr sz="2400" b="0">
                    <a:solidFill>
                      <a:srgbClr val="111827"/>
                    </a:solidFill>
                    <a:latin typeface="Arial"/>
                  </a:rPr>
                  <a:t>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29</a:t>
            </a:r>
            <a:endParaRPr sz="2800">
              <a:solidFill>
                <a:srgbClr val="15803D"/>
              </a:solidFill>
            </a:endParaRP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(odd powers of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cancel); if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only the pure power of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survives.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19</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23</m:t>
                        </m:r>
                      </m:e>
                      <m:sup>
                        <m:r>
                          <a:rPr lang="en-IN" sz="2400" i="1">
                            <a:solidFill>
                              <a:srgbClr val="111827"/>
                            </a:solidFill>
                            <a:latin typeface="Cambria Math" panose="02040503050406030204" pitchFamily="18" charset="0"/>
                          </a:rPr>
                          <m:t>200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200</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Order of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modulo </a:t>
                </a:r>
                <a14:m>
                  <m:oMath xmlns:m="http://schemas.openxmlformats.org/officeDocument/2006/math">
                    <m:r>
                      <a:rPr lang="en-IN" sz="2400" i="1">
                        <a:solidFill>
                          <a:srgbClr val="111827"/>
                        </a:solidFill>
                        <a:latin typeface="Cambria Math" panose="02040503050406030204" pitchFamily="18" charset="0"/>
                      </a:rPr>
                      <m:t>49</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so exponents can be reduced mod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$a^n+b^n$</a:t>
                </a:r>
                <a:r>
                  <a:rPr sz="2400" b="0">
                    <a:solidFill>
                      <a:srgbClr val="111827"/>
                    </a:solidFill>
                    <a:latin typeface="Arial"/>
                  </a:rPr>
                  <a:t> with </a:t>
                </a:r>
                <a:r>
                  <a:rPr lang="en-IN" sz="2400">
                    <a:solidFill>
                      <a:srgbClr val="111827"/>
                    </a:solidFill>
                    <a:latin typeface="Cambria Math" panose="02040503050406030204" pitchFamily="18" charset="0"/>
                  </a:rPr>
                  <a:t>$a+b=2c$</a:t>
                </a:r>
                <a:r>
                  <a:rPr sz="2400" b="0">
                    <a:solidFill>
                      <a:srgbClr val="111827"/>
                    </a:solidFill>
                    <a:latin typeface="Arial"/>
                  </a:rPr>
                  <a:t>, </a:t>
                </a:r>
                <a:r>
                  <a:rPr lang="en-IN" sz="2400">
                    <a:solidFill>
                      <a:srgbClr val="111827"/>
                    </a:solidFill>
                    <a:latin typeface="Cambria Math" panose="02040503050406030204" pitchFamily="18" charset="0"/>
                  </a:rPr>
                  <a:t>$a=c-d$</a:t>
                </a:r>
                <a:r>
                  <a:rPr sz="2400" b="0">
                    <a:solidFill>
                      <a:srgbClr val="111827"/>
                    </a:solidFill>
                    <a:latin typeface="Arial"/>
                  </a:rPr>
                  <a:t>, </a:t>
                </a:r>
                <a:r>
                  <a:rPr lang="en-IN" sz="2400">
                    <a:solidFill>
                      <a:srgbClr val="111827"/>
                    </a:solidFill>
                    <a:latin typeface="Cambria Math" panose="02040503050406030204" pitchFamily="18" charset="0"/>
                  </a:rPr>
                  <a:t>$b=c+d$</a:t>
                </a:r>
                <a:r>
                  <a:rPr sz="2400" b="0">
                    <a:solidFill>
                      <a:srgbClr val="111827"/>
                    </a:solidFill>
                    <a:latin typeface="Arial"/>
                  </a:rPr>
                  <a:t>: </a:t>
                </a:r>
                <a:r>
                  <a:rPr lang="en-IN" sz="2400">
                    <a:solidFill>
                      <a:srgbClr val="111827"/>
                    </a:solidFill>
                    <a:latin typeface="Cambria Math" panose="02040503050406030204" pitchFamily="18" charset="0"/>
                  </a:rPr>
                  <a:t>$(c-d)^n+(c+d)^n=2\left[c^n+\binom n2c^{n-2}d^2+\dots\right]$</a:t>
                </a:r>
                <a:r>
                  <a:rPr sz="2400" b="0">
                    <a:solidFill>
                      <a:srgbClr val="111827"/>
                    </a:solidFill>
                    <a:latin typeface="Arial"/>
                  </a:rPr>
                  <a:t> (odd powers of </a:t>
                </a:r>
                <a:r>
                  <a:rPr lang="en-IN" sz="2400">
                    <a:solidFill>
                      <a:srgbClr val="111827"/>
                    </a:solidFill>
                    <a:latin typeface="Cambria Math" panose="02040503050406030204" pitchFamily="18" charset="0"/>
                  </a:rPr>
                  <a:t>$d$</a:t>
                </a:r>
                <a:r>
                  <a:rPr sz="2400" b="0">
                    <a:solidFill>
                      <a:srgbClr val="111827"/>
                    </a:solidFill>
                    <a:latin typeface="Arial"/>
                  </a:rPr>
                  <a:t> cancel); if </a:t>
                </a:r>
                <a:r>
                  <a:rPr lang="en-IN" sz="2400">
                    <a:solidFill>
                      <a:srgbClr val="111827"/>
                    </a:solidFill>
                    <a:latin typeface="Cambria Math" panose="02040503050406030204" pitchFamily="18" charset="0"/>
                  </a:rPr>
                  <a:t>$m\mid c^2$</a:t>
                </a:r>
                <a:r>
                  <a:rPr sz="2400" b="0">
                    <a:solidFill>
                      <a:srgbClr val="111827"/>
                    </a:solidFill>
                    <a:latin typeface="Arial"/>
                  </a:rPr>
                  <a:t> only the pure power of </a:t>
                </a:r>
                <a:r>
                  <a:rPr lang="en-IN" sz="2400">
                    <a:solidFill>
                      <a:srgbClr val="111827"/>
                    </a:solidFill>
                    <a:latin typeface="Cambria Math" panose="02040503050406030204" pitchFamily="18" charset="0"/>
                  </a:rPr>
                  <a:t>$d$</a:t>
                </a:r>
                <a:r>
                  <a:rPr sz="2400" b="0">
                    <a:solidFill>
                      <a:srgbClr val="111827"/>
                    </a:solidFill>
                    <a:latin typeface="Arial"/>
                  </a:rPr>
                  <a:t> survives.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$c=21$</a:t>
                </a:r>
                <a:r>
                  <a:rPr sz="2400" b="0">
                    <a:solidFill>
                      <a:srgbClr val="111827"/>
                    </a:solidFill>
                    <a:latin typeface="Arial"/>
                  </a:rPr>
                  <a:t>, </a:t>
                </a:r>
                <a:r>
                  <a:rPr lang="en-IN" sz="2400">
                    <a:solidFill>
                      <a:srgbClr val="111827"/>
                    </a:solidFill>
                    <a:latin typeface="Cambria Math" panose="02040503050406030204" pitchFamily="18" charset="0"/>
                  </a:rPr>
                  <a:t>$c^2=9\cdot49$</a:t>
                </a:r>
                <a:r>
                  <a:rPr sz="2400" b="0">
                    <a:solidFill>
                      <a:srgbClr val="111827"/>
                    </a:solidFill>
                    <a:latin typeface="Arial"/>
                  </a:rPr>
                  <a:t>, so </a:t>
                </a:r>
                <a:r>
                  <a:rPr lang="en-IN" sz="2400">
                    <a:solidFill>
                      <a:srgbClr val="111827"/>
                    </a:solidFill>
                    <a:latin typeface="Cambria Math" panose="02040503050406030204" pitchFamily="18" charset="0"/>
                  </a:rPr>
                  <a:t>$19^{200}+23^{200}\equiv2\cdot2^{200}\pmod{49}$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Order of </a:t>
                </a:r>
                <a:r>
                  <a:rPr lang="en-IN" sz="2400">
                    <a:solidFill>
                      <a:srgbClr val="111827"/>
                    </a:solidFill>
                    <a:latin typeface="Cambria Math" panose="02040503050406030204" pitchFamily="18" charset="0"/>
                  </a:rPr>
                  <a:t>$2$</a:t>
                </a:r>
                <a:r>
                  <a:rPr sz="2400" b="0">
                    <a:solidFill>
                      <a:srgbClr val="111827"/>
                    </a:solidFill>
                    <a:latin typeface="Arial"/>
                  </a:rPr>
                  <a:t> modulo </a:t>
                </a:r>
                <a:r>
                  <a:rPr lang="en-IN" sz="2400">
                    <a:solidFill>
                      <a:srgbClr val="111827"/>
                    </a:solidFill>
                    <a:latin typeface="Cambria Math" panose="02040503050406030204" pitchFamily="18" charset="0"/>
                  </a:rPr>
                  <a:t>$49$</a:t>
                </a:r>
                <a:r>
                  <a:rPr sz="2400" b="0">
                    <a:solidFill>
                      <a:srgbClr val="111827"/>
                    </a:solidFill>
                    <a:latin typeface="Arial"/>
                  </a:rPr>
                  <a:t> is </a:t>
                </a:r>
                <a:r>
                  <a:rPr lang="en-IN" sz="2400">
                    <a:solidFill>
                      <a:srgbClr val="111827"/>
                    </a:solidFill>
                    <a:latin typeface="Cambria Math" panose="02040503050406030204" pitchFamily="18" charset="0"/>
                  </a:rPr>
                  <a:t>$21$</a:t>
                </a:r>
                <a:r>
                  <a:rPr sz="2400" b="0">
                    <a:solidFill>
                      <a:srgbClr val="111827"/>
                    </a:solidFill>
                    <a:latin typeface="Arial"/>
                  </a:rPr>
                  <a:t>, so exponents can be reduced mod </a:t>
                </a:r>
                <a:r>
                  <a:rPr lang="en-IN" sz="2400">
                    <a:solidFill>
                      <a:srgbClr val="111827"/>
                    </a:solidFill>
                    <a:latin typeface="Cambria Math" panose="02040503050406030204" pitchFamily="18" charset="0"/>
                  </a:rPr>
                  <a:t>$21$</a:t>
                </a:r>
                <a:r>
                  <a:rPr sz="2400" b="0">
                    <a:solidFill>
                      <a:srgbClr val="111827"/>
                    </a:solidFill>
                    <a:latin typeface="Arial"/>
                  </a:rPr>
                  <a:t>: </a:t>
                </a:r>
                <a:r>
                  <a:rPr lang="en-IN" sz="2400">
                    <a:solidFill>
                      <a:srgbClr val="111827"/>
                    </a:solidFill>
                    <a:latin typeface="Cambria Math" panose="02040503050406030204" pitchFamily="18" charset="0"/>
                  </a:rPr>
                  <a:t>$2^{201}\equiv2^{12}=4096\equiv29$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$2^{12}=4096=49\cdot83+29$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sixth term in the binomial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2</m:t>
                                    </m:r>
                                  </m:e>
                                  <m:sup>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up>
                                </m:sSup>
                              </m:e>
                            </m:rad>
                            <m:r>
                              <m:rPr>
                                <m:sty m:val="p"/>
                              </m:rPr>
                              <a:rPr lang="en-IN" sz="2400">
                                <a:solidFill>
                                  <a:srgbClr val="111827"/>
                                </a:solidFill>
                                <a:latin typeface="Cambria Math" panose="02040503050406030204" pitchFamily="18" charset="0"/>
                              </a:rPr>
                              <m:t>+</m:t>
                            </m:r>
                            <m:rad>
                              <m:deg>
                                <m:r>
                                  <a:rPr lang="en-IN" sz="2400" i="1">
                                    <a:solidFill>
                                      <a:srgbClr val="111827"/>
                                    </a:solidFill>
                                    <a:latin typeface="Cambria Math" panose="02040503050406030204" pitchFamily="18" charset="0"/>
                                  </a:rPr>
                                  <m:t>5</m:t>
                                </m:r>
                              </m:deg>
                              <m:e>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23</m:t>
                                        </m:r>
                                      </m:sub>
                                    </m:sSub>
                                  </m:sup>
                                </m:sSup>
                              </m:e>
                            </m:rad>
                          </m:e>
                        </m:d>
                      </m:e>
                      <m:sup>
                        <m:r>
                          <a:rPr lang="en-IN" sz="2400" i="1">
                            <a:solidFill>
                              <a:srgbClr val="111827"/>
                            </a:solidFill>
                            <a:latin typeface="Cambria Math" panose="02040503050406030204" pitchFamily="18" charset="0"/>
                          </a:rPr>
                          <m:t>𝑚</m:t>
                        </m:r>
                      </m:sup>
                    </m:sSup>
                  </m:oMath>
                </a14:m>
                <a:r>
                  <a:rPr sz="2400" b="0">
                    <a:solidFill>
                      <a:srgbClr val="111827"/>
                    </a:solidFill>
                    <a:latin typeface="Arial"/>
                  </a:rPr>
                  <a:t>, in the increasing powers of </a:t>
                </a:r>
                <a14:m>
                  <m:oMath xmlns:m="http://schemas.openxmlformats.org/officeDocument/2006/math">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oMath>
                </a14:m>
                <a:r>
                  <a:rPr sz="2400" b="0">
                    <a:solidFill>
                      <a:srgbClr val="111827"/>
                    </a:solidFill>
                    <a:latin typeface="Arial"/>
                  </a:rPr>
                  <a:t>, be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If the binomial coefficients of the second, third and fourth terms in the expansion are respectively the first, third and fifth terms of an A.P., then the sum of the squares of all possible values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sixth term in the binomial expansion of </a:t>
                </a:r>
                <a:r>
                  <a:rPr lang="en-IN" sz="2400">
                    <a:solidFill>
                      <a:srgbClr val="111827"/>
                    </a:solidFill>
                    <a:latin typeface="Cambria Math" panose="02040503050406030204" pitchFamily="18" charset="0"/>
                  </a:rPr>
                  <a:t>$\left(\sqrt{2^{\log_2(10-3^x)}}+\sqrt[5]{2^{(x-2)\log_23}}\right)^{m}$</a:t>
                </a:r>
                <a:r>
                  <a:rPr sz="2400" b="0">
                    <a:solidFill>
                      <a:srgbClr val="111827"/>
                    </a:solidFill>
                    <a:latin typeface="Arial"/>
                  </a:rPr>
                  <a:t>, in the increasing powers of </a:t>
                </a:r>
                <a:r>
                  <a:rPr lang="en-IN" sz="2400">
                    <a:solidFill>
                      <a:srgbClr val="111827"/>
                    </a:solidFill>
                    <a:latin typeface="Cambria Math" panose="02040503050406030204" pitchFamily="18" charset="0"/>
                  </a:rPr>
                  <a:t>$2^{(x-2)\log_23/5}$</a:t>
                </a:r>
                <a:r>
                  <a:rPr sz="2400" b="0">
                    <a:solidFill>
                      <a:srgbClr val="111827"/>
                    </a:solidFill>
                    <a:latin typeface="Arial"/>
                  </a:rPr>
                  <a:t>, be </a:t>
                </a:r>
                <a:r>
                  <a:rPr lang="en-IN" sz="2400">
                    <a:solidFill>
                      <a:srgbClr val="111827"/>
                    </a:solidFill>
                    <a:latin typeface="Cambria Math" panose="02040503050406030204" pitchFamily="18" charset="0"/>
                  </a:rPr>
                  <a:t>$21$</a:t>
                </a:r>
                <a:r>
                  <a:rPr sz="2400" b="0">
                    <a:solidFill>
                      <a:srgbClr val="111827"/>
                    </a:solidFill>
                    <a:latin typeface="Arial"/>
                  </a:rPr>
                  <a:t>. If the binomial coefficients of the second, third and fourth terms in the expansion are respectively the first, third and fifth terms of an A.P., then the sum of the squares of all possible values of </a:t>
                </a:r>
                <a:r>
                  <a:rPr lang="en-IN" sz="2400">
                    <a:solidFill>
                      <a:srgbClr val="111827"/>
                    </a:solidFill>
                    <a:latin typeface="Cambria Math" panose="02040503050406030204" pitchFamily="18" charset="0"/>
                  </a:rPr>
                  <a:t>$x$</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4632452"/>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 Arithmetic progression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Simplify the two terms to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𝑥</m:t>
                        </m:r>
                      </m:sup>
                    </m:sSup>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p>
                    </m:sSup>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3</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sup>
                    </m:sSup>
                  </m:oMath>
                </a14:m>
                <a:r>
                  <a:rPr sz="2400" b="0">
                    <a:solidFill>
                      <a:srgbClr val="78350F"/>
                    </a:solidFill>
                    <a:latin typeface="Arial"/>
                  </a:rPr>
                  <a:t>; the A.P. condition gives </a:t>
                </a:r>
                <a14:m>
                  <m:oMath xmlns:m="http://schemas.openxmlformats.org/officeDocument/2006/math">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oMath>
                </a14:m>
                <a:r>
                  <a:rPr sz="2400" b="0">
                    <a:solidFill>
                      <a:srgbClr val="78350F"/>
                    </a:solidFill>
                    <a:latin typeface="Arial"/>
                  </a:rPr>
                  <a:t> and then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10</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𝑥</m:t>
                            </m:r>
                          </m:sup>
                        </m:sSup>
                      </m:e>
                    </m:d>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Simplify the two terms to </a:t>
                </a:r>
                <a:r>
                  <a:rPr lang="en-IN" sz="2400">
                    <a:solidFill>
                      <a:srgbClr val="78350F"/>
                    </a:solidFill>
                    <a:latin typeface="Cambria Math" panose="02040503050406030204" pitchFamily="18" charset="0"/>
                  </a:rPr>
                  <a:t>$(10-3^x)^{1/2}$</a:t>
                </a:r>
                <a:r>
                  <a:rPr sz="2400" b="0">
                    <a:solidFill>
                      <a:srgbClr val="78350F"/>
                    </a:solidFill>
                    <a:latin typeface="Arial"/>
                  </a:rPr>
                  <a:t> and </a:t>
                </a:r>
                <a:r>
                  <a:rPr lang="en-IN" sz="2400">
                    <a:solidFill>
                      <a:srgbClr val="78350F"/>
                    </a:solidFill>
                    <a:latin typeface="Cambria Math" panose="02040503050406030204" pitchFamily="18" charset="0"/>
                  </a:rPr>
                  <a:t>$3^{(x-2)/5}$</a:t>
                </a:r>
                <a:r>
                  <a:rPr sz="2400" b="0">
                    <a:solidFill>
                      <a:srgbClr val="78350F"/>
                    </a:solidFill>
                    <a:latin typeface="Arial"/>
                  </a:rPr>
                  <a:t>; the A.P. condition gives </a:t>
                </a:r>
                <a:r>
                  <a:rPr lang="en-IN" sz="2400">
                    <a:solidFill>
                      <a:srgbClr val="78350F"/>
                    </a:solidFill>
                    <a:latin typeface="Cambria Math" panose="02040503050406030204" pitchFamily="18" charset="0"/>
                  </a:rPr>
                  <a:t>$m=7$</a:t>
                </a:r>
                <a:r>
                  <a:rPr sz="2400" b="0">
                    <a:solidFill>
                      <a:srgbClr val="78350F"/>
                    </a:solidFill>
                    <a:latin typeface="Arial"/>
                  </a:rPr>
                  <a:t> and then </a:t>
                </a:r>
                <a:r>
                  <a:rPr lang="en-IN" sz="2400">
                    <a:solidFill>
                      <a:srgbClr val="78350F"/>
                    </a:solidFill>
                    <a:latin typeface="Cambria Math" panose="02040503050406030204" pitchFamily="18" charset="0"/>
                  </a:rPr>
                  <a:t>$\left(10-3^x\right)3^{x-2}=1$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Simplify: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2</m:t>
                            </m:r>
                          </m:e>
                          <m:sup>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up>
                        </m:sSup>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(needs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10</m:t>
                    </m:r>
                  </m:oMath>
                </a14:m>
                <a:r>
                  <a:rPr sz="2400" b="0">
                    <a:solidFill>
                      <a:srgbClr val="111827"/>
                    </a:solidFill>
                    <a:latin typeface="Arial"/>
                  </a:rPr>
                  <a:t>) and </a:t>
                </a:r>
                <a14:m>
                  <m:oMath xmlns:m="http://schemas.openxmlformats.org/officeDocument/2006/math">
                    <m:rad>
                      <m:deg>
                        <m:r>
                          <a:rPr lang="en-IN" sz="2400" i="1">
                            <a:solidFill>
                              <a:srgbClr val="111827"/>
                            </a:solidFill>
                            <a:latin typeface="Cambria Math" panose="02040503050406030204" pitchFamily="18" charset="0"/>
                          </a:rPr>
                          <m:t>5</m:t>
                        </m:r>
                      </m:deg>
                      <m:e>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23</m:t>
                                </m:r>
                              </m:sub>
                            </m:sSub>
                          </m:sup>
                        </m:sSup>
                      </m:e>
                    </m:rad>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Sixth term in increasing powers of the second term: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5</m:t>
                            </m:r>
                          </m:den>
                        </m:f>
                      </m:e>
                    </m:d>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e>
                        </m:d>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sSup>
                      <m:e>
                        <m:r>
                          <m:rPr>
                            <m:sty m:val="p"/>
                          </m:rPr>
                          <a:rPr lang="en-IN" sz="2400">
                            <a:solidFill>
                              <a:srgbClr val="111827"/>
                            </a:solidFill>
                            <a:latin typeface="Cambria Math" panose="02040503050406030204" pitchFamily="18" charset="0"/>
                          </a:rPr>
                          <m:t>)</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sup>
                    </m:sSup>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binomial coefficients of the 2nd, 3rd, 4th terms are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and they are the 1st, 3rd, 5th terms of an A.P., so </a:t>
                </a:r>
                <a14:m>
                  <m:oMath xmlns:m="http://schemas.openxmlformats.org/officeDocument/2006/math">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Simplify: </a:t>
                </a:r>
                <a:r>
                  <a:rPr lang="en-IN" sz="2400">
                    <a:solidFill>
                      <a:srgbClr val="111827"/>
                    </a:solidFill>
                    <a:latin typeface="Cambria Math" panose="02040503050406030204" pitchFamily="18" charset="0"/>
                  </a:rPr>
                  <a:t>$\sqrt{2^{\log_2(10-3^x)}}=(10-3^x)^{1/2}$</a:t>
                </a:r>
                <a:r>
                  <a:rPr sz="2400" b="0">
                    <a:solidFill>
                      <a:srgbClr val="111827"/>
                    </a:solidFill>
                    <a:latin typeface="Arial"/>
                  </a:rPr>
                  <a:t> (needs </a:t>
                </a:r>
                <a:r>
                  <a:rPr lang="en-IN" sz="2400">
                    <a:solidFill>
                      <a:srgbClr val="111827"/>
                    </a:solidFill>
                    <a:latin typeface="Cambria Math" panose="02040503050406030204" pitchFamily="18" charset="0"/>
                  </a:rPr>
                  <a:t>$3^x&lt;10$</a:t>
                </a:r>
                <a:r>
                  <a:rPr sz="2400" b="0">
                    <a:solidFill>
                      <a:srgbClr val="111827"/>
                    </a:solidFill>
                    <a:latin typeface="Arial"/>
                  </a:rPr>
                  <a:t>) and </a:t>
                </a:r>
                <a:r>
                  <a:rPr lang="en-IN" sz="2400">
                    <a:solidFill>
                      <a:srgbClr val="111827"/>
                    </a:solidFill>
                    <a:latin typeface="Cambria Math" panose="02040503050406030204" pitchFamily="18" charset="0"/>
                  </a:rPr>
                  <a:t>$\sqrt[5]{2^{(x-2)\log_23}}=\left(3^{x-2}\right)^{1/5}$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Sixth term in increasing powers of the second term: </a:t>
                </a:r>
                <a:r>
                  <a:rPr lang="en-IN" sz="2400">
                    <a:solidFill>
                      <a:srgbClr val="111827"/>
                    </a:solidFill>
                    <a:latin typeface="Cambria Math" panose="02040503050406030204" pitchFamily="18" charset="0"/>
                  </a:rPr>
                  <a:t>$T_6=\binom m5\left[(10-3^x)^{1/2}\right]^{m-5}\left[3^{(x-2)/5}\right]^5=\binom m5(10-3^x)^{\frac{m-5}{2}}3^{x-2}=21$</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binomial coefficients of the 2nd, 3rd, 4th terms are </a:t>
                </a:r>
                <a:r>
                  <a:rPr lang="en-IN" sz="2400">
                    <a:solidFill>
                      <a:srgbClr val="111827"/>
                    </a:solidFill>
                    <a:latin typeface="Cambria Math" panose="02040503050406030204" pitchFamily="18" charset="0"/>
                  </a:rPr>
                  <a:t>$\binom m1,\binom m2,\binom m3$</a:t>
                </a:r>
                <a:r>
                  <a:rPr sz="2400" b="0">
                    <a:solidFill>
                      <a:srgbClr val="111827"/>
                    </a:solidFill>
                    <a:latin typeface="Arial"/>
                  </a:rPr>
                  <a:t> and they are the 1st, 3rd, 5th terms of an A.P., so </a:t>
                </a:r>
                <a:r>
                  <a:rPr lang="en-IN" sz="2400">
                    <a:solidFill>
                      <a:srgbClr val="111827"/>
                    </a:solidFill>
                    <a:latin typeface="Cambria Math" panose="02040503050406030204" pitchFamily="18" charset="0"/>
                  </a:rPr>
                  <a:t>$2\binom m2=\binom m1+\binom m3$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rejected because a sixth term needs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in (1):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0</m:t>
                        </m:r>
                      </m:sup>
                    </m:sSup>
                  </m:oMath>
                </a14:m>
                <a:r>
                  <a:rPr sz="2400" b="0">
                    <a:solidFill>
                      <a:srgbClr val="111827"/>
                    </a:solidFill>
                    <a:latin typeface="Arial"/>
                  </a:rPr>
                  <a:t> or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satisfy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the sum of squares is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$m(m-1)=m+\dfrac{m(m-1)(m-2)}{6}\Rightarrow6(m-1)=6+(m-1)(m-2)\Rightarrow m^2-9m+14=0$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$m=2$</a:t>
                </a:r>
                <a:r>
                  <a:rPr sz="2400" b="0">
                    <a:solidFill>
                      <a:srgbClr val="111827"/>
                    </a:solidFill>
                    <a:latin typeface="Arial"/>
                  </a:rPr>
                  <a:t> or </a:t>
                </a:r>
                <a:r>
                  <a:rPr lang="en-IN" sz="2400">
                    <a:solidFill>
                      <a:srgbClr val="111827"/>
                    </a:solidFill>
                    <a:latin typeface="Cambria Math" panose="02040503050406030204" pitchFamily="18" charset="0"/>
                  </a:rPr>
                  <a:t>$m=7$</a:t>
                </a:r>
                <a:r>
                  <a:rPr sz="2400" b="0">
                    <a:solidFill>
                      <a:srgbClr val="111827"/>
                    </a:solidFill>
                    <a:latin typeface="Arial"/>
                  </a:rPr>
                  <a:t>; </a:t>
                </a:r>
                <a:r>
                  <a:rPr lang="en-IN" sz="2400">
                    <a:solidFill>
                      <a:srgbClr val="111827"/>
                    </a:solidFill>
                    <a:latin typeface="Cambria Math" panose="02040503050406030204" pitchFamily="18" charset="0"/>
                  </a:rPr>
                  <a:t>$m=2$</a:t>
                </a:r>
                <a:r>
                  <a:rPr sz="2400" b="0">
                    <a:solidFill>
                      <a:srgbClr val="111827"/>
                    </a:solidFill>
                    <a:latin typeface="Arial"/>
                  </a:rPr>
                  <a:t> is rejected because a sixth term needs </a:t>
                </a:r>
                <a:r>
                  <a:rPr lang="en-IN" sz="2400">
                    <a:solidFill>
                      <a:srgbClr val="111827"/>
                    </a:solidFill>
                    <a:latin typeface="Cambria Math" panose="02040503050406030204" pitchFamily="18" charset="0"/>
                  </a:rPr>
                  <a:t>$m\ge5$</a:t>
                </a:r>
                <a:r>
                  <a:rPr sz="2400" b="0">
                    <a:solidFill>
                      <a:srgbClr val="111827"/>
                    </a:solidFill>
                    <a:latin typeface="Arial"/>
                  </a:rPr>
                  <a:t>. Hence </a:t>
                </a:r>
                <a:r>
                  <a:rPr lang="en-IN" sz="2400">
                    <a:solidFill>
                      <a:srgbClr val="111827"/>
                    </a:solidFill>
                    <a:latin typeface="Cambria Math" panose="02040503050406030204" pitchFamily="18" charset="0"/>
                  </a:rPr>
                  <a:t>$m=7$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$m=7$</a:t>
                </a:r>
                <a:r>
                  <a:rPr sz="2400" b="0">
                    <a:solidFill>
                      <a:srgbClr val="111827"/>
                    </a:solidFill>
                    <a:latin typeface="Arial"/>
                  </a:rPr>
                  <a:t> in (1): </a:t>
                </a:r>
                <a:r>
                  <a:rPr lang="en-IN" sz="2400">
                    <a:solidFill>
                      <a:srgbClr val="111827"/>
                    </a:solidFill>
                    <a:latin typeface="Cambria Math" panose="02040503050406030204" pitchFamily="18" charset="0"/>
                  </a:rPr>
                  <a:t>$\binom75(10-3^x)\cdot3^{x-2}=21\Rightarrow(10-3^x)\dfrac{3^x}{9}=1$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$t=3^x$</a:t>
                </a:r>
                <a:r>
                  <a:rPr sz="2400" b="0">
                    <a:solidFill>
                      <a:srgbClr val="111827"/>
                    </a:solidFill>
                    <a:latin typeface="Arial"/>
                  </a:rPr>
                  <a:t>: </a:t>
                </a:r>
                <a:r>
                  <a:rPr lang="en-IN" sz="2400">
                    <a:solidFill>
                      <a:srgbClr val="111827"/>
                    </a:solidFill>
                    <a:latin typeface="Cambria Math" panose="02040503050406030204" pitchFamily="18" charset="0"/>
                  </a:rPr>
                  <a:t>$t(10-t)=9\Rightarrow t^2-10t+9=0\Rightarrow t=1$</a:t>
                </a:r>
                <a:r>
                  <a:rPr sz="2400" b="0">
                    <a:solidFill>
                      <a:srgbClr val="111827"/>
                    </a:solidFill>
                    <a:latin typeface="Arial"/>
                  </a:rPr>
                  <a:t> or </a:t>
                </a:r>
                <a:r>
                  <a:rPr lang="en-IN" sz="2400">
                    <a:solidFill>
                      <a:srgbClr val="111827"/>
                    </a:solidFill>
                    <a:latin typeface="Cambria Math" panose="02040503050406030204" pitchFamily="18" charset="0"/>
                  </a:rPr>
                  <a:t>$t=9$</a:t>
                </a:r>
                <a:r>
                  <a:rPr sz="2400" b="0">
                    <a:solidFill>
                      <a:srgbClr val="111827"/>
                    </a:solidFill>
                    <a:latin typeface="Arial"/>
                  </a:rPr>
                  <a:t>, i.e. </a:t>
                </a:r>
                <a:r>
                  <a:rPr lang="en-IN" sz="2400">
                    <a:solidFill>
                      <a:srgbClr val="111827"/>
                    </a:solidFill>
                    <a:latin typeface="Cambria Math" panose="02040503050406030204" pitchFamily="18" charset="0"/>
                  </a:rPr>
                  <a:t>$3^x=3^0$</a:t>
                </a:r>
                <a:r>
                  <a:rPr sz="2400" b="0">
                    <a:solidFill>
                      <a:srgbClr val="111827"/>
                    </a:solidFill>
                    <a:latin typeface="Arial"/>
                  </a:rPr>
                  <a:t> or </a:t>
                </a:r>
                <a:r>
                  <a:rPr lang="en-IN" sz="2400">
                    <a:solidFill>
                      <a:srgbClr val="111827"/>
                    </a:solidFill>
                    <a:latin typeface="Cambria Math" panose="02040503050406030204" pitchFamily="18" charset="0"/>
                  </a:rPr>
                  <a:t>$3^2$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satisfy </a:t>
                </a:r>
                <a:r>
                  <a:rPr lang="en-IN" sz="2400">
                    <a:solidFill>
                      <a:srgbClr val="111827"/>
                    </a:solidFill>
                    <a:latin typeface="Cambria Math" panose="02040503050406030204" pitchFamily="18" charset="0"/>
                  </a:rPr>
                  <a:t>$3^x&lt;10$</a:t>
                </a:r>
                <a:r>
                  <a:rPr sz="2400" b="0">
                    <a:solidFill>
                      <a:srgbClr val="111827"/>
                    </a:solidFill>
                    <a:latin typeface="Arial"/>
                  </a:rPr>
                  <a:t>, so </a:t>
                </a:r>
                <a:r>
                  <a:rPr lang="en-IN" sz="2400">
                    <a:solidFill>
                      <a:srgbClr val="111827"/>
                    </a:solidFill>
                    <a:latin typeface="Cambria Math" panose="02040503050406030204" pitchFamily="18" charset="0"/>
                  </a:rPr>
                  <a:t>$x=0$</a:t>
                </a:r>
                <a:r>
                  <a:rPr sz="2400" b="0">
                    <a:solidFill>
                      <a:srgbClr val="111827"/>
                    </a:solidFill>
                    <a:latin typeface="Arial"/>
                  </a:rPr>
                  <a:t> or </a:t>
                </a:r>
                <a:r>
                  <a:rPr lang="en-IN" sz="2400">
                    <a:solidFill>
                      <a:srgbClr val="111827"/>
                    </a:solidFill>
                    <a:latin typeface="Cambria Math" panose="02040503050406030204" pitchFamily="18" charset="0"/>
                  </a:rPr>
                  <a:t>$x=2$</a:t>
                </a:r>
                <a:r>
                  <a:rPr sz="2400" b="0">
                    <a:solidFill>
                      <a:srgbClr val="111827"/>
                    </a:solidFill>
                    <a:latin typeface="Arial"/>
                  </a:rPr>
                  <a:t>, and the sum of squares is </a:t>
                </a:r>
                <a:r>
                  <a:rPr lang="en-IN" sz="2400">
                    <a:solidFill>
                      <a:srgbClr val="111827"/>
                    </a:solidFill>
                    <a:latin typeface="Cambria Math" panose="02040503050406030204" pitchFamily="18" charset="0"/>
                  </a:rPr>
                  <a:t>$0+4=4$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a:t>
            </a:r>
            <a:endParaRPr sz="2800">
              <a:solidFill>
                <a:srgbClr val="15803D"/>
              </a:solidFill>
            </a:endParaRP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2</m:t>
                            </m:r>
                          </m:e>
                          <m:sup>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𝑓</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𝑓</m:t>
                        </m:r>
                      </m:e>
                    </m:rad>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𝑘</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23</m:t>
                            </m:r>
                          </m:sub>
                        </m:sSub>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convert such exponentials to base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before expanding.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Binomial coefficients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in A.P. in the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st/</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rd/</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th positions give </a:t>
                </a:r>
                <a14:m>
                  <m:oMath xmlns:m="http://schemas.openxmlformats.org/officeDocument/2006/math">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fact: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in A.P.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(the nontrivial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are in A.P.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common difference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$\sqrt{2^{\log_2 f}}=\sqrt f$</a:t>
                </a:r>
                <a:r>
                  <a:rPr sz="2400" b="0">
                    <a:solidFill>
                      <a:srgbClr val="111827"/>
                    </a:solidFill>
                    <a:latin typeface="Arial"/>
                  </a:rPr>
                  <a:t> and </a:t>
                </a:r>
                <a:r>
                  <a:rPr lang="en-IN" sz="2400">
                    <a:solidFill>
                      <a:srgbClr val="111827"/>
                    </a:solidFill>
                    <a:latin typeface="Cambria Math" panose="02040503050406030204" pitchFamily="18" charset="0"/>
                  </a:rPr>
                  <a:t>$2^{k\log_23}=3^k$</a:t>
                </a:r>
                <a:r>
                  <a:rPr sz="2400" b="0">
                    <a:solidFill>
                      <a:srgbClr val="111827"/>
                    </a:solidFill>
                    <a:latin typeface="Arial"/>
                  </a:rPr>
                  <a:t>: convert such exponentials to base </a:t>
                </a:r>
                <a:r>
                  <a:rPr lang="en-IN" sz="2400">
                    <a:solidFill>
                      <a:srgbClr val="111827"/>
                    </a:solidFill>
                    <a:latin typeface="Cambria Math" panose="02040503050406030204" pitchFamily="18" charset="0"/>
                  </a:rPr>
                  <a:t>$3$</a:t>
                </a:r>
                <a:r>
                  <a:rPr sz="2400" b="0">
                    <a:solidFill>
                      <a:srgbClr val="111827"/>
                    </a:solidFill>
                    <a:latin typeface="Arial"/>
                  </a:rPr>
                  <a:t> before expanding.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Binomial coefficients </a:t>
                </a:r>
                <a:r>
                  <a:rPr lang="en-IN" sz="2400">
                    <a:solidFill>
                      <a:srgbClr val="111827"/>
                    </a:solidFill>
                    <a:latin typeface="Cambria Math" panose="02040503050406030204" pitchFamily="18" charset="0"/>
                  </a:rPr>
                  <a:t>$\binom m1,\binom m2,\binom m3$</a:t>
                </a:r>
                <a:r>
                  <a:rPr sz="2400" b="0">
                    <a:solidFill>
                      <a:srgbClr val="111827"/>
                    </a:solidFill>
                    <a:latin typeface="Arial"/>
                  </a:rPr>
                  <a:t> in A.P. in the </a:t>
                </a:r>
                <a:r>
                  <a:rPr lang="en-IN" sz="2400">
                    <a:solidFill>
                      <a:srgbClr val="111827"/>
                    </a:solidFill>
                    <a:latin typeface="Cambria Math" panose="02040503050406030204" pitchFamily="18" charset="0"/>
                  </a:rPr>
                  <a:t>$1$</a:t>
                </a:r>
                <a:r>
                  <a:rPr sz="2400" b="0">
                    <a:solidFill>
                      <a:srgbClr val="111827"/>
                    </a:solidFill>
                    <a:latin typeface="Arial"/>
                  </a:rPr>
                  <a:t>st/</a:t>
                </a:r>
                <a:r>
                  <a:rPr lang="en-IN" sz="2400">
                    <a:solidFill>
                      <a:srgbClr val="111827"/>
                    </a:solidFill>
                    <a:latin typeface="Cambria Math" panose="02040503050406030204" pitchFamily="18" charset="0"/>
                  </a:rPr>
                  <a:t>$3$</a:t>
                </a:r>
                <a:r>
                  <a:rPr sz="2400" b="0">
                    <a:solidFill>
                      <a:srgbClr val="111827"/>
                    </a:solidFill>
                    <a:latin typeface="Arial"/>
                  </a:rPr>
                  <a:t>rd/</a:t>
                </a:r>
                <a:r>
                  <a:rPr lang="en-IN" sz="2400">
                    <a:solidFill>
                      <a:srgbClr val="111827"/>
                    </a:solidFill>
                    <a:latin typeface="Cambria Math" panose="02040503050406030204" pitchFamily="18" charset="0"/>
                  </a:rPr>
                  <a:t>$5$</a:t>
                </a:r>
                <a:r>
                  <a:rPr sz="2400" b="0">
                    <a:solidFill>
                      <a:srgbClr val="111827"/>
                    </a:solidFill>
                    <a:latin typeface="Arial"/>
                  </a:rPr>
                  <a:t>th positions give </a:t>
                </a:r>
                <a:r>
                  <a:rPr lang="en-IN" sz="2400">
                    <a:solidFill>
                      <a:srgbClr val="111827"/>
                    </a:solidFill>
                    <a:latin typeface="Cambria Math" panose="02040503050406030204" pitchFamily="18" charset="0"/>
                  </a:rPr>
                  <a:t>$2\binom m2=\binom m1+\binom m3$</a:t>
                </a:r>
                <a:r>
                  <a:rPr sz="2400" b="0">
                    <a:solidFill>
                      <a:srgbClr val="111827"/>
                    </a:solidFill>
                    <a:latin typeface="Arial"/>
                  </a:rPr>
                  <a:t>, i.e. </a:t>
                </a:r>
                <a:r>
                  <a:rPr lang="en-IN" sz="2400">
                    <a:solidFill>
                      <a:srgbClr val="111827"/>
                    </a:solidFill>
                    <a:latin typeface="Cambria Math" panose="02040503050406030204" pitchFamily="18" charset="0"/>
                  </a:rPr>
                  <a:t>$m^2-9m+14=0$</a:t>
                </a:r>
                <a:r>
                  <a:rPr sz="2400" b="0">
                    <a:solidFill>
                      <a:srgbClr val="111827"/>
                    </a:solidFill>
                    <a:latin typeface="Arial"/>
                  </a:rPr>
                  <a:t> (</a:t>
                </a:r>
                <a:r>
                  <a:rPr lang="en-IN" sz="2400">
                    <a:solidFill>
                      <a:srgbClr val="111827"/>
                    </a:solidFill>
                    <a:latin typeface="Cambria Math" panose="02040503050406030204" pitchFamily="18" charset="0"/>
                  </a:rPr>
                  <a:t>$m=2,7$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fact: </a:t>
                </a:r>
                <a:r>
                  <a:rPr lang="en-IN" sz="2400">
                    <a:solidFill>
                      <a:srgbClr val="111827"/>
                    </a:solidFill>
                    <a:latin typeface="Cambria Math" panose="02040503050406030204" pitchFamily="18" charset="0"/>
                  </a:rPr>
                  <a:t>$\binom n1,\binom n2,\binom n3$</a:t>
                </a:r>
                <a:r>
                  <a:rPr sz="2400" b="0">
                    <a:solidFill>
                      <a:srgbClr val="111827"/>
                    </a:solidFill>
                    <a:latin typeface="Arial"/>
                  </a:rPr>
                  <a:t> in A.P. </a:t>
                </a:r>
                <a:r>
                  <a:rPr lang="en-IN" sz="2400">
                    <a:solidFill>
                      <a:srgbClr val="111827"/>
                    </a:solidFill>
                    <a:latin typeface="Cambria Math" panose="02040503050406030204" pitchFamily="18" charset="0"/>
                  </a:rPr>
                  <a:t>$\iff n=7$</a:t>
                </a:r>
                <a:r>
                  <a:rPr sz="2400" b="0">
                    <a:solidFill>
                      <a:srgbClr val="111827"/>
                    </a:solidFill>
                    <a:latin typeface="Arial"/>
                  </a:rPr>
                  <a:t> (the nontrivial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$\binom71=7$</a:t>
                </a:r>
                <a:r>
                  <a:rPr sz="2400" b="0">
                    <a:solidFill>
                      <a:srgbClr val="111827"/>
                    </a:solidFill>
                    <a:latin typeface="Arial"/>
                  </a:rPr>
                  <a:t>, </a:t>
                </a:r>
                <a:r>
                  <a:rPr lang="en-IN" sz="2400">
                    <a:solidFill>
                      <a:srgbClr val="111827"/>
                    </a:solidFill>
                    <a:latin typeface="Cambria Math" panose="02040503050406030204" pitchFamily="18" charset="0"/>
                  </a:rPr>
                  <a:t>$\binom72=21$</a:t>
                </a:r>
                <a:r>
                  <a:rPr sz="2400" b="0">
                    <a:solidFill>
                      <a:srgbClr val="111827"/>
                    </a:solidFill>
                    <a:latin typeface="Arial"/>
                  </a:rPr>
                  <a:t>, </a:t>
                </a:r>
                <a:r>
                  <a:rPr lang="en-IN" sz="2400">
                    <a:solidFill>
                      <a:srgbClr val="111827"/>
                    </a:solidFill>
                    <a:latin typeface="Cambria Math" panose="02040503050406030204" pitchFamily="18" charset="0"/>
                  </a:rPr>
                  <a:t>$\binom73=35$</a:t>
                </a:r>
                <a:r>
                  <a:rPr sz="2400" b="0">
                    <a:solidFill>
                      <a:srgbClr val="111827"/>
                    </a:solidFill>
                    <a:latin typeface="Arial"/>
                  </a:rPr>
                  <a:t> are in A.P. (</a:t>
                </a:r>
                <a:r>
                  <a:rPr lang="en-IN" sz="2400">
                    <a:solidFill>
                      <a:srgbClr val="111827"/>
                    </a:solidFill>
                    <a:latin typeface="Cambria Math" panose="02040503050406030204" pitchFamily="18" charset="0"/>
                  </a:rPr>
                  <a:t>$7,21,35$</a:t>
                </a:r>
                <a:r>
                  <a:rPr sz="2400" b="0">
                    <a:solidFill>
                      <a:srgbClr val="111827"/>
                    </a:solidFill>
                    <a:latin typeface="Arial"/>
                  </a:rPr>
                  <a:t>, common difference </a:t>
                </a:r>
                <a:r>
                  <a:rPr lang="en-IN" sz="2400">
                    <a:solidFill>
                      <a:srgbClr val="111827"/>
                    </a:solidFill>
                    <a:latin typeface="Cambria Math" panose="02040503050406030204" pitchFamily="18" charset="0"/>
                  </a:rPr>
                  <a:t>$14$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term without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22</m:t>
                        </m:r>
                      </m:sup>
                    </m:sSup>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7315</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term without </a:t>
                </a:r>
                <a:r>
                  <a:rPr lang="en-IN" sz="2400">
                    <a:solidFill>
                      <a:srgbClr val="111827"/>
                    </a:solidFill>
                    <a:latin typeface="Cambria Math" panose="02040503050406030204" pitchFamily="18" charset="0"/>
                  </a:rPr>
                  <a:t>$x$</a:t>
                </a:r>
                <a:r>
                  <a:rPr sz="2400" b="0">
                    <a:solidFill>
                      <a:srgbClr val="111827"/>
                    </a:solidFill>
                    <a:latin typeface="Arial"/>
                  </a:rPr>
                  <a:t> in the expansion of </a:t>
                </a:r>
                <a:r>
                  <a:rPr lang="en-IN" sz="2400">
                    <a:solidFill>
                      <a:srgbClr val="111827"/>
                    </a:solidFill>
                    <a:latin typeface="Cambria Math" panose="02040503050406030204" pitchFamily="18" charset="0"/>
                  </a:rPr>
                  <a:t>$\left(x^{2/3}+\dfrac{\alpha}{x^{3}}\right)^{22}$</a:t>
                </a:r>
                <a:r>
                  <a:rPr sz="2400" b="0">
                    <a:solidFill>
                      <a:srgbClr val="111827"/>
                    </a:solidFill>
                    <a:latin typeface="Arial"/>
                  </a:rPr>
                  <a:t> is </a:t>
                </a:r>
                <a:r>
                  <a:rPr lang="en-IN" sz="2400">
                    <a:solidFill>
                      <a:srgbClr val="111827"/>
                    </a:solidFill>
                    <a:latin typeface="Cambria Math" panose="02040503050406030204" pitchFamily="18" charset="0"/>
                  </a:rPr>
                  <a:t>$7315$</a:t>
                </a:r>
                <a:r>
                  <a:rPr sz="2400" b="0">
                    <a:solidFill>
                      <a:srgbClr val="111827"/>
                    </a:solidFill>
                    <a:latin typeface="Arial"/>
                  </a:rPr>
                  <a:t>, then </a:t>
                </a:r>
                <a:r>
                  <a:rPr lang="en-IN" sz="2400">
                    <a:solidFill>
                      <a:srgbClr val="111827"/>
                    </a:solidFill>
                    <a:latin typeface="Cambria Math" panose="02040503050406030204" pitchFamily="18" charset="0"/>
                  </a:rPr>
                  <a:t>$|\alpha|$</a:t>
                </a:r>
                <a:r>
                  <a:rPr sz="2400" b="0">
                    <a:solidFill>
                      <a:srgbClr val="111827"/>
                    </a:solidFill>
                    <a:latin typeface="Arial"/>
                  </a:rPr>
                  <a:t> is equal to ________.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5475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 Term independent of </a:t>
                </a:r>
                <a14:m>
                  <m:oMath xmlns:m="http://schemas.openxmlformats.org/officeDocument/2006/math">
                    <m:r>
                      <a:rPr lang="en-IN" sz="2400" i="1">
                        <a:solidFill>
                          <a:srgbClr val="111827"/>
                        </a:solidFill>
                        <a:latin typeface="Cambria Math" panose="02040503050406030204" pitchFamily="18" charset="0"/>
                      </a:rPr>
                      <m:t>𝑥</m:t>
                    </m:r>
                  </m:oMath>
                </a14:m>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Choice>
        <mc:Fallback>
          <p:sp>
            <p:nvSpPr>
              <p:cNvPr id="5" name="Rectangle 4"/>
              <p:cNvSpPr/>
              <p:nvPr/>
            </p:nvSpPr>
            <p:spPr>
              <a:xfrm>
                <a:off x="731520" y="325475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 Term independent of </a:t>
                </a:r>
                <a:r>
                  <a:rPr lang="en-IN" sz="2400">
                    <a:solidFill>
                      <a:srgbClr val="111827"/>
                    </a:solidFill>
                    <a:latin typeface="Cambria Math" panose="02040503050406030204" pitchFamily="18" charset="0"/>
                  </a:rPr>
                  <a:t>$x$</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Fallback>
      </mc:AlternateContent>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11</m:t>
                        </m:r>
                        <m:r>
                          <a:rPr lang="en-IN" sz="2400" i="1">
                            <a:solidFill>
                              <a:srgbClr val="78350F"/>
                            </a:solidFill>
                            <a:latin typeface="Cambria Math" panose="02040503050406030204" pitchFamily="18" charset="0"/>
                          </a:rPr>
                          <m:t>𝑟</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 vanishes at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and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22</m:t>
                            </m:r>
                          </m:num>
                          <m:den>
                            <m:r>
                              <a:rPr lang="en-IN" sz="2400" i="1">
                                <a:solidFill>
                                  <a:srgbClr val="78350F"/>
                                </a:solidFill>
                                <a:latin typeface="Cambria Math" panose="02040503050406030204" pitchFamily="18" charset="0"/>
                              </a:rPr>
                              <m:t>4</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7315</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 </a:t>
                </a:r>
                <a:r>
                  <a:rPr lang="en-IN" sz="2400">
                    <a:solidFill>
                      <a:srgbClr val="78350F"/>
                    </a:solidFill>
                    <a:latin typeface="Cambria Math" panose="02040503050406030204" pitchFamily="18" charset="0"/>
                  </a:rPr>
                  <a:t>$\frac{44-11r}{3}$</a:t>
                </a:r>
                <a:r>
                  <a:rPr sz="2400" b="0">
                    <a:solidFill>
                      <a:srgbClr val="78350F"/>
                    </a:solidFill>
                    <a:latin typeface="Arial"/>
                  </a:rPr>
                  <a:t> vanishes at </a:t>
                </a:r>
                <a:r>
                  <a:rPr lang="en-IN" sz="2400">
                    <a:solidFill>
                      <a:srgbClr val="78350F"/>
                    </a:solidFill>
                    <a:latin typeface="Cambria Math" panose="02040503050406030204" pitchFamily="18" charset="0"/>
                  </a:rPr>
                  <a:t>$r=4$</a:t>
                </a:r>
                <a:r>
                  <a:rPr sz="2400" b="0">
                    <a:solidFill>
                      <a:srgbClr val="78350F"/>
                    </a:solidFill>
                    <a:latin typeface="Arial"/>
                  </a:rPr>
                  <a:t> and </a:t>
                </a:r>
                <a:r>
                  <a:rPr lang="en-IN" sz="2400">
                    <a:solidFill>
                      <a:srgbClr val="78350F"/>
                    </a:solidFill>
                    <a:latin typeface="Cambria Math" panose="02040503050406030204" pitchFamily="18" charset="0"/>
                  </a:rPr>
                  <a:t>$\binom{22}{4}=7315$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𝑟</m:t>
                            </m:r>
                          </m:den>
                        </m:f>
                      </m:e>
                    </m:d>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𝑟</m:t>
                        </m:r>
                      </m:sup>
                    </m:sSup>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Term without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term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4</m:t>
                            </m:r>
                          </m:den>
                        </m:f>
                      </m:e>
                    </m:d>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7315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$T_{r+1}=\binom{22}{r}\left(x^{2/3}\right)^{22-r}\left(\dfrac{\alpha}{x^3}\right)^r=\binom{22}{r}\alpha^r\,x^{\frac{44}{3}-\frac{2r}{3}-3r}$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Term without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$\dfrac{44}{3}-\dfrac{11r}{3}=0$</a:t>
                </a:r>
                <a:r>
                  <a:rPr sz="2400" b="0">
                    <a:solidFill>
                      <a:srgbClr val="111827"/>
                    </a:solidFill>
                    <a:latin typeface="Arial"/>
                  </a:rPr>
                  <a:t>, so </a:t>
                </a:r>
                <a:r>
                  <a:rPr lang="en-IN" sz="2400">
                    <a:solidFill>
                      <a:srgbClr val="111827"/>
                    </a:solidFill>
                    <a:latin typeface="Cambria Math" panose="02040503050406030204" pitchFamily="18" charset="0"/>
                  </a:rPr>
                  <a:t>$r=4$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term is </a:t>
                </a:r>
                <a:r>
                  <a:rPr lang="en-IN" sz="2400">
                    <a:solidFill>
                      <a:srgbClr val="111827"/>
                    </a:solidFill>
                    <a:latin typeface="Cambria Math" panose="02040503050406030204" pitchFamily="18" charset="0"/>
                  </a:rPr>
                  <a:t>$\binom{22}{4}\alpha^4=7315$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24</m:t>
                        </m:r>
                      </m:den>
                    </m:f>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7315</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7315</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7315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$\dfrac{22\cdot21\cdot20\cdot19}{24}\alpha^4=7315$</a:t>
                </a:r>
                <a:r>
                  <a:rPr sz="2400" b="0">
                    <a:solidFill>
                      <a:srgbClr val="111827"/>
                    </a:solidFill>
                    <a:latin typeface="Arial"/>
                  </a:rPr>
                  <a:t>, i.e. </a:t>
                </a:r>
                <a:r>
                  <a:rPr lang="en-IN" sz="2400">
                    <a:solidFill>
                      <a:srgbClr val="111827"/>
                    </a:solidFill>
                    <a:latin typeface="Cambria Math" panose="02040503050406030204" pitchFamily="18" charset="0"/>
                  </a:rPr>
                  <a:t>$7315\,\alpha^4=7315$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$\alpha^4=1$</a:t>
                </a:r>
                <a:r>
                  <a:rPr sz="2400" b="0">
                    <a:solidFill>
                      <a:srgbClr val="111827"/>
                    </a:solidFill>
                    <a:latin typeface="Arial"/>
                  </a:rPr>
                  <a:t> and </a:t>
                </a:r>
                <a:r>
                  <a:rPr lang="en-IN" sz="2400">
                    <a:solidFill>
                      <a:srgbClr val="111827"/>
                    </a:solidFill>
                    <a:latin typeface="Cambria Math" panose="02040503050406030204" pitchFamily="18" charset="0"/>
                  </a:rPr>
                  <a:t>$|\alpha|=1$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a:t>
            </a:r>
            <a:endParaRPr sz="2800">
              <a:solidFill>
                <a:srgbClr val="15803D"/>
              </a:solidFill>
            </a:endParaRP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Constant term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𝑝</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𝑞</m:t>
                                    </m:r>
                                  </m:sup>
                                </m:sSup>
                              </m:den>
                            </m:f>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occurs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den>
                    </m:f>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Memorise a few values of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7315</m:t>
                    </m:r>
                  </m:oMath>
                </a14:m>
                <a:r>
                  <a:rPr sz="2400" b="0">
                    <a:solidFill>
                      <a:srgbClr val="111827"/>
                    </a:solidFill>
                    <a:latin typeface="Arial"/>
                  </a:rPr>
                  <a:t> lets one see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even,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oMath>
                </a14:m>
                <a:r>
                  <a:rPr sz="2400" b="0">
                    <a:solidFill>
                      <a:srgbClr val="111827"/>
                    </a:solidFill>
                    <a:latin typeface="Arial"/>
                  </a:rPr>
                  <a:t> (two real values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24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7315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Constant term of </a:t>
                </a:r>
                <a:r>
                  <a:rPr lang="en-IN" sz="2400">
                    <a:solidFill>
                      <a:srgbClr val="111827"/>
                    </a:solidFill>
                    <a:latin typeface="Cambria Math" panose="02040503050406030204" pitchFamily="18" charset="0"/>
                  </a:rPr>
                  <a:t>$\left(x^{p}+\frac{\alpha}{x^{q}}\right)^n$</a:t>
                </a:r>
                <a:r>
                  <a:rPr sz="2400" b="0">
                    <a:solidFill>
                      <a:srgbClr val="111827"/>
                    </a:solidFill>
                    <a:latin typeface="Arial"/>
                  </a:rPr>
                  <a:t> occurs at </a:t>
                </a:r>
                <a:r>
                  <a:rPr lang="en-IN" sz="2400">
                    <a:solidFill>
                      <a:srgbClr val="111827"/>
                    </a:solidFill>
                    <a:latin typeface="Cambria Math" panose="02040503050406030204" pitchFamily="18" charset="0"/>
                  </a:rPr>
                  <a:t>$r=\dfrac{np}{p+q}$</a:t>
                </a:r>
                <a:r>
                  <a:rPr sz="2400" b="0">
                    <a:solidFill>
                      <a:srgbClr val="111827"/>
                    </a:solidFill>
                    <a:latin typeface="Arial"/>
                  </a:rPr>
                  <a:t> (here </a:t>
                </a:r>
                <a:r>
                  <a:rPr lang="en-IN" sz="2400">
                    <a:solidFill>
                      <a:srgbClr val="111827"/>
                    </a:solidFill>
                    <a:latin typeface="Cambria Math" panose="02040503050406030204" pitchFamily="18" charset="0"/>
                  </a:rPr>
                  <a:t>$\frac{22\cdot2/3}{2/3+3}=4$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Memorise a few values of </a:t>
                </a:r>
                <a:r>
                  <a:rPr lang="en-IN" sz="2400">
                    <a:solidFill>
                      <a:srgbClr val="111827"/>
                    </a:solidFill>
                    <a:latin typeface="Cambria Math" panose="02040503050406030204" pitchFamily="18" charset="0"/>
                  </a:rPr>
                  <a:t>$\binom n4$</a:t>
                </a:r>
                <a:r>
                  <a:rPr sz="2400" b="0">
                    <a:solidFill>
                      <a:srgbClr val="111827"/>
                    </a:solidFill>
                    <a:latin typeface="Arial"/>
                  </a:rPr>
                  <a:t>: </a:t>
                </a:r>
                <a:r>
                  <a:rPr lang="en-IN" sz="2400">
                    <a:solidFill>
                      <a:srgbClr val="111827"/>
                    </a:solidFill>
                    <a:latin typeface="Cambria Math" panose="02040503050406030204" pitchFamily="18" charset="0"/>
                  </a:rPr>
                  <a:t>$\binom{22}4=7315$</a:t>
                </a:r>
                <a:r>
                  <a:rPr sz="2400" b="0">
                    <a:solidFill>
                      <a:srgbClr val="111827"/>
                    </a:solidFill>
                    <a:latin typeface="Arial"/>
                  </a:rPr>
                  <a:t> lets one see </a:t>
                </a:r>
                <a:r>
                  <a:rPr lang="en-IN" sz="2400">
                    <a:solidFill>
                      <a:srgbClr val="111827"/>
                    </a:solidFill>
                    <a:latin typeface="Cambria Math" panose="02040503050406030204" pitchFamily="18" charset="0"/>
                  </a:rPr>
                  <a:t>$\alpha^4=1$</a:t>
                </a:r>
                <a:r>
                  <a:rPr sz="2400" b="0">
                    <a:solidFill>
                      <a:srgbClr val="111827"/>
                    </a:solidFill>
                    <a:latin typeface="Arial"/>
                  </a:rPr>
                  <a:t> at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$\alpha^r=c$</a:t>
                </a:r>
                <a:r>
                  <a:rPr sz="2400" b="0">
                    <a:solidFill>
                      <a:srgbClr val="111827"/>
                    </a:solidFill>
                    <a:latin typeface="Arial"/>
                  </a:rPr>
                  <a:t> with </a:t>
                </a:r>
                <a:r>
                  <a:rPr lang="en-IN" sz="2400">
                    <a:solidFill>
                      <a:srgbClr val="111827"/>
                    </a:solidFill>
                    <a:latin typeface="Cambria Math" panose="02040503050406030204" pitchFamily="18" charset="0"/>
                  </a:rPr>
                  <a:t>$r$</a:t>
                </a:r>
                <a:r>
                  <a:rPr sz="2400" b="0">
                    <a:solidFill>
                      <a:srgbClr val="111827"/>
                    </a:solidFill>
                    <a:latin typeface="Arial"/>
                  </a:rPr>
                  <a:t> even, </a:t>
                </a:r>
                <a:r>
                  <a:rPr lang="en-IN" sz="2400">
                    <a:solidFill>
                      <a:srgbClr val="111827"/>
                    </a:solidFill>
                    <a:latin typeface="Cambria Math" panose="02040503050406030204" pitchFamily="18" charset="0"/>
                  </a:rPr>
                  <a:t>$|\alpha|=c^{1/r}$</a:t>
                </a:r>
                <a:r>
                  <a:rPr sz="2400" b="0">
                    <a:solidFill>
                      <a:srgbClr val="111827"/>
                    </a:solidFill>
                    <a:latin typeface="Arial"/>
                  </a:rPr>
                  <a:t> (two real values </a:t>
                </a:r>
                <a:r>
                  <a:rPr lang="en-IN" sz="2400">
                    <a:solidFill>
                      <a:srgbClr val="111827"/>
                    </a:solidFill>
                    <a:latin typeface="Cambria Math" panose="02040503050406030204" pitchFamily="18" charset="0"/>
                  </a:rPr>
                  <a:t>$\pm$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$\frac{22\cdot21\cdot20\cdot19}{24}=7315$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Q26 – Q41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Assumed +4 each (JEE Advanced default)</a:t>
            </a:r>
            <a:endParaRPr sz="2800">
              <a:solidFill>
                <a:srgbClr val="FFFFFF"/>
              </a:solidFill>
            </a:endParaRP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ratio of the fifth term from the beginning to the fifth term from the end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ad>
                              <m:deg>
                                <m:r>
                                  <a:rPr lang="en-IN" sz="2400" i="1">
                                    <a:solidFill>
                                      <a:srgbClr val="111827"/>
                                    </a:solidFill>
                                    <a:latin typeface="Cambria Math" panose="02040503050406030204" pitchFamily="18" charset="0"/>
                                  </a:rPr>
                                  <m:t>4</m:t>
                                </m: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deg>
                                    <m:r>
                                      <a:rPr lang="en-IN" sz="2400" i="1">
                                        <a:solidFill>
                                          <a:srgbClr val="111827"/>
                                        </a:solidFill>
                                        <a:latin typeface="Cambria Math" panose="02040503050406030204" pitchFamily="18" charset="0"/>
                                      </a:rPr>
                                      <m:t>4</m:t>
                                    </m:r>
                                  </m:deg>
                                  <m:e>
                                    <m:r>
                                      <a:rPr lang="en-IN" sz="2400" i="1">
                                        <a:solidFill>
                                          <a:srgbClr val="111827"/>
                                        </a:solidFill>
                                        <a:latin typeface="Cambria Math" panose="02040503050406030204" pitchFamily="18" charset="0"/>
                                      </a:rPr>
                                      <m:t>3</m:t>
                                    </m:r>
                                  </m:e>
                                </m:rad>
                              </m:den>
                            </m:f>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the third term from the beginning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60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60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endParaRPr sz="2400">
                  <a:solidFill>
                    <a:srgbClr val="111827"/>
                  </a:solidFill>
                </a:endParaRPr>
              </a:p>
            </p:txBody>
          </p:sp>
        </mc:Choice>
        <mc:Fallback>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ratio of the fifth term from the beginning to the fifth term from the end in the expansion of </a:t>
                </a:r>
                <a:r>
                  <a:rPr lang="en-IN" sz="2400">
                    <a:solidFill>
                      <a:srgbClr val="111827"/>
                    </a:solidFill>
                    <a:latin typeface="Cambria Math" panose="02040503050406030204" pitchFamily="18" charset="0"/>
                  </a:rPr>
                  <a:t>$\left(\sqrt[4]{2}+\dfrac{1}{\sqrt[4]{3}}\right)^{n}$</a:t>
                </a:r>
                <a:r>
                  <a:rPr sz="2400" b="0">
                    <a:solidFill>
                      <a:srgbClr val="111827"/>
                    </a:solidFill>
                    <a:latin typeface="Arial"/>
                  </a:rPr>
                  <a:t> is </a:t>
                </a:r>
                <a:r>
                  <a:rPr lang="en-IN" sz="2400">
                    <a:solidFill>
                      <a:srgbClr val="111827"/>
                    </a:solidFill>
                    <a:latin typeface="Cambria Math" panose="02040503050406030204" pitchFamily="18" charset="0"/>
                  </a:rPr>
                  <a:t>$\sqrt6:1$</a:t>
                </a:r>
                <a:r>
                  <a:rPr sz="2400" b="0">
                    <a:solidFill>
                      <a:srgbClr val="111827"/>
                    </a:solidFill>
                    <a:latin typeface="Arial"/>
                  </a:rPr>
                  <a:t>, then the third term from the beginning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$30\sqrt3$</a:t>
                </a:r>
                <a:r>
                  <a:rPr sz="2400" b="0">
                    <a:solidFill>
                      <a:srgbClr val="111827"/>
                    </a:solidFill>
                    <a:latin typeface="Arial"/>
                  </a:rPr>
                  <a:t>   (B) </a:t>
                </a:r>
                <a:r>
                  <a:rPr lang="en-IN" sz="2400">
                    <a:solidFill>
                      <a:srgbClr val="111827"/>
                    </a:solidFill>
                    <a:latin typeface="Cambria Math" panose="02040503050406030204" pitchFamily="18" charset="0"/>
                  </a:rPr>
                  <a:t>$60\sqrt3$</a:t>
                </a:r>
                <a:r>
                  <a:rPr sz="2400" b="0">
                    <a:solidFill>
                      <a:srgbClr val="111827"/>
                    </a:solidFill>
                    <a:latin typeface="Arial"/>
                  </a:rPr>
                  <a:t>   (C) </a:t>
                </a:r>
                <a:r>
                  <a:rPr lang="en-IN" sz="2400">
                    <a:solidFill>
                      <a:srgbClr val="111827"/>
                    </a:solidFill>
                    <a:latin typeface="Cambria Math" panose="02040503050406030204" pitchFamily="18" charset="0"/>
                  </a:rPr>
                  <a:t>$60\sqrt2$</a:t>
                </a:r>
                <a:r>
                  <a:rPr sz="2400" b="0">
                    <a:solidFill>
                      <a:srgbClr val="111827"/>
                    </a:solidFill>
                    <a:latin typeface="Arial"/>
                  </a:rPr>
                  <a:t>   (D) </a:t>
                </a:r>
                <a:r>
                  <a:rPr lang="en-IN" sz="2400">
                    <a:solidFill>
                      <a:srgbClr val="111827"/>
                    </a:solidFill>
                    <a:latin typeface="Cambria Math" panose="02040503050406030204" pitchFamily="18" charset="0"/>
                  </a:rPr>
                  <a:t>$30\sqrt2$</a:t>
                </a:r>
                <a:endParaRPr sz="2400">
                  <a:solidFill>
                    <a:srgbClr val="111827"/>
                  </a:solidFill>
                </a:endParaRPr>
              </a:p>
            </p:txBody>
          </p:sp>
        </mc:Fallback>
      </mc:AlternateContent>
      <p:sp>
        <p:nvSpPr>
          <p:cNvPr id="5" name="Rectangle 4"/>
          <p:cNvSpPr/>
          <p:nvPr/>
        </p:nvSpPr>
        <p:spPr>
          <a:xfrm>
            <a:off x="731520" y="443382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Terms from the beginning and from the end of an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-th term from the end is </a:t>
                </a:r>
                <a14:m>
                  <m:oMath xmlns:m="http://schemas.openxmlformats.org/officeDocument/2006/math">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b>
                    </m:sSub>
                  </m:oMath>
                </a14:m>
                <a:r>
                  <a:rPr sz="2400" b="0">
                    <a:solidFill>
                      <a:srgbClr val="78350F"/>
                    </a:solidFill>
                    <a:latin typeface="Arial"/>
                  </a:rPr>
                  <a:t>; the ratio of the two fifth terms is </a:t>
                </a:r>
                <a14:m>
                  <m:oMath xmlns:m="http://schemas.openxmlformats.org/officeDocument/2006/math">
                    <m:sSup>
                      <m:e>
                        <m:r>
                          <a:rPr lang="en-IN" sz="2400" i="1">
                            <a:solidFill>
                              <a:srgbClr val="78350F"/>
                            </a:solidFill>
                            <a:latin typeface="Cambria Math" panose="02040503050406030204" pitchFamily="18" charset="0"/>
                          </a:rPr>
                          <m:t>6</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t>
                </a:r>
                <a:r>
                  <a:rPr lang="en-IN" sz="2400">
                    <a:solidFill>
                      <a:srgbClr val="78350F"/>
                    </a:solidFill>
                    <a:latin typeface="Cambria Math" panose="02040503050406030204" pitchFamily="18" charset="0"/>
                  </a:rPr>
                  <a:t>$k$</a:t>
                </a:r>
                <a:r>
                  <a:rPr sz="2400" b="0">
                    <a:solidFill>
                      <a:srgbClr val="78350F"/>
                    </a:solidFill>
                    <a:latin typeface="Arial"/>
                  </a:rPr>
                  <a:t>-th term from the end is </a:t>
                </a:r>
                <a:r>
                  <a:rPr lang="en-IN" sz="2400">
                    <a:solidFill>
                      <a:srgbClr val="78350F"/>
                    </a:solidFill>
                    <a:latin typeface="Cambria Math" panose="02040503050406030204" pitchFamily="18" charset="0"/>
                  </a:rPr>
                  <a:t>$T_{n-k+2}$</a:t>
                </a:r>
                <a:r>
                  <a:rPr sz="2400" b="0">
                    <a:solidFill>
                      <a:srgbClr val="78350F"/>
                    </a:solidFill>
                    <a:latin typeface="Arial"/>
                  </a:rPr>
                  <a:t>; the ratio of the two fifth terms is </a:t>
                </a:r>
                <a:r>
                  <a:rPr lang="en-IN" sz="2400">
                    <a:solidFill>
                      <a:srgbClr val="78350F"/>
                    </a:solidFill>
                    <a:latin typeface="Cambria Math" panose="02040503050406030204" pitchFamily="18" charset="0"/>
                  </a:rPr>
                  <a:t>$6^{(n-8)/4}$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Fifth term from the beginning: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4</m:t>
                            </m:r>
                          </m:den>
                        </m:f>
                      </m:e>
                    </m:d>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e>
                        </m:d>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e>
                        </m:d>
                      </m:e>
                      <m:sup>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Fifth term from the end is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4</m:t>
                            </m:r>
                          </m:den>
                        </m:f>
                      </m:e>
                    </m:d>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e>
                        </m:d>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e>
                        </m:d>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(the roles of the two terms are interchanged).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4</m:t>
                                </m:r>
                              </m:den>
                            </m:f>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4</m:t>
                                </m:r>
                              </m:den>
                            </m:f>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4</m:t>
                            </m:r>
                          </m:den>
                        </m:f>
                      </m:sup>
                    </m:sSup>
                    <m:sSup>
                      <m:e>
                        <m:r>
                          <a:rPr lang="en-IN" sz="2400" i="1">
                            <a:solidFill>
                              <a:srgbClr val="111827"/>
                            </a:solidFill>
                            <a:latin typeface="Cambria Math" panose="02040503050406030204" pitchFamily="18" charset="0"/>
                          </a:rPr>
                          <m:t>3</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4</m:t>
                            </m:r>
                          </m:den>
                        </m:f>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4</m:t>
                            </m:r>
                          </m:den>
                        </m:f>
                      </m:sup>
                    </m:sSup>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Fifth term from the beginning: </a:t>
                </a:r>
                <a:r>
                  <a:rPr lang="en-IN" sz="2400">
                    <a:solidFill>
                      <a:srgbClr val="111827"/>
                    </a:solidFill>
                    <a:latin typeface="Cambria Math" panose="02040503050406030204" pitchFamily="18" charset="0"/>
                  </a:rPr>
                  <a:t>$T_5=\binom n4\left(2^{1/4}\right)^{n-4}\left(3^{-1/4}\right)^4$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Fifth term from the end is </a:t>
                </a:r>
                <a:r>
                  <a:rPr lang="en-IN" sz="2400">
                    <a:solidFill>
                      <a:srgbClr val="111827"/>
                    </a:solidFill>
                    <a:latin typeface="Cambria Math" panose="02040503050406030204" pitchFamily="18" charset="0"/>
                  </a:rPr>
                  <a:t>$T_{n-3}=\binom n4\left(3^{-1/4}\right)^{n-4}\left(2^{1/4}\right)^4$</a:t>
                </a:r>
                <a:r>
                  <a:rPr sz="2400" b="0">
                    <a:solidFill>
                      <a:srgbClr val="111827"/>
                    </a:solidFill>
                    <a:latin typeface="Arial"/>
                  </a:rPr>
                  <a:t> (the roles of the two terms are interchanged).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a:t>
                </a:r>
                <a:r>
                  <a:rPr lang="en-IN" sz="2400">
                    <a:solidFill>
                      <a:srgbClr val="111827"/>
                    </a:solidFill>
                    <a:latin typeface="Cambria Math" panose="02040503050406030204" pitchFamily="18" charset="0"/>
                  </a:rPr>
                  <a:t>$\dfrac{2^{\frac{n-4}{4}}\cdot3^{-1}}{3^{-\frac{n-4}{4}}\cdot2}=2^{\frac{n-8}{4}}3^{\frac{n-8}{4}}=6^{\frac{n-8}{4}}=\sqrt6$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2</m:t>
                            </m:r>
                          </m:den>
                        </m:f>
                      </m:e>
                    </m:d>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e>
                        </m:d>
                      </m:e>
                      <m:sup>
                        <m:r>
                          <a:rPr lang="en-IN" sz="2400" i="1">
                            <a:solidFill>
                              <a:srgbClr val="111827"/>
                            </a:solidFill>
                            <a:latin typeface="Cambria Math" panose="02040503050406030204" pitchFamily="18" charset="0"/>
                          </a:rPr>
                          <m:t>8</m:t>
                        </m:r>
                      </m:sup>
                    </m:sSup>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180</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$\dfrac{n-8}{4}=\dfrac12$</a:t>
                </a:r>
                <a:r>
                  <a:rPr sz="2400" b="0">
                    <a:solidFill>
                      <a:srgbClr val="111827"/>
                    </a:solidFill>
                    <a:latin typeface="Arial"/>
                  </a:rPr>
                  <a:t>, giving </a:t>
                </a:r>
                <a:r>
                  <a:rPr lang="en-IN" sz="2400">
                    <a:solidFill>
                      <a:srgbClr val="111827"/>
                    </a:solidFill>
                    <a:latin typeface="Cambria Math" panose="02040503050406030204" pitchFamily="18" charset="0"/>
                  </a:rPr>
                  <a:t>$n=10$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$T_3=\binom{10}{2}\left(2^{1/4}\right)^{8}\left(3^{-1/4}\right)^{2}=45\cdot2^2\cdot3^{-1/2}=\dfrac{180}{\sqrt3}=60\sqrt3$</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60</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$60\sqrt3$</a:t>
                </a:r>
                <a:endParaRPr sz="2800">
                  <a:solidFill>
                    <a:srgbClr val="15803D"/>
                  </a:solidFill>
                </a:endParaRPr>
              </a:p>
            </p:txBody>
          </p:sp>
        </mc:Fallback>
      </mc:AlternateContent>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-th term from the end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is the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-th term from the beginning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i.e.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of the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-th from beginning to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-th from end: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e>
                        </m:d>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 we get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 which makes the exponent equation immediate.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103.9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$k$</a:t>
                </a:r>
                <a:r>
                  <a:rPr sz="2400" b="0">
                    <a:solidFill>
                      <a:srgbClr val="111827"/>
                    </a:solidFill>
                    <a:latin typeface="Arial"/>
                  </a:rPr>
                  <a:t>-th term from the end of </a:t>
                </a:r>
                <a:r>
                  <a:rPr lang="en-IN" sz="2400">
                    <a:solidFill>
                      <a:srgbClr val="111827"/>
                    </a:solidFill>
                    <a:latin typeface="Cambria Math" panose="02040503050406030204" pitchFamily="18" charset="0"/>
                  </a:rPr>
                  <a:t>$(a+b)^n$</a:t>
                </a:r>
                <a:r>
                  <a:rPr sz="2400" b="0">
                    <a:solidFill>
                      <a:srgbClr val="111827"/>
                    </a:solidFill>
                    <a:latin typeface="Arial"/>
                  </a:rPr>
                  <a:t> is the </a:t>
                </a:r>
                <a:r>
                  <a:rPr lang="en-IN" sz="2400">
                    <a:solidFill>
                      <a:srgbClr val="111827"/>
                    </a:solidFill>
                    <a:latin typeface="Cambria Math" panose="02040503050406030204" pitchFamily="18" charset="0"/>
                  </a:rPr>
                  <a:t>$k$</a:t>
                </a:r>
                <a:r>
                  <a:rPr sz="2400" b="0">
                    <a:solidFill>
                      <a:srgbClr val="111827"/>
                    </a:solidFill>
                    <a:latin typeface="Arial"/>
                  </a:rPr>
                  <a:t>-th term from the beginning of </a:t>
                </a:r>
                <a:r>
                  <a:rPr lang="en-IN" sz="2400">
                    <a:solidFill>
                      <a:srgbClr val="111827"/>
                    </a:solidFill>
                    <a:latin typeface="Cambria Math" panose="02040503050406030204" pitchFamily="18" charset="0"/>
                  </a:rPr>
                  <a:t>$(b+a)^n$</a:t>
                </a:r>
                <a:r>
                  <a:rPr sz="2400" b="0">
                    <a:solidFill>
                      <a:srgbClr val="111827"/>
                    </a:solidFill>
                    <a:latin typeface="Arial"/>
                  </a:rPr>
                  <a:t>, i.e. </a:t>
                </a:r>
                <a:r>
                  <a:rPr lang="en-IN" sz="2400">
                    <a:solidFill>
                      <a:srgbClr val="111827"/>
                    </a:solidFill>
                    <a:latin typeface="Cambria Math" panose="02040503050406030204" pitchFamily="18" charset="0"/>
                  </a:rPr>
                  <a:t>$T_{n-k+2}$</a:t>
                </a:r>
                <a:r>
                  <a:rPr sz="2400" b="0">
                    <a:solidFill>
                      <a:srgbClr val="111827"/>
                    </a:solidFill>
                    <a:latin typeface="Arial"/>
                  </a:rPr>
                  <a:t> of </a:t>
                </a:r>
                <a:r>
                  <a:rPr lang="en-IN" sz="2400">
                    <a:solidFill>
                      <a:srgbClr val="111827"/>
                    </a:solidFill>
                    <a:latin typeface="Cambria Math" panose="02040503050406030204" pitchFamily="18" charset="0"/>
                  </a:rPr>
                  <a:t>$(a+b)^n$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of the </a:t>
                </a:r>
                <a:r>
                  <a:rPr lang="en-IN" sz="2400">
                    <a:solidFill>
                      <a:srgbClr val="111827"/>
                    </a:solidFill>
                    <a:latin typeface="Cambria Math" panose="02040503050406030204" pitchFamily="18" charset="0"/>
                  </a:rPr>
                  <a:t>$k$</a:t>
                </a:r>
                <a:r>
                  <a:rPr sz="2400" b="0">
                    <a:solidFill>
                      <a:srgbClr val="111827"/>
                    </a:solidFill>
                    <a:latin typeface="Arial"/>
                  </a:rPr>
                  <a:t>-th from beginning to </a:t>
                </a:r>
                <a:r>
                  <a:rPr lang="en-IN" sz="2400">
                    <a:solidFill>
                      <a:srgbClr val="111827"/>
                    </a:solidFill>
                    <a:latin typeface="Cambria Math" panose="02040503050406030204" pitchFamily="18" charset="0"/>
                  </a:rPr>
                  <a:t>$k$</a:t>
                </a:r>
                <a:r>
                  <a:rPr sz="2400" b="0">
                    <a:solidFill>
                      <a:srgbClr val="111827"/>
                    </a:solidFill>
                    <a:latin typeface="Arial"/>
                  </a:rPr>
                  <a:t>-th from end: </a:t>
                </a:r>
                <a:r>
                  <a:rPr lang="en-IN" sz="2400">
                    <a:solidFill>
                      <a:srgbClr val="111827"/>
                    </a:solidFill>
                    <a:latin typeface="Cambria Math" panose="02040503050406030204" pitchFamily="18" charset="0"/>
                  </a:rPr>
                  <a:t>$\left(\dfrac ab\right)^{n-2k+2}$</a:t>
                </a:r>
                <a:r>
                  <a:rPr sz="2400" b="0">
                    <a:solidFill>
                      <a:srgbClr val="111827"/>
                    </a:solidFill>
                    <a:latin typeface="Arial"/>
                  </a:rPr>
                  <a:t>; for </a:t>
                </a:r>
                <a:r>
                  <a:rPr lang="en-IN" sz="2400">
                    <a:solidFill>
                      <a:srgbClr val="111827"/>
                    </a:solidFill>
                    <a:latin typeface="Cambria Math" panose="02040503050406030204" pitchFamily="18" charset="0"/>
                  </a:rPr>
                  <a:t>$k=5$</a:t>
                </a:r>
                <a:r>
                  <a:rPr sz="2400" b="0">
                    <a:solidFill>
                      <a:srgbClr val="111827"/>
                    </a:solidFill>
                    <a:latin typeface="Arial"/>
                  </a:rPr>
                  <a:t> it is </a:t>
                </a:r>
                <a:r>
                  <a:rPr lang="en-IN" sz="2400">
                    <a:solidFill>
                      <a:srgbClr val="111827"/>
                    </a:solidFill>
                    <a:latin typeface="Cambria Math" panose="02040503050406030204" pitchFamily="18" charset="0"/>
                  </a:rPr>
                  <a:t>$(a/b)^{n-8}$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$a=2^{1/4}$</a:t>
                </a:r>
                <a:r>
                  <a:rPr sz="2400" b="0">
                    <a:solidFill>
                      <a:srgbClr val="111827"/>
                    </a:solidFill>
                    <a:latin typeface="Arial"/>
                  </a:rPr>
                  <a:t>, </a:t>
                </a:r>
                <a:r>
                  <a:rPr lang="en-IN" sz="2400">
                    <a:solidFill>
                      <a:srgbClr val="111827"/>
                    </a:solidFill>
                    <a:latin typeface="Cambria Math" panose="02040503050406030204" pitchFamily="18" charset="0"/>
                  </a:rPr>
                  <a:t>$b=3^{-1/4}$</a:t>
                </a:r>
                <a:r>
                  <a:rPr sz="2400" b="0">
                    <a:solidFill>
                      <a:srgbClr val="111827"/>
                    </a:solidFill>
                    <a:latin typeface="Arial"/>
                  </a:rPr>
                  <a:t> we get </a:t>
                </a:r>
                <a:r>
                  <a:rPr lang="en-IN" sz="2400">
                    <a:solidFill>
                      <a:srgbClr val="111827"/>
                    </a:solidFill>
                    <a:latin typeface="Cambria Math" panose="02040503050406030204" pitchFamily="18" charset="0"/>
                  </a:rPr>
                  <a:t>$a/b=6^{1/4}$</a:t>
                </a:r>
                <a:r>
                  <a:rPr sz="2400" b="0">
                    <a:solidFill>
                      <a:srgbClr val="111827"/>
                    </a:solidFill>
                    <a:latin typeface="Arial"/>
                  </a:rPr>
                  <a:t>, which makes the exponent equation immediate.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for </a:t>
                </a:r>
                <a:r>
                  <a:rPr lang="en-IN" sz="2400">
                    <a:solidFill>
                      <a:srgbClr val="111827"/>
                    </a:solidFill>
                    <a:latin typeface="Cambria Math" panose="02040503050406030204" pitchFamily="18" charset="0"/>
                  </a:rPr>
                  <a:t>$n=10$</a:t>
                </a:r>
                <a:r>
                  <a:rPr sz="2400" b="0">
                    <a:solidFill>
                      <a:srgbClr val="111827"/>
                    </a:solidFill>
                    <a:latin typeface="Arial"/>
                  </a:rPr>
                  <a:t>, </a:t>
                </a:r>
                <a:r>
                  <a:rPr lang="en-IN" sz="2400">
                    <a:solidFill>
                      <a:srgbClr val="111827"/>
                    </a:solidFill>
                    <a:latin typeface="Cambria Math" panose="02040503050406030204" pitchFamily="18" charset="0"/>
                  </a:rPr>
                  <a:t>$T_3=45\cdot2^{2}3^{-1/2}\approx103.9=60\sqrt3$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coefficients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 in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11</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up>
                    </m:sSup>
                  </m:oMath>
                </a14:m>
                <a:r>
                  <a:rPr sz="2400" b="0">
                    <a:solidFill>
                      <a:srgbClr val="111827"/>
                    </a:solidFill>
                    <a:latin typeface="Arial"/>
                  </a:rPr>
                  <a:t> in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11</m:t>
                        </m:r>
                      </m:sup>
                    </m:sSup>
                  </m:oMath>
                </a14:m>
                <a:r>
                  <a:rPr sz="2400" b="0">
                    <a:solidFill>
                      <a:srgbClr val="111827"/>
                    </a:solidFill>
                    <a:latin typeface="Arial"/>
                  </a:rPr>
                  <a:t> are equal,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64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243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729</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729</m:t>
                    </m:r>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coefficients of </a:t>
                </a:r>
                <a:r>
                  <a:rPr lang="en-IN" sz="2400">
                    <a:solidFill>
                      <a:srgbClr val="111827"/>
                    </a:solidFill>
                    <a:latin typeface="Cambria Math" panose="02040503050406030204" pitchFamily="18" charset="0"/>
                  </a:rPr>
                  <a:t>$x^7$</a:t>
                </a:r>
                <a:r>
                  <a:rPr sz="2400" b="0">
                    <a:solidFill>
                      <a:srgbClr val="111827"/>
                    </a:solidFill>
                    <a:latin typeface="Arial"/>
                  </a:rPr>
                  <a:t> in </a:t>
                </a:r>
                <a:r>
                  <a:rPr lang="en-IN" sz="2400">
                    <a:solidFill>
                      <a:srgbClr val="111827"/>
                    </a:solidFill>
                    <a:latin typeface="Cambria Math" panose="02040503050406030204" pitchFamily="18" charset="0"/>
                  </a:rPr>
                  <a:t>$\left(ax^2+\dfrac{1}{2bx}\right)^{11}$</a:t>
                </a:r>
                <a:r>
                  <a:rPr sz="2400" b="0">
                    <a:solidFill>
                      <a:srgbClr val="111827"/>
                    </a:solidFill>
                    <a:latin typeface="Arial"/>
                  </a:rPr>
                  <a:t> and </a:t>
                </a:r>
                <a:r>
                  <a:rPr lang="en-IN" sz="2400">
                    <a:solidFill>
                      <a:srgbClr val="111827"/>
                    </a:solidFill>
                    <a:latin typeface="Cambria Math" panose="02040503050406030204" pitchFamily="18" charset="0"/>
                  </a:rPr>
                  <a:t>$x^{-7}$</a:t>
                </a:r>
                <a:r>
                  <a:rPr sz="2400" b="0">
                    <a:solidFill>
                      <a:srgbClr val="111827"/>
                    </a:solidFill>
                    <a:latin typeface="Arial"/>
                  </a:rPr>
                  <a:t> in </a:t>
                </a:r>
                <a:r>
                  <a:rPr lang="en-IN" sz="2400">
                    <a:solidFill>
                      <a:srgbClr val="111827"/>
                    </a:solidFill>
                    <a:latin typeface="Cambria Math" panose="02040503050406030204" pitchFamily="18" charset="0"/>
                  </a:rPr>
                  <a:t>$\left(ax-\dfrac{1}{3bx^2}\right)^{11}$</a:t>
                </a:r>
                <a:r>
                  <a:rPr sz="2400" b="0">
                    <a:solidFill>
                      <a:srgbClr val="111827"/>
                    </a:solidFill>
                    <a:latin typeface="Arial"/>
                  </a:rPr>
                  <a:t> are equal,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$64ab=243$</a:t>
                </a:r>
                <a:r>
                  <a:rPr sz="2400" b="0">
                    <a:solidFill>
                      <a:srgbClr val="111827"/>
                    </a:solidFill>
                    <a:latin typeface="Arial"/>
                  </a:rPr>
                  <a:t>   (B) </a:t>
                </a:r>
                <a:r>
                  <a:rPr lang="en-IN" sz="2400">
                    <a:solidFill>
                      <a:srgbClr val="111827"/>
                    </a:solidFill>
                    <a:latin typeface="Cambria Math" panose="02040503050406030204" pitchFamily="18" charset="0"/>
                  </a:rPr>
                  <a:t>$243ab=64$</a:t>
                </a:r>
                <a:r>
                  <a:rPr sz="2400" b="0">
                    <a:solidFill>
                      <a:srgbClr val="111827"/>
                    </a:solidFill>
                    <a:latin typeface="Arial"/>
                  </a:rPr>
                  <a:t>   (C) </a:t>
                </a:r>
                <a:r>
                  <a:rPr lang="en-IN" sz="2400">
                    <a:solidFill>
                      <a:srgbClr val="111827"/>
                    </a:solidFill>
                    <a:latin typeface="Cambria Math" panose="02040503050406030204" pitchFamily="18" charset="0"/>
                  </a:rPr>
                  <a:t>$729ab=32$</a:t>
                </a:r>
                <a:r>
                  <a:rPr sz="2400" b="0">
                    <a:solidFill>
                      <a:srgbClr val="111827"/>
                    </a:solidFill>
                    <a:latin typeface="Arial"/>
                  </a:rPr>
                  <a:t>   (D) </a:t>
                </a:r>
                <a:r>
                  <a:rPr lang="en-IN" sz="2400">
                    <a:solidFill>
                      <a:srgbClr val="111827"/>
                    </a:solidFill>
                    <a:latin typeface="Cambria Math" panose="02040503050406030204" pitchFamily="18" charset="0"/>
                  </a:rPr>
                  <a:t>$32ab=729$</a:t>
                </a:r>
                <a:endParaRPr sz="2400">
                  <a:solidFill>
                    <a:srgbClr val="111827"/>
                  </a:solidFill>
                </a:endParaRPr>
              </a:p>
            </p:txBody>
          </p:sp>
        </mc:Fallback>
      </mc:AlternateContent>
      <p:sp>
        <p:nvSpPr>
          <p:cNvPr id="5" name="Rectangle 4"/>
          <p:cNvSpPr/>
          <p:nvPr/>
        </p:nvSpPr>
        <p:spPr>
          <a:xfrm>
            <a:off x="731520" y="417169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 in the first expansion and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in the second; the factors </a:t>
                </a:r>
                <a14:m>
                  <m:oMath xmlns:m="http://schemas.openxmlformats.org/officeDocument/2006/math">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6</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𝑏</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5</m:t>
                        </m:r>
                      </m:sup>
                    </m:sSup>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5</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𝑏</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6</m:t>
                        </m:r>
                      </m:sup>
                    </m:sSup>
                  </m:oMath>
                </a14:m>
                <a:r>
                  <a:rPr sz="2400" b="0">
                    <a:solidFill>
                      <a:srgbClr val="78350F"/>
                    </a:solidFill>
                    <a:latin typeface="Arial"/>
                  </a:rPr>
                  <a:t> then give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a:t>
                </a:r>
                <a:r>
                  <a:rPr lang="en-IN" sz="2400">
                    <a:solidFill>
                      <a:srgbClr val="78350F"/>
                    </a:solidFill>
                    <a:latin typeface="Cambria Math" panose="02040503050406030204" pitchFamily="18" charset="0"/>
                  </a:rPr>
                  <a:t>$r=5$</a:t>
                </a:r>
                <a:r>
                  <a:rPr sz="2400" b="0">
                    <a:solidFill>
                      <a:srgbClr val="78350F"/>
                    </a:solidFill>
                    <a:latin typeface="Arial"/>
                  </a:rPr>
                  <a:t> in the first expansion and </a:t>
                </a:r>
                <a:r>
                  <a:rPr lang="en-IN" sz="2400">
                    <a:solidFill>
                      <a:srgbClr val="78350F"/>
                    </a:solidFill>
                    <a:latin typeface="Cambria Math" panose="02040503050406030204" pitchFamily="18" charset="0"/>
                  </a:rPr>
                  <a:t>$r=6$</a:t>
                </a:r>
                <a:r>
                  <a:rPr sz="2400" b="0">
                    <a:solidFill>
                      <a:srgbClr val="78350F"/>
                    </a:solidFill>
                    <a:latin typeface="Arial"/>
                  </a:rPr>
                  <a:t> in the second; the factors </a:t>
                </a:r>
                <a:r>
                  <a:rPr lang="en-IN" sz="2400">
                    <a:solidFill>
                      <a:srgbClr val="78350F"/>
                    </a:solidFill>
                    <a:latin typeface="Cambria Math" panose="02040503050406030204" pitchFamily="18" charset="0"/>
                  </a:rPr>
                  <a:t>$a^6/(2b)^5$</a:t>
                </a:r>
                <a:r>
                  <a:rPr sz="2400" b="0">
                    <a:solidFill>
                      <a:srgbClr val="78350F"/>
                    </a:solidFill>
                    <a:latin typeface="Arial"/>
                  </a:rPr>
                  <a:t> and </a:t>
                </a:r>
                <a:r>
                  <a:rPr lang="en-IN" sz="2400">
                    <a:solidFill>
                      <a:srgbClr val="78350F"/>
                    </a:solidFill>
                    <a:latin typeface="Cambria Math" panose="02040503050406030204" pitchFamily="18" charset="0"/>
                  </a:rPr>
                  <a:t>$a^5/(3b)^6$</a:t>
                </a:r>
                <a:r>
                  <a:rPr sz="2400" b="0">
                    <a:solidFill>
                      <a:srgbClr val="78350F"/>
                    </a:solidFill>
                    <a:latin typeface="Arial"/>
                  </a:rPr>
                  <a:t> then give </a:t>
                </a:r>
                <a:r>
                  <a:rPr lang="en-IN" sz="2400">
                    <a:solidFill>
                      <a:srgbClr val="78350F"/>
                    </a:solidFill>
                    <a:latin typeface="Cambria Math" panose="02040503050406030204" pitchFamily="18" charset="0"/>
                  </a:rPr>
                  <a:t>$ab$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expansion: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den>
                            </m:f>
                          </m:e>
                        </m:d>
                      </m:e>
                      <m:sup>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the coefficient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6</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expansion: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den>
                            </m:f>
                          </m:e>
                        </m:d>
                      </m:e>
                      <m:sup>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expansion: </a:t>
                </a:r>
                <a:r>
                  <a:rPr lang="en-IN" sz="2400">
                    <a:solidFill>
                      <a:srgbClr val="111827"/>
                    </a:solidFill>
                    <a:latin typeface="Cambria Math" panose="02040503050406030204" pitchFamily="18" charset="0"/>
                  </a:rPr>
                  <a:t>$T_{r+1}=\binom{11}{r}(ax^2)^{11-r}\left(\dfrac{1}{2bx}\right)^r=\binom{11}{r}a^{11-r}\left(\dfrac1{2b}\right)^rx^{22-3r}$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$x^7$</a:t>
                </a:r>
                <a:r>
                  <a:rPr sz="2400" b="0">
                    <a:solidFill>
                      <a:srgbClr val="111827"/>
                    </a:solidFill>
                    <a:latin typeface="Arial"/>
                  </a:rPr>
                  <a:t>: </a:t>
                </a:r>
                <a:r>
                  <a:rPr lang="en-IN" sz="2400">
                    <a:solidFill>
                      <a:srgbClr val="111827"/>
                    </a:solidFill>
                    <a:latin typeface="Cambria Math" panose="02040503050406030204" pitchFamily="18" charset="0"/>
                  </a:rPr>
                  <a:t>$22-3r=7$</a:t>
                </a:r>
                <a:r>
                  <a:rPr sz="2400" b="0">
                    <a:solidFill>
                      <a:srgbClr val="111827"/>
                    </a:solidFill>
                    <a:latin typeface="Arial"/>
                  </a:rPr>
                  <a:t>, so </a:t>
                </a:r>
                <a:r>
                  <a:rPr lang="en-IN" sz="2400">
                    <a:solidFill>
                      <a:srgbClr val="111827"/>
                    </a:solidFill>
                    <a:latin typeface="Cambria Math" panose="02040503050406030204" pitchFamily="18" charset="0"/>
                  </a:rPr>
                  <a:t>$r=5$</a:t>
                </a:r>
                <a:r>
                  <a:rPr sz="2400" b="0">
                    <a:solidFill>
                      <a:srgbClr val="111827"/>
                    </a:solidFill>
                    <a:latin typeface="Arial"/>
                  </a:rPr>
                  <a:t> and the coefficient is </a:t>
                </a:r>
                <a:r>
                  <a:rPr lang="en-IN" sz="2400">
                    <a:solidFill>
                      <a:srgbClr val="111827"/>
                    </a:solidFill>
                    <a:latin typeface="Cambria Math" panose="02040503050406030204" pitchFamily="18" charset="0"/>
                  </a:rPr>
                  <a:t>$\binom{11}{5}\dfrac{a^6}{(2b)^5}$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expansion: </a:t>
                </a:r>
                <a:r>
                  <a:rPr lang="en-IN" sz="2400">
                    <a:solidFill>
                      <a:srgbClr val="111827"/>
                    </a:solidFill>
                    <a:latin typeface="Cambria Math" panose="02040503050406030204" pitchFamily="18" charset="0"/>
                  </a:rPr>
                  <a:t>$T_{r+1}=\binom{11}{r}(ax)^{11-r}\left(-\dfrac{1}{3bx^2}\right)^r=\binom{11}{r}a^{11-r}\left(-\dfrac1{3b}\right)^rx^{11-3r}$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the coefficient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6</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5</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den>
                    </m:f>
                  </m:oMath>
                </a14:m>
                <a:r>
                  <a:rPr sz="2400" b="0">
                    <a:solidFill>
                      <a:srgbClr val="111827"/>
                    </a:solidFill>
                    <a:latin typeface="Arial"/>
                  </a:rPr>
                  <a:t> (the sign is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Equate, using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6</m:t>
                            </m:r>
                          </m:den>
                        </m:f>
                      </m:e>
                    </m:d>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6</m:t>
                            </m:r>
                          </m:sup>
                        </m:sSup>
                      </m:num>
                      <m:den>
                        <m:r>
                          <a:rPr lang="en-IN" sz="2400" i="1">
                            <a:solidFill>
                              <a:srgbClr val="111827"/>
                            </a:solidFill>
                            <a:latin typeface="Cambria Math" panose="02040503050406030204" pitchFamily="18" charset="0"/>
                          </a:rPr>
                          <m:t>32</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5</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5</m:t>
                            </m:r>
                          </m:sup>
                        </m:sSup>
                      </m:num>
                      <m:den>
                        <m:r>
                          <a:rPr lang="en-IN" sz="2400" i="1">
                            <a:solidFill>
                              <a:srgbClr val="111827"/>
                            </a:solidFill>
                            <a:latin typeface="Cambria Math" panose="02040503050406030204" pitchFamily="18" charset="0"/>
                          </a:rPr>
                          <m:t>729</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6</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729</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$x^{-7}$</a:t>
                </a:r>
                <a:r>
                  <a:rPr sz="2400" b="0">
                    <a:solidFill>
                      <a:srgbClr val="111827"/>
                    </a:solidFill>
                    <a:latin typeface="Arial"/>
                  </a:rPr>
                  <a:t>: </a:t>
                </a:r>
                <a:r>
                  <a:rPr lang="en-IN" sz="2400">
                    <a:solidFill>
                      <a:srgbClr val="111827"/>
                    </a:solidFill>
                    <a:latin typeface="Cambria Math" panose="02040503050406030204" pitchFamily="18" charset="0"/>
                  </a:rPr>
                  <a:t>$11-3r=-7$</a:t>
                </a:r>
                <a:r>
                  <a:rPr sz="2400" b="0">
                    <a:solidFill>
                      <a:srgbClr val="111827"/>
                    </a:solidFill>
                    <a:latin typeface="Arial"/>
                  </a:rPr>
                  <a:t>, so </a:t>
                </a:r>
                <a:r>
                  <a:rPr lang="en-IN" sz="2400">
                    <a:solidFill>
                      <a:srgbClr val="111827"/>
                    </a:solidFill>
                    <a:latin typeface="Cambria Math" panose="02040503050406030204" pitchFamily="18" charset="0"/>
                  </a:rPr>
                  <a:t>$r=6$</a:t>
                </a:r>
                <a:r>
                  <a:rPr sz="2400" b="0">
                    <a:solidFill>
                      <a:srgbClr val="111827"/>
                    </a:solidFill>
                    <a:latin typeface="Arial"/>
                  </a:rPr>
                  <a:t> and the coefficient is </a:t>
                </a:r>
                <a:r>
                  <a:rPr lang="en-IN" sz="2400">
                    <a:solidFill>
                      <a:srgbClr val="111827"/>
                    </a:solidFill>
                    <a:latin typeface="Cambria Math" panose="02040503050406030204" pitchFamily="18" charset="0"/>
                  </a:rPr>
                  <a:t>$\binom{11}{6}\dfrac{a^5}{(3b)^6}$</a:t>
                </a:r>
                <a:r>
                  <a:rPr sz="2400" b="0">
                    <a:solidFill>
                      <a:srgbClr val="111827"/>
                    </a:solidFill>
                    <a:latin typeface="Arial"/>
                  </a:rPr>
                  <a:t> (the sign is </a:t>
                </a:r>
                <a:r>
                  <a:rPr lang="en-IN" sz="2400">
                    <a:solidFill>
                      <a:srgbClr val="111827"/>
                    </a:solidFill>
                    <a:latin typeface="Cambria Math" panose="02040503050406030204" pitchFamily="18" charset="0"/>
                  </a:rPr>
                  <a:t>$+$</a:t>
                </a:r>
                <a:r>
                  <a:rPr sz="2400" b="0">
                    <a:solidFill>
                      <a:srgbClr val="111827"/>
                    </a:solidFill>
                    <a:latin typeface="Arial"/>
                  </a:rPr>
                  <a:t> since </a:t>
                </a:r>
                <a:r>
                  <a:rPr lang="en-IN" sz="2400">
                    <a:solidFill>
                      <a:srgbClr val="111827"/>
                    </a:solidFill>
                    <a:latin typeface="Cambria Math" panose="02040503050406030204" pitchFamily="18" charset="0"/>
                  </a:rPr>
                  <a:t>$r=6$</a:t>
                </a:r>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Equate, using </a:t>
                </a:r>
                <a:r>
                  <a:rPr lang="en-IN" sz="2400">
                    <a:solidFill>
                      <a:srgbClr val="111827"/>
                    </a:solidFill>
                    <a:latin typeface="Cambria Math" panose="02040503050406030204" pitchFamily="18" charset="0"/>
                  </a:rPr>
                  <a:t>$\binom{11}{5}=\binom{11}{6}$</a:t>
                </a:r>
                <a:r>
                  <a:rPr sz="2400" b="0">
                    <a:solidFill>
                      <a:srgbClr val="111827"/>
                    </a:solidFill>
                    <a:latin typeface="Arial"/>
                  </a:rPr>
                  <a:t>: </a:t>
                </a:r>
                <a:r>
                  <a:rPr lang="en-IN" sz="2400">
                    <a:solidFill>
                      <a:srgbClr val="111827"/>
                    </a:solidFill>
                    <a:latin typeface="Cambria Math" panose="02040503050406030204" pitchFamily="18" charset="0"/>
                  </a:rPr>
                  <a:t>$\dfrac{a^6}{32b^5}=\dfrac{a^5}{729b^6}$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$729\,ab=32$</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729</m:t>
                    </m:r>
                    <m:r>
                      <a:rPr lang="en-IN" sz="2800" i="1">
                        <a:solidFill>
                          <a:srgbClr val="15803D"/>
                        </a:solidFill>
                        <a:latin typeface="Cambria Math" panose="02040503050406030204" pitchFamily="18" charset="0"/>
                      </a:rPr>
                      <m:t>𝑎</m:t>
                    </m:r>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32</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$729ab=32$</a:t>
                </a:r>
                <a:endParaRPr sz="2800">
                  <a:solidFill>
                    <a:srgbClr val="15803D"/>
                  </a:solidFill>
                </a:endParaRPr>
              </a:p>
            </p:txBody>
          </p:sp>
        </mc:Fallback>
      </mc:AlternateContent>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 each bracket so that only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 appear: </a:t>
                </a:r>
                <a14:m>
                  <m:oMath xmlns:m="http://schemas.openxmlformats.org/officeDocument/2006/math">
                    <m:r>
                      <a:rPr lang="en-IN" sz="2400" i="1">
                        <a:solidFill>
                          <a:srgbClr val="78350F"/>
                        </a:solidFill>
                        <a:latin typeface="Cambria Math" panose="02040503050406030204" pitchFamily="18" charset="0"/>
                      </a:rPr>
                      <m:t>𝑎</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𝑥</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 </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𝑥</m:t>
                        </m:r>
                      </m:den>
                    </m:f>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𝑏</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 </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𝑏</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 each bracket so that only </a:t>
                </a:r>
                <a:r>
                  <a:rPr lang="en-IN" sz="2400">
                    <a:solidFill>
                      <a:srgbClr val="78350F"/>
                    </a:solidFill>
                    <a:latin typeface="Cambria Math" panose="02040503050406030204" pitchFamily="18" charset="0"/>
                  </a:rPr>
                  <a:t>$ab$</a:t>
                </a:r>
                <a:r>
                  <a:rPr sz="2400" b="0">
                    <a:solidFill>
                      <a:srgbClr val="78350F"/>
                    </a:solidFill>
                    <a:latin typeface="Arial"/>
                  </a:rPr>
                  <a:t> and </a:t>
                </a:r>
                <a:r>
                  <a:rPr lang="en-IN" sz="2400">
                    <a:solidFill>
                      <a:srgbClr val="78350F"/>
                    </a:solidFill>
                    <a:latin typeface="Cambria Math" panose="02040503050406030204" pitchFamily="18" charset="0"/>
                  </a:rPr>
                  <a:t>$b$</a:t>
                </a:r>
                <a:r>
                  <a:rPr sz="2400" b="0">
                    <a:solidFill>
                      <a:srgbClr val="78350F"/>
                    </a:solidFill>
                    <a:latin typeface="Arial"/>
                  </a:rPr>
                  <a:t> appear: </a:t>
                </a:r>
                <a:r>
                  <a:rPr lang="en-IN" sz="2400">
                    <a:solidFill>
                      <a:srgbClr val="78350F"/>
                    </a:solidFill>
                    <a:latin typeface="Cambria Math" panose="02040503050406030204" pitchFamily="18" charset="0"/>
                  </a:rPr>
                  <a:t>$ax^2+\frac1{2bx}=\frac{2ab\,x^3+1}{2bx}$</a:t>
                </a:r>
                <a:r>
                  <a:rPr sz="2400" b="0">
                    <a:solidFill>
                      <a:srgbClr val="78350F"/>
                    </a:solidFill>
                    <a:latin typeface="Arial"/>
                  </a:rPr>
                  <a:t> and </a:t>
                </a:r>
                <a:r>
                  <a:rPr lang="en-IN" sz="2400">
                    <a:solidFill>
                      <a:srgbClr val="78350F"/>
                    </a:solidFill>
                    <a:latin typeface="Cambria Math" panose="02040503050406030204" pitchFamily="18" charset="0"/>
                  </a:rPr>
                  <a:t>$ax-\frac1{3bx^2}=\frac{3ab\,x^3-1}{3bx^2}$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expression: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11</m:t>
                            </m:r>
                          </m:sup>
                        </m:sSup>
                      </m:den>
                    </m:f>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 =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18</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expression: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22</m:t>
                            </m:r>
                          </m:sup>
                        </m:sSup>
                      </m:den>
                    </m:f>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up>
                    </m:sSup>
                  </m:oMath>
                </a14:m>
                <a:r>
                  <a:rPr sz="2400" b="0">
                    <a:solidFill>
                      <a:srgbClr val="111827"/>
                    </a:solidFill>
                    <a:latin typeface="Arial"/>
                  </a:rPr>
                  <a:t> =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expression: </a:t>
                </a:r>
                <a:r>
                  <a:rPr lang="en-IN" sz="2400">
                    <a:solidFill>
                      <a:srgbClr val="111827"/>
                    </a:solidFill>
                    <a:latin typeface="Cambria Math" panose="02040503050406030204" pitchFamily="18" charset="0"/>
                  </a:rPr>
                  <a:t>$\dfrac{(1+2ab\,x^3)^{11}}{(2b)^{11}x^{11}}$</a:t>
                </a:r>
                <a:r>
                  <a:rPr sz="2400" b="0">
                    <a:solidFill>
                      <a:srgbClr val="111827"/>
                    </a:solidFill>
                    <a:latin typeface="Arial"/>
                  </a:rPr>
                  <a:t>; coefficient of </a:t>
                </a:r>
                <a:r>
                  <a:rPr lang="en-IN" sz="2400">
                    <a:solidFill>
                      <a:srgbClr val="111827"/>
                    </a:solidFill>
                    <a:latin typeface="Cambria Math" panose="02040503050406030204" pitchFamily="18" charset="0"/>
                  </a:rPr>
                  <a:t>$x^7$</a:t>
                </a:r>
                <a:r>
                  <a:rPr sz="2400" b="0">
                    <a:solidFill>
                      <a:srgbClr val="111827"/>
                    </a:solidFill>
                    <a:latin typeface="Arial"/>
                  </a:rPr>
                  <a:t> = </a:t>
                </a:r>
                <a:r>
                  <a:rPr lang="en-IN" sz="2400">
                    <a:solidFill>
                      <a:srgbClr val="111827"/>
                    </a:solidFill>
                    <a:latin typeface="Cambria Math" panose="02040503050406030204" pitchFamily="18" charset="0"/>
                  </a:rPr>
                  <a:t>$\dfrac{1}{(2b)^{11}}\times$</a:t>
                </a:r>
                <a:r>
                  <a:rPr sz="2400" b="0">
                    <a:solidFill>
                      <a:srgbClr val="111827"/>
                    </a:solidFill>
                    <a:latin typeface="Arial"/>
                  </a:rPr>
                  <a:t> coefficient of </a:t>
                </a:r>
                <a:r>
                  <a:rPr lang="en-IN" sz="2400">
                    <a:solidFill>
                      <a:srgbClr val="111827"/>
                    </a:solidFill>
                    <a:latin typeface="Cambria Math" panose="02040503050406030204" pitchFamily="18" charset="0"/>
                  </a:rPr>
                  <a:t>$x^{18}=(x^3)^6$</a:t>
                </a:r>
                <a:r>
                  <a:rPr sz="2400" b="0">
                    <a:solidFill>
                      <a:srgbClr val="111827"/>
                    </a:solidFill>
                    <a:latin typeface="Arial"/>
                  </a:rPr>
                  <a:t>, i.e. </a:t>
                </a:r>
                <a:r>
                  <a:rPr lang="en-IN" sz="2400">
                    <a:solidFill>
                      <a:srgbClr val="111827"/>
                    </a:solidFill>
                    <a:latin typeface="Cambria Math" panose="02040503050406030204" pitchFamily="18" charset="0"/>
                  </a:rPr>
                  <a:t>$\dfrac{\binom{11}{6}(2ab)^6}{(2b)^{11}}$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expression: </a:t>
                </a:r>
                <a:r>
                  <a:rPr lang="en-IN" sz="2400">
                    <a:solidFill>
                      <a:srgbClr val="111827"/>
                    </a:solidFill>
                    <a:latin typeface="Cambria Math" panose="02040503050406030204" pitchFamily="18" charset="0"/>
                  </a:rPr>
                  <a:t>$\dfrac{(3ab\,x^3-1)^{11}}{(3b)^{11}x^{22}}$</a:t>
                </a:r>
                <a:r>
                  <a:rPr sz="2400" b="0">
                    <a:solidFill>
                      <a:srgbClr val="111827"/>
                    </a:solidFill>
                    <a:latin typeface="Arial"/>
                  </a:rPr>
                  <a:t>; coefficient of </a:t>
                </a:r>
                <a:r>
                  <a:rPr lang="en-IN" sz="2400">
                    <a:solidFill>
                      <a:srgbClr val="111827"/>
                    </a:solidFill>
                    <a:latin typeface="Cambria Math" panose="02040503050406030204" pitchFamily="18" charset="0"/>
                  </a:rPr>
                  <a:t>$x^{-7}$</a:t>
                </a:r>
                <a:r>
                  <a:rPr sz="2400" b="0">
                    <a:solidFill>
                      <a:srgbClr val="111827"/>
                    </a:solidFill>
                    <a:latin typeface="Arial"/>
                  </a:rPr>
                  <a:t> = </a:t>
                </a:r>
                <a:r>
                  <a:rPr lang="en-IN" sz="2400">
                    <a:solidFill>
                      <a:srgbClr val="111827"/>
                    </a:solidFill>
                    <a:latin typeface="Cambria Math" panose="02040503050406030204" pitchFamily="18" charset="0"/>
                  </a:rPr>
                  <a:t>$\dfrac1{(3b)^{11}}\times$</a:t>
                </a:r>
                <a:r>
                  <a:rPr sz="2400" b="0">
                    <a:solidFill>
                      <a:srgbClr val="111827"/>
                    </a:solidFill>
                    <a:latin typeface="Arial"/>
                  </a:rPr>
                  <a:t> coefficient of </a:t>
                </a:r>
                <a:r>
                  <a:rPr lang="en-IN" sz="2400">
                    <a:solidFill>
                      <a:srgbClr val="111827"/>
                    </a:solidFill>
                    <a:latin typeface="Cambria Math" panose="02040503050406030204" pitchFamily="18" charset="0"/>
                  </a:rPr>
                  <a:t>$x^{15}=(x^3)^5$</a:t>
                </a:r>
                <a:r>
                  <a:rPr sz="2400" b="0">
                    <a:solidFill>
                      <a:srgbClr val="111827"/>
                    </a:solidFill>
                    <a:latin typeface="Arial"/>
                  </a:rPr>
                  <a:t>, i.e. </a:t>
                </a:r>
                <a:r>
                  <a:rPr lang="en-IN" sz="2400">
                    <a:solidFill>
                      <a:srgbClr val="111827"/>
                    </a:solidFill>
                    <a:latin typeface="Cambria Math" panose="02040503050406030204" pitchFamily="18" charset="0"/>
                  </a:rPr>
                  <a:t>$\dfrac{\binom{11}{5}(3ab)^5(-1)^6}{(3b)^{11}}$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Equate, using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11</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11</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num>
                      <m:den>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11</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11</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Cancel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p>
                      <m:e>
                        <m:r>
                          <a:rPr lang="en-IN" sz="2400" i="1">
                            <a:solidFill>
                              <a:srgbClr val="111827"/>
                            </a:solidFill>
                            <a:latin typeface="Cambria Math" panose="02040503050406030204" pitchFamily="18" charset="0"/>
                          </a:rPr>
                          <m:t>𝑏</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6</m:t>
                            </m:r>
                          </m:sup>
                        </m:sSup>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729</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option (C)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Equate, using </a:t>
                </a:r>
                <a:r>
                  <a:rPr lang="en-IN" sz="2400">
                    <a:solidFill>
                      <a:srgbClr val="111827"/>
                    </a:solidFill>
                    <a:latin typeface="Cambria Math" panose="02040503050406030204" pitchFamily="18" charset="0"/>
                  </a:rPr>
                  <a:t>$\binom{11}{6}=\binom{11}{5}$</a:t>
                </a:r>
                <a:r>
                  <a:rPr sz="2400" b="0">
                    <a:solidFill>
                      <a:srgbClr val="111827"/>
                    </a:solidFill>
                    <a:latin typeface="Arial"/>
                  </a:rPr>
                  <a:t>: </a:t>
                </a:r>
                <a:r>
                  <a:rPr lang="en-IN" sz="2400">
                    <a:solidFill>
                      <a:srgbClr val="111827"/>
                    </a:solidFill>
                    <a:latin typeface="Cambria Math" panose="02040503050406030204" pitchFamily="18" charset="0"/>
                  </a:rPr>
                  <a:t>$\dfrac{2^6(ab)^6}{2^{11}b^{11}}=\dfrac{3^5(ab)^5}{3^{11}b^{11}}$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Cancel </a:t>
                </a:r>
                <a:r>
                  <a:rPr lang="en-IN" sz="2400">
                    <a:solidFill>
                      <a:srgbClr val="111827"/>
                    </a:solidFill>
                    <a:latin typeface="Cambria Math" panose="02040503050406030204" pitchFamily="18" charset="0"/>
                  </a:rPr>
                  <a:t>$(ab)^5b^{-11}$</a:t>
                </a:r>
                <a:r>
                  <a:rPr sz="2400" b="0">
                    <a:solidFill>
                      <a:srgbClr val="111827"/>
                    </a:solidFill>
                    <a:latin typeface="Arial"/>
                  </a:rPr>
                  <a:t>: </a:t>
                </a:r>
                <a:r>
                  <a:rPr lang="en-IN" sz="2400">
                    <a:solidFill>
                      <a:srgbClr val="111827"/>
                    </a:solidFill>
                    <a:latin typeface="Cambria Math" panose="02040503050406030204" pitchFamily="18" charset="0"/>
                  </a:rPr>
                  <a:t>$\dfrac{ab}{2^5}=\dfrac{1}{3^6}$</a:t>
                </a:r>
                <a:r>
                  <a:rPr sz="2400" b="0">
                    <a:solidFill>
                      <a:srgbClr val="111827"/>
                    </a:solidFill>
                    <a:latin typeface="Arial"/>
                  </a:rPr>
                  <a:t>, i.e. </a:t>
                </a:r>
                <a:r>
                  <a:rPr lang="en-IN" sz="2400">
                    <a:solidFill>
                      <a:srgbClr val="111827"/>
                    </a:solidFill>
                    <a:latin typeface="Cambria Math" panose="02040503050406030204" pitchFamily="18" charset="0"/>
                  </a:rPr>
                  <a:t>$729\,ab=32$</a:t>
                </a:r>
                <a:r>
                  <a:rPr sz="2400" b="0">
                    <a:solidFill>
                      <a:srgbClr val="111827"/>
                    </a:solidFill>
                    <a:latin typeface="Arial"/>
                  </a:rPr>
                  <a:t>, option (C)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729</m:t>
                    </m:r>
                    <m:r>
                      <a:rPr lang="en-IN" sz="2800" i="1">
                        <a:solidFill>
                          <a:srgbClr val="15803D"/>
                        </a:solidFill>
                        <a:latin typeface="Cambria Math" panose="02040503050406030204" pitchFamily="18" charset="0"/>
                      </a:rPr>
                      <m:t>𝑎</m:t>
                    </m:r>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32</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$729ab=32$</a:t>
                </a:r>
                <a:endParaRPr sz="2800">
                  <a:solidFill>
                    <a:srgbClr val="15803D"/>
                  </a:solidFill>
                </a:endParaRPr>
              </a:p>
            </p:txBody>
          </p:sp>
        </mc:Fallback>
      </mc:AlternateContent>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Compare coefficients in the form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times a monomial in the parameters; equal binomial coefficients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Powers of the constants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come with the same index as the term: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num>
                      <m:den>
                        <m:r>
                          <a:rPr lang="en-IN" sz="2400" i="1">
                            <a:solidFill>
                              <a:srgbClr val="111827"/>
                            </a:solidFill>
                            <a:latin typeface="Cambria Math" panose="02040503050406030204" pitchFamily="18" charset="0"/>
                          </a:rPr>
                          <m:t>729</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32</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5</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729</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6</m:t>
                            </m:r>
                          </m:sup>
                        </m:sSup>
                      </m:den>
                    </m:f>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num>
                      <m:den>
                        <m:r>
                          <a:rPr lang="en-IN" sz="2400" i="1">
                            <a:solidFill>
                              <a:srgbClr val="111827"/>
                            </a:solidFill>
                            <a:latin typeface="Cambria Math" panose="02040503050406030204" pitchFamily="18" charset="0"/>
                          </a:rPr>
                          <m:t>729</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Compare coefficients in the form </a:t>
                </a:r>
                <a:r>
                  <a:rPr lang="en-IN" sz="2400">
                    <a:solidFill>
                      <a:srgbClr val="111827"/>
                    </a:solidFill>
                    <a:latin typeface="Cambria Math" panose="02040503050406030204" pitchFamily="18" charset="0"/>
                  </a:rPr>
                  <a:t>$\binom nr$</a:t>
                </a:r>
                <a:r>
                  <a:rPr sz="2400" b="0">
                    <a:solidFill>
                      <a:srgbClr val="111827"/>
                    </a:solidFill>
                    <a:latin typeface="Arial"/>
                  </a:rPr>
                  <a:t> times a monomial in the parameters; equal binomial coefficients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$\binom{11}{5}=\binom{11}{6}=462$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Powers of the constants </a:t>
                </a:r>
                <a:r>
                  <a:rPr lang="en-IN" sz="2400">
                    <a:solidFill>
                      <a:srgbClr val="111827"/>
                    </a:solidFill>
                    <a:latin typeface="Cambria Math" panose="02040503050406030204" pitchFamily="18" charset="0"/>
                  </a:rPr>
                  <a:t>$2$</a:t>
                </a:r>
                <a:r>
                  <a:rPr sz="2400" b="0">
                    <a:solidFill>
                      <a:srgbClr val="111827"/>
                    </a:solidFill>
                    <a:latin typeface="Arial"/>
                  </a:rPr>
                  <a:t> and </a:t>
                </a:r>
                <a:r>
                  <a:rPr lang="en-IN" sz="2400">
                    <a:solidFill>
                      <a:srgbClr val="111827"/>
                    </a:solidFill>
                    <a:latin typeface="Cambria Math" panose="02040503050406030204" pitchFamily="18" charset="0"/>
                  </a:rPr>
                  <a:t>$3$</a:t>
                </a:r>
                <a:r>
                  <a:rPr sz="2400" b="0">
                    <a:solidFill>
                      <a:srgbClr val="111827"/>
                    </a:solidFill>
                    <a:latin typeface="Arial"/>
                  </a:rPr>
                  <a:t> come with the same index as the term: </a:t>
                </a:r>
                <a:r>
                  <a:rPr lang="en-IN" sz="2400">
                    <a:solidFill>
                      <a:srgbClr val="111827"/>
                    </a:solidFill>
                    <a:latin typeface="Cambria Math" panose="02040503050406030204" pitchFamily="18" charset="0"/>
                  </a:rPr>
                  <a:t>$(2b)^5$</a:t>
                </a:r>
                <a:r>
                  <a:rPr sz="2400" b="0">
                    <a:solidFill>
                      <a:srgbClr val="111827"/>
                    </a:solidFill>
                    <a:latin typeface="Arial"/>
                  </a:rPr>
                  <a:t> and </a:t>
                </a:r>
                <a:r>
                  <a:rPr lang="en-IN" sz="2400">
                    <a:solidFill>
                      <a:srgbClr val="111827"/>
                    </a:solidFill>
                    <a:latin typeface="Cambria Math" panose="02040503050406030204" pitchFamily="18" charset="0"/>
                  </a:rPr>
                  <a:t>$(3b)^6$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$a=1$</a:t>
                </a:r>
                <a:r>
                  <a:rPr sz="2400" b="0">
                    <a:solidFill>
                      <a:srgbClr val="111827"/>
                    </a:solidFill>
                    <a:latin typeface="Arial"/>
                  </a:rPr>
                  <a:t>, </a:t>
                </a:r>
                <a:r>
                  <a:rPr lang="en-IN" sz="2400">
                    <a:solidFill>
                      <a:srgbClr val="111827"/>
                    </a:solidFill>
                    <a:latin typeface="Cambria Math" panose="02040503050406030204" pitchFamily="18" charset="0"/>
                  </a:rPr>
                  <a:t>$b=\frac{32}{729}$</a:t>
                </a:r>
                <a:r>
                  <a:rPr sz="2400" b="0">
                    <a:solidFill>
                      <a:srgbClr val="111827"/>
                    </a:solidFill>
                    <a:latin typeface="Arial"/>
                  </a:rPr>
                  <a:t>: </a:t>
                </a:r>
                <a:r>
                  <a:rPr lang="en-IN" sz="2400">
                    <a:solidFill>
                      <a:srgbClr val="111827"/>
                    </a:solidFill>
                    <a:latin typeface="Cambria Math" panose="02040503050406030204" pitchFamily="18" charset="0"/>
                  </a:rPr>
                  <a:t>$\frac{1}{32b^5}=\frac{1}{729b^6}$</a:t>
                </a:r>
                <a:r>
                  <a:rPr sz="2400" b="0">
                    <a:solidFill>
                      <a:srgbClr val="111827"/>
                    </a:solidFill>
                    <a:latin typeface="Arial"/>
                  </a:rPr>
                  <a:t> gives </a:t>
                </a:r>
                <a:r>
                  <a:rPr lang="en-IN" sz="2400">
                    <a:solidFill>
                      <a:srgbClr val="111827"/>
                    </a:solidFill>
                    <a:latin typeface="Cambria Math" panose="02040503050406030204" pitchFamily="18" charset="0"/>
                  </a:rPr>
                  <a:t>$b=\frac{32}{729}$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876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Among the statements: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(S1): </a:t>
                </a:r>
                <a14:m>
                  <m:oMath xmlns:m="http://schemas.openxmlformats.org/officeDocument/2006/math">
                    <m:sSup>
                      <m:e>
                        <m:r>
                          <a:rPr lang="en-IN" sz="2400" i="1">
                            <a:solidFill>
                              <a:srgbClr val="111827"/>
                            </a:solidFill>
                            <a:latin typeface="Cambria Math" panose="02040503050406030204" pitchFamily="18" charset="0"/>
                          </a:rPr>
                          <m:t>2023</m:t>
                        </m:r>
                      </m:e>
                      <m:sup>
                        <m:r>
                          <a:rPr lang="en-IN" sz="2400" i="1">
                            <a:solidFill>
                              <a:srgbClr val="111827"/>
                            </a:solidFill>
                            <a:latin typeface="Cambria Math" panose="02040503050406030204" pitchFamily="18" charset="0"/>
                          </a:rPr>
                          <m:t>2022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1999</m:t>
                        </m:r>
                      </m:e>
                      <m:sup>
                        <m:r>
                          <a:rPr lang="en-IN" sz="2400" i="1">
                            <a:solidFill>
                              <a:srgbClr val="111827"/>
                            </a:solidFill>
                            <a:latin typeface="Cambria Math" panose="02040503050406030204" pitchFamily="18" charset="0"/>
                          </a:rPr>
                          <m:t>2022</m:t>
                        </m:r>
                      </m:sup>
                    </m:sSup>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8</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(S2): </a:t>
                </a:r>
                <a14:m>
                  <m:oMath xmlns:m="http://schemas.openxmlformats.org/officeDocument/2006/math">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144</m:t>
                    </m:r>
                  </m:oMath>
                </a14:m>
                <a:r>
                  <a:rPr sz="2400" b="0">
                    <a:solidFill>
                      <a:srgbClr val="111827"/>
                    </a:solidFill>
                    <a:latin typeface="Arial"/>
                  </a:rPr>
                  <a:t> for infinitely many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(A) both (S1) and (S2) are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both (S1) and (S2) are incorrect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only (S2) is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only (S1) is correct</a:t>
                </a:r>
                <a:endParaRPr sz="2400">
                  <a:solidFill>
                    <a:srgbClr val="111827"/>
                  </a:solidFill>
                </a:endParaRPr>
              </a:p>
            </p:txBody>
          </p:sp>
        </mc:Choice>
        <mc:Fallback>
          <p:sp>
            <p:nvSpPr>
              <p:cNvPr id="4" name="Rounded Rectangle 3"/>
              <p:cNvSpPr/>
              <p:nvPr/>
            </p:nvSpPr>
            <p:spPr>
              <a:xfrm>
                <a:off x="731520" y="1280160"/>
                <a:ext cx="10725912" cy="3876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Among the statements: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(S1): </a:t>
                </a:r>
                <a:r>
                  <a:rPr lang="en-IN" sz="2400">
                    <a:solidFill>
                      <a:srgbClr val="111827"/>
                    </a:solidFill>
                    <a:latin typeface="Cambria Math" panose="02040503050406030204" pitchFamily="18" charset="0"/>
                  </a:rPr>
                  <a:t>$2023^{2022}-1999^{2022}$</a:t>
                </a:r>
                <a:r>
                  <a:rPr sz="2400" b="0">
                    <a:solidFill>
                      <a:srgbClr val="111827"/>
                    </a:solidFill>
                    <a:latin typeface="Arial"/>
                  </a:rPr>
                  <a:t> is divisible by </a:t>
                </a:r>
                <a:r>
                  <a:rPr lang="en-IN" sz="2400">
                    <a:solidFill>
                      <a:srgbClr val="111827"/>
                    </a:solidFill>
                    <a:latin typeface="Cambria Math" panose="02040503050406030204" pitchFamily="18" charset="0"/>
                  </a:rPr>
                  <a:t>$8$</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(S2): </a:t>
                </a:r>
                <a:r>
                  <a:rPr lang="en-IN" sz="2400">
                    <a:solidFill>
                      <a:srgbClr val="111827"/>
                    </a:solidFill>
                    <a:latin typeface="Cambria Math" panose="02040503050406030204" pitchFamily="18" charset="0"/>
                  </a:rPr>
                  <a:t>$13(13)^n-11n-13$</a:t>
                </a:r>
                <a:r>
                  <a:rPr sz="2400" b="0">
                    <a:solidFill>
                      <a:srgbClr val="111827"/>
                    </a:solidFill>
                    <a:latin typeface="Arial"/>
                  </a:rPr>
                  <a:t> is divisible by </a:t>
                </a:r>
                <a:r>
                  <a:rPr lang="en-IN" sz="2400">
                    <a:solidFill>
                      <a:srgbClr val="111827"/>
                    </a:solidFill>
                    <a:latin typeface="Cambria Math" panose="02040503050406030204" pitchFamily="18" charset="0"/>
                  </a:rPr>
                  <a:t>$144$</a:t>
                </a:r>
                <a:r>
                  <a:rPr sz="2400" b="0">
                    <a:solidFill>
                      <a:srgbClr val="111827"/>
                    </a:solidFill>
                    <a:latin typeface="Arial"/>
                  </a:rPr>
                  <a:t> for infinitely many </a:t>
                </a:r>
                <a:r>
                  <a:rPr lang="en-IN" sz="2400">
                    <a:solidFill>
                      <a:srgbClr val="111827"/>
                    </a:solidFill>
                    <a:latin typeface="Cambria Math" panose="02040503050406030204" pitchFamily="18" charset="0"/>
                  </a:rPr>
                  <a:t>$n\in\mathbb 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both (S1) and (S2) are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both (S1) and (S2) are incorrect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only (S2) is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only (S1) is correct</a:t>
                </a:r>
                <a:endParaRPr sz="2400">
                  <a:solidFill>
                    <a:srgbClr val="111827"/>
                  </a:solidFill>
                </a:endParaRPr>
              </a:p>
            </p:txBody>
          </p:sp>
        </mc:Fallback>
      </mc:AlternateContent>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28016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Divisibility using the binomial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066288"/>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13</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13</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11</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144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it is divisible by </a:t>
                </a:r>
                <a14:m>
                  <m:oMath xmlns:m="http://schemas.openxmlformats.org/officeDocument/2006/math">
                    <m:r>
                      <a:rPr lang="en-IN" sz="2400" i="1">
                        <a:solidFill>
                          <a:srgbClr val="78350F"/>
                        </a:solidFill>
                        <a:latin typeface="Cambria Math" panose="02040503050406030204" pitchFamily="18" charset="0"/>
                      </a:rPr>
                      <m:t>144</m:t>
                    </m:r>
                  </m:oMath>
                </a14:m>
                <a:r>
                  <a:rPr sz="2400" b="0">
                    <a:solidFill>
                      <a:srgbClr val="78350F"/>
                    </a:solidFill>
                    <a:latin typeface="Arial"/>
                  </a:rPr>
                  <a:t> exactly when </a:t>
                </a:r>
                <a14:m>
                  <m:oMath xmlns:m="http://schemas.openxmlformats.org/officeDocument/2006/math">
                    <m:r>
                      <a:rPr lang="en-IN" sz="2400" i="1">
                        <a:solidFill>
                          <a:srgbClr val="78350F"/>
                        </a:solidFill>
                        <a:latin typeface="Cambria Math" panose="02040503050406030204" pitchFamily="18" charset="0"/>
                      </a:rPr>
                      <m:t>144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oMath>
                </a14:m>
                <a:r>
                  <a:rPr sz="2400" b="0">
                    <a:solidFill>
                      <a:srgbClr val="78350F"/>
                    </a:solidFill>
                    <a:latin typeface="Arial"/>
                  </a:rPr>
                  <a:t> (infinitely many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066288"/>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$13\cdot13^n-11n-13\equiv n\pmod{144}$</a:t>
                </a:r>
                <a:r>
                  <a:rPr sz="2400" b="0">
                    <a:solidFill>
                      <a:srgbClr val="78350F"/>
                    </a:solidFill>
                    <a:latin typeface="Arial"/>
                  </a:rPr>
                  <a:t>, so it is divisible by </a:t>
                </a:r>
                <a:r>
                  <a:rPr lang="en-IN" sz="2400">
                    <a:solidFill>
                      <a:srgbClr val="78350F"/>
                    </a:solidFill>
                    <a:latin typeface="Cambria Math" panose="02040503050406030204" pitchFamily="18" charset="0"/>
                  </a:rPr>
                  <a:t>$144$</a:t>
                </a:r>
                <a:r>
                  <a:rPr sz="2400" b="0">
                    <a:solidFill>
                      <a:srgbClr val="78350F"/>
                    </a:solidFill>
                    <a:latin typeface="Arial"/>
                  </a:rPr>
                  <a:t> exactly when </a:t>
                </a:r>
                <a:r>
                  <a:rPr lang="en-IN" sz="2400">
                    <a:solidFill>
                      <a:srgbClr val="78350F"/>
                    </a:solidFill>
                    <a:latin typeface="Cambria Math" panose="02040503050406030204" pitchFamily="18" charset="0"/>
                  </a:rPr>
                  <a:t>$144\mid n$</a:t>
                </a:r>
                <a:r>
                  <a:rPr sz="2400" b="0">
                    <a:solidFill>
                      <a:srgbClr val="78350F"/>
                    </a:solidFill>
                    <a:latin typeface="Arial"/>
                  </a:rPr>
                  <a:t> (infinitely many </a:t>
                </a:r>
                <a:r>
                  <a:rPr lang="en-IN" sz="2400">
                    <a:solidFill>
                      <a:srgbClr val="78350F"/>
                    </a:solidFill>
                    <a:latin typeface="Cambria Math" panose="02040503050406030204" pitchFamily="18" charset="0"/>
                  </a:rPr>
                  <a:t>$n$</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312920"/>
                <a:ext cx="10725912" cy="23621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(S1):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2022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2022</m:t>
                        </m:r>
                      </m:sup>
                    </m:sSup>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2023</m:t>
                        </m:r>
                      </m:e>
                      <m:sup>
                        <m:r>
                          <a:rPr lang="en-IN" sz="2400" i="1">
                            <a:solidFill>
                              <a:srgbClr val="111827"/>
                            </a:solidFill>
                            <a:latin typeface="Cambria Math" panose="02040503050406030204" pitchFamily="18" charset="0"/>
                          </a:rPr>
                          <m:t>2022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1999</m:t>
                        </m:r>
                      </m:e>
                      <m:sup>
                        <m:r>
                          <a:rPr lang="en-IN" sz="2400" i="1">
                            <a:solidFill>
                              <a:srgbClr val="111827"/>
                            </a:solidFill>
                            <a:latin typeface="Cambria Math" panose="02040503050406030204" pitchFamily="18" charset="0"/>
                          </a:rPr>
                          <m:t>2022</m:t>
                        </m:r>
                      </m:sup>
                    </m:sSup>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2023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the number is divisible by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(S1) is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(S2): </a:t>
                </a:r>
                <a14:m>
                  <m:oMath xmlns:m="http://schemas.openxmlformats.org/officeDocument/2006/math">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312920"/>
                <a:ext cx="10725912" cy="23621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(S1): </a:t>
                </a:r>
                <a:r>
                  <a:rPr lang="en-IN" sz="2400">
                    <a:solidFill>
                      <a:srgbClr val="111827"/>
                    </a:solidFill>
                    <a:latin typeface="Cambria Math" panose="02040503050406030204" pitchFamily="18" charset="0"/>
                  </a:rPr>
                  <a:t>$x^{2022}-y^{2022}$</a:t>
                </a:r>
                <a:r>
                  <a:rPr sz="2400" b="0">
                    <a:solidFill>
                      <a:srgbClr val="111827"/>
                    </a:solidFill>
                    <a:latin typeface="Arial"/>
                  </a:rPr>
                  <a:t> is divisible by </a:t>
                </a:r>
                <a:r>
                  <a:rPr lang="en-IN" sz="2400">
                    <a:solidFill>
                      <a:srgbClr val="111827"/>
                    </a:solidFill>
                    <a:latin typeface="Cambria Math" panose="02040503050406030204" pitchFamily="18" charset="0"/>
                  </a:rPr>
                  <a:t>$x-y$</a:t>
                </a:r>
                <a:r>
                  <a:rPr sz="2400" b="0">
                    <a:solidFill>
                      <a:srgbClr val="111827"/>
                    </a:solidFill>
                    <a:latin typeface="Arial"/>
                  </a:rPr>
                  <a:t>, so </a:t>
                </a:r>
                <a:r>
                  <a:rPr lang="en-IN" sz="2400">
                    <a:solidFill>
                      <a:srgbClr val="111827"/>
                    </a:solidFill>
                    <a:latin typeface="Cambria Math" panose="02040503050406030204" pitchFamily="18" charset="0"/>
                  </a:rPr>
                  <a:t>$2023^{2022}-1999^{2022}$</a:t>
                </a:r>
                <a:r>
                  <a:rPr sz="2400" b="0">
                    <a:solidFill>
                      <a:srgbClr val="111827"/>
                    </a:solidFill>
                    <a:latin typeface="Arial"/>
                  </a:rPr>
                  <a:t> is divisible by </a:t>
                </a:r>
                <a:r>
                  <a:rPr lang="en-IN" sz="2400">
                    <a:solidFill>
                      <a:srgbClr val="111827"/>
                    </a:solidFill>
                    <a:latin typeface="Cambria Math" panose="02040503050406030204" pitchFamily="18" charset="0"/>
                  </a:rPr>
                  <a:t>$2023-1999=24$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$8\mid24$</a:t>
                </a:r>
                <a:r>
                  <a:rPr sz="2400" b="0">
                    <a:solidFill>
                      <a:srgbClr val="111827"/>
                    </a:solidFill>
                    <a:latin typeface="Arial"/>
                  </a:rPr>
                  <a:t>, the number is divisible by </a:t>
                </a:r>
                <a:r>
                  <a:rPr lang="en-IN" sz="2400">
                    <a:solidFill>
                      <a:srgbClr val="111827"/>
                    </a:solidFill>
                    <a:latin typeface="Cambria Math" panose="02040503050406030204" pitchFamily="18" charset="0"/>
                  </a:rPr>
                  <a:t>$8$</a:t>
                </a:r>
                <a:r>
                  <a:rPr sz="2400" b="0">
                    <a:solidFill>
                      <a:srgbClr val="111827"/>
                    </a:solidFill>
                    <a:latin typeface="Arial"/>
                  </a:rPr>
                  <a:t>: (S1) is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(S2): </a:t>
                </a:r>
                <a:r>
                  <a:rPr lang="en-IN" sz="2400">
                    <a:solidFill>
                      <a:srgbClr val="111827"/>
                    </a:solidFill>
                    <a:latin typeface="Cambria Math" panose="02040503050406030204" pitchFamily="18" charset="0"/>
                  </a:rPr>
                  <a:t>$13\cdot13^n-11n-13=13(12+1)^n-11n-13$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r>
                      <a:rPr lang="en-IN" sz="2400" i="1">
                        <a:solidFill>
                          <a:srgbClr val="111827"/>
                        </a:solidFill>
                        <a:latin typeface="Cambria Math" panose="02040503050406030204" pitchFamily="18" charset="0"/>
                      </a:rPr>
                      <m:t>13</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Separate the terms with </a:t>
                </a:r>
                <a14:m>
                  <m:oMath xmlns:m="http://schemas.openxmlformats.org/officeDocument/2006/math">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or more (they carry </a:t>
                </a:r>
                <a14:m>
                  <m:oMath xmlns:m="http://schemas.openxmlformats.org/officeDocument/2006/math">
                    <m:r>
                      <a:rPr lang="en-IN" sz="2400" i="1">
                        <a:solidFill>
                          <a:srgbClr val="111827"/>
                        </a:solidFill>
                        <a:latin typeface="Cambria Math" panose="02040503050406030204" pitchFamily="18" charset="0"/>
                      </a:rPr>
                      <m:t>144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156</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145</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for an integer </a:t>
                </a:r>
                <a14:m>
                  <m:oMath xmlns:m="http://schemas.openxmlformats.org/officeDocument/2006/math">
                    <m:r>
                      <a:rPr lang="en-IN" sz="2400" i="1">
                        <a:solidFill>
                          <a:srgbClr val="111827"/>
                        </a:solidFill>
                        <a:latin typeface="Cambria Math" panose="02040503050406030204" pitchFamily="18" charset="0"/>
                      </a:rPr>
                      <m:t>𝐾</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expression is divisible by </a:t>
                </a:r>
                <a14:m>
                  <m:oMath xmlns:m="http://schemas.openxmlformats.org/officeDocument/2006/math">
                    <m:r>
                      <a:rPr lang="en-IN" sz="2400" i="1">
                        <a:solidFill>
                          <a:srgbClr val="111827"/>
                        </a:solidFill>
                        <a:latin typeface="Cambria Math" panose="02040503050406030204" pitchFamily="18" charset="0"/>
                      </a:rPr>
                      <m:t>144</m:t>
                    </m:r>
                  </m:oMath>
                </a14:m>
                <a:r>
                  <a:rPr sz="2400" b="0">
                    <a:solidFill>
                      <a:srgbClr val="111827"/>
                    </a:solidFill>
                    <a:latin typeface="Arial"/>
                  </a:rPr>
                  <a:t> if and only if </a:t>
                </a:r>
                <a14:m>
                  <m:oMath xmlns:m="http://schemas.openxmlformats.org/officeDocument/2006/math">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happens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infinitely many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so (S2) is correct as well.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statements are correct: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$13\left[12^n+n\,12^{n-1}+\dots+\binom n2 12^2+n\cdot12+1\right]-11n-13$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Separate the terms with </a:t>
                </a:r>
                <a:r>
                  <a:rPr lang="en-IN" sz="2400">
                    <a:solidFill>
                      <a:srgbClr val="111827"/>
                    </a:solidFill>
                    <a:latin typeface="Cambria Math" panose="02040503050406030204" pitchFamily="18" charset="0"/>
                  </a:rPr>
                  <a:t>$12^2$</a:t>
                </a:r>
                <a:r>
                  <a:rPr sz="2400" b="0">
                    <a:solidFill>
                      <a:srgbClr val="111827"/>
                    </a:solidFill>
                    <a:latin typeface="Arial"/>
                  </a:rPr>
                  <a:t> or more (they carry </a:t>
                </a:r>
                <a:r>
                  <a:rPr lang="en-IN" sz="2400">
                    <a:solidFill>
                      <a:srgbClr val="111827"/>
                    </a:solidFill>
                    <a:latin typeface="Cambria Math" panose="02040503050406030204" pitchFamily="18" charset="0"/>
                  </a:rPr>
                  <a:t>$144$</a:t>
                </a:r>
                <a:r>
                  <a:rPr sz="2400" b="0">
                    <a:solidFill>
                      <a:srgbClr val="111827"/>
                    </a:solidFill>
                    <a:latin typeface="Arial"/>
                  </a:rPr>
                  <a:t>): </a:t>
                </a:r>
                <a:r>
                  <a:rPr lang="en-IN" sz="2400">
                    <a:solidFill>
                      <a:srgbClr val="111827"/>
                    </a:solidFill>
                    <a:latin typeface="Cambria Math" panose="02040503050406030204" pitchFamily="18" charset="0"/>
                  </a:rPr>
                  <a:t>$=13\left[12^n+\dots+\binom n212^2\right]+13\cdot12n+13-11n-13$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$=144\,K+156n-11n=144K+145n=144(K+n)+n$</a:t>
                </a:r>
                <a:r>
                  <a:rPr sz="2400" b="0">
                    <a:solidFill>
                      <a:srgbClr val="111827"/>
                    </a:solidFill>
                    <a:latin typeface="Arial"/>
                  </a:rPr>
                  <a:t> for an integer </a:t>
                </a:r>
                <a:r>
                  <a:rPr lang="en-IN" sz="2400">
                    <a:solidFill>
                      <a:srgbClr val="111827"/>
                    </a:solidFill>
                    <a:latin typeface="Cambria Math" panose="02040503050406030204" pitchFamily="18" charset="0"/>
                  </a:rPr>
                  <a:t>$K$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expression is divisible by </a:t>
                </a:r>
                <a:r>
                  <a:rPr lang="en-IN" sz="2400">
                    <a:solidFill>
                      <a:srgbClr val="111827"/>
                    </a:solidFill>
                    <a:latin typeface="Cambria Math" panose="02040503050406030204" pitchFamily="18" charset="0"/>
                  </a:rPr>
                  <a:t>$144$</a:t>
                </a:r>
                <a:r>
                  <a:rPr sz="2400" b="0">
                    <a:solidFill>
                      <a:srgbClr val="111827"/>
                    </a:solidFill>
                    <a:latin typeface="Arial"/>
                  </a:rPr>
                  <a:t> if and only if </a:t>
                </a:r>
                <a:r>
                  <a:rPr lang="en-IN" sz="2400">
                    <a:solidFill>
                      <a:srgbClr val="111827"/>
                    </a:solidFill>
                    <a:latin typeface="Cambria Math" panose="02040503050406030204" pitchFamily="18" charset="0"/>
                  </a:rPr>
                  <a:t>$144\mid 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happens for </a:t>
                </a:r>
                <a:r>
                  <a:rPr lang="en-IN" sz="2400">
                    <a:solidFill>
                      <a:srgbClr val="111827"/>
                    </a:solidFill>
                    <a:latin typeface="Cambria Math" panose="02040503050406030204" pitchFamily="18" charset="0"/>
                  </a:rPr>
                  <a:t>$n=144,288,\dots$</a:t>
                </a:r>
                <a:r>
                  <a:rPr sz="2400" b="0">
                    <a:solidFill>
                      <a:srgbClr val="111827"/>
                    </a:solidFill>
                    <a:latin typeface="Arial"/>
                  </a:rPr>
                  <a:t>: infinitely many </a:t>
                </a:r>
                <a:r>
                  <a:rPr lang="en-IN" sz="2400">
                    <a:solidFill>
                      <a:srgbClr val="111827"/>
                    </a:solidFill>
                    <a:latin typeface="Cambria Math" panose="02040503050406030204" pitchFamily="18" charset="0"/>
                  </a:rPr>
                  <a:t>$n$</a:t>
                </a:r>
                <a:r>
                  <a:rPr sz="2400" b="0">
                    <a:solidFill>
                      <a:srgbClr val="111827"/>
                    </a:solidFill>
                    <a:latin typeface="Arial"/>
                  </a:rPr>
                  <a:t>, so (S2) is correct as well.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statements are correct: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both (S1) and (S2) are correct</a:t>
            </a:r>
            <a:endParaRPr sz="2800">
              <a:solidFill>
                <a:srgbClr val="15803D"/>
              </a:solidFill>
            </a:endParaRP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(S1) by residues modulo </a:t>
                </a:r>
                <a14:m>
                  <m:oMath xmlns:m="http://schemas.openxmlformats.org/officeDocument/2006/math">
                    <m:r>
                      <a:rPr lang="en-IN" sz="2400" i="1">
                        <a:solidFill>
                          <a:srgbClr val="78350F"/>
                        </a:solidFill>
                        <a:latin typeface="Cambria Math" panose="02040503050406030204" pitchFamily="18" charset="0"/>
                      </a:rPr>
                      <m:t>8</m:t>
                    </m:r>
                  </m:oMath>
                </a14:m>
                <a:r>
                  <a:rPr sz="2400" b="0">
                    <a:solidFill>
                      <a:srgbClr val="78350F"/>
                    </a:solidFill>
                    <a:latin typeface="Arial"/>
                  </a:rPr>
                  <a:t> and (S2) by induction on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(showing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144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(S1) by residues modulo </a:t>
                </a:r>
                <a:r>
                  <a:rPr lang="en-IN" sz="2400">
                    <a:solidFill>
                      <a:srgbClr val="78350F"/>
                    </a:solidFill>
                    <a:latin typeface="Cambria Math" panose="02040503050406030204" pitchFamily="18" charset="0"/>
                  </a:rPr>
                  <a:t>$8$</a:t>
                </a:r>
                <a:r>
                  <a:rPr sz="2400" b="0">
                    <a:solidFill>
                      <a:srgbClr val="78350F"/>
                    </a:solidFill>
                    <a:latin typeface="Arial"/>
                  </a:rPr>
                  <a:t> and (S2) by induction on </a:t>
                </a:r>
                <a:r>
                  <a:rPr lang="en-IN" sz="2400">
                    <a:solidFill>
                      <a:srgbClr val="78350F"/>
                    </a:solidFill>
                    <a:latin typeface="Cambria Math" panose="02040503050406030204" pitchFamily="18" charset="0"/>
                  </a:rPr>
                  <a:t>$n$</a:t>
                </a:r>
                <a:r>
                  <a:rPr sz="2400" b="0">
                    <a:solidFill>
                      <a:srgbClr val="78350F"/>
                    </a:solidFill>
                    <a:latin typeface="Arial"/>
                  </a:rPr>
                  <a:t> (showing </a:t>
                </a:r>
                <a:r>
                  <a:rPr lang="en-IN" sz="2400">
                    <a:solidFill>
                      <a:srgbClr val="78350F"/>
                    </a:solidFill>
                    <a:latin typeface="Cambria Math" panose="02040503050406030204" pitchFamily="18" charset="0"/>
                  </a:rPr>
                  <a:t>$f(n)\equiv n\pmod{144}$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(S1): </a:t>
                </a:r>
                <a14:m>
                  <m:oMath xmlns:m="http://schemas.openxmlformats.org/officeDocument/2006/math">
                    <m:r>
                      <a:rPr lang="en-IN" sz="2400" i="1">
                        <a:solidFill>
                          <a:srgbClr val="111827"/>
                        </a:solidFill>
                        <a:latin typeface="Cambria Math" panose="02040503050406030204" pitchFamily="18" charset="0"/>
                      </a:rPr>
                      <m:t>2023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1999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2023</m:t>
                        </m:r>
                      </m:e>
                      <m:sup>
                        <m:r>
                          <a:rPr lang="en-IN" sz="2400" i="1">
                            <a:solidFill>
                              <a:srgbClr val="111827"/>
                            </a:solidFill>
                            <a:latin typeface="Cambria Math" panose="02040503050406030204" pitchFamily="18" charset="0"/>
                          </a:rPr>
                          <m:t>2022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1999</m:t>
                        </m:r>
                      </m:e>
                      <m:sup>
                        <m:r>
                          <a:rPr lang="en-IN" sz="2400" i="1">
                            <a:solidFill>
                              <a:srgbClr val="111827"/>
                            </a:solidFill>
                            <a:latin typeface="Cambria Math" panose="02040503050406030204" pitchFamily="18" charset="0"/>
                          </a:rPr>
                          <m:t>2022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(even power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difference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(S1) is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(S2): 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13</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13</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Claim: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True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145</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the claim holds for all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(S1): </a:t>
                </a:r>
                <a:r>
                  <a:rPr lang="en-IN" sz="2400">
                    <a:solidFill>
                      <a:srgbClr val="111827"/>
                    </a:solidFill>
                    <a:latin typeface="Cambria Math" panose="02040503050406030204" pitchFamily="18" charset="0"/>
                  </a:rPr>
                  <a:t>$2023=8\cdot252+7\equiv-1$</a:t>
                </a:r>
                <a:r>
                  <a:rPr sz="2400" b="0">
                    <a:solidFill>
                      <a:srgbClr val="111827"/>
                    </a:solidFill>
                    <a:latin typeface="Arial"/>
                  </a:rPr>
                  <a:t> and </a:t>
                </a:r>
                <a:r>
                  <a:rPr lang="en-IN" sz="2400">
                    <a:solidFill>
                      <a:srgbClr val="111827"/>
                    </a:solidFill>
                    <a:latin typeface="Cambria Math" panose="02040503050406030204" pitchFamily="18" charset="0"/>
                  </a:rPr>
                  <a:t>$1999=8\cdot249+7\equiv-1\pmod8$</a:t>
                </a:r>
                <a:r>
                  <a:rPr sz="2400" b="0">
                    <a:solidFill>
                      <a:srgbClr val="111827"/>
                    </a:solidFill>
                    <a:latin typeface="Arial"/>
                  </a:rPr>
                  <a:t>. So </a:t>
                </a:r>
                <a:r>
                  <a:rPr lang="en-IN" sz="2400">
                    <a:solidFill>
                      <a:srgbClr val="111827"/>
                    </a:solidFill>
                    <a:latin typeface="Cambria Math" panose="02040503050406030204" pitchFamily="18" charset="0"/>
                  </a:rPr>
                  <a:t>$2023^{2022}\equiv1$</a:t>
                </a:r>
                <a:r>
                  <a:rPr sz="2400" b="0">
                    <a:solidFill>
                      <a:srgbClr val="111827"/>
                    </a:solidFill>
                    <a:latin typeface="Arial"/>
                  </a:rPr>
                  <a:t> and </a:t>
                </a:r>
                <a:r>
                  <a:rPr lang="en-IN" sz="2400">
                    <a:solidFill>
                      <a:srgbClr val="111827"/>
                    </a:solidFill>
                    <a:latin typeface="Cambria Math" panose="02040503050406030204" pitchFamily="18" charset="0"/>
                  </a:rPr>
                  <a:t>$1999^{2022}\equiv1$</a:t>
                </a:r>
                <a:r>
                  <a:rPr sz="2400" b="0">
                    <a:solidFill>
                      <a:srgbClr val="111827"/>
                    </a:solidFill>
                    <a:latin typeface="Arial"/>
                  </a:rPr>
                  <a:t> (even power of </a:t>
                </a:r>
                <a:r>
                  <a:rPr lang="en-IN" sz="2400">
                    <a:solidFill>
                      <a:srgbClr val="111827"/>
                    </a:solidFill>
                    <a:latin typeface="Cambria Math" panose="02040503050406030204" pitchFamily="18" charset="0"/>
                  </a:rPr>
                  <a:t>$-1$</a:t>
                </a:r>
                <a:r>
                  <a:rPr sz="2400" b="0">
                    <a:solidFill>
                      <a:srgbClr val="111827"/>
                    </a:solidFill>
                    <a:latin typeface="Arial"/>
                  </a:rPr>
                  <a:t>), and the difference is </a:t>
                </a:r>
                <a:r>
                  <a:rPr lang="en-IN" sz="2400">
                    <a:solidFill>
                      <a:srgbClr val="111827"/>
                    </a:solidFill>
                    <a:latin typeface="Cambria Math" panose="02040503050406030204" pitchFamily="18" charset="0"/>
                  </a:rPr>
                  <a:t>$\equiv0\pmod 8$</a:t>
                </a:r>
                <a:r>
                  <a:rPr sz="2400" b="0">
                    <a:solidFill>
                      <a:srgbClr val="111827"/>
                    </a:solidFill>
                    <a:latin typeface="Arial"/>
                  </a:rPr>
                  <a:t>: (S1) is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(S2): let </a:t>
                </a:r>
                <a:r>
                  <a:rPr lang="en-IN" sz="2400">
                    <a:solidFill>
                      <a:srgbClr val="111827"/>
                    </a:solidFill>
                    <a:latin typeface="Cambria Math" panose="02040503050406030204" pitchFamily="18" charset="0"/>
                  </a:rPr>
                  <a:t>$f(n)=13^{n+1}-11n-13$</a:t>
                </a:r>
                <a:r>
                  <a:rPr sz="2400" b="0">
                    <a:solidFill>
                      <a:srgbClr val="111827"/>
                    </a:solidFill>
                    <a:latin typeface="Arial"/>
                  </a:rPr>
                  <a:t>. Then </a:t>
                </a:r>
                <a:r>
                  <a:rPr lang="en-IN" sz="2400">
                    <a:solidFill>
                      <a:srgbClr val="111827"/>
                    </a:solidFill>
                    <a:latin typeface="Cambria Math" panose="02040503050406030204" pitchFamily="18" charset="0"/>
                  </a:rPr>
                  <a:t>$f(0)=0$</a:t>
                </a:r>
                <a:r>
                  <a:rPr sz="2400" b="0">
                    <a:solidFill>
                      <a:srgbClr val="111827"/>
                    </a:solidFill>
                    <a:latin typeface="Arial"/>
                  </a:rPr>
                  <a:t> and </a:t>
                </a:r>
                <a:r>
                  <a:rPr lang="en-IN" sz="2400">
                    <a:solidFill>
                      <a:srgbClr val="111827"/>
                    </a:solidFill>
                    <a:latin typeface="Cambria Math" panose="02040503050406030204" pitchFamily="18" charset="0"/>
                  </a:rPr>
                  <a:t>$f(n+1)=13^{n+2}-11n-24=13\left(f(n)+11n+13\right)-11n-24=13f(n)+132n+145$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Claim: </a:t>
                </a:r>
                <a:r>
                  <a:rPr lang="en-IN" sz="2400">
                    <a:solidFill>
                      <a:srgbClr val="111827"/>
                    </a:solidFill>
                    <a:latin typeface="Cambria Math" panose="02040503050406030204" pitchFamily="18" charset="0"/>
                  </a:rPr>
                  <a:t>$f(n)\equiv n\pmod{144}$</a:t>
                </a:r>
                <a:r>
                  <a:rPr sz="2400" b="0">
                    <a:solidFill>
                      <a:srgbClr val="111827"/>
                    </a:solidFill>
                    <a:latin typeface="Arial"/>
                  </a:rPr>
                  <a:t>. True for </a:t>
                </a:r>
                <a:r>
                  <a:rPr lang="en-IN" sz="2400">
                    <a:solidFill>
                      <a:srgbClr val="111827"/>
                    </a:solidFill>
                    <a:latin typeface="Cambria Math" panose="02040503050406030204" pitchFamily="18" charset="0"/>
                  </a:rPr>
                  <a:t>$n=0$</a:t>
                </a:r>
                <a:r>
                  <a:rPr sz="2400" b="0">
                    <a:solidFill>
                      <a:srgbClr val="111827"/>
                    </a:solidFill>
                    <a:latin typeface="Arial"/>
                  </a:rPr>
                  <a:t>. If </a:t>
                </a:r>
                <a:r>
                  <a:rPr lang="en-IN" sz="2400">
                    <a:solidFill>
                      <a:srgbClr val="111827"/>
                    </a:solidFill>
                    <a:latin typeface="Cambria Math" panose="02040503050406030204" pitchFamily="18" charset="0"/>
                  </a:rPr>
                  <a:t>$f(n)\equiv n$</a:t>
                </a:r>
                <a:r>
                  <a:rPr sz="2400" b="0">
                    <a:solidFill>
                      <a:srgbClr val="111827"/>
                    </a:solidFill>
                    <a:latin typeface="Arial"/>
                  </a:rPr>
                  <a:t>, then </a:t>
                </a:r>
                <a:r>
                  <a:rPr lang="en-IN" sz="2400">
                    <a:solidFill>
                      <a:srgbClr val="111827"/>
                    </a:solidFill>
                    <a:latin typeface="Cambria Math" panose="02040503050406030204" pitchFamily="18" charset="0"/>
                  </a:rPr>
                  <a:t>$f(n+1)\equiv13n+132n+145=145n+145=144(n+1)+(n+1)\equiv n+1$</a:t>
                </a:r>
                <a:r>
                  <a:rPr sz="2400" b="0">
                    <a:solidFill>
                      <a:srgbClr val="111827"/>
                    </a:solidFill>
                    <a:latin typeface="Arial"/>
                  </a:rPr>
                  <a:t>. So the claim holds for all </a:t>
                </a:r>
                <a:r>
                  <a:rPr lang="en-IN" sz="2400">
                    <a:solidFill>
                      <a:srgbClr val="111827"/>
                    </a:solidFill>
                    <a:latin typeface="Cambria Math" panose="02040503050406030204" pitchFamily="18" charset="0"/>
                  </a:rPr>
                  <a:t>$n\ge0$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which has infinitely many solutions: (S2) is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are correct: option (A)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$144\mid f(n)\iff144\mid n$</a:t>
                </a:r>
                <a:r>
                  <a:rPr sz="2400" b="0">
                    <a:solidFill>
                      <a:srgbClr val="111827"/>
                    </a:solidFill>
                    <a:latin typeface="Arial"/>
                  </a:rPr>
                  <a:t>, which has infinitely many solutions: (S2) is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are correct: option (A)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both (S1) and (S2) are correct</a:t>
            </a:r>
            <a:endParaRPr sz="2800">
              <a:solidFill>
                <a:srgbClr val="15803D"/>
              </a:solidFill>
            </a:endParaRP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also by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when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general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Typical pattern: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𝑙𝑖𝑛𝑒𝑎𝑟 𝑖𝑛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congruent to a linear expression modulo </a:t>
                </a: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13</m:t>
                        </m:r>
                      </m:e>
                      <m:sup>
                        <m:r>
                          <a:rPr lang="en-IN" sz="2400" i="1">
                            <a:solidFill>
                              <a:srgbClr val="111827"/>
                            </a:solidFill>
                            <a:latin typeface="Cambria Math" panose="02040503050406030204" pitchFamily="18" charset="0"/>
                          </a:rPr>
                          <m:t>145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144</m:t>
                    </m:r>
                  </m:oMath>
                </a14:m>
                <a:r>
                  <a:rPr sz="2400" b="0">
                    <a:solidFill>
                      <a:srgbClr val="111827"/>
                    </a:solidFill>
                    <a:latin typeface="Arial"/>
                  </a:rPr>
                  <a:t> (computed numerically).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$x^n-y^n$</a:t>
                </a:r>
                <a:r>
                  <a:rPr sz="2400" b="0">
                    <a:solidFill>
                      <a:srgbClr val="111827"/>
                    </a:solidFill>
                    <a:latin typeface="Arial"/>
                  </a:rPr>
                  <a:t> is divisible by </a:t>
                </a:r>
                <a:r>
                  <a:rPr lang="en-IN" sz="2400">
                    <a:solidFill>
                      <a:srgbClr val="111827"/>
                    </a:solidFill>
                    <a:latin typeface="Cambria Math" panose="02040503050406030204" pitchFamily="18" charset="0"/>
                  </a:rPr>
                  <a:t>$x-y$</a:t>
                </a:r>
                <a:r>
                  <a:rPr sz="2400" b="0">
                    <a:solidFill>
                      <a:srgbClr val="111827"/>
                    </a:solidFill>
                    <a:latin typeface="Arial"/>
                  </a:rPr>
                  <a:t> for every </a:t>
                </a:r>
                <a:r>
                  <a:rPr lang="en-IN" sz="2400">
                    <a:solidFill>
                      <a:srgbClr val="111827"/>
                    </a:solidFill>
                    <a:latin typeface="Cambria Math" panose="02040503050406030204" pitchFamily="18" charset="0"/>
                  </a:rPr>
                  <a:t>$n\ge1$</a:t>
                </a:r>
                <a:r>
                  <a:rPr sz="2400" b="0">
                    <a:solidFill>
                      <a:srgbClr val="111827"/>
                    </a:solidFill>
                    <a:latin typeface="Arial"/>
                  </a:rPr>
                  <a:t>; also by </a:t>
                </a:r>
                <a:r>
                  <a:rPr lang="en-IN" sz="2400">
                    <a:solidFill>
                      <a:srgbClr val="111827"/>
                    </a:solidFill>
                    <a:latin typeface="Cambria Math" panose="02040503050406030204" pitchFamily="18" charset="0"/>
                  </a:rPr>
                  <a:t>$x+y$</a:t>
                </a:r>
                <a:r>
                  <a:rPr sz="2400" b="0">
                    <a:solidFill>
                      <a:srgbClr val="111827"/>
                    </a:solidFill>
                    <a:latin typeface="Arial"/>
                  </a:rPr>
                  <a:t> when </a:t>
                </a:r>
                <a:r>
                  <a:rPr lang="en-IN" sz="2400">
                    <a:solidFill>
                      <a:srgbClr val="111827"/>
                    </a:solidFill>
                    <a:latin typeface="Cambria Math" panose="02040503050406030204" pitchFamily="18" charset="0"/>
                  </a:rPr>
                  <a:t>$n$</a:t>
                </a:r>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$13\cdot13^n-11n-13\equiv n\pmod{144}$</a:t>
                </a:r>
                <a:r>
                  <a:rPr sz="2400" b="0">
                    <a:solidFill>
                      <a:srgbClr val="111827"/>
                    </a:solidFill>
                    <a:latin typeface="Arial"/>
                  </a:rPr>
                  <a:t>; in general </a:t>
                </a:r>
                <a:r>
                  <a:rPr lang="en-IN" sz="2400">
                    <a:solidFill>
                      <a:srgbClr val="111827"/>
                    </a:solidFill>
                    <a:latin typeface="Cambria Math" panose="02040503050406030204" pitchFamily="18" charset="0"/>
                  </a:rPr>
                  <a:t>$a^{n+1}-(a-2)n-a\equiv n\pmod{(a-1)^2}$</a:t>
                </a:r>
                <a:r>
                  <a:rPr sz="2400" b="0">
                    <a:solidFill>
                      <a:srgbClr val="111827"/>
                    </a:solidFill>
                    <a:latin typeface="Arial"/>
                  </a:rPr>
                  <a:t> (here </a:t>
                </a:r>
                <a:r>
                  <a:rPr lang="en-IN" sz="2400">
                    <a:solidFill>
                      <a:srgbClr val="111827"/>
                    </a:solidFill>
                    <a:latin typeface="Cambria Math" panose="02040503050406030204" pitchFamily="18" charset="0"/>
                  </a:rPr>
                  <a:t>$a=13$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Typical pattern: </a:t>
                </a:r>
                <a:r>
                  <a:rPr lang="en-IN" sz="2400">
                    <a:solidFill>
                      <a:srgbClr val="111827"/>
                    </a:solidFill>
                    <a:latin typeface="Cambria Math" panose="02040503050406030204" pitchFamily="18" charset="0"/>
                  </a:rPr>
                  <a:t>$(1+m)^n\equiv1+nm\pmod{m^2}$</a:t>
                </a:r>
                <a:r>
                  <a:rPr sz="2400" b="0">
                    <a:solidFill>
                      <a:srgbClr val="111827"/>
                    </a:solidFill>
                    <a:latin typeface="Arial"/>
                  </a:rPr>
                  <a:t>, so </a:t>
                </a:r>
                <a:r>
                  <a:rPr lang="en-IN" sz="2400">
                    <a:solidFill>
                      <a:srgbClr val="111827"/>
                    </a:solidFill>
                    <a:latin typeface="Cambria Math" panose="02040503050406030204" pitchFamily="18" charset="0"/>
                  </a:rPr>
                  <a:t>$k(1+m)^n-(\text{linear in }n)$</a:t>
                </a:r>
                <a:r>
                  <a:rPr sz="2400" b="0">
                    <a:solidFill>
                      <a:srgbClr val="111827"/>
                    </a:solidFill>
                    <a:latin typeface="Arial"/>
                  </a:rPr>
                  <a:t> is congruent to a linear expression modulo </a:t>
                </a:r>
                <a:r>
                  <a:rPr lang="en-IN" sz="2400">
                    <a:solidFill>
                      <a:srgbClr val="111827"/>
                    </a:solidFill>
                    <a:latin typeface="Cambria Math" panose="02040503050406030204" pitchFamily="18" charset="0"/>
                  </a:rPr>
                  <a:t>$m^2$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$f(144)=13^{145}-11\cdot144-13$</a:t>
                </a:r>
                <a:r>
                  <a:rPr sz="2400" b="0">
                    <a:solidFill>
                      <a:srgbClr val="111827"/>
                    </a:solidFill>
                    <a:latin typeface="Arial"/>
                  </a:rPr>
                  <a:t> is divisible by </a:t>
                </a:r>
                <a:r>
                  <a:rPr lang="en-IN" sz="2400">
                    <a:solidFill>
                      <a:srgbClr val="111827"/>
                    </a:solidFill>
                    <a:latin typeface="Cambria Math" panose="02040503050406030204" pitchFamily="18" charset="0"/>
                  </a:rPr>
                  <a:t>$144$</a:t>
                </a:r>
                <a:r>
                  <a:rPr sz="2400" b="0">
                    <a:solidFill>
                      <a:srgbClr val="111827"/>
                    </a:solidFill>
                    <a:latin typeface="Arial"/>
                  </a:rPr>
                  <a:t> (computed numerically).</a:t>
                </a:r>
                <a:endParaRPr sz="2400">
                  <a:solidFill>
                    <a:srgbClr val="111827"/>
                  </a:solidFill>
                </a:endParaRPr>
              </a:p>
            </p:txBody>
          </p:sp>
        </mc:Fallback>
      </mc:AlternateContent>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coefficients of three consecutive terms in the expansion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are in the ratio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then the coefficient of the fourth term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1827</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2436</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5481</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3654</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coefficients of three consecutive terms in the expansion of </a:t>
                </a:r>
                <a:r>
                  <a:rPr lang="en-IN" sz="2400">
                    <a:solidFill>
                      <a:srgbClr val="111827"/>
                    </a:solidFill>
                    <a:latin typeface="Cambria Math" panose="02040503050406030204" pitchFamily="18" charset="0"/>
                  </a:rPr>
                  <a:t>$(1+x)^n$</a:t>
                </a:r>
                <a:r>
                  <a:rPr sz="2400" b="0">
                    <a:solidFill>
                      <a:srgbClr val="111827"/>
                    </a:solidFill>
                    <a:latin typeface="Arial"/>
                  </a:rPr>
                  <a:t> are in the ratio </a:t>
                </a:r>
                <a:r>
                  <a:rPr lang="en-IN" sz="2400">
                    <a:solidFill>
                      <a:srgbClr val="111827"/>
                    </a:solidFill>
                    <a:latin typeface="Cambria Math" panose="02040503050406030204" pitchFamily="18" charset="0"/>
                  </a:rPr>
                  <a:t>$1:5:20$</a:t>
                </a:r>
                <a:r>
                  <a:rPr sz="2400" b="0">
                    <a:solidFill>
                      <a:srgbClr val="111827"/>
                    </a:solidFill>
                    <a:latin typeface="Arial"/>
                  </a:rPr>
                  <a:t>, then the coefficient of the fourth term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$1827$</a:t>
                </a:r>
                <a:r>
                  <a:rPr sz="2400" b="0">
                    <a:solidFill>
                      <a:srgbClr val="111827"/>
                    </a:solidFill>
                    <a:latin typeface="Arial"/>
                  </a:rPr>
                  <a:t>   (B) </a:t>
                </a:r>
                <a:r>
                  <a:rPr lang="en-IN" sz="2400">
                    <a:solidFill>
                      <a:srgbClr val="111827"/>
                    </a:solidFill>
                    <a:latin typeface="Cambria Math" panose="02040503050406030204" pitchFamily="18" charset="0"/>
                  </a:rPr>
                  <a:t>$2436$</a:t>
                </a:r>
                <a:r>
                  <a:rPr sz="2400" b="0">
                    <a:solidFill>
                      <a:srgbClr val="111827"/>
                    </a:solidFill>
                    <a:latin typeface="Arial"/>
                  </a:rPr>
                  <a:t>   (C) </a:t>
                </a:r>
                <a:r>
                  <a:rPr lang="en-IN" sz="2400">
                    <a:solidFill>
                      <a:srgbClr val="111827"/>
                    </a:solidFill>
                    <a:latin typeface="Cambria Math" panose="02040503050406030204" pitchFamily="18" charset="0"/>
                  </a:rPr>
                  <a:t>$5481$</a:t>
                </a:r>
                <a:r>
                  <a:rPr sz="2400" b="0">
                    <a:solidFill>
                      <a:srgbClr val="111827"/>
                    </a:solidFill>
                    <a:latin typeface="Arial"/>
                  </a:rPr>
                  <a:t>   (D) </a:t>
                </a:r>
                <a:r>
                  <a:rPr lang="en-IN" sz="2400">
                    <a:solidFill>
                      <a:srgbClr val="111827"/>
                    </a:solidFill>
                    <a:latin typeface="Cambria Math" panose="02040503050406030204" pitchFamily="18" charset="0"/>
                  </a:rPr>
                  <a:t>$3654$</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Ratio of consecutive coefficients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Two ratio equations give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29</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 the fourth term has coefficient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29</m:t>
                            </m:r>
                          </m:num>
                          <m:den>
                            <m:r>
                              <a:rPr lang="en-IN" sz="2400" i="1">
                                <a:solidFill>
                                  <a:srgbClr val="78350F"/>
                                </a:solidFill>
                                <a:latin typeface="Cambria Math" panose="02040503050406030204" pitchFamily="18" charset="0"/>
                              </a:rPr>
                              <m:t>3</m:t>
                            </m:r>
                          </m:den>
                        </m:f>
                      </m:e>
                    </m:d>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Two ratio equations give </a:t>
                </a:r>
                <a:r>
                  <a:rPr lang="en-IN" sz="2400">
                    <a:solidFill>
                      <a:srgbClr val="78350F"/>
                    </a:solidFill>
                    <a:latin typeface="Cambria Math" panose="02040503050406030204" pitchFamily="18" charset="0"/>
                  </a:rPr>
                  <a:t>$n=29$</a:t>
                </a:r>
                <a:r>
                  <a:rPr sz="2400" b="0">
                    <a:solidFill>
                      <a:srgbClr val="78350F"/>
                    </a:solidFill>
                    <a:latin typeface="Arial"/>
                  </a:rPr>
                  <a:t>, </a:t>
                </a:r>
                <a:r>
                  <a:rPr lang="en-IN" sz="2400">
                    <a:solidFill>
                      <a:srgbClr val="78350F"/>
                    </a:solidFill>
                    <a:latin typeface="Cambria Math" panose="02040503050406030204" pitchFamily="18" charset="0"/>
                  </a:rPr>
                  <a:t>$r=5$</a:t>
                </a:r>
                <a:r>
                  <a:rPr sz="2400" b="0">
                    <a:solidFill>
                      <a:srgbClr val="78350F"/>
                    </a:solidFill>
                    <a:latin typeface="Arial"/>
                  </a:rPr>
                  <a:t>; the fourth term has coefficient </a:t>
                </a:r>
                <a:r>
                  <a:rPr lang="en-IN" sz="2400">
                    <a:solidFill>
                      <a:srgbClr val="78350F"/>
                    </a:solidFill>
                    <a:latin typeface="Cambria Math" panose="02040503050406030204" pitchFamily="18" charset="0"/>
                  </a:rPr>
                  <a:t>$\binom{29}{3}$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three consecutive coefficients be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...(ii)</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three consecutive coefficients be </a:t>
                </a:r>
                <a:r>
                  <a:rPr lang="en-IN" sz="2400">
                    <a:solidFill>
                      <a:srgbClr val="111827"/>
                    </a:solidFill>
                    <a:latin typeface="Cambria Math" panose="02040503050406030204" pitchFamily="18" charset="0"/>
                  </a:rPr>
                  <a:t>$\binom n{r-1}:\binom nr:\binom n{r+1}=1:5:20$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$\dfrac{\binom nr}{\binom n{r-1}}=5\Rightarrow\dfrac{n-r+1}{r}=5\Rightarrow n=6r-1$</a:t>
                </a:r>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$\dfrac{\binom n{r+1}}{\binom nr}=4\Rightarrow\dfrac{n-r}{r+1}=4\Rightarrow n=5r+4$</a:t>
                </a:r>
                <a:r>
                  <a:rPr sz="2400" b="0">
                    <a:solidFill>
                      <a:srgbClr val="111827"/>
                    </a:solidFill>
                    <a:latin typeface="Arial"/>
                  </a:rPr>
                  <a:t>. ...(ii)</a:t>
                </a:r>
                <a:endParaRPr sz="2400">
                  <a:solidFill>
                    <a:srgbClr val="111827"/>
                  </a:solidFill>
                </a:endParaRPr>
              </a:p>
            </p:txBody>
          </p:sp>
        </mc:Fallback>
      </mc:AlternateContent>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(i) and (ii):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the fourth term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3654</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(i) and (ii): </a:t>
                </a:r>
                <a:r>
                  <a:rPr lang="en-IN" sz="2400">
                    <a:solidFill>
                      <a:srgbClr val="111827"/>
                    </a:solidFill>
                    <a:latin typeface="Cambria Math" panose="02040503050406030204" pitchFamily="18" charset="0"/>
                  </a:rPr>
                  <a:t>$6r-1=5r+4$</a:t>
                </a:r>
                <a:r>
                  <a:rPr sz="2400" b="0">
                    <a:solidFill>
                      <a:srgbClr val="111827"/>
                    </a:solidFill>
                    <a:latin typeface="Arial"/>
                  </a:rPr>
                  <a:t>, so </a:t>
                </a:r>
                <a:r>
                  <a:rPr lang="en-IN" sz="2400">
                    <a:solidFill>
                      <a:srgbClr val="111827"/>
                    </a:solidFill>
                    <a:latin typeface="Cambria Math" panose="02040503050406030204" pitchFamily="18" charset="0"/>
                  </a:rPr>
                  <a:t>$r=5$</a:t>
                </a:r>
                <a:r>
                  <a:rPr sz="2400" b="0">
                    <a:solidFill>
                      <a:srgbClr val="111827"/>
                    </a:solidFill>
                    <a:latin typeface="Arial"/>
                  </a:rPr>
                  <a:t> and </a:t>
                </a:r>
                <a:r>
                  <a:rPr lang="en-IN" sz="2400">
                    <a:solidFill>
                      <a:srgbClr val="111827"/>
                    </a:solidFill>
                    <a:latin typeface="Cambria Math" panose="02040503050406030204" pitchFamily="18" charset="0"/>
                  </a:rPr>
                  <a:t>$n=29$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the fourth term is </a:t>
                </a:r>
                <a:r>
                  <a:rPr lang="en-IN" sz="2400">
                    <a:solidFill>
                      <a:srgbClr val="111827"/>
                    </a:solidFill>
                    <a:latin typeface="Cambria Math" panose="02040503050406030204" pitchFamily="18" charset="0"/>
                  </a:rPr>
                  <a:t>$\binom{29}{3}=\dfrac{29\cdot28\cdot27}{6}=3654$</a:t>
                </a:r>
                <a:r>
                  <a:rPr sz="2400" b="0">
                    <a:solidFill>
                      <a:srgbClr val="111827"/>
                    </a:solidFill>
                    <a:latin typeface="Arial"/>
                  </a:rPr>
                  <a:t>,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3654</a:t>
            </a:r>
            <a:endParaRPr sz="2800">
              <a:solidFill>
                <a:srgbClr val="15803D"/>
              </a:solidFill>
            </a:endParaRP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14:m>
                  <m:oMath xmlns:m="http://schemas.openxmlformats.org/officeDocument/2006/math">
                    <m:f>
                      <m:fPr>
                        <m:type m:val="bar"/>
                        <m:ctrlPr>
                          <a:rPr lang="en-IN" sz="2400" i="1">
                            <a:solidFill>
                              <a:srgbClr val="78350F"/>
                            </a:solidFill>
                            <a:latin typeface="Cambria Math" panose="02040503050406030204" pitchFamily="18" charset="0"/>
                          </a:rPr>
                        </m:ctrlPr>
                      </m:fPr>
                      <m:num>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𝑘</m:t>
                                </m:r>
                              </m:den>
                            </m:f>
                          </m:e>
                        </m:d>
                      </m:num>
                      <m:den>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e>
                        </m:d>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𝑘</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so both conditions become linear in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r>
                  <a:rPr lang="en-IN" sz="2400">
                    <a:solidFill>
                      <a:srgbClr val="78350F"/>
                    </a:solidFill>
                    <a:latin typeface="Cambria Math" panose="02040503050406030204" pitchFamily="18" charset="0"/>
                  </a:rPr>
                  <a:t>$\dfrac{\binom nk}{\binom n{k-1}}=\dfrac{n+1}{k}-1$</a:t>
                </a:r>
                <a:r>
                  <a:rPr sz="2400" b="0">
                    <a:solidFill>
                      <a:srgbClr val="78350F"/>
                    </a:solidFill>
                    <a:latin typeface="Arial"/>
                  </a:rPr>
                  <a:t> so both conditions become linear in </a:t>
                </a:r>
                <a:r>
                  <a:rPr lang="en-IN" sz="2400">
                    <a:solidFill>
                      <a:srgbClr val="78350F"/>
                    </a:solidFill>
                    <a:latin typeface="Cambria Math" panose="02040503050406030204" pitchFamily="18" charset="0"/>
                  </a:rPr>
                  <a:t>$n+1$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Fourth term coefficient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3654</m:t>
                    </m:r>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$\dfrac{\binom nr}{\binom n{r-1}}=\dfrac{n+1}{r}-1=5\Rightarrow\dfrac{n+1}{r}=6$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$\dfrac{\binom n{r+1}}{\binom nr}=\dfrac{n+1}{r+1}-1=4\Rightarrow\dfrac{n+1}{r+1}=5$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$n+1=6r=5(r+1)$</a:t>
                </a:r>
                <a:r>
                  <a:rPr sz="2400" b="0">
                    <a:solidFill>
                      <a:srgbClr val="111827"/>
                    </a:solidFill>
                    <a:latin typeface="Arial"/>
                  </a:rPr>
                  <a:t>, giving </a:t>
                </a:r>
                <a:r>
                  <a:rPr lang="en-IN" sz="2400">
                    <a:solidFill>
                      <a:srgbClr val="111827"/>
                    </a:solidFill>
                    <a:latin typeface="Cambria Math" panose="02040503050406030204" pitchFamily="18" charset="0"/>
                  </a:rPr>
                  <a:t>$r=5$</a:t>
                </a:r>
                <a:r>
                  <a:rPr sz="2400" b="0">
                    <a:solidFill>
                      <a:srgbClr val="111827"/>
                    </a:solidFill>
                    <a:latin typeface="Arial"/>
                  </a:rPr>
                  <a:t> and </a:t>
                </a:r>
                <a:r>
                  <a:rPr lang="en-IN" sz="2400">
                    <a:solidFill>
                      <a:srgbClr val="111827"/>
                    </a:solidFill>
                    <a:latin typeface="Cambria Math" panose="02040503050406030204" pitchFamily="18" charset="0"/>
                  </a:rPr>
                  <a:t>$n+1=30$</a:t>
                </a:r>
                <a:r>
                  <a:rPr sz="2400" b="0">
                    <a:solidFill>
                      <a:srgbClr val="111827"/>
                    </a:solidFill>
                    <a:latin typeface="Arial"/>
                  </a:rPr>
                  <a:t>, </a:t>
                </a:r>
                <a:r>
                  <a:rPr lang="en-IN" sz="2400">
                    <a:solidFill>
                      <a:srgbClr val="111827"/>
                    </a:solidFill>
                    <a:latin typeface="Cambria Math" panose="02040503050406030204" pitchFamily="18" charset="0"/>
                  </a:rPr>
                  <a:t>$n=29$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Fourth term coefficient </a:t>
                </a:r>
                <a:r>
                  <a:rPr lang="en-IN" sz="2400">
                    <a:solidFill>
                      <a:srgbClr val="111827"/>
                    </a:solidFill>
                    <a:latin typeface="Cambria Math" panose="02040503050406030204" pitchFamily="18" charset="0"/>
                  </a:rPr>
                  <a:t>$\binom{29}{3}=3654$</a:t>
                </a:r>
                <a:r>
                  <a:rPr sz="2400" b="0">
                    <a:solidFill>
                      <a:srgbClr val="111827"/>
                    </a:solidFill>
                    <a:latin typeface="Arial"/>
                  </a:rPr>
                  <a:t>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3654</a:t>
            </a:r>
            <a:endParaRPr sz="2800">
              <a:solidFill>
                <a:srgbClr val="15803D"/>
              </a:solidFill>
            </a:endParaRP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ratio </a:t>
                </a:r>
                <a14:m>
                  <m:oMath xmlns:m="http://schemas.openxmlformats.org/officeDocument/2006/math">
                    <m:r>
                      <a:rPr lang="en-IN" sz="2400" i="1">
                        <a:solidFill>
                          <a:srgbClr val="111827"/>
                        </a:solidFill>
                        <a:latin typeface="Cambria Math" panose="02040503050406030204" pitchFamily="18" charset="0"/>
                      </a:rPr>
                      <m:t>ρ</m:t>
                    </m:r>
                  </m:oMath>
                </a14:m>
                <a:r>
                  <a:rPr sz="2400" b="0">
                    <a:solidFill>
                      <a:srgbClr val="111827"/>
                    </a:solidFill>
                    <a:latin typeface="Arial"/>
                  </a:rPr>
                  <a:t> this reads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three consecutive coefficients are in ratio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middle coefficient of such a triple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118755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23751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23751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118755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475020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$\dfrac{\binom nk}{\binom n{k-1}}=\dfrac{n+1}{k}-1$</a:t>
                </a:r>
                <a:r>
                  <a:rPr sz="2400" b="0">
                    <a:solidFill>
                      <a:srgbClr val="111827"/>
                    </a:solidFill>
                    <a:latin typeface="Arial"/>
                  </a:rPr>
                  <a:t>: with ratio </a:t>
                </a:r>
                <a:r>
                  <a:rPr lang="en-IN" sz="2400">
                    <a:solidFill>
                      <a:srgbClr val="111827"/>
                    </a:solidFill>
                    <a:latin typeface="Cambria Math" panose="02040503050406030204" pitchFamily="18" charset="0"/>
                  </a:rPr>
                  <a:t>$\rho$</a:t>
                </a:r>
                <a:r>
                  <a:rPr sz="2400" b="0">
                    <a:solidFill>
                      <a:srgbClr val="111827"/>
                    </a:solidFill>
                    <a:latin typeface="Arial"/>
                  </a:rPr>
                  <a:t> this reads </a:t>
                </a:r>
                <a:r>
                  <a:rPr lang="en-IN" sz="2400">
                    <a:solidFill>
                      <a:srgbClr val="111827"/>
                    </a:solidFill>
                    <a:latin typeface="Cambria Math" panose="02040503050406030204" pitchFamily="18" charset="0"/>
                  </a:rPr>
                  <a:t>$\dfrac{n+1}{k}=\rho+1$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three consecutive coefficients are in ratio </a:t>
                </a:r>
                <a:r>
                  <a:rPr lang="en-IN" sz="2400">
                    <a:solidFill>
                      <a:srgbClr val="111827"/>
                    </a:solidFill>
                    <a:latin typeface="Cambria Math" panose="02040503050406030204" pitchFamily="18" charset="0"/>
                  </a:rPr>
                  <a:t>$a:b:c$</a:t>
                </a:r>
                <a:r>
                  <a:rPr sz="2400" b="0">
                    <a:solidFill>
                      <a:srgbClr val="111827"/>
                    </a:solidFill>
                    <a:latin typeface="Arial"/>
                  </a:rPr>
                  <a:t> then </a:t>
                </a:r>
                <a:r>
                  <a:rPr lang="en-IN" sz="2400">
                    <a:solidFill>
                      <a:srgbClr val="111827"/>
                    </a:solidFill>
                    <a:latin typeface="Cambria Math" panose="02040503050406030204" pitchFamily="18" charset="0"/>
                  </a:rPr>
                  <a:t>$n+1=\left(\frac ba+1\right)r=\left(\frac cb+1\right)(r+1)$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middle coefficient of such a triple is </a:t>
                </a:r>
                <a:r>
                  <a:rPr lang="en-IN" sz="2400">
                    <a:solidFill>
                      <a:srgbClr val="111827"/>
                    </a:solidFill>
                    <a:latin typeface="Cambria Math" panose="02040503050406030204" pitchFamily="18" charset="0"/>
                  </a:rPr>
                  <a:t>$\binom nr$</a:t>
                </a:r>
                <a:r>
                  <a:rPr sz="2400" b="0">
                    <a:solidFill>
                      <a:srgbClr val="111827"/>
                    </a:solidFill>
                    <a:latin typeface="Arial"/>
                  </a:rPr>
                  <a:t>; here </a:t>
                </a:r>
                <a:r>
                  <a:rPr lang="en-IN" sz="2400">
                    <a:solidFill>
                      <a:srgbClr val="111827"/>
                    </a:solidFill>
                    <a:latin typeface="Cambria Math" panose="02040503050406030204" pitchFamily="18" charset="0"/>
                  </a:rPr>
                  <a:t>$r=5$</a:t>
                </a:r>
                <a:r>
                  <a:rPr sz="2400" b="0">
                    <a:solidFill>
                      <a:srgbClr val="111827"/>
                    </a:solidFill>
                    <a:latin typeface="Arial"/>
                  </a:rPr>
                  <a:t>: </a:t>
                </a:r>
                <a:r>
                  <a:rPr lang="en-IN" sz="2400">
                    <a:solidFill>
                      <a:srgbClr val="111827"/>
                    </a:solidFill>
                    <a:latin typeface="Cambria Math" panose="02040503050406030204" pitchFamily="18" charset="0"/>
                  </a:rPr>
                  <a:t>$\binom{29}{5}=118755=5\cdot23751$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$\binom{29}{4}:\binom{29}{5}:\binom{29}{6}=23751:118755:475020=1:5:20$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absolute difference of the coefficients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11</m:t>
                        </m:r>
                      </m:sup>
                    </m:sSup>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11</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(B) </a:t>
                </a:r>
                <a14:m>
                  <m:oMath xmlns:m="http://schemas.openxmlformats.org/officeDocument/2006/math">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(C) </a:t>
                </a:r>
                <a14:m>
                  <m:oMath xmlns:m="http://schemas.openxmlformats.org/officeDocument/2006/math">
                    <m:sSup>
                      <m:e>
                        <m:r>
                          <a:rPr lang="en-IN" sz="2400" i="1">
                            <a:solidFill>
                              <a:srgbClr val="111827"/>
                            </a:solidFill>
                            <a:latin typeface="Cambria Math" panose="02040503050406030204" pitchFamily="18" charset="0"/>
                          </a:rPr>
                          <m:t>13</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(D) </a:t>
                </a:r>
                <a14:m>
                  <m:oMath xmlns:m="http://schemas.openxmlformats.org/officeDocument/2006/math">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absolute difference of the coefficients of </a:t>
                </a:r>
                <a:r>
                  <a:rPr lang="en-IN" sz="2400">
                    <a:solidFill>
                      <a:srgbClr val="111827"/>
                    </a:solidFill>
                    <a:latin typeface="Cambria Math" panose="02040503050406030204" pitchFamily="18" charset="0"/>
                  </a:rPr>
                  <a:t>$x^{10}$</a:t>
                </a:r>
                <a:r>
                  <a:rPr sz="2400" b="0">
                    <a:solidFill>
                      <a:srgbClr val="111827"/>
                    </a:solidFill>
                    <a:latin typeface="Arial"/>
                  </a:rPr>
                  <a:t> and </a:t>
                </a:r>
                <a:r>
                  <a:rPr lang="en-IN" sz="2400">
                    <a:solidFill>
                      <a:srgbClr val="111827"/>
                    </a:solidFill>
                    <a:latin typeface="Cambria Math" panose="02040503050406030204" pitchFamily="18" charset="0"/>
                  </a:rPr>
                  <a:t>$x^{7}$</a:t>
                </a:r>
                <a:r>
                  <a:rPr sz="2400" b="0">
                    <a:solidFill>
                      <a:srgbClr val="111827"/>
                    </a:solidFill>
                    <a:latin typeface="Arial"/>
                  </a:rPr>
                  <a:t> in the expansion of </a:t>
                </a:r>
                <a:r>
                  <a:rPr lang="en-IN" sz="2400">
                    <a:solidFill>
                      <a:srgbClr val="111827"/>
                    </a:solidFill>
                    <a:latin typeface="Cambria Math" panose="02040503050406030204" pitchFamily="18" charset="0"/>
                  </a:rPr>
                  <a:t>$\left(2x^2+\dfrac{1}{2x}\right)^{11}$</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$11^3-11$</a:t>
                </a:r>
                <a:r>
                  <a:rPr sz="2400" b="0">
                    <a:solidFill>
                      <a:srgbClr val="111827"/>
                    </a:solidFill>
                    <a:latin typeface="Arial"/>
                  </a:rPr>
                  <a:t>   (B) </a:t>
                </a:r>
                <a:r>
                  <a:rPr lang="en-IN" sz="2400">
                    <a:solidFill>
                      <a:srgbClr val="111827"/>
                    </a:solidFill>
                    <a:latin typeface="Cambria Math" panose="02040503050406030204" pitchFamily="18" charset="0"/>
                  </a:rPr>
                  <a:t>$12^3-12$</a:t>
                </a:r>
                <a:r>
                  <a:rPr sz="2400" b="0">
                    <a:solidFill>
                      <a:srgbClr val="111827"/>
                    </a:solidFill>
                    <a:latin typeface="Arial"/>
                  </a:rPr>
                  <a:t>   (C) </a:t>
                </a:r>
                <a:r>
                  <a:rPr lang="en-IN" sz="2400">
                    <a:solidFill>
                      <a:srgbClr val="111827"/>
                    </a:solidFill>
                    <a:latin typeface="Cambria Math" panose="02040503050406030204" pitchFamily="18" charset="0"/>
                  </a:rPr>
                  <a:t>$13^3-13$</a:t>
                </a:r>
                <a:r>
                  <a:rPr sz="2400" b="0">
                    <a:solidFill>
                      <a:srgbClr val="111827"/>
                    </a:solidFill>
                    <a:latin typeface="Arial"/>
                  </a:rPr>
                  <a:t>   (D) </a:t>
                </a:r>
                <a:r>
                  <a:rPr lang="en-IN" sz="2400">
                    <a:solidFill>
                      <a:srgbClr val="111827"/>
                    </a:solidFill>
                    <a:latin typeface="Cambria Math" panose="02040503050406030204" pitchFamily="18" charset="0"/>
                  </a:rPr>
                  <a:t>$10^3-10$</a:t>
                </a:r>
                <a:endParaRPr sz="2400">
                  <a:solidFill>
                    <a:srgbClr val="111827"/>
                  </a:solidFill>
                </a:endParaRPr>
              </a:p>
            </p:txBody>
          </p:sp>
        </mc:Fallback>
      </mc:AlternateContent>
      <p:sp>
        <p:nvSpPr>
          <p:cNvPr id="5" name="Rectangle 4"/>
          <p:cNvSpPr/>
          <p:nvPr/>
        </p:nvSpPr>
        <p:spPr>
          <a:xfrm>
            <a:off x="731520" y="369011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 is </a:t>
                </a:r>
                <a14:m>
                  <m:oMath xmlns:m="http://schemas.openxmlformats.org/officeDocument/2006/math">
                    <m:r>
                      <a:rPr lang="en-IN" sz="2400" i="1">
                        <a:solidFill>
                          <a:srgbClr val="78350F"/>
                        </a:solidFill>
                        <a:latin typeface="Cambria Math" panose="02040503050406030204" pitchFamily="18" charset="0"/>
                      </a:rPr>
                      <m:t>22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𝑟</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gives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10</m:t>
                        </m:r>
                      </m:sup>
                    </m:sSup>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 gives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7</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 is </a:t>
                </a:r>
                <a:r>
                  <a:rPr lang="en-IN" sz="2400">
                    <a:solidFill>
                      <a:srgbClr val="78350F"/>
                    </a:solidFill>
                    <a:latin typeface="Cambria Math" panose="02040503050406030204" pitchFamily="18" charset="0"/>
                  </a:rPr>
                  <a:t>$22-3r$</a:t>
                </a:r>
                <a:r>
                  <a:rPr sz="2400" b="0">
                    <a:solidFill>
                      <a:srgbClr val="78350F"/>
                    </a:solidFill>
                    <a:latin typeface="Arial"/>
                  </a:rPr>
                  <a:t>: </a:t>
                </a:r>
                <a:r>
                  <a:rPr lang="en-IN" sz="2400">
                    <a:solidFill>
                      <a:srgbClr val="78350F"/>
                    </a:solidFill>
                    <a:latin typeface="Cambria Math" panose="02040503050406030204" pitchFamily="18" charset="0"/>
                  </a:rPr>
                  <a:t>$r=4$</a:t>
                </a:r>
                <a:r>
                  <a:rPr sz="2400" b="0">
                    <a:solidFill>
                      <a:srgbClr val="78350F"/>
                    </a:solidFill>
                    <a:latin typeface="Arial"/>
                  </a:rPr>
                  <a:t> gives </a:t>
                </a:r>
                <a:r>
                  <a:rPr lang="en-IN" sz="2400">
                    <a:solidFill>
                      <a:srgbClr val="78350F"/>
                    </a:solidFill>
                    <a:latin typeface="Cambria Math" panose="02040503050406030204" pitchFamily="18" charset="0"/>
                  </a:rPr>
                  <a:t>$x^{10}$</a:t>
                </a:r>
                <a:r>
                  <a:rPr sz="2400" b="0">
                    <a:solidFill>
                      <a:srgbClr val="78350F"/>
                    </a:solidFill>
                    <a:latin typeface="Arial"/>
                  </a:rPr>
                  <a:t> and </a:t>
                </a:r>
                <a:r>
                  <a:rPr lang="en-IN" sz="2400">
                    <a:solidFill>
                      <a:srgbClr val="78350F"/>
                    </a:solidFill>
                    <a:latin typeface="Cambria Math" panose="02040503050406030204" pitchFamily="18" charset="0"/>
                  </a:rPr>
                  <a:t>$r=5$</a:t>
                </a:r>
                <a:r>
                  <a:rPr sz="2400" b="0">
                    <a:solidFill>
                      <a:srgbClr val="78350F"/>
                    </a:solidFill>
                    <a:latin typeface="Arial"/>
                  </a:rPr>
                  <a:t> gives </a:t>
                </a:r>
                <a:r>
                  <a:rPr lang="en-IN" sz="2400">
                    <a:solidFill>
                      <a:srgbClr val="78350F"/>
                    </a:solidFill>
                    <a:latin typeface="Cambria Math" panose="02040503050406030204" pitchFamily="18" charset="0"/>
                  </a:rPr>
                  <a:t>$x^{7}$</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𝑟</m:t>
                            </m:r>
                          </m:den>
                        </m:f>
                      </m:e>
                    </m: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coefficient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coefficient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4</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7</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Absolute difference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2640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1716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option (B).</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$T_{r+1}=\binom{11}{r}(2x^2)^{11-r}\left(\dfrac1{2x}\right)^r=\binom{11}{r}\,2^{11-2r}x^{22-3r}$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$x^7$</a:t>
                </a:r>
                <a:r>
                  <a:rPr sz="2400" b="0">
                    <a:solidFill>
                      <a:srgbClr val="111827"/>
                    </a:solidFill>
                    <a:latin typeface="Arial"/>
                  </a:rPr>
                  <a:t>: </a:t>
                </a:r>
                <a:r>
                  <a:rPr lang="en-IN" sz="2400">
                    <a:solidFill>
                      <a:srgbClr val="111827"/>
                    </a:solidFill>
                    <a:latin typeface="Cambria Math" panose="02040503050406030204" pitchFamily="18" charset="0"/>
                  </a:rPr>
                  <a:t>$22-3r=7$</a:t>
                </a:r>
                <a:r>
                  <a:rPr sz="2400" b="0">
                    <a:solidFill>
                      <a:srgbClr val="111827"/>
                    </a:solidFill>
                    <a:latin typeface="Arial"/>
                  </a:rPr>
                  <a:t>, so </a:t>
                </a:r>
                <a:r>
                  <a:rPr lang="en-IN" sz="2400">
                    <a:solidFill>
                      <a:srgbClr val="111827"/>
                    </a:solidFill>
                    <a:latin typeface="Cambria Math" panose="02040503050406030204" pitchFamily="18" charset="0"/>
                  </a:rPr>
                  <a:t>$r=5$</a:t>
                </a:r>
                <a:r>
                  <a:rPr sz="2400" b="0">
                    <a:solidFill>
                      <a:srgbClr val="111827"/>
                    </a:solidFill>
                    <a:latin typeface="Arial"/>
                  </a:rPr>
                  <a:t>; coefficient </a:t>
                </a:r>
                <a:r>
                  <a:rPr lang="en-IN" sz="2400">
                    <a:solidFill>
                      <a:srgbClr val="111827"/>
                    </a:solidFill>
                    <a:latin typeface="Cambria Math" panose="02040503050406030204" pitchFamily="18" charset="0"/>
                  </a:rPr>
                  <a:t>$\binom{11}{5}\dfrac{2^6}{2^5}=462\cdot2=924$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$x^{10}$</a:t>
                </a:r>
                <a:r>
                  <a:rPr sz="2400" b="0">
                    <a:solidFill>
                      <a:srgbClr val="111827"/>
                    </a:solidFill>
                    <a:latin typeface="Arial"/>
                  </a:rPr>
                  <a:t>: </a:t>
                </a:r>
                <a:r>
                  <a:rPr lang="en-IN" sz="2400">
                    <a:solidFill>
                      <a:srgbClr val="111827"/>
                    </a:solidFill>
                    <a:latin typeface="Cambria Math" panose="02040503050406030204" pitchFamily="18" charset="0"/>
                  </a:rPr>
                  <a:t>$22-3r=10$</a:t>
                </a:r>
                <a:r>
                  <a:rPr sz="2400" b="0">
                    <a:solidFill>
                      <a:srgbClr val="111827"/>
                    </a:solidFill>
                    <a:latin typeface="Arial"/>
                  </a:rPr>
                  <a:t>, so </a:t>
                </a:r>
                <a:r>
                  <a:rPr lang="en-IN" sz="2400">
                    <a:solidFill>
                      <a:srgbClr val="111827"/>
                    </a:solidFill>
                    <a:latin typeface="Cambria Math" panose="02040503050406030204" pitchFamily="18" charset="0"/>
                  </a:rPr>
                  <a:t>$r=4$</a:t>
                </a:r>
                <a:r>
                  <a:rPr sz="2400" b="0">
                    <a:solidFill>
                      <a:srgbClr val="111827"/>
                    </a:solidFill>
                    <a:latin typeface="Arial"/>
                  </a:rPr>
                  <a:t>; coefficient </a:t>
                </a:r>
                <a:r>
                  <a:rPr lang="en-IN" sz="2400">
                    <a:solidFill>
                      <a:srgbClr val="111827"/>
                    </a:solidFill>
                    <a:latin typeface="Cambria Math" panose="02040503050406030204" pitchFamily="18" charset="0"/>
                  </a:rPr>
                  <a:t>$\binom{11}{4}\dfrac{2^7}{2^4}=330\cdot8=2640$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Absolute difference </a:t>
                </a:r>
                <a:r>
                  <a:rPr lang="en-IN" sz="2400">
                    <a:solidFill>
                      <a:srgbClr val="111827"/>
                    </a:solidFill>
                    <a:latin typeface="Cambria Math" panose="02040503050406030204" pitchFamily="18" charset="0"/>
                  </a:rPr>
                  <a:t>$=|924-2640|=1716$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$1716=1728-12=12^3-12$</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sSup>
                      <m:e>
                        <m:r>
                          <a:rPr lang="en-IN" sz="2800" i="1">
                            <a:solidFill>
                              <a:srgbClr val="15803D"/>
                            </a:solidFill>
                            <a:latin typeface="Cambria Math" panose="02040503050406030204" pitchFamily="18" charset="0"/>
                          </a:rPr>
                          <m:t>12</m:t>
                        </m:r>
                      </m:e>
                      <m:sup>
                        <m:r>
                          <a:rPr lang="en-IN" sz="2800" i="1">
                            <a:solidFill>
                              <a:srgbClr val="15803D"/>
                            </a:solidFill>
                            <a:latin typeface="Cambria Math" panose="02040503050406030204" pitchFamily="18" charset="0"/>
                          </a:rPr>
                          <m:t>3</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12</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$12^3-12$</a:t>
                </a:r>
                <a:endParaRPr sz="2800">
                  <a:solidFill>
                    <a:srgbClr val="15803D"/>
                  </a:solidFill>
                </a:endParaRPr>
              </a:p>
            </p:txBody>
          </p:sp>
        </mc:Fallback>
      </mc:AlternateContent>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Clear the denominator: </a:t>
                </a:r>
                <a14:m>
                  <m:oMath xmlns:m="http://schemas.openxmlformats.org/officeDocument/2006/math">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den>
                    </m:f>
                  </m:oMath>
                </a14:m>
                <a:r>
                  <a:rPr sz="2400" b="0">
                    <a:solidFill>
                      <a:srgbClr val="78350F"/>
                    </a:solidFill>
                    <a:latin typeface="Arial"/>
                  </a:rPr>
                  <a:t> and read two coefficients of a pure polynomial.</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Clear the denominator: </a:t>
                </a:r>
                <a:r>
                  <a:rPr lang="en-IN" sz="2400">
                    <a:solidFill>
                      <a:srgbClr val="78350F"/>
                    </a:solidFill>
                    <a:latin typeface="Cambria Math" panose="02040503050406030204" pitchFamily="18" charset="0"/>
                  </a:rPr>
                  <a:t>$2x^2+\dfrac1{2x}=\dfrac{4x^3+1}{2x}$</a:t>
                </a:r>
                <a:r>
                  <a:rPr sz="2400" b="0">
                    <a:solidFill>
                      <a:srgbClr val="78350F"/>
                    </a:solidFill>
                    <a:latin typeface="Arial"/>
                  </a:rPr>
                  <a:t> and read two coefficients of a pure polynomial.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11</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11</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11</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sup>
                    </m:sSup>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11</m:t>
                            </m:r>
                          </m:sup>
                        </m:sSup>
                      </m:den>
                    </m:f>
                  </m:oMath>
                </a14:m>
                <a:r>
                  <a:rPr sz="2400" b="0">
                    <a:solidFill>
                      <a:srgbClr val="111827"/>
                    </a:solidFill>
                    <a:latin typeface="Arial"/>
                  </a:rPr>
                  <a:t> times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oMath>
                </a14:m>
                <a:r>
                  <a:rPr sz="2400" b="0">
                    <a:solidFill>
                      <a:srgbClr val="111827"/>
                    </a:solidFill>
                    <a:latin typeface="Arial"/>
                  </a:rPr>
                  <a:t>, namely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7</m:t>
                            </m:r>
                          </m:den>
                        </m:f>
                      </m:e>
                    </m:d>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$\left(2x^2+\dfrac1{2x}\right)^{11}=\dfrac{(4x^3+1)^{11}}{2^{11}x^{11}}$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$x^{10}$</a:t>
                </a:r>
                <a:r>
                  <a:rPr sz="2400" b="0">
                    <a:solidFill>
                      <a:srgbClr val="111827"/>
                    </a:solidFill>
                    <a:latin typeface="Arial"/>
                  </a:rPr>
                  <a:t> is </a:t>
                </a:r>
                <a:r>
                  <a:rPr lang="en-IN" sz="2400">
                    <a:solidFill>
                      <a:srgbClr val="111827"/>
                    </a:solidFill>
                    <a:latin typeface="Cambria Math" panose="02040503050406030204" pitchFamily="18" charset="0"/>
                  </a:rPr>
                  <a:t>$\dfrac1{2^{11}}$</a:t>
                </a:r>
                <a:r>
                  <a:rPr sz="2400" b="0">
                    <a:solidFill>
                      <a:srgbClr val="111827"/>
                    </a:solidFill>
                    <a:latin typeface="Arial"/>
                  </a:rPr>
                  <a:t> times the coefficient of </a:t>
                </a:r>
                <a:r>
                  <a:rPr lang="en-IN" sz="2400">
                    <a:solidFill>
                      <a:srgbClr val="111827"/>
                    </a:solidFill>
                    <a:latin typeface="Cambria Math" panose="02040503050406030204" pitchFamily="18" charset="0"/>
                  </a:rPr>
                  <a:t>$x^{21}=(x^3)^7$</a:t>
                </a:r>
                <a:r>
                  <a:rPr sz="2400" b="0">
                    <a:solidFill>
                      <a:srgbClr val="111827"/>
                    </a:solidFill>
                    <a:latin typeface="Arial"/>
                  </a:rPr>
                  <a:t> in </a:t>
                </a:r>
                <a:r>
                  <a:rPr lang="en-IN" sz="2400">
                    <a:solidFill>
                      <a:srgbClr val="111827"/>
                    </a:solidFill>
                    <a:latin typeface="Cambria Math" panose="02040503050406030204" pitchFamily="18" charset="0"/>
                  </a:rPr>
                  <a:t>$(4x^3+1)^{11}$</a:t>
                </a:r>
                <a:r>
                  <a:rPr sz="2400" b="0">
                    <a:solidFill>
                      <a:srgbClr val="111827"/>
                    </a:solidFill>
                    <a:latin typeface="Arial"/>
                  </a:rPr>
                  <a:t>, namely </a:t>
                </a:r>
                <a:r>
                  <a:rPr lang="en-IN" sz="2400">
                    <a:solidFill>
                      <a:srgbClr val="111827"/>
                    </a:solidFill>
                    <a:latin typeface="Cambria Math" panose="02040503050406030204" pitchFamily="18" charset="0"/>
                  </a:rPr>
                  <a:t>$\binom{11}{7}4^7$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11</m:t>
                            </m:r>
                          </m:sup>
                        </m:sSup>
                      </m:den>
                    </m:f>
                  </m:oMath>
                </a14:m>
                <a:r>
                  <a:rPr sz="2400" b="0">
                    <a:solidFill>
                      <a:srgbClr val="111827"/>
                    </a:solidFill>
                    <a:latin typeface="Arial"/>
                  </a:rPr>
                  <a:t> times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18</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oMath>
                </a14:m>
                <a:r>
                  <a:rPr sz="2400" b="0">
                    <a:solidFill>
                      <a:srgbClr val="111827"/>
                    </a:solidFill>
                    <a:latin typeface="Arial"/>
                  </a:rPr>
                  <a:t>, namely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6</m:t>
                            </m:r>
                          </m:den>
                        </m:f>
                      </m:e>
                    </m:d>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6</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coefficients are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330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14</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11</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2640</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12</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11</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924</m:t>
                    </m:r>
                  </m:oMath>
                </a14:m>
                <a:r>
                  <a:rPr sz="2400" b="0">
                    <a:solidFill>
                      <a:srgbClr val="111827"/>
                    </a:solidFill>
                    <a:latin typeface="Arial"/>
                  </a:rPr>
                  <a:t>, with difference </a:t>
                </a:r>
                <a14:m>
                  <m:oMath xmlns:m="http://schemas.openxmlformats.org/officeDocument/2006/math">
                    <m:r>
                      <a:rPr lang="en-IN" sz="2400" i="1">
                        <a:solidFill>
                          <a:srgbClr val="111827"/>
                        </a:solidFill>
                        <a:latin typeface="Cambria Math" panose="02040503050406030204" pitchFamily="18" charset="0"/>
                      </a:rPr>
                      <m:t>1716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$x^{7}$</a:t>
                </a:r>
                <a:r>
                  <a:rPr sz="2400" b="0">
                    <a:solidFill>
                      <a:srgbClr val="111827"/>
                    </a:solidFill>
                    <a:latin typeface="Arial"/>
                  </a:rPr>
                  <a:t> is </a:t>
                </a:r>
                <a:r>
                  <a:rPr lang="en-IN" sz="2400">
                    <a:solidFill>
                      <a:srgbClr val="111827"/>
                    </a:solidFill>
                    <a:latin typeface="Cambria Math" panose="02040503050406030204" pitchFamily="18" charset="0"/>
                  </a:rPr>
                  <a:t>$\dfrac1{2^{11}}$</a:t>
                </a:r>
                <a:r>
                  <a:rPr sz="2400" b="0">
                    <a:solidFill>
                      <a:srgbClr val="111827"/>
                    </a:solidFill>
                    <a:latin typeface="Arial"/>
                  </a:rPr>
                  <a:t> times the coefficient of </a:t>
                </a:r>
                <a:r>
                  <a:rPr lang="en-IN" sz="2400">
                    <a:solidFill>
                      <a:srgbClr val="111827"/>
                    </a:solidFill>
                    <a:latin typeface="Cambria Math" panose="02040503050406030204" pitchFamily="18" charset="0"/>
                  </a:rPr>
                  <a:t>$x^{18}=(x^3)^6$</a:t>
                </a:r>
                <a:r>
                  <a:rPr sz="2400" b="0">
                    <a:solidFill>
                      <a:srgbClr val="111827"/>
                    </a:solidFill>
                    <a:latin typeface="Arial"/>
                  </a:rPr>
                  <a:t>, namely </a:t>
                </a:r>
                <a:r>
                  <a:rPr lang="en-IN" sz="2400">
                    <a:solidFill>
                      <a:srgbClr val="111827"/>
                    </a:solidFill>
                    <a:latin typeface="Cambria Math" panose="02040503050406030204" pitchFamily="18" charset="0"/>
                  </a:rPr>
                  <a:t>$\binom{11}{6}4^6$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coefficients are </a:t>
                </a:r>
                <a:r>
                  <a:rPr lang="en-IN" sz="2400">
                    <a:solidFill>
                      <a:srgbClr val="111827"/>
                    </a:solidFill>
                    <a:latin typeface="Cambria Math" panose="02040503050406030204" pitchFamily="18" charset="0"/>
                  </a:rPr>
                  <a:t>$\dfrac{330\cdot2^{14}}{2^{11}}=2640$</a:t>
                </a:r>
                <a:r>
                  <a:rPr sz="2400" b="0">
                    <a:solidFill>
                      <a:srgbClr val="111827"/>
                    </a:solidFill>
                    <a:latin typeface="Arial"/>
                  </a:rPr>
                  <a:t> and </a:t>
                </a:r>
                <a:r>
                  <a:rPr lang="en-IN" sz="2400">
                    <a:solidFill>
                      <a:srgbClr val="111827"/>
                    </a:solidFill>
                    <a:latin typeface="Cambria Math" panose="02040503050406030204" pitchFamily="18" charset="0"/>
                  </a:rPr>
                  <a:t>$\dfrac{462\cdot2^{12}}{2^{11}}=924$</a:t>
                </a:r>
                <a:r>
                  <a:rPr sz="2400" b="0">
                    <a:solidFill>
                      <a:srgbClr val="111827"/>
                    </a:solidFill>
                    <a:latin typeface="Arial"/>
                  </a:rPr>
                  <a:t>, with difference </a:t>
                </a:r>
                <a:r>
                  <a:rPr lang="en-IN" sz="2400">
                    <a:solidFill>
                      <a:srgbClr val="111827"/>
                    </a:solidFill>
                    <a:latin typeface="Cambria Math" panose="02040503050406030204" pitchFamily="18" charset="0"/>
                  </a:rPr>
                  <a:t>$1716=12^3-12$</a:t>
                </a:r>
                <a:r>
                  <a:rPr sz="2400" b="0">
                    <a:solidFill>
                      <a:srgbClr val="111827"/>
                    </a:solidFill>
                    <a:latin typeface="Arial"/>
                  </a:rPr>
                  <a:t>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sSup>
                      <m:e>
                        <m:r>
                          <a:rPr lang="en-IN" sz="2800" i="1">
                            <a:solidFill>
                              <a:srgbClr val="15803D"/>
                            </a:solidFill>
                            <a:latin typeface="Cambria Math" panose="02040503050406030204" pitchFamily="18" charset="0"/>
                          </a:rPr>
                          <m:t>12</m:t>
                        </m:r>
                      </m:e>
                      <m:sup>
                        <m:r>
                          <a:rPr lang="en-IN" sz="2800" i="1">
                            <a:solidFill>
                              <a:srgbClr val="15803D"/>
                            </a:solidFill>
                            <a:latin typeface="Cambria Math" panose="02040503050406030204" pitchFamily="18" charset="0"/>
                          </a:rPr>
                          <m:t>3</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12</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$12^3-12$</a:t>
                </a:r>
                <a:endParaRPr sz="2800">
                  <a:solidFill>
                    <a:srgbClr val="15803D"/>
                  </a:solidFill>
                </a:endParaRPr>
              </a:p>
            </p:txBody>
          </p:sp>
        </mc:Fallback>
      </mc:AlternateContent>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𝑝</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𝑎</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up>
                            </m:sSup>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the exponent in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𝑟</m:t>
                    </m:r>
                  </m:oMath>
                </a14:m>
                <a:r>
                  <a:rPr sz="2400" b="0">
                    <a:solidFill>
                      <a:srgbClr val="111827"/>
                    </a:solidFill>
                    <a:latin typeface="Arial"/>
                  </a:rPr>
                  <a:t>; consecutive-power coefficients come from consecutive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Many options are in the form </a:t>
                </a:r>
                <a14:m>
                  <m:oMath xmlns:m="http://schemas.openxmlformats.org/officeDocument/2006/math">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12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1716</m:t>
                    </m:r>
                  </m:oMath>
                </a14:m>
                <a:r>
                  <a:rPr sz="2400" b="0">
                    <a:solidFill>
                      <a:srgbClr val="111827"/>
                    </a:solidFill>
                    <a:latin typeface="Arial"/>
                  </a:rPr>
                  <a:t>, which saves arithmetic when only an approximate size is known.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Clearing the denominator makes all exponents multiples of one number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here) and avoids fractions.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330</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$\left(px^a+qx^{-b}\right)^n$</a:t>
                </a:r>
                <a:r>
                  <a:rPr sz="2400" b="0">
                    <a:solidFill>
                      <a:srgbClr val="111827"/>
                    </a:solidFill>
                    <a:latin typeface="Arial"/>
                  </a:rPr>
                  <a:t> the exponent in </a:t>
                </a:r>
                <a:r>
                  <a:rPr lang="en-IN" sz="2400">
                    <a:solidFill>
                      <a:srgbClr val="111827"/>
                    </a:solidFill>
                    <a:latin typeface="Cambria Math" panose="02040503050406030204" pitchFamily="18" charset="0"/>
                  </a:rPr>
                  <a:t>$T_{r+1}$</a:t>
                </a:r>
                <a:r>
                  <a:rPr sz="2400" b="0">
                    <a:solidFill>
                      <a:srgbClr val="111827"/>
                    </a:solidFill>
                    <a:latin typeface="Arial"/>
                  </a:rPr>
                  <a:t> is </a:t>
                </a:r>
                <a:r>
                  <a:rPr lang="en-IN" sz="2400">
                    <a:solidFill>
                      <a:srgbClr val="111827"/>
                    </a:solidFill>
                    <a:latin typeface="Cambria Math" panose="02040503050406030204" pitchFamily="18" charset="0"/>
                  </a:rPr>
                  <a:t>$a(n-r)-br$</a:t>
                </a:r>
                <a:r>
                  <a:rPr sz="2400" b="0">
                    <a:solidFill>
                      <a:srgbClr val="111827"/>
                    </a:solidFill>
                    <a:latin typeface="Arial"/>
                  </a:rPr>
                  <a:t>; consecutive-power coefficients come from consecutive </a:t>
                </a:r>
                <a:r>
                  <a:rPr lang="en-IN" sz="2400">
                    <a:solidFill>
                      <a:srgbClr val="111827"/>
                    </a:solidFill>
                    <a:latin typeface="Cambria Math" panose="02040503050406030204" pitchFamily="18" charset="0"/>
                  </a:rPr>
                  <a:t>$r$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Many options are in the form </a:t>
                </a:r>
                <a:r>
                  <a:rPr lang="en-IN" sz="2400">
                    <a:solidFill>
                      <a:srgbClr val="111827"/>
                    </a:solidFill>
                    <a:latin typeface="Cambria Math" panose="02040503050406030204" pitchFamily="18" charset="0"/>
                  </a:rPr>
                  <a:t>$k^3-k$</a:t>
                </a:r>
                <a:r>
                  <a:rPr sz="2400" b="0">
                    <a:solidFill>
                      <a:srgbClr val="111827"/>
                    </a:solidFill>
                    <a:latin typeface="Arial"/>
                  </a:rPr>
                  <a:t>: </a:t>
                </a:r>
                <a:r>
                  <a:rPr lang="en-IN" sz="2400">
                    <a:solidFill>
                      <a:srgbClr val="111827"/>
                    </a:solidFill>
                    <a:latin typeface="Cambria Math" panose="02040503050406030204" pitchFamily="18" charset="0"/>
                  </a:rPr>
                  <a:t>$12^3-12=1716$</a:t>
                </a:r>
                <a:r>
                  <a:rPr sz="2400" b="0">
                    <a:solidFill>
                      <a:srgbClr val="111827"/>
                    </a:solidFill>
                    <a:latin typeface="Arial"/>
                  </a:rPr>
                  <a:t>, which saves arithmetic when only an approximate size is known.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Clearing the denominator makes all exponents multiples of one number (</a:t>
                </a:r>
                <a:r>
                  <a:rPr lang="en-IN" sz="2400">
                    <a:solidFill>
                      <a:srgbClr val="111827"/>
                    </a:solidFill>
                    <a:latin typeface="Cambria Math" panose="02040503050406030204" pitchFamily="18" charset="0"/>
                  </a:rPr>
                  <a:t>$3$</a:t>
                </a:r>
                <a:r>
                  <a:rPr sz="2400" b="0">
                    <a:solidFill>
                      <a:srgbClr val="111827"/>
                    </a:solidFill>
                    <a:latin typeface="Arial"/>
                  </a:rPr>
                  <a:t> here) and avoids fractions.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$\binom{11}{4}=330$</a:t>
                </a:r>
                <a:r>
                  <a:rPr sz="2400" b="0">
                    <a:solidFill>
                      <a:srgbClr val="111827"/>
                    </a:solidFill>
                    <a:latin typeface="Arial"/>
                  </a:rPr>
                  <a:t>, </a:t>
                </a:r>
                <a:r>
                  <a:rPr lang="en-IN" sz="2400">
                    <a:solidFill>
                      <a:srgbClr val="111827"/>
                    </a:solidFill>
                    <a:latin typeface="Cambria Math" panose="02040503050406030204" pitchFamily="18" charset="0"/>
                  </a:rPr>
                  <a:t>$\binom{11}{5}=462$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33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25</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19</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190</m:t>
                        </m:r>
                      </m:sup>
                    </m:sSup>
                  </m:oMath>
                </a14:m>
                <a:r>
                  <a:rPr sz="2400" b="0">
                    <a:solidFill>
                      <a:srgbClr val="111827"/>
                    </a:solidFill>
                    <a:latin typeface="Arial"/>
                  </a:rPr>
                  <a:t> is divisible by: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but not by </a:t>
                </a:r>
                <a14:m>
                  <m:oMath xmlns:m="http://schemas.openxmlformats.org/officeDocument/2006/math">
                    <m:r>
                      <a:rPr lang="en-IN" sz="2400" i="1">
                        <a:solidFill>
                          <a:srgbClr val="111827"/>
                        </a:solidFill>
                        <a:latin typeface="Cambria Math" panose="02040503050406030204" pitchFamily="18" charset="0"/>
                      </a:rPr>
                      <m:t>34</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both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34</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34</m:t>
                    </m:r>
                  </m:oMath>
                </a14:m>
                <a:r>
                  <a:rPr sz="2400" b="0">
                    <a:solidFill>
                      <a:srgbClr val="111827"/>
                    </a:solidFill>
                    <a:latin typeface="Arial"/>
                  </a:rPr>
                  <a:t> but not by </a:t>
                </a:r>
                <a14:m>
                  <m:oMath xmlns:m="http://schemas.openxmlformats.org/officeDocument/2006/math">
                    <m:r>
                      <a:rPr lang="en-IN" sz="2400" i="1">
                        <a:solidFill>
                          <a:srgbClr val="111827"/>
                        </a:solidFill>
                        <a:latin typeface="Cambria Math" panose="02040503050406030204" pitchFamily="18" charset="0"/>
                      </a:rPr>
                      <m:t>14</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neither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nor </a:t>
                </a:r>
                <a14:m>
                  <m:oMath xmlns:m="http://schemas.openxmlformats.org/officeDocument/2006/math">
                    <m:r>
                      <a:rPr lang="en-IN" sz="2400" i="1">
                        <a:solidFill>
                          <a:srgbClr val="111827"/>
                        </a:solidFill>
                        <a:latin typeface="Cambria Math" panose="02040503050406030204" pitchFamily="18" charset="0"/>
                      </a:rPr>
                      <m:t>34</m:t>
                    </m:r>
                  </m:oMath>
                </a14:m>
                <a:endParaRPr sz="2400">
                  <a:solidFill>
                    <a:srgbClr val="111827"/>
                  </a:solidFill>
                </a:endParaRPr>
              </a:p>
            </p:txBody>
          </p:sp>
        </mc:Choice>
        <mc:Fallback>
          <p:sp>
            <p:nvSpPr>
              <p:cNvPr id="4" name="Rounded Rectangle 3"/>
              <p:cNvSpPr/>
              <p:nvPr/>
            </p:nvSpPr>
            <p:spPr>
              <a:xfrm>
                <a:off x="731520" y="1280160"/>
                <a:ext cx="10725912" cy="2633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lang="en-IN" sz="2400">
                    <a:solidFill>
                      <a:srgbClr val="111827"/>
                    </a:solidFill>
                    <a:latin typeface="Cambria Math" panose="02040503050406030204" pitchFamily="18" charset="0"/>
                  </a:rPr>
                  <a:t>$25^{190}-19^{190}-8^{190}+2^{190}$</a:t>
                </a:r>
                <a:r>
                  <a:rPr sz="2400" b="0">
                    <a:solidFill>
                      <a:srgbClr val="111827"/>
                    </a:solidFill>
                    <a:latin typeface="Arial"/>
                  </a:rPr>
                  <a:t> is divisible by: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$14$</a:t>
                </a:r>
                <a:r>
                  <a:rPr sz="2400" b="0">
                    <a:solidFill>
                      <a:srgbClr val="111827"/>
                    </a:solidFill>
                    <a:latin typeface="Arial"/>
                  </a:rPr>
                  <a:t> but not by </a:t>
                </a:r>
                <a:r>
                  <a:rPr lang="en-IN" sz="2400">
                    <a:solidFill>
                      <a:srgbClr val="111827"/>
                    </a:solidFill>
                    <a:latin typeface="Cambria Math" panose="02040503050406030204" pitchFamily="18" charset="0"/>
                  </a:rPr>
                  <a:t>$34$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both </a:t>
                </a:r>
                <a:r>
                  <a:rPr lang="en-IN" sz="2400">
                    <a:solidFill>
                      <a:srgbClr val="111827"/>
                    </a:solidFill>
                    <a:latin typeface="Cambria Math" panose="02040503050406030204" pitchFamily="18" charset="0"/>
                  </a:rPr>
                  <a:t>$14$</a:t>
                </a:r>
                <a:r>
                  <a:rPr sz="2400" b="0">
                    <a:solidFill>
                      <a:srgbClr val="111827"/>
                    </a:solidFill>
                    <a:latin typeface="Arial"/>
                  </a:rPr>
                  <a:t> and </a:t>
                </a:r>
                <a:r>
                  <a:rPr lang="en-IN" sz="2400">
                    <a:solidFill>
                      <a:srgbClr val="111827"/>
                    </a:solidFill>
                    <a:latin typeface="Cambria Math" panose="02040503050406030204" pitchFamily="18" charset="0"/>
                  </a:rPr>
                  <a:t>$34$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$34$</a:t>
                </a:r>
                <a:r>
                  <a:rPr sz="2400" b="0">
                    <a:solidFill>
                      <a:srgbClr val="111827"/>
                    </a:solidFill>
                    <a:latin typeface="Arial"/>
                  </a:rPr>
                  <a:t> but not by </a:t>
                </a:r>
                <a:r>
                  <a:rPr lang="en-IN" sz="2400">
                    <a:solidFill>
                      <a:srgbClr val="111827"/>
                    </a:solidFill>
                    <a:latin typeface="Cambria Math" panose="02040503050406030204" pitchFamily="18" charset="0"/>
                  </a:rPr>
                  <a:t>$14$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neither </a:t>
                </a:r>
                <a:r>
                  <a:rPr lang="en-IN" sz="2400">
                    <a:solidFill>
                      <a:srgbClr val="111827"/>
                    </a:solidFill>
                    <a:latin typeface="Cambria Math" panose="02040503050406030204" pitchFamily="18" charset="0"/>
                  </a:rPr>
                  <a:t>$14$</a:t>
                </a:r>
                <a:r>
                  <a:rPr sz="2400" b="0">
                    <a:solidFill>
                      <a:srgbClr val="111827"/>
                    </a:solidFill>
                    <a:latin typeface="Arial"/>
                  </a:rPr>
                  <a:t> nor </a:t>
                </a:r>
                <a:r>
                  <a:rPr lang="en-IN" sz="2400">
                    <a:solidFill>
                      <a:srgbClr val="111827"/>
                    </a:solidFill>
                    <a:latin typeface="Cambria Math" panose="02040503050406030204" pitchFamily="18" charset="0"/>
                  </a:rPr>
                  <a:t>$34$</a:t>
                </a:r>
                <a:endParaRPr sz="2400">
                  <a:solidFill>
                    <a:srgbClr val="111827"/>
                  </a:solidFill>
                </a:endParaRPr>
              </a:p>
            </p:txBody>
          </p:sp>
        </mc:Fallback>
      </mc:AlternateContent>
      <p:sp>
        <p:nvSpPr>
          <p:cNvPr id="5" name="Rectangle 4"/>
          <p:cNvSpPr/>
          <p:nvPr/>
        </p:nvSpPr>
        <p:spPr>
          <a:xfrm>
            <a:off x="731520" y="41427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Divisibility using the binomial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Group as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sSup>
                          <m:e>
                            <m:r>
                              <a:rPr lang="en-IN" sz="2400" i="1">
                                <a:solidFill>
                                  <a:srgbClr val="78350F"/>
                                </a:solidFill>
                                <a:latin typeface="Cambria Math" panose="02040503050406030204" pitchFamily="18" charset="0"/>
                              </a:rPr>
                              <m:t>25</m:t>
                            </m:r>
                          </m:e>
                          <m:sup>
                            <m:r>
                              <a:rPr lang="en-IN" sz="2400" i="1">
                                <a:solidFill>
                                  <a:srgbClr val="78350F"/>
                                </a:solidFill>
                                <a:latin typeface="Cambria Math" panose="02040503050406030204" pitchFamily="18" charset="0"/>
                              </a:rPr>
                              <m:t>190</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19</m:t>
                            </m:r>
                          </m:e>
                          <m:sup>
                            <m:r>
                              <a:rPr lang="en-IN" sz="2400" i="1">
                                <a:solidFill>
                                  <a:srgbClr val="78350F"/>
                                </a:solidFill>
                                <a:latin typeface="Cambria Math" panose="02040503050406030204" pitchFamily="18" charset="0"/>
                              </a:rPr>
                              <m:t>190</m:t>
                            </m:r>
                          </m:sup>
                        </m:sSup>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sSup>
                          <m:e>
                            <m:r>
                              <a:rPr lang="en-IN" sz="2400" i="1">
                                <a:solidFill>
                                  <a:srgbClr val="78350F"/>
                                </a:solidFill>
                                <a:latin typeface="Cambria Math" panose="02040503050406030204" pitchFamily="18" charset="0"/>
                              </a:rPr>
                              <m:t>8</m:t>
                            </m:r>
                          </m:e>
                          <m:sup>
                            <m:r>
                              <a:rPr lang="en-IN" sz="2400" i="1">
                                <a:solidFill>
                                  <a:srgbClr val="78350F"/>
                                </a:solidFill>
                                <a:latin typeface="Cambria Math" panose="02040503050406030204" pitchFamily="18" charset="0"/>
                              </a:rPr>
                              <m:t>190</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190</m:t>
                            </m:r>
                          </m:sup>
                        </m:sSup>
                      </m:e>
                    </m:d>
                  </m:oMath>
                </a14:m>
                <a:r>
                  <a:rPr sz="2400" b="0">
                    <a:solidFill>
                      <a:srgbClr val="78350F"/>
                    </a:solidFill>
                    <a:latin typeface="Arial"/>
                  </a:rPr>
                  <a:t> (divisible by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 hence even) and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sSup>
                          <m:e>
                            <m:r>
                              <a:rPr lang="en-IN" sz="2400" i="1">
                                <a:solidFill>
                                  <a:srgbClr val="78350F"/>
                                </a:solidFill>
                                <a:latin typeface="Cambria Math" panose="02040503050406030204" pitchFamily="18" charset="0"/>
                              </a:rPr>
                              <m:t>25</m:t>
                            </m:r>
                          </m:e>
                          <m:sup>
                            <m:r>
                              <a:rPr lang="en-IN" sz="2400" i="1">
                                <a:solidFill>
                                  <a:srgbClr val="78350F"/>
                                </a:solidFill>
                                <a:latin typeface="Cambria Math" panose="02040503050406030204" pitchFamily="18" charset="0"/>
                              </a:rPr>
                              <m:t>190</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8</m:t>
                            </m:r>
                          </m:e>
                          <m:sup>
                            <m:r>
                              <a:rPr lang="en-IN" sz="2400" i="1">
                                <a:solidFill>
                                  <a:srgbClr val="78350F"/>
                                </a:solidFill>
                                <a:latin typeface="Cambria Math" panose="02040503050406030204" pitchFamily="18" charset="0"/>
                              </a:rPr>
                              <m:t>190</m:t>
                            </m:r>
                          </m:sup>
                        </m:sSup>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sSup>
                          <m:e>
                            <m:r>
                              <a:rPr lang="en-IN" sz="2400" i="1">
                                <a:solidFill>
                                  <a:srgbClr val="78350F"/>
                                </a:solidFill>
                                <a:latin typeface="Cambria Math" panose="02040503050406030204" pitchFamily="18" charset="0"/>
                              </a:rPr>
                              <m:t>19</m:t>
                            </m:r>
                          </m:e>
                          <m:sup>
                            <m:r>
                              <a:rPr lang="en-IN" sz="2400" i="1">
                                <a:solidFill>
                                  <a:srgbClr val="78350F"/>
                                </a:solidFill>
                                <a:latin typeface="Cambria Math" panose="02040503050406030204" pitchFamily="18" charset="0"/>
                              </a:rPr>
                              <m:t>190</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190</m:t>
                            </m:r>
                          </m:sup>
                        </m:sSup>
                      </m:e>
                    </m:d>
                  </m:oMath>
                </a14:m>
                <a:r>
                  <a:rPr sz="2400" b="0">
                    <a:solidFill>
                      <a:srgbClr val="78350F"/>
                    </a:solidFill>
                    <a:latin typeface="Arial"/>
                  </a:rPr>
                  <a:t> (divisible by </a:t>
                </a:r>
                <a14:m>
                  <m:oMath xmlns:m="http://schemas.openxmlformats.org/officeDocument/2006/math">
                    <m:r>
                      <a:rPr lang="en-IN" sz="2400" i="1">
                        <a:solidFill>
                          <a:srgbClr val="78350F"/>
                        </a:solidFill>
                        <a:latin typeface="Cambria Math" panose="02040503050406030204" pitchFamily="18" charset="0"/>
                      </a:rPr>
                      <m:t>17</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Group as </a:t>
                </a:r>
                <a:r>
                  <a:rPr lang="en-IN" sz="2400">
                    <a:solidFill>
                      <a:srgbClr val="78350F"/>
                    </a:solidFill>
                    <a:latin typeface="Cambria Math" panose="02040503050406030204" pitchFamily="18" charset="0"/>
                  </a:rPr>
                  <a:t>$\left(25^{190}-19^{190}\right)-\left(8^{190}-2^{190}\right)$</a:t>
                </a:r>
                <a:r>
                  <a:rPr sz="2400" b="0">
                    <a:solidFill>
                      <a:srgbClr val="78350F"/>
                    </a:solidFill>
                    <a:latin typeface="Arial"/>
                  </a:rPr>
                  <a:t> (divisible by </a:t>
                </a:r>
                <a:r>
                  <a:rPr lang="en-IN" sz="2400">
                    <a:solidFill>
                      <a:srgbClr val="78350F"/>
                    </a:solidFill>
                    <a:latin typeface="Cambria Math" panose="02040503050406030204" pitchFamily="18" charset="0"/>
                  </a:rPr>
                  <a:t>$6$</a:t>
                </a:r>
                <a:r>
                  <a:rPr sz="2400" b="0">
                    <a:solidFill>
                      <a:srgbClr val="78350F"/>
                    </a:solidFill>
                    <a:latin typeface="Arial"/>
                  </a:rPr>
                  <a:t>, hence even) and </a:t>
                </a:r>
                <a:r>
                  <a:rPr lang="en-IN" sz="2400">
                    <a:solidFill>
                      <a:srgbClr val="78350F"/>
                    </a:solidFill>
                    <a:latin typeface="Cambria Math" panose="02040503050406030204" pitchFamily="18" charset="0"/>
                  </a:rPr>
                  <a:t>$\left(25^{190}-8^{190}\right)-\left(19^{190}-2^{190}\right)$</a:t>
                </a:r>
                <a:r>
                  <a:rPr sz="2400" b="0">
                    <a:solidFill>
                      <a:srgbClr val="78350F"/>
                    </a:solidFill>
                    <a:latin typeface="Arial"/>
                  </a:rPr>
                  <a:t> (divisible by </a:t>
                </a:r>
                <a:r>
                  <a:rPr lang="en-IN" sz="2400">
                    <a:solidFill>
                      <a:srgbClr val="78350F"/>
                    </a:solidFill>
                    <a:latin typeface="Cambria Math" panose="02040503050406030204" pitchFamily="18" charset="0"/>
                  </a:rPr>
                  <a:t>$17$</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Group as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25</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19</m:t>
                            </m:r>
                          </m:e>
                          <m:sup>
                            <m:r>
                              <a:rPr lang="en-IN" sz="2400" i="1">
                                <a:solidFill>
                                  <a:srgbClr val="111827"/>
                                </a:solidFill>
                                <a:latin typeface="Cambria Math" panose="02040503050406030204" pitchFamily="18" charset="0"/>
                              </a:rPr>
                              <m:t>190</m:t>
                            </m:r>
                          </m:sup>
                        </m:sSup>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190</m:t>
                            </m:r>
                          </m:sup>
                        </m:sSup>
                      </m:e>
                    </m:d>
                  </m:oMath>
                </a14:m>
                <a:r>
                  <a:rPr sz="2400" b="0">
                    <a:solidFill>
                      <a:srgbClr val="111827"/>
                    </a:solidFill>
                    <a:latin typeface="Arial"/>
                  </a:rPr>
                  <a:t>: each bracket is divisible by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hence the whole number is divisible by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and in particular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Group as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25</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190</m:t>
                            </m:r>
                          </m:sup>
                        </m:sSup>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19</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190</m:t>
                            </m:r>
                          </m:sup>
                        </m:sSup>
                      </m:e>
                    </m:d>
                  </m:oMath>
                </a14:m>
                <a:r>
                  <a:rPr sz="2400" b="0">
                    <a:solidFill>
                      <a:srgbClr val="111827"/>
                    </a:solidFill>
                    <a:latin typeface="Arial"/>
                  </a:rPr>
                  <a:t>: each bracket is divisible by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so the number is divisible by </a:t>
                </a:r>
                <a14:m>
                  <m:oMath xmlns:m="http://schemas.openxmlformats.org/officeDocument/2006/math">
                    <m:r>
                      <a:rPr lang="en-IN" sz="2400" i="1">
                        <a:solidFill>
                          <a:srgbClr val="111827"/>
                        </a:solidFill>
                        <a:latin typeface="Cambria Math" panose="02040503050406030204" pitchFamily="18" charset="0"/>
                      </a:rPr>
                      <m:t>17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is divisible by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and by </a:t>
                </a:r>
                <a14:m>
                  <m:oMath xmlns:m="http://schemas.openxmlformats.org/officeDocument/2006/math">
                    <m:r>
                      <a:rPr lang="en-IN" sz="2400" i="1">
                        <a:solidFill>
                          <a:srgbClr val="111827"/>
                        </a:solidFill>
                        <a:latin typeface="Cambria Math" panose="02040503050406030204" pitchFamily="18" charset="0"/>
                      </a:rPr>
                      <m:t>17</m:t>
                    </m:r>
                  </m:oMath>
                </a14:m>
                <a:r>
                  <a:rPr sz="2400" b="0">
                    <a:solidFill>
                      <a:srgbClr val="111827"/>
                    </a:solidFill>
                    <a:latin typeface="Arial"/>
                  </a:rPr>
                  <a:t> (coprime), hence by </a:t>
                </a:r>
                <a14:m>
                  <m:oMath xmlns:m="http://schemas.openxmlformats.org/officeDocument/2006/math">
                    <m:r>
                      <a:rPr lang="en-IN" sz="2400" i="1">
                        <a:solidFill>
                          <a:srgbClr val="111827"/>
                        </a:solidFill>
                        <a:latin typeface="Cambria Math" panose="02040503050406030204" pitchFamily="18" charset="0"/>
                      </a:rPr>
                      <m:t>34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Group as </a:t>
                </a:r>
                <a:r>
                  <a:rPr lang="en-IN" sz="2400">
                    <a:solidFill>
                      <a:srgbClr val="111827"/>
                    </a:solidFill>
                    <a:latin typeface="Cambria Math" panose="02040503050406030204" pitchFamily="18" charset="0"/>
                  </a:rPr>
                  <a:t>$\left(25^{190}-19^{190}\right)-\left(8^{190}-2^{190}\right)$</a:t>
                </a:r>
                <a:r>
                  <a:rPr sz="2400" b="0">
                    <a:solidFill>
                      <a:srgbClr val="111827"/>
                    </a:solidFill>
                    <a:latin typeface="Arial"/>
                  </a:rPr>
                  <a:t>: each bracket is divisible by </a:t>
                </a:r>
                <a:r>
                  <a:rPr lang="en-IN" sz="2400">
                    <a:solidFill>
                      <a:srgbClr val="111827"/>
                    </a:solidFill>
                    <a:latin typeface="Cambria Math" panose="02040503050406030204" pitchFamily="18" charset="0"/>
                  </a:rPr>
                  <a:t>$25-19=8-2=6$</a:t>
                </a:r>
                <a:r>
                  <a:rPr sz="2400" b="0">
                    <a:solidFill>
                      <a:srgbClr val="111827"/>
                    </a:solidFill>
                    <a:latin typeface="Arial"/>
                  </a:rPr>
                  <a:t>, hence the whole number is divisible by </a:t>
                </a:r>
                <a:r>
                  <a:rPr lang="en-IN" sz="2400">
                    <a:solidFill>
                      <a:srgbClr val="111827"/>
                    </a:solidFill>
                    <a:latin typeface="Cambria Math" panose="02040503050406030204" pitchFamily="18" charset="0"/>
                  </a:rPr>
                  <a:t>$6$</a:t>
                </a:r>
                <a:r>
                  <a:rPr sz="2400" b="0">
                    <a:solidFill>
                      <a:srgbClr val="111827"/>
                    </a:solidFill>
                    <a:latin typeface="Arial"/>
                  </a:rPr>
                  <a:t> and in particular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Group as </a:t>
                </a:r>
                <a:r>
                  <a:rPr lang="en-IN" sz="2400">
                    <a:solidFill>
                      <a:srgbClr val="111827"/>
                    </a:solidFill>
                    <a:latin typeface="Cambria Math" panose="02040503050406030204" pitchFamily="18" charset="0"/>
                  </a:rPr>
                  <a:t>$\left(25^{190}-8^{190}\right)-\left(19^{190}-2^{190}\right)$</a:t>
                </a:r>
                <a:r>
                  <a:rPr sz="2400" b="0">
                    <a:solidFill>
                      <a:srgbClr val="111827"/>
                    </a:solidFill>
                    <a:latin typeface="Arial"/>
                  </a:rPr>
                  <a:t>: each bracket is divisible by </a:t>
                </a:r>
                <a:r>
                  <a:rPr lang="en-IN" sz="2400">
                    <a:solidFill>
                      <a:srgbClr val="111827"/>
                    </a:solidFill>
                    <a:latin typeface="Cambria Math" panose="02040503050406030204" pitchFamily="18" charset="0"/>
                  </a:rPr>
                  <a:t>$25-8=19-2=17$</a:t>
                </a:r>
                <a:r>
                  <a:rPr sz="2400" b="0">
                    <a:solidFill>
                      <a:srgbClr val="111827"/>
                    </a:solidFill>
                    <a:latin typeface="Arial"/>
                  </a:rPr>
                  <a:t>, so the number is divisible by </a:t>
                </a:r>
                <a:r>
                  <a:rPr lang="en-IN" sz="2400">
                    <a:solidFill>
                      <a:srgbClr val="111827"/>
                    </a:solidFill>
                    <a:latin typeface="Cambria Math" panose="02040503050406030204" pitchFamily="18" charset="0"/>
                  </a:rPr>
                  <a:t>$17$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is divisible by </a:t>
                </a:r>
                <a:r>
                  <a:rPr lang="en-IN" sz="2400">
                    <a:solidFill>
                      <a:srgbClr val="111827"/>
                    </a:solidFill>
                    <a:latin typeface="Cambria Math" panose="02040503050406030204" pitchFamily="18" charset="0"/>
                  </a:rPr>
                  <a:t>$2$</a:t>
                </a:r>
                <a:r>
                  <a:rPr sz="2400" b="0">
                    <a:solidFill>
                      <a:srgbClr val="111827"/>
                    </a:solidFill>
                    <a:latin typeface="Arial"/>
                  </a:rPr>
                  <a:t> and by </a:t>
                </a:r>
                <a:r>
                  <a:rPr lang="en-IN" sz="2400">
                    <a:solidFill>
                      <a:srgbClr val="111827"/>
                    </a:solidFill>
                    <a:latin typeface="Cambria Math" panose="02040503050406030204" pitchFamily="18" charset="0"/>
                  </a:rPr>
                  <a:t>$17$</a:t>
                </a:r>
                <a:r>
                  <a:rPr sz="2400" b="0">
                    <a:solidFill>
                      <a:srgbClr val="111827"/>
                    </a:solidFill>
                    <a:latin typeface="Arial"/>
                  </a:rPr>
                  <a:t> (coprime), hence by </a:t>
                </a:r>
                <a:r>
                  <a:rPr lang="en-IN" sz="2400">
                    <a:solidFill>
                      <a:srgbClr val="111827"/>
                    </a:solidFill>
                    <a:latin typeface="Cambria Math" panose="02040503050406030204" pitchFamily="18" charset="0"/>
                  </a:rPr>
                  <a:t>$34$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divisibility by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25</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190</m:t>
                        </m:r>
                      </m:sup>
                    </m:sSup>
                  </m:oMath>
                </a14:m>
                <a:r>
                  <a:rPr sz="2400" b="0">
                    <a:solidFill>
                      <a:srgbClr val="111827"/>
                    </a:solidFill>
                    <a:latin typeface="Arial"/>
                  </a:rPr>
                  <a:t> is not divisible by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(modulo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it is </a:t>
                </a:r>
                <a14:m>
                  <m:oMath xmlns:m="http://schemas.openxmlformats.org/officeDocument/2006/math">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sSup>
                      <m:e>
                        <m:r>
                          <a:rPr lang="en-IN" sz="2400" i="1">
                            <a:solidFill>
                              <a:srgbClr val="111827"/>
                            </a:solidFill>
                            <a:latin typeface="Cambria Math" panose="02040503050406030204" pitchFamily="18" charset="0"/>
                          </a:rPr>
                          <m:t>19</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190</m:t>
                        </m:r>
                      </m:sup>
                    </m:sSup>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(modulo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it is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whole number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not divisible by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hence not by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Divisible by </a:t>
                </a:r>
                <a14:m>
                  <m:oMath xmlns:m="http://schemas.openxmlformats.org/officeDocument/2006/math">
                    <m:r>
                      <a:rPr lang="en-IN" sz="2400" i="1">
                        <a:solidFill>
                          <a:srgbClr val="111827"/>
                        </a:solidFill>
                        <a:latin typeface="Cambria Math" panose="02040503050406030204" pitchFamily="18" charset="0"/>
                      </a:rPr>
                      <m:t>34</m:t>
                    </m:r>
                  </m:oMath>
                </a14:m>
                <a:r>
                  <a:rPr sz="2400" b="0">
                    <a:solidFill>
                      <a:srgbClr val="111827"/>
                    </a:solidFill>
                    <a:latin typeface="Arial"/>
                  </a:rPr>
                  <a:t> but not by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divisibility by </a:t>
                </a:r>
                <a:r>
                  <a:rPr lang="en-IN" sz="2400">
                    <a:solidFill>
                      <a:srgbClr val="111827"/>
                    </a:solidFill>
                    <a:latin typeface="Cambria Math" panose="02040503050406030204" pitchFamily="18" charset="0"/>
                  </a:rPr>
                  <a:t>$7$</a:t>
                </a:r>
                <a:r>
                  <a:rPr sz="2400" b="0">
                    <a:solidFill>
                      <a:srgbClr val="111827"/>
                    </a:solidFill>
                    <a:latin typeface="Arial"/>
                  </a:rPr>
                  <a:t>: </a:t>
                </a:r>
                <a:r>
                  <a:rPr lang="en-IN" sz="2400">
                    <a:solidFill>
                      <a:srgbClr val="111827"/>
                    </a:solidFill>
                    <a:latin typeface="Cambria Math" panose="02040503050406030204" pitchFamily="18" charset="0"/>
                  </a:rPr>
                  <a:t>$25^{190}-8^{190}$</a:t>
                </a:r>
                <a:r>
                  <a:rPr sz="2400" b="0">
                    <a:solidFill>
                      <a:srgbClr val="111827"/>
                    </a:solidFill>
                    <a:latin typeface="Arial"/>
                  </a:rPr>
                  <a:t> is not divisible by </a:t>
                </a:r>
                <a:r>
                  <a:rPr lang="en-IN" sz="2400">
                    <a:solidFill>
                      <a:srgbClr val="111827"/>
                    </a:solidFill>
                    <a:latin typeface="Cambria Math" panose="02040503050406030204" pitchFamily="18" charset="0"/>
                  </a:rPr>
                  <a:t>$7$</a:t>
                </a:r>
                <a:r>
                  <a:rPr sz="2400" b="0">
                    <a:solidFill>
                      <a:srgbClr val="111827"/>
                    </a:solidFill>
                    <a:latin typeface="Arial"/>
                  </a:rPr>
                  <a:t> (modulo </a:t>
                </a:r>
                <a:r>
                  <a:rPr lang="en-IN" sz="2400">
                    <a:solidFill>
                      <a:srgbClr val="111827"/>
                    </a:solidFill>
                    <a:latin typeface="Cambria Math" panose="02040503050406030204" pitchFamily="18" charset="0"/>
                  </a:rPr>
                  <a:t>$7$</a:t>
                </a:r>
                <a:r>
                  <a:rPr sz="2400" b="0">
                    <a:solidFill>
                      <a:srgbClr val="111827"/>
                    </a:solidFill>
                    <a:latin typeface="Arial"/>
                  </a:rPr>
                  <a:t> it is </a:t>
                </a:r>
                <a:r>
                  <a:rPr lang="en-IN" sz="2400">
                    <a:solidFill>
                      <a:srgbClr val="111827"/>
                    </a:solidFill>
                    <a:latin typeface="Cambria Math" panose="02040503050406030204" pitchFamily="18" charset="0"/>
                  </a:rPr>
                  <a:t>$4^{190}-1\equiv4-1=3$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$19^{190}-2^{190}$</a:t>
                </a:r>
                <a:r>
                  <a:rPr sz="2400" b="0">
                    <a:solidFill>
                      <a:srgbClr val="111827"/>
                    </a:solidFill>
                    <a:latin typeface="Arial"/>
                  </a:rPr>
                  <a:t> is divisible by </a:t>
                </a:r>
                <a:r>
                  <a:rPr lang="en-IN" sz="2400">
                    <a:solidFill>
                      <a:srgbClr val="111827"/>
                    </a:solidFill>
                    <a:latin typeface="Cambria Math" panose="02040503050406030204" pitchFamily="18" charset="0"/>
                  </a:rPr>
                  <a:t>$7$</a:t>
                </a:r>
                <a:r>
                  <a:rPr sz="2400" b="0">
                    <a:solidFill>
                      <a:srgbClr val="111827"/>
                    </a:solidFill>
                    <a:latin typeface="Arial"/>
                  </a:rPr>
                  <a:t> (modulo </a:t>
                </a:r>
                <a:r>
                  <a:rPr lang="en-IN" sz="2400">
                    <a:solidFill>
                      <a:srgbClr val="111827"/>
                    </a:solidFill>
                    <a:latin typeface="Cambria Math" panose="02040503050406030204" pitchFamily="18" charset="0"/>
                  </a:rPr>
                  <a:t>$7$</a:t>
                </a:r>
                <a:r>
                  <a:rPr sz="2400" b="0">
                    <a:solidFill>
                      <a:srgbClr val="111827"/>
                    </a:solidFill>
                    <a:latin typeface="Arial"/>
                  </a:rPr>
                  <a:t> it is </a:t>
                </a:r>
                <a:r>
                  <a:rPr lang="en-IN" sz="2400">
                    <a:solidFill>
                      <a:srgbClr val="111827"/>
                    </a:solidFill>
                    <a:latin typeface="Cambria Math" panose="02040503050406030204" pitchFamily="18" charset="0"/>
                  </a:rPr>
                  <a:t>$5^{190}-2^{190}\equiv2-2=0$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whole number is </a:t>
                </a:r>
                <a:r>
                  <a:rPr lang="en-IN" sz="2400">
                    <a:solidFill>
                      <a:srgbClr val="111827"/>
                    </a:solidFill>
                    <a:latin typeface="Cambria Math" panose="02040503050406030204" pitchFamily="18" charset="0"/>
                  </a:rPr>
                  <a:t>$\equiv3\pmod7$</a:t>
                </a:r>
                <a:r>
                  <a:rPr sz="2400" b="0">
                    <a:solidFill>
                      <a:srgbClr val="111827"/>
                    </a:solidFill>
                    <a:latin typeface="Arial"/>
                  </a:rPr>
                  <a:t>, not divisible by </a:t>
                </a:r>
                <a:r>
                  <a:rPr lang="en-IN" sz="2400">
                    <a:solidFill>
                      <a:srgbClr val="111827"/>
                    </a:solidFill>
                    <a:latin typeface="Cambria Math" panose="02040503050406030204" pitchFamily="18" charset="0"/>
                  </a:rPr>
                  <a:t>$7$</a:t>
                </a:r>
                <a:r>
                  <a:rPr sz="2400" b="0">
                    <a:solidFill>
                      <a:srgbClr val="111827"/>
                    </a:solidFill>
                    <a:latin typeface="Arial"/>
                  </a:rPr>
                  <a:t>, hence not by </a:t>
                </a:r>
                <a:r>
                  <a:rPr lang="en-IN" sz="2400">
                    <a:solidFill>
                      <a:srgbClr val="111827"/>
                    </a:solidFill>
                    <a:latin typeface="Cambria Math" panose="02040503050406030204" pitchFamily="18" charset="0"/>
                  </a:rPr>
                  <a:t>$14$</a:t>
                </a:r>
                <a:r>
                  <a:rPr sz="2400" b="0">
                    <a:solidFill>
                      <a:srgbClr val="111827"/>
                    </a:solidFill>
                    <a:latin typeface="Arial"/>
                  </a:rPr>
                  <a:t>. Divisible by </a:t>
                </a:r>
                <a:r>
                  <a:rPr lang="en-IN" sz="2400">
                    <a:solidFill>
                      <a:srgbClr val="111827"/>
                    </a:solidFill>
                    <a:latin typeface="Cambria Math" panose="02040503050406030204" pitchFamily="18" charset="0"/>
                  </a:rPr>
                  <a:t>$34$</a:t>
                </a:r>
                <a:r>
                  <a:rPr sz="2400" b="0">
                    <a:solidFill>
                      <a:srgbClr val="111827"/>
                    </a:solidFill>
                    <a:latin typeface="Arial"/>
                  </a:rPr>
                  <a:t> but not by </a:t>
                </a:r>
                <a:r>
                  <a:rPr lang="en-IN" sz="2400">
                    <a:solidFill>
                      <a:srgbClr val="111827"/>
                    </a:solidFill>
                    <a:latin typeface="Cambria Math" panose="02040503050406030204" pitchFamily="18" charset="0"/>
                  </a:rPr>
                  <a:t>$14$</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34</m:t>
                    </m:r>
                  </m:oMath>
                </a14:m>
                <a:r>
                  <a:rPr sz="2800" b="1">
                    <a:solidFill>
                      <a:srgbClr val="15803D"/>
                    </a:solidFill>
                    <a:latin typeface="Arial"/>
                  </a:rPr>
                  <a:t> but not by </a:t>
                </a:r>
                <a14:m>
                  <m:oMath xmlns:m="http://schemas.openxmlformats.org/officeDocument/2006/math">
                    <m:r>
                      <a:rPr lang="en-IN" sz="2800" i="1">
                        <a:solidFill>
                          <a:srgbClr val="15803D"/>
                        </a:solidFill>
                        <a:latin typeface="Cambria Math" panose="02040503050406030204" pitchFamily="18" charset="0"/>
                      </a:rPr>
                      <m:t>14</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$34$</a:t>
                </a:r>
                <a:r>
                  <a:rPr sz="2800" b="1">
                    <a:solidFill>
                      <a:srgbClr val="15803D"/>
                    </a:solidFill>
                    <a:latin typeface="Arial"/>
                  </a:rPr>
                  <a:t> but not by </a:t>
                </a:r>
                <a:r>
                  <a:rPr lang="en-IN" sz="2800">
                    <a:solidFill>
                      <a:srgbClr val="15803D"/>
                    </a:solidFill>
                    <a:latin typeface="Cambria Math" panose="02040503050406030204" pitchFamily="18" charset="0"/>
                  </a:rPr>
                  <a:t>$14$</a:t>
                </a:r>
                <a:endParaRPr sz="2800">
                  <a:solidFill>
                    <a:srgbClr val="15803D"/>
                  </a:solidFill>
                </a:endParaRPr>
              </a:p>
            </p:txBody>
          </p:sp>
        </mc:Fallback>
      </mc:AlternateContent>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Reduce each base separately modulo the primes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17</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Reduce each base separately modulo the primes </a:t>
                </a:r>
                <a:r>
                  <a:rPr lang="en-IN" sz="2400">
                    <a:solidFill>
                      <a:srgbClr val="78350F"/>
                    </a:solidFill>
                    <a:latin typeface="Cambria Math" panose="02040503050406030204" pitchFamily="18" charset="0"/>
                  </a:rPr>
                  <a:t>$2$</a:t>
                </a:r>
                <a:r>
                  <a:rPr sz="2400" b="0">
                    <a:solidFill>
                      <a:srgbClr val="78350F"/>
                    </a:solidFill>
                    <a:latin typeface="Arial"/>
                  </a:rPr>
                  <a:t>, </a:t>
                </a:r>
                <a:r>
                  <a:rPr lang="en-IN" sz="2400">
                    <a:solidFill>
                      <a:srgbClr val="78350F"/>
                    </a:solidFill>
                    <a:latin typeface="Cambria Math" panose="02040503050406030204" pitchFamily="18" charset="0"/>
                  </a:rPr>
                  <a:t>$17$</a:t>
                </a:r>
                <a:r>
                  <a:rPr sz="2400" b="0">
                    <a:solidFill>
                      <a:srgbClr val="78350F"/>
                    </a:solidFill>
                    <a:latin typeface="Arial"/>
                  </a:rPr>
                  <a:t>, </a:t>
                </a:r>
                <a:r>
                  <a:rPr lang="en-IN" sz="2400">
                    <a:solidFill>
                      <a:srgbClr val="78350F"/>
                    </a:solidFill>
                    <a:latin typeface="Cambria Math" panose="02040503050406030204" pitchFamily="18" charset="0"/>
                  </a:rPr>
                  <a:t>$7$</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Modulo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 odd and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even, so the number 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Modulo </a:t>
                </a:r>
                <a14:m>
                  <m:oMath xmlns:m="http://schemas.openxmlformats.org/officeDocument/2006/math">
                    <m:r>
                      <a:rPr lang="en-IN" sz="2400" i="1">
                        <a:solidFill>
                          <a:srgbClr val="111827"/>
                        </a:solidFill>
                        <a:latin typeface="Cambria Math" panose="02040503050406030204" pitchFamily="18" charset="0"/>
                      </a:rPr>
                      <m:t>17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25</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19</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34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divides the number.</a:t>
                </a:r>
                <a:endParaRPr sz="2400">
                  <a:solidFill>
                    <a:srgbClr val="111827"/>
                  </a:solidFill>
                </a:endParaRPr>
              </a:p>
            </p:txBody>
          </p:sp>
        </mc:Choice>
        <mc:Fallback>
          <p:sp>
            <p:nvSpPr>
              <p:cNvPr id="6" name="Rectangle 5"/>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Modulo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$25,19$</a:t>
                </a:r>
                <a:r>
                  <a:rPr sz="2400" b="0">
                    <a:solidFill>
                      <a:srgbClr val="111827"/>
                    </a:solidFill>
                    <a:latin typeface="Arial"/>
                  </a:rPr>
                  <a:t> odd and </a:t>
                </a:r>
                <a:r>
                  <a:rPr lang="en-IN" sz="2400">
                    <a:solidFill>
                      <a:srgbClr val="111827"/>
                    </a:solidFill>
                    <a:latin typeface="Cambria Math" panose="02040503050406030204" pitchFamily="18" charset="0"/>
                  </a:rPr>
                  <a:t>$8,2$</a:t>
                </a:r>
                <a:r>
                  <a:rPr sz="2400" b="0">
                    <a:solidFill>
                      <a:srgbClr val="111827"/>
                    </a:solidFill>
                    <a:latin typeface="Arial"/>
                  </a:rPr>
                  <a:t> even, so the number is </a:t>
                </a:r>
                <a:r>
                  <a:rPr lang="en-IN" sz="2400">
                    <a:solidFill>
                      <a:srgbClr val="111827"/>
                    </a:solidFill>
                    <a:latin typeface="Cambria Math" panose="02040503050406030204" pitchFamily="18" charset="0"/>
                  </a:rPr>
                  <a:t>$1-1-0+0\equiv0$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Modulo </a:t>
                </a:r>
                <a:r>
                  <a:rPr lang="en-IN" sz="2400">
                    <a:solidFill>
                      <a:srgbClr val="111827"/>
                    </a:solidFill>
                    <a:latin typeface="Cambria Math" panose="02040503050406030204" pitchFamily="18" charset="0"/>
                  </a:rPr>
                  <a:t>$17$</a:t>
                </a:r>
                <a:r>
                  <a:rPr sz="2400" b="0">
                    <a:solidFill>
                      <a:srgbClr val="111827"/>
                    </a:solidFill>
                    <a:latin typeface="Arial"/>
                  </a:rPr>
                  <a:t>: </a:t>
                </a:r>
                <a:r>
                  <a:rPr lang="en-IN" sz="2400">
                    <a:solidFill>
                      <a:srgbClr val="111827"/>
                    </a:solidFill>
                    <a:latin typeface="Cambria Math" panose="02040503050406030204" pitchFamily="18" charset="0"/>
                  </a:rPr>
                  <a:t>$25\equiv8$</a:t>
                </a:r>
                <a:r>
                  <a:rPr sz="2400" b="0">
                    <a:solidFill>
                      <a:srgbClr val="111827"/>
                    </a:solidFill>
                    <a:latin typeface="Arial"/>
                  </a:rPr>
                  <a:t> and </a:t>
                </a:r>
                <a:r>
                  <a:rPr lang="en-IN" sz="2400">
                    <a:solidFill>
                      <a:srgbClr val="111827"/>
                    </a:solidFill>
                    <a:latin typeface="Cambria Math" panose="02040503050406030204" pitchFamily="18" charset="0"/>
                  </a:rPr>
                  <a:t>$19\equiv2$</a:t>
                </a:r>
                <a:r>
                  <a:rPr sz="2400" b="0">
                    <a:solidFill>
                      <a:srgbClr val="111827"/>
                    </a:solidFill>
                    <a:latin typeface="Arial"/>
                  </a:rPr>
                  <a:t>, so </a:t>
                </a:r>
                <a:r>
                  <a:rPr lang="en-IN" sz="2400">
                    <a:solidFill>
                      <a:srgbClr val="111827"/>
                    </a:solidFill>
                    <a:latin typeface="Cambria Math" panose="02040503050406030204" pitchFamily="18" charset="0"/>
                  </a:rPr>
                  <a:t>$25^{190}-19^{190}-8^{190}+2^{190}\equiv8^{190}-2^{190}-8^{190}+2^{190}=0$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$34=2\cdot17$</a:t>
                </a:r>
                <a:r>
                  <a:rPr sz="2400" b="0">
                    <a:solidFill>
                      <a:srgbClr val="111827"/>
                    </a:solidFill>
                    <a:latin typeface="Arial"/>
                  </a:rPr>
                  <a:t> divides the number.</a:t>
                </a:r>
                <a:endParaRPr sz="2400">
                  <a:solidFill>
                    <a:srgbClr val="111827"/>
                  </a:solidFill>
                </a:endParaRPr>
              </a:p>
            </p:txBody>
          </p:sp>
        </mc:Fallback>
      </mc:AlternateContent>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Modulo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Since </a:t>
                </a:r>
                <a14:m>
                  <m:oMath xmlns:m="http://schemas.openxmlformats.org/officeDocument/2006/math">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190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 Option (C)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Modulo </a:t>
                </a:r>
                <a:r>
                  <a:rPr lang="en-IN" sz="2400">
                    <a:solidFill>
                      <a:srgbClr val="111827"/>
                    </a:solidFill>
                    <a:latin typeface="Cambria Math" panose="02040503050406030204" pitchFamily="18" charset="0"/>
                  </a:rPr>
                  <a:t>$7$</a:t>
                </a:r>
                <a:r>
                  <a:rPr sz="2400" b="0">
                    <a:solidFill>
                      <a:srgbClr val="111827"/>
                    </a:solidFill>
                    <a:latin typeface="Arial"/>
                  </a:rPr>
                  <a:t>: </a:t>
                </a:r>
                <a:r>
                  <a:rPr lang="en-IN" sz="2400">
                    <a:solidFill>
                      <a:srgbClr val="111827"/>
                    </a:solidFill>
                    <a:latin typeface="Cambria Math" panose="02040503050406030204" pitchFamily="18" charset="0"/>
                  </a:rPr>
                  <a:t>$25\equiv4$</a:t>
                </a:r>
                <a:r>
                  <a:rPr sz="2400" b="0">
                    <a:solidFill>
                      <a:srgbClr val="111827"/>
                    </a:solidFill>
                    <a:latin typeface="Arial"/>
                  </a:rPr>
                  <a:t>, </a:t>
                </a:r>
                <a:r>
                  <a:rPr lang="en-IN" sz="2400">
                    <a:solidFill>
                      <a:srgbClr val="111827"/>
                    </a:solidFill>
                    <a:latin typeface="Cambria Math" panose="02040503050406030204" pitchFamily="18" charset="0"/>
                  </a:rPr>
                  <a:t>$19\equiv5$</a:t>
                </a:r>
                <a:r>
                  <a:rPr sz="2400" b="0">
                    <a:solidFill>
                      <a:srgbClr val="111827"/>
                    </a:solidFill>
                    <a:latin typeface="Arial"/>
                  </a:rPr>
                  <a:t>, </a:t>
                </a:r>
                <a:r>
                  <a:rPr lang="en-IN" sz="2400">
                    <a:solidFill>
                      <a:srgbClr val="111827"/>
                    </a:solidFill>
                    <a:latin typeface="Cambria Math" panose="02040503050406030204" pitchFamily="18" charset="0"/>
                  </a:rPr>
                  <a:t>$8\equiv1$</a:t>
                </a:r>
                <a:r>
                  <a:rPr sz="2400" b="0">
                    <a:solidFill>
                      <a:srgbClr val="111827"/>
                    </a:solidFill>
                    <a:latin typeface="Arial"/>
                  </a:rPr>
                  <a:t>, </a:t>
                </a:r>
                <a:r>
                  <a:rPr lang="en-IN" sz="2400">
                    <a:solidFill>
                      <a:srgbClr val="111827"/>
                    </a:solidFill>
                    <a:latin typeface="Cambria Math" panose="02040503050406030204" pitchFamily="18" charset="0"/>
                  </a:rPr>
                  <a:t>$2\equiv2$</a:t>
                </a:r>
                <a:r>
                  <a:rPr sz="2400" b="0">
                    <a:solidFill>
                      <a:srgbClr val="111827"/>
                    </a:solidFill>
                    <a:latin typeface="Arial"/>
                  </a:rPr>
                  <a:t>. Since </a:t>
                </a:r>
                <a:r>
                  <a:rPr lang="en-IN" sz="2400">
                    <a:solidFill>
                      <a:srgbClr val="111827"/>
                    </a:solidFill>
                    <a:latin typeface="Cambria Math" panose="02040503050406030204" pitchFamily="18" charset="0"/>
                  </a:rPr>
                  <a:t>$4^3\equiv1$</a:t>
                </a:r>
                <a:r>
                  <a:rPr sz="2400" b="0">
                    <a:solidFill>
                      <a:srgbClr val="111827"/>
                    </a:solidFill>
                    <a:latin typeface="Arial"/>
                  </a:rPr>
                  <a:t>, </a:t>
                </a:r>
                <a:r>
                  <a:rPr lang="en-IN" sz="2400">
                    <a:solidFill>
                      <a:srgbClr val="111827"/>
                    </a:solidFill>
                    <a:latin typeface="Cambria Math" panose="02040503050406030204" pitchFamily="18" charset="0"/>
                  </a:rPr>
                  <a:t>$2^3\equiv1$</a:t>
                </a:r>
                <a:r>
                  <a:rPr sz="2400" b="0">
                    <a:solidFill>
                      <a:srgbClr val="111827"/>
                    </a:solidFill>
                    <a:latin typeface="Arial"/>
                  </a:rPr>
                  <a:t>, </a:t>
                </a:r>
                <a:r>
                  <a:rPr lang="en-IN" sz="2400">
                    <a:solidFill>
                      <a:srgbClr val="111827"/>
                    </a:solidFill>
                    <a:latin typeface="Cambria Math" panose="02040503050406030204" pitchFamily="18" charset="0"/>
                  </a:rPr>
                  <a:t>$5^6\equiv1$</a:t>
                </a:r>
                <a:r>
                  <a:rPr sz="2400" b="0">
                    <a:solidFill>
                      <a:srgbClr val="111827"/>
                    </a:solidFill>
                    <a:latin typeface="Arial"/>
                  </a:rPr>
                  <a:t> and </a:t>
                </a:r>
                <a:r>
                  <a:rPr lang="en-IN" sz="2400">
                    <a:solidFill>
                      <a:srgbClr val="111827"/>
                    </a:solidFill>
                    <a:latin typeface="Cambria Math" panose="02040503050406030204" pitchFamily="18" charset="0"/>
                  </a:rPr>
                  <a:t>$190=3\cdot63+1=6\cdot31+4$</a:t>
                </a:r>
                <a:r>
                  <a:rPr sz="2400" b="0">
                    <a:solidFill>
                      <a:srgbClr val="111827"/>
                    </a:solidFill>
                    <a:latin typeface="Arial"/>
                  </a:rPr>
                  <a:t>: </a:t>
                </a:r>
                <a:r>
                  <a:rPr lang="en-IN" sz="2400">
                    <a:solidFill>
                      <a:srgbClr val="111827"/>
                    </a:solidFill>
                    <a:latin typeface="Cambria Math" panose="02040503050406030204" pitchFamily="18" charset="0"/>
                  </a:rPr>
                  <a:t>$4^{190}\equiv4$</a:t>
                </a:r>
                <a:r>
                  <a:rPr sz="2400" b="0">
                    <a:solidFill>
                      <a:srgbClr val="111827"/>
                    </a:solidFill>
                    <a:latin typeface="Arial"/>
                  </a:rPr>
                  <a:t>, </a:t>
                </a:r>
                <a:r>
                  <a:rPr lang="en-IN" sz="2400">
                    <a:solidFill>
                      <a:srgbClr val="111827"/>
                    </a:solidFill>
                    <a:latin typeface="Cambria Math" panose="02040503050406030204" pitchFamily="18" charset="0"/>
                  </a:rPr>
                  <a:t>$2^{190}\equiv2$</a:t>
                </a:r>
                <a:r>
                  <a:rPr sz="2400" b="0">
                    <a:solidFill>
                      <a:srgbClr val="111827"/>
                    </a:solidFill>
                    <a:latin typeface="Arial"/>
                  </a:rPr>
                  <a:t>, </a:t>
                </a:r>
                <a:r>
                  <a:rPr lang="en-IN" sz="2400">
                    <a:solidFill>
                      <a:srgbClr val="111827"/>
                    </a:solidFill>
                    <a:latin typeface="Cambria Math" panose="02040503050406030204" pitchFamily="18" charset="0"/>
                  </a:rPr>
                  <a:t>$5^{190}\equiv5^4\equiv2$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a:t>
                </a:r>
                <a:r>
                  <a:rPr lang="en-IN" sz="2400">
                    <a:solidFill>
                      <a:srgbClr val="111827"/>
                    </a:solidFill>
                    <a:latin typeface="Cambria Math" panose="02040503050406030204" pitchFamily="18" charset="0"/>
                  </a:rPr>
                  <a:t>$\equiv4-2-1+2=3\not\equiv0\pmod 7$</a:t>
                </a:r>
                <a:r>
                  <a:rPr sz="2400" b="0">
                    <a:solidFill>
                      <a:srgbClr val="111827"/>
                    </a:solidFill>
                    <a:latin typeface="Arial"/>
                  </a:rPr>
                  <a:t>, so </a:t>
                </a:r>
                <a:r>
                  <a:rPr lang="en-IN" sz="2400">
                    <a:solidFill>
                      <a:srgbClr val="111827"/>
                    </a:solidFill>
                    <a:latin typeface="Cambria Math" panose="02040503050406030204" pitchFamily="18" charset="0"/>
                  </a:rPr>
                  <a:t>$14\nmid$</a:t>
                </a:r>
                <a:r>
                  <a:rPr sz="2400" b="0">
                    <a:solidFill>
                      <a:srgbClr val="111827"/>
                    </a:solidFill>
                    <a:latin typeface="Arial"/>
                  </a:rPr>
                  <a:t> it. Option (C)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34</m:t>
                    </m:r>
                  </m:oMath>
                </a14:m>
                <a:r>
                  <a:rPr sz="2800" b="1">
                    <a:solidFill>
                      <a:srgbClr val="15803D"/>
                    </a:solidFill>
                    <a:latin typeface="Arial"/>
                  </a:rPr>
                  <a:t> but not by </a:t>
                </a:r>
                <a14:m>
                  <m:oMath xmlns:m="http://schemas.openxmlformats.org/officeDocument/2006/math">
                    <m:r>
                      <a:rPr lang="en-IN" sz="2800" i="1">
                        <a:solidFill>
                          <a:srgbClr val="15803D"/>
                        </a:solidFill>
                        <a:latin typeface="Cambria Math" panose="02040503050406030204" pitchFamily="18" charset="0"/>
                      </a:rPr>
                      <m:t>14</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$34$</a:t>
                </a:r>
                <a:r>
                  <a:rPr sz="2800" b="1">
                    <a:solidFill>
                      <a:srgbClr val="15803D"/>
                    </a:solidFill>
                    <a:latin typeface="Arial"/>
                  </a:rPr>
                  <a:t> but not by </a:t>
                </a:r>
                <a:r>
                  <a:rPr lang="en-IN" sz="2800">
                    <a:solidFill>
                      <a:srgbClr val="15803D"/>
                    </a:solidFill>
                    <a:latin typeface="Cambria Math" panose="02040503050406030204" pitchFamily="18" charset="0"/>
                  </a:rPr>
                  <a:t>$14$</a:t>
                </a:r>
                <a:endParaRPr sz="2800">
                  <a:solidFill>
                    <a:srgbClr val="15803D"/>
                  </a:solidFill>
                </a:endParaRPr>
              </a:p>
            </p:txBody>
          </p:sp>
        </mc:Fallback>
      </mc:AlternateContent>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group four terms so that two different differences appear: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number built from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divisible by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rule out divisibility by a prime, a single residue computation suffices.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$x^n-y^n$</a:t>
                </a:r>
                <a:r>
                  <a:rPr sz="2400" b="0">
                    <a:solidFill>
                      <a:srgbClr val="111827"/>
                    </a:solidFill>
                    <a:latin typeface="Arial"/>
                  </a:rPr>
                  <a:t> is divisible by </a:t>
                </a:r>
                <a:r>
                  <a:rPr lang="en-IN" sz="2400">
                    <a:solidFill>
                      <a:srgbClr val="111827"/>
                    </a:solidFill>
                    <a:latin typeface="Cambria Math" panose="02040503050406030204" pitchFamily="18" charset="0"/>
                  </a:rPr>
                  <a:t>$x-y$</a:t>
                </a:r>
                <a:r>
                  <a:rPr sz="2400" b="0">
                    <a:solidFill>
                      <a:srgbClr val="111827"/>
                    </a:solidFill>
                    <a:latin typeface="Arial"/>
                  </a:rPr>
                  <a:t>; group four terms so that two different differences appear: </a:t>
                </a:r>
                <a:r>
                  <a:rPr lang="en-IN" sz="2400">
                    <a:solidFill>
                      <a:srgbClr val="111827"/>
                    </a:solidFill>
                    <a:latin typeface="Cambria Math" panose="02040503050406030204" pitchFamily="18" charset="0"/>
                  </a:rPr>
                  <a:t>$25-19=8-2=6$</a:t>
                </a:r>
                <a:r>
                  <a:rPr sz="2400" b="0">
                    <a:solidFill>
                      <a:srgbClr val="111827"/>
                    </a:solidFill>
                    <a:latin typeface="Arial"/>
                  </a:rPr>
                  <a:t> and </a:t>
                </a:r>
                <a:r>
                  <a:rPr lang="en-IN" sz="2400">
                    <a:solidFill>
                      <a:srgbClr val="111827"/>
                    </a:solidFill>
                    <a:latin typeface="Cambria Math" panose="02040503050406030204" pitchFamily="18" charset="0"/>
                  </a:rPr>
                  <a:t>$25-8=19-2=17$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number built from </a:t>
                </a:r>
                <a:r>
                  <a:rPr lang="en-IN" sz="2400">
                    <a:solidFill>
                      <a:srgbClr val="111827"/>
                    </a:solidFill>
                    <a:latin typeface="Cambria Math" panose="02040503050406030204" pitchFamily="18" charset="0"/>
                  </a:rPr>
                  <a:t>$a^n-b^n-c^n+d^n$</a:t>
                </a:r>
                <a:r>
                  <a:rPr sz="2400" b="0">
                    <a:solidFill>
                      <a:srgbClr val="111827"/>
                    </a:solidFill>
                    <a:latin typeface="Arial"/>
                  </a:rPr>
                  <a:t> with </a:t>
                </a:r>
                <a:r>
                  <a:rPr lang="en-IN" sz="2400">
                    <a:solidFill>
                      <a:srgbClr val="111827"/>
                    </a:solidFill>
                    <a:latin typeface="Cambria Math" panose="02040503050406030204" pitchFamily="18" charset="0"/>
                  </a:rPr>
                  <a:t>$a-b=c-d$</a:t>
                </a:r>
                <a:r>
                  <a:rPr sz="2400" b="0">
                    <a:solidFill>
                      <a:srgbClr val="111827"/>
                    </a:solidFill>
                    <a:latin typeface="Arial"/>
                  </a:rPr>
                  <a:t> is divisible by </a:t>
                </a:r>
                <a:r>
                  <a:rPr lang="en-IN" sz="2400">
                    <a:solidFill>
                      <a:srgbClr val="111827"/>
                    </a:solidFill>
                    <a:latin typeface="Cambria Math" panose="02040503050406030204" pitchFamily="18" charset="0"/>
                  </a:rPr>
                  <a:t>$a-b$</a:t>
                </a:r>
                <a:r>
                  <a:rPr sz="2400" b="0">
                    <a:solidFill>
                      <a:srgbClr val="111827"/>
                    </a:solidFill>
                    <a:latin typeface="Arial"/>
                  </a:rPr>
                  <a:t>; and with </a:t>
                </a:r>
                <a:r>
                  <a:rPr lang="en-IN" sz="2400">
                    <a:solidFill>
                      <a:srgbClr val="111827"/>
                    </a:solidFill>
                    <a:latin typeface="Cambria Math" panose="02040503050406030204" pitchFamily="18" charset="0"/>
                  </a:rPr>
                  <a:t>$a-c=b-d$</a:t>
                </a:r>
                <a:r>
                  <a:rPr sz="2400" b="0">
                    <a:solidFill>
                      <a:srgbClr val="111827"/>
                    </a:solidFill>
                    <a:latin typeface="Arial"/>
                  </a:rPr>
                  <a:t> divisible by </a:t>
                </a:r>
                <a:r>
                  <a:rPr lang="en-IN" sz="2400">
                    <a:solidFill>
                      <a:srgbClr val="111827"/>
                    </a:solidFill>
                    <a:latin typeface="Cambria Math" panose="02040503050406030204" pitchFamily="18" charset="0"/>
                  </a:rPr>
                  <a:t>$a-c$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rule out divisibility by a prime, a single residue computation suffices.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t>
                </a:r>
                <a:r>
                  <a:rPr lang="en-IN" sz="2400">
                    <a:solidFill>
                      <a:srgbClr val="111827"/>
                    </a:solidFill>
                    <a:latin typeface="Cambria Math" panose="02040503050406030204" pitchFamily="18" charset="0"/>
                  </a:rPr>
                  <a:t>$n=1$</a:t>
                </a:r>
                <a:r>
                  <a:rPr sz="2400" b="0">
                    <a:solidFill>
                      <a:srgbClr val="111827"/>
                    </a:solidFill>
                    <a:latin typeface="Arial"/>
                  </a:rPr>
                  <a:t>: </a:t>
                </a:r>
                <a:r>
                  <a:rPr lang="en-IN" sz="2400">
                    <a:solidFill>
                      <a:srgbClr val="111827"/>
                    </a:solidFill>
                    <a:latin typeface="Cambria Math" panose="02040503050406030204" pitchFamily="18" charset="0"/>
                  </a:rPr>
                  <a:t>$25-19-8+2=0$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 in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13</m:t>
                        </m:r>
                      </m:sup>
                    </m:sSup>
                  </m:oMath>
                </a14:m>
                <a:r>
                  <a:rPr sz="2400" b="0">
                    <a:solidFill>
                      <a:srgbClr val="111827"/>
                    </a:solidFill>
                    <a:latin typeface="Arial"/>
                  </a:rPr>
                  <a:t> and the 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oMath>
                </a14:m>
                <a:r>
                  <a:rPr sz="2400" b="0">
                    <a:solidFill>
                      <a:srgbClr val="111827"/>
                    </a:solidFill>
                    <a:latin typeface="Arial"/>
                  </a:rPr>
                  <a:t> in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13</m:t>
                        </m:r>
                      </m:sup>
                    </m:sSup>
                  </m:oMath>
                </a14:m>
                <a:r>
                  <a:rPr sz="2400" b="0">
                    <a:solidFill>
                      <a:srgbClr val="111827"/>
                    </a:solidFill>
                    <a:latin typeface="Arial"/>
                  </a:rPr>
                  <a:t> are equal, then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4</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22</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33</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44</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11</m:t>
                    </m:r>
                  </m:oMath>
                </a14:m>
                <a:endParaRPr sz="2400">
                  <a:solidFill>
                    <a:srgbClr val="111827"/>
                  </a:solidFill>
                </a:endParaRPr>
              </a:p>
            </p:txBody>
          </p:sp>
        </mc:Choice>
        <mc:Fallback>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coefficient of </a:t>
                </a:r>
                <a:r>
                  <a:rPr lang="en-IN" sz="2400">
                    <a:solidFill>
                      <a:srgbClr val="111827"/>
                    </a:solidFill>
                    <a:latin typeface="Cambria Math" panose="02040503050406030204" pitchFamily="18" charset="0"/>
                  </a:rPr>
                  <a:t>$x^{7}$</a:t>
                </a:r>
                <a:r>
                  <a:rPr sz="2400" b="0">
                    <a:solidFill>
                      <a:srgbClr val="111827"/>
                    </a:solidFill>
                    <a:latin typeface="Arial"/>
                  </a:rPr>
                  <a:t> in </a:t>
                </a:r>
                <a:r>
                  <a:rPr lang="en-IN" sz="2400">
                    <a:solidFill>
                      <a:srgbClr val="111827"/>
                    </a:solidFill>
                    <a:latin typeface="Cambria Math" panose="02040503050406030204" pitchFamily="18" charset="0"/>
                  </a:rPr>
                  <a:t>$\left(ax-\dfrac{1}{bx^2}\right)^{13}$</a:t>
                </a:r>
                <a:r>
                  <a:rPr sz="2400" b="0">
                    <a:solidFill>
                      <a:srgbClr val="111827"/>
                    </a:solidFill>
                    <a:latin typeface="Arial"/>
                  </a:rPr>
                  <a:t> and the coefficient of </a:t>
                </a:r>
                <a:r>
                  <a:rPr lang="en-IN" sz="2400">
                    <a:solidFill>
                      <a:srgbClr val="111827"/>
                    </a:solidFill>
                    <a:latin typeface="Cambria Math" panose="02040503050406030204" pitchFamily="18" charset="0"/>
                  </a:rPr>
                  <a:t>$x^{-5}$</a:t>
                </a:r>
                <a:r>
                  <a:rPr sz="2400" b="0">
                    <a:solidFill>
                      <a:srgbClr val="111827"/>
                    </a:solidFill>
                    <a:latin typeface="Arial"/>
                  </a:rPr>
                  <a:t> in </a:t>
                </a:r>
                <a:r>
                  <a:rPr lang="en-IN" sz="2400">
                    <a:solidFill>
                      <a:srgbClr val="111827"/>
                    </a:solidFill>
                    <a:latin typeface="Cambria Math" panose="02040503050406030204" pitchFamily="18" charset="0"/>
                  </a:rPr>
                  <a:t>$\left(ax+\dfrac{1}{bx^2}\right)^{13}$</a:t>
                </a:r>
                <a:r>
                  <a:rPr sz="2400" b="0">
                    <a:solidFill>
                      <a:srgbClr val="111827"/>
                    </a:solidFill>
                    <a:latin typeface="Arial"/>
                  </a:rPr>
                  <a:t> are equal, then </a:t>
                </a:r>
                <a:r>
                  <a:rPr lang="en-IN" sz="2400">
                    <a:solidFill>
                      <a:srgbClr val="111827"/>
                    </a:solidFill>
                    <a:latin typeface="Cambria Math" panose="02040503050406030204" pitchFamily="18" charset="0"/>
                  </a:rPr>
                  <a:t>$a^4b^4$</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$22$</a:t>
                </a:r>
                <a:r>
                  <a:rPr sz="2400" b="0">
                    <a:solidFill>
                      <a:srgbClr val="111827"/>
                    </a:solidFill>
                    <a:latin typeface="Arial"/>
                  </a:rPr>
                  <a:t>   (B) </a:t>
                </a:r>
                <a:r>
                  <a:rPr lang="en-IN" sz="2400">
                    <a:solidFill>
                      <a:srgbClr val="111827"/>
                    </a:solidFill>
                    <a:latin typeface="Cambria Math" panose="02040503050406030204" pitchFamily="18" charset="0"/>
                  </a:rPr>
                  <a:t>$33$</a:t>
                </a:r>
                <a:r>
                  <a:rPr sz="2400" b="0">
                    <a:solidFill>
                      <a:srgbClr val="111827"/>
                    </a:solidFill>
                    <a:latin typeface="Arial"/>
                  </a:rPr>
                  <a:t>   (C) </a:t>
                </a:r>
                <a:r>
                  <a:rPr lang="en-IN" sz="2400">
                    <a:solidFill>
                      <a:srgbClr val="111827"/>
                    </a:solidFill>
                    <a:latin typeface="Cambria Math" panose="02040503050406030204" pitchFamily="18" charset="0"/>
                  </a:rPr>
                  <a:t>$44$</a:t>
                </a:r>
                <a:r>
                  <a:rPr sz="2400" b="0">
                    <a:solidFill>
                      <a:srgbClr val="111827"/>
                    </a:solidFill>
                    <a:latin typeface="Arial"/>
                  </a:rPr>
                  <a:t>   (D) </a:t>
                </a:r>
                <a:r>
                  <a:rPr lang="en-IN" sz="2400">
                    <a:solidFill>
                      <a:srgbClr val="111827"/>
                    </a:solidFill>
                    <a:latin typeface="Cambria Math" panose="02040503050406030204" pitchFamily="18" charset="0"/>
                  </a:rPr>
                  <a:t>$11$</a:t>
                </a:r>
                <a:endParaRPr sz="2400">
                  <a:solidFill>
                    <a:srgbClr val="111827"/>
                  </a:solidFill>
                </a:endParaRPr>
              </a:p>
            </p:txBody>
          </p:sp>
        </mc:Fallback>
      </mc:AlternateContent>
      <p:sp>
        <p:nvSpPr>
          <p:cNvPr id="5" name="Rectangle 4"/>
          <p:cNvSpPr/>
          <p:nvPr/>
        </p:nvSpPr>
        <p:spPr>
          <a:xfrm>
            <a:off x="731520" y="37998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in the first expansion and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in the second give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13</m:t>
                            </m:r>
                          </m:num>
                          <m:den>
                            <m:r>
                              <a:rPr lang="en-IN" sz="2400" i="1">
                                <a:solidFill>
                                  <a:srgbClr val="78350F"/>
                                </a:solidFill>
                                <a:latin typeface="Cambria Math" panose="02040503050406030204" pitchFamily="18" charset="0"/>
                              </a:rPr>
                              <m:t>2</m:t>
                            </m:r>
                          </m:den>
                        </m:f>
                      </m:e>
                    </m:d>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11</m:t>
                            </m:r>
                          </m:sup>
                        </m:sSup>
                      </m:num>
                      <m:den>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den>
                    </m:f>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13</m:t>
                            </m:r>
                          </m:num>
                          <m:den>
                            <m:r>
                              <a:rPr lang="en-IN" sz="2400" i="1">
                                <a:solidFill>
                                  <a:srgbClr val="78350F"/>
                                </a:solidFill>
                                <a:latin typeface="Cambria Math" panose="02040503050406030204" pitchFamily="18" charset="0"/>
                              </a:rPr>
                              <m:t>6</m:t>
                            </m:r>
                          </m:den>
                        </m:f>
                      </m:e>
                    </m:d>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7</m:t>
                            </m:r>
                          </m:sup>
                        </m:sSup>
                      </m:num>
                      <m:den>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6</m:t>
                            </m:r>
                          </m:sup>
                        </m:sSup>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$r=2$</a:t>
                </a:r>
                <a:r>
                  <a:rPr sz="2400" b="0">
                    <a:solidFill>
                      <a:srgbClr val="78350F"/>
                    </a:solidFill>
                    <a:latin typeface="Arial"/>
                  </a:rPr>
                  <a:t> in the first expansion and </a:t>
                </a:r>
                <a:r>
                  <a:rPr lang="en-IN" sz="2400">
                    <a:solidFill>
                      <a:srgbClr val="78350F"/>
                    </a:solidFill>
                    <a:latin typeface="Cambria Math" panose="02040503050406030204" pitchFamily="18" charset="0"/>
                  </a:rPr>
                  <a:t>$r=6$</a:t>
                </a:r>
                <a:r>
                  <a:rPr sz="2400" b="0">
                    <a:solidFill>
                      <a:srgbClr val="78350F"/>
                    </a:solidFill>
                    <a:latin typeface="Arial"/>
                  </a:rPr>
                  <a:t> in the second give </a:t>
                </a:r>
                <a:r>
                  <a:rPr lang="en-IN" sz="2400">
                    <a:solidFill>
                      <a:srgbClr val="78350F"/>
                    </a:solidFill>
                    <a:latin typeface="Cambria Math" panose="02040503050406030204" pitchFamily="18" charset="0"/>
                  </a:rPr>
                  <a:t>$\binom{13}{2}\frac{a^{11}}{b^2}=\binom{13}{6}\frac{a^7}{b^6}$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expansion: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𝑏</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the coefficient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2</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11</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expansion: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𝑏</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sup>
                    </m:sSup>
                  </m:oMath>
                </a14:m>
                <a:r>
                  <a:rPr sz="2400" b="0">
                    <a:solidFill>
                      <a:srgbClr val="111827"/>
                    </a:solidFill>
                    <a:latin typeface="Arial"/>
                  </a:rPr>
                  <a:t>; for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the coefficient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6</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7</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6</m:t>
                            </m:r>
                          </m:sup>
                        </m:sSup>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expansion: </a:t>
                </a:r>
                <a:r>
                  <a:rPr lang="en-IN" sz="2400">
                    <a:solidFill>
                      <a:srgbClr val="111827"/>
                    </a:solidFill>
                    <a:latin typeface="Cambria Math" panose="02040503050406030204" pitchFamily="18" charset="0"/>
                  </a:rPr>
                  <a:t>$T_{r+1}=\binom{13}{r}(ax)^{13-r}\left(-\dfrac1{bx^2}\right)^r=\binom{13}{r}(-1)^ra^{13-r}b^{-r}x^{13-3r}$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$x^7$</a:t>
                </a:r>
                <a:r>
                  <a:rPr sz="2400" b="0">
                    <a:solidFill>
                      <a:srgbClr val="111827"/>
                    </a:solidFill>
                    <a:latin typeface="Arial"/>
                  </a:rPr>
                  <a:t>: </a:t>
                </a:r>
                <a:r>
                  <a:rPr lang="en-IN" sz="2400">
                    <a:solidFill>
                      <a:srgbClr val="111827"/>
                    </a:solidFill>
                    <a:latin typeface="Cambria Math" panose="02040503050406030204" pitchFamily="18" charset="0"/>
                  </a:rPr>
                  <a:t>$13-3r=7$</a:t>
                </a:r>
                <a:r>
                  <a:rPr sz="2400" b="0">
                    <a:solidFill>
                      <a:srgbClr val="111827"/>
                    </a:solidFill>
                    <a:latin typeface="Arial"/>
                  </a:rPr>
                  <a:t>, so </a:t>
                </a:r>
                <a:r>
                  <a:rPr lang="en-IN" sz="2400">
                    <a:solidFill>
                      <a:srgbClr val="111827"/>
                    </a:solidFill>
                    <a:latin typeface="Cambria Math" panose="02040503050406030204" pitchFamily="18" charset="0"/>
                  </a:rPr>
                  <a:t>$r=2$</a:t>
                </a:r>
                <a:r>
                  <a:rPr sz="2400" b="0">
                    <a:solidFill>
                      <a:srgbClr val="111827"/>
                    </a:solidFill>
                    <a:latin typeface="Arial"/>
                  </a:rPr>
                  <a:t> and the coefficient is </a:t>
                </a:r>
                <a:r>
                  <a:rPr lang="en-IN" sz="2400">
                    <a:solidFill>
                      <a:srgbClr val="111827"/>
                    </a:solidFill>
                    <a:latin typeface="Cambria Math" panose="02040503050406030204" pitchFamily="18" charset="0"/>
                  </a:rPr>
                  <a:t>$\binom{13}{2}\dfrac{a^{11}}{b^2}$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expansion: </a:t>
                </a:r>
                <a:r>
                  <a:rPr lang="en-IN" sz="2400">
                    <a:solidFill>
                      <a:srgbClr val="111827"/>
                    </a:solidFill>
                    <a:latin typeface="Cambria Math" panose="02040503050406030204" pitchFamily="18" charset="0"/>
                  </a:rPr>
                  <a:t>$T_{r+1}=\binom{13}{r}a^{13-r}b^{-r}x^{13-3r}$</a:t>
                </a:r>
                <a:r>
                  <a:rPr sz="2400" b="0">
                    <a:solidFill>
                      <a:srgbClr val="111827"/>
                    </a:solidFill>
                    <a:latin typeface="Arial"/>
                  </a:rPr>
                  <a:t>; for </a:t>
                </a:r>
                <a:r>
                  <a:rPr lang="en-IN" sz="2400">
                    <a:solidFill>
                      <a:srgbClr val="111827"/>
                    </a:solidFill>
                    <a:latin typeface="Cambria Math" panose="02040503050406030204" pitchFamily="18" charset="0"/>
                  </a:rPr>
                  <a:t>$x^{-5}$</a:t>
                </a:r>
                <a:r>
                  <a:rPr sz="2400" b="0">
                    <a:solidFill>
                      <a:srgbClr val="111827"/>
                    </a:solidFill>
                    <a:latin typeface="Arial"/>
                  </a:rPr>
                  <a:t>: </a:t>
                </a:r>
                <a:r>
                  <a:rPr lang="en-IN" sz="2400">
                    <a:solidFill>
                      <a:srgbClr val="111827"/>
                    </a:solidFill>
                    <a:latin typeface="Cambria Math" panose="02040503050406030204" pitchFamily="18" charset="0"/>
                  </a:rPr>
                  <a:t>$13-3r=-5$</a:t>
                </a:r>
                <a:r>
                  <a:rPr sz="2400" b="0">
                    <a:solidFill>
                      <a:srgbClr val="111827"/>
                    </a:solidFill>
                    <a:latin typeface="Arial"/>
                  </a:rPr>
                  <a:t>, so </a:t>
                </a:r>
                <a:r>
                  <a:rPr lang="en-IN" sz="2400">
                    <a:solidFill>
                      <a:srgbClr val="111827"/>
                    </a:solidFill>
                    <a:latin typeface="Cambria Math" panose="02040503050406030204" pitchFamily="18" charset="0"/>
                  </a:rPr>
                  <a:t>$r=6$</a:t>
                </a:r>
                <a:r>
                  <a:rPr sz="2400" b="0">
                    <a:solidFill>
                      <a:srgbClr val="111827"/>
                    </a:solidFill>
                    <a:latin typeface="Arial"/>
                  </a:rPr>
                  <a:t> and the coefficient is </a:t>
                </a:r>
                <a:r>
                  <a:rPr lang="en-IN" sz="2400">
                    <a:solidFill>
                      <a:srgbClr val="111827"/>
                    </a:solidFill>
                    <a:latin typeface="Cambria Math" panose="02040503050406030204" pitchFamily="18" charset="0"/>
                  </a:rPr>
                  <a:t>$\binom{13}{6}\dfrac{a^7}{b^6}$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2</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11</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6</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7</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6</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4</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6</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2</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1716</m:t>
                        </m:r>
                      </m:num>
                      <m:den>
                        <m:r>
                          <a:rPr lang="en-IN" sz="2400" i="1">
                            <a:solidFill>
                              <a:srgbClr val="111827"/>
                            </a:solidFill>
                            <a:latin typeface="Cambria Math" panose="02040503050406030204" pitchFamily="18" charset="0"/>
                          </a:rPr>
                          <m:t>78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Equate: </a:t>
                </a:r>
                <a:r>
                  <a:rPr lang="en-IN" sz="2400">
                    <a:solidFill>
                      <a:srgbClr val="111827"/>
                    </a:solidFill>
                    <a:latin typeface="Cambria Math" panose="02040503050406030204" pitchFamily="18" charset="0"/>
                  </a:rPr>
                  <a:t>$\binom{13}{2}\dfrac{a^{11}}{b^2}=\binom{13}{6}\dfrac{a^7}{b^6}$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$a^4b^4=\dfrac{\binom{13}{6}}{\binom{13}{2}}=\dfrac{1716}{78}=22$</a:t>
                </a:r>
                <a:r>
                  <a:rPr sz="2400" b="0">
                    <a:solidFill>
                      <a:srgbClr val="111827"/>
                    </a:solidFill>
                    <a:latin typeface="Arial"/>
                  </a:rPr>
                  <a:t>,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22</a:t>
            </a:r>
            <a:endParaRPr sz="2800">
              <a:solidFill>
                <a:srgbClr val="15803D"/>
              </a:solidFill>
            </a:endParaRP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each bracket as (monomial)</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(polynomial in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𝑏</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𝑏</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den>
                    </m:f>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in the second).</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each bracket as (monomial)</a:t>
                </a:r>
                <a:r>
                  <a:rPr lang="en-IN" sz="2400">
                    <a:solidFill>
                      <a:srgbClr val="78350F"/>
                    </a:solidFill>
                    <a:latin typeface="Cambria Math" panose="02040503050406030204" pitchFamily="18" charset="0"/>
                  </a:rPr>
                  <a:t>$\times$</a:t>
                </a:r>
                <a:r>
                  <a:rPr sz="2400" b="0">
                    <a:solidFill>
                      <a:srgbClr val="78350F"/>
                    </a:solidFill>
                    <a:latin typeface="Arial"/>
                  </a:rPr>
                  <a:t>(polynomial in </a:t>
                </a:r>
                <a:r>
                  <a:rPr lang="en-IN" sz="2400">
                    <a:solidFill>
                      <a:srgbClr val="78350F"/>
                    </a:solidFill>
                    <a:latin typeface="Cambria Math" panose="02040503050406030204" pitchFamily="18" charset="0"/>
                  </a:rPr>
                  <a:t>$abx^3$</a:t>
                </a:r>
                <a:r>
                  <a:rPr sz="2400" b="0">
                    <a:solidFill>
                      <a:srgbClr val="78350F"/>
                    </a:solidFill>
                    <a:latin typeface="Arial"/>
                  </a:rPr>
                  <a:t>): </a:t>
                </a:r>
                <a:r>
                  <a:rPr lang="en-IN" sz="2400">
                    <a:solidFill>
                      <a:srgbClr val="78350F"/>
                    </a:solidFill>
                    <a:latin typeface="Cambria Math" panose="02040503050406030204" pitchFamily="18" charset="0"/>
                  </a:rPr>
                  <a:t>$ax\mp\frac1{bx^2}=\frac{abx^3\mp1}{bx^2}$</a:t>
                </a:r>
                <a:r>
                  <a:rPr sz="2400" b="0">
                    <a:solidFill>
                      <a:srgbClr val="78350F"/>
                    </a:solidFill>
                    <a:latin typeface="Arial"/>
                  </a:rPr>
                  <a:t> (and </a:t>
                </a:r>
                <a:r>
                  <a:rPr lang="en-IN" sz="2400">
                    <a:solidFill>
                      <a:srgbClr val="78350F"/>
                    </a:solidFill>
                    <a:latin typeface="Cambria Math" panose="02040503050406030204" pitchFamily="18" charset="0"/>
                  </a:rPr>
                  <a:t>$+$</a:t>
                </a:r>
                <a:r>
                  <a:rPr sz="2400" b="0">
                    <a:solidFill>
                      <a:srgbClr val="78350F"/>
                    </a:solidFill>
                    <a:latin typeface="Arial"/>
                  </a:rPr>
                  <a:t> in the second).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expression: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13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13</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13</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26</m:t>
                            </m:r>
                          </m:sup>
                        </m:sSup>
                      </m:den>
                    </m:f>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 =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13</m:t>
                            </m:r>
                          </m:sup>
                        </m:sSup>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11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13</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expression: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13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13</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13</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26</m:t>
                            </m:r>
                          </m:sup>
                        </m:sSup>
                      </m:den>
                    </m:f>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oMath>
                </a14:m>
                <a:r>
                  <a:rPr sz="2400" b="0">
                    <a:solidFill>
                      <a:srgbClr val="111827"/>
                    </a:solidFill>
                    <a:latin typeface="Arial"/>
                  </a:rPr>
                  <a:t> =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13</m:t>
                            </m:r>
                          </m:sup>
                        </m:sSup>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7</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13</m:t>
                            </m:r>
                          </m:sup>
                        </m:sSup>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expression: </a:t>
                </a:r>
                <a:r>
                  <a:rPr lang="en-IN" sz="2400">
                    <a:solidFill>
                      <a:srgbClr val="111827"/>
                    </a:solidFill>
                    <a:latin typeface="Cambria Math" panose="02040503050406030204" pitchFamily="18" charset="0"/>
                  </a:rPr>
                  <a:t>$\left(ax-\dfrac1{bx^2}\right)^{13}=\dfrac{(abx^3-1)^{13}}{b^{13}x^{26}}$</a:t>
                </a:r>
                <a:r>
                  <a:rPr sz="2400" b="0">
                    <a:solidFill>
                      <a:srgbClr val="111827"/>
                    </a:solidFill>
                    <a:latin typeface="Arial"/>
                  </a:rPr>
                  <a:t>; coefficient of </a:t>
                </a:r>
                <a:r>
                  <a:rPr lang="en-IN" sz="2400">
                    <a:solidFill>
                      <a:srgbClr val="111827"/>
                    </a:solidFill>
                    <a:latin typeface="Cambria Math" panose="02040503050406030204" pitchFamily="18" charset="0"/>
                  </a:rPr>
                  <a:t>$x^7$</a:t>
                </a:r>
                <a:r>
                  <a:rPr sz="2400" b="0">
                    <a:solidFill>
                      <a:srgbClr val="111827"/>
                    </a:solidFill>
                    <a:latin typeface="Arial"/>
                  </a:rPr>
                  <a:t> = </a:t>
                </a:r>
                <a:r>
                  <a:rPr lang="en-IN" sz="2400">
                    <a:solidFill>
                      <a:srgbClr val="111827"/>
                    </a:solidFill>
                    <a:latin typeface="Cambria Math" panose="02040503050406030204" pitchFamily="18" charset="0"/>
                  </a:rPr>
                  <a:t>$\dfrac1{b^{13}}\times$</a:t>
                </a:r>
                <a:r>
                  <a:rPr sz="2400" b="0">
                    <a:solidFill>
                      <a:srgbClr val="111827"/>
                    </a:solidFill>
                    <a:latin typeface="Arial"/>
                  </a:rPr>
                  <a:t> coefficient of </a:t>
                </a:r>
                <a:r>
                  <a:rPr lang="en-IN" sz="2400">
                    <a:solidFill>
                      <a:srgbClr val="111827"/>
                    </a:solidFill>
                    <a:latin typeface="Cambria Math" panose="02040503050406030204" pitchFamily="18" charset="0"/>
                  </a:rPr>
                  <a:t>$x^{33}=(x^3)^{11}$</a:t>
                </a:r>
                <a:r>
                  <a:rPr sz="2400" b="0">
                    <a:solidFill>
                      <a:srgbClr val="111827"/>
                    </a:solidFill>
                    <a:latin typeface="Arial"/>
                  </a:rPr>
                  <a:t>, i.e. </a:t>
                </a:r>
                <a:r>
                  <a:rPr lang="en-IN" sz="2400">
                    <a:solidFill>
                      <a:srgbClr val="111827"/>
                    </a:solidFill>
                    <a:latin typeface="Cambria Math" panose="02040503050406030204" pitchFamily="18" charset="0"/>
                  </a:rPr>
                  <a:t>$\dfrac{\binom{13}{11}(ab)^{11}(-1)^2}{b^{13}}$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expression: </a:t>
                </a:r>
                <a:r>
                  <a:rPr lang="en-IN" sz="2400">
                    <a:solidFill>
                      <a:srgbClr val="111827"/>
                    </a:solidFill>
                    <a:latin typeface="Cambria Math" panose="02040503050406030204" pitchFamily="18" charset="0"/>
                  </a:rPr>
                  <a:t>$\left(ax+\dfrac1{bx^2}\right)^{13}=\dfrac{(abx^3+1)^{13}}{b^{13}x^{26}}$</a:t>
                </a:r>
                <a:r>
                  <a:rPr sz="2400" b="0">
                    <a:solidFill>
                      <a:srgbClr val="111827"/>
                    </a:solidFill>
                    <a:latin typeface="Arial"/>
                  </a:rPr>
                  <a:t>; coefficient of </a:t>
                </a:r>
                <a:r>
                  <a:rPr lang="en-IN" sz="2400">
                    <a:solidFill>
                      <a:srgbClr val="111827"/>
                    </a:solidFill>
                    <a:latin typeface="Cambria Math" panose="02040503050406030204" pitchFamily="18" charset="0"/>
                  </a:rPr>
                  <a:t>$x^{-5}$</a:t>
                </a:r>
                <a:r>
                  <a:rPr sz="2400" b="0">
                    <a:solidFill>
                      <a:srgbClr val="111827"/>
                    </a:solidFill>
                    <a:latin typeface="Arial"/>
                  </a:rPr>
                  <a:t> = </a:t>
                </a:r>
                <a:r>
                  <a:rPr lang="en-IN" sz="2400">
                    <a:solidFill>
                      <a:srgbClr val="111827"/>
                    </a:solidFill>
                    <a:latin typeface="Cambria Math" panose="02040503050406030204" pitchFamily="18" charset="0"/>
                  </a:rPr>
                  <a:t>$\dfrac1{b^{13}}\times$</a:t>
                </a:r>
                <a:r>
                  <a:rPr sz="2400" b="0">
                    <a:solidFill>
                      <a:srgbClr val="111827"/>
                    </a:solidFill>
                    <a:latin typeface="Arial"/>
                  </a:rPr>
                  <a:t> coefficient of </a:t>
                </a:r>
                <a:r>
                  <a:rPr lang="en-IN" sz="2400">
                    <a:solidFill>
                      <a:srgbClr val="111827"/>
                    </a:solidFill>
                    <a:latin typeface="Cambria Math" panose="02040503050406030204" pitchFamily="18" charset="0"/>
                  </a:rPr>
                  <a:t>$x^{21}=(x^3)^{7}$</a:t>
                </a:r>
                <a:r>
                  <a:rPr sz="2400" b="0">
                    <a:solidFill>
                      <a:srgbClr val="111827"/>
                    </a:solidFill>
                    <a:latin typeface="Arial"/>
                  </a:rPr>
                  <a:t>, i.e. </a:t>
                </a:r>
                <a:r>
                  <a:rPr lang="en-IN" sz="2400">
                    <a:solidFill>
                      <a:srgbClr val="111827"/>
                    </a:solidFill>
                    <a:latin typeface="Cambria Math" panose="02040503050406030204" pitchFamily="18" charset="0"/>
                  </a:rPr>
                  <a:t>$\dfrac{\binom{13}{7}(ab)^{7}}{b^{13}}$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7</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 (using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11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7</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2</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1716</m:t>
                        </m:r>
                      </m:num>
                      <m:den>
                        <m:r>
                          <a:rPr lang="en-IN" sz="2400" i="1">
                            <a:solidFill>
                              <a:srgbClr val="111827"/>
                            </a:solidFill>
                            <a:latin typeface="Cambria Math" panose="02040503050406030204" pitchFamily="18" charset="0"/>
                          </a:rPr>
                          <m:t>78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4</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 option (A) (same answer, and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4</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appears directly).</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Equate: </a:t>
                </a:r>
                <a:r>
                  <a:rPr lang="en-IN" sz="2400">
                    <a:solidFill>
                      <a:srgbClr val="111827"/>
                    </a:solidFill>
                    <a:latin typeface="Cambria Math" panose="02040503050406030204" pitchFamily="18" charset="0"/>
                  </a:rPr>
                  <a:t>$\binom{13}{2}(ab)^{11}=\binom{13}{7}(ab)^{7}$</a:t>
                </a:r>
                <a:r>
                  <a:rPr sz="2400" b="0">
                    <a:solidFill>
                      <a:srgbClr val="111827"/>
                    </a:solidFill>
                    <a:latin typeface="Arial"/>
                  </a:rPr>
                  <a:t> (using </a:t>
                </a:r>
                <a:r>
                  <a:rPr lang="en-IN" sz="2400">
                    <a:solidFill>
                      <a:srgbClr val="111827"/>
                    </a:solidFill>
                    <a:latin typeface="Cambria Math" panose="02040503050406030204" pitchFamily="18" charset="0"/>
                  </a:rPr>
                  <a:t>$\binom{13}{11}=\binom{13}{2}$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$(ab)^4=\dfrac{\binom{13}{7}}{\binom{13}{2}}=\dfrac{1716}{78}=22$</a:t>
                </a:r>
                <a:r>
                  <a:rPr sz="2400" b="0">
                    <a:solidFill>
                      <a:srgbClr val="111827"/>
                    </a:solidFill>
                    <a:latin typeface="Arial"/>
                  </a:rPr>
                  <a:t>, so </a:t>
                </a:r>
                <a:r>
                  <a:rPr lang="en-IN" sz="2400">
                    <a:solidFill>
                      <a:srgbClr val="111827"/>
                    </a:solidFill>
                    <a:latin typeface="Cambria Math" panose="02040503050406030204" pitchFamily="18" charset="0"/>
                  </a:rPr>
                  <a:t>$a^4b^4=22$</a:t>
                </a:r>
                <a:r>
                  <a:rPr sz="2400" b="0">
                    <a:solidFill>
                      <a:srgbClr val="111827"/>
                    </a:solidFill>
                    <a:latin typeface="Arial"/>
                  </a:rPr>
                  <a:t>, option (A) (same answer, and </a:t>
                </a:r>
                <a:r>
                  <a:rPr lang="en-IN" sz="2400">
                    <a:solidFill>
                      <a:srgbClr val="111827"/>
                    </a:solidFill>
                    <a:latin typeface="Cambria Math" panose="02040503050406030204" pitchFamily="18" charset="0"/>
                  </a:rPr>
                  <a:t>$a^4b^4$</a:t>
                </a:r>
                <a:r>
                  <a:rPr sz="2400" b="0">
                    <a:solidFill>
                      <a:srgbClr val="111827"/>
                    </a:solidFill>
                    <a:latin typeface="Arial"/>
                  </a:rPr>
                  <a:t> appears directly).</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22</a:t>
            </a:r>
            <a:endParaRPr sz="2800">
              <a:solidFill>
                <a:srgbClr val="15803D"/>
              </a:solidFill>
            </a:endParaRP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expansions have the same exponent rule </a:t>
                </a:r>
                <a14:m>
                  <m:oMath xmlns:m="http://schemas.openxmlformats.org/officeDocument/2006/math">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oMath>
                </a14:m>
                <a:r>
                  <a:rPr sz="2400" b="0">
                    <a:solidFill>
                      <a:srgbClr val="111827"/>
                    </a:solidFill>
                    <a:latin typeface="Arial"/>
                  </a:rPr>
                  <a:t>; the sign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appears only in the first one (here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1716</m:t>
                    </m:r>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1716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Quotient of two binomial coefficients with equal top: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𝑗</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360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expansions have the same exponent rule </a:t>
                </a:r>
                <a:r>
                  <a:rPr lang="en-IN" sz="2400">
                    <a:solidFill>
                      <a:srgbClr val="111827"/>
                    </a:solidFill>
                    <a:latin typeface="Cambria Math" panose="02040503050406030204" pitchFamily="18" charset="0"/>
                  </a:rPr>
                  <a:t>$13-3r$</a:t>
                </a:r>
                <a:r>
                  <a:rPr sz="2400" b="0">
                    <a:solidFill>
                      <a:srgbClr val="111827"/>
                    </a:solidFill>
                    <a:latin typeface="Arial"/>
                  </a:rPr>
                  <a:t>; the sign </a:t>
                </a:r>
                <a:r>
                  <a:rPr lang="en-IN" sz="2400">
                    <a:solidFill>
                      <a:srgbClr val="111827"/>
                    </a:solidFill>
                    <a:latin typeface="Cambria Math" panose="02040503050406030204" pitchFamily="18" charset="0"/>
                  </a:rPr>
                  <a:t>$(-1)^r$</a:t>
                </a:r>
                <a:r>
                  <a:rPr sz="2400" b="0">
                    <a:solidFill>
                      <a:srgbClr val="111827"/>
                    </a:solidFill>
                    <a:latin typeface="Arial"/>
                  </a:rPr>
                  <a:t> appears only in the first one (here </a:t>
                </a:r>
                <a:r>
                  <a:rPr lang="en-IN" sz="2400">
                    <a:solidFill>
                      <a:srgbClr val="111827"/>
                    </a:solidFill>
                    <a:latin typeface="Cambria Math" panose="02040503050406030204" pitchFamily="18" charset="0"/>
                  </a:rPr>
                  <a:t>$r=2$</a:t>
                </a:r>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$\binom{13}{6}=1716$</a:t>
                </a:r>
                <a:r>
                  <a:rPr sz="2400" b="0">
                    <a:solidFill>
                      <a:srgbClr val="111827"/>
                    </a:solidFill>
                    <a:latin typeface="Arial"/>
                  </a:rPr>
                  <a:t> and </a:t>
                </a:r>
                <a:r>
                  <a:rPr lang="en-IN" sz="2400">
                    <a:solidFill>
                      <a:srgbClr val="111827"/>
                    </a:solidFill>
                    <a:latin typeface="Cambria Math" panose="02040503050406030204" pitchFamily="18" charset="0"/>
                  </a:rPr>
                  <a:t>$\binom{13}{2}=78$</a:t>
                </a:r>
                <a:r>
                  <a:rPr sz="2400" b="0">
                    <a:solidFill>
                      <a:srgbClr val="111827"/>
                    </a:solidFill>
                    <a:latin typeface="Arial"/>
                  </a:rPr>
                  <a:t>, and </a:t>
                </a:r>
                <a:r>
                  <a:rPr lang="en-IN" sz="2400">
                    <a:solidFill>
                      <a:srgbClr val="111827"/>
                    </a:solidFill>
                    <a:latin typeface="Cambria Math" panose="02040503050406030204" pitchFamily="18" charset="0"/>
                  </a:rPr>
                  <a:t>$1716/78=22$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Quotient of two binomial coefficients with equal top: </a:t>
                </a:r>
                <a:r>
                  <a:rPr lang="en-IN" sz="2400">
                    <a:solidFill>
                      <a:srgbClr val="111827"/>
                    </a:solidFill>
                    <a:latin typeface="Cambria Math" panose="02040503050406030204" pitchFamily="18" charset="0"/>
                  </a:rPr>
                  <a:t>$\frac{\binom nk}{\binom nj}=\frac{j!(n-j)!}{k!(n-k)!}$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$\frac{13\cdot12\cdots8}{6!}\cdot\frac{2}{13\cdot12}=\frac{11\cdot10\cdot9\cdot8}{360}=22$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2022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22</m:t>
                        </m:r>
                      </m:sup>
                    </m:sSup>
                  </m:oMath>
                </a14:m>
                <a:r>
                  <a:rPr sz="2400" b="0">
                    <a:solidFill>
                      <a:srgbClr val="111827"/>
                    </a:solidFill>
                    <a:latin typeface="Arial"/>
                  </a:rPr>
                  <a:t> leave the remainder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when divided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when divided by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13</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10</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number </a:t>
                </a:r>
                <a:r>
                  <a:rPr lang="en-IN" sz="2400">
                    <a:solidFill>
                      <a:srgbClr val="111827"/>
                    </a:solidFill>
                    <a:latin typeface="Cambria Math" panose="02040503050406030204" pitchFamily="18" charset="0"/>
                  </a:rPr>
                  <a:t>$(22)^{2022}+(2022)^{22}$</a:t>
                </a:r>
                <a:r>
                  <a:rPr sz="2400" b="0">
                    <a:solidFill>
                      <a:srgbClr val="111827"/>
                    </a:solidFill>
                    <a:latin typeface="Arial"/>
                  </a:rPr>
                  <a:t> leave the remainder </a:t>
                </a:r>
                <a:r>
                  <a:rPr lang="en-IN" sz="2400">
                    <a:solidFill>
                      <a:srgbClr val="111827"/>
                    </a:solidFill>
                    <a:latin typeface="Cambria Math" panose="02040503050406030204" pitchFamily="18" charset="0"/>
                  </a:rPr>
                  <a:t>$\alpha$</a:t>
                </a:r>
                <a:r>
                  <a:rPr sz="2400" b="0">
                    <a:solidFill>
                      <a:srgbClr val="111827"/>
                    </a:solidFill>
                    <a:latin typeface="Arial"/>
                  </a:rPr>
                  <a:t> when divided by </a:t>
                </a:r>
                <a:r>
                  <a:rPr lang="en-IN" sz="2400">
                    <a:solidFill>
                      <a:srgbClr val="111827"/>
                    </a:solidFill>
                    <a:latin typeface="Cambria Math" panose="02040503050406030204" pitchFamily="18" charset="0"/>
                  </a:rPr>
                  <a:t>$3$</a:t>
                </a:r>
                <a:r>
                  <a:rPr sz="2400" b="0">
                    <a:solidFill>
                      <a:srgbClr val="111827"/>
                    </a:solidFill>
                    <a:latin typeface="Arial"/>
                  </a:rPr>
                  <a:t> and </a:t>
                </a:r>
                <a:r>
                  <a:rPr lang="en-IN" sz="2400">
                    <a:solidFill>
                      <a:srgbClr val="111827"/>
                    </a:solidFill>
                    <a:latin typeface="Cambria Math" panose="02040503050406030204" pitchFamily="18" charset="0"/>
                  </a:rPr>
                  <a:t>$\beta$</a:t>
                </a:r>
                <a:r>
                  <a:rPr sz="2400" b="0">
                    <a:solidFill>
                      <a:srgbClr val="111827"/>
                    </a:solidFill>
                    <a:latin typeface="Arial"/>
                  </a:rPr>
                  <a:t> when divided by </a:t>
                </a:r>
                <a:r>
                  <a:rPr lang="en-IN" sz="2400">
                    <a:solidFill>
                      <a:srgbClr val="111827"/>
                    </a:solidFill>
                    <a:latin typeface="Cambria Math" panose="02040503050406030204" pitchFamily="18" charset="0"/>
                  </a:rPr>
                  <a:t>$7$</a:t>
                </a:r>
                <a:r>
                  <a:rPr sz="2400" b="0">
                    <a:solidFill>
                      <a:srgbClr val="111827"/>
                    </a:solidFill>
                    <a:latin typeface="Arial"/>
                  </a:rPr>
                  <a:t>. Then </a:t>
                </a:r>
                <a:r>
                  <a:rPr lang="en-IN" sz="2400">
                    <a:solidFill>
                      <a:srgbClr val="111827"/>
                    </a:solidFill>
                    <a:latin typeface="Cambria Math" panose="02040503050406030204" pitchFamily="18" charset="0"/>
                  </a:rPr>
                  <a:t>$\alpha^2+\beta^2$</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$13$</a:t>
                </a:r>
                <a:r>
                  <a:rPr sz="2400" b="0">
                    <a:solidFill>
                      <a:srgbClr val="111827"/>
                    </a:solidFill>
                    <a:latin typeface="Arial"/>
                  </a:rPr>
                  <a:t>   (B) </a:t>
                </a:r>
                <a:r>
                  <a:rPr lang="en-IN" sz="2400">
                    <a:solidFill>
                      <a:srgbClr val="111827"/>
                    </a:solidFill>
                    <a:latin typeface="Cambria Math" panose="02040503050406030204" pitchFamily="18" charset="0"/>
                  </a:rPr>
                  <a:t>$5$</a:t>
                </a:r>
                <a:r>
                  <a:rPr sz="2400" b="0">
                    <a:solidFill>
                      <a:srgbClr val="111827"/>
                    </a:solidFill>
                    <a:latin typeface="Arial"/>
                  </a:rPr>
                  <a:t>   (C) </a:t>
                </a:r>
                <a:r>
                  <a:rPr lang="en-IN" sz="2400">
                    <a:solidFill>
                      <a:srgbClr val="111827"/>
                    </a:solidFill>
                    <a:latin typeface="Cambria Math" panose="02040503050406030204" pitchFamily="18" charset="0"/>
                  </a:rPr>
                  <a:t>$20$</a:t>
                </a:r>
                <a:r>
                  <a:rPr sz="2400" b="0">
                    <a:solidFill>
                      <a:srgbClr val="111827"/>
                    </a:solidFill>
                    <a:latin typeface="Arial"/>
                  </a:rPr>
                  <a:t>   (D) </a:t>
                </a:r>
                <a:r>
                  <a:rPr lang="en-IN" sz="2400">
                    <a:solidFill>
                      <a:srgbClr val="111827"/>
                    </a:solidFill>
                    <a:latin typeface="Cambria Math" panose="02040503050406030204" pitchFamily="18" charset="0"/>
                  </a:rPr>
                  <a:t>$10$</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Remainder (divisibility) using the binomial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22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2022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2023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2023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289</m:t>
                    </m:r>
                  </m:oMath>
                </a14:m>
                <a:r>
                  <a:rPr sz="2400" b="0">
                    <a:solidFill>
                      <a:srgbClr val="78350F"/>
                    </a:solidFill>
                    <a:latin typeface="Arial"/>
                  </a:rPr>
                  <a:t>; then reduce modulo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r>
                  <a:rPr lang="en-IN" sz="2400">
                    <a:solidFill>
                      <a:srgbClr val="78350F"/>
                    </a:solidFill>
                    <a:latin typeface="Cambria Math" panose="02040503050406030204" pitchFamily="18" charset="0"/>
                  </a:rPr>
                  <a:t>$22=21+1$</a:t>
                </a:r>
                <a:r>
                  <a:rPr sz="2400" b="0">
                    <a:solidFill>
                      <a:srgbClr val="78350F"/>
                    </a:solidFill>
                    <a:latin typeface="Arial"/>
                  </a:rPr>
                  <a:t> and </a:t>
                </a:r>
                <a:r>
                  <a:rPr lang="en-IN" sz="2400">
                    <a:solidFill>
                      <a:srgbClr val="78350F"/>
                    </a:solidFill>
                    <a:latin typeface="Cambria Math" panose="02040503050406030204" pitchFamily="18" charset="0"/>
                  </a:rPr>
                  <a:t>$2022=2023-1$</a:t>
                </a:r>
                <a:r>
                  <a:rPr sz="2400" b="0">
                    <a:solidFill>
                      <a:srgbClr val="78350F"/>
                    </a:solidFill>
                    <a:latin typeface="Arial"/>
                  </a:rPr>
                  <a:t> with </a:t>
                </a:r>
                <a:r>
                  <a:rPr lang="en-IN" sz="2400">
                    <a:solidFill>
                      <a:srgbClr val="78350F"/>
                    </a:solidFill>
                    <a:latin typeface="Cambria Math" panose="02040503050406030204" pitchFamily="18" charset="0"/>
                  </a:rPr>
                  <a:t>$2023=7\cdot289$</a:t>
                </a:r>
                <a:r>
                  <a:rPr sz="2400" b="0">
                    <a:solidFill>
                      <a:srgbClr val="78350F"/>
                    </a:solidFill>
                    <a:latin typeface="Arial"/>
                  </a:rPr>
                  <a:t>; then reduce modulo </a:t>
                </a:r>
                <a:r>
                  <a:rPr lang="en-IN" sz="2400">
                    <a:solidFill>
                      <a:srgbClr val="78350F"/>
                    </a:solidFill>
                    <a:latin typeface="Cambria Math" panose="02040503050406030204" pitchFamily="18" charset="0"/>
                  </a:rPr>
                  <a:t>$3$</a:t>
                </a:r>
                <a:r>
                  <a:rPr sz="2400" b="0">
                    <a:solidFill>
                      <a:srgbClr val="78350F"/>
                    </a:solidFill>
                    <a:latin typeface="Arial"/>
                  </a:rPr>
                  <a:t> and </a:t>
                </a:r>
                <a:r>
                  <a:rPr lang="en-IN" sz="2400">
                    <a:solidFill>
                      <a:srgbClr val="78350F"/>
                    </a:solidFill>
                    <a:latin typeface="Cambria Math" panose="02040503050406030204" pitchFamily="18" charset="0"/>
                  </a:rPr>
                  <a:t>$7$</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Modulo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2022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2022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𝐾</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2022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674</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22</m:t>
                        </m:r>
                      </m:sup>
                    </m:sSup>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number leaves remainder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when divided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Modulo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2022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2022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Modulo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$(22)^{2022}=(21+1)^{2022}=3K_1+1$</a:t>
                </a:r>
                <a:r>
                  <a:rPr sz="2400" b="0">
                    <a:solidFill>
                      <a:srgbClr val="111827"/>
                    </a:solidFill>
                    <a:latin typeface="Arial"/>
                  </a:rPr>
                  <a:t>, and </a:t>
                </a:r>
                <a:r>
                  <a:rPr lang="en-IN" sz="2400">
                    <a:solidFill>
                      <a:srgbClr val="111827"/>
                    </a:solidFill>
                    <a:latin typeface="Cambria Math" panose="02040503050406030204" pitchFamily="18" charset="0"/>
                  </a:rPr>
                  <a:t>$2022=3\cdot674$</a:t>
                </a:r>
                <a:r>
                  <a:rPr sz="2400" b="0">
                    <a:solidFill>
                      <a:srgbClr val="111827"/>
                    </a:solidFill>
                    <a:latin typeface="Arial"/>
                  </a:rPr>
                  <a:t> so </a:t>
                </a:r>
                <a:r>
                  <a:rPr lang="en-IN" sz="2400">
                    <a:solidFill>
                      <a:srgbClr val="111827"/>
                    </a:solidFill>
                    <a:latin typeface="Cambria Math" panose="02040503050406030204" pitchFamily="18" charset="0"/>
                  </a:rPr>
                  <a:t>$(2022)^{22}$</a:t>
                </a:r>
                <a:r>
                  <a:rPr sz="2400" b="0">
                    <a:solidFill>
                      <a:srgbClr val="111827"/>
                    </a:solidFill>
                    <a:latin typeface="Arial"/>
                  </a:rPr>
                  <a:t> is divisible by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number leaves remainder </a:t>
                </a:r>
                <a:r>
                  <a:rPr lang="en-IN" sz="2400">
                    <a:solidFill>
                      <a:srgbClr val="111827"/>
                    </a:solidFill>
                    <a:latin typeface="Cambria Math" panose="02040503050406030204" pitchFamily="18" charset="0"/>
                  </a:rPr>
                  <a:t>$1$</a:t>
                </a:r>
                <a:r>
                  <a:rPr sz="2400" b="0">
                    <a:solidFill>
                      <a:srgbClr val="111827"/>
                    </a:solidFill>
                    <a:latin typeface="Arial"/>
                  </a:rPr>
                  <a:t> when divided by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$\alpha=1$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Modulo </a:t>
                </a:r>
                <a:r>
                  <a:rPr lang="en-IN" sz="2400">
                    <a:solidFill>
                      <a:srgbClr val="111827"/>
                    </a:solidFill>
                    <a:latin typeface="Cambria Math" panose="02040503050406030204" pitchFamily="18" charset="0"/>
                  </a:rPr>
                  <a:t>$7$</a:t>
                </a:r>
                <a:r>
                  <a:rPr sz="2400" b="0">
                    <a:solidFill>
                      <a:srgbClr val="111827"/>
                    </a:solidFill>
                    <a:latin typeface="Arial"/>
                  </a:rPr>
                  <a:t>: </a:t>
                </a:r>
                <a:r>
                  <a:rPr lang="en-IN" sz="2400">
                    <a:solidFill>
                      <a:srgbClr val="111827"/>
                    </a:solidFill>
                    <a:latin typeface="Cambria Math" panose="02040503050406030204" pitchFamily="18" charset="0"/>
                  </a:rPr>
                  <a:t>$(22)^{2022}=(21+1)^{2022}=7\lambda+1$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2023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289</m:t>
                    </m:r>
                  </m:oMath>
                </a14:m>
                <a:r>
                  <a:rPr sz="2400" b="0">
                    <a:solidFill>
                      <a:srgbClr val="111827"/>
                    </a:solidFill>
                    <a:latin typeface="Arial"/>
                  </a:rPr>
                  <a:t> and the power </a:t>
                </a:r>
                <a14:m>
                  <m:oMath xmlns:m="http://schemas.openxmlformats.org/officeDocument/2006/math">
                    <m:r>
                      <a:rPr lang="en-IN" sz="2400" i="1">
                        <a:solidFill>
                          <a:srgbClr val="111827"/>
                        </a:solidFill>
                        <a:latin typeface="Cambria Math" panose="02040503050406030204" pitchFamily="18" charset="0"/>
                      </a:rPr>
                      <m:t>22</m:t>
                    </m:r>
                  </m:oMath>
                </a14:m>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$(2022)^{22}=(2023-1)^{22}=7\mu+1$</a:t>
                </a:r>
                <a:r>
                  <a:rPr sz="2400" b="0">
                    <a:solidFill>
                      <a:srgbClr val="111827"/>
                    </a:solidFill>
                    <a:latin typeface="Arial"/>
                  </a:rPr>
                  <a:t>, since </a:t>
                </a:r>
                <a:r>
                  <a:rPr lang="en-IN" sz="2400">
                    <a:solidFill>
                      <a:srgbClr val="111827"/>
                    </a:solidFill>
                    <a:latin typeface="Cambria Math" panose="02040503050406030204" pitchFamily="18" charset="0"/>
                  </a:rPr>
                  <a:t>$2023=7\cdot289$</a:t>
                </a:r>
                <a:r>
                  <a:rPr sz="2400" b="0">
                    <a:solidFill>
                      <a:srgbClr val="111827"/>
                    </a:solidFill>
                    <a:latin typeface="Arial"/>
                  </a:rPr>
                  <a:t> and the power </a:t>
                </a:r>
                <a:r>
                  <a:rPr lang="en-IN" sz="2400">
                    <a:solidFill>
                      <a:srgbClr val="111827"/>
                    </a:solidFill>
                    <a:latin typeface="Cambria Math" panose="02040503050406030204" pitchFamily="18" charset="0"/>
                  </a:rPr>
                  <a:t>$22$</a:t>
                </a:r>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$=7(\lambda+\mu)+2$</a:t>
                </a:r>
                <a:r>
                  <a:rPr sz="2400" b="0">
                    <a:solidFill>
                      <a:srgbClr val="111827"/>
                    </a:solidFill>
                    <a:latin typeface="Arial"/>
                  </a:rPr>
                  <a:t>, so </a:t>
                </a:r>
                <a:r>
                  <a:rPr lang="en-IN" sz="2400">
                    <a:solidFill>
                      <a:srgbClr val="111827"/>
                    </a:solidFill>
                    <a:latin typeface="Cambria Math" panose="02040503050406030204" pitchFamily="18" charset="0"/>
                  </a:rPr>
                  <a:t>$\beta=2$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$\alpha^2+\beta^2=1+4=5$</a:t>
                </a:r>
                <a:r>
                  <a:rPr sz="2400" b="0">
                    <a:solidFill>
                      <a:srgbClr val="111827"/>
                    </a:solidFill>
                    <a:latin typeface="Arial"/>
                  </a:rPr>
                  <a:t>,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5</a:t>
            </a:r>
            <a:endParaRPr sz="2800">
              <a:solidFill>
                <a:srgbClr val="15803D"/>
              </a:solidFill>
            </a:endParaRP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replace each base by a nearby multiple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even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 base is divisible by the modulus (</a:t>
                </a:r>
                <a14:m>
                  <m:oMath xmlns:m="http://schemas.openxmlformats.org/officeDocument/2006/math">
                    <m:r>
                      <a:rPr lang="en-IN" sz="2400" i="1">
                        <a:solidFill>
                          <a:srgbClr val="111827"/>
                        </a:solidFill>
                        <a:latin typeface="Cambria Math" panose="02040503050406030204" pitchFamily="18" charset="0"/>
                      </a:rPr>
                      <m:t>2022</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its whole power vanishes.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2022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$a\equiv b\pmod m\Rightarrow a^n\equiv b^n$</a:t>
                </a:r>
                <a:r>
                  <a:rPr sz="2400" b="0">
                    <a:solidFill>
                      <a:srgbClr val="111827"/>
                    </a:solidFill>
                    <a:latin typeface="Arial"/>
                  </a:rPr>
                  <a:t>: replace each base by a nearby multiple </a:t>
                </a:r>
                <a:r>
                  <a:rPr lang="en-IN" sz="2400">
                    <a:solidFill>
                      <a:srgbClr val="111827"/>
                    </a:solidFill>
                    <a:latin typeface="Cambria Math" panose="02040503050406030204" pitchFamily="18" charset="0"/>
                  </a:rPr>
                  <a:t>$\pm1$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$(km-1)^n\equiv(-1)^n\pmod m$</a:t>
                </a:r>
                <a:r>
                  <a:rPr sz="2400" b="0">
                    <a:solidFill>
                      <a:srgbClr val="111827"/>
                    </a:solidFill>
                    <a:latin typeface="Arial"/>
                  </a:rPr>
                  <a:t>; for even </a:t>
                </a:r>
                <a:r>
                  <a:rPr lang="en-IN" sz="2400">
                    <a:solidFill>
                      <a:srgbClr val="111827"/>
                    </a:solidFill>
                    <a:latin typeface="Cambria Math" panose="02040503050406030204" pitchFamily="18" charset="0"/>
                  </a:rPr>
                  <a:t>$n$</a:t>
                </a:r>
                <a:r>
                  <a:rPr sz="2400" b="0">
                    <a:solidFill>
                      <a:srgbClr val="111827"/>
                    </a:solidFill>
                    <a:latin typeface="Arial"/>
                  </a:rPr>
                  <a:t> it is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 base is divisible by the modulus (</a:t>
                </a:r>
                <a:r>
                  <a:rPr lang="en-IN" sz="2400">
                    <a:solidFill>
                      <a:srgbClr val="111827"/>
                    </a:solidFill>
                    <a:latin typeface="Cambria Math" panose="02040503050406030204" pitchFamily="18" charset="0"/>
                  </a:rPr>
                  <a:t>$2022$</a:t>
                </a:r>
                <a:r>
                  <a:rPr sz="2400" b="0">
                    <a:solidFill>
                      <a:srgbClr val="111827"/>
                    </a:solidFill>
                    <a:latin typeface="Arial"/>
                  </a:rPr>
                  <a:t> by </a:t>
                </a:r>
                <a:r>
                  <a:rPr lang="en-IN" sz="2400">
                    <a:solidFill>
                      <a:srgbClr val="111827"/>
                    </a:solidFill>
                    <a:latin typeface="Cambria Math" panose="02040503050406030204" pitchFamily="18" charset="0"/>
                  </a:rPr>
                  <a:t>$3$</a:t>
                </a:r>
                <a:r>
                  <a:rPr sz="2400" b="0">
                    <a:solidFill>
                      <a:srgbClr val="111827"/>
                    </a:solidFill>
                    <a:latin typeface="Arial"/>
                  </a:rPr>
                  <a:t>), its whole power vanishes.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$22\equiv1\pmod 3$</a:t>
                </a:r>
                <a:r>
                  <a:rPr sz="2400" b="0">
                    <a:solidFill>
                      <a:srgbClr val="111827"/>
                    </a:solidFill>
                    <a:latin typeface="Arial"/>
                  </a:rPr>
                  <a:t> and </a:t>
                </a:r>
                <a:r>
                  <a:rPr lang="en-IN" sz="2400">
                    <a:solidFill>
                      <a:srgbClr val="111827"/>
                    </a:solidFill>
                    <a:latin typeface="Cambria Math" panose="02040503050406030204" pitchFamily="18" charset="0"/>
                  </a:rPr>
                  <a:t>$\pmod 7$</a:t>
                </a:r>
                <a:r>
                  <a:rPr sz="2400" b="0">
                    <a:solidFill>
                      <a:srgbClr val="111827"/>
                    </a:solidFill>
                    <a:latin typeface="Arial"/>
                  </a:rPr>
                  <a:t>; </a:t>
                </a:r>
                <a:r>
                  <a:rPr lang="en-IN" sz="2400">
                    <a:solidFill>
                      <a:srgbClr val="111827"/>
                    </a:solidFill>
                    <a:latin typeface="Cambria Math" panose="02040503050406030204" pitchFamily="18" charset="0"/>
                  </a:rPr>
                  <a:t>$2022\equiv0\pmod3$</a:t>
                </a:r>
                <a:r>
                  <a:rPr sz="2400" b="0">
                    <a:solidFill>
                      <a:srgbClr val="111827"/>
                    </a:solidFill>
                    <a:latin typeface="Arial"/>
                  </a:rPr>
                  <a:t>, </a:t>
                </a:r>
                <a:r>
                  <a:rPr lang="en-IN" sz="2400">
                    <a:solidFill>
                      <a:srgbClr val="111827"/>
                    </a:solidFill>
                    <a:latin typeface="Cambria Math" panose="02040503050406030204" pitchFamily="18" charset="0"/>
                  </a:rPr>
                  <a:t>$2022\equiv-1\pmod7$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coefficients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𝑝</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𝑞</m:t>
                        </m:r>
                      </m:sup>
                    </m:sSup>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respectively, then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𝑞</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63</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69</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66</m:t>
                    </m:r>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coefficients of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$x^2$</a:t>
                </a:r>
                <a:r>
                  <a:rPr sz="2400" b="0">
                    <a:solidFill>
                      <a:srgbClr val="111827"/>
                    </a:solidFill>
                    <a:latin typeface="Arial"/>
                  </a:rPr>
                  <a:t> in </a:t>
                </a:r>
                <a:r>
                  <a:rPr lang="en-IN" sz="2400">
                    <a:solidFill>
                      <a:srgbClr val="111827"/>
                    </a:solidFill>
                    <a:latin typeface="Cambria Math" panose="02040503050406030204" pitchFamily="18" charset="0"/>
                  </a:rPr>
                  <a:t>$(1+x)^p(1-x)^q$</a:t>
                </a:r>
                <a:r>
                  <a:rPr sz="2400" b="0">
                    <a:solidFill>
                      <a:srgbClr val="111827"/>
                    </a:solidFill>
                    <a:latin typeface="Arial"/>
                  </a:rPr>
                  <a:t> are </a:t>
                </a:r>
                <a:r>
                  <a:rPr lang="en-IN" sz="2400">
                    <a:solidFill>
                      <a:srgbClr val="111827"/>
                    </a:solidFill>
                    <a:latin typeface="Cambria Math" panose="02040503050406030204" pitchFamily="18" charset="0"/>
                  </a:rPr>
                  <a:t>$4$</a:t>
                </a:r>
                <a:r>
                  <a:rPr sz="2400" b="0">
                    <a:solidFill>
                      <a:srgbClr val="111827"/>
                    </a:solidFill>
                    <a:latin typeface="Arial"/>
                  </a:rPr>
                  <a:t> and </a:t>
                </a:r>
                <a:r>
                  <a:rPr lang="en-IN" sz="2400">
                    <a:solidFill>
                      <a:srgbClr val="111827"/>
                    </a:solidFill>
                    <a:latin typeface="Cambria Math" panose="02040503050406030204" pitchFamily="18" charset="0"/>
                  </a:rPr>
                  <a:t>$-5$</a:t>
                </a:r>
                <a:r>
                  <a:rPr sz="2400" b="0">
                    <a:solidFill>
                      <a:srgbClr val="111827"/>
                    </a:solidFill>
                    <a:latin typeface="Arial"/>
                  </a:rPr>
                  <a:t> respectively, then </a:t>
                </a:r>
                <a:r>
                  <a:rPr lang="en-IN" sz="2400">
                    <a:solidFill>
                      <a:srgbClr val="111827"/>
                    </a:solidFill>
                    <a:latin typeface="Cambria Math" panose="02040503050406030204" pitchFamily="18" charset="0"/>
                  </a:rPr>
                  <a:t>$2p+3q$</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$63$</a:t>
                </a:r>
                <a:r>
                  <a:rPr sz="2400" b="0">
                    <a:solidFill>
                      <a:srgbClr val="111827"/>
                    </a:solidFill>
                    <a:latin typeface="Arial"/>
                  </a:rPr>
                  <a:t>   (B) </a:t>
                </a:r>
                <a:r>
                  <a:rPr lang="en-IN" sz="2400">
                    <a:solidFill>
                      <a:srgbClr val="111827"/>
                    </a:solidFill>
                    <a:latin typeface="Cambria Math" panose="02040503050406030204" pitchFamily="18" charset="0"/>
                  </a:rPr>
                  <a:t>$69$</a:t>
                </a:r>
                <a:r>
                  <a:rPr sz="2400" b="0">
                    <a:solidFill>
                      <a:srgbClr val="111827"/>
                    </a:solidFill>
                    <a:latin typeface="Arial"/>
                  </a:rPr>
                  <a:t>   (C) </a:t>
                </a:r>
                <a:r>
                  <a:rPr lang="en-IN" sz="2400">
                    <a:solidFill>
                      <a:srgbClr val="111827"/>
                    </a:solidFill>
                    <a:latin typeface="Cambria Math" panose="02040503050406030204" pitchFamily="18" charset="0"/>
                  </a:rPr>
                  <a:t>$60$</a:t>
                </a:r>
                <a:r>
                  <a:rPr sz="2400" b="0">
                    <a:solidFill>
                      <a:srgbClr val="111827"/>
                    </a:solidFill>
                    <a:latin typeface="Arial"/>
                  </a:rPr>
                  <a:t>   (D) </a:t>
                </a:r>
                <a:r>
                  <a:rPr lang="en-IN" sz="2400">
                    <a:solidFill>
                      <a:srgbClr val="111827"/>
                    </a:solidFill>
                    <a:latin typeface="Cambria Math" panose="02040503050406030204" pitchFamily="18" charset="0"/>
                  </a:rPr>
                  <a:t>$66$</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Coefficients in a product of binomial expansions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Multiply the two expansions: the coefficient of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is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oMath>
                </a14:m>
                <a:r>
                  <a:rPr sz="2400" b="0">
                    <a:solidFill>
                      <a:srgbClr val="78350F"/>
                    </a:solidFill>
                    <a:latin typeface="Arial"/>
                  </a:rPr>
                  <a:t> and of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is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𝑝</m:t>
                            </m:r>
                          </m:num>
                          <m:den>
                            <m:r>
                              <a:rPr lang="en-IN" sz="2400" i="1">
                                <a:solidFill>
                                  <a:srgbClr val="78350F"/>
                                </a:solidFill>
                                <a:latin typeface="Cambria Math" panose="02040503050406030204" pitchFamily="18" charset="0"/>
                              </a:rPr>
                              <m:t>2</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𝑞</m:t>
                            </m:r>
                          </m:num>
                          <m:den>
                            <m:r>
                              <a:rPr lang="en-IN" sz="2400" i="1">
                                <a:solidFill>
                                  <a:srgbClr val="78350F"/>
                                </a:solidFill>
                                <a:latin typeface="Cambria Math" panose="02040503050406030204" pitchFamily="18" charset="0"/>
                              </a:rPr>
                              <m:t>2</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a:rPr lang="en-IN" sz="2400" i="1">
                        <a:solidFill>
                          <a:srgbClr val="78350F"/>
                        </a:solidFill>
                        <a:latin typeface="Cambria Math" panose="02040503050406030204" pitchFamily="18" charset="0"/>
                      </a:rPr>
                      <m:t>𝑞</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Multiply the two expansions: the coefficient of </a:t>
                </a:r>
                <a:r>
                  <a:rPr lang="en-IN" sz="2400">
                    <a:solidFill>
                      <a:srgbClr val="78350F"/>
                    </a:solidFill>
                    <a:latin typeface="Cambria Math" panose="02040503050406030204" pitchFamily="18" charset="0"/>
                  </a:rPr>
                  <a:t>$x$</a:t>
                </a:r>
                <a:r>
                  <a:rPr sz="2400" b="0">
                    <a:solidFill>
                      <a:srgbClr val="78350F"/>
                    </a:solidFill>
                    <a:latin typeface="Arial"/>
                  </a:rPr>
                  <a:t> is </a:t>
                </a:r>
                <a:r>
                  <a:rPr lang="en-IN" sz="2400">
                    <a:solidFill>
                      <a:srgbClr val="78350F"/>
                    </a:solidFill>
                    <a:latin typeface="Cambria Math" panose="02040503050406030204" pitchFamily="18" charset="0"/>
                  </a:rPr>
                  <a:t>$p-q$</a:t>
                </a:r>
                <a:r>
                  <a:rPr sz="2400" b="0">
                    <a:solidFill>
                      <a:srgbClr val="78350F"/>
                    </a:solidFill>
                    <a:latin typeface="Arial"/>
                  </a:rPr>
                  <a:t> and of </a:t>
                </a:r>
                <a:r>
                  <a:rPr lang="en-IN" sz="2400">
                    <a:solidFill>
                      <a:srgbClr val="78350F"/>
                    </a:solidFill>
                    <a:latin typeface="Cambria Math" panose="02040503050406030204" pitchFamily="18" charset="0"/>
                  </a:rPr>
                  <a:t>$x^2$</a:t>
                </a:r>
                <a:r>
                  <a:rPr sz="2400" b="0">
                    <a:solidFill>
                      <a:srgbClr val="78350F"/>
                    </a:solidFill>
                    <a:latin typeface="Arial"/>
                  </a:rPr>
                  <a:t> is </a:t>
                </a:r>
                <a:r>
                  <a:rPr lang="en-IN" sz="2400">
                    <a:solidFill>
                      <a:srgbClr val="78350F"/>
                    </a:solidFill>
                    <a:latin typeface="Cambria Math" panose="02040503050406030204" pitchFamily="18" charset="0"/>
                  </a:rPr>
                  <a:t>$\binom p2+\binom q2-pq$</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𝑝</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𝑞</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e>
                    </m:d>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$(1+x)^p(1-x)^q=\left(1+px+\dfrac{p(p-1)}{2}x^2+\dots\right)\left(1-qx+\dfrac{q(q-1)}{2}x^2-\dots\right)$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$=1+(p-q)x+\left(\dfrac{p(p-1)}{2}+\dfrac{q(q-1)}{2}-pq\right)x^2+\dots$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$p-q=4$</a:t>
                </a:r>
                <a:r>
                  <a:rPr sz="2400" b="0">
                    <a:solidFill>
                      <a:srgbClr val="111827"/>
                    </a:solidFill>
                    <a:latin typeface="Arial"/>
                  </a:rPr>
                  <a:t>, so </a:t>
                </a:r>
                <a:r>
                  <a:rPr lang="en-IN" sz="2400">
                    <a:solidFill>
                      <a:srgbClr val="111827"/>
                    </a:solidFill>
                    <a:latin typeface="Cambria Math" panose="02040503050406030204" pitchFamily="18" charset="0"/>
                  </a:rPr>
                  <a:t>$p=q+4$</a:t>
                </a:r>
                <a:r>
                  <a:rPr sz="2400" b="0">
                    <a:solidFill>
                      <a:srgbClr val="111827"/>
                    </a:solidFill>
                    <a:latin typeface="Arial"/>
                  </a:rPr>
                  <a:t>. ...(i)</a:t>
                </a:r>
                <a:endParaRPr sz="2400">
                  <a:solidFill>
                    <a:srgbClr val="111827"/>
                  </a:solidFill>
                </a:endParaRPr>
              </a:p>
            </p:txBody>
          </p:sp>
        </mc:Fallback>
      </mc:AlternateContent>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which simplifies to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$\dfrac{p(p-1)}{2}+\dfrac{q(q-1)}{2}-pq=-5$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a:t>
                </a:r>
                <a:r>
                  <a:rPr lang="en-IN" sz="2400">
                    <a:solidFill>
                      <a:srgbClr val="111827"/>
                    </a:solidFill>
                    <a:latin typeface="Cambria Math" panose="02040503050406030204" pitchFamily="18" charset="0"/>
                  </a:rPr>
                  <a:t>$p=q+4$</a:t>
                </a:r>
                <a:r>
                  <a:rPr sz="2400" b="0">
                    <a:solidFill>
                      <a:srgbClr val="111827"/>
                    </a:solidFill>
                    <a:latin typeface="Arial"/>
                  </a:rPr>
                  <a:t>: </a:t>
                </a:r>
                <a:r>
                  <a:rPr lang="en-IN" sz="2400">
                    <a:solidFill>
                      <a:srgbClr val="111827"/>
                    </a:solidFill>
                    <a:latin typeface="Cambria Math" panose="02040503050406030204" pitchFamily="18" charset="0"/>
                  </a:rPr>
                  <a:t>$\dfrac{(q+4)(q+3)}{2}+\dfrac{q(q-1)}{2}-(q+4)q=-5$</a:t>
                </a:r>
                <a:r>
                  <a:rPr sz="2400" b="0">
                    <a:solidFill>
                      <a:srgbClr val="111827"/>
                    </a:solidFill>
                    <a:latin typeface="Arial"/>
                  </a:rPr>
                  <a:t>, which simplifies to </a:t>
                </a:r>
                <a:r>
                  <a:rPr lang="en-IN" sz="2400">
                    <a:solidFill>
                      <a:srgbClr val="111827"/>
                    </a:solidFill>
                    <a:latin typeface="Cambria Math" panose="02040503050406030204" pitchFamily="18" charset="0"/>
                  </a:rPr>
                  <a:t>$6-q=-5$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$q=11$</a:t>
                </a:r>
                <a:r>
                  <a:rPr sz="2400" b="0">
                    <a:solidFill>
                      <a:srgbClr val="111827"/>
                    </a:solidFill>
                    <a:latin typeface="Arial"/>
                  </a:rPr>
                  <a:t> and </a:t>
                </a:r>
                <a:r>
                  <a:rPr lang="en-IN" sz="2400">
                    <a:solidFill>
                      <a:srgbClr val="111827"/>
                    </a:solidFill>
                    <a:latin typeface="Cambria Math" panose="02040503050406030204" pitchFamily="18" charset="0"/>
                  </a:rPr>
                  <a:t>$p=15$</a:t>
                </a:r>
                <a:r>
                  <a:rPr sz="2400" b="0">
                    <a:solidFill>
                      <a:srgbClr val="111827"/>
                    </a:solidFill>
                    <a:latin typeface="Arial"/>
                  </a:rPr>
                  <a:t>; </a:t>
                </a:r>
                <a:r>
                  <a:rPr lang="en-IN" sz="2400">
                    <a:solidFill>
                      <a:srgbClr val="111827"/>
                    </a:solidFill>
                    <a:latin typeface="Cambria Math" panose="02040503050406030204" pitchFamily="18" charset="0"/>
                  </a:rPr>
                  <a:t>$2p+3q=30+33=63$</a:t>
                </a:r>
                <a:r>
                  <a:rPr sz="2400" b="0">
                    <a:solidFill>
                      <a:srgbClr val="111827"/>
                    </a:solidFill>
                    <a:latin typeface="Arial"/>
                  </a:rPr>
                  <a:t>,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63</a:t>
            </a:r>
            <a:endParaRPr sz="2800">
              <a:solidFill>
                <a:srgbClr val="15803D"/>
              </a:solidFill>
            </a:endParaRP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the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coefficient as </a:t>
                </a:r>
                <a14:m>
                  <m:oMath xmlns:m="http://schemas.openxmlformats.org/officeDocument/2006/math">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the </a:t>
                </a:r>
                <a:r>
                  <a:rPr lang="en-IN" sz="2400">
                    <a:solidFill>
                      <a:srgbClr val="78350F"/>
                    </a:solidFill>
                    <a:latin typeface="Cambria Math" panose="02040503050406030204" pitchFamily="18" charset="0"/>
                  </a:rPr>
                  <a:t>$x^2$</a:t>
                </a:r>
                <a:r>
                  <a:rPr sz="2400" b="0">
                    <a:solidFill>
                      <a:srgbClr val="78350F"/>
                    </a:solidFill>
                    <a:latin typeface="Arial"/>
                  </a:rPr>
                  <a:t> coefficient as </a:t>
                </a:r>
                <a:r>
                  <a:rPr lang="en-IN" sz="2400">
                    <a:solidFill>
                      <a:srgbClr val="78350F"/>
                    </a:solidFill>
                    <a:latin typeface="Cambria Math" panose="02040503050406030204" pitchFamily="18" charset="0"/>
                  </a:rPr>
                  <a:t>$\dfrac{(p-q)^2-(p+q)}{2}$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condition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oMath>
                </a14:m>
                <a:r>
                  <a:rPr sz="2400" b="0">
                    <a:solidFill>
                      <a:srgbClr val="111827"/>
                    </a:solidFill>
                    <a:latin typeface="Arial"/>
                  </a:rPr>
                  <a:t>, option (A) (same answer).</a:t>
                </a:r>
                <a:endParaRPr sz="2400">
                  <a:solidFill>
                    <a:srgbClr val="111827"/>
                  </a:solidFill>
                </a:endParaRPr>
              </a:p>
            </p:txBody>
          </p:sp>
        </mc:Choice>
        <mc:Fallback>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$\dfrac{p(p-1)}{2}+\dfrac{q(q-1)}{2}-pq=\dfrac{p^2+q^2-2pq-p-q}{2}=\dfrac{(p-q)^2-(p+q)}{2}$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$p-q=4$</a:t>
                </a:r>
                <a:r>
                  <a:rPr sz="2400" b="0">
                    <a:solidFill>
                      <a:srgbClr val="111827"/>
                    </a:solidFill>
                    <a:latin typeface="Arial"/>
                  </a:rPr>
                  <a:t> the condition is </a:t>
                </a:r>
                <a:r>
                  <a:rPr lang="en-IN" sz="2400">
                    <a:solidFill>
                      <a:srgbClr val="111827"/>
                    </a:solidFill>
                    <a:latin typeface="Cambria Math" panose="02040503050406030204" pitchFamily="18" charset="0"/>
                  </a:rPr>
                  <a:t>$\dfrac{16-(p+q)}{2}=-5$</a:t>
                </a:r>
                <a:r>
                  <a:rPr sz="2400" b="0">
                    <a:solidFill>
                      <a:srgbClr val="111827"/>
                    </a:solidFill>
                    <a:latin typeface="Arial"/>
                  </a:rPr>
                  <a:t>, so </a:t>
                </a:r>
                <a:r>
                  <a:rPr lang="en-IN" sz="2400">
                    <a:solidFill>
                      <a:srgbClr val="111827"/>
                    </a:solidFill>
                    <a:latin typeface="Cambria Math" panose="02040503050406030204" pitchFamily="18" charset="0"/>
                  </a:rPr>
                  <a:t>$p+q=26$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a:t>
                </a:r>
                <a:r>
                  <a:rPr lang="en-IN" sz="2400">
                    <a:solidFill>
                      <a:srgbClr val="111827"/>
                    </a:solidFill>
                    <a:latin typeface="Cambria Math" panose="02040503050406030204" pitchFamily="18" charset="0"/>
                  </a:rPr>
                  <a:t>$p-q=4$</a:t>
                </a:r>
                <a:r>
                  <a:rPr sz="2400" b="0">
                    <a:solidFill>
                      <a:srgbClr val="111827"/>
                    </a:solidFill>
                    <a:latin typeface="Arial"/>
                  </a:rPr>
                  <a:t>, </a:t>
                </a:r>
                <a:r>
                  <a:rPr lang="en-IN" sz="2400">
                    <a:solidFill>
                      <a:srgbClr val="111827"/>
                    </a:solidFill>
                    <a:latin typeface="Cambria Math" panose="02040503050406030204" pitchFamily="18" charset="0"/>
                  </a:rPr>
                  <a:t>$p+q=26$</a:t>
                </a:r>
                <a:r>
                  <a:rPr sz="2400" b="0">
                    <a:solidFill>
                      <a:srgbClr val="111827"/>
                    </a:solidFill>
                    <a:latin typeface="Arial"/>
                  </a:rPr>
                  <a:t> gives </a:t>
                </a:r>
                <a:r>
                  <a:rPr lang="en-IN" sz="2400">
                    <a:solidFill>
                      <a:srgbClr val="111827"/>
                    </a:solidFill>
                    <a:latin typeface="Cambria Math" panose="02040503050406030204" pitchFamily="18" charset="0"/>
                  </a:rPr>
                  <a:t>$p=15$</a:t>
                </a:r>
                <a:r>
                  <a:rPr sz="2400" b="0">
                    <a:solidFill>
                      <a:srgbClr val="111827"/>
                    </a:solidFill>
                    <a:latin typeface="Arial"/>
                  </a:rPr>
                  <a:t>, </a:t>
                </a:r>
                <a:r>
                  <a:rPr lang="en-IN" sz="2400">
                    <a:solidFill>
                      <a:srgbClr val="111827"/>
                    </a:solidFill>
                    <a:latin typeface="Cambria Math" panose="02040503050406030204" pitchFamily="18" charset="0"/>
                  </a:rPr>
                  <a:t>$q=11$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$2p+3q=63$</a:t>
                </a:r>
                <a:r>
                  <a:rPr sz="2400" b="0">
                    <a:solidFill>
                      <a:srgbClr val="111827"/>
                    </a:solidFill>
                    <a:latin typeface="Arial"/>
                  </a:rPr>
                  <a:t>, option (A)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63</a:t>
            </a:r>
            <a:endParaRPr sz="2800">
              <a:solidFill>
                <a:srgbClr val="15803D"/>
              </a:solidFill>
            </a:endParaRP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𝑝</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𝑞</m:t>
                        </m:r>
                      </m:sup>
                    </m:sSup>
                  </m:oMath>
                </a14:m>
                <a:r>
                  <a:rPr sz="2400" b="0">
                    <a:solidFill>
                      <a:srgbClr val="111827"/>
                    </a:solidFill>
                    <a:latin typeface="Arial"/>
                  </a:rPr>
                  <a:t>: coefficient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form: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which avoids expanding after substituting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𝑝</m:t>
                        </m:r>
                      </m:sup>
                    </m:sSup>
                  </m:oMath>
                </a14:m>
                <a:r>
                  <a:rPr sz="2400" b="0">
                    <a:solidFill>
                      <a:srgbClr val="111827"/>
                    </a:solidFill>
                    <a:latin typeface="Arial"/>
                  </a:rPr>
                  <a:t> has no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term and the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coefficient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consistent with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$(1+x)^p(1-x)^q$</a:t>
                </a:r>
                <a:r>
                  <a:rPr sz="2400" b="0">
                    <a:solidFill>
                      <a:srgbClr val="111827"/>
                    </a:solidFill>
                    <a:latin typeface="Arial"/>
                  </a:rPr>
                  <a:t>: coefficient of </a:t>
                </a:r>
                <a:r>
                  <a:rPr lang="en-IN" sz="2400">
                    <a:solidFill>
                      <a:srgbClr val="111827"/>
                    </a:solidFill>
                    <a:latin typeface="Cambria Math" panose="02040503050406030204" pitchFamily="18" charset="0"/>
                  </a:rPr>
                  <a:t>$x$</a:t>
                </a:r>
                <a:r>
                  <a:rPr sz="2400" b="0">
                    <a:solidFill>
                      <a:srgbClr val="111827"/>
                    </a:solidFill>
                    <a:latin typeface="Arial"/>
                  </a:rPr>
                  <a:t> is </a:t>
                </a:r>
                <a:r>
                  <a:rPr lang="en-IN" sz="2400">
                    <a:solidFill>
                      <a:srgbClr val="111827"/>
                    </a:solidFill>
                    <a:latin typeface="Cambria Math" panose="02040503050406030204" pitchFamily="18" charset="0"/>
                  </a:rPr>
                  <a:t>$p-q$</a:t>
                </a:r>
                <a:r>
                  <a:rPr sz="2400" b="0">
                    <a:solidFill>
                      <a:srgbClr val="111827"/>
                    </a:solidFill>
                    <a:latin typeface="Arial"/>
                  </a:rPr>
                  <a:t>; coefficient of </a:t>
                </a:r>
                <a:r>
                  <a:rPr lang="en-IN" sz="2400">
                    <a:solidFill>
                      <a:srgbClr val="111827"/>
                    </a:solidFill>
                    <a:latin typeface="Cambria Math" panose="02040503050406030204" pitchFamily="18" charset="0"/>
                  </a:rPr>
                  <a:t>$x^2$</a:t>
                </a:r>
                <a:r>
                  <a:rPr sz="2400" b="0">
                    <a:solidFill>
                      <a:srgbClr val="111827"/>
                    </a:solidFill>
                    <a:latin typeface="Arial"/>
                  </a:rPr>
                  <a:t> is </a:t>
                </a:r>
                <a:r>
                  <a:rPr lang="en-IN" sz="2400">
                    <a:solidFill>
                      <a:srgbClr val="111827"/>
                    </a:solidFill>
                    <a:latin typeface="Cambria Math" panose="02040503050406030204" pitchFamily="18" charset="0"/>
                  </a:rPr>
                  <a:t>$\frac{(p-q)^2-(p+q)}{2}$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form: </a:t>
                </a:r>
                <a:r>
                  <a:rPr lang="en-IN" sz="2400">
                    <a:solidFill>
                      <a:srgbClr val="111827"/>
                    </a:solidFill>
                    <a:latin typeface="Cambria Math" panose="02040503050406030204" pitchFamily="18" charset="0"/>
                  </a:rPr>
                  <a:t>$\binom p2+\binom q2-pq=\frac{(p-q)^2-(p+q)}{2}$</a:t>
                </a:r>
                <a:r>
                  <a:rPr sz="2400" b="0">
                    <a:solidFill>
                      <a:srgbClr val="111827"/>
                    </a:solidFill>
                    <a:latin typeface="Arial"/>
                  </a:rPr>
                  <a:t>, which avoids expanding after substituting </a:t>
                </a:r>
                <a:r>
                  <a:rPr lang="en-IN" sz="2400">
                    <a:solidFill>
                      <a:srgbClr val="111827"/>
                    </a:solidFill>
                    <a:latin typeface="Cambria Math" panose="02040503050406030204" pitchFamily="18" charset="0"/>
                  </a:rPr>
                  <a:t>$p=q+4$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$p=q$</a:t>
                </a:r>
                <a:r>
                  <a:rPr sz="2400" b="0">
                    <a:solidFill>
                      <a:srgbClr val="111827"/>
                    </a:solidFill>
                    <a:latin typeface="Arial"/>
                  </a:rPr>
                  <a:t>: </a:t>
                </a:r>
                <a:r>
                  <a:rPr lang="en-IN" sz="2400">
                    <a:solidFill>
                      <a:srgbClr val="111827"/>
                    </a:solidFill>
                    <a:latin typeface="Cambria Math" panose="02040503050406030204" pitchFamily="18" charset="0"/>
                  </a:rPr>
                  <a:t>$(1-x^2)^p$</a:t>
                </a:r>
                <a:r>
                  <a:rPr sz="2400" b="0">
                    <a:solidFill>
                      <a:srgbClr val="111827"/>
                    </a:solidFill>
                    <a:latin typeface="Arial"/>
                  </a:rPr>
                  <a:t> has no </a:t>
                </a:r>
                <a:r>
                  <a:rPr lang="en-IN" sz="2400">
                    <a:solidFill>
                      <a:srgbClr val="111827"/>
                    </a:solidFill>
                    <a:latin typeface="Cambria Math" panose="02040503050406030204" pitchFamily="18" charset="0"/>
                  </a:rPr>
                  <a:t>$x$</a:t>
                </a:r>
                <a:r>
                  <a:rPr sz="2400" b="0">
                    <a:solidFill>
                      <a:srgbClr val="111827"/>
                    </a:solidFill>
                    <a:latin typeface="Arial"/>
                  </a:rPr>
                  <a:t> term and the </a:t>
                </a:r>
                <a:r>
                  <a:rPr lang="en-IN" sz="2400">
                    <a:solidFill>
                      <a:srgbClr val="111827"/>
                    </a:solidFill>
                    <a:latin typeface="Cambria Math" panose="02040503050406030204" pitchFamily="18" charset="0"/>
                  </a:rPr>
                  <a:t>$x^2$</a:t>
                </a:r>
                <a:r>
                  <a:rPr sz="2400" b="0">
                    <a:solidFill>
                      <a:srgbClr val="111827"/>
                    </a:solidFill>
                    <a:latin typeface="Arial"/>
                  </a:rPr>
                  <a:t> coefficient is </a:t>
                </a:r>
                <a:r>
                  <a:rPr lang="en-IN" sz="2400">
                    <a:solidFill>
                      <a:srgbClr val="111827"/>
                    </a:solidFill>
                    <a:latin typeface="Cambria Math" panose="02040503050406030204" pitchFamily="18" charset="0"/>
                  </a:rPr>
                  <a:t>$-p$</a:t>
                </a:r>
                <a:r>
                  <a:rPr sz="2400" b="0">
                    <a:solidFill>
                      <a:srgbClr val="111827"/>
                    </a:solidFill>
                    <a:latin typeface="Arial"/>
                  </a:rPr>
                  <a:t>, consistent with </a:t>
                </a:r>
                <a:r>
                  <a:rPr lang="en-IN" sz="2400">
                    <a:solidFill>
                      <a:srgbClr val="111827"/>
                    </a:solidFill>
                    <a:latin typeface="Cambria Math" panose="02040503050406030204" pitchFamily="18" charset="0"/>
                  </a:rPr>
                  <a:t>$\frac{0-2p}{2}$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$p=15,q=11$</a:t>
                </a:r>
                <a:r>
                  <a:rPr sz="2400" b="0">
                    <a:solidFill>
                      <a:srgbClr val="111827"/>
                    </a:solidFill>
                    <a:latin typeface="Arial"/>
                  </a:rPr>
                  <a:t>: </a:t>
                </a:r>
                <a:r>
                  <a:rPr lang="en-IN" sz="2400">
                    <a:solidFill>
                      <a:srgbClr val="111827"/>
                    </a:solidFill>
                    <a:latin typeface="Cambria Math" panose="02040503050406030204" pitchFamily="18" charset="0"/>
                  </a:rPr>
                  <a:t>$\frac{16-26}{2}=-5$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a:t>
                </a:r>
                <a14:m>
                  <m:oMath xmlns:m="http://schemas.openxmlformats.org/officeDocument/2006/math">
                    <m:sSup>
                      <m:e>
                        <m:r>
                          <a:rPr lang="en-IN" sz="2400" i="1">
                            <a:solidFill>
                              <a:srgbClr val="111827"/>
                            </a:solidFill>
                            <a:latin typeface="Cambria Math" panose="02040503050406030204" pitchFamily="18" charset="0"/>
                          </a:rPr>
                          <m:t>1011</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term from the end in the binomial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2022</m:t>
                        </m:r>
                      </m:sup>
                    </m:sSup>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1024</m:t>
                    </m:r>
                  </m:oMath>
                </a14:m>
                <a:r>
                  <a:rPr sz="2400" b="0">
                    <a:solidFill>
                      <a:srgbClr val="111827"/>
                    </a:solidFill>
                    <a:latin typeface="Arial"/>
                  </a:rPr>
                  <a:t> times the </a:t>
                </a:r>
                <a14:m>
                  <m:oMath xmlns:m="http://schemas.openxmlformats.org/officeDocument/2006/math">
                    <m:sSup>
                      <m:e>
                        <m:r>
                          <a:rPr lang="en-IN" sz="2400" i="1">
                            <a:solidFill>
                              <a:srgbClr val="111827"/>
                            </a:solidFill>
                            <a:latin typeface="Cambria Math" panose="02040503050406030204" pitchFamily="18" charset="0"/>
                          </a:rPr>
                          <m:t>1011</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term from the beginning,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15</m:t>
                    </m:r>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a:t>
                </a:r>
                <a:r>
                  <a:rPr lang="en-IN" sz="2400">
                    <a:solidFill>
                      <a:srgbClr val="111827"/>
                    </a:solidFill>
                    <a:latin typeface="Cambria Math" panose="02040503050406030204" pitchFamily="18" charset="0"/>
                  </a:rPr>
                  <a:t>$1011^{\text{th}}$</a:t>
                </a:r>
                <a:r>
                  <a:rPr sz="2400" b="0">
                    <a:solidFill>
                      <a:srgbClr val="111827"/>
                    </a:solidFill>
                    <a:latin typeface="Arial"/>
                  </a:rPr>
                  <a:t> term from the end in the binomial expansion of </a:t>
                </a:r>
                <a:r>
                  <a:rPr lang="en-IN" sz="2400">
                    <a:solidFill>
                      <a:srgbClr val="111827"/>
                    </a:solidFill>
                    <a:latin typeface="Cambria Math" panose="02040503050406030204" pitchFamily="18" charset="0"/>
                  </a:rPr>
                  <a:t>$\left(\dfrac{4x}{5}-\dfrac{5}{2x}\right)^{2022}$</a:t>
                </a:r>
                <a:r>
                  <a:rPr sz="2400" b="0">
                    <a:solidFill>
                      <a:srgbClr val="111827"/>
                    </a:solidFill>
                    <a:latin typeface="Arial"/>
                  </a:rPr>
                  <a:t> is </a:t>
                </a:r>
                <a:r>
                  <a:rPr lang="en-IN" sz="2400">
                    <a:solidFill>
                      <a:srgbClr val="111827"/>
                    </a:solidFill>
                    <a:latin typeface="Cambria Math" panose="02040503050406030204" pitchFamily="18" charset="0"/>
                  </a:rPr>
                  <a:t>$1024$</a:t>
                </a:r>
                <a:r>
                  <a:rPr sz="2400" b="0">
                    <a:solidFill>
                      <a:srgbClr val="111827"/>
                    </a:solidFill>
                    <a:latin typeface="Arial"/>
                  </a:rPr>
                  <a:t> times the </a:t>
                </a:r>
                <a:r>
                  <a:rPr lang="en-IN" sz="2400">
                    <a:solidFill>
                      <a:srgbClr val="111827"/>
                    </a:solidFill>
                    <a:latin typeface="Cambria Math" panose="02040503050406030204" pitchFamily="18" charset="0"/>
                  </a:rPr>
                  <a:t>$1011^{\text{th}}$</a:t>
                </a:r>
                <a:r>
                  <a:rPr sz="2400" b="0">
                    <a:solidFill>
                      <a:srgbClr val="111827"/>
                    </a:solidFill>
                    <a:latin typeface="Arial"/>
                  </a:rPr>
                  <a:t> term from the beginning, then </a:t>
                </a:r>
                <a:r>
                  <a:rPr lang="en-IN" sz="2400">
                    <a:solidFill>
                      <a:srgbClr val="111827"/>
                    </a:solidFill>
                    <a:latin typeface="Cambria Math" panose="02040503050406030204" pitchFamily="18" charset="0"/>
                  </a:rPr>
                  <a:t>$|x|$</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$8$</a:t>
                </a:r>
                <a:r>
                  <a:rPr sz="2400" b="0">
                    <a:solidFill>
                      <a:srgbClr val="111827"/>
                    </a:solidFill>
                    <a:latin typeface="Arial"/>
                  </a:rPr>
                  <a:t>   (B) </a:t>
                </a:r>
                <a:r>
                  <a:rPr lang="en-IN" sz="2400">
                    <a:solidFill>
                      <a:srgbClr val="111827"/>
                    </a:solidFill>
                    <a:latin typeface="Cambria Math" panose="02040503050406030204" pitchFamily="18" charset="0"/>
                  </a:rPr>
                  <a:t>$12$</a:t>
                </a:r>
                <a:r>
                  <a:rPr sz="2400" b="0">
                    <a:solidFill>
                      <a:srgbClr val="111827"/>
                    </a:solidFill>
                    <a:latin typeface="Arial"/>
                  </a:rPr>
                  <a:t>   (C) </a:t>
                </a:r>
                <a:r>
                  <a:rPr lang="en-IN" sz="2400">
                    <a:solidFill>
                      <a:srgbClr val="111827"/>
                    </a:solidFill>
                    <a:latin typeface="Cambria Math" panose="02040503050406030204" pitchFamily="18" charset="0"/>
                  </a:rPr>
                  <a:t>$10$</a:t>
                </a:r>
                <a:r>
                  <a:rPr sz="2400" b="0">
                    <a:solidFill>
                      <a:srgbClr val="111827"/>
                    </a:solidFill>
                    <a:latin typeface="Arial"/>
                  </a:rPr>
                  <a:t>   (D) </a:t>
                </a:r>
                <a:r>
                  <a:rPr lang="en-IN" sz="2400">
                    <a:solidFill>
                      <a:srgbClr val="111827"/>
                    </a:solidFill>
                    <a:latin typeface="Cambria Math" panose="02040503050406030204" pitchFamily="18" charset="0"/>
                  </a:rPr>
                  <a:t>$15$</a:t>
                </a:r>
                <a:endParaRPr sz="2400">
                  <a:solidFill>
                    <a:srgbClr val="111827"/>
                  </a:solidFill>
                </a:endParaRPr>
              </a:p>
            </p:txBody>
          </p:sp>
        </mc:Fallback>
      </mc:AlternateContent>
      <p:sp>
        <p:nvSpPr>
          <p:cNvPr id="5" name="Rectangle 4"/>
          <p:cNvSpPr/>
          <p:nvPr/>
        </p:nvSpPr>
        <p:spPr>
          <a:xfrm>
            <a:off x="731520" y="41716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Terms from the beginning and from the end of an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t>
                </a:r>
                <a14:m>
                  <m:oMath xmlns:m="http://schemas.openxmlformats.org/officeDocument/2006/math">
                    <m:sSup>
                      <m:e>
                        <m:r>
                          <a:rPr lang="en-IN" sz="2400" i="1">
                            <a:solidFill>
                              <a:srgbClr val="78350F"/>
                            </a:solidFill>
                            <a:latin typeface="Cambria Math" panose="02040503050406030204" pitchFamily="18" charset="0"/>
                          </a:rPr>
                          <m:t>1011</m:t>
                        </m:r>
                      </m:e>
                      <m:sup>
                        <m:r>
                          <m:rPr>
                            <m:nor/>
                          </m:rPr>
                          <a:rPr lang="en-IN" sz="2400" i="1">
                            <a:solidFill>
                              <a:srgbClr val="78350F"/>
                            </a:solidFill>
                            <a:latin typeface="Cambria Math" panose="02040503050406030204" pitchFamily="18" charset="0"/>
                          </a:rPr>
                          <m:t>𝑡ℎ</m:t>
                        </m:r>
                      </m:sup>
                    </m:sSup>
                  </m:oMath>
                </a14:m>
                <a:r>
                  <a:rPr sz="2400" b="0">
                    <a:solidFill>
                      <a:srgbClr val="78350F"/>
                    </a:solidFill>
                    <a:latin typeface="Arial"/>
                  </a:rPr>
                  <a:t> term from the end is </a:t>
                </a:r>
                <a14:m>
                  <m:oMath xmlns:m="http://schemas.openxmlformats.org/officeDocument/2006/math">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1013</m:t>
                        </m:r>
                      </m:sub>
                    </m:sSub>
                  </m:oMath>
                </a14:m>
                <a:r>
                  <a:rPr sz="2400" b="0">
                    <a:solidFill>
                      <a:srgbClr val="78350F"/>
                    </a:solidFill>
                    <a:latin typeface="Arial"/>
                  </a:rPr>
                  <a:t>; dividing the two terms leaves </a:t>
                </a:r>
                <a14:m>
                  <m:oMath xmlns:m="http://schemas.openxmlformats.org/officeDocument/2006/math">
                    <m:sSup>
                      <m:e>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5</m:t>
                                </m:r>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den>
                            </m:f>
                          </m:e>
                        </m:d>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10</m:t>
                        </m:r>
                      </m:sup>
                    </m:sSup>
                    <m:sSup>
                      <m:e>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5</m:t>
                                </m:r>
                              </m:den>
                            </m:f>
                          </m:e>
                        </m:d>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t>
                </a:r>
                <a:r>
                  <a:rPr lang="en-IN" sz="2400">
                    <a:solidFill>
                      <a:srgbClr val="78350F"/>
                    </a:solidFill>
                    <a:latin typeface="Cambria Math" panose="02040503050406030204" pitchFamily="18" charset="0"/>
                  </a:rPr>
                  <a:t>$1011^{\text{th}}$</a:t>
                </a:r>
                <a:r>
                  <a:rPr sz="2400" b="0">
                    <a:solidFill>
                      <a:srgbClr val="78350F"/>
                    </a:solidFill>
                    <a:latin typeface="Arial"/>
                  </a:rPr>
                  <a:t> term from the end is </a:t>
                </a:r>
                <a:r>
                  <a:rPr lang="en-IN" sz="2400">
                    <a:solidFill>
                      <a:srgbClr val="78350F"/>
                    </a:solidFill>
                    <a:latin typeface="Cambria Math" panose="02040503050406030204" pitchFamily="18" charset="0"/>
                  </a:rPr>
                  <a:t>$T_{1013}$</a:t>
                </a:r>
                <a:r>
                  <a:rPr sz="2400" b="0">
                    <a:solidFill>
                      <a:srgbClr val="78350F"/>
                    </a:solidFill>
                    <a:latin typeface="Arial"/>
                  </a:rPr>
                  <a:t>; dividing the two terms leaves </a:t>
                </a:r>
                <a:r>
                  <a:rPr lang="en-IN" sz="2400">
                    <a:solidFill>
                      <a:srgbClr val="78350F"/>
                    </a:solidFill>
                    <a:latin typeface="Cambria Math" panose="02040503050406030204" pitchFamily="18" charset="0"/>
                  </a:rPr>
                  <a:t>$\left(\frac{5}{2x}\right)^2=2^{10}\left(\frac{4x}{5}\right)^2$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expansion has </a:t>
                </a:r>
                <a14:m>
                  <m:oMath xmlns:m="http://schemas.openxmlformats.org/officeDocument/2006/math">
                    <m:r>
                      <a:rPr lang="en-IN" sz="2400" i="1">
                        <a:solidFill>
                          <a:srgbClr val="111827"/>
                        </a:solidFill>
                        <a:latin typeface="Cambria Math" panose="02040503050406030204" pitchFamily="18" charset="0"/>
                      </a:rPr>
                      <m:t>2023</m:t>
                    </m:r>
                  </m:oMath>
                </a14:m>
                <a:r>
                  <a:rPr sz="2400" b="0">
                    <a:solidFill>
                      <a:srgbClr val="111827"/>
                    </a:solidFill>
                    <a:latin typeface="Arial"/>
                  </a:rPr>
                  <a:t> terms, so the </a:t>
                </a:r>
                <a14:m>
                  <m:oMath xmlns:m="http://schemas.openxmlformats.org/officeDocument/2006/math">
                    <m:sSup>
                      <m:e>
                        <m:r>
                          <a:rPr lang="en-IN" sz="2400" i="1">
                            <a:solidFill>
                              <a:srgbClr val="111827"/>
                            </a:solidFill>
                            <a:latin typeface="Cambria Math" panose="02040503050406030204" pitchFamily="18" charset="0"/>
                          </a:rPr>
                          <m:t>1011</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term from the beginning is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1011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2022</m:t>
                            </m:r>
                          </m:num>
                          <m:den>
                            <m:r>
                              <a:rPr lang="en-IN" sz="2400" i="1">
                                <a:solidFill>
                                  <a:srgbClr val="111827"/>
                                </a:solidFill>
                                <a:latin typeface="Cambria Math" panose="02040503050406030204" pitchFamily="18" charset="0"/>
                              </a:rPr>
                              <m:t>1010</m:t>
                            </m:r>
                          </m:den>
                        </m:f>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5</m:t>
                                </m:r>
                              </m:den>
                            </m:f>
                          </m:e>
                        </m:d>
                      </m:e>
                      <m:sup>
                        <m:r>
                          <a:rPr lang="en-IN" sz="2400" i="1">
                            <a:solidFill>
                              <a:srgbClr val="111827"/>
                            </a:solidFill>
                            <a:latin typeface="Cambria Math" panose="02040503050406030204" pitchFamily="18" charset="0"/>
                          </a:rPr>
                          <m:t>1012</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1010</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sSup>
                      <m:e>
                        <m:r>
                          <a:rPr lang="en-IN" sz="2400" i="1">
                            <a:solidFill>
                              <a:srgbClr val="111827"/>
                            </a:solidFill>
                            <a:latin typeface="Cambria Math" panose="02040503050406030204" pitchFamily="18" charset="0"/>
                          </a:rPr>
                          <m:t>1011</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term from the end is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1013</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2022</m:t>
                            </m:r>
                          </m:num>
                          <m:den>
                            <m:r>
                              <a:rPr lang="en-IN" sz="2400" i="1">
                                <a:solidFill>
                                  <a:srgbClr val="111827"/>
                                </a:solidFill>
                                <a:latin typeface="Cambria Math" panose="02040503050406030204" pitchFamily="18" charset="0"/>
                              </a:rPr>
                              <m:t>1012</m:t>
                            </m:r>
                          </m:den>
                        </m:f>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5</m:t>
                                </m:r>
                              </m:den>
                            </m:f>
                          </m:e>
                        </m:d>
                      </m:e>
                      <m:sup>
                        <m:r>
                          <a:rPr lang="en-IN" sz="2400" i="1">
                            <a:solidFill>
                              <a:srgbClr val="111827"/>
                            </a:solidFill>
                            <a:latin typeface="Cambria Math" panose="02040503050406030204" pitchFamily="18" charset="0"/>
                          </a:rPr>
                          <m:t>1010</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1012</m:t>
                        </m:r>
                      </m:sup>
                    </m:sSup>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2022</m:t>
                            </m:r>
                          </m:num>
                          <m:den>
                            <m:r>
                              <a:rPr lang="en-IN" sz="2400" i="1">
                                <a:solidFill>
                                  <a:srgbClr val="111827"/>
                                </a:solidFill>
                                <a:latin typeface="Cambria Math" panose="02040503050406030204" pitchFamily="18" charset="0"/>
                              </a:rPr>
                              <m:t>1012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2022</m:t>
                            </m:r>
                          </m:num>
                          <m:den>
                            <m:r>
                              <a:rPr lang="en-IN" sz="2400" i="1">
                                <a:solidFill>
                                  <a:srgbClr val="111827"/>
                                </a:solidFill>
                                <a:latin typeface="Cambria Math" panose="02040503050406030204" pitchFamily="18" charset="0"/>
                              </a:rPr>
                              <m:t>1010</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2022</m:t>
                            </m:r>
                          </m:num>
                          <m:den>
                            <m:r>
                              <a:rPr lang="en-IN" sz="2400" i="1">
                                <a:solidFill>
                                  <a:srgbClr val="111827"/>
                                </a:solidFill>
                                <a:latin typeface="Cambria Math" panose="02040503050406030204" pitchFamily="18" charset="0"/>
                              </a:rPr>
                              <m:t>1010</m:t>
                            </m:r>
                          </m:den>
                        </m:f>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1012</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5</m:t>
                                </m:r>
                              </m:den>
                            </m:f>
                          </m:e>
                        </m:d>
                      </m:e>
                      <m:sup>
                        <m:r>
                          <a:rPr lang="en-IN" sz="2400" i="1">
                            <a:solidFill>
                              <a:srgbClr val="111827"/>
                            </a:solidFill>
                            <a:latin typeface="Cambria Math" panose="02040503050406030204" pitchFamily="18" charset="0"/>
                          </a:rPr>
                          <m:t>1010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10</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2022</m:t>
                            </m:r>
                          </m:num>
                          <m:den>
                            <m:r>
                              <a:rPr lang="en-IN" sz="2400" i="1">
                                <a:solidFill>
                                  <a:srgbClr val="111827"/>
                                </a:solidFill>
                                <a:latin typeface="Cambria Math" panose="02040503050406030204" pitchFamily="18" charset="0"/>
                              </a:rPr>
                              <m:t>1010</m:t>
                            </m:r>
                          </m:den>
                        </m:f>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1010</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5</m:t>
                                </m:r>
                              </m:den>
                            </m:f>
                          </m:e>
                        </m:d>
                      </m:e>
                      <m:sup>
                        <m:r>
                          <a:rPr lang="en-IN" sz="2400" i="1">
                            <a:solidFill>
                              <a:srgbClr val="111827"/>
                            </a:solidFill>
                            <a:latin typeface="Cambria Math" panose="02040503050406030204" pitchFamily="18" charset="0"/>
                          </a:rPr>
                          <m:t>1012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expansion has </a:t>
                </a:r>
                <a:r>
                  <a:rPr lang="en-IN" sz="2400">
                    <a:solidFill>
                      <a:srgbClr val="111827"/>
                    </a:solidFill>
                    <a:latin typeface="Cambria Math" panose="02040503050406030204" pitchFamily="18" charset="0"/>
                  </a:rPr>
                  <a:t>$2023$</a:t>
                </a:r>
                <a:r>
                  <a:rPr sz="2400" b="0">
                    <a:solidFill>
                      <a:srgbClr val="111827"/>
                    </a:solidFill>
                    <a:latin typeface="Arial"/>
                  </a:rPr>
                  <a:t> terms, so the </a:t>
                </a:r>
                <a:r>
                  <a:rPr lang="en-IN" sz="2400">
                    <a:solidFill>
                      <a:srgbClr val="111827"/>
                    </a:solidFill>
                    <a:latin typeface="Cambria Math" panose="02040503050406030204" pitchFamily="18" charset="0"/>
                  </a:rPr>
                  <a:t>$1011^{\text{th}}$</a:t>
                </a:r>
                <a:r>
                  <a:rPr sz="2400" b="0">
                    <a:solidFill>
                      <a:srgbClr val="111827"/>
                    </a:solidFill>
                    <a:latin typeface="Arial"/>
                  </a:rPr>
                  <a:t> term from the beginning is </a:t>
                </a:r>
                <a:r>
                  <a:rPr lang="en-IN" sz="2400">
                    <a:solidFill>
                      <a:srgbClr val="111827"/>
                    </a:solidFill>
                    <a:latin typeface="Cambria Math" panose="02040503050406030204" pitchFamily="18" charset="0"/>
                  </a:rPr>
                  <a:t>$T_{1011}=\binom{2022}{1010}\left(\dfrac{4x}{5}\right)^{1012}\left(\dfrac{-5}{2x}\right)^{1010}$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$1011^{\text{th}}$</a:t>
                </a:r>
                <a:r>
                  <a:rPr sz="2400" b="0">
                    <a:solidFill>
                      <a:srgbClr val="111827"/>
                    </a:solidFill>
                    <a:latin typeface="Arial"/>
                  </a:rPr>
                  <a:t> term from the end is </a:t>
                </a:r>
                <a:r>
                  <a:rPr lang="en-IN" sz="2400">
                    <a:solidFill>
                      <a:srgbClr val="111827"/>
                    </a:solidFill>
                    <a:latin typeface="Cambria Math" panose="02040503050406030204" pitchFamily="18" charset="0"/>
                  </a:rPr>
                  <a:t>$T_{1013}=\binom{2022}{1012}\left(\dfrac{4x}{5}\right)^{1010}\left(\dfrac{-5}{2x}\right)^{1012}$</a:t>
                </a:r>
                <a:r>
                  <a:rPr sz="2400" b="0">
                    <a:solidFill>
                      <a:srgbClr val="111827"/>
                    </a:solidFill>
                    <a:latin typeface="Arial"/>
                  </a:rPr>
                  <a:t>, and </a:t>
                </a:r>
                <a:r>
                  <a:rPr lang="en-IN" sz="2400">
                    <a:solidFill>
                      <a:srgbClr val="111827"/>
                    </a:solidFill>
                    <a:latin typeface="Cambria Math" panose="02040503050406030204" pitchFamily="18" charset="0"/>
                  </a:rPr>
                  <a:t>$\binom{2022}{1012}=\binom{2022}{1010}$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$\binom{2022}{1010}\left(\dfrac{-5}{2x}\right)^{1012}\left(\dfrac{4x}{5}\right)^{1010}=2^{10}\binom{2022}{1010}\left(\dfrac{-5}{2x}\right)^{1010}\left(\dfrac{4x}{5}\right)^{1012}$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Cancel the common factors: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10</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5</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625</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16</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4</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16</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 which is not among the options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(the key marks the question 'Bonus').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Cancel the common factors: </a:t>
                </a:r>
                <a:r>
                  <a:rPr lang="en-IN" sz="2400">
                    <a:solidFill>
                      <a:srgbClr val="111827"/>
                    </a:solidFill>
                    <a:latin typeface="Cambria Math" panose="02040503050406030204" pitchFamily="18" charset="0"/>
                  </a:rPr>
                  <a:t>$\left(\dfrac{-5}{2x}\right)^2=2^{10}\left(\dfrac{4x}{5}\right)^2$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$\dfrac{25}{4x^2}=2^{10}\cdot\dfrac{16x^2}{25}\Rightarrow x^4=\dfrac{625}{2^{16}}=\dfrac{5^4}{2^{16}}$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$|x|=\dfrac{5}{2^{4}}=\dfrac{5}{16}$</a:t>
                </a:r>
                <a:r>
                  <a:rPr sz="2400" b="0">
                    <a:solidFill>
                      <a:srgbClr val="111827"/>
                    </a:solidFill>
                    <a:latin typeface="Arial"/>
                  </a:rPr>
                  <a:t>, which is not among the options </a:t>
                </a:r>
                <a:r>
                  <a:rPr lang="en-IN" sz="2400">
                    <a:solidFill>
                      <a:srgbClr val="111827"/>
                    </a:solidFill>
                    <a:latin typeface="Cambria Math" panose="02040503050406030204" pitchFamily="18" charset="0"/>
                  </a:rPr>
                  <a:t>$8,12,10,15$</a:t>
                </a:r>
                <a:r>
                  <a:rPr sz="2400" b="0">
                    <a:solidFill>
                      <a:srgbClr val="111827"/>
                    </a:solidFill>
                    <a:latin typeface="Arial"/>
                  </a:rPr>
                  <a:t> (the key marks the question 'Bonus').</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None of the options;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m:t>
                        </m:r>
                      </m:num>
                      <m:den>
                        <m:r>
                          <a:rPr lang="en-IN" sz="2800" i="1">
                            <a:solidFill>
                              <a:srgbClr val="15803D"/>
                            </a:solidFill>
                            <a:latin typeface="Cambria Math" panose="02040503050406030204" pitchFamily="18" charset="0"/>
                          </a:rPr>
                          <m:t>16</m:t>
                        </m:r>
                      </m:den>
                    </m:f>
                  </m:oMath>
                </a14:m>
                <a:r>
                  <a:rPr sz="2800" b="1">
                    <a:solidFill>
                      <a:srgbClr val="15803D"/>
                    </a:solidFill>
                    <a:latin typeface="Arial"/>
                  </a:rPr>
                  <a:t> (the paper's key says 'Bonus')</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None of the options; </a:t>
                </a:r>
                <a:r>
                  <a:rPr lang="en-IN" sz="2800">
                    <a:solidFill>
                      <a:srgbClr val="15803D"/>
                    </a:solidFill>
                    <a:latin typeface="Cambria Math" panose="02040503050406030204" pitchFamily="18" charset="0"/>
                  </a:rPr>
                  <a:t>$|x|=\frac{5}{16}$</a:t>
                </a:r>
                <a:r>
                  <a:rPr sz="2800" b="1">
                    <a:solidFill>
                      <a:srgbClr val="15803D"/>
                    </a:solidFill>
                    <a:latin typeface="Arial"/>
                  </a:rPr>
                  <a:t> (the paper's key says 'Bonus')</a:t>
                </a:r>
                <a:endParaRPr sz="2800">
                  <a:solidFill>
                    <a:srgbClr val="15803D"/>
                  </a:solidFill>
                </a:endParaRPr>
              </a:p>
            </p:txBody>
          </p:sp>
        </mc:Fallback>
      </mc:AlternateContent>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the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-th term from the end is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1011</m:t>
                    </m:r>
                  </m:oMath>
                </a14:m>
                <a:r>
                  <a:rPr sz="2400" b="0">
                    <a:solidFill>
                      <a:srgbClr val="111827"/>
                    </a:solidFill>
                    <a:latin typeface="Arial"/>
                  </a:rPr>
                  <a:t> it is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1013</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of the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-th term from the end to the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-th term from the beginning: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e>
                        </m:d>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 binomial coefficients cancel because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16</m:t>
                                </m:r>
                              </m:den>
                            </m:f>
                          </m:e>
                        </m:d>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625</m:t>
                        </m:r>
                      </m:num>
                      <m:den>
                        <m:r>
                          <a:rPr lang="en-IN" sz="2400" i="1">
                            <a:solidFill>
                              <a:srgbClr val="111827"/>
                            </a:solidFill>
                            <a:latin typeface="Cambria Math" panose="02040503050406030204" pitchFamily="18" charset="0"/>
                          </a:rPr>
                          <m:t>65536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4</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16</m:t>
                            </m:r>
                          </m:sup>
                        </m:sSup>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$(a+b)^n$</a:t>
                </a:r>
                <a:r>
                  <a:rPr sz="2400" b="0">
                    <a:solidFill>
                      <a:srgbClr val="111827"/>
                    </a:solidFill>
                    <a:latin typeface="Arial"/>
                  </a:rPr>
                  <a:t> the </a:t>
                </a:r>
                <a:r>
                  <a:rPr lang="en-IN" sz="2400">
                    <a:solidFill>
                      <a:srgbClr val="111827"/>
                    </a:solidFill>
                    <a:latin typeface="Cambria Math" panose="02040503050406030204" pitchFamily="18" charset="0"/>
                  </a:rPr>
                  <a:t>$k$</a:t>
                </a:r>
                <a:r>
                  <a:rPr sz="2400" b="0">
                    <a:solidFill>
                      <a:srgbClr val="111827"/>
                    </a:solidFill>
                    <a:latin typeface="Arial"/>
                  </a:rPr>
                  <a:t>-th term from the end is </a:t>
                </a:r>
                <a:r>
                  <a:rPr lang="en-IN" sz="2400">
                    <a:solidFill>
                      <a:srgbClr val="111827"/>
                    </a:solidFill>
                    <a:latin typeface="Cambria Math" panose="02040503050406030204" pitchFamily="18" charset="0"/>
                  </a:rPr>
                  <a:t>$T_{n-k+2}$</a:t>
                </a:r>
                <a:r>
                  <a:rPr sz="2400" b="0">
                    <a:solidFill>
                      <a:srgbClr val="111827"/>
                    </a:solidFill>
                    <a:latin typeface="Arial"/>
                  </a:rPr>
                  <a:t>; for </a:t>
                </a:r>
                <a:r>
                  <a:rPr lang="en-IN" sz="2400">
                    <a:solidFill>
                      <a:srgbClr val="111827"/>
                    </a:solidFill>
                    <a:latin typeface="Cambria Math" panose="02040503050406030204" pitchFamily="18" charset="0"/>
                  </a:rPr>
                  <a:t>$n=2022$</a:t>
                </a:r>
                <a:r>
                  <a:rPr sz="2400" b="0">
                    <a:solidFill>
                      <a:srgbClr val="111827"/>
                    </a:solidFill>
                    <a:latin typeface="Arial"/>
                  </a:rPr>
                  <a:t>, </a:t>
                </a:r>
                <a:r>
                  <a:rPr lang="en-IN" sz="2400">
                    <a:solidFill>
                      <a:srgbClr val="111827"/>
                    </a:solidFill>
                    <a:latin typeface="Cambria Math" panose="02040503050406030204" pitchFamily="18" charset="0"/>
                  </a:rPr>
                  <a:t>$k=1011$</a:t>
                </a:r>
                <a:r>
                  <a:rPr sz="2400" b="0">
                    <a:solidFill>
                      <a:srgbClr val="111827"/>
                    </a:solidFill>
                    <a:latin typeface="Arial"/>
                  </a:rPr>
                  <a:t> it is </a:t>
                </a:r>
                <a:r>
                  <a:rPr lang="en-IN" sz="2400">
                    <a:solidFill>
                      <a:srgbClr val="111827"/>
                    </a:solidFill>
                    <a:latin typeface="Cambria Math" panose="02040503050406030204" pitchFamily="18" charset="0"/>
                  </a:rPr>
                  <a:t>$T_{1013}$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of the </a:t>
                </a:r>
                <a:r>
                  <a:rPr lang="en-IN" sz="2400">
                    <a:solidFill>
                      <a:srgbClr val="111827"/>
                    </a:solidFill>
                    <a:latin typeface="Cambria Math" panose="02040503050406030204" pitchFamily="18" charset="0"/>
                  </a:rPr>
                  <a:t>$k$</a:t>
                </a:r>
                <a:r>
                  <a:rPr sz="2400" b="0">
                    <a:solidFill>
                      <a:srgbClr val="111827"/>
                    </a:solidFill>
                    <a:latin typeface="Arial"/>
                  </a:rPr>
                  <a:t>-th term from the end to the </a:t>
                </a:r>
                <a:r>
                  <a:rPr lang="en-IN" sz="2400">
                    <a:solidFill>
                      <a:srgbClr val="111827"/>
                    </a:solidFill>
                    <a:latin typeface="Cambria Math" panose="02040503050406030204" pitchFamily="18" charset="0"/>
                  </a:rPr>
                  <a:t>$k$</a:t>
                </a:r>
                <a:r>
                  <a:rPr sz="2400" b="0">
                    <a:solidFill>
                      <a:srgbClr val="111827"/>
                    </a:solidFill>
                    <a:latin typeface="Arial"/>
                  </a:rPr>
                  <a:t>-th term from the beginning: </a:t>
                </a:r>
                <a:r>
                  <a:rPr lang="en-IN" sz="2400">
                    <a:solidFill>
                      <a:srgbClr val="111827"/>
                    </a:solidFill>
                    <a:latin typeface="Cambria Math" panose="02040503050406030204" pitchFamily="18" charset="0"/>
                  </a:rPr>
                  <a:t>$\left(\dfrac ba\right)^{n-2k+2}$</a:t>
                </a:r>
                <a:r>
                  <a:rPr sz="2400" b="0">
                    <a:solidFill>
                      <a:srgbClr val="111827"/>
                    </a:solidFill>
                    <a:latin typeface="Arial"/>
                  </a:rPr>
                  <a:t> (here </a:t>
                </a:r>
                <a:r>
                  <a:rPr lang="en-IN" sz="2400">
                    <a:solidFill>
                      <a:srgbClr val="111827"/>
                    </a:solidFill>
                    <a:latin typeface="Cambria Math" panose="02040503050406030204" pitchFamily="18" charset="0"/>
                  </a:rPr>
                  <a:t>$n-2k+2=2$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 binomial coefficients cancel because </a:t>
                </a:r>
                <a:r>
                  <a:rPr lang="en-IN" sz="2400">
                    <a:solidFill>
                      <a:srgbClr val="111827"/>
                    </a:solidFill>
                    <a:latin typeface="Cambria Math" panose="02040503050406030204" pitchFamily="18" charset="0"/>
                  </a:rPr>
                  <a:t>$\binom n{k-1}=\binom n{n-k+1}$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$\left(\frac{5}{16}\right)^4=\frac{625}{65536}=\frac{5^4}{2^{16}}$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the coefficients of three consecutive terms in the binomial expansion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which are in the ratio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92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41</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63</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the coefficients of three consecutive terms in the binomial expansion of </a:t>
                </a:r>
                <a:r>
                  <a:rPr lang="en-IN" sz="2400">
                    <a:solidFill>
                      <a:srgbClr val="111827"/>
                    </a:solidFill>
                    <a:latin typeface="Cambria Math" panose="02040503050406030204" pitchFamily="18" charset="0"/>
                  </a:rPr>
                  <a:t>$(1+x)^{n+2}$</a:t>
                </a:r>
                <a:r>
                  <a:rPr sz="2400" b="0">
                    <a:solidFill>
                      <a:srgbClr val="111827"/>
                    </a:solidFill>
                    <a:latin typeface="Arial"/>
                  </a:rPr>
                  <a:t>, which are in the ratio </a:t>
                </a:r>
                <a:r>
                  <a:rPr lang="en-IN" sz="2400">
                    <a:solidFill>
                      <a:srgbClr val="111827"/>
                    </a:solidFill>
                    <a:latin typeface="Cambria Math" panose="02040503050406030204" pitchFamily="18" charset="0"/>
                  </a:rPr>
                  <a:t>$1:3:5$</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$25$</a:t>
                </a:r>
                <a:r>
                  <a:rPr sz="2400" b="0">
                    <a:solidFill>
                      <a:srgbClr val="111827"/>
                    </a:solidFill>
                    <a:latin typeface="Arial"/>
                  </a:rPr>
                  <a:t>   (B) </a:t>
                </a:r>
                <a:r>
                  <a:rPr lang="en-IN" sz="2400">
                    <a:solidFill>
                      <a:srgbClr val="111827"/>
                    </a:solidFill>
                    <a:latin typeface="Cambria Math" panose="02040503050406030204" pitchFamily="18" charset="0"/>
                  </a:rPr>
                  <a:t>$92$</a:t>
                </a:r>
                <a:r>
                  <a:rPr sz="2400" b="0">
                    <a:solidFill>
                      <a:srgbClr val="111827"/>
                    </a:solidFill>
                    <a:latin typeface="Arial"/>
                  </a:rPr>
                  <a:t>   (C) </a:t>
                </a:r>
                <a:r>
                  <a:rPr lang="en-IN" sz="2400">
                    <a:solidFill>
                      <a:srgbClr val="111827"/>
                    </a:solidFill>
                    <a:latin typeface="Cambria Math" panose="02040503050406030204" pitchFamily="18" charset="0"/>
                  </a:rPr>
                  <a:t>$41$</a:t>
                </a:r>
                <a:r>
                  <a:rPr sz="2400" b="0">
                    <a:solidFill>
                      <a:srgbClr val="111827"/>
                    </a:solidFill>
                    <a:latin typeface="Arial"/>
                  </a:rPr>
                  <a:t>   (D) </a:t>
                </a:r>
                <a:r>
                  <a:rPr lang="en-IN" sz="2400">
                    <a:solidFill>
                      <a:srgbClr val="111827"/>
                    </a:solidFill>
                    <a:latin typeface="Cambria Math" panose="02040503050406030204" pitchFamily="18" charset="0"/>
                  </a:rPr>
                  <a:t>$63$</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Ratio of consecutive coefficients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Two ratio equations give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the coefficients are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7</m:t>
                            </m:r>
                          </m:num>
                          <m:den>
                            <m:r>
                              <a:rPr lang="en-IN" sz="2400" i="1">
                                <a:solidFill>
                                  <a:srgbClr val="78350F"/>
                                </a:solidFill>
                                <a:latin typeface="Cambria Math" panose="02040503050406030204" pitchFamily="18" charset="0"/>
                              </a:rPr>
                              <m:t>1</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7</m:t>
                            </m:r>
                          </m:num>
                          <m:den>
                            <m:r>
                              <a:rPr lang="en-IN" sz="2400" i="1">
                                <a:solidFill>
                                  <a:srgbClr val="78350F"/>
                                </a:solidFill>
                                <a:latin typeface="Cambria Math" panose="02040503050406030204" pitchFamily="18" charset="0"/>
                              </a:rPr>
                              <m:t>2</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7</m:t>
                            </m:r>
                          </m:num>
                          <m:den>
                            <m:r>
                              <a:rPr lang="en-IN" sz="2400" i="1">
                                <a:solidFill>
                                  <a:srgbClr val="78350F"/>
                                </a:solidFill>
                                <a:latin typeface="Cambria Math" panose="02040503050406030204" pitchFamily="18" charset="0"/>
                              </a:rPr>
                              <m:t>3</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35</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Two ratio equations give </a:t>
                </a:r>
                <a:r>
                  <a:rPr lang="en-IN" sz="2400">
                    <a:solidFill>
                      <a:srgbClr val="78350F"/>
                    </a:solidFill>
                    <a:latin typeface="Cambria Math" panose="02040503050406030204" pitchFamily="18" charset="0"/>
                  </a:rPr>
                  <a:t>$n=5$</a:t>
                </a:r>
                <a:r>
                  <a:rPr sz="2400" b="0">
                    <a:solidFill>
                      <a:srgbClr val="78350F"/>
                    </a:solidFill>
                    <a:latin typeface="Arial"/>
                  </a:rPr>
                  <a:t>, </a:t>
                </a:r>
                <a:r>
                  <a:rPr lang="en-IN" sz="2400">
                    <a:solidFill>
                      <a:srgbClr val="78350F"/>
                    </a:solidFill>
                    <a:latin typeface="Cambria Math" panose="02040503050406030204" pitchFamily="18" charset="0"/>
                  </a:rPr>
                  <a:t>$r=2$</a:t>
                </a:r>
                <a:r>
                  <a:rPr sz="2400" b="0">
                    <a:solidFill>
                      <a:srgbClr val="78350F"/>
                    </a:solidFill>
                    <a:latin typeface="Arial"/>
                  </a:rPr>
                  <a:t>; the coefficients are </a:t>
                </a:r>
                <a:r>
                  <a:rPr lang="en-IN" sz="2400">
                    <a:solidFill>
                      <a:srgbClr val="78350F"/>
                    </a:solidFill>
                    <a:latin typeface="Cambria Math" panose="02040503050406030204" pitchFamily="18" charset="0"/>
                  </a:rPr>
                  <a:t>$\binom71,\binom72,\binom73=7,21,35$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coefficients be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in the ratio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𝑟</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𝑟</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𝑟</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𝑟</m:t>
                    </m:r>
                  </m:oMath>
                </a14:m>
                <a:r>
                  <a:rPr sz="2400" b="0">
                    <a:solidFill>
                      <a:srgbClr val="111827"/>
                    </a:solidFill>
                    <a:latin typeface="Arial"/>
                  </a:rPr>
                  <a:t>. ...(2)</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coefficients be </a:t>
                </a:r>
                <a:r>
                  <a:rPr lang="en-IN" sz="2400">
                    <a:solidFill>
                      <a:srgbClr val="111827"/>
                    </a:solidFill>
                    <a:latin typeface="Cambria Math" panose="02040503050406030204" pitchFamily="18" charset="0"/>
                  </a:rPr>
                  <a:t>$\binom{n+2}{r-1},\binom{n+2}{r},\binom{n+2}{r+1}$</a:t>
                </a:r>
                <a:r>
                  <a:rPr sz="2400" b="0">
                    <a:solidFill>
                      <a:srgbClr val="111827"/>
                    </a:solidFill>
                    <a:latin typeface="Arial"/>
                  </a:rPr>
                  <a:t> in the ratio </a:t>
                </a:r>
                <a:r>
                  <a:rPr lang="en-IN" sz="2400">
                    <a:solidFill>
                      <a:srgbClr val="111827"/>
                    </a:solidFill>
                    <a:latin typeface="Cambria Math" panose="02040503050406030204" pitchFamily="18" charset="0"/>
                  </a:rPr>
                  <a:t>$1:3:5$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$\dfrac{\binom{n+2}{r-1}}{\binom{n+2}{r}}=\dfrac13\Rightarrow\dfrac{r}{n+3-r}=\dfrac13\Rightarrow n+3=4r$</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$\dfrac{\binom{n+2}{r}}{\binom{n+2}{r+1}}=\dfrac35\Rightarrow\dfrac{r+1}{n+2-r}=\dfrac35\Rightarrow3n+1=8r$</a:t>
                </a:r>
                <a:r>
                  <a:rPr sz="2400" b="0">
                    <a:solidFill>
                      <a:srgbClr val="111827"/>
                    </a:solidFill>
                    <a:latin typeface="Arial"/>
                  </a:rPr>
                  <a:t>. ...(2)</a:t>
                </a:r>
                <a:endParaRPr sz="2400">
                  <a:solidFill>
                    <a:srgbClr val="111827"/>
                  </a:solidFill>
                </a:endParaRPr>
              </a:p>
            </p:txBody>
          </p:sp>
        </mc:Fallback>
      </mc:AlternateContent>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(1) and (2):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coefficients are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(indeed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with sum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(1) and (2): </a:t>
                </a:r>
                <a:r>
                  <a:rPr lang="en-IN" sz="2400">
                    <a:solidFill>
                      <a:srgbClr val="111827"/>
                    </a:solidFill>
                    <a:latin typeface="Cambria Math" panose="02040503050406030204" pitchFamily="18" charset="0"/>
                  </a:rPr>
                  <a:t>$2(n+3)=3n+1$</a:t>
                </a:r>
                <a:r>
                  <a:rPr sz="2400" b="0">
                    <a:solidFill>
                      <a:srgbClr val="111827"/>
                    </a:solidFill>
                    <a:latin typeface="Arial"/>
                  </a:rPr>
                  <a:t>, so </a:t>
                </a:r>
                <a:r>
                  <a:rPr lang="en-IN" sz="2400">
                    <a:solidFill>
                      <a:srgbClr val="111827"/>
                    </a:solidFill>
                    <a:latin typeface="Cambria Math" panose="02040503050406030204" pitchFamily="18" charset="0"/>
                  </a:rPr>
                  <a:t>$n=5$</a:t>
                </a:r>
                <a:r>
                  <a:rPr sz="2400" b="0">
                    <a:solidFill>
                      <a:srgbClr val="111827"/>
                    </a:solidFill>
                    <a:latin typeface="Arial"/>
                  </a:rPr>
                  <a:t> and </a:t>
                </a:r>
                <a:r>
                  <a:rPr lang="en-IN" sz="2400">
                    <a:solidFill>
                      <a:srgbClr val="111827"/>
                    </a:solidFill>
                    <a:latin typeface="Cambria Math" panose="02040503050406030204" pitchFamily="18" charset="0"/>
                  </a:rPr>
                  <a:t>$r=2$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coefficients are </a:t>
                </a:r>
                <a:r>
                  <a:rPr lang="en-IN" sz="2400">
                    <a:solidFill>
                      <a:srgbClr val="111827"/>
                    </a:solidFill>
                    <a:latin typeface="Cambria Math" panose="02040503050406030204" pitchFamily="18" charset="0"/>
                  </a:rPr>
                  <a:t>$\binom71,\binom72,\binom73=7,21,35$</a:t>
                </a:r>
                <a:r>
                  <a:rPr sz="2400" b="0">
                    <a:solidFill>
                      <a:srgbClr val="111827"/>
                    </a:solidFill>
                    <a:latin typeface="Arial"/>
                  </a:rPr>
                  <a:t> (indeed </a:t>
                </a:r>
                <a:r>
                  <a:rPr lang="en-IN" sz="2400">
                    <a:solidFill>
                      <a:srgbClr val="111827"/>
                    </a:solidFill>
                    <a:latin typeface="Cambria Math" panose="02040503050406030204" pitchFamily="18" charset="0"/>
                  </a:rPr>
                  <a:t>$1:3:5$</a:t>
                </a:r>
                <a:r>
                  <a:rPr sz="2400" b="0">
                    <a:solidFill>
                      <a:srgbClr val="111827"/>
                    </a:solidFill>
                    <a:latin typeface="Arial"/>
                  </a:rPr>
                  <a:t>), with sum </a:t>
                </a:r>
                <a:r>
                  <a:rPr lang="en-IN" sz="2400">
                    <a:solidFill>
                      <a:srgbClr val="111827"/>
                    </a:solidFill>
                    <a:latin typeface="Cambria Math" panose="02040503050406030204" pitchFamily="18" charset="0"/>
                  </a:rPr>
                  <a:t>$7+21+35=63$</a:t>
                </a:r>
                <a:r>
                  <a:rPr sz="2400" b="0">
                    <a:solidFill>
                      <a:srgbClr val="111827"/>
                    </a:solidFill>
                    <a:latin typeface="Arial"/>
                  </a:rPr>
                  <a:t>,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63</a:t>
            </a:r>
            <a:endParaRPr sz="2800">
              <a:solidFill>
                <a:srgbClr val="15803D"/>
              </a:solidFill>
            </a:endParaRP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scale factor: the coefficients are </a:t>
                </a:r>
                <a14:m>
                  <m:oMath xmlns:m="http://schemas.openxmlformats.org/officeDocument/2006/math">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a:rPr lang="en-IN" sz="2400" i="1">
                        <a:solidFill>
                          <a:srgbClr val="78350F"/>
                        </a:solidFill>
                        <a:latin typeface="Cambria Math" panose="02040503050406030204" pitchFamily="18" charset="0"/>
                      </a:rPr>
                      <m:t>𝑘</m:t>
                    </m:r>
                  </m:oMath>
                </a14:m>
                <a:r>
                  <a:rPr sz="2400" b="0">
                    <a:solidFill>
                      <a:srgbClr val="78350F"/>
                    </a:solidFill>
                    <a:latin typeface="Arial"/>
                  </a:rPr>
                  <a:t> so the sum is </a:t>
                </a:r>
                <a14:m>
                  <m:oMath xmlns:m="http://schemas.openxmlformats.org/officeDocument/2006/math">
                    <m:r>
                      <a:rPr lang="en-IN" sz="2400" i="1">
                        <a:solidFill>
                          <a:srgbClr val="78350F"/>
                        </a:solidFill>
                        <a:latin typeface="Cambria Math" panose="02040503050406030204" pitchFamily="18" charset="0"/>
                      </a:rPr>
                      <m:t>9</m:t>
                    </m:r>
                    <m:r>
                      <a:rPr lang="en-IN" sz="2400" i="1">
                        <a:solidFill>
                          <a:srgbClr val="78350F"/>
                        </a:solidFill>
                        <a:latin typeface="Cambria Math" panose="02040503050406030204" pitchFamily="18" charset="0"/>
                      </a:rPr>
                      <m:t>𝑘</m:t>
                    </m:r>
                  </m:oMath>
                </a14:m>
                <a:r>
                  <a:rPr sz="2400" b="0">
                    <a:solidFill>
                      <a:srgbClr val="78350F"/>
                    </a:solidFill>
                    <a:latin typeface="Arial"/>
                  </a:rPr>
                  <a:t>; find </a:t>
                </a:r>
                <a14:m>
                  <m:oMath xmlns:m="http://schemas.openxmlformats.org/officeDocument/2006/math">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e>
                    </m:d>
                  </m:oMath>
                </a14:m>
                <a:r>
                  <a:rPr sz="2400" b="0">
                    <a:solidFill>
                      <a:srgbClr val="78350F"/>
                    </a:solidFill>
                    <a:latin typeface="Arial"/>
                  </a:rPr>
                  <a:t> from </a:t>
                </a:r>
                <a14:m>
                  <m:oMath xmlns:m="http://schemas.openxmlformats.org/officeDocument/2006/math">
                    <m:r>
                      <a:rPr lang="en-IN" sz="2400" i="1">
                        <a:solidFill>
                          <a:srgbClr val="78350F"/>
                        </a:solidFill>
                        <a:latin typeface="Cambria Math" panose="02040503050406030204" pitchFamily="18" charset="0"/>
                      </a:rPr>
                      <m:t>𝑁</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𝑁</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scale factor: the coefficients are </a:t>
                </a:r>
                <a:r>
                  <a:rPr lang="en-IN" sz="2400">
                    <a:solidFill>
                      <a:srgbClr val="78350F"/>
                    </a:solidFill>
                    <a:latin typeface="Cambria Math" panose="02040503050406030204" pitchFamily="18" charset="0"/>
                  </a:rPr>
                  <a:t>$k,3k,5k$</a:t>
                </a:r>
                <a:r>
                  <a:rPr sz="2400" b="0">
                    <a:solidFill>
                      <a:srgbClr val="78350F"/>
                    </a:solidFill>
                    <a:latin typeface="Arial"/>
                  </a:rPr>
                  <a:t> so the sum is </a:t>
                </a:r>
                <a:r>
                  <a:rPr lang="en-IN" sz="2400">
                    <a:solidFill>
                      <a:srgbClr val="78350F"/>
                    </a:solidFill>
                    <a:latin typeface="Cambria Math" panose="02040503050406030204" pitchFamily="18" charset="0"/>
                  </a:rPr>
                  <a:t>$9k$</a:t>
                </a:r>
                <a:r>
                  <a:rPr sz="2400" b="0">
                    <a:solidFill>
                      <a:srgbClr val="78350F"/>
                    </a:solidFill>
                    <a:latin typeface="Arial"/>
                  </a:rPr>
                  <a:t>; find </a:t>
                </a:r>
                <a:r>
                  <a:rPr lang="en-IN" sz="2400">
                    <a:solidFill>
                      <a:srgbClr val="78350F"/>
                    </a:solidFill>
                    <a:latin typeface="Cambria Math" panose="02040503050406030204" pitchFamily="18" charset="0"/>
                  </a:rPr>
                  <a:t>$k=\binom{n+2}{r-1}$</a:t>
                </a:r>
                <a:r>
                  <a:rPr sz="2400" b="0">
                    <a:solidFill>
                      <a:srgbClr val="78350F"/>
                    </a:solidFill>
                    <a:latin typeface="Arial"/>
                  </a:rPr>
                  <a:t> from </a:t>
                </a:r>
                <a:r>
                  <a:rPr lang="en-IN" sz="2400">
                    <a:solidFill>
                      <a:srgbClr val="78350F"/>
                    </a:solidFill>
                    <a:latin typeface="Cambria Math" panose="02040503050406030204" pitchFamily="18" charset="0"/>
                  </a:rPr>
                  <a:t>$N+1=4r=8(r+1)/3$</a:t>
                </a:r>
                <a:r>
                  <a:rPr sz="2400" b="0">
                    <a:solidFill>
                      <a:srgbClr val="78350F"/>
                    </a:solidFill>
                    <a:latin typeface="Arial"/>
                  </a:rPr>
                  <a:t> with </a:t>
                </a:r>
                <a:r>
                  <a:rPr lang="en-IN" sz="2400">
                    <a:solidFill>
                      <a:srgbClr val="78350F"/>
                    </a:solidFill>
                    <a:latin typeface="Cambria Math" panose="02040503050406030204" pitchFamily="18" charset="0"/>
                  </a:rPr>
                  <a:t>$N=n+2$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𝑟</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𝑟</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and the sum is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$N=n+2$</a:t>
                </a:r>
                <a:r>
                  <a:rPr sz="2400" b="0">
                    <a:solidFill>
                      <a:srgbClr val="111827"/>
                    </a:solidFill>
                    <a:latin typeface="Arial"/>
                  </a:rPr>
                  <a:t>: </a:t>
                </a:r>
                <a:r>
                  <a:rPr lang="en-IN" sz="2400">
                    <a:solidFill>
                      <a:srgbClr val="111827"/>
                    </a:solidFill>
                    <a:latin typeface="Cambria Math" panose="02040503050406030204" pitchFamily="18" charset="0"/>
                  </a:rPr>
                  <a:t>$\dfrac{\binom N r}{\binom N{r-1}}=\dfrac{N+1}{r}-1=3\Rightarrow\dfrac{N+1}{r}=4$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$\dfrac{\binom N{r+1}}{\binom N r}=\dfrac{N+1}{r+1}-1=\dfrac53\Rightarrow\dfrac{N+1}{r+1}=\dfrac83$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$N+1=4r=\dfrac{8(r+1)}{3}$</a:t>
                </a:r>
                <a:r>
                  <a:rPr sz="2400" b="0">
                    <a:solidFill>
                      <a:srgbClr val="111827"/>
                    </a:solidFill>
                    <a:latin typeface="Arial"/>
                  </a:rPr>
                  <a:t>, giving </a:t>
                </a:r>
                <a:r>
                  <a:rPr lang="en-IN" sz="2400">
                    <a:solidFill>
                      <a:srgbClr val="111827"/>
                    </a:solidFill>
                    <a:latin typeface="Cambria Math" panose="02040503050406030204" pitchFamily="18" charset="0"/>
                  </a:rPr>
                  <a:t>$12r=8r+8$</a:t>
                </a:r>
                <a:r>
                  <a:rPr sz="2400" b="0">
                    <a:solidFill>
                      <a:srgbClr val="111827"/>
                    </a:solidFill>
                    <a:latin typeface="Arial"/>
                  </a:rPr>
                  <a:t>, </a:t>
                </a:r>
                <a:r>
                  <a:rPr lang="en-IN" sz="2400">
                    <a:solidFill>
                      <a:srgbClr val="111827"/>
                    </a:solidFill>
                    <a:latin typeface="Cambria Math" panose="02040503050406030204" pitchFamily="18" charset="0"/>
                  </a:rPr>
                  <a:t>$r=2$</a:t>
                </a:r>
                <a:r>
                  <a:rPr sz="2400" b="0">
                    <a:solidFill>
                      <a:srgbClr val="111827"/>
                    </a:solidFill>
                    <a:latin typeface="Arial"/>
                  </a:rPr>
                  <a:t>, </a:t>
                </a:r>
                <a:r>
                  <a:rPr lang="en-IN" sz="2400">
                    <a:solidFill>
                      <a:srgbClr val="111827"/>
                    </a:solidFill>
                    <a:latin typeface="Cambria Math" panose="02040503050406030204" pitchFamily="18" charset="0"/>
                  </a:rPr>
                  <a:t>$N=7$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$k=\binom71=7$</a:t>
                </a:r>
                <a:r>
                  <a:rPr sz="2400" b="0">
                    <a:solidFill>
                      <a:srgbClr val="111827"/>
                    </a:solidFill>
                    <a:latin typeface="Arial"/>
                  </a:rPr>
                  <a:t> and the sum is </a:t>
                </a:r>
                <a:r>
                  <a:rPr lang="en-IN" sz="2400">
                    <a:solidFill>
                      <a:srgbClr val="111827"/>
                    </a:solidFill>
                    <a:latin typeface="Cambria Math" panose="02040503050406030204" pitchFamily="18" charset="0"/>
                  </a:rPr>
                  <a:t>$k+3k+5k=9k=63$</a:t>
                </a:r>
                <a:r>
                  <a:rPr sz="2400" b="0">
                    <a:solidFill>
                      <a:srgbClr val="111827"/>
                    </a:solidFill>
                    <a:latin typeface="Arial"/>
                  </a:rPr>
                  <a:t>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63</a:t>
            </a:r>
            <a:endParaRPr sz="2800">
              <a:solidFill>
                <a:srgbClr val="15803D"/>
              </a:solidFill>
            </a:endParaRP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three consecutive coefficients are in ratio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the sum equals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𝑎</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𝑟</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two linear relations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ratio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the unique solution is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(coefficients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three consecutive coefficients are in ratio </a:t>
                </a:r>
                <a:r>
                  <a:rPr lang="en-IN" sz="2400">
                    <a:solidFill>
                      <a:srgbClr val="111827"/>
                    </a:solidFill>
                    <a:latin typeface="Cambria Math" panose="02040503050406030204" pitchFamily="18" charset="0"/>
                  </a:rPr>
                  <a:t>$a:b:c$</a:t>
                </a:r>
                <a:r>
                  <a:rPr sz="2400" b="0">
                    <a:solidFill>
                      <a:srgbClr val="111827"/>
                    </a:solidFill>
                    <a:latin typeface="Arial"/>
                  </a:rPr>
                  <a:t> the sum equals </a:t>
                </a:r>
                <a:r>
                  <a:rPr lang="en-IN" sz="2400">
                    <a:solidFill>
                      <a:srgbClr val="111827"/>
                    </a:solidFill>
                    <a:latin typeface="Cambria Math" panose="02040503050406030204" pitchFamily="18" charset="0"/>
                  </a:rPr>
                  <a:t>$\frac{a+b+c}{a}\binom N{r-1}$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$\frac{\binom N r}{\binom N{r-1}}=\frac{N+1}{r}-1$</a:t>
                </a:r>
                <a:r>
                  <a:rPr sz="2400" b="0">
                    <a:solidFill>
                      <a:srgbClr val="111827"/>
                    </a:solidFill>
                    <a:latin typeface="Arial"/>
                  </a:rPr>
                  <a:t> gives two linear relations in </a:t>
                </a:r>
                <a:r>
                  <a:rPr lang="en-IN" sz="2400">
                    <a:solidFill>
                      <a:srgbClr val="111827"/>
                    </a:solidFill>
                    <a:latin typeface="Cambria Math" panose="02040503050406030204" pitchFamily="18" charset="0"/>
                  </a:rPr>
                  <a:t>$(N+1)$</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ratio </a:t>
                </a:r>
                <a:r>
                  <a:rPr lang="en-IN" sz="2400">
                    <a:solidFill>
                      <a:srgbClr val="111827"/>
                    </a:solidFill>
                    <a:latin typeface="Cambria Math" panose="02040503050406030204" pitchFamily="18" charset="0"/>
                  </a:rPr>
                  <a:t>$1:3:5$</a:t>
                </a:r>
                <a:r>
                  <a:rPr sz="2400" b="0">
                    <a:solidFill>
                      <a:srgbClr val="111827"/>
                    </a:solidFill>
                    <a:latin typeface="Arial"/>
                  </a:rPr>
                  <a:t> the unique solution is </a:t>
                </a:r>
                <a:r>
                  <a:rPr lang="en-IN" sz="2400">
                    <a:solidFill>
                      <a:srgbClr val="111827"/>
                    </a:solidFill>
                    <a:latin typeface="Cambria Math" panose="02040503050406030204" pitchFamily="18" charset="0"/>
                  </a:rPr>
                  <a:t>$N=7$</a:t>
                </a:r>
                <a:r>
                  <a:rPr sz="2400" b="0">
                    <a:solidFill>
                      <a:srgbClr val="111827"/>
                    </a:solidFill>
                    <a:latin typeface="Arial"/>
                  </a:rPr>
                  <a:t>, </a:t>
                </a:r>
                <a:r>
                  <a:rPr lang="en-IN" sz="2400">
                    <a:solidFill>
                      <a:srgbClr val="111827"/>
                    </a:solidFill>
                    <a:latin typeface="Cambria Math" panose="02040503050406030204" pitchFamily="18" charset="0"/>
                  </a:rPr>
                  <a:t>$r=2$</a:t>
                </a:r>
                <a:r>
                  <a:rPr sz="2400" b="0">
                    <a:solidFill>
                      <a:srgbClr val="111827"/>
                    </a:solidFill>
                    <a:latin typeface="Arial"/>
                  </a:rPr>
                  <a:t> (coefficients </a:t>
                </a:r>
                <a:r>
                  <a:rPr lang="en-IN" sz="2400">
                    <a:solidFill>
                      <a:srgbClr val="111827"/>
                    </a:solidFill>
                    <a:latin typeface="Cambria Math" panose="02040503050406030204" pitchFamily="18" charset="0"/>
                  </a:rPr>
                  <a:t>$7,21,35$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$7:21:35=1:3:5$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9192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0</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1023</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9</m:t>
                    </m:r>
                  </m:oMath>
                </a14:m>
                <a:endParaRPr sz="2400">
                  <a:solidFill>
                    <a:srgbClr val="111827"/>
                  </a:solidFill>
                </a:endParaRPr>
              </a:p>
            </p:txBody>
          </p:sp>
        </mc:Choice>
        <mc:Fallback>
          <p:sp>
            <p:nvSpPr>
              <p:cNvPr id="4" name="Rounded Rectangle 3"/>
              <p:cNvSpPr/>
              <p:nvPr/>
            </p:nvSpPr>
            <p:spPr>
              <a:xfrm>
                <a:off x="731520" y="1280160"/>
                <a:ext cx="10725912" cy="19192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$\dfrac{1}{n+1}\binom nn+\dfrac1n\binom n{n-1}+\dots+\dfrac12\binom n1+\binom n0=\dfrac{1023}{10}$</a:t>
                </a:r>
                <a:r>
                  <a:rPr sz="2400" b="0">
                    <a:solidFill>
                      <a:srgbClr val="111827"/>
                    </a:solidFill>
                    <a:latin typeface="Arial"/>
                  </a:rPr>
                  <a:t>, then </a:t>
                </a:r>
                <a:r>
                  <a:rPr lang="en-IN" sz="2400">
                    <a:solidFill>
                      <a:srgbClr val="111827"/>
                    </a:solidFill>
                    <a:latin typeface="Cambria Math" panose="02040503050406030204" pitchFamily="18" charset="0"/>
                  </a:rPr>
                  <a:t>$n$</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$7$</a:t>
                </a:r>
                <a:r>
                  <a:rPr sz="2400" b="0">
                    <a:solidFill>
                      <a:srgbClr val="111827"/>
                    </a:solidFill>
                    <a:latin typeface="Arial"/>
                  </a:rPr>
                  <a:t>   (B) </a:t>
                </a:r>
                <a:r>
                  <a:rPr lang="en-IN" sz="2400">
                    <a:solidFill>
                      <a:srgbClr val="111827"/>
                    </a:solidFill>
                    <a:latin typeface="Cambria Math" panose="02040503050406030204" pitchFamily="18" charset="0"/>
                  </a:rPr>
                  <a:t>$6$</a:t>
                </a:r>
                <a:r>
                  <a:rPr sz="2400" b="0">
                    <a:solidFill>
                      <a:srgbClr val="111827"/>
                    </a:solidFill>
                    <a:latin typeface="Arial"/>
                  </a:rPr>
                  <a:t>   (C) </a:t>
                </a:r>
                <a:r>
                  <a:rPr lang="en-IN" sz="2400">
                    <a:solidFill>
                      <a:srgbClr val="111827"/>
                    </a:solidFill>
                    <a:latin typeface="Cambria Math" panose="02040503050406030204" pitchFamily="18" charset="0"/>
                  </a:rPr>
                  <a:t>$8$</a:t>
                </a:r>
                <a:r>
                  <a:rPr sz="2400" b="0">
                    <a:solidFill>
                      <a:srgbClr val="111827"/>
                    </a:solidFill>
                    <a:latin typeface="Arial"/>
                  </a:rPr>
                  <a:t>   (D) </a:t>
                </a:r>
                <a:r>
                  <a:rPr lang="en-IN" sz="2400">
                    <a:solidFill>
                      <a:srgbClr val="111827"/>
                    </a:solidFill>
                    <a:latin typeface="Cambria Math" panose="02040503050406030204" pitchFamily="18" charset="0"/>
                  </a:rPr>
                  <a:t>$9$</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427984"/>
                <a:ext cx="10725912" cy="20848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coefficient identities (sum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Choice>
        <mc:Fallback>
          <p:sp>
            <p:nvSpPr>
              <p:cNvPr id="5" name="Rectangle 4"/>
              <p:cNvSpPr/>
              <p:nvPr/>
            </p:nvSpPr>
            <p:spPr>
              <a:xfrm>
                <a:off x="731520" y="3427984"/>
                <a:ext cx="10725912" cy="20848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coefficient identities (sum of </a:t>
                </a:r>
                <a:r>
                  <a:rPr lang="en-IN" sz="2400">
                    <a:solidFill>
                      <a:srgbClr val="111827"/>
                    </a:solidFill>
                    <a:latin typeface="Cambria Math" panose="02040503050406030204" pitchFamily="18" charset="0"/>
                  </a:rPr>
                  <a:t>$\frac{1}{r+1}\binom nr$</a:t>
                </a:r>
                <a:r>
                  <a:rPr sz="2400" b="0">
                    <a:solidFill>
                      <a:srgbClr val="111827"/>
                    </a:solidFill>
                    <a:latin typeface="Arial"/>
                  </a:rPr>
                  <a: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Fallback>
      </mc:AlternateContent>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𝑟</m:t>
                            </m:r>
                          </m:den>
                        </m:f>
                      </m:e>
                    </m:d>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e>
                    </m:d>
                  </m:oMath>
                </a14:m>
                <a:r>
                  <a:rPr sz="2400" b="0">
                    <a:solidFill>
                      <a:srgbClr val="78350F"/>
                    </a:solidFill>
                    <a:latin typeface="Arial"/>
                  </a:rPr>
                  <a:t>, so the sum is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$\dfrac{1}{r+1}\binom nr=\dfrac{1}{n+1}\binom{n+1}{r+1}$</a:t>
                </a:r>
                <a:r>
                  <a:rPr sz="2400" b="0">
                    <a:solidFill>
                      <a:srgbClr val="78350F"/>
                    </a:solidFill>
                    <a:latin typeface="Arial"/>
                  </a:rPr>
                  <a:t>, so the sum is </a:t>
                </a:r>
                <a:r>
                  <a:rPr lang="en-IN" sz="2400">
                    <a:solidFill>
                      <a:srgbClr val="78350F"/>
                    </a:solidFill>
                    <a:latin typeface="Cambria Math" panose="02040503050406030204" pitchFamily="18" charset="0"/>
                  </a:rPr>
                  <a:t>$\dfrac{2^{n+1}-1}{n+1}$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sum is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becomes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sum is </a:t>
                </a:r>
                <a:r>
                  <a:rPr lang="en-IN" sz="2400">
                    <a:solidFill>
                      <a:srgbClr val="111827"/>
                    </a:solidFill>
                    <a:latin typeface="Cambria Math" panose="02040503050406030204" pitchFamily="18" charset="0"/>
                  </a:rPr>
                  <a:t>$\sum_{r=0}^{n}\dfrac{1}{r+1}\binom nr$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r>
                  <a:rPr lang="en-IN" sz="2400">
                    <a:solidFill>
                      <a:srgbClr val="111827"/>
                    </a:solidFill>
                    <a:latin typeface="Cambria Math" panose="02040503050406030204" pitchFamily="18" charset="0"/>
                  </a:rPr>
                  <a:t>$\binom{n+1}{r+1}=\dfrac{n+1}{r+1}\binom nr$</a:t>
                </a:r>
                <a:r>
                  <a:rPr sz="2400" b="0">
                    <a:solidFill>
                      <a:srgbClr val="111827"/>
                    </a:solidFill>
                    <a:latin typeface="Arial"/>
                  </a:rPr>
                  <a:t>, so </a:t>
                </a:r>
                <a:r>
                  <a:rPr lang="en-IN" sz="2400">
                    <a:solidFill>
                      <a:srgbClr val="111827"/>
                    </a:solidFill>
                    <a:latin typeface="Cambria Math" panose="02040503050406030204" pitchFamily="18" charset="0"/>
                  </a:rPr>
                  <a:t>$\dfrac{1}{r+1}\binom nr=\dfrac{1}{n+1}\binom{n+1}{r+1}$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becomes </a:t>
                </a:r>
                <a:r>
                  <a:rPr lang="en-IN" sz="2400">
                    <a:solidFill>
                      <a:srgbClr val="111827"/>
                    </a:solidFill>
                    <a:latin typeface="Cambria Math" panose="02040503050406030204" pitchFamily="18" charset="0"/>
                  </a:rPr>
                  <a:t>$\dfrac{1}{n+1}\left[\binom{n+1}{1}+\binom{n+1}{2}+\dots+\binom{n+1}{n+1}\right]$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1023</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$=\dfrac{2^{n+1}-1}{n+1}=\dfrac{1023}{10}=\dfrac{2^{10}-1}{10}$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$n+1=10$</a:t>
                </a:r>
                <a:r>
                  <a:rPr sz="2400" b="0">
                    <a:solidFill>
                      <a:srgbClr val="111827"/>
                    </a:solidFill>
                    <a:latin typeface="Arial"/>
                  </a:rPr>
                  <a:t> and </a:t>
                </a:r>
                <a:r>
                  <a:rPr lang="en-IN" sz="2400">
                    <a:solidFill>
                      <a:srgbClr val="111827"/>
                    </a:solidFill>
                    <a:latin typeface="Cambria Math" panose="02040503050406030204" pitchFamily="18" charset="0"/>
                  </a:rPr>
                  <a:t>$n=9$</a:t>
                </a:r>
                <a:r>
                  <a:rPr sz="2400" b="0">
                    <a:solidFill>
                      <a:srgbClr val="111827"/>
                    </a:solidFill>
                    <a:latin typeface="Arial"/>
                  </a:rPr>
                  <a:t>,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9</a:t>
            </a:r>
            <a:endParaRPr sz="2800">
              <a:solidFill>
                <a:srgbClr val="15803D"/>
              </a:solidFill>
            </a:endParaRP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Integrate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𝑟</m:t>
                            </m:r>
                          </m:den>
                        </m:f>
                      </m:e>
                    </m:d>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𝑟</m:t>
                        </m:r>
                      </m:sup>
                    </m:sSup>
                  </m:oMath>
                </a14:m>
                <a:r>
                  <a:rPr sz="2400" b="0">
                    <a:solidFill>
                      <a:srgbClr val="78350F"/>
                    </a:solidFill>
                    <a:latin typeface="Arial"/>
                  </a:rPr>
                  <a:t> from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to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Integrate </a:t>
                </a:r>
                <a:r>
                  <a:rPr lang="en-IN" sz="2400">
                    <a:solidFill>
                      <a:srgbClr val="78350F"/>
                    </a:solidFill>
                    <a:latin typeface="Cambria Math" panose="02040503050406030204" pitchFamily="18" charset="0"/>
                  </a:rPr>
                  <a:t>$(1+x)^n=\sum\binom nrx^r$</a:t>
                </a:r>
                <a:r>
                  <a:rPr sz="2400" b="0">
                    <a:solidFill>
                      <a:srgbClr val="78350F"/>
                    </a:solidFill>
                    <a:latin typeface="Arial"/>
                  </a:rPr>
                  <a:t> from </a:t>
                </a:r>
                <a:r>
                  <a:rPr lang="en-IN" sz="2400">
                    <a:solidFill>
                      <a:srgbClr val="78350F"/>
                    </a:solidFill>
                    <a:latin typeface="Cambria Math" panose="02040503050406030204" pitchFamily="18" charset="0"/>
                  </a:rPr>
                  <a:t>$0$</a:t>
                </a:r>
                <a:r>
                  <a:rPr sz="2400" b="0">
                    <a:solidFill>
                      <a:srgbClr val="78350F"/>
                    </a:solidFill>
                    <a:latin typeface="Arial"/>
                  </a:rPr>
                  <a:t> to </a:t>
                </a:r>
                <a:r>
                  <a:rPr lang="en-IN" sz="2400">
                    <a:solidFill>
                      <a:srgbClr val="78350F"/>
                    </a:solidFill>
                    <a:latin typeface="Cambria Math" panose="02040503050406030204" pitchFamily="18" charset="0"/>
                  </a:rPr>
                  <a:t>$1$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e>
                    </m:nary>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e>
                    </m:nary>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left side is </a:t>
                </a:r>
                <a14:m>
                  <m:oMath xmlns:m="http://schemas.openxmlformats.org/officeDocument/2006/math">
                    <m:sSub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e>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sSub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1023</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the left side is increasing in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$\int_0^1(1+x)^n\,dx=\sum_{r=0}^{n}\binom nr\int_0^1x^r\,dx=\sum_{r=0}^{n}\dfrac{1}{r+1}\binom nr$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left side is </a:t>
                </a:r>
                <a:r>
                  <a:rPr lang="en-IN" sz="2400">
                    <a:solidFill>
                      <a:srgbClr val="111827"/>
                    </a:solidFill>
                    <a:latin typeface="Cambria Math" panose="02040503050406030204" pitchFamily="18" charset="0"/>
                  </a:rPr>
                  <a:t>$\left[\dfrac{(1+x)^{n+1}}{n+1}\right]_0^1=\dfrac{2^{n+1}-1}{n+1}$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$\dfrac{2^{n+1}-1}{n+1}=\dfrac{1023}{10}=\dfrac{2^{10}-1}{10}$</a:t>
                </a:r>
                <a:r>
                  <a:rPr sz="2400" b="0">
                    <a:solidFill>
                      <a:srgbClr val="111827"/>
                    </a:solidFill>
                    <a:latin typeface="Arial"/>
                  </a:rPr>
                  <a:t>; the left side is increasing in </a:t>
                </a:r>
                <a:r>
                  <a:rPr lang="en-IN" sz="2400">
                    <a:solidFill>
                      <a:srgbClr val="111827"/>
                    </a:solidFill>
                    <a:latin typeface="Cambria Math" panose="02040503050406030204" pitchFamily="18" charset="0"/>
                  </a:rPr>
                  <a:t>$n$</a:t>
                </a:r>
                <a:r>
                  <a:rPr sz="2400" b="0">
                    <a:solidFill>
                      <a:srgbClr val="111827"/>
                    </a:solidFill>
                    <a:latin typeface="Arial"/>
                  </a:rPr>
                  <a:t>, so </a:t>
                </a:r>
                <a:r>
                  <a:rPr lang="en-IN" sz="2400">
                    <a:solidFill>
                      <a:srgbClr val="111827"/>
                    </a:solidFill>
                    <a:latin typeface="Cambria Math" panose="02040503050406030204" pitchFamily="18" charset="0"/>
                  </a:rPr>
                  <a:t>$n+1=10$</a:t>
                </a:r>
                <a:r>
                  <a:rPr sz="2400" b="0">
                    <a:solidFill>
                      <a:srgbClr val="111827"/>
                    </a:solidFill>
                    <a:latin typeface="Arial"/>
                  </a:rPr>
                  <a:t> and </a:t>
                </a:r>
                <a:r>
                  <a:rPr lang="en-IN" sz="2400">
                    <a:solidFill>
                      <a:srgbClr val="111827"/>
                    </a:solidFill>
                    <a:latin typeface="Cambria Math" panose="02040503050406030204" pitchFamily="18" charset="0"/>
                  </a:rPr>
                  <a:t>$n=9$</a:t>
                </a:r>
                <a:r>
                  <a:rPr sz="2400" b="0">
                    <a:solidFill>
                      <a:srgbClr val="111827"/>
                    </a:solidFill>
                    <a:latin typeface="Arial"/>
                  </a:rPr>
                  <a:t>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9</a:t>
            </a:r>
            <a:endParaRPr sz="2800">
              <a:solidFill>
                <a:srgbClr val="15803D"/>
              </a:solidFill>
            </a:endParaRP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(by integration or the identity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Alternating version: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or differentiating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is the standard way to get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factors.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0</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$\sum_{r=0}^{n}\frac{1}{r+1}\binom nr=\frac{2^{n+1}-1}{n+1}$</a:t>
                </a:r>
                <a:r>
                  <a:rPr sz="2400" b="0">
                    <a:solidFill>
                      <a:srgbClr val="111827"/>
                    </a:solidFill>
                    <a:latin typeface="Arial"/>
                  </a:rPr>
                  <a:t> (by integration or the identity </a:t>
                </a:r>
                <a:r>
                  <a:rPr lang="en-IN" sz="2400">
                    <a:solidFill>
                      <a:srgbClr val="111827"/>
                    </a:solidFill>
                    <a:latin typeface="Cambria Math" panose="02040503050406030204" pitchFamily="18" charset="0"/>
                  </a:rPr>
                  <a:t>$\frac{1}{r+1}\binom nr=\frac1{n+1}\binom{n+1}{r+1}$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Alternating version: </a:t>
                </a:r>
                <a:r>
                  <a:rPr lang="en-IN" sz="2400">
                    <a:solidFill>
                      <a:srgbClr val="111827"/>
                    </a:solidFill>
                    <a:latin typeface="Cambria Math" panose="02040503050406030204" pitchFamily="18" charset="0"/>
                  </a:rPr>
                  <a:t>$\sum_{r=0}^n\frac{(-1)^r}{r+1}\binom nr=\frac{1}{n+1}$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or differentiating </a:t>
                </a:r>
                <a:r>
                  <a:rPr lang="en-IN" sz="2400">
                    <a:solidFill>
                      <a:srgbClr val="111827"/>
                    </a:solidFill>
                    <a:latin typeface="Cambria Math" panose="02040503050406030204" pitchFamily="18" charset="0"/>
                  </a:rPr>
                  <a:t>$(1+x)^n$</a:t>
                </a:r>
                <a:r>
                  <a:rPr sz="2400" b="0">
                    <a:solidFill>
                      <a:srgbClr val="111827"/>
                    </a:solidFill>
                    <a:latin typeface="Arial"/>
                  </a:rPr>
                  <a:t> is the standard way to get </a:t>
                </a:r>
                <a:r>
                  <a:rPr lang="en-IN" sz="2400">
                    <a:solidFill>
                      <a:srgbClr val="111827"/>
                    </a:solidFill>
                    <a:latin typeface="Cambria Math" panose="02040503050406030204" pitchFamily="18" charset="0"/>
                  </a:rPr>
                  <a:t>$\frac{1}{r+1}$</a:t>
                </a:r>
                <a:r>
                  <a:rPr sz="2400" b="0">
                    <a:solidFill>
                      <a:srgbClr val="111827"/>
                    </a:solidFill>
                    <a:latin typeface="Arial"/>
                  </a:rPr>
                  <a:t> or </a:t>
                </a:r>
                <a:r>
                  <a:rPr lang="en-IN" sz="2400">
                    <a:solidFill>
                      <a:srgbClr val="111827"/>
                    </a:solidFill>
                    <a:latin typeface="Cambria Math" panose="02040503050406030204" pitchFamily="18" charset="0"/>
                  </a:rPr>
                  <a:t>$r$</a:t>
                </a:r>
                <a:r>
                  <a:rPr sz="2400" b="0">
                    <a:solidFill>
                      <a:srgbClr val="111827"/>
                    </a:solidFill>
                    <a:latin typeface="Arial"/>
                  </a:rPr>
                  <a:t> factors.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$n=2$</a:t>
                </a:r>
                <a:r>
                  <a:rPr sz="2400" b="0">
                    <a:solidFill>
                      <a:srgbClr val="111827"/>
                    </a:solidFill>
                    <a:latin typeface="Arial"/>
                  </a:rPr>
                  <a:t>: </a:t>
                </a:r>
                <a:r>
                  <a:rPr lang="en-IN" sz="2400">
                    <a:solidFill>
                      <a:srgbClr val="111827"/>
                    </a:solidFill>
                    <a:latin typeface="Cambria Math" panose="02040503050406030204" pitchFamily="18" charset="0"/>
                  </a:rPr>
                  <a:t>$\binom20+\frac12\binom21+\frac13\binom22=1+1+\frac13=\frac73=\frac{2^3-1}{3}$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the coefficients of the first </a:t>
                </a:r>
                <a14:m>
                  <m:oMath xmlns:m="http://schemas.openxmlformats.org/officeDocument/2006/math">
                    <m:r>
                      <a:rPr lang="en-IN" sz="2400" i="1">
                        <a:solidFill>
                          <a:srgbClr val="111827"/>
                        </a:solidFill>
                        <a:latin typeface="Cambria Math" panose="02040503050406030204" pitchFamily="18" charset="0"/>
                      </a:rPr>
                      <m:t>50</m:t>
                    </m:r>
                  </m:oMath>
                </a14:m>
                <a:r>
                  <a:rPr sz="2400" b="0">
                    <a:solidFill>
                      <a:srgbClr val="111827"/>
                    </a:solidFill>
                    <a:latin typeface="Arial"/>
                  </a:rPr>
                  <a:t> terms in the binomial expansion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100</m:t>
                        </m:r>
                      </m:sup>
                    </m:sSup>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49</m:t>
                            </m:r>
                          </m:den>
                        </m:f>
                      </m:e>
                    </m:d>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49</m:t>
                            </m:r>
                          </m:den>
                        </m:f>
                      </m:e>
                    </m:d>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101</m:t>
                            </m:r>
                          </m:num>
                          <m:den>
                            <m:r>
                              <a:rPr lang="en-IN" sz="2400" i="1">
                                <a:solidFill>
                                  <a:srgbClr val="111827"/>
                                </a:solidFill>
                                <a:latin typeface="Cambria Math" panose="02040503050406030204" pitchFamily="18" charset="0"/>
                              </a:rPr>
                              <m:t>50</m:t>
                            </m:r>
                          </m:den>
                        </m:f>
                      </m:e>
                    </m:d>
                  </m:oMath>
                </a14:m>
                <a:r>
                  <a:rPr sz="2400" b="0">
                    <a:solidFill>
                      <a:srgbClr val="111827"/>
                    </a:solidFill>
                    <a:latin typeface="Arial"/>
                  </a:rPr>
                  <a:t>   (D)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101</m:t>
                            </m:r>
                          </m:num>
                          <m:den>
                            <m:r>
                              <a:rPr lang="en-IN" sz="2400" i="1">
                                <a:solidFill>
                                  <a:srgbClr val="111827"/>
                                </a:solidFill>
                                <a:latin typeface="Cambria Math" panose="02040503050406030204" pitchFamily="18" charset="0"/>
                              </a:rPr>
                              <m:t>50</m:t>
                            </m:r>
                          </m:den>
                        </m:f>
                      </m:e>
                    </m:d>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the coefficients of the first </a:t>
                </a:r>
                <a:r>
                  <a:rPr lang="en-IN" sz="2400">
                    <a:solidFill>
                      <a:srgbClr val="111827"/>
                    </a:solidFill>
                    <a:latin typeface="Cambria Math" panose="02040503050406030204" pitchFamily="18" charset="0"/>
                  </a:rPr>
                  <a:t>$50$</a:t>
                </a:r>
                <a:r>
                  <a:rPr sz="2400" b="0">
                    <a:solidFill>
                      <a:srgbClr val="111827"/>
                    </a:solidFill>
                    <a:latin typeface="Arial"/>
                  </a:rPr>
                  <a:t> terms in the binomial expansion of </a:t>
                </a:r>
                <a:r>
                  <a:rPr lang="en-IN" sz="2400">
                    <a:solidFill>
                      <a:srgbClr val="111827"/>
                    </a:solidFill>
                    <a:latin typeface="Cambria Math" panose="02040503050406030204" pitchFamily="18" charset="0"/>
                  </a:rPr>
                  <a:t>$(1-x)^{100}$</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$\binom{99}{49}$</a:t>
                </a:r>
                <a:r>
                  <a:rPr sz="2400" b="0">
                    <a:solidFill>
                      <a:srgbClr val="111827"/>
                    </a:solidFill>
                    <a:latin typeface="Arial"/>
                  </a:rPr>
                  <a:t>   (B) </a:t>
                </a:r>
                <a:r>
                  <a:rPr lang="en-IN" sz="2400">
                    <a:solidFill>
                      <a:srgbClr val="111827"/>
                    </a:solidFill>
                    <a:latin typeface="Cambria Math" panose="02040503050406030204" pitchFamily="18" charset="0"/>
                  </a:rPr>
                  <a:t>$-\binom{99}{49}$</a:t>
                </a:r>
                <a:r>
                  <a:rPr sz="2400" b="0">
                    <a:solidFill>
                      <a:srgbClr val="111827"/>
                    </a:solidFill>
                    <a:latin typeface="Arial"/>
                  </a:rPr>
                  <a:t>   (C) </a:t>
                </a:r>
                <a:r>
                  <a:rPr lang="en-IN" sz="2400">
                    <a:solidFill>
                      <a:srgbClr val="111827"/>
                    </a:solidFill>
                    <a:latin typeface="Cambria Math" panose="02040503050406030204" pitchFamily="18" charset="0"/>
                  </a:rPr>
                  <a:t>$-\binom{101}{50}$</a:t>
                </a:r>
                <a:r>
                  <a:rPr sz="2400" b="0">
                    <a:solidFill>
                      <a:srgbClr val="111827"/>
                    </a:solidFill>
                    <a:latin typeface="Arial"/>
                  </a:rPr>
                  <a:t>   (D) </a:t>
                </a:r>
                <a:r>
                  <a:rPr lang="en-IN" sz="2400">
                    <a:solidFill>
                      <a:srgbClr val="111827"/>
                    </a:solidFill>
                    <a:latin typeface="Cambria Math" panose="02040503050406030204" pitchFamily="18" charset="0"/>
                  </a:rPr>
                  <a:t>$\binom{101}{50}$</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binomial coefficients of the first terms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t>
                </a:r>
                <a14:m>
                  <m:oMath xmlns:m="http://schemas.openxmlformats.org/officeDocument/2006/math">
                    <m:nary>
                      <m:naryPr>
                        <m:chr m:val="∑"/>
                        <m:limLoc m:val="undOvr"/>
                        <m:subHide m:val="off"/>
                        <m:supHide m:val="off"/>
                        <m:ctrlPr>
                          <a:rPr lang="en-IN" sz="2400" i="1">
                            <a:solidFill>
                              <a:srgbClr val="78350F"/>
                            </a:solidFill>
                            <a:latin typeface="Cambria Math" panose="02040503050406030204" pitchFamily="18" charset="0"/>
                          </a:rPr>
                        </m:ctrlPr>
                      </m:naryPr>
                      <m:sub>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sub>
                      <m:sup>
                        <m:r>
                          <a:rPr lang="en-IN" sz="2400" i="1">
                            <a:solidFill>
                              <a:srgbClr val="78350F"/>
                            </a:solidFill>
                            <a:latin typeface="Cambria Math" panose="02040503050406030204" pitchFamily="18" charset="0"/>
                          </a:rPr>
                          <m:t>100</m:t>
                        </m:r>
                      </m:sup>
                      <m:e>
                        <m:r>
                          <m:rPr>
                            <m:sty m:val="p"/>
                          </m:rPr>
                          <a:rPr lang="en-IN" sz="2400">
                            <a:solidFill>
                              <a:srgbClr val="78350F"/>
                            </a:solidFill>
                            <a:latin typeface="Cambria Math" panose="02040503050406030204" pitchFamily="18" charset="0"/>
                          </a:rPr>
                          <m:t>(</m:t>
                        </m:r>
                      </m:e>
                    </m:nary>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𝑘</m:t>
                        </m:r>
                      </m:sup>
                    </m:sSup>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100</m:t>
                            </m:r>
                          </m:num>
                          <m:den>
                            <m:r>
                              <a:rPr lang="en-IN" sz="2400" i="1">
                                <a:solidFill>
                                  <a:srgbClr val="78350F"/>
                                </a:solidFill>
                                <a:latin typeface="Cambria Math" panose="02040503050406030204" pitchFamily="18" charset="0"/>
                              </a:rPr>
                              <m:t>𝑘</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the symmetry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100</m:t>
                            </m:r>
                          </m:num>
                          <m:den>
                            <m:r>
                              <a:rPr lang="en-IN" sz="2400" i="1">
                                <a:solidFill>
                                  <a:srgbClr val="78350F"/>
                                </a:solidFill>
                                <a:latin typeface="Cambria Math" panose="02040503050406030204" pitchFamily="18" charset="0"/>
                              </a:rPr>
                              <m:t>𝑘</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100</m:t>
                            </m:r>
                          </m:num>
                          <m:den>
                            <m:r>
                              <a:rPr lang="en-IN" sz="2400" i="1">
                                <a:solidFill>
                                  <a:srgbClr val="78350F"/>
                                </a:solidFill>
                                <a:latin typeface="Cambria Math" panose="02040503050406030204" pitchFamily="18" charset="0"/>
                              </a:rPr>
                              <m:t>100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den>
                        </m:f>
                      </m:e>
                    </m:d>
                  </m:oMath>
                </a14:m>
                <a:r>
                  <a:rPr sz="2400" b="0">
                    <a:solidFill>
                      <a:srgbClr val="78350F"/>
                    </a:solidFill>
                    <a:latin typeface="Arial"/>
                  </a:rPr>
                  <a:t> halves it.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a:t>
                </a:r>
                <a:r>
                  <a:rPr lang="en-IN" sz="2400">
                    <a:solidFill>
                      <a:srgbClr val="78350F"/>
                    </a:solidFill>
                    <a:latin typeface="Cambria Math" panose="02040503050406030204" pitchFamily="18" charset="0"/>
                  </a:rPr>
                  <a:t>$x=1$</a:t>
                </a:r>
                <a:r>
                  <a:rPr sz="2400" b="0">
                    <a:solidFill>
                      <a:srgbClr val="78350F"/>
                    </a:solidFill>
                    <a:latin typeface="Arial"/>
                  </a:rPr>
                  <a:t>, </a:t>
                </a:r>
                <a:r>
                  <a:rPr lang="en-IN" sz="2400">
                    <a:solidFill>
                      <a:srgbClr val="78350F"/>
                    </a:solidFill>
                    <a:latin typeface="Cambria Math" panose="02040503050406030204" pitchFamily="18" charset="0"/>
                  </a:rPr>
                  <a:t>$\sum_{k=0}^{100}(-1)^k\binom{100}{k}=0$</a:t>
                </a:r>
                <a:r>
                  <a:rPr sz="2400" b="0">
                    <a:solidFill>
                      <a:srgbClr val="78350F"/>
                    </a:solidFill>
                    <a:latin typeface="Arial"/>
                  </a:rPr>
                  <a:t> and the symmetry </a:t>
                </a:r>
                <a:r>
                  <a:rPr lang="en-IN" sz="2400">
                    <a:solidFill>
                      <a:srgbClr val="78350F"/>
                    </a:solidFill>
                    <a:latin typeface="Cambria Math" panose="02040503050406030204" pitchFamily="18" charset="0"/>
                  </a:rPr>
                  <a:t>$\binom{100}{k}=\binom{100}{100-k}$</a:t>
                </a:r>
                <a:r>
                  <a:rPr sz="2400" b="0">
                    <a:solidFill>
                      <a:srgbClr val="78350F"/>
                    </a:solidFill>
                    <a:latin typeface="Arial"/>
                  </a:rPr>
                  <a:t> halves it.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100</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0</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1</m:t>
                            </m:r>
                          </m:den>
                        </m:f>
                      </m:e>
                    </m:d>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2</m:t>
                            </m:r>
                          </m:den>
                        </m:f>
                      </m:e>
                    </m:d>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100</m:t>
                            </m:r>
                          </m:den>
                        </m:f>
                      </m:e>
                    </m:d>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100</m:t>
                        </m:r>
                      </m:sup>
                    </m:sSup>
                  </m:oMath>
                </a14:m>
                <a:r>
                  <a:rPr sz="2400" b="0">
                    <a:solidFill>
                      <a:srgbClr val="111827"/>
                    </a:solidFill>
                    <a:latin typeface="Arial"/>
                  </a:rPr>
                  <a:t>; the required sum is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49</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100</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symmetry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so the terms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repeat the terms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in reverse order.</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$(1-x)^{100}=\binom{100}{0}-\binom{100}{1}x+\binom{100}{2}x^2-\dots+\binom{100}{100}x^{100}$</a:t>
                </a:r>
                <a:r>
                  <a:rPr sz="2400" b="0">
                    <a:solidFill>
                      <a:srgbClr val="111827"/>
                    </a:solidFill>
                    <a:latin typeface="Arial"/>
                  </a:rPr>
                  <a:t>; the required sum is </a:t>
                </a:r>
                <a:r>
                  <a:rPr lang="en-IN" sz="2400">
                    <a:solidFill>
                      <a:srgbClr val="111827"/>
                    </a:solidFill>
                    <a:latin typeface="Cambria Math" panose="02040503050406030204" pitchFamily="18" charset="0"/>
                  </a:rPr>
                  <a:t>$S=\sum_{k=0}^{49}(-1)^k\binom{100}{k}$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$\sum_{k=0}^{100}(-1)^k\binom{100}{k}=0$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symmetry </a:t>
                </a:r>
                <a:r>
                  <a:rPr lang="en-IN" sz="2400">
                    <a:solidFill>
                      <a:srgbClr val="111827"/>
                    </a:solidFill>
                    <a:latin typeface="Cambria Math" panose="02040503050406030204" pitchFamily="18" charset="0"/>
                  </a:rPr>
                  <a:t>$\binom{100}{k}=\binom{100}{100-k}$</a:t>
                </a:r>
                <a:r>
                  <a:rPr sz="2400" b="0">
                    <a:solidFill>
                      <a:srgbClr val="111827"/>
                    </a:solidFill>
                    <a:latin typeface="Arial"/>
                  </a:rPr>
                  <a:t> and </a:t>
                </a:r>
                <a:r>
                  <a:rPr lang="en-IN" sz="2400">
                    <a:solidFill>
                      <a:srgbClr val="111827"/>
                    </a:solidFill>
                    <a:latin typeface="Cambria Math" panose="02040503050406030204" pitchFamily="18" charset="0"/>
                  </a:rPr>
                  <a:t>$(-1)^{100-k}=(-1)^k$</a:t>
                </a:r>
                <a:r>
                  <a:rPr sz="2400" b="0">
                    <a:solidFill>
                      <a:srgbClr val="111827"/>
                    </a:solidFill>
                    <a:latin typeface="Arial"/>
                  </a:rPr>
                  <a:t>, so the terms </a:t>
                </a:r>
                <a:r>
                  <a:rPr lang="en-IN" sz="2400">
                    <a:solidFill>
                      <a:srgbClr val="111827"/>
                    </a:solidFill>
                    <a:latin typeface="Cambria Math" panose="02040503050406030204" pitchFamily="18" charset="0"/>
                  </a:rPr>
                  <a:t>$k=51,\dots,100$</a:t>
                </a:r>
                <a:r>
                  <a:rPr sz="2400" b="0">
                    <a:solidFill>
                      <a:srgbClr val="111827"/>
                    </a:solidFill>
                    <a:latin typeface="Arial"/>
                  </a:rPr>
                  <a:t> repeat the terms </a:t>
                </a:r>
                <a:r>
                  <a:rPr lang="en-IN" sz="2400">
                    <a:solidFill>
                      <a:srgbClr val="111827"/>
                    </a:solidFill>
                    <a:latin typeface="Cambria Math" panose="02040503050406030204" pitchFamily="18" charset="0"/>
                  </a:rPr>
                  <a:t>$k=49,\dots,0$</a:t>
                </a:r>
                <a:r>
                  <a:rPr sz="2400" b="0">
                    <a:solidFill>
                      <a:srgbClr val="111827"/>
                    </a:solidFill>
                    <a:latin typeface="Arial"/>
                  </a:rPr>
                  <a:t> in reverse order.</a:t>
                </a:r>
                <a:endParaRPr sz="2400">
                  <a:solidFill>
                    <a:srgbClr val="111827"/>
                  </a:solidFill>
                </a:endParaRPr>
              </a:p>
            </p:txBody>
          </p:sp>
        </mc:Fallback>
      </mc:AlternateContent>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50</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middle term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carries sign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50</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49</m:t>
                            </m:r>
                          </m:den>
                        </m:f>
                      </m:e>
                    </m:d>
                  </m:oMath>
                </a14:m>
                <a:r>
                  <a:rPr sz="2400" b="0">
                    <a:solidFill>
                      <a:srgbClr val="111827"/>
                    </a:solidFill>
                    <a:latin typeface="Arial"/>
                  </a:rPr>
                  <a:t>, since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50</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49</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50</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49</m:t>
                            </m:r>
                          </m:den>
                        </m:f>
                      </m:e>
                    </m:d>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$2S+\binom{100}{50}=0$</a:t>
                </a:r>
                <a:r>
                  <a:rPr sz="2400" b="0">
                    <a:solidFill>
                      <a:srgbClr val="111827"/>
                    </a:solidFill>
                    <a:latin typeface="Arial"/>
                  </a:rPr>
                  <a:t> (the middle term </a:t>
                </a:r>
                <a:r>
                  <a:rPr lang="en-IN" sz="2400">
                    <a:solidFill>
                      <a:srgbClr val="111827"/>
                    </a:solidFill>
                    <a:latin typeface="Cambria Math" panose="02040503050406030204" pitchFamily="18" charset="0"/>
                  </a:rPr>
                  <a:t>$k=50$</a:t>
                </a:r>
                <a:r>
                  <a:rPr sz="2400" b="0">
                    <a:solidFill>
                      <a:srgbClr val="111827"/>
                    </a:solidFill>
                    <a:latin typeface="Arial"/>
                  </a:rPr>
                  <a:t> carries sign </a:t>
                </a:r>
                <a:r>
                  <a:rPr lang="en-IN" sz="2400">
                    <a:solidFill>
                      <a:srgbClr val="111827"/>
                    </a:solidFill>
                    <a:latin typeface="Cambria Math" panose="02040503050406030204" pitchFamily="18" charset="0"/>
                  </a:rPr>
                  <a: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$S=-\dfrac12\binom{100}{50}=-\binom{99}{49}$</a:t>
                </a:r>
                <a:r>
                  <a:rPr sz="2400" b="0">
                    <a:solidFill>
                      <a:srgbClr val="111827"/>
                    </a:solidFill>
                    <a:latin typeface="Arial"/>
                  </a:rPr>
                  <a:t>, since </a:t>
                </a:r>
                <a:r>
                  <a:rPr lang="en-IN" sz="2400">
                    <a:solidFill>
                      <a:srgbClr val="111827"/>
                    </a:solidFill>
                    <a:latin typeface="Cambria Math" panose="02040503050406030204" pitchFamily="18" charset="0"/>
                  </a:rPr>
                  <a:t>$\binom{100}{50}=\binom{99}{49}+\binom{99}{50}=2\binom{99}{49}$</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m:rPr>
                        <m:sty m:val="p"/>
                      </m:rPr>
                      <a:rPr lang="en-IN" sz="2800">
                        <a:solidFill>
                          <a:srgbClr val="15803D"/>
                        </a:solidFill>
                        <a:latin typeface="Cambria Math" panose="02040503050406030204" pitchFamily="18" charset="0"/>
                      </a:rPr>
                      <m:t>−</m:t>
                    </m:r>
                    <m:d>
                      <m:dPr>
                        <m:begChr m:val="("/>
                        <m:sepChr m:val=""/>
                        <m:endChr m:val=")"/>
                        <m:grow/>
                        <m:ctrlPr>
                          <a:rPr lang="en-IN" sz="2800" i="1">
                            <a:solidFill>
                              <a:srgbClr val="15803D"/>
                            </a:solidFill>
                            <a:latin typeface="Cambria Math" panose="02040503050406030204" pitchFamily="18" charset="0"/>
                          </a:rPr>
                        </m:ctrlPr>
                      </m:dPr>
                      <m:e>
                        <m:f>
                          <m:fPr>
                            <m:type m:val="no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99</m:t>
                            </m:r>
                          </m:num>
                          <m:den>
                            <m:r>
                              <a:rPr lang="en-IN" sz="2800" i="1">
                                <a:solidFill>
                                  <a:srgbClr val="15803D"/>
                                </a:solidFill>
                                <a:latin typeface="Cambria Math" panose="02040503050406030204" pitchFamily="18" charset="0"/>
                              </a:rPr>
                              <m:t>49</m:t>
                            </m:r>
                          </m:den>
                        </m:f>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$-\binom{99}{49}$</a:t>
                </a:r>
                <a:endParaRPr sz="2800">
                  <a:solidFill>
                    <a:srgbClr val="15803D"/>
                  </a:solidFill>
                </a:endParaRPr>
              </a:p>
            </p:txBody>
          </p:sp>
        </mc:Fallback>
      </mc:AlternateContent>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100</m:t>
                            </m:r>
                          </m:num>
                          <m:den>
                            <m:r>
                              <a:rPr lang="en-IN" sz="2400" i="1">
                                <a:solidFill>
                                  <a:srgbClr val="78350F"/>
                                </a:solidFill>
                                <a:latin typeface="Cambria Math" panose="02040503050406030204" pitchFamily="18" charset="0"/>
                              </a:rPr>
                              <m:t>𝑘</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99</m:t>
                            </m:r>
                          </m:num>
                          <m:den>
                            <m:r>
                              <a:rPr lang="en-IN" sz="2400" i="1">
                                <a:solidFill>
                                  <a:srgbClr val="78350F"/>
                                </a:solidFill>
                                <a:latin typeface="Cambria Math" panose="02040503050406030204" pitchFamily="18" charset="0"/>
                              </a:rPr>
                              <m:t>𝑘</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99</m:t>
                            </m:r>
                          </m:num>
                          <m:den>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e>
                    </m:d>
                  </m:oMath>
                </a14:m>
                <a:r>
                  <a:rPr sz="2400" b="0">
                    <a:solidFill>
                      <a:srgbClr val="78350F"/>
                    </a:solidFill>
                    <a:latin typeface="Arial"/>
                  </a:rPr>
                  <a:t> and telescope the alternating sum.</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$\binom{100}{k}=\binom{99}{k}+\binom{99}{k-1}$</a:t>
                </a:r>
                <a:r>
                  <a:rPr sz="2400" b="0">
                    <a:solidFill>
                      <a:srgbClr val="78350F"/>
                    </a:solidFill>
                    <a:latin typeface="Arial"/>
                  </a:rPr>
                  <a:t> and telescope the alternating sum.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49</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e>
                    </m:d>
                  </m:oMath>
                </a14:m>
                <a:r>
                  <a:rPr sz="2400" b="0">
                    <a:solidFill>
                      <a:srgbClr val="111827"/>
                    </a:solidFill>
                    <a:latin typeface="Arial"/>
                  </a:rPr>
                  <a:t>, with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49</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49</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second sum put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48</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𝑗</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48</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𝑗</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terms cancel except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 of the first sum: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49</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49</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49</m:t>
                            </m:r>
                          </m:den>
                        </m:f>
                      </m:e>
                    </m:d>
                  </m:oMath>
                </a14:m>
                <a:r>
                  <a:rPr sz="2400" b="0">
                    <a:solidFill>
                      <a:srgbClr val="111827"/>
                    </a:solidFill>
                    <a:latin typeface="Arial"/>
                  </a:rPr>
                  <a:t> (same answer), option (B).</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$S=\sum_{k=0}^{49}(-1)^k\left[\binom{99}{k}+\binom{99}{k-1}\right]$</a:t>
                </a:r>
                <a:r>
                  <a:rPr sz="2400" b="0">
                    <a:solidFill>
                      <a:srgbClr val="111827"/>
                    </a:solidFill>
                    <a:latin typeface="Arial"/>
                  </a:rPr>
                  <a:t>, with </a:t>
                </a:r>
                <a:r>
                  <a:rPr lang="en-IN" sz="2400">
                    <a:solidFill>
                      <a:srgbClr val="111827"/>
                    </a:solidFill>
                    <a:latin typeface="Cambria Math" panose="02040503050406030204" pitchFamily="18" charset="0"/>
                  </a:rPr>
                  <a:t>$\binom{99}{-1}=0$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$=\sum_{k=0}^{49}(-1)^k\binom{99}{k}+\sum_{k=1}^{49}(-1)^k\binom{99}{k-1}$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second sum put </a:t>
                </a:r>
                <a:r>
                  <a:rPr lang="en-IN" sz="2400">
                    <a:solidFill>
                      <a:srgbClr val="111827"/>
                    </a:solidFill>
                    <a:latin typeface="Cambria Math" panose="02040503050406030204" pitchFamily="18" charset="0"/>
                  </a:rPr>
                  <a:t>$j=k-1$</a:t>
                </a:r>
                <a:r>
                  <a:rPr sz="2400" b="0">
                    <a:solidFill>
                      <a:srgbClr val="111827"/>
                    </a:solidFill>
                    <a:latin typeface="Arial"/>
                  </a:rPr>
                  <a:t>: </a:t>
                </a:r>
                <a:r>
                  <a:rPr lang="en-IN" sz="2400">
                    <a:solidFill>
                      <a:srgbClr val="111827"/>
                    </a:solidFill>
                    <a:latin typeface="Cambria Math" panose="02040503050406030204" pitchFamily="18" charset="0"/>
                  </a:rPr>
                  <a:t>$\sum_{j=0}^{48}(-1)^{j+1}\binom{99}{j}=-\sum_{j=0}^{48}(-1)^j\binom{99}{j}$</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terms cancel except </a:t>
                </a:r>
                <a:r>
                  <a:rPr lang="en-IN" sz="2400">
                    <a:solidFill>
                      <a:srgbClr val="111827"/>
                    </a:solidFill>
                    <a:latin typeface="Cambria Math" panose="02040503050406030204" pitchFamily="18" charset="0"/>
                  </a:rPr>
                  <a:t>$k=49$</a:t>
                </a:r>
                <a:r>
                  <a:rPr sz="2400" b="0">
                    <a:solidFill>
                      <a:srgbClr val="111827"/>
                    </a:solidFill>
                    <a:latin typeface="Arial"/>
                  </a:rPr>
                  <a:t> of the first sum: </a:t>
                </a:r>
                <a:r>
                  <a:rPr lang="en-IN" sz="2400">
                    <a:solidFill>
                      <a:srgbClr val="111827"/>
                    </a:solidFill>
                    <a:latin typeface="Cambria Math" panose="02040503050406030204" pitchFamily="18" charset="0"/>
                  </a:rPr>
                  <a:t>$S=(-1)^{49}\binom{99}{49}=-\binom{99}{49}$</a:t>
                </a:r>
                <a:r>
                  <a:rPr sz="2400" b="0">
                    <a:solidFill>
                      <a:srgbClr val="111827"/>
                    </a:solidFill>
                    <a:latin typeface="Arial"/>
                  </a:rPr>
                  <a:t> (same answer),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m:rPr>
                        <m:sty m:val="p"/>
                      </m:rPr>
                      <a:rPr lang="en-IN" sz="2800">
                        <a:solidFill>
                          <a:srgbClr val="15803D"/>
                        </a:solidFill>
                        <a:latin typeface="Cambria Math" panose="02040503050406030204" pitchFamily="18" charset="0"/>
                      </a:rPr>
                      <m:t>−</m:t>
                    </m:r>
                    <m:d>
                      <m:dPr>
                        <m:begChr m:val="("/>
                        <m:sepChr m:val=""/>
                        <m:endChr m:val=")"/>
                        <m:grow/>
                        <m:ctrlPr>
                          <a:rPr lang="en-IN" sz="2800" i="1">
                            <a:solidFill>
                              <a:srgbClr val="15803D"/>
                            </a:solidFill>
                            <a:latin typeface="Cambria Math" panose="02040503050406030204" pitchFamily="18" charset="0"/>
                          </a:rPr>
                        </m:ctrlPr>
                      </m:dPr>
                      <m:e>
                        <m:f>
                          <m:fPr>
                            <m:type m:val="no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99</m:t>
                            </m:r>
                          </m:num>
                          <m:den>
                            <m:r>
                              <a:rPr lang="en-IN" sz="2800" i="1">
                                <a:solidFill>
                                  <a:srgbClr val="15803D"/>
                                </a:solidFill>
                                <a:latin typeface="Cambria Math" panose="02040503050406030204" pitchFamily="18" charset="0"/>
                              </a:rPr>
                              <m:t>49</m:t>
                            </m:r>
                          </m:den>
                        </m:f>
                      </m:e>
                    </m:d>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$-\binom{99}{49}$</a:t>
                </a:r>
                <a:endParaRPr sz="2800">
                  <a:solidFill>
                    <a:srgbClr val="15803D"/>
                  </a:solidFill>
                </a:endParaRPr>
              </a:p>
            </p:txBody>
          </p:sp>
        </mc:Fallback>
      </mc:AlternateContent>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𝑚</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𝑚</m:t>
                            </m:r>
                          </m:den>
                        </m:f>
                      </m:e>
                    </m:d>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49</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the alternating sum of the first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row entries telescopes via Pascal's rule.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$\sum_{k=0}^{m}(-1)^k\binom nk=(-1)^m\binom{n-1}{m}$</a:t>
                </a:r>
                <a:r>
                  <a:rPr sz="2400" b="0">
                    <a:solidFill>
                      <a:srgbClr val="111827"/>
                    </a:solidFill>
                    <a:latin typeface="Arial"/>
                  </a:rPr>
                  <a:t> (for </a:t>
                </a:r>
                <a:r>
                  <a:rPr lang="en-IN" sz="2400">
                    <a:solidFill>
                      <a:srgbClr val="111827"/>
                    </a:solidFill>
                    <a:latin typeface="Cambria Math" panose="02040503050406030204" pitchFamily="18" charset="0"/>
                  </a:rPr>
                  <a:t>$n\ge1$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$n=100$</a:t>
                </a:r>
                <a:r>
                  <a:rPr sz="2400" b="0">
                    <a:solidFill>
                      <a:srgbClr val="111827"/>
                    </a:solidFill>
                    <a:latin typeface="Arial"/>
                  </a:rPr>
                  <a:t>, </a:t>
                </a:r>
                <a:r>
                  <a:rPr lang="en-IN" sz="2400">
                    <a:solidFill>
                      <a:srgbClr val="111827"/>
                    </a:solidFill>
                    <a:latin typeface="Cambria Math" panose="02040503050406030204" pitchFamily="18" charset="0"/>
                  </a:rPr>
                  <a:t>$m=49$</a:t>
                </a:r>
                <a:r>
                  <a:rPr sz="2400" b="0">
                    <a:solidFill>
                      <a:srgbClr val="111827"/>
                    </a:solidFill>
                    <a:latin typeface="Arial"/>
                  </a:rPr>
                  <a:t>: </a:t>
                </a:r>
                <a:r>
                  <a:rPr lang="en-IN" sz="2400">
                    <a:solidFill>
                      <a:srgbClr val="111827"/>
                    </a:solidFill>
                    <a:latin typeface="Cambria Math" panose="02040503050406030204" pitchFamily="18" charset="0"/>
                  </a:rPr>
                  <a:t>$-\binom{99}{49}$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the alternating sum of the first </a:t>
                </a:r>
                <a:r>
                  <a:rPr lang="en-IN" sz="2400">
                    <a:solidFill>
                      <a:srgbClr val="111827"/>
                    </a:solidFill>
                    <a:latin typeface="Cambria Math" panose="02040503050406030204" pitchFamily="18" charset="0"/>
                  </a:rPr>
                  <a:t>$m+1$</a:t>
                </a:r>
                <a:r>
                  <a:rPr sz="2400" b="0">
                    <a:solidFill>
                      <a:srgbClr val="111827"/>
                    </a:solidFill>
                    <a:latin typeface="Arial"/>
                  </a:rPr>
                  <a:t> row entries telescopes via Pascal's rule.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$m=1$</a:t>
                </a:r>
                <a:r>
                  <a:rPr sz="2400" b="0">
                    <a:solidFill>
                      <a:srgbClr val="111827"/>
                    </a:solidFill>
                    <a:latin typeface="Arial"/>
                  </a:rPr>
                  <a:t>: </a:t>
                </a:r>
                <a:r>
                  <a:rPr lang="en-IN" sz="2400">
                    <a:solidFill>
                      <a:srgbClr val="111827"/>
                    </a:solidFill>
                    <a:latin typeface="Cambria Math" panose="02040503050406030204" pitchFamily="18" charset="0"/>
                  </a:rPr>
                  <a:t>$1-4=-3=-\binom31$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fractional part of the number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2022</m:t>
                            </m:r>
                          </m:sup>
                        </m:sSup>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15</m:t>
                        </m:r>
                      </m:den>
                    </m:f>
                  </m:oMath>
                </a14:m>
                <a:endParaRPr sz="2400">
                  <a:solidFill>
                    <a:srgbClr val="111827"/>
                  </a:solidFill>
                </a:endParaRPr>
              </a:p>
            </p:txBody>
          </p:sp>
        </mc:Choice>
        <mc:Fallback>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fractional part of the number </a:t>
                </a:r>
                <a:r>
                  <a:rPr lang="en-IN" sz="2400">
                    <a:solidFill>
                      <a:srgbClr val="111827"/>
                    </a:solidFill>
                    <a:latin typeface="Cambria Math" panose="02040503050406030204" pitchFamily="18" charset="0"/>
                  </a:rPr>
                  <a:t>$\dfrac{4^{2022}}{15}$</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$\dfrac{4}{15}$</a:t>
                </a:r>
                <a:r>
                  <a:rPr sz="2400" b="0">
                    <a:solidFill>
                      <a:srgbClr val="111827"/>
                    </a:solidFill>
                    <a:latin typeface="Arial"/>
                  </a:rPr>
                  <a:t>   (B) </a:t>
                </a:r>
                <a:r>
                  <a:rPr lang="en-IN" sz="2400">
                    <a:solidFill>
                      <a:srgbClr val="111827"/>
                    </a:solidFill>
                    <a:latin typeface="Cambria Math" panose="02040503050406030204" pitchFamily="18" charset="0"/>
                  </a:rPr>
                  <a:t>$\dfrac{14}{15}$</a:t>
                </a:r>
                <a:r>
                  <a:rPr sz="2400" b="0">
                    <a:solidFill>
                      <a:srgbClr val="111827"/>
                    </a:solidFill>
                    <a:latin typeface="Arial"/>
                  </a:rPr>
                  <a:t>   (C) </a:t>
                </a:r>
                <a:r>
                  <a:rPr lang="en-IN" sz="2400">
                    <a:solidFill>
                      <a:srgbClr val="111827"/>
                    </a:solidFill>
                    <a:latin typeface="Cambria Math" panose="02040503050406030204" pitchFamily="18" charset="0"/>
                  </a:rPr>
                  <a:t>$\dfrac{1}{15}$</a:t>
                </a:r>
                <a:r>
                  <a:rPr sz="2400" b="0">
                    <a:solidFill>
                      <a:srgbClr val="111827"/>
                    </a:solidFill>
                    <a:latin typeface="Arial"/>
                  </a:rPr>
                  <a:t>   (D) </a:t>
                </a:r>
                <a:r>
                  <a:rPr lang="en-IN" sz="2400">
                    <a:solidFill>
                      <a:srgbClr val="111827"/>
                    </a:solidFill>
                    <a:latin typeface="Cambria Math" panose="02040503050406030204" pitchFamily="18" charset="0"/>
                  </a:rPr>
                  <a:t>$\dfrac{8}{15}$</a:t>
                </a:r>
                <a:endParaRPr sz="2400">
                  <a:solidFill>
                    <a:srgbClr val="111827"/>
                  </a:solidFill>
                </a:endParaRPr>
              </a:p>
            </p:txBody>
          </p:sp>
        </mc:Fallback>
      </mc:AlternateContent>
      <p:sp>
        <p:nvSpPr>
          <p:cNvPr id="5" name="Rectangle 4"/>
          <p:cNvSpPr/>
          <p:nvPr/>
        </p:nvSpPr>
        <p:spPr>
          <a:xfrm>
            <a:off x="731520" y="3909567"/>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Fractional part of a quotient using remainders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4</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16</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15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the remainder of </a:t>
                </a:r>
                <a14:m>
                  <m:oMath xmlns:m="http://schemas.openxmlformats.org/officeDocument/2006/math">
                    <m:sSup>
                      <m:e>
                        <m:r>
                          <a:rPr lang="en-IN" sz="2400" i="1">
                            <a:solidFill>
                              <a:srgbClr val="78350F"/>
                            </a:solidFill>
                            <a:latin typeface="Cambria Math" panose="02040503050406030204" pitchFamily="18" charset="0"/>
                          </a:rPr>
                          <m:t>4</m:t>
                        </m:r>
                      </m:e>
                      <m:sup>
                        <m:r>
                          <a:rPr lang="en-IN" sz="2400" i="1">
                            <a:solidFill>
                              <a:srgbClr val="78350F"/>
                            </a:solidFill>
                            <a:latin typeface="Cambria Math" panose="02040503050406030204" pitchFamily="18" charset="0"/>
                          </a:rPr>
                          <m:t>2022</m:t>
                        </m:r>
                      </m:sup>
                    </m:sSup>
                  </m:oMath>
                </a14:m>
                <a:r>
                  <a:rPr sz="2400" b="0">
                    <a:solidFill>
                      <a:srgbClr val="78350F"/>
                    </a:solidFill>
                    <a:latin typeface="Arial"/>
                  </a:rPr>
                  <a:t> on division by </a:t>
                </a:r>
                <a14:m>
                  <m:oMath xmlns:m="http://schemas.openxmlformats.org/officeDocument/2006/math">
                    <m:r>
                      <a:rPr lang="en-IN" sz="2400" i="1">
                        <a:solidFill>
                          <a:srgbClr val="78350F"/>
                        </a:solidFill>
                        <a:latin typeface="Cambria Math" panose="02040503050406030204" pitchFamily="18" charset="0"/>
                      </a:rPr>
                      <m:t>15</m:t>
                    </m:r>
                  </m:oMath>
                </a14:m>
                <a:r>
                  <a:rPr sz="2400" b="0">
                    <a:solidFill>
                      <a:srgbClr val="78350F"/>
                    </a:solidFill>
                    <a:latin typeface="Arial"/>
                  </a:rPr>
                  <a:t> is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$4^2=16\equiv1\pmod{15}$</a:t>
                </a:r>
                <a:r>
                  <a:rPr sz="2400" b="0">
                    <a:solidFill>
                      <a:srgbClr val="78350F"/>
                    </a:solidFill>
                    <a:latin typeface="Arial"/>
                  </a:rPr>
                  <a:t>, so the remainder of </a:t>
                </a:r>
                <a:r>
                  <a:rPr lang="en-IN" sz="2400">
                    <a:solidFill>
                      <a:srgbClr val="78350F"/>
                    </a:solidFill>
                    <a:latin typeface="Cambria Math" panose="02040503050406030204" pitchFamily="18" charset="0"/>
                  </a:rPr>
                  <a:t>$4^{2022}$</a:t>
                </a:r>
                <a:r>
                  <a:rPr sz="2400" b="0">
                    <a:solidFill>
                      <a:srgbClr val="78350F"/>
                    </a:solidFill>
                    <a:latin typeface="Arial"/>
                  </a:rPr>
                  <a:t> on division by </a:t>
                </a:r>
                <a:r>
                  <a:rPr lang="en-IN" sz="2400">
                    <a:solidFill>
                      <a:srgbClr val="78350F"/>
                    </a:solidFill>
                    <a:latin typeface="Cambria Math" panose="02040503050406030204" pitchFamily="18" charset="0"/>
                  </a:rPr>
                  <a:t>$15$</a:t>
                </a:r>
                <a:r>
                  <a:rPr sz="2400" b="0">
                    <a:solidFill>
                      <a:srgbClr val="78350F"/>
                    </a:solidFill>
                    <a:latin typeface="Arial"/>
                  </a:rPr>
                  <a:t> is </a:t>
                </a:r>
                <a:r>
                  <a:rPr lang="en-IN" sz="2400">
                    <a:solidFill>
                      <a:srgbClr val="78350F"/>
                    </a:solidFill>
                    <a:latin typeface="Cambria Math" panose="02040503050406030204" pitchFamily="18" charset="0"/>
                  </a:rPr>
                  <a:t>$1$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fractional part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the remainder of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on division by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fractional part of </a:t>
                </a:r>
                <a:r>
                  <a:rPr lang="en-IN" sz="2400">
                    <a:solidFill>
                      <a:srgbClr val="111827"/>
                    </a:solidFill>
                    <a:latin typeface="Cambria Math" panose="02040503050406030204" pitchFamily="18" charset="0"/>
                  </a:rPr>
                  <a:t>$\dfrac{N}{15}$</a:t>
                </a:r>
                <a:r>
                  <a:rPr sz="2400" b="0">
                    <a:solidFill>
                      <a:srgbClr val="111827"/>
                    </a:solidFill>
                    <a:latin typeface="Arial"/>
                  </a:rPr>
                  <a:t> is </a:t>
                </a:r>
                <a:r>
                  <a:rPr lang="en-IN" sz="2400">
                    <a:solidFill>
                      <a:srgbClr val="111827"/>
                    </a:solidFill>
                    <a:latin typeface="Cambria Math" panose="02040503050406030204" pitchFamily="18" charset="0"/>
                  </a:rPr>
                  <a:t>$\dfrac{R}{15}$</a:t>
                </a:r>
                <a:r>
                  <a:rPr sz="2400" b="0">
                    <a:solidFill>
                      <a:srgbClr val="111827"/>
                    </a:solidFill>
                    <a:latin typeface="Arial"/>
                  </a:rPr>
                  <a:t> where </a:t>
                </a:r>
                <a:r>
                  <a:rPr lang="en-IN" sz="2400">
                    <a:solidFill>
                      <a:srgbClr val="111827"/>
                    </a:solidFill>
                    <a:latin typeface="Cambria Math" panose="02040503050406030204" pitchFamily="18" charset="0"/>
                  </a:rPr>
                  <a:t>$R$</a:t>
                </a:r>
                <a:r>
                  <a:rPr sz="2400" b="0">
                    <a:solidFill>
                      <a:srgbClr val="111827"/>
                    </a:solidFill>
                    <a:latin typeface="Arial"/>
                  </a:rPr>
                  <a:t> is the remainder of </a:t>
                </a:r>
                <a:r>
                  <a:rPr lang="en-IN" sz="2400">
                    <a:solidFill>
                      <a:srgbClr val="111827"/>
                    </a:solidFill>
                    <a:latin typeface="Cambria Math" panose="02040503050406030204" pitchFamily="18" charset="0"/>
                  </a:rPr>
                  <a:t>$N$</a:t>
                </a:r>
                <a:r>
                  <a:rPr sz="2400" b="0">
                    <a:solidFill>
                      <a:srgbClr val="111827"/>
                    </a:solidFill>
                    <a:latin typeface="Arial"/>
                  </a:rPr>
                  <a:t> on division by </a:t>
                </a:r>
                <a:r>
                  <a:rPr lang="en-IN" sz="2400">
                    <a:solidFill>
                      <a:srgbClr val="111827"/>
                    </a:solidFill>
                    <a:latin typeface="Cambria Math" panose="02040503050406030204" pitchFamily="18" charset="0"/>
                  </a:rPr>
                  <a:t>$15$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$4\equiv4\pmod{15}$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$4^2=16\equiv1\pmod{15}$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2022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1011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1011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fractional part of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2022</m:t>
                            </m:r>
                          </m:sup>
                        </m:sSup>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$4^{2022}=\left(4^2\right)^{1011}\equiv1^{1011}=1\pmod{15}$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fractional part of </a:t>
                </a:r>
                <a:r>
                  <a:rPr lang="en-IN" sz="2400">
                    <a:solidFill>
                      <a:srgbClr val="111827"/>
                    </a:solidFill>
                    <a:latin typeface="Cambria Math" panose="02040503050406030204" pitchFamily="18" charset="0"/>
                  </a:rPr>
                  <a:t>$\dfrac{4^{2022}}{15}$</a:t>
                </a:r>
                <a:r>
                  <a:rPr sz="2400" b="0">
                    <a:solidFill>
                      <a:srgbClr val="111827"/>
                    </a:solidFill>
                    <a:latin typeface="Arial"/>
                  </a:rPr>
                  <a:t> is </a:t>
                </a:r>
                <a:r>
                  <a:rPr lang="en-IN" sz="2400">
                    <a:solidFill>
                      <a:srgbClr val="111827"/>
                    </a:solidFill>
                    <a:latin typeface="Cambria Math" panose="02040503050406030204" pitchFamily="18" charset="0"/>
                  </a:rPr>
                  <a:t>$\dfrac1{15}$</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15</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$\dfrac{1}{15}$</a:t>
                </a:r>
                <a:endParaRPr sz="2800">
                  <a:solidFill>
                    <a:srgbClr val="15803D"/>
                  </a:solidFill>
                </a:endParaRPr>
              </a:p>
            </p:txBody>
          </p:sp>
        </mc:Fallback>
      </mc:AlternateContent>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Fractional part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makes </a:t>
                </a:r>
                <a14:m>
                  <m:oMath xmlns:m="http://schemas.openxmlformats.org/officeDocument/2006/math">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Binomial form: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λ</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Fractional part of </a:t>
                </a:r>
                <a:r>
                  <a:rPr lang="en-IN" sz="2400">
                    <a:solidFill>
                      <a:srgbClr val="111827"/>
                    </a:solidFill>
                    <a:latin typeface="Cambria Math" panose="02040503050406030204" pitchFamily="18" charset="0"/>
                  </a:rPr>
                  <a:t>$\frac{N}{m}$</a:t>
                </a:r>
                <a:r>
                  <a:rPr sz="2400" b="0">
                    <a:solidFill>
                      <a:srgbClr val="111827"/>
                    </a:solidFill>
                    <a:latin typeface="Arial"/>
                  </a:rPr>
                  <a:t> is </a:t>
                </a:r>
                <a:r>
                  <a:rPr lang="en-IN" sz="2400">
                    <a:solidFill>
                      <a:srgbClr val="111827"/>
                    </a:solidFill>
                    <a:latin typeface="Cambria Math" panose="02040503050406030204" pitchFamily="18" charset="0"/>
                  </a:rPr>
                  <a:t>$\frac{N\bmod m}{m}$</a:t>
                </a:r>
                <a:r>
                  <a:rPr sz="2400" b="0">
                    <a:solidFill>
                      <a:srgbClr val="111827"/>
                    </a:solidFill>
                    <a:latin typeface="Arial"/>
                  </a:rPr>
                  <a:t> (for </a:t>
                </a:r>
                <a:r>
                  <a:rPr lang="en-IN" sz="2400">
                    <a:solidFill>
                      <a:srgbClr val="111827"/>
                    </a:solidFill>
                    <a:latin typeface="Cambria Math" panose="02040503050406030204" pitchFamily="18" charset="0"/>
                  </a:rPr>
                  <a:t>$N&gt;0$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$a^2\equiv1\pmod m$</a:t>
                </a:r>
                <a:r>
                  <a:rPr sz="2400" b="0">
                    <a:solidFill>
                      <a:srgbClr val="111827"/>
                    </a:solidFill>
                    <a:latin typeface="Arial"/>
                  </a:rPr>
                  <a:t> then </a:t>
                </a:r>
                <a:r>
                  <a:rPr lang="en-IN" sz="2400">
                    <a:solidFill>
                      <a:srgbClr val="111827"/>
                    </a:solidFill>
                    <a:latin typeface="Cambria Math" panose="02040503050406030204" pitchFamily="18" charset="0"/>
                  </a:rPr>
                  <a:t>$a^{2k}\equiv1$</a:t>
                </a:r>
                <a:r>
                  <a:rPr sz="2400" b="0">
                    <a:solidFill>
                      <a:srgbClr val="111827"/>
                    </a:solidFill>
                    <a:latin typeface="Arial"/>
                  </a:rPr>
                  <a:t>; </a:t>
                </a:r>
                <a:r>
                  <a:rPr lang="en-IN" sz="2400">
                    <a:solidFill>
                      <a:srgbClr val="111827"/>
                    </a:solidFill>
                    <a:latin typeface="Cambria Math" panose="02040503050406030204" pitchFamily="18" charset="0"/>
                  </a:rPr>
                  <a:t>$4^2=15+1$</a:t>
                </a:r>
                <a:r>
                  <a:rPr sz="2400" b="0">
                    <a:solidFill>
                      <a:srgbClr val="111827"/>
                    </a:solidFill>
                    <a:latin typeface="Arial"/>
                  </a:rPr>
                  <a:t> makes </a:t>
                </a:r>
                <a:r>
                  <a:rPr lang="en-IN" sz="2400">
                    <a:solidFill>
                      <a:srgbClr val="111827"/>
                    </a:solidFill>
                    <a:latin typeface="Cambria Math" panose="02040503050406030204" pitchFamily="18" charset="0"/>
                  </a:rPr>
                  <a:t>$4^{2k}\equiv1\pmod{15}$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Binomial form: </a:t>
                </a:r>
                <a:r>
                  <a:rPr lang="en-IN" sz="2400">
                    <a:solidFill>
                      <a:srgbClr val="111827"/>
                    </a:solidFill>
                    <a:latin typeface="Cambria Math" panose="02040503050406030204" pitchFamily="18" charset="0"/>
                  </a:rPr>
                  <a:t>$(1+m)^n=1+m\lambda$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$4^2=16=15+1$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9192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26</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80</m:t>
                        </m:r>
                      </m:num>
                      <m:den>
                        <m:r>
                          <a:rPr lang="en-IN" sz="2400" i="1">
                            <a:solidFill>
                              <a:srgbClr val="111827"/>
                            </a:solidFill>
                            <a:latin typeface="Cambria Math" panose="02040503050406030204" pitchFamily="18" charset="0"/>
                          </a:rPr>
                          <m:t>9</m:t>
                        </m:r>
                      </m:den>
                    </m:f>
                  </m:oMath>
                </a14:m>
                <a:endParaRPr sz="2400">
                  <a:solidFill>
                    <a:srgbClr val="111827"/>
                  </a:solidFill>
                </a:endParaRPr>
              </a:p>
            </p:txBody>
          </p:sp>
        </mc:Choice>
        <mc:Fallback>
          <p:sp>
            <p:nvSpPr>
              <p:cNvPr id="4" name="Rounded Rectangle 3"/>
              <p:cNvSpPr/>
              <p:nvPr/>
            </p:nvSpPr>
            <p:spPr>
              <a:xfrm>
                <a:off x="731520" y="1280160"/>
                <a:ext cx="10725912" cy="19192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$x^{5}$</a:t>
                </a:r>
                <a:r>
                  <a:rPr sz="2400" b="0">
                    <a:solidFill>
                      <a:srgbClr val="111827"/>
                    </a:solidFill>
                    <a:latin typeface="Arial"/>
                  </a:rPr>
                  <a:t> in the expansion of </a:t>
                </a:r>
                <a:r>
                  <a:rPr lang="en-IN" sz="2400">
                    <a:solidFill>
                      <a:srgbClr val="111827"/>
                    </a:solidFill>
                    <a:latin typeface="Cambria Math" panose="02040503050406030204" pitchFamily="18" charset="0"/>
                  </a:rPr>
                  <a:t>$\left(2x^3-\dfrac{1}{3x^2}\right)^{5}$</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$9$</a:t>
                </a:r>
                <a:r>
                  <a:rPr sz="2400" b="0">
                    <a:solidFill>
                      <a:srgbClr val="111827"/>
                    </a:solidFill>
                    <a:latin typeface="Arial"/>
                  </a:rPr>
                  <a:t>   (B) </a:t>
                </a:r>
                <a:r>
                  <a:rPr lang="en-IN" sz="2400">
                    <a:solidFill>
                      <a:srgbClr val="111827"/>
                    </a:solidFill>
                    <a:latin typeface="Cambria Math" panose="02040503050406030204" pitchFamily="18" charset="0"/>
                  </a:rPr>
                  <a:t>$8$</a:t>
                </a:r>
                <a:r>
                  <a:rPr sz="2400" b="0">
                    <a:solidFill>
                      <a:srgbClr val="111827"/>
                    </a:solidFill>
                    <a:latin typeface="Arial"/>
                  </a:rPr>
                  <a:t>   (C) </a:t>
                </a:r>
                <a:r>
                  <a:rPr lang="en-IN" sz="2400">
                    <a:solidFill>
                      <a:srgbClr val="111827"/>
                    </a:solidFill>
                    <a:latin typeface="Cambria Math" panose="02040503050406030204" pitchFamily="18" charset="0"/>
                  </a:rPr>
                  <a:t>$\dfrac{26}{3}$</a:t>
                </a:r>
                <a:r>
                  <a:rPr sz="2400" b="0">
                    <a:solidFill>
                      <a:srgbClr val="111827"/>
                    </a:solidFill>
                    <a:latin typeface="Arial"/>
                  </a:rPr>
                  <a:t>   (D) </a:t>
                </a:r>
                <a:r>
                  <a:rPr lang="en-IN" sz="2400">
                    <a:solidFill>
                      <a:srgbClr val="111827"/>
                    </a:solidFill>
                    <a:latin typeface="Cambria Math" panose="02040503050406030204" pitchFamily="18" charset="0"/>
                  </a:rPr>
                  <a:t>$\dfrac{80}{9}$</a:t>
                </a:r>
                <a:endParaRPr sz="2400">
                  <a:solidFill>
                    <a:srgbClr val="111827"/>
                  </a:solidFill>
                </a:endParaRPr>
              </a:p>
            </p:txBody>
          </p:sp>
        </mc:Fallback>
      </mc:AlternateContent>
      <p:sp>
        <p:nvSpPr>
          <p:cNvPr id="5" name="Rectangle 4"/>
          <p:cNvSpPr/>
          <p:nvPr/>
        </p:nvSpPr>
        <p:spPr>
          <a:xfrm>
            <a:off x="731520" y="3427984"/>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 of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is </a:t>
                </a:r>
                <a14:m>
                  <m:oMath xmlns:m="http://schemas.openxmlformats.org/officeDocument/2006/math">
                    <m:r>
                      <a:rPr lang="en-IN" sz="2400" i="1">
                        <a:solidFill>
                          <a:srgbClr val="78350F"/>
                        </a:solidFill>
                        <a:latin typeface="Cambria Math" panose="02040503050406030204" pitchFamily="18" charset="0"/>
                      </a:rPr>
                      <m:t>15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a:rPr lang="en-IN" sz="2400" i="1">
                        <a:solidFill>
                          <a:srgbClr val="78350F"/>
                        </a:solidFill>
                        <a:latin typeface="Cambria Math" panose="02040503050406030204" pitchFamily="18" charset="0"/>
                      </a:rPr>
                      <m:t>𝑟</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 of </a:t>
                </a:r>
                <a:r>
                  <a:rPr lang="en-IN" sz="2400">
                    <a:solidFill>
                      <a:srgbClr val="78350F"/>
                    </a:solidFill>
                    <a:latin typeface="Cambria Math" panose="02040503050406030204" pitchFamily="18" charset="0"/>
                  </a:rPr>
                  <a:t>$x$</a:t>
                </a:r>
                <a:r>
                  <a:rPr sz="2400" b="0">
                    <a:solidFill>
                      <a:srgbClr val="78350F"/>
                    </a:solidFill>
                    <a:latin typeface="Arial"/>
                  </a:rPr>
                  <a:t> is </a:t>
                </a:r>
                <a:r>
                  <a:rPr lang="en-IN" sz="2400">
                    <a:solidFill>
                      <a:srgbClr val="78350F"/>
                    </a:solidFill>
                    <a:latin typeface="Cambria Math" panose="02040503050406030204" pitchFamily="18" charset="0"/>
                  </a:rPr>
                  <a:t>$15-5r$</a:t>
                </a:r>
                <a:r>
                  <a:rPr sz="2400" b="0">
                    <a:solidFill>
                      <a:srgbClr val="78350F"/>
                    </a:solidFill>
                    <a:latin typeface="Arial"/>
                  </a:rPr>
                  <a:t>, so </a:t>
                </a:r>
                <a:r>
                  <a:rPr lang="en-IN" sz="2400">
                    <a:solidFill>
                      <a:srgbClr val="78350F"/>
                    </a:solidFill>
                    <a:latin typeface="Cambria Math" panose="02040503050406030204" pitchFamily="18" charset="0"/>
                  </a:rPr>
                  <a:t>$r=2$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𝑟</m:t>
                            </m:r>
                          </m:den>
                        </m:f>
                      </m:e>
                    </m:d>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sSup>
                          <m:e>
                            <m:r>
                              <a:rPr lang="en-IN" sz="2400" i="1">
                                <a:solidFill>
                                  <a:srgbClr val="111827"/>
                                </a:solidFill>
                                <a:latin typeface="Cambria Math" panose="02040503050406030204" pitchFamily="18" charset="0"/>
                              </a:rPr>
                              <m:t>23</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sup>
                    </m:sSup>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80</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option (D).</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$T_{r+1}=\binom5r\left(-\dfrac1{3x^2}\right)^r(2x^3)^{5-r}=\binom5r(-1)^r3^{-r}2^{5-r}x^{15-5r}$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$x^5$</a:t>
                </a:r>
                <a:r>
                  <a:rPr sz="2400" b="0">
                    <a:solidFill>
                      <a:srgbClr val="111827"/>
                    </a:solidFill>
                    <a:latin typeface="Arial"/>
                  </a:rPr>
                  <a:t>: </a:t>
                </a:r>
                <a:r>
                  <a:rPr lang="en-IN" sz="2400">
                    <a:solidFill>
                      <a:srgbClr val="111827"/>
                    </a:solidFill>
                    <a:latin typeface="Cambria Math" panose="02040503050406030204" pitchFamily="18" charset="0"/>
                  </a:rPr>
                  <a:t>$15-5r=5$</a:t>
                </a:r>
                <a:r>
                  <a:rPr sz="2400" b="0">
                    <a:solidFill>
                      <a:srgbClr val="111827"/>
                    </a:solidFill>
                    <a:latin typeface="Arial"/>
                  </a:rPr>
                  <a:t>, so </a:t>
                </a:r>
                <a:r>
                  <a:rPr lang="en-IN" sz="2400">
                    <a:solidFill>
                      <a:srgbClr val="111827"/>
                    </a:solidFill>
                    <a:latin typeface="Cambria Math" panose="02040503050406030204" pitchFamily="18" charset="0"/>
                  </a:rPr>
                  <a:t>$r=2$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a:t>
                </a:r>
                <a:r>
                  <a:rPr lang="en-IN" sz="2400">
                    <a:solidFill>
                      <a:srgbClr val="111827"/>
                    </a:solidFill>
                    <a:latin typeface="Cambria Math" panose="02040503050406030204" pitchFamily="18" charset="0"/>
                  </a:rPr>
                  <a:t>$=\binom52(-1)^23^{-2}2^{3}$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$=10\cdot\dfrac19\cdot8=\dfrac{80}{9}$</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80</m:t>
                        </m:r>
                      </m:num>
                      <m:den>
                        <m:r>
                          <a:rPr lang="en-IN" sz="2800" i="1">
                            <a:solidFill>
                              <a:srgbClr val="15803D"/>
                            </a:solidFill>
                            <a:latin typeface="Cambria Math" panose="02040503050406030204" pitchFamily="18" charset="0"/>
                          </a:rPr>
                          <m:t>9</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$\dfrac{80}{9}$</a:t>
                </a:r>
                <a:endParaRPr sz="2800">
                  <a:solidFill>
                    <a:srgbClr val="15803D"/>
                  </a:solidFill>
                </a:endParaRPr>
              </a:p>
            </p:txBody>
          </p:sp>
        </mc:Fallback>
      </mc:AlternateContent>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Clear the denominator: </a:t>
                </a:r>
                <a14:m>
                  <m:oMath xmlns:m="http://schemas.openxmlformats.org/officeDocument/2006/math">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6</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5</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Clear the denominator: </a:t>
                </a:r>
                <a:r>
                  <a:rPr lang="en-IN" sz="2400">
                    <a:solidFill>
                      <a:srgbClr val="78350F"/>
                    </a:solidFill>
                    <a:latin typeface="Cambria Math" panose="02040503050406030204" pitchFamily="18" charset="0"/>
                  </a:rPr>
                  <a:t>$2x^3-\frac1{3x^2}=\frac{6x^5-1}{3x^2}$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num>
                      <m:den>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5</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5</m:t>
                            </m:r>
                          </m:sup>
                        </m:sSup>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coefficient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e>
                    </m: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2160</m:t>
                        </m:r>
                      </m:num>
                      <m:den>
                        <m:r>
                          <a:rPr lang="en-IN" sz="2400" i="1">
                            <a:solidFill>
                              <a:srgbClr val="111827"/>
                            </a:solidFill>
                            <a:latin typeface="Cambria Math" panose="02040503050406030204" pitchFamily="18" charset="0"/>
                          </a:rPr>
                          <m:t>243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80</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option (D) (same answer).</a:t>
                </a:r>
                <a:endParaRPr sz="2400">
                  <a:solidFill>
                    <a:srgbClr val="111827"/>
                  </a:solidFill>
                </a:endParaRPr>
              </a:p>
            </p:txBody>
          </p:sp>
        </mc:Choice>
        <mc:Fallback>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$\left(2x^3-\dfrac1{3x^2}\right)^5=\dfrac{(6x^5-1)^5}{3^5x^{10}}$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$x^5$</a:t>
                </a:r>
                <a:r>
                  <a:rPr sz="2400" b="0">
                    <a:solidFill>
                      <a:srgbClr val="111827"/>
                    </a:solidFill>
                    <a:latin typeface="Arial"/>
                  </a:rPr>
                  <a:t> is </a:t>
                </a:r>
                <a:r>
                  <a:rPr lang="en-IN" sz="2400">
                    <a:solidFill>
                      <a:srgbClr val="111827"/>
                    </a:solidFill>
                    <a:latin typeface="Cambria Math" panose="02040503050406030204" pitchFamily="18" charset="0"/>
                  </a:rPr>
                  <a:t>$\dfrac1{3^5}\times$</a:t>
                </a:r>
                <a:r>
                  <a:rPr sz="2400" b="0">
                    <a:solidFill>
                      <a:srgbClr val="111827"/>
                    </a:solidFill>
                    <a:latin typeface="Arial"/>
                  </a:rPr>
                  <a:t> coefficient of </a:t>
                </a:r>
                <a:r>
                  <a:rPr lang="en-IN" sz="2400">
                    <a:solidFill>
                      <a:srgbClr val="111827"/>
                    </a:solidFill>
                    <a:latin typeface="Cambria Math" panose="02040503050406030204" pitchFamily="18" charset="0"/>
                  </a:rPr>
                  <a:t>$x^{15}=(x^5)^3$</a:t>
                </a:r>
                <a:r>
                  <a:rPr sz="2400" b="0">
                    <a:solidFill>
                      <a:srgbClr val="111827"/>
                    </a:solidFill>
                    <a:latin typeface="Arial"/>
                  </a:rPr>
                  <a:t> in </a:t>
                </a:r>
                <a:r>
                  <a:rPr lang="en-IN" sz="2400">
                    <a:solidFill>
                      <a:srgbClr val="111827"/>
                    </a:solidFill>
                    <a:latin typeface="Cambria Math" panose="02040503050406030204" pitchFamily="18" charset="0"/>
                  </a:rPr>
                  <a:t>$(6x^5-1)^5$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coefficient is </a:t>
                </a:r>
                <a:r>
                  <a:rPr lang="en-IN" sz="2400">
                    <a:solidFill>
                      <a:srgbClr val="111827"/>
                    </a:solidFill>
                    <a:latin typeface="Cambria Math" panose="02040503050406030204" pitchFamily="18" charset="0"/>
                  </a:rPr>
                  <a:t>$\binom53\,6^3\,(-1)^2=10\cdot216=2160$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$\dfrac{2160}{243}=\dfrac{80}{9}$</a:t>
                </a:r>
                <a:r>
                  <a:rPr sz="2400" b="0">
                    <a:solidFill>
                      <a:srgbClr val="111827"/>
                    </a:solidFill>
                    <a:latin typeface="Arial"/>
                  </a:rPr>
                  <a:t>, option (D)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80</m:t>
                        </m:r>
                      </m:num>
                      <m:den>
                        <m:r>
                          <a:rPr lang="en-IN" sz="2800" i="1">
                            <a:solidFill>
                              <a:srgbClr val="15803D"/>
                            </a:solidFill>
                            <a:latin typeface="Cambria Math" panose="02040503050406030204" pitchFamily="18" charset="0"/>
                          </a:rPr>
                          <m:t>9</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$\dfrac{80}{9}$</a:t>
                </a:r>
                <a:endParaRPr sz="2800">
                  <a:solidFill>
                    <a:srgbClr val="15803D"/>
                  </a:solidFill>
                </a:endParaRPr>
              </a:p>
            </p:txBody>
          </p:sp>
        </mc:Fallback>
      </mc:AlternateContent>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𝑎</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the exponent of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𝑟</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Keep track of the sign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(even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check on size: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option (D) is the only fraction with denominator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$(px^a+qx^{-b})^n$</a:t>
                </a:r>
                <a:r>
                  <a:rPr sz="2400" b="0">
                    <a:solidFill>
                      <a:srgbClr val="111827"/>
                    </a:solidFill>
                    <a:latin typeface="Arial"/>
                  </a:rPr>
                  <a:t> the exponent of </a:t>
                </a:r>
                <a:r>
                  <a:rPr lang="en-IN" sz="2400">
                    <a:solidFill>
                      <a:srgbClr val="111827"/>
                    </a:solidFill>
                    <a:latin typeface="Cambria Math" panose="02040503050406030204" pitchFamily="18" charset="0"/>
                  </a:rPr>
                  <a:t>$T_{r+1}$</a:t>
                </a:r>
                <a:r>
                  <a:rPr sz="2400" b="0">
                    <a:solidFill>
                      <a:srgbClr val="111827"/>
                    </a:solidFill>
                    <a:latin typeface="Arial"/>
                  </a:rPr>
                  <a:t> is </a:t>
                </a:r>
                <a:r>
                  <a:rPr lang="en-IN" sz="2400">
                    <a:solidFill>
                      <a:srgbClr val="111827"/>
                    </a:solidFill>
                    <a:latin typeface="Cambria Math" panose="02040503050406030204" pitchFamily="18" charset="0"/>
                  </a:rPr>
                  <a:t>$a(n-r)-br$</a:t>
                </a:r>
                <a:r>
                  <a:rPr sz="2400" b="0">
                    <a:solidFill>
                      <a:srgbClr val="111827"/>
                    </a:solidFill>
                    <a:latin typeface="Arial"/>
                  </a:rPr>
                  <a:t>; here </a:t>
                </a:r>
                <a:r>
                  <a:rPr lang="en-IN" sz="2400">
                    <a:solidFill>
                      <a:srgbClr val="111827"/>
                    </a:solidFill>
                    <a:latin typeface="Cambria Math" panose="02040503050406030204" pitchFamily="18" charset="0"/>
                  </a:rPr>
                  <a:t>$3(5-r)-2r=15-5r$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Keep track of the sign </a:t>
                </a:r>
                <a:r>
                  <a:rPr lang="en-IN" sz="2400">
                    <a:solidFill>
                      <a:srgbClr val="111827"/>
                    </a:solidFill>
                    <a:latin typeface="Cambria Math" panose="02040503050406030204" pitchFamily="18" charset="0"/>
                  </a:rPr>
                  <a:t>$(-1)^r$</a:t>
                </a:r>
                <a:r>
                  <a:rPr sz="2400" b="0">
                    <a:solidFill>
                      <a:srgbClr val="111827"/>
                    </a:solidFill>
                    <a:latin typeface="Arial"/>
                  </a:rPr>
                  <a:t> (even </a:t>
                </a:r>
                <a:r>
                  <a:rPr lang="en-IN" sz="2400">
                    <a:solidFill>
                      <a:srgbClr val="111827"/>
                    </a:solidFill>
                    <a:latin typeface="Cambria Math" panose="02040503050406030204" pitchFamily="18" charset="0"/>
                  </a:rPr>
                  <a:t>$r$</a:t>
                </a:r>
                <a:r>
                  <a:rPr sz="2400" b="0">
                    <a:solidFill>
                      <a:srgbClr val="111827"/>
                    </a:solidFill>
                    <a:latin typeface="Arial"/>
                  </a:rPr>
                  <a:t> gives </a:t>
                </a:r>
                <a:r>
                  <a:rPr lang="en-IN" sz="2400">
                    <a:solidFill>
                      <a:srgbClr val="111827"/>
                    </a:solidFill>
                    <a:latin typeface="Cambria Math" panose="02040503050406030204" pitchFamily="18" charset="0"/>
                  </a:rPr>
                  <a: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check on size: </a:t>
                </a:r>
                <a:r>
                  <a:rPr lang="en-IN" sz="2400">
                    <a:solidFill>
                      <a:srgbClr val="111827"/>
                    </a:solidFill>
                    <a:latin typeface="Cambria Math" panose="02040503050406030204" pitchFamily="18" charset="0"/>
                  </a:rPr>
                  <a:t>$\binom52\cdot2^3\cdot3^{-2}=10\cdot8/9$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option (D) is the only fraction with denominator </a:t>
                </a:r>
                <a:r>
                  <a:rPr lang="en-IN" sz="2400">
                    <a:solidFill>
                      <a:srgbClr val="111827"/>
                    </a:solidFill>
                    <a:latin typeface="Cambria Math" panose="02040503050406030204" pitchFamily="18" charset="0"/>
                  </a:rPr>
                  <a:t>$9$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20</m:t>
                        </m:r>
                      </m:sup>
                      <m:e>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𝑖</m:t>
                            </m:r>
                          </m:sub>
                        </m:sSub>
                      </m:e>
                    </m:nary>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𝑖</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If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15</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$\left(a+bx+cx^2\right)^{10}=\sum_{i=0}^{20}p_ix^i$</a:t>
                </a:r>
                <a:r>
                  <a:rPr sz="2400" b="0">
                    <a:solidFill>
                      <a:srgbClr val="111827"/>
                    </a:solidFill>
                    <a:latin typeface="Arial"/>
                  </a:rPr>
                  <a:t>, </a:t>
                </a:r>
                <a:r>
                  <a:rPr lang="en-IN" sz="2400">
                    <a:solidFill>
                      <a:srgbClr val="111827"/>
                    </a:solidFill>
                    <a:latin typeface="Cambria Math" panose="02040503050406030204" pitchFamily="18" charset="0"/>
                  </a:rPr>
                  <a:t>$a,b,c\in\mathbb N$</a:t>
                </a:r>
                <a:r>
                  <a:rPr sz="2400" b="0">
                    <a:solidFill>
                      <a:srgbClr val="111827"/>
                    </a:solidFill>
                    <a:latin typeface="Arial"/>
                  </a:rPr>
                  <a:t>. If </a:t>
                </a:r>
                <a:r>
                  <a:rPr lang="en-IN" sz="2400">
                    <a:solidFill>
                      <a:srgbClr val="111827"/>
                    </a:solidFill>
                    <a:latin typeface="Cambria Math" panose="02040503050406030204" pitchFamily="18" charset="0"/>
                  </a:rPr>
                  <a:t>$p_1=20$</a:t>
                </a:r>
                <a:r>
                  <a:rPr sz="2400" b="0">
                    <a:solidFill>
                      <a:srgbClr val="111827"/>
                    </a:solidFill>
                    <a:latin typeface="Arial"/>
                  </a:rPr>
                  <a:t> and </a:t>
                </a:r>
                <a:r>
                  <a:rPr lang="en-IN" sz="2400">
                    <a:solidFill>
                      <a:srgbClr val="111827"/>
                    </a:solidFill>
                    <a:latin typeface="Cambria Math" panose="02040503050406030204" pitchFamily="18" charset="0"/>
                  </a:rPr>
                  <a:t>$p_2=210$</a:t>
                </a:r>
                <a:r>
                  <a:rPr sz="2400" b="0">
                    <a:solidFill>
                      <a:srgbClr val="111827"/>
                    </a:solidFill>
                    <a:latin typeface="Arial"/>
                  </a:rPr>
                  <a:t>, then </a:t>
                </a:r>
                <a:r>
                  <a:rPr lang="en-IN" sz="2400">
                    <a:solidFill>
                      <a:srgbClr val="111827"/>
                    </a:solidFill>
                    <a:latin typeface="Cambria Math" panose="02040503050406030204" pitchFamily="18" charset="0"/>
                  </a:rPr>
                  <a:t>$2(a+b+c)$</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$8$</a:t>
                </a:r>
                <a:r>
                  <a:rPr sz="2400" b="0">
                    <a:solidFill>
                      <a:srgbClr val="111827"/>
                    </a:solidFill>
                    <a:latin typeface="Arial"/>
                  </a:rPr>
                  <a:t>   (B) </a:t>
                </a:r>
                <a:r>
                  <a:rPr lang="en-IN" sz="2400">
                    <a:solidFill>
                      <a:srgbClr val="111827"/>
                    </a:solidFill>
                    <a:latin typeface="Cambria Math" panose="02040503050406030204" pitchFamily="18" charset="0"/>
                  </a:rPr>
                  <a:t>$12$</a:t>
                </a:r>
                <a:r>
                  <a:rPr sz="2400" b="0">
                    <a:solidFill>
                      <a:srgbClr val="111827"/>
                    </a:solidFill>
                    <a:latin typeface="Arial"/>
                  </a:rPr>
                  <a:t>   (C) </a:t>
                </a:r>
                <a:r>
                  <a:rPr lang="en-IN" sz="2400">
                    <a:solidFill>
                      <a:srgbClr val="111827"/>
                    </a:solidFill>
                    <a:latin typeface="Cambria Math" panose="02040503050406030204" pitchFamily="18" charset="0"/>
                  </a:rPr>
                  <a:t>$6$</a:t>
                </a:r>
                <a:r>
                  <a:rPr sz="2400" b="0">
                    <a:solidFill>
                      <a:srgbClr val="111827"/>
                    </a:solidFill>
                    <a:latin typeface="Arial"/>
                  </a:rPr>
                  <a:t>   (D) </a:t>
                </a:r>
                <a:r>
                  <a:rPr lang="en-IN" sz="2400">
                    <a:solidFill>
                      <a:srgbClr val="111827"/>
                    </a:solidFill>
                    <a:latin typeface="Cambria Math" panose="02040503050406030204" pitchFamily="18" charset="0"/>
                  </a:rPr>
                  <a:t>$15$</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Multinomial expansion (coefficients of a trinomial)</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b>
                      <m:e>
                        <m:r>
                          <a:rPr lang="en-IN" sz="2400" i="1">
                            <a:solidFill>
                              <a:srgbClr val="78350F"/>
                            </a:solidFill>
                            <a:latin typeface="Cambria Math" panose="02040503050406030204" pitchFamily="18" charset="0"/>
                          </a:rPr>
                          <m:t>𝑝</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9</m:t>
                        </m:r>
                      </m:sup>
                    </m:sSup>
                    <m:r>
                      <a:rPr lang="en-IN" sz="2400" i="1">
                        <a:solidFill>
                          <a:srgbClr val="78350F"/>
                        </a:solidFill>
                        <a:latin typeface="Cambria Math" panose="02040503050406030204" pitchFamily="18" charset="0"/>
                      </a:rPr>
                      <m:t>𝑏</m:t>
                    </m:r>
                  </m:oMath>
                </a14:m>
                <a:r>
                  <a:rPr sz="2400" b="0">
                    <a:solidFill>
                      <a:srgbClr val="78350F"/>
                    </a:solidFill>
                    <a:latin typeface="Arial"/>
                  </a:rPr>
                  <a:t> forces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then </a:t>
                </a:r>
                <a14:m>
                  <m:oMath xmlns:m="http://schemas.openxmlformats.org/officeDocument/2006/math">
                    <m:sSub>
                      <m:e>
                        <m:r>
                          <a:rPr lang="en-IN" sz="2400" i="1">
                            <a:solidFill>
                              <a:srgbClr val="78350F"/>
                            </a:solidFill>
                            <a:latin typeface="Cambria Math" panose="02040503050406030204" pitchFamily="18" charset="0"/>
                          </a:rPr>
                          <m:t>𝑝</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9</m:t>
                        </m:r>
                      </m:sup>
                    </m:sSup>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45</m:t>
                    </m:r>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8</m:t>
                        </m:r>
                      </m:sup>
                    </m:sSup>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gives </a:t>
                </a:r>
                <a14:m>
                  <m:oMath xmlns:m="http://schemas.openxmlformats.org/officeDocument/2006/math">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$p_1=10a^9b$</a:t>
                </a:r>
                <a:r>
                  <a:rPr sz="2400" b="0">
                    <a:solidFill>
                      <a:srgbClr val="78350F"/>
                    </a:solidFill>
                    <a:latin typeface="Arial"/>
                  </a:rPr>
                  <a:t> forces </a:t>
                </a:r>
                <a:r>
                  <a:rPr lang="en-IN" sz="2400">
                    <a:solidFill>
                      <a:srgbClr val="78350F"/>
                    </a:solidFill>
                    <a:latin typeface="Cambria Math" panose="02040503050406030204" pitchFamily="18" charset="0"/>
                  </a:rPr>
                  <a:t>$a=1$</a:t>
                </a:r>
                <a:r>
                  <a:rPr sz="2400" b="0">
                    <a:solidFill>
                      <a:srgbClr val="78350F"/>
                    </a:solidFill>
                    <a:latin typeface="Arial"/>
                  </a:rPr>
                  <a:t>, </a:t>
                </a:r>
                <a:r>
                  <a:rPr lang="en-IN" sz="2400">
                    <a:solidFill>
                      <a:srgbClr val="78350F"/>
                    </a:solidFill>
                    <a:latin typeface="Cambria Math" panose="02040503050406030204" pitchFamily="18" charset="0"/>
                  </a:rPr>
                  <a:t>$b=2$</a:t>
                </a:r>
                <a:r>
                  <a:rPr sz="2400" b="0">
                    <a:solidFill>
                      <a:srgbClr val="78350F"/>
                    </a:solidFill>
                    <a:latin typeface="Arial"/>
                  </a:rPr>
                  <a:t>; then </a:t>
                </a:r>
                <a:r>
                  <a:rPr lang="en-IN" sz="2400">
                    <a:solidFill>
                      <a:srgbClr val="78350F"/>
                    </a:solidFill>
                    <a:latin typeface="Cambria Math" panose="02040503050406030204" pitchFamily="18" charset="0"/>
                  </a:rPr>
                  <a:t>$p_2=10a^9c+45a^8b^2$</a:t>
                </a:r>
                <a:r>
                  <a:rPr sz="2400" b="0">
                    <a:solidFill>
                      <a:srgbClr val="78350F"/>
                    </a:solidFill>
                    <a:latin typeface="Arial"/>
                  </a:rPr>
                  <a:t> gives </a:t>
                </a:r>
                <a:r>
                  <a:rPr lang="en-IN" sz="2400">
                    <a:solidFill>
                      <a:srgbClr val="78350F"/>
                    </a:solidFill>
                    <a:latin typeface="Cambria Math" panose="02040503050406030204" pitchFamily="18" charset="0"/>
                  </a:rPr>
                  <a:t>$c=3$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sup>
                    </m:sSup>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9</m:t>
                        </m:r>
                      </m:sup>
                    </m:sSup>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9</m:t>
                        </m:r>
                      </m:sup>
                    </m:sSup>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9</m:t>
                        </m:r>
                      </m:sup>
                    </m:sSup>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9</m:t>
                        </m:r>
                      </m:sup>
                    </m:sSup>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either one factor </a:t>
                </a:r>
                <a14:m>
                  <m:oMath xmlns:m="http://schemas.openxmlformats.org/officeDocument/2006/math">
                    <m:r>
                      <a:rPr lang="en-IN" sz="2400" i="1">
                        <a:solidFill>
                          <a:srgbClr val="111827"/>
                        </a:solidFill>
                        <a:latin typeface="Cambria Math" panose="02040503050406030204" pitchFamily="18" charset="0"/>
                      </a:rPr>
                      <m:t>𝑐</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nine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's) or two factors </a:t>
                </a:r>
                <a14:m>
                  <m:oMath xmlns:m="http://schemas.openxmlformats.org/officeDocument/2006/math">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oMath>
                </a14:m>
                <a:r>
                  <a:rPr sz="2400" b="0">
                    <a:solidFill>
                      <a:srgbClr val="111827"/>
                    </a:solidFill>
                    <a:latin typeface="Arial"/>
                  </a:rPr>
                  <a:t> (and eight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's):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9</m:t>
                        </m:r>
                      </m:sup>
                    </m:sSup>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8</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$p_1=\dfrac{10!}{9!\,1!}a^9b=10a^9b=20$</a:t>
                </a:r>
                <a:r>
                  <a:rPr sz="2400" b="0">
                    <a:solidFill>
                      <a:srgbClr val="111827"/>
                    </a:solidFill>
                    <a:latin typeface="Arial"/>
                  </a:rPr>
                  <a:t>, so </a:t>
                </a:r>
                <a:r>
                  <a:rPr lang="en-IN" sz="2400">
                    <a:solidFill>
                      <a:srgbClr val="111827"/>
                    </a:solidFill>
                    <a:latin typeface="Cambria Math" panose="02040503050406030204" pitchFamily="18" charset="0"/>
                  </a:rPr>
                  <a:t>$a^9b=2$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$a,b\in\mathbb N$</a:t>
                </a:r>
                <a:r>
                  <a:rPr sz="2400" b="0">
                    <a:solidFill>
                      <a:srgbClr val="111827"/>
                    </a:solidFill>
                    <a:latin typeface="Arial"/>
                  </a:rPr>
                  <a:t>, </a:t>
                </a:r>
                <a:r>
                  <a:rPr lang="en-IN" sz="2400">
                    <a:solidFill>
                      <a:srgbClr val="111827"/>
                    </a:solidFill>
                    <a:latin typeface="Cambria Math" panose="02040503050406030204" pitchFamily="18" charset="0"/>
                  </a:rPr>
                  <a:t>$a^9b=2$</a:t>
                </a:r>
                <a:r>
                  <a:rPr sz="2400" b="0">
                    <a:solidFill>
                      <a:srgbClr val="111827"/>
                    </a:solidFill>
                    <a:latin typeface="Arial"/>
                  </a:rPr>
                  <a:t> gives </a:t>
                </a:r>
                <a:r>
                  <a:rPr lang="en-IN" sz="2400">
                    <a:solidFill>
                      <a:srgbClr val="111827"/>
                    </a:solidFill>
                    <a:latin typeface="Cambria Math" panose="02040503050406030204" pitchFamily="18" charset="0"/>
                  </a:rPr>
                  <a:t>$a=1$</a:t>
                </a:r>
                <a:r>
                  <a:rPr sz="2400" b="0">
                    <a:solidFill>
                      <a:srgbClr val="111827"/>
                    </a:solidFill>
                    <a:latin typeface="Arial"/>
                  </a:rPr>
                  <a:t>, </a:t>
                </a:r>
                <a:r>
                  <a:rPr lang="en-IN" sz="2400">
                    <a:solidFill>
                      <a:srgbClr val="111827"/>
                    </a:solidFill>
                    <a:latin typeface="Cambria Math" panose="02040503050406030204" pitchFamily="18" charset="0"/>
                  </a:rPr>
                  <a:t>$b=2$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$x^2$</a:t>
                </a:r>
                <a:r>
                  <a:rPr sz="2400" b="0">
                    <a:solidFill>
                      <a:srgbClr val="111827"/>
                    </a:solidFill>
                    <a:latin typeface="Arial"/>
                  </a:rPr>
                  <a:t>: either one factor </a:t>
                </a:r>
                <a:r>
                  <a:rPr lang="en-IN" sz="2400">
                    <a:solidFill>
                      <a:srgbClr val="111827"/>
                    </a:solidFill>
                    <a:latin typeface="Cambria Math" panose="02040503050406030204" pitchFamily="18" charset="0"/>
                  </a:rPr>
                  <a:t>$cx^2$</a:t>
                </a:r>
                <a:r>
                  <a:rPr sz="2400" b="0">
                    <a:solidFill>
                      <a:srgbClr val="111827"/>
                    </a:solidFill>
                    <a:latin typeface="Arial"/>
                  </a:rPr>
                  <a:t> (and nine </a:t>
                </a:r>
                <a:r>
                  <a:rPr lang="en-IN" sz="2400">
                    <a:solidFill>
                      <a:srgbClr val="111827"/>
                    </a:solidFill>
                    <a:latin typeface="Cambria Math" panose="02040503050406030204" pitchFamily="18" charset="0"/>
                  </a:rPr>
                  <a:t>$a$</a:t>
                </a:r>
                <a:r>
                  <a:rPr sz="2400" b="0">
                    <a:solidFill>
                      <a:srgbClr val="111827"/>
                    </a:solidFill>
                    <a:latin typeface="Arial"/>
                  </a:rPr>
                  <a:t>'s) or two factors </a:t>
                </a:r>
                <a:r>
                  <a:rPr lang="en-IN" sz="2400">
                    <a:solidFill>
                      <a:srgbClr val="111827"/>
                    </a:solidFill>
                    <a:latin typeface="Cambria Math" panose="02040503050406030204" pitchFamily="18" charset="0"/>
                  </a:rPr>
                  <a:t>$bx$</a:t>
                </a:r>
                <a:r>
                  <a:rPr sz="2400" b="0">
                    <a:solidFill>
                      <a:srgbClr val="111827"/>
                    </a:solidFill>
                    <a:latin typeface="Arial"/>
                  </a:rPr>
                  <a:t> (and eight </a:t>
                </a:r>
                <a:r>
                  <a:rPr lang="en-IN" sz="2400">
                    <a:solidFill>
                      <a:srgbClr val="111827"/>
                    </a:solidFill>
                    <a:latin typeface="Cambria Math" panose="02040503050406030204" pitchFamily="18" charset="0"/>
                  </a:rPr>
                  <a:t>$a$</a:t>
                </a:r>
                <a:r>
                  <a:rPr sz="2400" b="0">
                    <a:solidFill>
                      <a:srgbClr val="111827"/>
                    </a:solidFill>
                    <a:latin typeface="Arial"/>
                  </a:rPr>
                  <a:t>'s): </a:t>
                </a:r>
                <a:r>
                  <a:rPr lang="en-IN" sz="2400">
                    <a:solidFill>
                      <a:srgbClr val="111827"/>
                    </a:solidFill>
                    <a:latin typeface="Cambria Math" panose="02040503050406030204" pitchFamily="18" charset="0"/>
                  </a:rPr>
                  <a:t>$p_2=\dfrac{10!}{9!\,1!}a^9c+\dfrac{10!}{8!\,2!}a^8b^2$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$210=10c+45\cdot4=10c+180$</a:t>
                </a:r>
                <a:r>
                  <a:rPr sz="2400" b="0">
                    <a:solidFill>
                      <a:srgbClr val="111827"/>
                    </a:solidFill>
                    <a:latin typeface="Arial"/>
                  </a:rPr>
                  <a:t>, so </a:t>
                </a:r>
                <a:r>
                  <a:rPr lang="en-IN" sz="2400">
                    <a:solidFill>
                      <a:srgbClr val="111827"/>
                    </a:solidFill>
                    <a:latin typeface="Cambria Math" panose="02040503050406030204" pitchFamily="18" charset="0"/>
                  </a:rPr>
                  <a:t>$10c=30$</a:t>
                </a:r>
                <a:r>
                  <a:rPr sz="2400" b="0">
                    <a:solidFill>
                      <a:srgbClr val="111827"/>
                    </a:solidFill>
                    <a:latin typeface="Arial"/>
                  </a:rPr>
                  <a:t> and </a:t>
                </a:r>
                <a:r>
                  <a:rPr lang="en-IN" sz="2400">
                    <a:solidFill>
                      <a:srgbClr val="111827"/>
                    </a:solidFill>
                    <a:latin typeface="Cambria Math" panose="02040503050406030204" pitchFamily="18" charset="0"/>
                  </a:rPr>
                  <a:t>$c=3$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$2(a+b+c)=2(1+2+3)=12$</a:t>
                </a:r>
                <a:r>
                  <a:rPr sz="2400" b="0">
                    <a:solidFill>
                      <a:srgbClr val="111827"/>
                    </a:solidFill>
                    <a:latin typeface="Arial"/>
                  </a:rPr>
                  <a:t>,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12</a:t>
            </a:r>
            <a:endParaRPr sz="2800">
              <a:solidFill>
                <a:srgbClr val="15803D"/>
              </a:solidFill>
            </a:endParaRP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and expand binomially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$1+2x+cx^2=(1+x)^2+(c-1)x^2$</a:t>
                </a:r>
                <a:r>
                  <a:rPr sz="2400" b="0">
                    <a:solidFill>
                      <a:srgbClr val="78350F"/>
                    </a:solidFill>
                    <a:latin typeface="Arial"/>
                  </a:rPr>
                  <a:t> and expand binomially in </a:t>
                </a:r>
                <a:r>
                  <a:rPr lang="en-IN" sz="2400">
                    <a:solidFill>
                      <a:srgbClr val="78350F"/>
                    </a:solidFill>
                    <a:latin typeface="Cambria Math" panose="02040503050406030204" pitchFamily="18" charset="0"/>
                  </a:rPr>
                  <a:t>$(c-1)x^2$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9</m:t>
                        </m:r>
                      </m:sup>
                    </m:sSup>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as before.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𝑗</m:t>
                                </m:r>
                              </m:den>
                            </m:f>
                          </m:e>
                        </m:d>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𝑗</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190</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(higher </a:t>
                </a:r>
                <a14:m>
                  <m:oMath xmlns:m="http://schemas.openxmlformats.org/officeDocument/2006/math">
                    <m:r>
                      <a:rPr lang="en-IN" sz="2400" i="1">
                        <a:solidFill>
                          <a:srgbClr val="111827"/>
                        </a:solidFill>
                        <a:latin typeface="Cambria Math" panose="02040503050406030204" pitchFamily="18" charset="0"/>
                      </a:rPr>
                      <m:t>𝑗</m:t>
                    </m:r>
                  </m:oMath>
                </a14:m>
                <a:r>
                  <a:rPr sz="2400" b="0">
                    <a:solidFill>
                      <a:srgbClr val="111827"/>
                    </a:solidFill>
                    <a:latin typeface="Arial"/>
                  </a:rPr>
                  <a:t> start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$p_1=10a^9b=20$</a:t>
                </a:r>
                <a:r>
                  <a:rPr sz="2400" b="0">
                    <a:solidFill>
                      <a:srgbClr val="111827"/>
                    </a:solidFill>
                    <a:latin typeface="Arial"/>
                  </a:rPr>
                  <a:t> gives </a:t>
                </a:r>
                <a:r>
                  <a:rPr lang="en-IN" sz="2400">
                    <a:solidFill>
                      <a:srgbClr val="111827"/>
                    </a:solidFill>
                    <a:latin typeface="Cambria Math" panose="02040503050406030204" pitchFamily="18" charset="0"/>
                  </a:rPr>
                  <a:t>$a=1$</a:t>
                </a:r>
                <a:r>
                  <a:rPr sz="2400" b="0">
                    <a:solidFill>
                      <a:srgbClr val="111827"/>
                    </a:solidFill>
                    <a:latin typeface="Arial"/>
                  </a:rPr>
                  <a:t>, </a:t>
                </a:r>
                <a:r>
                  <a:rPr lang="en-IN" sz="2400">
                    <a:solidFill>
                      <a:srgbClr val="111827"/>
                    </a:solidFill>
                    <a:latin typeface="Cambria Math" panose="02040503050406030204" pitchFamily="18" charset="0"/>
                  </a:rPr>
                  <a:t>$b=2$</a:t>
                </a:r>
                <a:r>
                  <a:rPr sz="2400" b="0">
                    <a:solidFill>
                      <a:srgbClr val="111827"/>
                    </a:solidFill>
                    <a:latin typeface="Arial"/>
                  </a:rPr>
                  <a:t> as before.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$\left(1+2x+cx^2\right)^{10}=\left[(1+x)^2+(c-1)x^2\right]^{10}=\sum_j\binom{10}{j}(1+x)^{2(10-j)}(c-1)^jx^{2j}$</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$x^2$</a:t>
                </a:r>
                <a:r>
                  <a:rPr sz="2400" b="0">
                    <a:solidFill>
                      <a:srgbClr val="111827"/>
                    </a:solidFill>
                    <a:latin typeface="Arial"/>
                  </a:rPr>
                  <a:t>: from </a:t>
                </a:r>
                <a:r>
                  <a:rPr lang="en-IN" sz="2400">
                    <a:solidFill>
                      <a:srgbClr val="111827"/>
                    </a:solidFill>
                    <a:latin typeface="Cambria Math" panose="02040503050406030204" pitchFamily="18" charset="0"/>
                  </a:rPr>
                  <a:t>$j=0$</a:t>
                </a:r>
                <a:r>
                  <a:rPr sz="2400" b="0">
                    <a:solidFill>
                      <a:srgbClr val="111827"/>
                    </a:solidFill>
                    <a:latin typeface="Arial"/>
                  </a:rPr>
                  <a:t>: </a:t>
                </a:r>
                <a:r>
                  <a:rPr lang="en-IN" sz="2400">
                    <a:solidFill>
                      <a:srgbClr val="111827"/>
                    </a:solidFill>
                    <a:latin typeface="Cambria Math" panose="02040503050406030204" pitchFamily="18" charset="0"/>
                  </a:rPr>
                  <a:t>$\binom{20}{2}=190$</a:t>
                </a:r>
                <a:r>
                  <a:rPr sz="2400" b="0">
                    <a:solidFill>
                      <a:srgbClr val="111827"/>
                    </a:solidFill>
                    <a:latin typeface="Arial"/>
                  </a:rPr>
                  <a:t>; from </a:t>
                </a:r>
                <a:r>
                  <a:rPr lang="en-IN" sz="2400">
                    <a:solidFill>
                      <a:srgbClr val="111827"/>
                    </a:solidFill>
                    <a:latin typeface="Cambria Math" panose="02040503050406030204" pitchFamily="18" charset="0"/>
                  </a:rPr>
                  <a:t>$j=1$</a:t>
                </a:r>
                <a:r>
                  <a:rPr sz="2400" b="0">
                    <a:solidFill>
                      <a:srgbClr val="111827"/>
                    </a:solidFill>
                    <a:latin typeface="Arial"/>
                  </a:rPr>
                  <a:t>: </a:t>
                </a:r>
                <a:r>
                  <a:rPr lang="en-IN" sz="2400">
                    <a:solidFill>
                      <a:srgbClr val="111827"/>
                    </a:solidFill>
                    <a:latin typeface="Cambria Math" panose="02040503050406030204" pitchFamily="18" charset="0"/>
                  </a:rPr>
                  <a:t>$\binom{10}{1}(c-1)\cdot1=10(c-1)$</a:t>
                </a:r>
                <a:r>
                  <a:rPr sz="2400" b="0">
                    <a:solidFill>
                      <a:srgbClr val="111827"/>
                    </a:solidFill>
                    <a:latin typeface="Arial"/>
                  </a:rPr>
                  <a:t> (higher </a:t>
                </a:r>
                <a:r>
                  <a:rPr lang="en-IN" sz="2400">
                    <a:solidFill>
                      <a:srgbClr val="111827"/>
                    </a:solidFill>
                    <a:latin typeface="Cambria Math" panose="02040503050406030204" pitchFamily="18" charset="0"/>
                  </a:rPr>
                  <a:t>$j$</a:t>
                </a:r>
                <a:r>
                  <a:rPr sz="2400" b="0">
                    <a:solidFill>
                      <a:srgbClr val="111827"/>
                    </a:solidFill>
                    <a:latin typeface="Arial"/>
                  </a:rPr>
                  <a:t> start at </a:t>
                </a:r>
                <a:r>
                  <a:rPr lang="en-IN" sz="2400">
                    <a:solidFill>
                      <a:srgbClr val="111827"/>
                    </a:solidFill>
                    <a:latin typeface="Cambria Math" panose="02040503050406030204" pitchFamily="18" charset="0"/>
                  </a:rPr>
                  <a:t>$x^4$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$190+10(c-1)=210$</a:t>
                </a:r>
                <a:r>
                  <a:rPr sz="2400" b="0">
                    <a:solidFill>
                      <a:srgbClr val="111827"/>
                    </a:solidFill>
                    <a:latin typeface="Arial"/>
                  </a:rPr>
                  <a:t>, so </a:t>
                </a:r>
                <a:r>
                  <a:rPr lang="en-IN" sz="2400">
                    <a:solidFill>
                      <a:srgbClr val="111827"/>
                    </a:solidFill>
                    <a:latin typeface="Cambria Math" panose="02040503050406030204" pitchFamily="18" charset="0"/>
                  </a:rPr>
                  <a:t>$c=3$</a:t>
                </a:r>
                <a:r>
                  <a:rPr sz="2400" b="0">
                    <a:solidFill>
                      <a:srgbClr val="111827"/>
                    </a:solidFill>
                    <a:latin typeface="Arial"/>
                  </a:rPr>
                  <a:t> and </a:t>
                </a:r>
                <a:r>
                  <a:rPr lang="en-IN" sz="2400">
                    <a:solidFill>
                      <a:srgbClr val="111827"/>
                    </a:solidFill>
                    <a:latin typeface="Cambria Math" panose="02040503050406030204" pitchFamily="18" charset="0"/>
                  </a:rPr>
                  <a:t>$2(a+b+c)=12$</a:t>
                </a:r>
                <a:r>
                  <a:rPr sz="2400" b="0">
                    <a:solidFill>
                      <a:srgbClr val="111827"/>
                    </a:solidFill>
                    <a:latin typeface="Arial"/>
                  </a:rPr>
                  <a:t>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12</a:t>
            </a:r>
            <a:endParaRPr sz="2800">
              <a:solidFill>
                <a:srgbClr val="15803D"/>
              </a:solidFill>
            </a:endParaRP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𝑏</m:t>
                    </m:r>
                  </m:oMath>
                </a14:m>
                <a:r>
                  <a:rPr sz="2400" b="0">
                    <a:solidFill>
                      <a:srgbClr val="111827"/>
                    </a:solidFill>
                    <a:latin typeface="Arial"/>
                  </a:rPr>
                  <a: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Natural-number conditions often make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9</m:t>
                        </m:r>
                      </m:sup>
                    </m:sSup>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type equations solvable by inspection.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Completing the square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turns a trinomial into a binomial in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oMath>
                </a14:m>
                <a:r>
                  <a:rPr sz="2400" b="0">
                    <a:solidFill>
                      <a:srgbClr val="111827"/>
                    </a:solidFill>
                    <a:latin typeface="Arial"/>
                  </a:rPr>
                  <a:t> has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$x^1$</a:t>
                </a:r>
                <a:r>
                  <a:rPr sz="2400" b="0">
                    <a:solidFill>
                      <a:srgbClr val="111827"/>
                    </a:solidFill>
                    <a:latin typeface="Arial"/>
                  </a:rPr>
                  <a:t> in </a:t>
                </a:r>
                <a:r>
                  <a:rPr lang="en-IN" sz="2400">
                    <a:solidFill>
                      <a:srgbClr val="111827"/>
                    </a:solidFill>
                    <a:latin typeface="Cambria Math" panose="02040503050406030204" pitchFamily="18" charset="0"/>
                  </a:rPr>
                  <a:t>$(a+bx+cx^2)^n$</a:t>
                </a:r>
                <a:r>
                  <a:rPr sz="2400" b="0">
                    <a:solidFill>
                      <a:srgbClr val="111827"/>
                    </a:solidFill>
                    <a:latin typeface="Arial"/>
                  </a:rPr>
                  <a:t> is </a:t>
                </a:r>
                <a:r>
                  <a:rPr lang="en-IN" sz="2400">
                    <a:solidFill>
                      <a:srgbClr val="111827"/>
                    </a:solidFill>
                    <a:latin typeface="Cambria Math" panose="02040503050406030204" pitchFamily="18" charset="0"/>
                  </a:rPr>
                  <a:t>$na^{n-1}b$</a:t>
                </a:r>
                <a:r>
                  <a:rPr sz="2400" b="0">
                    <a:solidFill>
                      <a:srgbClr val="111827"/>
                    </a:solidFill>
                    <a:latin typeface="Arial"/>
                  </a:rPr>
                  <a:t>; of </a:t>
                </a:r>
                <a:r>
                  <a:rPr lang="en-IN" sz="2400">
                    <a:solidFill>
                      <a:srgbClr val="111827"/>
                    </a:solidFill>
                    <a:latin typeface="Cambria Math" panose="02040503050406030204" pitchFamily="18" charset="0"/>
                  </a:rPr>
                  <a:t>$x^2$</a:t>
                </a:r>
                <a:r>
                  <a:rPr sz="2400" b="0">
                    <a:solidFill>
                      <a:srgbClr val="111827"/>
                    </a:solidFill>
                    <a:latin typeface="Arial"/>
                  </a:rPr>
                  <a:t> is </a:t>
                </a:r>
                <a:r>
                  <a:rPr lang="en-IN" sz="2400">
                    <a:solidFill>
                      <a:srgbClr val="111827"/>
                    </a:solidFill>
                    <a:latin typeface="Cambria Math" panose="02040503050406030204" pitchFamily="18" charset="0"/>
                  </a:rPr>
                  <a:t>$na^{n-1}c+\binom n2a^{n-2}b^2$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Natural-number conditions often make </a:t>
                </a:r>
                <a:r>
                  <a:rPr lang="en-IN" sz="2400">
                    <a:solidFill>
                      <a:srgbClr val="111827"/>
                    </a:solidFill>
                    <a:latin typeface="Cambria Math" panose="02040503050406030204" pitchFamily="18" charset="0"/>
                  </a:rPr>
                  <a:t>$a^9b=2$</a:t>
                </a:r>
                <a:r>
                  <a:rPr sz="2400" b="0">
                    <a:solidFill>
                      <a:srgbClr val="111827"/>
                    </a:solidFill>
                    <a:latin typeface="Arial"/>
                  </a:rPr>
                  <a:t> type equations solvable by inspection.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Completing the square </a:t>
                </a:r>
                <a:r>
                  <a:rPr lang="en-IN" sz="2400">
                    <a:solidFill>
                      <a:srgbClr val="111827"/>
                    </a:solidFill>
                    <a:latin typeface="Cambria Math" panose="02040503050406030204" pitchFamily="18" charset="0"/>
                  </a:rPr>
                  <a:t>$1+2x+cx^2=(1+x)^2+(c-1)x^2$</a:t>
                </a:r>
                <a:r>
                  <a:rPr sz="2400" b="0">
                    <a:solidFill>
                      <a:srgbClr val="111827"/>
                    </a:solidFill>
                    <a:latin typeface="Arial"/>
                  </a:rPr>
                  <a:t> turns a trinomial into a binomial in </a:t>
                </a:r>
                <a:r>
                  <a:rPr lang="en-IN" sz="2400">
                    <a:solidFill>
                      <a:srgbClr val="111827"/>
                    </a:solidFill>
                    <a:latin typeface="Cambria Math" panose="02040503050406030204" pitchFamily="18" charset="0"/>
                  </a:rPr>
                  <a:t>$x^2$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$(1+2x+3x^2)^{10}$</a:t>
                </a:r>
                <a:r>
                  <a:rPr sz="2400" b="0">
                    <a:solidFill>
                      <a:srgbClr val="111827"/>
                    </a:solidFill>
                    <a:latin typeface="Arial"/>
                  </a:rPr>
                  <a:t> has </a:t>
                </a:r>
                <a:r>
                  <a:rPr lang="en-IN" sz="2400">
                    <a:solidFill>
                      <a:srgbClr val="111827"/>
                    </a:solidFill>
                    <a:latin typeface="Cambria Math" panose="02040503050406030204" pitchFamily="18" charset="0"/>
                  </a:rPr>
                  <a:t>$p_1=20$</a:t>
                </a:r>
                <a:r>
                  <a:rPr sz="2400" b="0">
                    <a:solidFill>
                      <a:srgbClr val="111827"/>
                    </a:solidFill>
                    <a:latin typeface="Arial"/>
                  </a:rPr>
                  <a:t> and </a:t>
                </a:r>
                <a:r>
                  <a:rPr lang="en-IN" sz="2400">
                    <a:solidFill>
                      <a:srgbClr val="111827"/>
                    </a:solidFill>
                    <a:latin typeface="Cambria Math" panose="02040503050406030204" pitchFamily="18" charset="0"/>
                  </a:rPr>
                  <a:t>$p_2=10\cdot3+45\cdot4=210$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4</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Q42 – Q48</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Assumed +4 each (JEE Advanced default)</a:t>
            </a:r>
            <a:endParaRPr sz="2800">
              <a:solidFill>
                <a:srgbClr val="FFFFFF"/>
              </a:solidFill>
            </a:endParaRP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18</m:t>
                        </m:r>
                      </m:sup>
                    </m:sSup>
                  </m:oMath>
                </a14:m>
                <a:r>
                  <a:rPr sz="2400" b="0">
                    <a:solidFill>
                      <a:srgbClr val="111827"/>
                    </a:solidFill>
                    <a:latin typeface="Arial"/>
                  </a:rPr>
                  <a:t>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15</m:t>
                        </m:r>
                      </m:sup>
                    </m:sSup>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$x^{18}$</a:t>
                </a:r>
                <a:r>
                  <a:rPr sz="2400" b="0">
                    <a:solidFill>
                      <a:srgbClr val="111827"/>
                    </a:solidFill>
                    <a:latin typeface="Arial"/>
                  </a:rPr>
                  <a:t> in the expansion of </a:t>
                </a:r>
                <a:r>
                  <a:rPr lang="en-IN" sz="2400">
                    <a:solidFill>
                      <a:srgbClr val="111827"/>
                    </a:solidFill>
                    <a:latin typeface="Cambria Math" panose="02040503050406030204" pitchFamily="18" charset="0"/>
                  </a:rPr>
                  <a:t>$\left(x^4-\dfrac{1}{x^3}\right)^{15}$</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 is </a:t>
                </a:r>
                <a14:m>
                  <m:oMath xmlns:m="http://schemas.openxmlformats.org/officeDocument/2006/math">
                    <m:r>
                      <a:rPr lang="en-IN" sz="2400" i="1">
                        <a:solidFill>
                          <a:srgbClr val="78350F"/>
                        </a:solidFill>
                        <a:latin typeface="Cambria Math" panose="02040503050406030204" pitchFamily="18" charset="0"/>
                      </a:rPr>
                      <m:t>60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a:rPr lang="en-IN" sz="2400" i="1">
                        <a:solidFill>
                          <a:srgbClr val="78350F"/>
                        </a:solidFill>
                        <a:latin typeface="Cambria Math" panose="02040503050406030204" pitchFamily="18" charset="0"/>
                      </a:rPr>
                      <m:t>𝑟</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60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18</m:t>
                    </m:r>
                  </m:oMath>
                </a14:m>
                <a:r>
                  <a:rPr sz="2400" b="0">
                    <a:solidFill>
                      <a:srgbClr val="78350F"/>
                    </a:solidFill>
                    <a:latin typeface="Arial"/>
                  </a:rPr>
                  <a:t> gives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 is </a:t>
                </a:r>
                <a:r>
                  <a:rPr lang="en-IN" sz="2400">
                    <a:solidFill>
                      <a:srgbClr val="78350F"/>
                    </a:solidFill>
                    <a:latin typeface="Cambria Math" panose="02040503050406030204" pitchFamily="18" charset="0"/>
                  </a:rPr>
                  <a:t>$60-7r$</a:t>
                </a:r>
                <a:r>
                  <a:rPr sz="2400" b="0">
                    <a:solidFill>
                      <a:srgbClr val="78350F"/>
                    </a:solidFill>
                    <a:latin typeface="Arial"/>
                  </a:rPr>
                  <a:t>; </a:t>
                </a:r>
                <a:r>
                  <a:rPr lang="en-IN" sz="2400">
                    <a:solidFill>
                      <a:srgbClr val="78350F"/>
                    </a:solidFill>
                    <a:latin typeface="Cambria Math" panose="02040503050406030204" pitchFamily="18" charset="0"/>
                  </a:rPr>
                  <a:t>$60-7r=18$</a:t>
                </a:r>
                <a:r>
                  <a:rPr sz="2400" b="0">
                    <a:solidFill>
                      <a:srgbClr val="78350F"/>
                    </a:solidFill>
                    <a:latin typeface="Arial"/>
                  </a:rPr>
                  <a:t> gives </a:t>
                </a:r>
                <a:r>
                  <a:rPr lang="en-IN" sz="2400">
                    <a:solidFill>
                      <a:srgbClr val="78350F"/>
                    </a:solidFill>
                    <a:latin typeface="Cambria Math" panose="02040503050406030204" pitchFamily="18" charset="0"/>
                  </a:rPr>
                  <a:t>$r=6$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18</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5005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$T_{r+1}=\binom{15}{r}(x^4)^{15-r}\left(\dfrac{-1}{x^3}\right)^r=\binom{15}{r}(-1)^rx^{60-7r}$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$x^{18}$</a:t>
                </a:r>
                <a:r>
                  <a:rPr sz="2400" b="0">
                    <a:solidFill>
                      <a:srgbClr val="111827"/>
                    </a:solidFill>
                    <a:latin typeface="Arial"/>
                  </a:rPr>
                  <a:t>: </a:t>
                </a:r>
                <a:r>
                  <a:rPr lang="en-IN" sz="2400">
                    <a:solidFill>
                      <a:srgbClr val="111827"/>
                    </a:solidFill>
                    <a:latin typeface="Cambria Math" panose="02040503050406030204" pitchFamily="18" charset="0"/>
                  </a:rPr>
                  <a:t>$60-7r=18$</a:t>
                </a:r>
                <a:r>
                  <a:rPr sz="2400" b="0">
                    <a:solidFill>
                      <a:srgbClr val="111827"/>
                    </a:solidFill>
                    <a:latin typeface="Arial"/>
                  </a:rPr>
                  <a:t>, so </a:t>
                </a:r>
                <a:r>
                  <a:rPr lang="en-IN" sz="2400">
                    <a:solidFill>
                      <a:srgbClr val="111827"/>
                    </a:solidFill>
                    <a:latin typeface="Cambria Math" panose="02040503050406030204" pitchFamily="18" charset="0"/>
                  </a:rPr>
                  <a:t>$r=6$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is </a:t>
                </a:r>
                <a:r>
                  <a:rPr lang="en-IN" sz="2400">
                    <a:solidFill>
                      <a:srgbClr val="111827"/>
                    </a:solidFill>
                    <a:latin typeface="Cambria Math" panose="02040503050406030204" pitchFamily="18" charset="0"/>
                  </a:rPr>
                  <a:t>$\binom{15}{6}(-1)^6=5005$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5005</a:t>
            </a:r>
            <a:endParaRPr sz="2800">
              <a:solidFill>
                <a:srgbClr val="15803D"/>
              </a:solidFill>
            </a:endParaRP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Clear the negative power: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4</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7</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Clear the negative power: </a:t>
                </a:r>
                <a:r>
                  <a:rPr lang="en-IN" sz="2400">
                    <a:solidFill>
                      <a:srgbClr val="78350F"/>
                    </a:solidFill>
                    <a:latin typeface="Cambria Math" panose="02040503050406030204" pitchFamily="18" charset="0"/>
                  </a:rPr>
                  <a:t>$x^4-\frac1{x^3}=\frac{x^7-1}{x^3}$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15</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45</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18</m:t>
                        </m:r>
                      </m:sup>
                    </m:sSup>
                  </m:oMath>
                </a14:m>
                <a:r>
                  <a:rPr sz="2400" b="0">
                    <a:solidFill>
                      <a:srgbClr val="111827"/>
                    </a:solidFill>
                    <a:latin typeface="Arial"/>
                  </a:rPr>
                  <a:t> is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9</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5005</m:t>
                    </m:r>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$\left(x^4-\dfrac1{x^3}\right)^{15}=\dfrac{(x^7-1)^{15}}{x^{45}}$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$x^{18}$</a:t>
                </a:r>
                <a:r>
                  <a:rPr sz="2400" b="0">
                    <a:solidFill>
                      <a:srgbClr val="111827"/>
                    </a:solidFill>
                    <a:latin typeface="Arial"/>
                  </a:rPr>
                  <a:t> is the coefficient of </a:t>
                </a:r>
                <a:r>
                  <a:rPr lang="en-IN" sz="2400">
                    <a:solidFill>
                      <a:srgbClr val="111827"/>
                    </a:solidFill>
                    <a:latin typeface="Cambria Math" panose="02040503050406030204" pitchFamily="18" charset="0"/>
                  </a:rPr>
                  <a:t>$x^{63}=(x^7)^9$</a:t>
                </a:r>
                <a:r>
                  <a:rPr sz="2400" b="0">
                    <a:solidFill>
                      <a:srgbClr val="111827"/>
                    </a:solidFill>
                    <a:latin typeface="Arial"/>
                  </a:rPr>
                  <a:t> in </a:t>
                </a:r>
                <a:r>
                  <a:rPr lang="en-IN" sz="2400">
                    <a:solidFill>
                      <a:srgbClr val="111827"/>
                    </a:solidFill>
                    <a:latin typeface="Cambria Math" panose="02040503050406030204" pitchFamily="18" charset="0"/>
                  </a:rPr>
                  <a:t>$(x^7-1)^{15}$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is </a:t>
                </a:r>
                <a:r>
                  <a:rPr lang="en-IN" sz="2400">
                    <a:solidFill>
                      <a:srgbClr val="111827"/>
                    </a:solidFill>
                    <a:latin typeface="Cambria Math" panose="02040503050406030204" pitchFamily="18" charset="0"/>
                  </a:rPr>
                  <a:t>$\binom{15}{9}(-1)^{6}=5005$</a:t>
                </a:r>
                <a:r>
                  <a:rPr sz="2400" b="0">
                    <a:solidFill>
                      <a:srgbClr val="111827"/>
                    </a:solidFill>
                    <a:latin typeface="Arial"/>
                  </a:rPr>
                  <a:t>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5005</a:t>
            </a:r>
            <a:endParaRPr sz="2800">
              <a:solidFill>
                <a:srgbClr val="15803D"/>
              </a:solidFill>
            </a:endParaRP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5005</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9</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Exponent in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of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𝑎</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𝑡𝑎𝑟𝑔𝑒𝑡</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necessary condition for the term to exist: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𝑡𝑎𝑟𝑔𝑒𝑡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720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5005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$\binom{15}{6}=5005=\binom{15}{9}$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Exponent in </a:t>
                </a:r>
                <a:r>
                  <a:rPr lang="en-IN" sz="2400">
                    <a:solidFill>
                      <a:srgbClr val="111827"/>
                    </a:solidFill>
                    <a:latin typeface="Cambria Math" panose="02040503050406030204" pitchFamily="18" charset="0"/>
                  </a:rPr>
                  <a:t>$T_{r+1}$</a:t>
                </a:r>
                <a:r>
                  <a:rPr sz="2400" b="0">
                    <a:solidFill>
                      <a:srgbClr val="111827"/>
                    </a:solidFill>
                    <a:latin typeface="Arial"/>
                  </a:rPr>
                  <a:t> of </a:t>
                </a:r>
                <a:r>
                  <a:rPr lang="en-IN" sz="2400">
                    <a:solidFill>
                      <a:srgbClr val="111827"/>
                    </a:solidFill>
                    <a:latin typeface="Cambria Math" panose="02040503050406030204" pitchFamily="18" charset="0"/>
                  </a:rPr>
                  <a:t>$(x^a+x^{-b})^n$</a:t>
                </a:r>
                <a:r>
                  <a:rPr sz="2400" b="0">
                    <a:solidFill>
                      <a:srgbClr val="111827"/>
                    </a:solidFill>
                    <a:latin typeface="Arial"/>
                  </a:rPr>
                  <a:t> is </a:t>
                </a:r>
                <a:r>
                  <a:rPr lang="en-IN" sz="2400">
                    <a:solidFill>
                      <a:srgbClr val="111827"/>
                    </a:solidFill>
                    <a:latin typeface="Cambria Math" panose="02040503050406030204" pitchFamily="18" charset="0"/>
                  </a:rPr>
                  <a:t>$an-(a+b)r$</a:t>
                </a:r>
                <a:r>
                  <a:rPr sz="2400" b="0">
                    <a:solidFill>
                      <a:srgbClr val="111827"/>
                    </a:solidFill>
                    <a:latin typeface="Arial"/>
                  </a:rPr>
                  <a:t>; </a:t>
                </a:r>
                <a:r>
                  <a:rPr lang="en-IN" sz="2400">
                    <a:solidFill>
                      <a:srgbClr val="111827"/>
                    </a:solidFill>
                    <a:latin typeface="Cambria Math" panose="02040503050406030204" pitchFamily="18" charset="0"/>
                  </a:rPr>
                  <a:t>$r=\frac{an-\text{target}}{a+b}$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necessary condition for the term to exist: </a:t>
                </a:r>
                <a:r>
                  <a:rPr lang="en-IN" sz="2400">
                    <a:solidFill>
                      <a:srgbClr val="111827"/>
                    </a:solidFill>
                    <a:latin typeface="Cambria Math" panose="02040503050406030204" pitchFamily="18" charset="0"/>
                  </a:rPr>
                  <a:t>$(a+b)\mid(an-\text{target})$</a:t>
                </a:r>
                <a:r>
                  <a:rPr sz="2400" b="0">
                    <a:solidFill>
                      <a:srgbClr val="111827"/>
                    </a:solidFill>
                    <a:latin typeface="Arial"/>
                  </a:rPr>
                  <a:t>, here </a:t>
                </a:r>
                <a:r>
                  <a:rPr lang="en-IN" sz="2400">
                    <a:solidFill>
                      <a:srgbClr val="111827"/>
                    </a:solidFill>
                    <a:latin typeface="Cambria Math" panose="02040503050406030204" pitchFamily="18" charset="0"/>
                  </a:rPr>
                  <a:t>$7\mid42$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$\binom{15}{6}=\frac{15\cdot14\cdot13\cdot12\cdot11\cdot10}{720}=5005$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denote the greatest integer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If the constant term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den>
                            </m:f>
                          </m:e>
                        </m:d>
                      </m:e>
                      <m:sup>
                        <m:r>
                          <a:rPr lang="en-IN" sz="2400" i="1">
                            <a:solidFill>
                              <a:srgbClr val="111827"/>
                            </a:solidFill>
                            <a:latin typeface="Cambria Math" panose="02040503050406030204" pitchFamily="18" charset="0"/>
                          </a:rPr>
                          <m:t>7</m:t>
                        </m:r>
                      </m:sup>
                    </m:sSup>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$[t]$</a:t>
                </a:r>
                <a:r>
                  <a:rPr sz="2400" b="0">
                    <a:solidFill>
                      <a:srgbClr val="111827"/>
                    </a:solidFill>
                    <a:latin typeface="Arial"/>
                  </a:rPr>
                  <a:t> denote the greatest integer </a:t>
                </a:r>
                <a:r>
                  <a:rPr lang="en-IN" sz="2400">
                    <a:solidFill>
                      <a:srgbClr val="111827"/>
                    </a:solidFill>
                    <a:latin typeface="Cambria Math" panose="02040503050406030204" pitchFamily="18" charset="0"/>
                  </a:rPr>
                  <a:t>$\le t$</a:t>
                </a:r>
                <a:r>
                  <a:rPr sz="2400" b="0">
                    <a:solidFill>
                      <a:srgbClr val="111827"/>
                    </a:solidFill>
                    <a:latin typeface="Arial"/>
                  </a:rPr>
                  <a:t>. If the constant term in the expansion of </a:t>
                </a:r>
                <a:r>
                  <a:rPr lang="en-IN" sz="2400">
                    <a:solidFill>
                      <a:srgbClr val="111827"/>
                    </a:solidFill>
                    <a:latin typeface="Cambria Math" panose="02040503050406030204" pitchFamily="18" charset="0"/>
                  </a:rPr>
                  <a:t>$\left(3x^2-\dfrac{1}{2x^5}\right)^{7}$</a:t>
                </a:r>
                <a:r>
                  <a:rPr sz="2400" b="0">
                    <a:solidFill>
                      <a:srgbClr val="111827"/>
                    </a:solidFill>
                    <a:latin typeface="Arial"/>
                  </a:rPr>
                  <a:t> is </a:t>
                </a:r>
                <a:r>
                  <a:rPr lang="en-IN" sz="2400">
                    <a:solidFill>
                      <a:srgbClr val="111827"/>
                    </a:solidFill>
                    <a:latin typeface="Cambria Math" panose="02040503050406030204" pitchFamily="18" charset="0"/>
                  </a:rPr>
                  <a:t>$\alpha$</a:t>
                </a:r>
                <a:r>
                  <a:rPr sz="2400" b="0">
                    <a:solidFill>
                      <a:srgbClr val="111827"/>
                    </a:solidFill>
                    <a:latin typeface="Arial"/>
                  </a:rPr>
                  <a:t>, then </a:t>
                </a:r>
                <a:r>
                  <a:rPr lang="en-IN" sz="2400">
                    <a:solidFill>
                      <a:srgbClr val="111827"/>
                    </a:solidFill>
                    <a:latin typeface="Cambria Math" panose="02040503050406030204" pitchFamily="18" charset="0"/>
                  </a:rPr>
                  <a:t>$[\alpha]$</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25475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 Greatest integer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constant term is at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7</m:t>
                            </m:r>
                          </m:num>
                          <m:den>
                            <m:r>
                              <a:rPr lang="en-IN" sz="2400" i="1">
                                <a:solidFill>
                                  <a:srgbClr val="78350F"/>
                                </a:solidFill>
                                <a:latin typeface="Cambria Math" panose="02040503050406030204" pitchFamily="18" charset="0"/>
                              </a:rPr>
                              <m:t>2</m:t>
                            </m:r>
                          </m:den>
                        </m:f>
                      </m:e>
                    </m:d>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5</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4</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5103</m:t>
                        </m:r>
                      </m:num>
                      <m:den>
                        <m:r>
                          <a:rPr lang="en-IN" sz="2400" i="1">
                            <a:solidFill>
                              <a:srgbClr val="78350F"/>
                            </a:solidFill>
                            <a:latin typeface="Cambria Math" panose="02040503050406030204" pitchFamily="18" charset="0"/>
                          </a:rPr>
                          <m:t>4</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1275.75</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constant term is at </a:t>
                </a:r>
                <a:r>
                  <a:rPr lang="en-IN" sz="2400">
                    <a:solidFill>
                      <a:srgbClr val="78350F"/>
                    </a:solidFill>
                    <a:latin typeface="Cambria Math" panose="02040503050406030204" pitchFamily="18" charset="0"/>
                  </a:rPr>
                  <a:t>$r=2$</a:t>
                </a:r>
                <a:r>
                  <a:rPr sz="2400" b="0">
                    <a:solidFill>
                      <a:srgbClr val="78350F"/>
                    </a:solidFill>
                    <a:latin typeface="Arial"/>
                  </a:rPr>
                  <a:t>: </a:t>
                </a:r>
                <a:r>
                  <a:rPr lang="en-IN" sz="2400">
                    <a:solidFill>
                      <a:srgbClr val="78350F"/>
                    </a:solidFill>
                    <a:latin typeface="Cambria Math" panose="02040503050406030204" pitchFamily="18" charset="0"/>
                  </a:rPr>
                  <a:t>$\alpha=\binom72 3^5\cdot\frac14=\frac{5103}{4}=1275.75$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den>
                            </m:f>
                          </m:e>
                        </m:d>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Term independent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e>
                    </m: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5</m:t>
                        </m:r>
                      </m:sup>
                    </m:sSup>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6</m:t>
                            </m:r>
                          </m:sup>
                        </m:sSup>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729</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5103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1275.75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1275.75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1275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$T_{r+1}=\binom7r(3x^2)^{7-r}\left(-\dfrac{1}{2x^5}\right)^r=\binom7r3^{7-r}\left(-\dfrac12\right)^rx^{14-7r}$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Term independent of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$14-7r=0$</a:t>
                </a:r>
                <a:r>
                  <a:rPr sz="2400" b="0">
                    <a:solidFill>
                      <a:srgbClr val="111827"/>
                    </a:solidFill>
                    <a:latin typeface="Arial"/>
                  </a:rPr>
                  <a:t>, so </a:t>
                </a:r>
                <a:r>
                  <a:rPr lang="en-IN" sz="2400">
                    <a:solidFill>
                      <a:srgbClr val="111827"/>
                    </a:solidFill>
                    <a:latin typeface="Cambria Math" panose="02040503050406030204" pitchFamily="18" charset="0"/>
                  </a:rPr>
                  <a:t>$r=2$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$\alpha=\binom72\,3^{5}\left(-\dfrac12\right)^2=\dfrac{7\cdot6}{2}\cdot3^5\cdot\dfrac14=\dfrac{7\cdot3^6}{4}$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$\dfrac{7\cdot729}{4}=\dfrac{5103}{4}=1275.75$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$[\alpha]=[1275.75]=1275$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1275</a:t>
            </a:r>
            <a:endParaRPr sz="2800">
              <a:solidFill>
                <a:srgbClr val="15803D"/>
              </a:solidFill>
            </a:endParaRP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Clear the denominator: </a:t>
                </a:r>
                <a14:m>
                  <m:oMath xmlns:m="http://schemas.openxmlformats.org/officeDocument/2006/math">
                    <m:r>
                      <a:rPr lang="en-IN" sz="2400" i="1">
                        <a:solidFill>
                          <a:srgbClr val="78350F"/>
                        </a:solidFill>
                        <a:latin typeface="Cambria Math" panose="02040503050406030204" pitchFamily="18" charset="0"/>
                      </a:rPr>
                      <m:t>3</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5</m:t>
                            </m:r>
                          </m:sup>
                        </m:sSup>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6</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7</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5</m:t>
                            </m:r>
                          </m:sup>
                        </m:sSup>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Clear the denominator: </a:t>
                </a:r>
                <a:r>
                  <a:rPr lang="en-IN" sz="2400">
                    <a:solidFill>
                      <a:srgbClr val="78350F"/>
                    </a:solidFill>
                    <a:latin typeface="Cambria Math" panose="02040503050406030204" pitchFamily="18" charset="0"/>
                  </a:rPr>
                  <a:t>$3x^2-\frac1{2x^5}=\frac{6x^7-1}{2x^5}$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den>
                            </m:f>
                          </m:e>
                        </m:d>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7</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35</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constant term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7</m:t>
                            </m:r>
                          </m:sup>
                        </m:sSup>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35</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coefficient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5</m:t>
                            </m:r>
                          </m:den>
                        </m:f>
                      </m:e>
                    </m: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5</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7776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163296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163296</m:t>
                        </m:r>
                      </m:num>
                      <m:den>
                        <m:r>
                          <a:rPr lang="en-IN" sz="2400" i="1">
                            <a:solidFill>
                              <a:srgbClr val="111827"/>
                            </a:solidFill>
                            <a:latin typeface="Cambria Math" panose="02040503050406030204" pitchFamily="18" charset="0"/>
                          </a:rPr>
                          <m:t>128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1275.75</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1275</m:t>
                    </m:r>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$\left(3x^2-\dfrac1{2x^5}\right)^7=\dfrac{(6x^7-1)^7}{2^7x^{35}}$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constant term is </a:t>
                </a:r>
                <a:r>
                  <a:rPr lang="en-IN" sz="2400">
                    <a:solidFill>
                      <a:srgbClr val="111827"/>
                    </a:solidFill>
                    <a:latin typeface="Cambria Math" panose="02040503050406030204" pitchFamily="18" charset="0"/>
                  </a:rPr>
                  <a:t>$\dfrac1{2^7}\times$</a:t>
                </a:r>
                <a:r>
                  <a:rPr sz="2400" b="0">
                    <a:solidFill>
                      <a:srgbClr val="111827"/>
                    </a:solidFill>
                    <a:latin typeface="Arial"/>
                  </a:rPr>
                  <a:t> the coefficient of </a:t>
                </a:r>
                <a:r>
                  <a:rPr lang="en-IN" sz="2400">
                    <a:solidFill>
                      <a:srgbClr val="111827"/>
                    </a:solidFill>
                    <a:latin typeface="Cambria Math" panose="02040503050406030204" pitchFamily="18" charset="0"/>
                  </a:rPr>
                  <a:t>$x^{35}=(x^7)^5$</a:t>
                </a:r>
                <a:r>
                  <a:rPr sz="2400" b="0">
                    <a:solidFill>
                      <a:srgbClr val="111827"/>
                    </a:solidFill>
                    <a:latin typeface="Arial"/>
                  </a:rPr>
                  <a:t> in </a:t>
                </a:r>
                <a:r>
                  <a:rPr lang="en-IN" sz="2400">
                    <a:solidFill>
                      <a:srgbClr val="111827"/>
                    </a:solidFill>
                    <a:latin typeface="Cambria Math" panose="02040503050406030204" pitchFamily="18" charset="0"/>
                  </a:rPr>
                  <a:t>$(6x^7-1)^7$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coefficient is </a:t>
                </a:r>
                <a:r>
                  <a:rPr lang="en-IN" sz="2400">
                    <a:solidFill>
                      <a:srgbClr val="111827"/>
                    </a:solidFill>
                    <a:latin typeface="Cambria Math" panose="02040503050406030204" pitchFamily="18" charset="0"/>
                  </a:rPr>
                  <a:t>$\binom75\,6^5\,(-1)^2=21\cdot7776=163296$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$\alpha=\dfrac{163296}{128}=1275.75$</a:t>
                </a:r>
                <a:r>
                  <a:rPr sz="2400" b="0">
                    <a:solidFill>
                      <a:srgbClr val="111827"/>
                    </a:solidFill>
                    <a:latin typeface="Arial"/>
                  </a:rPr>
                  <a:t> and </a:t>
                </a:r>
                <a:r>
                  <a:rPr lang="en-IN" sz="2400">
                    <a:solidFill>
                      <a:srgbClr val="111827"/>
                    </a:solidFill>
                    <a:latin typeface="Cambria Math" panose="02040503050406030204" pitchFamily="18" charset="0"/>
                  </a:rPr>
                  <a:t>$[\alpha]=1275$</a:t>
                </a:r>
                <a:r>
                  <a:rPr sz="2400" b="0">
                    <a:solidFill>
                      <a:srgbClr val="111827"/>
                    </a:solidFill>
                    <a:latin typeface="Arial"/>
                  </a:rPr>
                  <a:t>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1275</a:t>
            </a:r>
            <a:endParaRPr sz="2800">
              <a:solidFill>
                <a:srgbClr val="15803D"/>
              </a:solidFill>
            </a:endParaRP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integer part; for positive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e>
                    </m:d>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1275.75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1275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𝑎</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needs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integers: </a:t>
                </a:r>
                <a14:m>
                  <m:oMath xmlns:m="http://schemas.openxmlformats.org/officeDocument/2006/math">
                    <m:r>
                      <a:rPr lang="en-IN" sz="2400" i="1">
                        <a:solidFill>
                          <a:srgbClr val="111827"/>
                        </a:solidFill>
                        <a:latin typeface="Cambria Math" panose="02040503050406030204" pitchFamily="18" charset="0"/>
                      </a:rPr>
                      <m:t>5103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5103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1275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5103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a:t>
                </a:r>
                <a:r>
                  <a:rPr sz="2400" b="0">
                    <a:solidFill>
                      <a:srgbClr val="111827"/>
                    </a:solidFill>
                    <a:latin typeface="Arial"/>
                  </a:rPr>
                  <a:t> is the integer part; for positive </a:t>
                </a:r>
                <a:r>
                  <a:rPr lang="en-IN" sz="2400">
                    <a:solidFill>
                      <a:srgbClr val="111827"/>
                    </a:solidFill>
                    <a:latin typeface="Cambria Math" panose="02040503050406030204" pitchFamily="18" charset="0"/>
                  </a:rPr>
                  <a:t>$x$</a:t>
                </a:r>
                <a:r>
                  <a:rPr sz="2400" b="0">
                    <a:solidFill>
                      <a:srgbClr val="111827"/>
                    </a:solidFill>
                    <a:latin typeface="Arial"/>
                  </a:rPr>
                  <a:t> it is </a:t>
                </a:r>
                <a:r>
                  <a:rPr lang="en-IN" sz="2400">
                    <a:solidFill>
                      <a:srgbClr val="111827"/>
                    </a:solidFill>
                    <a:latin typeface="Cambria Math" panose="02040503050406030204" pitchFamily="18" charset="0"/>
                  </a:rPr>
                  <a:t>$\left\lfloor x\right\rfloor$</a:t>
                </a:r>
                <a:r>
                  <a:rPr sz="2400" b="0">
                    <a:solidFill>
                      <a:srgbClr val="111827"/>
                    </a:solidFill>
                    <a:latin typeface="Arial"/>
                  </a:rPr>
                  <a:t>, so </a:t>
                </a:r>
                <a:r>
                  <a:rPr lang="en-IN" sz="2400">
                    <a:solidFill>
                      <a:srgbClr val="111827"/>
                    </a:solidFill>
                    <a:latin typeface="Cambria Math" panose="02040503050406030204" pitchFamily="18" charset="0"/>
                  </a:rPr>
                  <a:t>$[1275.75]=1275$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of </a:t>
                </a:r>
                <a:r>
                  <a:rPr lang="en-IN" sz="2400">
                    <a:solidFill>
                      <a:srgbClr val="111827"/>
                    </a:solidFill>
                    <a:latin typeface="Cambria Math" panose="02040503050406030204" pitchFamily="18" charset="0"/>
                  </a:rPr>
                  <a:t>$(px^a+qx^{-b})^n$</a:t>
                </a:r>
                <a:r>
                  <a:rPr sz="2400" b="0">
                    <a:solidFill>
                      <a:srgbClr val="111827"/>
                    </a:solidFill>
                    <a:latin typeface="Arial"/>
                  </a:rPr>
                  <a:t> needs </a:t>
                </a:r>
                <a:r>
                  <a:rPr lang="en-IN" sz="2400">
                    <a:solidFill>
                      <a:srgbClr val="111827"/>
                    </a:solidFill>
                    <a:latin typeface="Cambria Math" panose="02040503050406030204" pitchFamily="18" charset="0"/>
                  </a:rPr>
                  <a:t>$r=\frac{an}{a+b}$</a:t>
                </a:r>
                <a:r>
                  <a:rPr sz="2400" b="0">
                    <a:solidFill>
                      <a:srgbClr val="111827"/>
                    </a:solidFill>
                    <a:latin typeface="Arial"/>
                  </a:rPr>
                  <a:t> (here </a:t>
                </a:r>
                <a:r>
                  <a:rPr lang="en-IN" sz="2400">
                    <a:solidFill>
                      <a:srgbClr val="111827"/>
                    </a:solidFill>
                    <a:latin typeface="Cambria Math" panose="02040503050406030204" pitchFamily="18" charset="0"/>
                  </a:rPr>
                  <a:t>$\frac{2\cdot7}{7}=2$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integers: </a:t>
                </a:r>
                <a:r>
                  <a:rPr lang="en-IN" sz="2400">
                    <a:solidFill>
                      <a:srgbClr val="111827"/>
                    </a:solidFill>
                    <a:latin typeface="Cambria Math" panose="02040503050406030204" pitchFamily="18" charset="0"/>
                  </a:rPr>
                  <a:t>$5103=4\cdot1275+3$</a:t>
                </a:r>
                <a:r>
                  <a:rPr sz="2400" b="0">
                    <a:solidFill>
                      <a:srgbClr val="111827"/>
                    </a:solidFill>
                    <a:latin typeface="Arial"/>
                  </a:rPr>
                  <a:t>, so </a:t>
                </a:r>
                <a:r>
                  <a:rPr lang="en-IN" sz="2400">
                    <a:solidFill>
                      <a:srgbClr val="111827"/>
                    </a:solidFill>
                    <a:latin typeface="Cambria Math" panose="02040503050406030204" pitchFamily="18" charset="0"/>
                  </a:rPr>
                  <a:t>$\frac{5103}{4}=1275+\frac34$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$21\cdot243=5103$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 in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10</m:t>
                        </m:r>
                      </m:sup>
                    </m:sSup>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$x^{7}$</a:t>
                </a:r>
                <a:r>
                  <a:rPr sz="2400" b="0">
                    <a:solidFill>
                      <a:srgbClr val="111827"/>
                    </a:solidFill>
                    <a:latin typeface="Arial"/>
                  </a:rPr>
                  <a:t> in </a:t>
                </a:r>
                <a:r>
                  <a:rPr lang="en-IN" sz="2400">
                    <a:solidFill>
                      <a:srgbClr val="111827"/>
                    </a:solidFill>
                    <a:latin typeface="Cambria Math" panose="02040503050406030204" pitchFamily="18" charset="0"/>
                  </a:rPr>
                  <a:t>$\left(1-x+2x^3\right)^{10}$</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Multinomial expansion (coefficients of a trinomial)</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Choose </a:t>
                </a:r>
                <a14:m>
                  <m:oMath xmlns:m="http://schemas.openxmlformats.org/officeDocument/2006/math">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 copies of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oMath>
                </a14:m>
                <a:r>
                  <a:rPr sz="2400" b="0">
                    <a:solidFill>
                      <a:srgbClr val="78350F"/>
                    </a:solidFill>
                    <a:latin typeface="Arial"/>
                  </a:rPr>
                  <a:t> with </a:t>
                </a:r>
                <a14:m>
                  <m:oMath xmlns:m="http://schemas.openxmlformats.org/officeDocument/2006/math">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3</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oMath>
                </a14:m>
                <a:r>
                  <a:rPr sz="2400" b="0">
                    <a:solidFill>
                      <a:srgbClr val="78350F"/>
                    </a:solidFill>
                    <a:latin typeface="Arial"/>
                  </a:rPr>
                  <a:t> and </a:t>
                </a:r>
                <a14:m>
                  <m:oMath xmlns:m="http://schemas.openxmlformats.org/officeDocument/2006/math">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3</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oMath>
                </a14:m>
                <a:r>
                  <a:rPr sz="2400" b="0">
                    <a:solidFill>
                      <a:srgbClr val="78350F"/>
                    </a:solidFill>
                    <a:latin typeface="Arial"/>
                  </a:rPr>
                  <a:t>; there are exactly three triples.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Choose </a:t>
                </a:r>
                <a:r>
                  <a:rPr lang="en-IN" sz="2400">
                    <a:solidFill>
                      <a:srgbClr val="78350F"/>
                    </a:solidFill>
                    <a:latin typeface="Cambria Math" panose="02040503050406030204" pitchFamily="18" charset="0"/>
                  </a:rPr>
                  <a:t>$r_1,r_2,r_3$</a:t>
                </a:r>
                <a:r>
                  <a:rPr sz="2400" b="0">
                    <a:solidFill>
                      <a:srgbClr val="78350F"/>
                    </a:solidFill>
                    <a:latin typeface="Arial"/>
                  </a:rPr>
                  <a:t> copies of </a:t>
                </a:r>
                <a:r>
                  <a:rPr lang="en-IN" sz="2400">
                    <a:solidFill>
                      <a:srgbClr val="78350F"/>
                    </a:solidFill>
                    <a:latin typeface="Cambria Math" panose="02040503050406030204" pitchFamily="18" charset="0"/>
                  </a:rPr>
                  <a:t>$1,-x,2x^3$</a:t>
                </a:r>
                <a:r>
                  <a:rPr sz="2400" b="0">
                    <a:solidFill>
                      <a:srgbClr val="78350F"/>
                    </a:solidFill>
                    <a:latin typeface="Arial"/>
                  </a:rPr>
                  <a:t> with </a:t>
                </a:r>
                <a:r>
                  <a:rPr lang="en-IN" sz="2400">
                    <a:solidFill>
                      <a:srgbClr val="78350F"/>
                    </a:solidFill>
                    <a:latin typeface="Cambria Math" panose="02040503050406030204" pitchFamily="18" charset="0"/>
                  </a:rPr>
                  <a:t>$r_1+r_2+r_3=10$</a:t>
                </a:r>
                <a:r>
                  <a:rPr sz="2400" b="0">
                    <a:solidFill>
                      <a:srgbClr val="78350F"/>
                    </a:solidFill>
                    <a:latin typeface="Arial"/>
                  </a:rPr>
                  <a:t> and </a:t>
                </a:r>
                <a:r>
                  <a:rPr lang="en-IN" sz="2400">
                    <a:solidFill>
                      <a:srgbClr val="78350F"/>
                    </a:solidFill>
                    <a:latin typeface="Cambria Math" panose="02040503050406030204" pitchFamily="18" charset="0"/>
                  </a:rPr>
                  <a:t>$r_2+3r_3=7$</a:t>
                </a:r>
                <a:r>
                  <a:rPr sz="2400" b="0">
                    <a:solidFill>
                      <a:srgbClr val="78350F"/>
                    </a:solidFill>
                    <a:latin typeface="Arial"/>
                  </a:rPr>
                  <a:t>; there are exactly three triples.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General term: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sup>
                    </m:sSup>
                    <m:sSup>
                      <m:e>
                        <m:r>
                          <a:rPr lang="en-IN" sz="2400" i="1">
                            <a:solidFill>
                              <a:srgbClr val="111827"/>
                            </a:solidFill>
                            <a:latin typeface="Cambria Math" panose="02040503050406030204" pitchFamily="18" charset="0"/>
                          </a:rPr>
                          <m:t>2</m:t>
                        </m:r>
                      </m:e>
                      <m:sup>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sup>
                    </m:sSup>
                    <m:sSup>
                      <m:e>
                        <m:r>
                          <a:rPr lang="en-IN" sz="2400" i="1">
                            <a:solidFill>
                              <a:srgbClr val="111827"/>
                            </a:solidFill>
                            <a:latin typeface="Cambria Math" panose="02040503050406030204" pitchFamily="18" charset="0"/>
                          </a:rPr>
                          <m:t>𝑥</m:t>
                        </m:r>
                      </m:e>
                      <m:sup>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Conditions: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would make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General term: </a:t>
                </a:r>
                <a:r>
                  <a:rPr lang="en-IN" sz="2400">
                    <a:solidFill>
                      <a:srgbClr val="111827"/>
                    </a:solidFill>
                    <a:latin typeface="Cambria Math" panose="02040503050406030204" pitchFamily="18" charset="0"/>
                  </a:rPr>
                  <a:t>$\dfrac{10!}{r_1!\,r_2!\,r_3!}(1)^{r_1}(-x)^{r_2}(2x^3)^{r_3}=\dfrac{10!}{r_1!\,r_2!\,r_3!}(-1)^{r_2}2^{r_3}x^{r_2+3r_3}$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Conditions: </a:t>
                </a:r>
                <a:r>
                  <a:rPr lang="en-IN" sz="2400">
                    <a:solidFill>
                      <a:srgbClr val="111827"/>
                    </a:solidFill>
                    <a:latin typeface="Cambria Math" panose="02040503050406030204" pitchFamily="18" charset="0"/>
                  </a:rPr>
                  <a:t>$r_1+r_2+r_3=10$</a:t>
                </a:r>
                <a:r>
                  <a:rPr sz="2400" b="0">
                    <a:solidFill>
                      <a:srgbClr val="111827"/>
                    </a:solidFill>
                    <a:latin typeface="Arial"/>
                  </a:rPr>
                  <a:t> and </a:t>
                </a:r>
                <a:r>
                  <a:rPr lang="en-IN" sz="2400">
                    <a:solidFill>
                      <a:srgbClr val="111827"/>
                    </a:solidFill>
                    <a:latin typeface="Cambria Math" panose="02040503050406030204" pitchFamily="18" charset="0"/>
                  </a:rPr>
                  <a:t>$r_2+3r_3=7$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$r_3=0\Rightarrow r_2=7,r_1=3$</a:t>
                </a:r>
                <a:r>
                  <a:rPr sz="2400" b="0">
                    <a:solidFill>
                      <a:srgbClr val="111827"/>
                    </a:solidFill>
                    <a:latin typeface="Arial"/>
                  </a:rPr>
                  <a:t>; </a:t>
                </a:r>
                <a:r>
                  <a:rPr lang="en-IN" sz="2400">
                    <a:solidFill>
                      <a:srgbClr val="111827"/>
                    </a:solidFill>
                    <a:latin typeface="Cambria Math" panose="02040503050406030204" pitchFamily="18" charset="0"/>
                  </a:rPr>
                  <a:t>$r_3=1\Rightarrow r_2=4,r_1=5$</a:t>
                </a:r>
                <a:r>
                  <a:rPr sz="2400" b="0">
                    <a:solidFill>
                      <a:srgbClr val="111827"/>
                    </a:solidFill>
                    <a:latin typeface="Arial"/>
                  </a:rPr>
                  <a:t>; </a:t>
                </a:r>
                <a:r>
                  <a:rPr lang="en-IN" sz="2400">
                    <a:solidFill>
                      <a:srgbClr val="111827"/>
                    </a:solidFill>
                    <a:latin typeface="Cambria Math" panose="02040503050406030204" pitchFamily="18" charset="0"/>
                  </a:rPr>
                  <a:t>$r_3=2\Rightarrow r_2=1,r_1=7$</a:t>
                </a:r>
                <a:r>
                  <a:rPr sz="2400" b="0">
                    <a:solidFill>
                      <a:srgbClr val="111827"/>
                    </a:solidFill>
                    <a:latin typeface="Arial"/>
                  </a:rPr>
                  <a:t> (</a:t>
                </a:r>
                <a:r>
                  <a:rPr lang="en-IN" sz="2400">
                    <a:solidFill>
                      <a:srgbClr val="111827"/>
                    </a:solidFill>
                    <a:latin typeface="Cambria Math" panose="02040503050406030204" pitchFamily="18" charset="0"/>
                  </a:rPr>
                  <a:t>$r_3\ge3$</a:t>
                </a:r>
                <a:r>
                  <a:rPr sz="2400" b="0">
                    <a:solidFill>
                      <a:srgbClr val="111827"/>
                    </a:solidFill>
                    <a:latin typeface="Arial"/>
                  </a:rPr>
                  <a:t> would make </a:t>
                </a:r>
                <a:r>
                  <a:rPr lang="en-IN" sz="2400">
                    <a:solidFill>
                      <a:srgbClr val="111827"/>
                    </a:solidFill>
                    <a:latin typeface="Cambria Math" panose="02040503050406030204" pitchFamily="18" charset="0"/>
                  </a:rPr>
                  <a:t>$r_2&lt;0$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a:t>
                </a:r>
                <a:r>
                  <a:rPr lang="en-IN" sz="2400">
                    <a:solidFill>
                      <a:srgbClr val="111827"/>
                    </a:solidFill>
                    <a:latin typeface="Cambria Math" panose="02040503050406030204" pitchFamily="18" charset="0"/>
                  </a:rPr>
                  <a:t>$=\dfrac{10!}{3!\,7!}(-1)^7+\dfrac{10!}{5!\,4!\,1!}(-1)^4\cdot2+\dfrac{10!}{7!\,1!\,2!}(-1)^1\cdot2^2$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$=-120+1260\cdot2-360\cdot4=-120+2520-1440=960$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960</a:t>
            </a:r>
            <a:endParaRPr sz="2800">
              <a:solidFill>
                <a:srgbClr val="15803D"/>
              </a:solidFill>
            </a:endParaRP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Multinomial coefficient: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list all triples satisfying the weight equation.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weights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total degree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factors,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runs over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all coefficients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1024</m:t>
                    </m:r>
                  </m:oMath>
                </a14:m>
                <a:r>
                  <a:rPr sz="2400" b="0">
                    <a:solidFill>
                      <a:srgbClr val="111827"/>
                    </a:solidFill>
                    <a:latin typeface="Arial"/>
                  </a:rPr>
                  <a:t>; the answer </a:t>
                </a:r>
                <a14:m>
                  <m:oMath xmlns:m="http://schemas.openxmlformats.org/officeDocument/2006/math">
                    <m:r>
                      <a:rPr lang="en-IN" sz="2400" i="1">
                        <a:solidFill>
                          <a:srgbClr val="111827"/>
                        </a:solidFill>
                        <a:latin typeface="Cambria Math" panose="02040503050406030204" pitchFamily="18" charset="0"/>
                      </a:rPr>
                      <m:t>960</m:t>
                    </m:r>
                  </m:oMath>
                </a14:m>
                <a:r>
                  <a:rPr sz="2400" b="0">
                    <a:solidFill>
                      <a:srgbClr val="111827"/>
                    </a:solidFill>
                    <a:latin typeface="Arial"/>
                  </a:rPr>
                  <a:t> is a plausible fraction.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Multinomial coefficient: </a:t>
                </a:r>
                <a:r>
                  <a:rPr lang="en-IN" sz="2400">
                    <a:solidFill>
                      <a:srgbClr val="111827"/>
                    </a:solidFill>
                    <a:latin typeface="Cambria Math" panose="02040503050406030204" pitchFamily="18" charset="0"/>
                  </a:rPr>
                  <a:t>$\frac{n!}{r_1!r_2!r_3!}$</a:t>
                </a:r>
                <a:r>
                  <a:rPr sz="2400" b="0">
                    <a:solidFill>
                      <a:srgbClr val="111827"/>
                    </a:solidFill>
                    <a:latin typeface="Arial"/>
                  </a:rPr>
                  <a:t>; list all triples satisfying the weight equation.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weights </a:t>
                </a:r>
                <a:r>
                  <a:rPr lang="en-IN" sz="2400">
                    <a:solidFill>
                      <a:srgbClr val="111827"/>
                    </a:solidFill>
                    <a:latin typeface="Cambria Math" panose="02040503050406030204" pitchFamily="18" charset="0"/>
                  </a:rPr>
                  <a:t>$0,1,3$</a:t>
                </a:r>
                <a:r>
                  <a:rPr sz="2400" b="0">
                    <a:solidFill>
                      <a:srgbClr val="111827"/>
                    </a:solidFill>
                    <a:latin typeface="Arial"/>
                  </a:rPr>
                  <a:t> and total degree </a:t>
                </a:r>
                <a:r>
                  <a:rPr lang="en-IN" sz="2400">
                    <a:solidFill>
                      <a:srgbClr val="111827"/>
                    </a:solidFill>
                    <a:latin typeface="Cambria Math" panose="02040503050406030204" pitchFamily="18" charset="0"/>
                  </a:rPr>
                  <a:t>$7$</a:t>
                </a:r>
                <a:r>
                  <a:rPr sz="2400" b="0">
                    <a:solidFill>
                      <a:srgbClr val="111827"/>
                    </a:solidFill>
                    <a:latin typeface="Arial"/>
                  </a:rPr>
                  <a:t> with </a:t>
                </a:r>
                <a:r>
                  <a:rPr lang="en-IN" sz="2400">
                    <a:solidFill>
                      <a:srgbClr val="111827"/>
                    </a:solidFill>
                    <a:latin typeface="Cambria Math" panose="02040503050406030204" pitchFamily="18" charset="0"/>
                  </a:rPr>
                  <a:t>$10$</a:t>
                </a:r>
                <a:r>
                  <a:rPr sz="2400" b="0">
                    <a:solidFill>
                      <a:srgbClr val="111827"/>
                    </a:solidFill>
                    <a:latin typeface="Arial"/>
                  </a:rPr>
                  <a:t> factors, </a:t>
                </a:r>
                <a:r>
                  <a:rPr lang="en-IN" sz="2400">
                    <a:solidFill>
                      <a:srgbClr val="111827"/>
                    </a:solidFill>
                    <a:latin typeface="Cambria Math" panose="02040503050406030204" pitchFamily="18" charset="0"/>
                  </a:rPr>
                  <a:t>$r_3$</a:t>
                </a:r>
                <a:r>
                  <a:rPr sz="2400" b="0">
                    <a:solidFill>
                      <a:srgbClr val="111827"/>
                    </a:solidFill>
                    <a:latin typeface="Arial"/>
                  </a:rPr>
                  <a:t> runs over </a:t>
                </a:r>
                <a:r>
                  <a:rPr lang="en-IN" sz="2400">
                    <a:solidFill>
                      <a:srgbClr val="111827"/>
                    </a:solidFill>
                    <a:latin typeface="Cambria Math" panose="02040503050406030204" pitchFamily="18" charset="0"/>
                  </a:rPr>
                  <a:t>$0,1,2$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all coefficients is </a:t>
                </a:r>
                <a:r>
                  <a:rPr lang="en-IN" sz="2400">
                    <a:solidFill>
                      <a:srgbClr val="111827"/>
                    </a:solidFill>
                    <a:latin typeface="Cambria Math" panose="02040503050406030204" pitchFamily="18" charset="0"/>
                  </a:rPr>
                  <a:t>$(1-1+2)^{10}=1024$</a:t>
                </a:r>
                <a:r>
                  <a:rPr sz="2400" b="0">
                    <a:solidFill>
                      <a:srgbClr val="111827"/>
                    </a:solidFill>
                    <a:latin typeface="Arial"/>
                  </a:rPr>
                  <a:t>; the answer </a:t>
                </a:r>
                <a:r>
                  <a:rPr lang="en-IN" sz="2400">
                    <a:solidFill>
                      <a:srgbClr val="111827"/>
                    </a:solidFill>
                    <a:latin typeface="Cambria Math" panose="02040503050406030204" pitchFamily="18" charset="0"/>
                  </a:rPr>
                  <a:t>$960$</a:t>
                </a:r>
                <a:r>
                  <a:rPr sz="2400" b="0">
                    <a:solidFill>
                      <a:srgbClr val="111827"/>
                    </a:solidFill>
                    <a:latin typeface="Arial"/>
                  </a:rPr>
                  <a:t> is a plausible fraction.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$\frac{10!}{3!7!}=120$</a:t>
                </a:r>
                <a:r>
                  <a:rPr sz="2400" b="0">
                    <a:solidFill>
                      <a:srgbClr val="111827"/>
                    </a:solidFill>
                    <a:latin typeface="Arial"/>
                  </a:rPr>
                  <a:t>, </a:t>
                </a:r>
                <a:r>
                  <a:rPr lang="en-IN" sz="2400">
                    <a:solidFill>
                      <a:srgbClr val="111827"/>
                    </a:solidFill>
                    <a:latin typeface="Cambria Math" panose="02040503050406030204" pitchFamily="18" charset="0"/>
                  </a:rPr>
                  <a:t>$\frac{10!}{5!4!1!}=1260$</a:t>
                </a:r>
                <a:r>
                  <a:rPr sz="2400" b="0">
                    <a:solidFill>
                      <a:srgbClr val="111827"/>
                    </a:solidFill>
                    <a:latin typeface="Arial"/>
                  </a:rPr>
                  <a:t>, </a:t>
                </a:r>
                <a:r>
                  <a:rPr lang="en-IN" sz="2400">
                    <a:solidFill>
                      <a:srgbClr val="111827"/>
                    </a:solidFill>
                    <a:latin typeface="Cambria Math" panose="02040503050406030204" pitchFamily="18" charset="0"/>
                  </a:rPr>
                  <a:t>$\frac{10!}{7!1!2!}=360$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integral terms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e>
                        </m:d>
                      </m:e>
                      <m:sup>
                        <m:r>
                          <a:rPr lang="en-IN" sz="2400" i="1">
                            <a:solidFill>
                              <a:srgbClr val="111827"/>
                            </a:solidFill>
                            <a:latin typeface="Cambria Math" panose="02040503050406030204" pitchFamily="18" charset="0"/>
                          </a:rPr>
                          <m:t>680</m:t>
                        </m:r>
                      </m:sup>
                    </m:sSup>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integral terms in the expansion of </a:t>
                </a:r>
                <a:r>
                  <a:rPr lang="en-IN" sz="2400">
                    <a:solidFill>
                      <a:srgbClr val="111827"/>
                    </a:solidFill>
                    <a:latin typeface="Cambria Math" panose="02040503050406030204" pitchFamily="18" charset="0"/>
                  </a:rPr>
                  <a:t>$\left(3^{1/2}+5^{1/4}\right)^{680}$</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integral terms in a binomial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680</m:t>
                            </m:r>
                          </m:num>
                          <m:den>
                            <m:r>
                              <a:rPr lang="en-IN" sz="2400" i="1">
                                <a:solidFill>
                                  <a:srgbClr val="78350F"/>
                                </a:solidFill>
                                <a:latin typeface="Cambria Math" panose="02040503050406030204" pitchFamily="18" charset="0"/>
                              </a:rPr>
                              <m:t>𝑟</m:t>
                            </m:r>
                          </m:den>
                        </m:f>
                      </m:e>
                    </m:d>
                    <m:sSup>
                      <m:e>
                        <m:r>
                          <a:rPr lang="en-IN" sz="2400" i="1">
                            <a:solidFill>
                              <a:srgbClr val="78350F"/>
                            </a:solidFill>
                            <a:latin typeface="Cambria Math" panose="02040503050406030204" pitchFamily="18" charset="0"/>
                          </a:rPr>
                          <m:t>3</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680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p>
                    </m:sSup>
                    <m:sSup>
                      <m:e>
                        <m:r>
                          <a:rPr lang="en-IN" sz="2400" i="1">
                            <a:solidFill>
                              <a:srgbClr val="78350F"/>
                            </a:solidFill>
                            <a:latin typeface="Cambria Math" panose="02040503050406030204" pitchFamily="18" charset="0"/>
                          </a:rPr>
                          <m:t>5</m:t>
                        </m:r>
                      </m:e>
                      <m:sup>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sup>
                    </m:sSup>
                  </m:oMath>
                </a14:m>
                <a:r>
                  <a:rPr sz="2400" b="0">
                    <a:solidFill>
                      <a:srgbClr val="78350F"/>
                    </a:solidFill>
                    <a:latin typeface="Arial"/>
                  </a:rPr>
                  <a:t> is an integer exactly when </a:t>
                </a:r>
                <a14:m>
                  <m:oMath xmlns:m="http://schemas.openxmlformats.org/officeDocument/2006/math">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$T_{r+1}=\binom{680}{r}3^{(680-r)/2}5^{r/4}$</a:t>
                </a:r>
                <a:r>
                  <a:rPr sz="2400" b="0">
                    <a:solidFill>
                      <a:srgbClr val="78350F"/>
                    </a:solidFill>
                    <a:latin typeface="Arial"/>
                  </a:rPr>
                  <a:t> is an integer exactly when </a:t>
                </a:r>
                <a:r>
                  <a:rPr lang="en-IN" sz="2400">
                    <a:solidFill>
                      <a:srgbClr val="78350F"/>
                    </a:solidFill>
                    <a:latin typeface="Cambria Math" panose="02040503050406030204" pitchFamily="18" charset="0"/>
                  </a:rPr>
                  <a:t>$4\mid 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680</m:t>
                            </m:r>
                          </m:num>
                          <m:den>
                            <m:r>
                              <a:rPr lang="en-IN" sz="2400" i="1">
                                <a:solidFill>
                                  <a:srgbClr val="111827"/>
                                </a:solidFill>
                                <a:latin typeface="Cambria Math" panose="02040503050406030204" pitchFamily="18" charset="0"/>
                              </a:rPr>
                              <m:t>𝑟</m:t>
                            </m:r>
                          </m:den>
                        </m:f>
                      </m:e>
                    </m:d>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680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e>
                        </m:d>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680</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3</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sup>
                    </m:sSup>
                    <m:sSup>
                      <m:e>
                        <m:r>
                          <a:rPr lang="en-IN" sz="2400" i="1">
                            <a:solidFill>
                              <a:srgbClr val="111827"/>
                            </a:solidFill>
                            <a:latin typeface="Cambria Math" panose="02040503050406030204" pitchFamily="18" charset="0"/>
                          </a:rPr>
                          <m:t>5</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4</m:t>
                            </m:r>
                          </m:den>
                        </m:f>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term is an integer when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is an integer, i.e.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these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is even,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is an integer as well; hence all such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are accepted.</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$T_{r+1}=\binom{680}{r}\left(3^{1/2}\right)^{680-r}\left(5^{1/4}\right)^r=\binom{680}{r}3^{\frac{680-r}{2}}5^{\frac r4}$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term is an integer when </a:t>
                </a:r>
                <a:r>
                  <a:rPr lang="en-IN" sz="2400">
                    <a:solidFill>
                      <a:srgbClr val="111827"/>
                    </a:solidFill>
                    <a:latin typeface="Cambria Math" panose="02040503050406030204" pitchFamily="18" charset="0"/>
                  </a:rPr>
                  <a:t>$\frac r4$</a:t>
                </a:r>
                <a:r>
                  <a:rPr sz="2400" b="0">
                    <a:solidFill>
                      <a:srgbClr val="111827"/>
                    </a:solidFill>
                    <a:latin typeface="Arial"/>
                  </a:rPr>
                  <a:t> is an integer, i.e. </a:t>
                </a:r>
                <a:r>
                  <a:rPr lang="en-IN" sz="2400">
                    <a:solidFill>
                      <a:srgbClr val="111827"/>
                    </a:solidFill>
                    <a:latin typeface="Cambria Math" panose="02040503050406030204" pitchFamily="18" charset="0"/>
                  </a:rPr>
                  <a:t>$r=0,4,8,\dots,680$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these </a:t>
                </a:r>
                <a:r>
                  <a:rPr lang="en-IN" sz="2400">
                    <a:solidFill>
                      <a:srgbClr val="111827"/>
                    </a:solidFill>
                    <a:latin typeface="Cambria Math" panose="02040503050406030204" pitchFamily="18" charset="0"/>
                  </a:rPr>
                  <a:t>$r$</a:t>
                </a:r>
                <a:r>
                  <a:rPr sz="2400" b="0">
                    <a:solidFill>
                      <a:srgbClr val="111827"/>
                    </a:solidFill>
                    <a:latin typeface="Arial"/>
                  </a:rPr>
                  <a:t>, </a:t>
                </a:r>
                <a:r>
                  <a:rPr lang="en-IN" sz="2400">
                    <a:solidFill>
                      <a:srgbClr val="111827"/>
                    </a:solidFill>
                    <a:latin typeface="Cambria Math" panose="02040503050406030204" pitchFamily="18" charset="0"/>
                  </a:rPr>
                  <a:t>$r$</a:t>
                </a:r>
                <a:r>
                  <a:rPr sz="2400" b="0">
                    <a:solidFill>
                      <a:srgbClr val="111827"/>
                    </a:solidFill>
                    <a:latin typeface="Arial"/>
                  </a:rPr>
                  <a:t> is even, so </a:t>
                </a:r>
                <a:r>
                  <a:rPr lang="en-IN" sz="2400">
                    <a:solidFill>
                      <a:srgbClr val="111827"/>
                    </a:solidFill>
                    <a:latin typeface="Cambria Math" panose="02040503050406030204" pitchFamily="18" charset="0"/>
                  </a:rPr>
                  <a:t>$\frac{680-r}{2}$</a:t>
                </a:r>
                <a:r>
                  <a:rPr sz="2400" b="0">
                    <a:solidFill>
                      <a:srgbClr val="111827"/>
                    </a:solidFill>
                    <a:latin typeface="Arial"/>
                  </a:rPr>
                  <a:t> is an integer as well; hence all such </a:t>
                </a:r>
                <a:r>
                  <a:rPr lang="en-IN" sz="2400">
                    <a:solidFill>
                      <a:srgbClr val="111827"/>
                    </a:solidFill>
                    <a:latin typeface="Cambria Math" panose="02040503050406030204" pitchFamily="18" charset="0"/>
                  </a:rPr>
                  <a:t>$r$</a:t>
                </a:r>
                <a:r>
                  <a:rPr sz="2400" b="0">
                    <a:solidFill>
                      <a:srgbClr val="111827"/>
                    </a:solidFill>
                    <a:latin typeface="Arial"/>
                  </a:rPr>
                  <a:t> are accepted.</a:t>
                </a:r>
                <a:endParaRPr sz="2400">
                  <a:solidFill>
                    <a:srgbClr val="111827"/>
                  </a:solidFill>
                </a:endParaRPr>
              </a:p>
            </p:txBody>
          </p:sp>
        </mc:Fallback>
      </mc:AlternateContent>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values: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680</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integral terms is </a:t>
                </a:r>
                <a14:m>
                  <m:oMath xmlns:m="http://schemas.openxmlformats.org/officeDocument/2006/math">
                    <m:r>
                      <a:rPr lang="en-IN" sz="2400" i="1">
                        <a:solidFill>
                          <a:srgbClr val="111827"/>
                        </a:solidFill>
                        <a:latin typeface="Cambria Math" panose="02040503050406030204" pitchFamily="18" charset="0"/>
                      </a:rPr>
                      <m:t>171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values: </a:t>
                </a:r>
                <a:r>
                  <a:rPr lang="en-IN" sz="2400">
                    <a:solidFill>
                      <a:srgbClr val="111827"/>
                    </a:solidFill>
                    <a:latin typeface="Cambria Math" panose="02040503050406030204" pitchFamily="18" charset="0"/>
                  </a:rPr>
                  <a:t>$\frac{680}{4}+1=171$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integral terms is </a:t>
                </a:r>
                <a:r>
                  <a:rPr lang="en-IN" sz="2400">
                    <a:solidFill>
                      <a:srgbClr val="111827"/>
                    </a:solidFill>
                    <a:latin typeface="Cambria Math" panose="02040503050406030204" pitchFamily="18" charset="0"/>
                  </a:rPr>
                  <a:t>$171$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171</a:t>
            </a:r>
            <a:endParaRPr sz="2800">
              <a:solidFill>
                <a:srgbClr val="15803D"/>
              </a:solidFill>
            </a:endParaRP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up>
                            </m:sSup>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is an integer iff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(when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are not perfect powers).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Combine congruences on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using the CRT, then count in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is implied by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680</m:t>
                    </m:r>
                  </m:oMath>
                </a14:m>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171</m:t>
                    </m:r>
                  </m:oMath>
                </a14:m>
                <a:r>
                  <a:rPr sz="2400" b="0">
                    <a:solidFill>
                      <a:srgbClr val="111827"/>
                    </a:solidFill>
                    <a:latin typeface="Arial"/>
                  </a:rPr>
                  <a:t> elements.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$\left(a^{1/p}+b^{1/q}\right)^n$</a:t>
                </a:r>
                <a:r>
                  <a:rPr sz="2400" b="0">
                    <a:solidFill>
                      <a:srgbClr val="111827"/>
                    </a:solidFill>
                    <a:latin typeface="Arial"/>
                  </a:rPr>
                  <a:t>, </a:t>
                </a:r>
                <a:r>
                  <a:rPr lang="en-IN" sz="2400">
                    <a:solidFill>
                      <a:srgbClr val="111827"/>
                    </a:solidFill>
                    <a:latin typeface="Cambria Math" panose="02040503050406030204" pitchFamily="18" charset="0"/>
                  </a:rPr>
                  <a:t>$T_{r+1}$</a:t>
                </a:r>
                <a:r>
                  <a:rPr sz="2400" b="0">
                    <a:solidFill>
                      <a:srgbClr val="111827"/>
                    </a:solidFill>
                    <a:latin typeface="Arial"/>
                  </a:rPr>
                  <a:t> is an integer iff </a:t>
                </a:r>
                <a:r>
                  <a:rPr lang="en-IN" sz="2400">
                    <a:solidFill>
                      <a:srgbClr val="111827"/>
                    </a:solidFill>
                    <a:latin typeface="Cambria Math" panose="02040503050406030204" pitchFamily="18" charset="0"/>
                  </a:rPr>
                  <a:t>$p\mid(n-r)$</a:t>
                </a:r>
                <a:r>
                  <a:rPr sz="2400" b="0">
                    <a:solidFill>
                      <a:srgbClr val="111827"/>
                    </a:solidFill>
                    <a:latin typeface="Arial"/>
                  </a:rPr>
                  <a:t> and </a:t>
                </a:r>
                <a:r>
                  <a:rPr lang="en-IN" sz="2400">
                    <a:solidFill>
                      <a:srgbClr val="111827"/>
                    </a:solidFill>
                    <a:latin typeface="Cambria Math" panose="02040503050406030204" pitchFamily="18" charset="0"/>
                  </a:rPr>
                  <a:t>$q\mid r$</a:t>
                </a:r>
                <a:r>
                  <a:rPr sz="2400" b="0">
                    <a:solidFill>
                      <a:srgbClr val="111827"/>
                    </a:solidFill>
                    <a:latin typeface="Arial"/>
                  </a:rPr>
                  <a:t> (when </a:t>
                </a:r>
                <a:r>
                  <a:rPr lang="en-IN" sz="2400">
                    <a:solidFill>
                      <a:srgbClr val="111827"/>
                    </a:solidFill>
                    <a:latin typeface="Cambria Math" panose="02040503050406030204" pitchFamily="18" charset="0"/>
                  </a:rPr>
                  <a:t>$a,b$</a:t>
                </a:r>
                <a:r>
                  <a:rPr sz="2400" b="0">
                    <a:solidFill>
                      <a:srgbClr val="111827"/>
                    </a:solidFill>
                    <a:latin typeface="Arial"/>
                  </a:rPr>
                  <a:t> are not perfect powers).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Combine congruences on </a:t>
                </a:r>
                <a:r>
                  <a:rPr lang="en-IN" sz="2400">
                    <a:solidFill>
                      <a:srgbClr val="111827"/>
                    </a:solidFill>
                    <a:latin typeface="Cambria Math" panose="02040503050406030204" pitchFamily="18" charset="0"/>
                  </a:rPr>
                  <a:t>$r$</a:t>
                </a:r>
                <a:r>
                  <a:rPr sz="2400" b="0">
                    <a:solidFill>
                      <a:srgbClr val="111827"/>
                    </a:solidFill>
                    <a:latin typeface="Arial"/>
                  </a:rPr>
                  <a:t> using the CRT, then count in </a:t>
                </a:r>
                <a:r>
                  <a:rPr lang="en-IN" sz="2400">
                    <a:solidFill>
                      <a:srgbClr val="111827"/>
                    </a:solidFill>
                    <a:latin typeface="Cambria Math" panose="02040503050406030204" pitchFamily="18" charset="0"/>
                  </a:rPr>
                  <a:t>$0\le r\le 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$2\mid680-r$</a:t>
                </a:r>
                <a:r>
                  <a:rPr sz="2400" b="0">
                    <a:solidFill>
                      <a:srgbClr val="111827"/>
                    </a:solidFill>
                    <a:latin typeface="Arial"/>
                  </a:rPr>
                  <a:t> is implied by </a:t>
                </a:r>
                <a:r>
                  <a:rPr lang="en-IN" sz="2400">
                    <a:solidFill>
                      <a:srgbClr val="111827"/>
                    </a:solidFill>
                    <a:latin typeface="Cambria Math" panose="02040503050406030204" pitchFamily="18" charset="0"/>
                  </a:rPr>
                  <a:t>$4\mid r$</a:t>
                </a:r>
                <a:r>
                  <a:rPr sz="2400" b="0">
                    <a:solidFill>
                      <a:srgbClr val="111827"/>
                    </a:solidFill>
                    <a:latin typeface="Arial"/>
                  </a:rPr>
                  <a:t> because </a:t>
                </a:r>
                <a:r>
                  <a:rPr lang="en-IN" sz="2400">
                    <a:solidFill>
                      <a:srgbClr val="111827"/>
                    </a:solidFill>
                    <a:latin typeface="Cambria Math" panose="02040503050406030204" pitchFamily="18" charset="0"/>
                  </a:rPr>
                  <a:t>$680$</a:t>
                </a:r>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$\{0,4,\dots,680\}$</a:t>
                </a:r>
                <a:r>
                  <a:rPr sz="2400" b="0">
                    <a:solidFill>
                      <a:srgbClr val="111827"/>
                    </a:solidFill>
                    <a:latin typeface="Arial"/>
                  </a:rPr>
                  <a:t> has </a:t>
                </a:r>
                <a:r>
                  <a:rPr lang="en-IN" sz="2400">
                    <a:solidFill>
                      <a:srgbClr val="111827"/>
                    </a:solidFill>
                    <a:latin typeface="Cambria Math" panose="02040503050406030204" pitchFamily="18" charset="0"/>
                  </a:rPr>
                  <a:t>$\frac{680-0}{4}+1=171$</a:t>
                </a:r>
                <a:r>
                  <a:rPr sz="2400" b="0">
                    <a:solidFill>
                      <a:srgbClr val="111827"/>
                    </a:solidFill>
                    <a:latin typeface="Arial"/>
                  </a:rPr>
                  <a:t> elements.</a:t>
                </a:r>
                <a:endParaRPr sz="2400">
                  <a:solidFill>
                    <a:srgbClr val="111827"/>
                  </a:solidFill>
                </a:endParaRPr>
              </a:p>
            </p:txBody>
          </p:sp>
        </mc:Fallback>
      </mc:AlternateContent>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897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be the constant term in the binomial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If the sum of the coefficients of the remaining terms in the expansion is </a:t>
                </a:r>
                <a14:m>
                  <m:oMath xmlns:m="http://schemas.openxmlformats.org/officeDocument/2006/math">
                    <m:r>
                      <a:rPr lang="en-IN" sz="2400" i="1">
                        <a:solidFill>
                          <a:srgbClr val="111827"/>
                        </a:solidFill>
                        <a:latin typeface="Cambria Math" panose="02040503050406030204" pitchFamily="18" charset="0"/>
                      </a:rPr>
                      <m:t>649</m:t>
                    </m:r>
                  </m:oMath>
                </a14:m>
                <a:r>
                  <a:rPr sz="2400" b="0">
                    <a:solidFill>
                      <a:srgbClr val="111827"/>
                    </a:solidFill>
                    <a:latin typeface="Arial"/>
                  </a:rPr>
                  <a:t> and the 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α</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24897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a:t>
                </a:r>
                <a:r>
                  <a:rPr sz="2400" b="0">
                    <a:solidFill>
                      <a:srgbClr val="111827"/>
                    </a:solidFill>
                    <a:latin typeface="Arial"/>
                  </a:rPr>
                  <a:t> be the constant term in the binomial expansion of </a:t>
                </a:r>
                <a:r>
                  <a:rPr lang="en-IN" sz="2400">
                    <a:solidFill>
                      <a:srgbClr val="111827"/>
                    </a:solidFill>
                    <a:latin typeface="Cambria Math" panose="02040503050406030204" pitchFamily="18" charset="0"/>
                  </a:rPr>
                  <a:t>$\left(\sqrt x-\dfrac{6}{x^{3/2}}\right)^{n}$</a:t>
                </a:r>
                <a:r>
                  <a:rPr sz="2400" b="0">
                    <a:solidFill>
                      <a:srgbClr val="111827"/>
                    </a:solidFill>
                    <a:latin typeface="Arial"/>
                  </a:rPr>
                  <a:t>, </a:t>
                </a:r>
                <a:r>
                  <a:rPr lang="en-IN" sz="2400">
                    <a:solidFill>
                      <a:srgbClr val="111827"/>
                    </a:solidFill>
                    <a:latin typeface="Cambria Math" panose="02040503050406030204" pitchFamily="18" charset="0"/>
                  </a:rPr>
                  <a:t>$n\le15$</a:t>
                </a:r>
                <a:r>
                  <a:rPr sz="2400" b="0">
                    <a:solidFill>
                      <a:srgbClr val="111827"/>
                    </a:solidFill>
                    <a:latin typeface="Arial"/>
                  </a:rPr>
                  <a:t>. If the sum of the coefficients of the remaining terms in the expansion is </a:t>
                </a:r>
                <a:r>
                  <a:rPr lang="en-IN" sz="2400">
                    <a:solidFill>
                      <a:srgbClr val="111827"/>
                    </a:solidFill>
                    <a:latin typeface="Cambria Math" panose="02040503050406030204" pitchFamily="18" charset="0"/>
                  </a:rPr>
                  <a:t>$649$</a:t>
                </a:r>
                <a:r>
                  <a:rPr sz="2400" b="0">
                    <a:solidFill>
                      <a:srgbClr val="111827"/>
                    </a:solidFill>
                    <a:latin typeface="Arial"/>
                  </a:rPr>
                  <a:t> and the coefficient of </a:t>
                </a:r>
                <a:r>
                  <a:rPr lang="en-IN" sz="2400">
                    <a:solidFill>
                      <a:srgbClr val="111827"/>
                    </a:solidFill>
                    <a:latin typeface="Cambria Math" panose="02040503050406030204" pitchFamily="18" charset="0"/>
                  </a:rPr>
                  <a:t>$x^{-n}$</a:t>
                </a:r>
                <a:r>
                  <a:rPr sz="2400" b="0">
                    <a:solidFill>
                      <a:srgbClr val="111827"/>
                    </a:solidFill>
                    <a:latin typeface="Arial"/>
                  </a:rPr>
                  <a:t> is </a:t>
                </a:r>
                <a:r>
                  <a:rPr lang="en-IN" sz="2400">
                    <a:solidFill>
                      <a:srgbClr val="111827"/>
                    </a:solidFill>
                    <a:latin typeface="Cambria Math" panose="02040503050406030204" pitchFamily="18" charset="0"/>
                  </a:rPr>
                  <a:t>$\lambda\alpha$</a:t>
                </a:r>
                <a:r>
                  <a:rPr sz="2400" b="0">
                    <a:solidFill>
                      <a:srgbClr val="111827"/>
                    </a:solidFill>
                    <a:latin typeface="Arial"/>
                  </a:rPr>
                  <a:t>, then </a:t>
                </a:r>
                <a:r>
                  <a:rPr lang="en-IN" sz="2400">
                    <a:solidFill>
                      <a:srgbClr val="111827"/>
                    </a:solidFill>
                    <a:latin typeface="Cambria Math" panose="02040503050406030204" pitchFamily="18" charset="0"/>
                  </a:rPr>
                  <a:t>$\lambda$</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998467"/>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 Sum of coefficients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constant term exists only for </a:t>
                </a:r>
                <a14:m>
                  <m:oMath xmlns:m="http://schemas.openxmlformats.org/officeDocument/2006/math">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oMath>
                </a14:m>
                <a:r>
                  <a:rPr sz="2400" b="0">
                    <a:solidFill>
                      <a:srgbClr val="78350F"/>
                    </a:solidFill>
                    <a:latin typeface="Arial"/>
                  </a:rPr>
                  <a:t>; the sum of the other coefficients is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649</m:t>
                    </m:r>
                  </m:oMath>
                </a14:m>
                <a:r>
                  <a:rPr sz="2400" b="0">
                    <a:solidFill>
                      <a:srgbClr val="78350F"/>
                    </a:solidFill>
                    <a:latin typeface="Arial"/>
                  </a:rPr>
                  <a:t>, which singles out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constant term exists only for </a:t>
                </a:r>
                <a:r>
                  <a:rPr lang="en-IN" sz="2400">
                    <a:solidFill>
                      <a:srgbClr val="78350F"/>
                    </a:solidFill>
                    <a:latin typeface="Cambria Math" panose="02040503050406030204" pitchFamily="18" charset="0"/>
                  </a:rPr>
                  <a:t>$4\mid n$</a:t>
                </a:r>
                <a:r>
                  <a:rPr sz="2400" b="0">
                    <a:solidFill>
                      <a:srgbClr val="78350F"/>
                    </a:solidFill>
                    <a:latin typeface="Arial"/>
                  </a:rPr>
                  <a:t>; the sum of the other coefficients is </a:t>
                </a:r>
                <a:r>
                  <a:rPr lang="en-IN" sz="2400">
                    <a:solidFill>
                      <a:srgbClr val="78350F"/>
                    </a:solidFill>
                    <a:latin typeface="Cambria Math" panose="02040503050406030204" pitchFamily="18" charset="0"/>
                  </a:rPr>
                  <a:t>$(-5)^n-\alpha=649$</a:t>
                </a:r>
                <a:r>
                  <a:rPr sz="2400" b="0">
                    <a:solidFill>
                      <a:srgbClr val="78350F"/>
                    </a:solidFill>
                    <a:latin typeface="Arial"/>
                  </a:rPr>
                  <a:t>, which singles out </a:t>
                </a:r>
                <a:r>
                  <a:rPr lang="en-IN" sz="2400">
                    <a:solidFill>
                      <a:srgbClr val="78350F"/>
                    </a:solidFill>
                    <a:latin typeface="Cambria Math" panose="02040503050406030204" pitchFamily="18" charset="0"/>
                  </a:rPr>
                  <a:t>$n=4$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sSup>
                      <m:e>
                        <m:r>
                          <a:rPr lang="en-IN" sz="2400" i="1">
                            <a:solidFill>
                              <a:srgbClr val="111827"/>
                            </a:solidFill>
                            <a:latin typeface="Cambria Math" panose="02040503050406030204" pitchFamily="18" charset="0"/>
                          </a:rPr>
                          <m:t>𝑥</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sSup>
                      <m:e>
                        <m:r>
                          <a:rPr lang="en-IN" sz="2400" i="1">
                            <a:solidFill>
                              <a:srgbClr val="111827"/>
                            </a:solidFill>
                            <a:latin typeface="Cambria Math" panose="02040503050406030204" pitchFamily="18" charset="0"/>
                          </a:rPr>
                          <m:t>𝑥</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all coefficients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so the sum of the coefficients of the remaining terms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649</m:t>
                    </m:r>
                  </m:oMath>
                </a14:m>
                <a:r>
                  <a:rPr sz="2400" b="0">
                    <a:solidFill>
                      <a:srgbClr val="111827"/>
                    </a:solidFill>
                    <a:latin typeface="Arial"/>
                  </a:rPr>
                  <a:t> ✓.</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$T_{k+1}=\binom nk(\sqrt x)^{n-k}\left(-6x^{-3/2}\right)^k=\binom nk(-6)^kx^{\frac{n-k}{2}-\frac{3k}{2}}=\binom nk(-6)^kx^{\frac{n-4k}{2}}$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a:t>
                </a:r>
                <a:r>
                  <a:rPr lang="en-IN" sz="2400">
                    <a:solidFill>
                      <a:srgbClr val="111827"/>
                    </a:solidFill>
                    <a:latin typeface="Cambria Math" panose="02040503050406030204" pitchFamily="18" charset="0"/>
                  </a:rPr>
                  <a:t>$n-4k=0$</a:t>
                </a:r>
                <a:r>
                  <a:rPr sz="2400" b="0">
                    <a:solidFill>
                      <a:srgbClr val="111827"/>
                    </a:solidFill>
                    <a:latin typeface="Arial"/>
                  </a:rPr>
                  <a:t>, so </a:t>
                </a:r>
                <a:r>
                  <a:rPr lang="en-IN" sz="2400">
                    <a:solidFill>
                      <a:srgbClr val="111827"/>
                    </a:solidFill>
                    <a:latin typeface="Cambria Math" panose="02040503050406030204" pitchFamily="18" charset="0"/>
                  </a:rPr>
                  <a:t>$n=4k$</a:t>
                </a:r>
                <a:r>
                  <a:rPr sz="2400" b="0">
                    <a:solidFill>
                      <a:srgbClr val="111827"/>
                    </a:solidFill>
                    <a:latin typeface="Arial"/>
                  </a:rPr>
                  <a:t> and </a:t>
                </a:r>
                <a:r>
                  <a:rPr lang="en-IN" sz="2400">
                    <a:solidFill>
                      <a:srgbClr val="111827"/>
                    </a:solidFill>
                    <a:latin typeface="Cambria Math" panose="02040503050406030204" pitchFamily="18" charset="0"/>
                  </a:rPr>
                  <a:t>$\alpha=\binom n{n/4}(-6)^{n/4}$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all coefficients is </a:t>
                </a:r>
                <a:r>
                  <a:rPr lang="en-IN" sz="2400">
                    <a:solidFill>
                      <a:srgbClr val="111827"/>
                    </a:solidFill>
                    <a:latin typeface="Cambria Math" panose="02040503050406030204" pitchFamily="18" charset="0"/>
                  </a:rPr>
                  <a:t>$(1-6)^n=(-5)^n$</a:t>
                </a:r>
                <a:r>
                  <a:rPr sz="2400" b="0">
                    <a:solidFill>
                      <a:srgbClr val="111827"/>
                    </a:solidFill>
                    <a:latin typeface="Arial"/>
                  </a:rPr>
                  <a:t>, so the sum of the coefficients of the remaining terms is </a:t>
                </a:r>
                <a:r>
                  <a:rPr lang="en-IN" sz="2400">
                    <a:solidFill>
                      <a:srgbClr val="111827"/>
                    </a:solidFill>
                    <a:latin typeface="Cambria Math" panose="02040503050406030204" pitchFamily="18" charset="0"/>
                  </a:rPr>
                  <a:t>$(-5)^n-\alpha=649$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$n\le15$</a:t>
                </a:r>
                <a:r>
                  <a:rPr sz="2400" b="0">
                    <a:solidFill>
                      <a:srgbClr val="111827"/>
                    </a:solidFill>
                    <a:latin typeface="Arial"/>
                  </a:rPr>
                  <a:t> and </a:t>
                </a:r>
                <a:r>
                  <a:rPr lang="en-IN" sz="2400">
                    <a:solidFill>
                      <a:srgbClr val="111827"/>
                    </a:solidFill>
                    <a:latin typeface="Cambria Math" panose="02040503050406030204" pitchFamily="18" charset="0"/>
                  </a:rPr>
                  <a:t>$4\mid n$</a:t>
                </a:r>
                <a:r>
                  <a:rPr sz="2400" b="0">
                    <a:solidFill>
                      <a:srgbClr val="111827"/>
                    </a:solidFill>
                    <a:latin typeface="Arial"/>
                  </a:rPr>
                  <a:t>: </a:t>
                </a:r>
                <a:r>
                  <a:rPr lang="en-IN" sz="2400">
                    <a:solidFill>
                      <a:srgbClr val="111827"/>
                    </a:solidFill>
                    <a:latin typeface="Cambria Math" panose="02040503050406030204" pitchFamily="18" charset="0"/>
                  </a:rPr>
                  <a:t>$n\in\{4,8,12\}$</a:t>
                </a:r>
                <a:r>
                  <a:rPr sz="2400" b="0">
                    <a:solidFill>
                      <a:srgbClr val="111827"/>
                    </a:solidFill>
                    <a:latin typeface="Arial"/>
                  </a:rPr>
                  <a:t>. For </a:t>
                </a: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$(-5)^4-\binom41(-6)=625+24=649$</a:t>
                </a:r>
                <a:r>
                  <a:rPr sz="2400" b="0">
                    <a:solidFill>
                      <a:srgbClr val="111827"/>
                    </a:solidFill>
                    <a:latin typeface="Arial"/>
                  </a:rPr>
                  <a:t> ✓.</a:t>
                </a:r>
                <a:endParaRPr sz="2400">
                  <a:solidFill>
                    <a:srgbClr val="111827"/>
                  </a:solidFill>
                </a:endParaRPr>
              </a:p>
            </p:txBody>
          </p:sp>
        </mc:Fallback>
      </mc:AlternateContent>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the left side is </a:t>
                </a:r>
                <a14:m>
                  <m:oMath xmlns:m="http://schemas.openxmlformats.org/officeDocument/2006/math">
                    <m:r>
                      <a:rPr lang="en-IN" sz="2400" i="1">
                        <a:solidFill>
                          <a:srgbClr val="111827"/>
                        </a:solidFill>
                        <a:latin typeface="Cambria Math" panose="02040503050406030204" pitchFamily="18" charset="0"/>
                      </a:rPr>
                      <m:t>390625</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389617</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244140625</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oMath>
                </a14:m>
                <a:r>
                  <a:rPr sz="2400" b="0">
                    <a:solidFill>
                      <a:srgbClr val="111827"/>
                    </a:solidFill>
                    <a:latin typeface="Arial"/>
                  </a:rPr>
                  <a:t> respectively, not </a:t>
                </a:r>
                <a14:m>
                  <m:oMath xmlns:m="http://schemas.openxmlformats.org/officeDocument/2006/math">
                    <m:r>
                      <a:rPr lang="en-IN" sz="2400" i="1">
                        <a:solidFill>
                          <a:srgbClr val="111827"/>
                        </a:solidFill>
                        <a:latin typeface="Cambria Math" panose="02040503050406030204" pitchFamily="18" charset="0"/>
                      </a:rPr>
                      <m:t>649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the coefficient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864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864</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$n=8$</a:t>
                </a:r>
                <a:r>
                  <a:rPr sz="2400" b="0">
                    <a:solidFill>
                      <a:srgbClr val="111827"/>
                    </a:solidFill>
                    <a:latin typeface="Arial"/>
                  </a:rPr>
                  <a:t> and </a:t>
                </a:r>
                <a:r>
                  <a:rPr lang="en-IN" sz="2400">
                    <a:solidFill>
                      <a:srgbClr val="111827"/>
                    </a:solidFill>
                    <a:latin typeface="Cambria Math" panose="02040503050406030204" pitchFamily="18" charset="0"/>
                  </a:rPr>
                  <a:t>$n=12$</a:t>
                </a:r>
                <a:r>
                  <a:rPr sz="2400" b="0">
                    <a:solidFill>
                      <a:srgbClr val="111827"/>
                    </a:solidFill>
                    <a:latin typeface="Arial"/>
                  </a:rPr>
                  <a:t> the left side is </a:t>
                </a:r>
                <a:r>
                  <a:rPr lang="en-IN" sz="2400">
                    <a:solidFill>
                      <a:srgbClr val="111827"/>
                    </a:solidFill>
                    <a:latin typeface="Cambria Math" panose="02040503050406030204" pitchFamily="18" charset="0"/>
                  </a:rPr>
                  <a:t>$390625-\binom82\cdot36=389617$</a:t>
                </a:r>
                <a:r>
                  <a:rPr sz="2400" b="0">
                    <a:solidFill>
                      <a:srgbClr val="111827"/>
                    </a:solidFill>
                    <a:latin typeface="Arial"/>
                  </a:rPr>
                  <a:t> and </a:t>
                </a:r>
                <a:r>
                  <a:rPr lang="en-IN" sz="2400">
                    <a:solidFill>
                      <a:srgbClr val="111827"/>
                    </a:solidFill>
                    <a:latin typeface="Cambria Math" panose="02040503050406030204" pitchFamily="18" charset="0"/>
                  </a:rPr>
                  <a:t>$244140625+\binom{12}{3}\cdot216$</a:t>
                </a:r>
                <a:r>
                  <a:rPr sz="2400" b="0">
                    <a:solidFill>
                      <a:srgbClr val="111827"/>
                    </a:solidFill>
                    <a:latin typeface="Arial"/>
                  </a:rPr>
                  <a:t> respectively, not </a:t>
                </a:r>
                <a:r>
                  <a:rPr lang="en-IN" sz="2400">
                    <a:solidFill>
                      <a:srgbClr val="111827"/>
                    </a:solidFill>
                    <a:latin typeface="Cambria Math" panose="02040503050406030204" pitchFamily="18" charset="0"/>
                  </a:rPr>
                  <a:t>$649$</a:t>
                </a:r>
                <a:r>
                  <a:rPr sz="2400" b="0">
                    <a:solidFill>
                      <a:srgbClr val="111827"/>
                    </a:solidFill>
                    <a:latin typeface="Arial"/>
                  </a:rPr>
                  <a:t>. So </a:t>
                </a:r>
                <a:r>
                  <a:rPr lang="en-IN" sz="2400">
                    <a:solidFill>
                      <a:srgbClr val="111827"/>
                    </a:solidFill>
                    <a:latin typeface="Cambria Math" panose="02040503050406030204" pitchFamily="18" charset="0"/>
                  </a:rPr>
                  <a:t>$n=4$</a:t>
                </a:r>
                <a:r>
                  <a:rPr sz="2400" b="0">
                    <a:solidFill>
                      <a:srgbClr val="111827"/>
                    </a:solidFill>
                    <a:latin typeface="Arial"/>
                  </a:rPr>
                  <a:t> and </a:t>
                </a:r>
                <a:r>
                  <a:rPr lang="en-IN" sz="2400">
                    <a:solidFill>
                      <a:srgbClr val="111827"/>
                    </a:solidFill>
                    <a:latin typeface="Cambria Math" panose="02040503050406030204" pitchFamily="18" charset="0"/>
                  </a:rPr>
                  <a:t>$\alpha=-24$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$x^{-4}$</a:t>
                </a:r>
                <a:r>
                  <a:rPr sz="2400" b="0">
                    <a:solidFill>
                      <a:srgbClr val="111827"/>
                    </a:solidFill>
                    <a:latin typeface="Arial"/>
                  </a:rPr>
                  <a:t>: </a:t>
                </a:r>
                <a:r>
                  <a:rPr lang="en-IN" sz="2400">
                    <a:solidFill>
                      <a:srgbClr val="111827"/>
                    </a:solidFill>
                    <a:latin typeface="Cambria Math" panose="02040503050406030204" pitchFamily="18" charset="0"/>
                  </a:rPr>
                  <a:t>$\frac{4-4k}{2}=-4$</a:t>
                </a:r>
                <a:r>
                  <a:rPr sz="2400" b="0">
                    <a:solidFill>
                      <a:srgbClr val="111827"/>
                    </a:solidFill>
                    <a:latin typeface="Arial"/>
                  </a:rPr>
                  <a:t> gives </a:t>
                </a:r>
                <a:r>
                  <a:rPr lang="en-IN" sz="2400">
                    <a:solidFill>
                      <a:srgbClr val="111827"/>
                    </a:solidFill>
                    <a:latin typeface="Cambria Math" panose="02040503050406030204" pitchFamily="18" charset="0"/>
                  </a:rPr>
                  <a:t>$k=3$</a:t>
                </a:r>
                <a:r>
                  <a:rPr sz="2400" b="0">
                    <a:solidFill>
                      <a:srgbClr val="111827"/>
                    </a:solidFill>
                    <a:latin typeface="Arial"/>
                  </a:rPr>
                  <a:t>, so the coefficient is </a:t>
                </a:r>
                <a:r>
                  <a:rPr lang="en-IN" sz="2400">
                    <a:solidFill>
                      <a:srgbClr val="111827"/>
                    </a:solidFill>
                    <a:latin typeface="Cambria Math" panose="02040503050406030204" pitchFamily="18" charset="0"/>
                  </a:rPr>
                  <a:t>$\binom43(-6)^3=-864$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$\lambda\alpha=-864$</a:t>
                </a:r>
                <a:r>
                  <a:rPr sz="2400" b="0">
                    <a:solidFill>
                      <a:srgbClr val="111827"/>
                    </a:solidFill>
                    <a:latin typeface="Arial"/>
                  </a:rPr>
                  <a:t> with </a:t>
                </a:r>
                <a:r>
                  <a:rPr lang="en-IN" sz="2400">
                    <a:solidFill>
                      <a:srgbClr val="111827"/>
                    </a:solidFill>
                    <a:latin typeface="Cambria Math" panose="02040503050406030204" pitchFamily="18" charset="0"/>
                  </a:rPr>
                  <a:t>$\alpha=-24$</a:t>
                </a:r>
                <a:r>
                  <a:rPr sz="2400" b="0">
                    <a:solidFill>
                      <a:srgbClr val="111827"/>
                    </a:solidFill>
                    <a:latin typeface="Arial"/>
                  </a:rPr>
                  <a:t> gives </a:t>
                </a:r>
                <a:r>
                  <a:rPr lang="en-IN" sz="2400">
                    <a:solidFill>
                      <a:srgbClr val="111827"/>
                    </a:solidFill>
                    <a:latin typeface="Cambria Math" panose="02040503050406030204" pitchFamily="18" charset="0"/>
                  </a:rPr>
                  <a:t>$\lambda=36$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36</a:t>
            </a:r>
            <a:endParaRPr sz="2800">
              <a:solidFill>
                <a:srgbClr val="15803D"/>
              </a:solidFill>
            </a:endParaRP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all coefficients is the value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the 'remaining terms' sum is that minus the constant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𝑝</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up>
                            </m:sSup>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requires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𝑝</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-type divisibility (here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an equation has a huge left side for larger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 bound argument rules them out quickly.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has coefficients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1296</m:t>
                    </m:r>
                  </m:oMath>
                </a14:m>
                <a:r>
                  <a:rPr sz="2400" b="0">
                    <a:solidFill>
                      <a:srgbClr val="111827"/>
                    </a:solidFill>
                    <a:latin typeface="Arial"/>
                  </a:rPr>
                  <a:t>;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oMath>
                </a14:m>
                <a:r>
                  <a:rPr sz="2400" b="0">
                    <a:solidFill>
                      <a:srgbClr val="111827"/>
                    </a:solidFill>
                    <a:latin typeface="Arial"/>
                  </a:rPr>
                  <a:t>, constant term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all coefficients is the value at </a:t>
                </a:r>
                <a:r>
                  <a:rPr lang="en-IN" sz="2400">
                    <a:solidFill>
                      <a:srgbClr val="111827"/>
                    </a:solidFill>
                    <a:latin typeface="Cambria Math" panose="02040503050406030204" pitchFamily="18" charset="0"/>
                  </a:rPr>
                  <a:t>$x=1$</a:t>
                </a:r>
                <a:r>
                  <a:rPr sz="2400" b="0">
                    <a:solidFill>
                      <a:srgbClr val="111827"/>
                    </a:solidFill>
                    <a:latin typeface="Arial"/>
                  </a:rPr>
                  <a:t>: here </a:t>
                </a:r>
                <a:r>
                  <a:rPr lang="en-IN" sz="2400">
                    <a:solidFill>
                      <a:srgbClr val="111827"/>
                    </a:solidFill>
                    <a:latin typeface="Cambria Math" panose="02040503050406030204" pitchFamily="18" charset="0"/>
                  </a:rPr>
                  <a:t>$(1-6)^n$</a:t>
                </a:r>
                <a:r>
                  <a:rPr sz="2400" b="0">
                    <a:solidFill>
                      <a:srgbClr val="111827"/>
                    </a:solidFill>
                    <a:latin typeface="Arial"/>
                  </a:rPr>
                  <a:t>; the 'remaining terms' sum is that minus the constant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of </a:t>
                </a:r>
                <a:r>
                  <a:rPr lang="en-IN" sz="2400">
                    <a:solidFill>
                      <a:srgbClr val="111827"/>
                    </a:solidFill>
                    <a:latin typeface="Cambria Math" panose="02040503050406030204" pitchFamily="18" charset="0"/>
                  </a:rPr>
                  <a:t>$\left(x^{p}+cx^{-q}\right)^n$</a:t>
                </a:r>
                <a:r>
                  <a:rPr sz="2400" b="0">
                    <a:solidFill>
                      <a:srgbClr val="111827"/>
                    </a:solidFill>
                    <a:latin typeface="Arial"/>
                  </a:rPr>
                  <a:t> requires </a:t>
                </a:r>
                <a:r>
                  <a:rPr lang="en-IN" sz="2400">
                    <a:solidFill>
                      <a:srgbClr val="111827"/>
                    </a:solidFill>
                    <a:latin typeface="Cambria Math" panose="02040503050406030204" pitchFamily="18" charset="0"/>
                  </a:rPr>
                  <a:t>$n=\frac{(p+q)}{p}\cdot k$</a:t>
                </a:r>
                <a:r>
                  <a:rPr sz="2400" b="0">
                    <a:solidFill>
                      <a:srgbClr val="111827"/>
                    </a:solidFill>
                    <a:latin typeface="Arial"/>
                  </a:rPr>
                  <a:t>-type divisibility (here </a:t>
                </a:r>
                <a:r>
                  <a:rPr lang="en-IN" sz="2400">
                    <a:solidFill>
                      <a:srgbClr val="111827"/>
                    </a:solidFill>
                    <a:latin typeface="Cambria Math" panose="02040503050406030204" pitchFamily="18" charset="0"/>
                  </a:rPr>
                  <a:t>$4\mid 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an equation has a huge left side for larger </a:t>
                </a:r>
                <a:r>
                  <a:rPr lang="en-IN" sz="2400">
                    <a:solidFill>
                      <a:srgbClr val="111827"/>
                    </a:solidFill>
                    <a:latin typeface="Cambria Math" panose="02040503050406030204" pitchFamily="18" charset="0"/>
                  </a:rPr>
                  <a:t>$n$</a:t>
                </a:r>
                <a:r>
                  <a:rPr sz="2400" b="0">
                    <a:solidFill>
                      <a:srgbClr val="111827"/>
                    </a:solidFill>
                    <a:latin typeface="Arial"/>
                  </a:rPr>
                  <a:t>, a bound argument rules them out quickly.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$(\sqrt x-6x^{-3/2})^4$</a:t>
                </a:r>
                <a:r>
                  <a:rPr sz="2400" b="0">
                    <a:solidFill>
                      <a:srgbClr val="111827"/>
                    </a:solidFill>
                    <a:latin typeface="Arial"/>
                  </a:rPr>
                  <a:t> has coefficients </a:t>
                </a:r>
                <a:r>
                  <a:rPr lang="en-IN" sz="2400">
                    <a:solidFill>
                      <a:srgbClr val="111827"/>
                    </a:solidFill>
                    <a:latin typeface="Cambria Math" panose="02040503050406030204" pitchFamily="18" charset="0"/>
                  </a:rPr>
                  <a:t>$1,-24,216,-864,1296$</a:t>
                </a:r>
                <a:r>
                  <a:rPr sz="2400" b="0">
                    <a:solidFill>
                      <a:srgbClr val="111827"/>
                    </a:solidFill>
                    <a:latin typeface="Arial"/>
                  </a:rPr>
                  <a:t>; sum </a:t>
                </a:r>
                <a:r>
                  <a:rPr lang="en-IN" sz="2400">
                    <a:solidFill>
                      <a:srgbClr val="111827"/>
                    </a:solidFill>
                    <a:latin typeface="Cambria Math" panose="02040503050406030204" pitchFamily="18" charset="0"/>
                  </a:rPr>
                  <a:t>$=625$</a:t>
                </a:r>
                <a:r>
                  <a:rPr sz="2400" b="0">
                    <a:solidFill>
                      <a:srgbClr val="111827"/>
                    </a:solidFill>
                    <a:latin typeface="Arial"/>
                  </a:rPr>
                  <a:t>, constant term </a:t>
                </a:r>
                <a:r>
                  <a:rPr lang="en-IN" sz="2400">
                    <a:solidFill>
                      <a:srgbClr val="111827"/>
                    </a:solidFill>
                    <a:latin typeface="Cambria Math" panose="02040503050406030204" pitchFamily="18" charset="0"/>
                  </a:rPr>
                  <a:t>$-24$</a:t>
                </a:r>
                <a:r>
                  <a:rPr sz="2400" b="0">
                    <a:solidFill>
                      <a:srgbClr val="111827"/>
                    </a:solidFill>
                    <a:latin typeface="Arial"/>
                  </a:rPr>
                  <a:t> (</a:t>
                </a:r>
                <a:r>
                  <a:rPr lang="en-IN" sz="2400">
                    <a:solidFill>
                      <a:srgbClr val="111827"/>
                    </a:solidFill>
                    <a:latin typeface="Cambria Math" panose="02040503050406030204" pitchFamily="18" charset="0"/>
                  </a:rPr>
                  <a:t>$k=1$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remainder, when </a:t>
                </a: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103</m:t>
                        </m:r>
                      </m:sup>
                    </m:sSup>
                  </m:oMath>
                </a14:m>
                <a:r>
                  <a:rPr sz="2400" b="0">
                    <a:solidFill>
                      <a:srgbClr val="111827"/>
                    </a:solidFill>
                    <a:latin typeface="Arial"/>
                  </a:rPr>
                  <a:t> is divided by </a:t>
                </a:r>
                <a14:m>
                  <m:oMath xmlns:m="http://schemas.openxmlformats.org/officeDocument/2006/math">
                    <m:r>
                      <a:rPr lang="en-IN" sz="2400" i="1">
                        <a:solidFill>
                          <a:srgbClr val="111827"/>
                        </a:solidFill>
                        <a:latin typeface="Cambria Math" panose="02040503050406030204" pitchFamily="18" charset="0"/>
                      </a:rPr>
                      <m:t>17</m:t>
                    </m:r>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remainder, when </a:t>
                </a:r>
                <a:r>
                  <a:rPr lang="en-IN" sz="2400">
                    <a:solidFill>
                      <a:srgbClr val="111827"/>
                    </a:solidFill>
                    <a:latin typeface="Cambria Math" panose="02040503050406030204" pitchFamily="18" charset="0"/>
                  </a:rPr>
                  <a:t>$7^{103}$</a:t>
                </a:r>
                <a:r>
                  <a:rPr sz="2400" b="0">
                    <a:solidFill>
                      <a:srgbClr val="111827"/>
                    </a:solidFill>
                    <a:latin typeface="Arial"/>
                  </a:rPr>
                  <a:t> is divided by </a:t>
                </a:r>
                <a:r>
                  <a:rPr lang="en-IN" sz="2400">
                    <a:solidFill>
                      <a:srgbClr val="111827"/>
                    </a:solidFill>
                    <a:latin typeface="Cambria Math" panose="02040503050406030204" pitchFamily="18" charset="0"/>
                  </a:rPr>
                  <a:t>$17$</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Remainder (divisibility) using the binomial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Repeated squaring modulo </a:t>
                </a:r>
                <a14:m>
                  <m:oMath xmlns:m="http://schemas.openxmlformats.org/officeDocument/2006/math">
                    <m:r>
                      <a:rPr lang="en-IN" sz="2400" i="1">
                        <a:solidFill>
                          <a:srgbClr val="78350F"/>
                        </a:solidFill>
                        <a:latin typeface="Cambria Math" panose="02040503050406030204" pitchFamily="18" charset="0"/>
                      </a:rPr>
                      <m:t>17</m:t>
                    </m:r>
                  </m:oMath>
                </a14:m>
                <a:r>
                  <a:rPr sz="2400" b="0">
                    <a:solidFill>
                      <a:srgbClr val="78350F"/>
                    </a:solidFill>
                    <a:latin typeface="Arial"/>
                  </a:rPr>
                  <a:t>: </a:t>
                </a:r>
                <a14:m>
                  <m:oMath xmlns:m="http://schemas.openxmlformats.org/officeDocument/2006/math">
                    <m:sSup>
                      <m:e>
                        <m:r>
                          <a:rPr lang="en-IN" sz="2400" i="1">
                            <a:solidFill>
                              <a:srgbClr val="78350F"/>
                            </a:solidFill>
                            <a:latin typeface="Cambria Math" panose="02040503050406030204" pitchFamily="18" charset="0"/>
                          </a:rPr>
                          <m:t>7</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t>
                </a:r>
                <a14:m>
                  <m:oMath xmlns:m="http://schemas.openxmlformats.org/officeDocument/2006/math">
                    <m:sSup>
                      <m:e>
                        <m:r>
                          <a:rPr lang="en-IN" sz="2400" i="1">
                            <a:solidFill>
                              <a:srgbClr val="78350F"/>
                            </a:solidFill>
                            <a:latin typeface="Cambria Math" panose="02040503050406030204" pitchFamily="18" charset="0"/>
                          </a:rPr>
                          <m:t>7</m:t>
                        </m:r>
                      </m:e>
                      <m:sup>
                        <m:r>
                          <a:rPr lang="en-IN" sz="2400" i="1">
                            <a:solidFill>
                              <a:srgbClr val="78350F"/>
                            </a:solidFill>
                            <a:latin typeface="Cambria Math" panose="02040503050406030204" pitchFamily="18" charset="0"/>
                          </a:rPr>
                          <m:t>8</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t>
                </a:r>
                <a14:m>
                  <m:oMath xmlns:m="http://schemas.openxmlformats.org/officeDocument/2006/math">
                    <m:sSup>
                      <m:e>
                        <m:r>
                          <a:rPr lang="en-IN" sz="2400" i="1">
                            <a:solidFill>
                              <a:srgbClr val="78350F"/>
                            </a:solidFill>
                            <a:latin typeface="Cambria Math" panose="02040503050406030204" pitchFamily="18" charset="0"/>
                          </a:rPr>
                          <m:t>7</m:t>
                        </m:r>
                      </m:e>
                      <m:sup>
                        <m:r>
                          <a:rPr lang="en-IN" sz="2400" i="1">
                            <a:solidFill>
                              <a:srgbClr val="78350F"/>
                            </a:solidFill>
                            <a:latin typeface="Cambria Math" panose="02040503050406030204" pitchFamily="18" charset="0"/>
                          </a:rPr>
                          <m:t>16</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Repeated squaring modulo </a:t>
                </a:r>
                <a:r>
                  <a:rPr lang="en-IN" sz="2400">
                    <a:solidFill>
                      <a:srgbClr val="78350F"/>
                    </a:solidFill>
                    <a:latin typeface="Cambria Math" panose="02040503050406030204" pitchFamily="18" charset="0"/>
                  </a:rPr>
                  <a:t>$17$</a:t>
                </a:r>
                <a:r>
                  <a:rPr sz="2400" b="0">
                    <a:solidFill>
                      <a:srgbClr val="78350F"/>
                    </a:solidFill>
                    <a:latin typeface="Arial"/>
                  </a:rPr>
                  <a:t>: </a:t>
                </a:r>
                <a:r>
                  <a:rPr lang="en-IN" sz="2400">
                    <a:solidFill>
                      <a:srgbClr val="78350F"/>
                    </a:solidFill>
                    <a:latin typeface="Cambria Math" panose="02040503050406030204" pitchFamily="18" charset="0"/>
                  </a:rPr>
                  <a:t>$7^2\equiv-2$</a:t>
                </a:r>
                <a:r>
                  <a:rPr sz="2400" b="0">
                    <a:solidFill>
                      <a:srgbClr val="78350F"/>
                    </a:solidFill>
                    <a:latin typeface="Arial"/>
                  </a:rPr>
                  <a:t>, </a:t>
                </a:r>
                <a:r>
                  <a:rPr lang="en-IN" sz="2400">
                    <a:solidFill>
                      <a:srgbClr val="78350F"/>
                    </a:solidFill>
                    <a:latin typeface="Cambria Math" panose="02040503050406030204" pitchFamily="18" charset="0"/>
                  </a:rPr>
                  <a:t>$7^8\equiv-1$</a:t>
                </a:r>
                <a:r>
                  <a:rPr sz="2400" b="0">
                    <a:solidFill>
                      <a:srgbClr val="78350F"/>
                    </a:solidFill>
                    <a:latin typeface="Arial"/>
                  </a:rPr>
                  <a:t>, </a:t>
                </a:r>
                <a:r>
                  <a:rPr lang="en-IN" sz="2400">
                    <a:solidFill>
                      <a:srgbClr val="78350F"/>
                    </a:solidFill>
                    <a:latin typeface="Cambria Math" panose="02040503050406030204" pitchFamily="18" charset="0"/>
                  </a:rPr>
                  <a:t>$7^{16}\equiv1$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16</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103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103</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16</m:t>
                                </m:r>
                              </m:sup>
                            </m:sSup>
                          </m:e>
                        </m:d>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7</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so the remainder is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$7\equiv7\pmod{17}$</a:t>
                </a:r>
                <a:r>
                  <a:rPr sz="2400" b="0">
                    <a:solidFill>
                      <a:srgbClr val="111827"/>
                    </a:solidFill>
                    <a:latin typeface="Arial"/>
                  </a:rPr>
                  <a:t> and </a:t>
                </a:r>
                <a:r>
                  <a:rPr lang="en-IN" sz="2400">
                    <a:solidFill>
                      <a:srgbClr val="111827"/>
                    </a:solidFill>
                    <a:latin typeface="Cambria Math" panose="02040503050406030204" pitchFamily="18" charset="0"/>
                  </a:rPr>
                  <a:t>$7^2=49\equiv-2$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$7^6=\left(7^2\right)^3\equiv(-2)^3=-8$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$7^8=\left(7^2\right)^4\equiv(-2)^4=16\equiv-1$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$7^{16}\equiv(-1)^2=1\pmod{17}$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$103=6\cdot16+7$</a:t>
                </a:r>
                <a:r>
                  <a:rPr sz="2400" b="0">
                    <a:solidFill>
                      <a:srgbClr val="111827"/>
                    </a:solidFill>
                    <a:latin typeface="Arial"/>
                  </a:rPr>
                  <a:t>, so </a:t>
                </a:r>
                <a:r>
                  <a:rPr lang="en-IN" sz="2400">
                    <a:solidFill>
                      <a:srgbClr val="111827"/>
                    </a:solidFill>
                    <a:latin typeface="Cambria Math" panose="02040503050406030204" pitchFamily="18" charset="0"/>
                  </a:rPr>
                  <a:t>$7^{103}=\left(7^{16}\right)^6\cdot7^7\equiv7^7$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$7^7=7^6\cdot7\equiv-8\cdot7=-56\equiv-56+68=12$</a:t>
                </a:r>
                <a:r>
                  <a:rPr sz="2400" b="0">
                    <a:solidFill>
                      <a:srgbClr val="111827"/>
                    </a:solidFill>
                    <a:latin typeface="Arial"/>
                  </a:rPr>
                  <a:t>, so the remainder is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12</a:t>
            </a:r>
            <a:endParaRPr sz="2800">
              <a:solidFill>
                <a:srgbClr val="15803D"/>
              </a:solidFill>
            </a:endParaRP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sSup>
                      <m:e>
                        <m:r>
                          <a:rPr lang="en-IN" sz="2400" i="1">
                            <a:solidFill>
                              <a:srgbClr val="78350F"/>
                            </a:solidFill>
                            <a:latin typeface="Cambria Math" panose="02040503050406030204" pitchFamily="18" charset="0"/>
                          </a:rPr>
                          <m:t>7</m:t>
                        </m:r>
                      </m:e>
                      <m:sup>
                        <m:r>
                          <a:rPr lang="en-IN" sz="2400" i="1">
                            <a:solidFill>
                              <a:srgbClr val="78350F"/>
                            </a:solidFill>
                            <a:latin typeface="Cambria Math" panose="02040503050406030204" pitchFamily="18" charset="0"/>
                          </a:rPr>
                          <m:t>103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49</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51</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51</m:t>
                        </m:r>
                      </m:sup>
                    </m:sSup>
                  </m:oMath>
                </a14:m>
                <a:r>
                  <a:rPr sz="2400" b="0">
                    <a:solidFill>
                      <a:srgbClr val="78350F"/>
                    </a:solidFill>
                    <a:latin typeface="Arial"/>
                  </a:rPr>
                  <a:t> and expand binomially.</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$7^{103}=7\cdot(49)^{51}=7(51-2)^{51}$</a:t>
                </a:r>
                <a:r>
                  <a:rPr sz="2400" b="0">
                    <a:solidFill>
                      <a:srgbClr val="78350F"/>
                    </a:solidFill>
                    <a:latin typeface="Arial"/>
                  </a:rPr>
                  <a:t> and expand binomially.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103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102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51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49</m:t>
                        </m:r>
                      </m:e>
                      <m:sup>
                        <m:r>
                          <a:rPr lang="en-IN" sz="2400" i="1">
                            <a:solidFill>
                              <a:srgbClr val="111827"/>
                            </a:solidFill>
                            <a:latin typeface="Cambria Math" panose="02040503050406030204" pitchFamily="18" charset="0"/>
                          </a:rPr>
                          <m:t>51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49</m:t>
                        </m:r>
                      </m:e>
                      <m:sup>
                        <m:r>
                          <a:rPr lang="en-IN" sz="2400" i="1">
                            <a:solidFill>
                              <a:srgbClr val="111827"/>
                            </a:solidFill>
                            <a:latin typeface="Cambria Math" panose="02040503050406030204" pitchFamily="18" charset="0"/>
                          </a:rPr>
                          <m:t>51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51</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8</m:t>
                                </m:r>
                              </m:sup>
                            </m:sSup>
                          </m:e>
                        </m:d>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103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$7^{103}=7\cdot7^{102}=7\cdot\left(7^2\right)^{51}=7\cdot49^{51}$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$49=51-2=3\cdot17-2$</a:t>
                </a:r>
                <a:r>
                  <a:rPr sz="2400" b="0">
                    <a:solidFill>
                      <a:srgbClr val="111827"/>
                    </a:solidFill>
                    <a:latin typeface="Arial"/>
                  </a:rPr>
                  <a:t>, so </a:t>
                </a:r>
                <a:r>
                  <a:rPr lang="en-IN" sz="2400">
                    <a:solidFill>
                      <a:srgbClr val="111827"/>
                    </a:solidFill>
                    <a:latin typeface="Cambria Math" panose="02040503050406030204" pitchFamily="18" charset="0"/>
                  </a:rPr>
                  <a:t>$49^{51}=(17\cdot3-2)^{51}=17k+(-2)^{51}=17k-2^{51}$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$2^{51}=\left(2^8\right)^6\cdot2^3$</a:t>
                </a:r>
                <a:r>
                  <a:rPr sz="2400" b="0">
                    <a:solidFill>
                      <a:srgbClr val="111827"/>
                    </a:solidFill>
                    <a:latin typeface="Arial"/>
                  </a:rPr>
                  <a:t> and </a:t>
                </a:r>
                <a:r>
                  <a:rPr lang="en-IN" sz="2400">
                    <a:solidFill>
                      <a:srgbClr val="111827"/>
                    </a:solidFill>
                    <a:latin typeface="Cambria Math" panose="02040503050406030204" pitchFamily="18" charset="0"/>
                  </a:rPr>
                  <a:t>$2^8=256=15\cdot17+1\equiv1$</a:t>
                </a:r>
                <a:r>
                  <a:rPr sz="2400" b="0">
                    <a:solidFill>
                      <a:srgbClr val="111827"/>
                    </a:solidFill>
                    <a:latin typeface="Arial"/>
                  </a:rPr>
                  <a:t>, so </a:t>
                </a:r>
                <a:r>
                  <a:rPr lang="en-IN" sz="2400">
                    <a:solidFill>
                      <a:srgbClr val="111827"/>
                    </a:solidFill>
                    <a:latin typeface="Cambria Math" panose="02040503050406030204" pitchFamily="18" charset="0"/>
                  </a:rPr>
                  <a:t>$2^{51}\equiv8$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$7^{103}\equiv7\cdot(-8)=-56\equiv12\pmod{17}$</a:t>
                </a:r>
                <a:r>
                  <a:rPr sz="2400" b="0">
                    <a:solidFill>
                      <a:srgbClr val="111827"/>
                    </a:solidFill>
                    <a:latin typeface="Arial"/>
                  </a:rPr>
                  <a:t>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12</a:t>
            </a:r>
            <a:endParaRPr sz="2800">
              <a:solidFill>
                <a:srgbClr val="15803D"/>
              </a:solidFill>
            </a:endParaRP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Fermat: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16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reduce the exponent modulo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Squaring chain: </a:t>
                </a: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the order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Binomial form: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823543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48443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Fermat: </a:t>
                </a:r>
                <a:r>
                  <a:rPr lang="en-IN" sz="2400">
                    <a:solidFill>
                      <a:srgbClr val="111827"/>
                    </a:solidFill>
                    <a:latin typeface="Cambria Math" panose="02040503050406030204" pitchFamily="18" charset="0"/>
                  </a:rPr>
                  <a:t>$a^{16}\equiv1\pmod{17}$</a:t>
                </a:r>
                <a:r>
                  <a:rPr sz="2400" b="0">
                    <a:solidFill>
                      <a:srgbClr val="111827"/>
                    </a:solidFill>
                    <a:latin typeface="Arial"/>
                  </a:rPr>
                  <a:t> for </a:t>
                </a:r>
                <a:r>
                  <a:rPr lang="en-IN" sz="2400">
                    <a:solidFill>
                      <a:srgbClr val="111827"/>
                    </a:solidFill>
                    <a:latin typeface="Cambria Math" panose="02040503050406030204" pitchFamily="18" charset="0"/>
                  </a:rPr>
                  <a:t>$17\nmid a$</a:t>
                </a:r>
                <a:r>
                  <a:rPr sz="2400" b="0">
                    <a:solidFill>
                      <a:srgbClr val="111827"/>
                    </a:solidFill>
                    <a:latin typeface="Arial"/>
                  </a:rPr>
                  <a:t>; reduce the exponent modulo </a:t>
                </a:r>
                <a:r>
                  <a:rPr lang="en-IN" sz="2400">
                    <a:solidFill>
                      <a:srgbClr val="111827"/>
                    </a:solidFill>
                    <a:latin typeface="Cambria Math" panose="02040503050406030204" pitchFamily="18" charset="0"/>
                  </a:rPr>
                  <a:t>$16$</a:t>
                </a:r>
                <a:r>
                  <a:rPr sz="2400" b="0">
                    <a:solidFill>
                      <a:srgbClr val="111827"/>
                    </a:solidFill>
                    <a:latin typeface="Arial"/>
                  </a:rPr>
                  <a:t>: </a:t>
                </a:r>
                <a:r>
                  <a:rPr lang="en-IN" sz="2400">
                    <a:solidFill>
                      <a:srgbClr val="111827"/>
                    </a:solidFill>
                    <a:latin typeface="Cambria Math" panose="02040503050406030204" pitchFamily="18" charset="0"/>
                  </a:rPr>
                  <a:t>$103\equiv7$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Squaring chain: </a:t>
                </a:r>
                <a:r>
                  <a:rPr lang="en-IN" sz="2400">
                    <a:solidFill>
                      <a:srgbClr val="111827"/>
                    </a:solidFill>
                    <a:latin typeface="Cambria Math" panose="02040503050406030204" pitchFamily="18" charset="0"/>
                  </a:rPr>
                  <a:t>$7^2\equiv-2$</a:t>
                </a:r>
                <a:r>
                  <a:rPr sz="2400" b="0">
                    <a:solidFill>
                      <a:srgbClr val="111827"/>
                    </a:solidFill>
                    <a:latin typeface="Arial"/>
                  </a:rPr>
                  <a:t>, </a:t>
                </a:r>
                <a:r>
                  <a:rPr lang="en-IN" sz="2400">
                    <a:solidFill>
                      <a:srgbClr val="111827"/>
                    </a:solidFill>
                    <a:latin typeface="Cambria Math" panose="02040503050406030204" pitchFamily="18" charset="0"/>
                  </a:rPr>
                  <a:t>$7^4\equiv4$</a:t>
                </a:r>
                <a:r>
                  <a:rPr sz="2400" b="0">
                    <a:solidFill>
                      <a:srgbClr val="111827"/>
                    </a:solidFill>
                    <a:latin typeface="Arial"/>
                  </a:rPr>
                  <a:t>, </a:t>
                </a:r>
                <a:r>
                  <a:rPr lang="en-IN" sz="2400">
                    <a:solidFill>
                      <a:srgbClr val="111827"/>
                    </a:solidFill>
                    <a:latin typeface="Cambria Math" panose="02040503050406030204" pitchFamily="18" charset="0"/>
                  </a:rPr>
                  <a:t>$7^8\equiv-1$</a:t>
                </a:r>
                <a:r>
                  <a:rPr sz="2400" b="0">
                    <a:solidFill>
                      <a:srgbClr val="111827"/>
                    </a:solidFill>
                    <a:latin typeface="Arial"/>
                  </a:rPr>
                  <a:t> (so the order of </a:t>
                </a:r>
                <a:r>
                  <a:rPr lang="en-IN" sz="2400">
                    <a:solidFill>
                      <a:srgbClr val="111827"/>
                    </a:solidFill>
                    <a:latin typeface="Cambria Math" panose="02040503050406030204" pitchFamily="18" charset="0"/>
                  </a:rPr>
                  <a:t>$7$</a:t>
                </a:r>
                <a:r>
                  <a:rPr sz="2400" b="0">
                    <a:solidFill>
                      <a:srgbClr val="111827"/>
                    </a:solidFill>
                    <a:latin typeface="Arial"/>
                  </a:rPr>
                  <a:t> is </a:t>
                </a:r>
                <a:r>
                  <a:rPr lang="en-IN" sz="2400">
                    <a:solidFill>
                      <a:srgbClr val="111827"/>
                    </a:solidFill>
                    <a:latin typeface="Cambria Math" panose="02040503050406030204" pitchFamily="18" charset="0"/>
                  </a:rPr>
                  <a:t>$16$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Binomial form: </a:t>
                </a:r>
                <a:r>
                  <a:rPr lang="en-IN" sz="2400">
                    <a:solidFill>
                      <a:srgbClr val="111827"/>
                    </a:solidFill>
                    <a:latin typeface="Cambria Math" panose="02040503050406030204" pitchFamily="18" charset="0"/>
                  </a:rPr>
                  <a:t>$(km\pm r)^n\equiv(\pm r)^n\pmod 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$7^7=823543=17\cdot48443+12$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elements in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elements in the set </a:t>
                </a:r>
                <a:r>
                  <a:rPr lang="en-IN" sz="2400">
                    <a:solidFill>
                      <a:srgbClr val="111827"/>
                    </a:solidFill>
                    <a:latin typeface="Cambria Math" panose="02040503050406030204" pitchFamily="18" charset="0"/>
                  </a:rPr>
                  <a:t>$\{n\in\mathbb N:10\le n\le100$</a:t>
                </a:r>
                <a:r>
                  <a:rPr sz="2400" b="0">
                    <a:solidFill>
                      <a:srgbClr val="111827"/>
                    </a:solidFill>
                    <a:latin typeface="Arial"/>
                  </a:rPr>
                  <a:t> and </a:t>
                </a:r>
                <a:r>
                  <a:rPr lang="en-IN" sz="2400">
                    <a:solidFill>
                      <a:srgbClr val="111827"/>
                    </a:solidFill>
                    <a:latin typeface="Cambria Math" panose="02040503050406030204" pitchFamily="18" charset="0"/>
                  </a:rPr>
                  <a:t>$3^n-3$</a:t>
                </a:r>
                <a:r>
                  <a:rPr sz="2400" b="0">
                    <a:solidFill>
                      <a:srgbClr val="111827"/>
                    </a:solidFill>
                    <a:latin typeface="Arial"/>
                  </a:rPr>
                  <a:t> is a multiple of </a:t>
                </a:r>
                <a:r>
                  <a:rPr lang="en-IN" sz="2400">
                    <a:solidFill>
                      <a:srgbClr val="111827"/>
                    </a:solidFill>
                    <a:latin typeface="Cambria Math" panose="02040503050406030204" pitchFamily="18" charset="0"/>
                  </a:rPr>
                  <a:t>$7\}$</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Number-theoretic counting with modular powers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exactly when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 order of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modulo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 is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$3^n\equiv3\pmod7$</a:t>
                </a:r>
                <a:r>
                  <a:rPr sz="2400" b="0">
                    <a:solidFill>
                      <a:srgbClr val="78350F"/>
                    </a:solidFill>
                    <a:latin typeface="Arial"/>
                  </a:rPr>
                  <a:t> exactly when </a:t>
                </a:r>
                <a:r>
                  <a:rPr lang="en-IN" sz="2400">
                    <a:solidFill>
                      <a:srgbClr val="78350F"/>
                    </a:solidFill>
                    <a:latin typeface="Cambria Math" panose="02040503050406030204" pitchFamily="18" charset="0"/>
                  </a:rPr>
                  <a:t>$n\equiv1\pmod6$</a:t>
                </a:r>
                <a:r>
                  <a:rPr sz="2400" b="0">
                    <a:solidFill>
                      <a:srgbClr val="78350F"/>
                    </a:solidFill>
                    <a:latin typeface="Arial"/>
                  </a:rPr>
                  <a:t> (the order of </a:t>
                </a:r>
                <a:r>
                  <a:rPr lang="en-IN" sz="2400">
                    <a:solidFill>
                      <a:srgbClr val="78350F"/>
                    </a:solidFill>
                    <a:latin typeface="Cambria Math" panose="02040503050406030204" pitchFamily="18" charset="0"/>
                  </a:rPr>
                  <a:t>$3$</a:t>
                </a:r>
                <a:r>
                  <a:rPr sz="2400" b="0">
                    <a:solidFill>
                      <a:srgbClr val="78350F"/>
                    </a:solidFill>
                    <a:latin typeface="Arial"/>
                  </a:rPr>
                  <a:t> modulo </a:t>
                </a:r>
                <a:r>
                  <a:rPr lang="en-IN" sz="2400">
                    <a:solidFill>
                      <a:srgbClr val="78350F"/>
                    </a:solidFill>
                    <a:latin typeface="Cambria Math" panose="02040503050406030204" pitchFamily="18" charset="0"/>
                  </a:rPr>
                  <a:t>$7$</a:t>
                </a:r>
                <a:r>
                  <a:rPr sz="2400" b="0">
                    <a:solidFill>
                      <a:srgbClr val="78350F"/>
                    </a:solidFill>
                    <a:latin typeface="Arial"/>
                  </a:rPr>
                  <a:t> is </a:t>
                </a:r>
                <a:r>
                  <a:rPr lang="en-IN" sz="2400">
                    <a:solidFill>
                      <a:srgbClr val="78350F"/>
                    </a:solidFill>
                    <a:latin typeface="Cambria Math" panose="02040503050406030204" pitchFamily="18" charset="0"/>
                  </a:rPr>
                  <a:t>$6$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iff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Powers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modulo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repeat with period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hence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$3^n-3$</a:t>
                </a:r>
                <a:r>
                  <a:rPr sz="2400" b="0">
                    <a:solidFill>
                      <a:srgbClr val="111827"/>
                    </a:solidFill>
                    <a:latin typeface="Arial"/>
                  </a:rPr>
                  <a:t> is a multiple of </a:t>
                </a:r>
                <a:r>
                  <a:rPr lang="en-IN" sz="2400">
                    <a:solidFill>
                      <a:srgbClr val="111827"/>
                    </a:solidFill>
                    <a:latin typeface="Cambria Math" panose="02040503050406030204" pitchFamily="18" charset="0"/>
                  </a:rPr>
                  <a:t>$7$</a:t>
                </a:r>
                <a:r>
                  <a:rPr sz="2400" b="0">
                    <a:solidFill>
                      <a:srgbClr val="111827"/>
                    </a:solidFill>
                    <a:latin typeface="Arial"/>
                  </a:rPr>
                  <a:t> iff </a:t>
                </a:r>
                <a:r>
                  <a:rPr lang="en-IN" sz="2400">
                    <a:solidFill>
                      <a:srgbClr val="111827"/>
                    </a:solidFill>
                    <a:latin typeface="Cambria Math" panose="02040503050406030204" pitchFamily="18" charset="0"/>
                  </a:rPr>
                  <a:t>$3^n\equiv3\pmod 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Powers of </a:t>
                </a:r>
                <a:r>
                  <a:rPr lang="en-IN" sz="2400">
                    <a:solidFill>
                      <a:srgbClr val="111827"/>
                    </a:solidFill>
                    <a:latin typeface="Cambria Math" panose="02040503050406030204" pitchFamily="18" charset="0"/>
                  </a:rPr>
                  <a:t>$3$</a:t>
                </a:r>
                <a:r>
                  <a:rPr sz="2400" b="0">
                    <a:solidFill>
                      <a:srgbClr val="111827"/>
                    </a:solidFill>
                    <a:latin typeface="Arial"/>
                  </a:rPr>
                  <a:t> modulo </a:t>
                </a:r>
                <a:r>
                  <a:rPr lang="en-IN" sz="2400">
                    <a:solidFill>
                      <a:srgbClr val="111827"/>
                    </a:solidFill>
                    <a:latin typeface="Cambria Math" panose="02040503050406030204" pitchFamily="18" charset="0"/>
                  </a:rPr>
                  <a:t>$7$</a:t>
                </a:r>
                <a:r>
                  <a:rPr sz="2400" b="0">
                    <a:solidFill>
                      <a:srgbClr val="111827"/>
                    </a:solidFill>
                    <a:latin typeface="Arial"/>
                  </a:rPr>
                  <a:t> repeat with period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$3,2,6,4,5,1,\dots$</a:t>
                </a:r>
                <a:r>
                  <a:rPr sz="2400" b="0">
                    <a:solidFill>
                      <a:srgbClr val="111827"/>
                    </a:solidFill>
                    <a:latin typeface="Arial"/>
                  </a:rPr>
                  <a:t>; hence </a:t>
                </a:r>
                <a:r>
                  <a:rPr lang="en-IN" sz="2400">
                    <a:solidFill>
                      <a:srgbClr val="111827"/>
                    </a:solidFill>
                    <a:latin typeface="Cambria Math" panose="02040503050406030204" pitchFamily="18" charset="0"/>
                  </a:rPr>
                  <a:t>$3^n\equiv3$</a:t>
                </a:r>
                <a:r>
                  <a:rPr sz="2400" b="0">
                    <a:solidFill>
                      <a:srgbClr val="111827"/>
                    </a:solidFill>
                    <a:latin typeface="Arial"/>
                  </a:rPr>
                  <a:t> iff </a:t>
                </a:r>
                <a:r>
                  <a:rPr lang="en-IN" sz="2400">
                    <a:solidFill>
                      <a:srgbClr val="111827"/>
                    </a:solidFill>
                    <a:latin typeface="Cambria Math" panose="02040503050406030204" pitchFamily="18" charset="0"/>
                  </a:rPr>
                  <a:t>$n\equiv1\pmod6$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those with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These form an A.P. with first term </a:t>
                </a:r>
                <a14:m>
                  <m:oMath xmlns:m="http://schemas.openxmlformats.org/officeDocument/2006/math">
                    <m:r>
                      <a:rPr lang="en-IN" sz="2400" i="1">
                        <a:solidFill>
                          <a:srgbClr val="111827"/>
                        </a:solidFill>
                        <a:latin typeface="Cambria Math" panose="02040503050406030204" pitchFamily="18" charset="0"/>
                      </a:rPr>
                      <m:t>13</m:t>
                    </m:r>
                  </m:oMath>
                </a14:m>
                <a:r>
                  <a:rPr sz="2400" b="0">
                    <a:solidFill>
                      <a:srgbClr val="111827"/>
                    </a:solidFill>
                    <a:latin typeface="Arial"/>
                  </a:rPr>
                  <a:t>, common difference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and last term </a:t>
                </a:r>
                <a14:m>
                  <m:oMath xmlns:m="http://schemas.openxmlformats.org/officeDocument/2006/math">
                    <m:r>
                      <a:rPr lang="en-IN" sz="2400" i="1">
                        <a:solidFill>
                          <a:srgbClr val="111827"/>
                        </a:solidFill>
                        <a:latin typeface="Cambria Math" panose="02040503050406030204" pitchFamily="18" charset="0"/>
                      </a:rPr>
                      <m:t>97</m:t>
                    </m:r>
                  </m:oMath>
                </a14:m>
                <a:r>
                  <a:rPr sz="2400" b="0">
                    <a:solidFill>
                      <a:srgbClr val="111827"/>
                    </a:solidFill>
                    <a:latin typeface="Arial"/>
                  </a:rPr>
                  <a:t>, so the number of terms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$n=1,7,13,19,\dots$</a:t>
                </a:r>
                <a:r>
                  <a:rPr sz="2400" b="0">
                    <a:solidFill>
                      <a:srgbClr val="111827"/>
                    </a:solidFill>
                    <a:latin typeface="Arial"/>
                  </a:rPr>
                  <a:t>; those with </a:t>
                </a:r>
                <a:r>
                  <a:rPr lang="en-IN" sz="2400">
                    <a:solidFill>
                      <a:srgbClr val="111827"/>
                    </a:solidFill>
                    <a:latin typeface="Cambria Math" panose="02040503050406030204" pitchFamily="18" charset="0"/>
                  </a:rPr>
                  <a:t>$10\le n\le100$</a:t>
                </a:r>
                <a:r>
                  <a:rPr sz="2400" b="0">
                    <a:solidFill>
                      <a:srgbClr val="111827"/>
                    </a:solidFill>
                    <a:latin typeface="Arial"/>
                  </a:rPr>
                  <a:t> are </a:t>
                </a:r>
                <a:r>
                  <a:rPr lang="en-IN" sz="2400">
                    <a:solidFill>
                      <a:srgbClr val="111827"/>
                    </a:solidFill>
                    <a:latin typeface="Cambria Math" panose="02040503050406030204" pitchFamily="18" charset="0"/>
                  </a:rPr>
                  <a:t>$n=13,19,25,\dots,97$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These form an A.P. with first term </a:t>
                </a:r>
                <a:r>
                  <a:rPr lang="en-IN" sz="2400">
                    <a:solidFill>
                      <a:srgbClr val="111827"/>
                    </a:solidFill>
                    <a:latin typeface="Cambria Math" panose="02040503050406030204" pitchFamily="18" charset="0"/>
                  </a:rPr>
                  <a:t>$13$</a:t>
                </a:r>
                <a:r>
                  <a:rPr sz="2400" b="0">
                    <a:solidFill>
                      <a:srgbClr val="111827"/>
                    </a:solidFill>
                    <a:latin typeface="Arial"/>
                  </a:rPr>
                  <a:t>, common difference </a:t>
                </a:r>
                <a:r>
                  <a:rPr lang="en-IN" sz="2400">
                    <a:solidFill>
                      <a:srgbClr val="111827"/>
                    </a:solidFill>
                    <a:latin typeface="Cambria Math" panose="02040503050406030204" pitchFamily="18" charset="0"/>
                  </a:rPr>
                  <a:t>$6$</a:t>
                </a:r>
                <a:r>
                  <a:rPr sz="2400" b="0">
                    <a:solidFill>
                      <a:srgbClr val="111827"/>
                    </a:solidFill>
                    <a:latin typeface="Arial"/>
                  </a:rPr>
                  <a:t> and last term </a:t>
                </a:r>
                <a:r>
                  <a:rPr lang="en-IN" sz="2400">
                    <a:solidFill>
                      <a:srgbClr val="111827"/>
                    </a:solidFill>
                    <a:latin typeface="Cambria Math" panose="02040503050406030204" pitchFamily="18" charset="0"/>
                  </a:rPr>
                  <a:t>$97$</a:t>
                </a:r>
                <a:r>
                  <a:rPr sz="2400" b="0">
                    <a:solidFill>
                      <a:srgbClr val="111827"/>
                    </a:solidFill>
                    <a:latin typeface="Arial"/>
                  </a:rPr>
                  <a:t>, so the number of terms is </a:t>
                </a:r>
                <a:r>
                  <a:rPr lang="en-IN" sz="2400">
                    <a:solidFill>
                      <a:srgbClr val="111827"/>
                    </a:solidFill>
                    <a:latin typeface="Cambria Math" panose="02040503050406030204" pitchFamily="18" charset="0"/>
                  </a:rPr>
                  <a:t>$\dfrac{97-13}{6}+1=15$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15</a:t>
            </a:r>
            <a:endParaRPr sz="2800">
              <a:solidFill>
                <a:srgbClr val="15803D"/>
              </a:solidFill>
            </a:endParaRP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multiplicative order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modulo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divides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powers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mod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cycle with period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ord</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A.P. terms in a range: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𝑚𝑎𝑥</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𝑓𝑖𝑟𝑠𝑡</m:t>
                            </m:r>
                          </m:num>
                          <m:den>
                            <m:r>
                              <a:rPr lang="en-IN" sz="2400" i="1">
                                <a:solidFill>
                                  <a:srgbClr val="111827"/>
                                </a:solidFill>
                                <a:latin typeface="Cambria Math" panose="02040503050406030204" pitchFamily="18" charset="0"/>
                              </a:rPr>
                              <m:t>𝑑</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1594323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multiplicative order of </a:t>
                </a:r>
                <a:r>
                  <a:rPr lang="en-IN" sz="2400">
                    <a:solidFill>
                      <a:srgbClr val="111827"/>
                    </a:solidFill>
                    <a:latin typeface="Cambria Math" panose="02040503050406030204" pitchFamily="18" charset="0"/>
                  </a:rPr>
                  <a:t>$a$</a:t>
                </a:r>
                <a:r>
                  <a:rPr sz="2400" b="0">
                    <a:solidFill>
                      <a:srgbClr val="111827"/>
                    </a:solidFill>
                    <a:latin typeface="Arial"/>
                  </a:rPr>
                  <a:t> modulo </a:t>
                </a:r>
                <a:r>
                  <a:rPr lang="en-IN" sz="2400">
                    <a:solidFill>
                      <a:srgbClr val="111827"/>
                    </a:solidFill>
                    <a:latin typeface="Cambria Math" panose="02040503050406030204" pitchFamily="18" charset="0"/>
                  </a:rPr>
                  <a:t>$p$</a:t>
                </a:r>
                <a:r>
                  <a:rPr sz="2400" b="0">
                    <a:solidFill>
                      <a:srgbClr val="111827"/>
                    </a:solidFill>
                    <a:latin typeface="Arial"/>
                  </a:rPr>
                  <a:t> divides </a:t>
                </a:r>
                <a:r>
                  <a:rPr lang="en-IN" sz="2400">
                    <a:solidFill>
                      <a:srgbClr val="111827"/>
                    </a:solidFill>
                    <a:latin typeface="Cambria Math" panose="02040503050406030204" pitchFamily="18" charset="0"/>
                  </a:rPr>
                  <a:t>$p-1$</a:t>
                </a:r>
                <a:r>
                  <a:rPr sz="2400" b="0">
                    <a:solidFill>
                      <a:srgbClr val="111827"/>
                    </a:solidFill>
                    <a:latin typeface="Arial"/>
                  </a:rPr>
                  <a:t>; the powers of </a:t>
                </a:r>
                <a:r>
                  <a:rPr lang="en-IN" sz="2400">
                    <a:solidFill>
                      <a:srgbClr val="111827"/>
                    </a:solidFill>
                    <a:latin typeface="Cambria Math" panose="02040503050406030204" pitchFamily="18" charset="0"/>
                  </a:rPr>
                  <a:t>$3$</a:t>
                </a:r>
                <a:r>
                  <a:rPr sz="2400" b="0">
                    <a:solidFill>
                      <a:srgbClr val="111827"/>
                    </a:solidFill>
                    <a:latin typeface="Arial"/>
                  </a:rPr>
                  <a:t> mod </a:t>
                </a:r>
                <a:r>
                  <a:rPr lang="en-IN" sz="2400">
                    <a:solidFill>
                      <a:srgbClr val="111827"/>
                    </a:solidFill>
                    <a:latin typeface="Cambria Math" panose="02040503050406030204" pitchFamily="18" charset="0"/>
                  </a:rPr>
                  <a:t>$7$</a:t>
                </a:r>
                <a:r>
                  <a:rPr sz="2400" b="0">
                    <a:solidFill>
                      <a:srgbClr val="111827"/>
                    </a:solidFill>
                    <a:latin typeface="Arial"/>
                  </a:rPr>
                  <a:t> cycle with period </a:t>
                </a:r>
                <a:r>
                  <a:rPr lang="en-IN" sz="2400">
                    <a:solidFill>
                      <a:srgbClr val="111827"/>
                    </a:solidFill>
                    <a:latin typeface="Cambria Math" panose="02040503050406030204" pitchFamily="18" charset="0"/>
                  </a:rPr>
                  <a: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$a^n\equiv a\pmod p\iff n\equiv1\pmod{\operatorname{ord}}$</a:t>
                </a:r>
                <a:r>
                  <a:rPr sz="2400" b="0">
                    <a:solidFill>
                      <a:srgbClr val="111827"/>
                    </a:solidFill>
                    <a:latin typeface="Arial"/>
                  </a:rPr>
                  <a:t> (for </a:t>
                </a:r>
                <a:r>
                  <a:rPr lang="en-IN" sz="2400">
                    <a:solidFill>
                      <a:srgbClr val="111827"/>
                    </a:solidFill>
                    <a:latin typeface="Cambria Math" panose="02040503050406030204" pitchFamily="18" charset="0"/>
                  </a:rPr>
                  <a:t>$\gcd(a,p)=1$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A.P. terms in a range: </a:t>
                </a:r>
                <a:r>
                  <a:rPr lang="en-IN" sz="2400">
                    <a:solidFill>
                      <a:srgbClr val="111827"/>
                    </a:solidFill>
                    <a:latin typeface="Cambria Math" panose="02040503050406030204" pitchFamily="18" charset="0"/>
                  </a:rPr>
                  <a:t>$\left\lfloor\frac{\text{max}-\text{first}}{d}\right\rfloor+1$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$3^{13}=1594323\equiv3\pmod 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5</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Q49 – Q52</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Assumed +4 each (JEE Advanced default)</a:t>
            </a:r>
            <a:endParaRPr sz="2800">
              <a:solidFill>
                <a:srgbClr val="FFFFFF"/>
              </a:solidFill>
            </a:endParaRP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denotes the sum of all the coefficients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denotes the sum of all the coefficients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𝐵</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a:t>
                </a:r>
                <a:r>
                  <a:rPr sz="2400" b="0">
                    <a:solidFill>
                      <a:srgbClr val="111827"/>
                    </a:solidFill>
                    <a:latin typeface="Arial"/>
                  </a:rPr>
                  <a:t> denotes the sum of all the coefficients in the expansion of </a:t>
                </a:r>
                <a:r>
                  <a:rPr lang="en-IN" sz="2400">
                    <a:solidFill>
                      <a:srgbClr val="111827"/>
                    </a:solidFill>
                    <a:latin typeface="Cambria Math" panose="02040503050406030204" pitchFamily="18" charset="0"/>
                  </a:rPr>
                  <a:t>$\left(1-3x+10x^2\right)^n$</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denotes the sum of all the coefficients in the expansion of </a:t>
                </a:r>
                <a:r>
                  <a:rPr lang="en-IN" sz="2400">
                    <a:solidFill>
                      <a:srgbClr val="111827"/>
                    </a:solidFill>
                    <a:latin typeface="Cambria Math" panose="02040503050406030204" pitchFamily="18" charset="0"/>
                  </a:rPr>
                  <a:t>$\left(1+x^2\right)^n$</a:t>
                </a:r>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$B=A^3$</a:t>
                </a:r>
                <a:r>
                  <a:rPr sz="2400" b="0">
                    <a:solidFill>
                      <a:srgbClr val="111827"/>
                    </a:solidFill>
                    <a:latin typeface="Arial"/>
                  </a:rPr>
                  <a:t>   (B) </a:t>
                </a:r>
                <a:r>
                  <a:rPr lang="en-IN" sz="2400">
                    <a:solidFill>
                      <a:srgbClr val="111827"/>
                    </a:solidFill>
                    <a:latin typeface="Cambria Math" panose="02040503050406030204" pitchFamily="18" charset="0"/>
                  </a:rPr>
                  <a:t>$3A=B$</a:t>
                </a:r>
                <a:r>
                  <a:rPr sz="2400" b="0">
                    <a:solidFill>
                      <a:srgbClr val="111827"/>
                    </a:solidFill>
                    <a:latin typeface="Arial"/>
                  </a:rPr>
                  <a:t>   (C) </a:t>
                </a:r>
                <a:r>
                  <a:rPr lang="en-IN" sz="2400">
                    <a:solidFill>
                      <a:srgbClr val="111827"/>
                    </a:solidFill>
                    <a:latin typeface="Cambria Math" panose="02040503050406030204" pitchFamily="18" charset="0"/>
                  </a:rPr>
                  <a:t>$A=B^3$</a:t>
                </a:r>
                <a:r>
                  <a:rPr sz="2400" b="0">
                    <a:solidFill>
                      <a:srgbClr val="111827"/>
                    </a:solidFill>
                    <a:latin typeface="Arial"/>
                  </a:rPr>
                  <a:t>   (D) </a:t>
                </a:r>
                <a:r>
                  <a:rPr lang="en-IN" sz="2400">
                    <a:solidFill>
                      <a:srgbClr val="111827"/>
                    </a:solidFill>
                    <a:latin typeface="Cambria Math" panose="02040503050406030204" pitchFamily="18" charset="0"/>
                  </a:rPr>
                  <a:t>$A=3B$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coefficients (substituting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Choice>
        <mc:Fallback>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coefficients (substituting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Fallback>
      </mc:AlternateContent>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sum of coefficients is the value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sum of coefficients is the value at </a:t>
                </a:r>
                <a:r>
                  <a:rPr lang="en-IN" sz="2400">
                    <a:solidFill>
                      <a:srgbClr val="78350F"/>
                    </a:solidFill>
                    <a:latin typeface="Cambria Math" panose="02040503050406030204" pitchFamily="18" charset="0"/>
                  </a:rPr>
                  <a:t>$x=1$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sum of all coefficients of a polynomial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e>
                        </m:d>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option (C).</a:t>
                </a:r>
                <a:endParaRPr sz="2400">
                  <a:solidFill>
                    <a:srgbClr val="111827"/>
                  </a:solidFill>
                </a:endParaRPr>
              </a:p>
            </p:txBody>
          </p:sp>
        </mc:Choice>
        <mc:Fallback>
          <p:sp>
            <p:nvSpPr>
              <p:cNvPr id="5" name="Rectangle 4"/>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sum of all coefficients of a polynomial </a:t>
                </a:r>
                <a:r>
                  <a:rPr lang="en-IN" sz="2400">
                    <a:solidFill>
                      <a:srgbClr val="111827"/>
                    </a:solidFill>
                    <a:latin typeface="Cambria Math" panose="02040503050406030204" pitchFamily="18" charset="0"/>
                  </a:rPr>
                  <a:t>$f(x)$</a:t>
                </a:r>
                <a:r>
                  <a:rPr sz="2400" b="0">
                    <a:solidFill>
                      <a:srgbClr val="111827"/>
                    </a:solidFill>
                    <a:latin typeface="Arial"/>
                  </a:rPr>
                  <a:t> is </a:t>
                </a:r>
                <a:r>
                  <a:rPr lang="en-IN" sz="2400">
                    <a:solidFill>
                      <a:srgbClr val="111827"/>
                    </a:solidFill>
                    <a:latin typeface="Cambria Math" panose="02040503050406030204" pitchFamily="18" charset="0"/>
                  </a:rPr>
                  <a:t>$f(1)$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$A=\left(1-3\cdot1+10\cdot1^2\right)^n=8^n$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$B=\left(1+1^2\right)^n=2^n$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$A=8^n=\left(2^3\right)^n=\left(2^n\right)^3=B^3$</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𝐴</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𝐵</m:t>
                        </m:r>
                      </m:e>
                      <m:sup>
                        <m:r>
                          <a:rPr lang="en-IN" sz="2800" i="1">
                            <a:solidFill>
                              <a:srgbClr val="15803D"/>
                            </a:solidFill>
                            <a:latin typeface="Cambria Math" panose="02040503050406030204" pitchFamily="18" charset="0"/>
                          </a:rPr>
                          <m:t>3</m:t>
                        </m:r>
                      </m:sup>
                    </m:sSup>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$A=B^3$</a:t>
                </a:r>
                <a:endParaRPr sz="2800">
                  <a:solidFill>
                    <a:srgbClr val="15803D"/>
                  </a:solidFill>
                </a:endParaRPr>
              </a:p>
            </p:txBody>
          </p:sp>
        </mc:Fallback>
      </mc:AlternateContent>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Test the options with the single value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(the relation must hold for every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Test the options with the single value </a:t>
                </a:r>
                <a:r>
                  <a:rPr lang="en-IN" sz="2400">
                    <a:solidFill>
                      <a:srgbClr val="78350F"/>
                    </a:solidFill>
                    <a:latin typeface="Cambria Math" panose="02040503050406030204" pitchFamily="18" charset="0"/>
                  </a:rPr>
                  <a:t>$n=1$</a:t>
                </a:r>
                <a:r>
                  <a:rPr sz="2400" b="0">
                    <a:solidFill>
                      <a:srgbClr val="78350F"/>
                    </a:solidFill>
                    <a:latin typeface="Arial"/>
                  </a:rPr>
                  <a:t> (the relation must hold for every </a:t>
                </a:r>
                <a:r>
                  <a:rPr lang="en-IN" sz="2400">
                    <a:solidFill>
                      <a:srgbClr val="78350F"/>
                    </a:solidFill>
                    <a:latin typeface="Cambria Math" panose="02040503050406030204" pitchFamily="18" charset="0"/>
                  </a:rPr>
                  <a:t>$n$</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options: (A)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512</m:t>
                    </m:r>
                  </m:oMath>
                </a14:m>
                <a:r>
                  <a:rPr sz="2400" b="0">
                    <a:solidFill>
                      <a:srgbClr val="111827"/>
                    </a:solidFill>
                    <a:latin typeface="Arial"/>
                  </a:rPr>
                  <a:t>? No. (B)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No. (C)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 (D)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No.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(C) survives,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(same answer; this uses that exactly one option is correct, and the main solution proves it for all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$n=1$</a:t>
                </a:r>
                <a:r>
                  <a:rPr sz="2400" b="0">
                    <a:solidFill>
                      <a:srgbClr val="111827"/>
                    </a:solidFill>
                    <a:latin typeface="Arial"/>
                  </a:rPr>
                  <a:t>: </a:t>
                </a:r>
                <a:r>
                  <a:rPr lang="en-IN" sz="2400">
                    <a:solidFill>
                      <a:srgbClr val="111827"/>
                    </a:solidFill>
                    <a:latin typeface="Cambria Math" panose="02040503050406030204" pitchFamily="18" charset="0"/>
                  </a:rPr>
                  <a:t>$A=1-3+10=8$</a:t>
                </a:r>
                <a:r>
                  <a:rPr sz="2400" b="0">
                    <a:solidFill>
                      <a:srgbClr val="111827"/>
                    </a:solidFill>
                    <a:latin typeface="Arial"/>
                  </a:rPr>
                  <a:t> and </a:t>
                </a:r>
                <a:r>
                  <a:rPr lang="en-IN" sz="2400">
                    <a:solidFill>
                      <a:srgbClr val="111827"/>
                    </a:solidFill>
                    <a:latin typeface="Cambria Math" panose="02040503050406030204" pitchFamily="18" charset="0"/>
                  </a:rPr>
                  <a:t>$B=1+1=2$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options: (A) </a:t>
                </a:r>
                <a:r>
                  <a:rPr lang="en-IN" sz="2400">
                    <a:solidFill>
                      <a:srgbClr val="111827"/>
                    </a:solidFill>
                    <a:latin typeface="Cambria Math" panose="02040503050406030204" pitchFamily="18" charset="0"/>
                  </a:rPr>
                  <a:t>$B=A^3$</a:t>
                </a:r>
                <a:r>
                  <a:rPr sz="2400" b="0">
                    <a:solidFill>
                      <a:srgbClr val="111827"/>
                    </a:solidFill>
                    <a:latin typeface="Arial"/>
                  </a:rPr>
                  <a:t>: </a:t>
                </a:r>
                <a:r>
                  <a:rPr lang="en-IN" sz="2400">
                    <a:solidFill>
                      <a:srgbClr val="111827"/>
                    </a:solidFill>
                    <a:latin typeface="Cambria Math" panose="02040503050406030204" pitchFamily="18" charset="0"/>
                  </a:rPr>
                  <a:t>$2=512$</a:t>
                </a:r>
                <a:r>
                  <a:rPr sz="2400" b="0">
                    <a:solidFill>
                      <a:srgbClr val="111827"/>
                    </a:solidFill>
                    <a:latin typeface="Arial"/>
                  </a:rPr>
                  <a:t>? No. (B) </a:t>
                </a:r>
                <a:r>
                  <a:rPr lang="en-IN" sz="2400">
                    <a:solidFill>
                      <a:srgbClr val="111827"/>
                    </a:solidFill>
                    <a:latin typeface="Cambria Math" panose="02040503050406030204" pitchFamily="18" charset="0"/>
                  </a:rPr>
                  <a:t>$3A=B$</a:t>
                </a:r>
                <a:r>
                  <a:rPr sz="2400" b="0">
                    <a:solidFill>
                      <a:srgbClr val="111827"/>
                    </a:solidFill>
                    <a:latin typeface="Arial"/>
                  </a:rPr>
                  <a:t>: </a:t>
                </a:r>
                <a:r>
                  <a:rPr lang="en-IN" sz="2400">
                    <a:solidFill>
                      <a:srgbClr val="111827"/>
                    </a:solidFill>
                    <a:latin typeface="Cambria Math" panose="02040503050406030204" pitchFamily="18" charset="0"/>
                  </a:rPr>
                  <a:t>$24=2$</a:t>
                </a:r>
                <a:r>
                  <a:rPr sz="2400" b="0">
                    <a:solidFill>
                      <a:srgbClr val="111827"/>
                    </a:solidFill>
                    <a:latin typeface="Arial"/>
                  </a:rPr>
                  <a:t>? No. (C) </a:t>
                </a:r>
                <a:r>
                  <a:rPr lang="en-IN" sz="2400">
                    <a:solidFill>
                      <a:srgbClr val="111827"/>
                    </a:solidFill>
                    <a:latin typeface="Cambria Math" panose="02040503050406030204" pitchFamily="18" charset="0"/>
                  </a:rPr>
                  <a:t>$A=B^3$</a:t>
                </a:r>
                <a:r>
                  <a:rPr sz="2400" b="0">
                    <a:solidFill>
                      <a:srgbClr val="111827"/>
                    </a:solidFill>
                    <a:latin typeface="Arial"/>
                  </a:rPr>
                  <a:t>: </a:t>
                </a:r>
                <a:r>
                  <a:rPr lang="en-IN" sz="2400">
                    <a:solidFill>
                      <a:srgbClr val="111827"/>
                    </a:solidFill>
                    <a:latin typeface="Cambria Math" panose="02040503050406030204" pitchFamily="18" charset="0"/>
                  </a:rPr>
                  <a:t>$8=8$</a:t>
                </a:r>
                <a:r>
                  <a:rPr sz="2400" b="0">
                    <a:solidFill>
                      <a:srgbClr val="111827"/>
                    </a:solidFill>
                    <a:latin typeface="Arial"/>
                  </a:rPr>
                  <a:t> ✓. (D) </a:t>
                </a:r>
                <a:r>
                  <a:rPr lang="en-IN" sz="2400">
                    <a:solidFill>
                      <a:srgbClr val="111827"/>
                    </a:solidFill>
                    <a:latin typeface="Cambria Math" panose="02040503050406030204" pitchFamily="18" charset="0"/>
                  </a:rPr>
                  <a:t>$A=3B$</a:t>
                </a:r>
                <a:r>
                  <a:rPr sz="2400" b="0">
                    <a:solidFill>
                      <a:srgbClr val="111827"/>
                    </a:solidFill>
                    <a:latin typeface="Arial"/>
                  </a:rPr>
                  <a:t>: </a:t>
                </a:r>
                <a:r>
                  <a:rPr lang="en-IN" sz="2400">
                    <a:solidFill>
                      <a:srgbClr val="111827"/>
                    </a:solidFill>
                    <a:latin typeface="Cambria Math" panose="02040503050406030204" pitchFamily="18" charset="0"/>
                  </a:rPr>
                  <a:t>$8=6$</a:t>
                </a:r>
                <a:r>
                  <a:rPr sz="2400" b="0">
                    <a:solidFill>
                      <a:srgbClr val="111827"/>
                    </a:solidFill>
                    <a:latin typeface="Arial"/>
                  </a:rPr>
                  <a:t>? No.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(C) survives, so </a:t>
                </a:r>
                <a:r>
                  <a:rPr lang="en-IN" sz="2400">
                    <a:solidFill>
                      <a:srgbClr val="111827"/>
                    </a:solidFill>
                    <a:latin typeface="Cambria Math" panose="02040503050406030204" pitchFamily="18" charset="0"/>
                  </a:rPr>
                  <a:t>$A=B^3$</a:t>
                </a:r>
                <a:r>
                  <a:rPr sz="2400" b="0">
                    <a:solidFill>
                      <a:srgbClr val="111827"/>
                    </a:solidFill>
                    <a:latin typeface="Arial"/>
                  </a:rPr>
                  <a:t> (same answer; this uses that exactly one option is correct, and the main solution proves it for all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𝐴</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𝐵</m:t>
                        </m:r>
                      </m:e>
                      <m:sup>
                        <m:r>
                          <a:rPr lang="en-IN" sz="2800" i="1">
                            <a:solidFill>
                              <a:srgbClr val="15803D"/>
                            </a:solidFill>
                            <a:latin typeface="Cambria Math" panose="02040503050406030204" pitchFamily="18" charset="0"/>
                          </a:rPr>
                          <m:t>3</m:t>
                        </m:r>
                      </m:sup>
                    </m:sSup>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$A=B^3$</a:t>
                </a:r>
                <a:endParaRPr sz="2800">
                  <a:solidFill>
                    <a:srgbClr val="15803D"/>
                  </a:solidFill>
                </a:endParaRPr>
              </a:p>
            </p:txBody>
          </p:sp>
        </mc:Fallback>
      </mc:AlternateContent>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coefficients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of coefficients of even powers minus odd powers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makes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Beware: 'sum of coefficients' means numerical coefficients, with all variables set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coefficients </a:t>
                </a:r>
                <a:r>
                  <a:rPr lang="en-IN" sz="2400">
                    <a:solidFill>
                      <a:srgbClr val="111827"/>
                    </a:solidFill>
                    <a:latin typeface="Cambria Math" panose="02040503050406030204" pitchFamily="18" charset="0"/>
                  </a:rPr>
                  <a:t>$=f(1)$</a:t>
                </a:r>
                <a:r>
                  <a:rPr sz="2400" b="0">
                    <a:solidFill>
                      <a:srgbClr val="111827"/>
                    </a:solidFill>
                    <a:latin typeface="Arial"/>
                  </a:rPr>
                  <a:t>; sum of coefficients of even powers minus odd powers </a:t>
                </a:r>
                <a:r>
                  <a:rPr lang="en-IN" sz="2400">
                    <a:solidFill>
                      <a:srgbClr val="111827"/>
                    </a:solidFill>
                    <a:latin typeface="Cambria Math" panose="02040503050406030204" pitchFamily="18" charset="0"/>
                  </a:rPr>
                  <a:t>$=f(-1)$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$1-3+10=8=2^3$</a:t>
                </a:r>
                <a:r>
                  <a:rPr sz="2400" b="0">
                    <a:solidFill>
                      <a:srgbClr val="111827"/>
                    </a:solidFill>
                    <a:latin typeface="Arial"/>
                  </a:rPr>
                  <a:t> makes </a:t>
                </a:r>
                <a:r>
                  <a:rPr lang="en-IN" sz="2400">
                    <a:solidFill>
                      <a:srgbClr val="111827"/>
                    </a:solidFill>
                    <a:latin typeface="Cambria Math" panose="02040503050406030204" pitchFamily="18" charset="0"/>
                  </a:rPr>
                  <a:t>$A=B^3$</a:t>
                </a:r>
                <a:r>
                  <a:rPr sz="2400" b="0">
                    <a:solidFill>
                      <a:srgbClr val="111827"/>
                    </a:solidFill>
                    <a:latin typeface="Arial"/>
                  </a:rPr>
                  <a:t> for every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Beware: 'sum of coefficients' means numerical coefficients, with all variables set to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$n=1$</a:t>
                </a:r>
                <a:r>
                  <a:rPr sz="2400" b="0">
                    <a:solidFill>
                      <a:srgbClr val="111827"/>
                    </a:solidFill>
                    <a:latin typeface="Arial"/>
                  </a:rPr>
                  <a:t>: </a:t>
                </a:r>
                <a:r>
                  <a:rPr lang="en-IN" sz="2400">
                    <a:solidFill>
                      <a:srgbClr val="111827"/>
                    </a:solidFill>
                    <a:latin typeface="Cambria Math" panose="02040503050406030204" pitchFamily="18" charset="0"/>
                  </a:rPr>
                  <a:t>$A=8$</a:t>
                </a:r>
                <a:r>
                  <a:rPr sz="2400" b="0">
                    <a:solidFill>
                      <a:srgbClr val="111827"/>
                    </a:solidFill>
                    <a:latin typeface="Arial"/>
                  </a:rPr>
                  <a:t>, </a:t>
                </a:r>
                <a:r>
                  <a:rPr lang="en-IN" sz="2400">
                    <a:solidFill>
                      <a:srgbClr val="111827"/>
                    </a:solidFill>
                    <a:latin typeface="Cambria Math" panose="02040503050406030204" pitchFamily="18" charset="0"/>
                  </a:rPr>
                  <a:t>$B=2$</a:t>
                </a:r>
                <a:r>
                  <a:rPr sz="2400" b="0">
                    <a:solidFill>
                      <a:srgbClr val="111827"/>
                    </a:solidFill>
                    <a:latin typeface="Arial"/>
                  </a:rPr>
                  <a:t>, </a:t>
                </a:r>
                <a:r>
                  <a:rPr lang="en-IN" sz="2400">
                    <a:solidFill>
                      <a:srgbClr val="111827"/>
                    </a:solidFill>
                    <a:latin typeface="Cambria Math" panose="02040503050406030204" pitchFamily="18" charset="0"/>
                  </a:rPr>
                  <a:t>$B^3=8$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if and only if:</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lang="en-IN" sz="2400">
                    <a:solidFill>
                      <a:srgbClr val="111827"/>
                    </a:solidFill>
                    <a:latin typeface="Cambria Math" panose="02040503050406030204" pitchFamily="18" charset="0"/>
                  </a:rPr>
                  <a:t>$\binom{n-1}{r}=\left(k^2-8\right)\binom{n}{r+1}$</a:t>
                </a:r>
                <a:r>
                  <a:rPr sz="2400" b="0">
                    <a:solidFill>
                      <a:srgbClr val="111827"/>
                    </a:solidFill>
                    <a:latin typeface="Arial"/>
                  </a:rPr>
                  <a:t> if and only if:</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$2\sqrt2&lt;k\le3$</a:t>
                </a:r>
                <a:r>
                  <a:rPr sz="2400" b="0">
                    <a:solidFill>
                      <a:srgbClr val="111827"/>
                    </a:solidFill>
                    <a:latin typeface="Arial"/>
                  </a:rPr>
                  <a:t>   (B) </a:t>
                </a:r>
                <a:r>
                  <a:rPr lang="en-IN" sz="2400">
                    <a:solidFill>
                      <a:srgbClr val="111827"/>
                    </a:solidFill>
                    <a:latin typeface="Cambria Math" panose="02040503050406030204" pitchFamily="18" charset="0"/>
                  </a:rPr>
                  <a:t>$2\sqrt3&lt;k&lt;3\sqrt3$</a:t>
                </a:r>
                <a:r>
                  <a:rPr sz="2400" b="0">
                    <a:solidFill>
                      <a:srgbClr val="111827"/>
                    </a:solidFill>
                    <a:latin typeface="Arial"/>
                  </a:rPr>
                  <a:t>   (C) </a:t>
                </a:r>
                <a:r>
                  <a:rPr lang="en-IN" sz="2400">
                    <a:solidFill>
                      <a:srgbClr val="111827"/>
                    </a:solidFill>
                    <a:latin typeface="Cambria Math" panose="02040503050406030204" pitchFamily="18" charset="0"/>
                  </a:rPr>
                  <a:t>$2\sqrt3&lt;k\le3\sqrt2$</a:t>
                </a:r>
                <a:r>
                  <a:rPr sz="2400" b="0">
                    <a:solidFill>
                      <a:srgbClr val="111827"/>
                    </a:solidFill>
                    <a:latin typeface="Arial"/>
                  </a:rPr>
                  <a:t>   (D) </a:t>
                </a:r>
                <a:r>
                  <a:rPr lang="en-IN" sz="2400">
                    <a:solidFill>
                      <a:srgbClr val="111827"/>
                    </a:solidFill>
                    <a:latin typeface="Cambria Math" panose="02040503050406030204" pitchFamily="18" charset="0"/>
                  </a:rPr>
                  <a:t>$2\sqrt2&lt;k&lt;2\sqrt3$</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coefficient identity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e>
                    </m:d>
                  </m:oMath>
                </a14:m>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coefficient identity </a:t>
                </a:r>
                <a:r>
                  <a:rPr lang="en-IN" sz="2400">
                    <a:solidFill>
                      <a:srgbClr val="111827"/>
                    </a:solidFill>
                    <a:latin typeface="Cambria Math" panose="02040503050406030204" pitchFamily="18" charset="0"/>
                  </a:rPr>
                  <a:t>$\binom{n}{r+1}=\frac{n}{r+1}\binom{n-1}{r}$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e>
                    </m:d>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𝑟</m:t>
                            </m:r>
                          </m:den>
                        </m:f>
                      </m:e>
                    </m:d>
                  </m:oMath>
                </a14:m>
                <a:r>
                  <a:rPr sz="2400" b="0">
                    <a:solidFill>
                      <a:srgbClr val="78350F"/>
                    </a:solidFill>
                    <a:latin typeface="Arial"/>
                  </a:rPr>
                  <a:t> gives </a:t>
                </a:r>
                <a14:m>
                  <m:oMath xmlns:m="http://schemas.openxmlformats.org/officeDocument/2006/math">
                    <m:sSup>
                      <m:e>
                        <m:r>
                          <a:rPr lang="en-IN" sz="2400" i="1">
                            <a:solidFill>
                              <a:srgbClr val="78350F"/>
                            </a:solidFill>
                            <a:latin typeface="Cambria Math" panose="02040503050406030204" pitchFamily="18" charset="0"/>
                          </a:rPr>
                          <m:t>𝑘</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𝑛</m:t>
                        </m:r>
                      </m:den>
                    </m:f>
                  </m:oMath>
                </a14:m>
                <a:r>
                  <a:rPr sz="2400" b="0">
                    <a:solidFill>
                      <a:srgbClr val="78350F"/>
                    </a:solidFill>
                    <a:latin typeface="Arial"/>
                  </a:rPr>
                  <a:t>, which lies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$\binom{n}{r+1}=\frac{n}{r+1}\binom{n-1}{r}$</a:t>
                </a:r>
                <a:r>
                  <a:rPr sz="2400" b="0">
                    <a:solidFill>
                      <a:srgbClr val="78350F"/>
                    </a:solidFill>
                    <a:latin typeface="Arial"/>
                  </a:rPr>
                  <a:t> gives </a:t>
                </a:r>
                <a:r>
                  <a:rPr lang="en-IN" sz="2400">
                    <a:solidFill>
                      <a:srgbClr val="78350F"/>
                    </a:solidFill>
                    <a:latin typeface="Cambria Math" panose="02040503050406030204" pitchFamily="18" charset="0"/>
                  </a:rPr>
                  <a:t>$k^2-8=\frac{r+1}{n}$</a:t>
                </a:r>
                <a:r>
                  <a:rPr sz="2400" b="0">
                    <a:solidFill>
                      <a:srgbClr val="78350F"/>
                    </a:solidFill>
                    <a:latin typeface="Arial"/>
                  </a:rPr>
                  <a:t>, which lies in </a:t>
                </a:r>
                <a:r>
                  <a:rPr lang="en-IN" sz="2400">
                    <a:solidFill>
                      <a:srgbClr val="78350F"/>
                    </a:solidFill>
                    <a:latin typeface="Cambria Math" panose="02040503050406030204" pitchFamily="18" charset="0"/>
                  </a:rPr>
                  <a:t>$(0,1]$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so the given relation reads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e>
                    </m:d>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we have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 n{r+1}=\dfrac{n}{r+1}\binom{n-1}{r}$</a:t>
                </a:r>
                <a:r>
                  <a:rPr sz="2400" b="0">
                    <a:solidFill>
                      <a:srgbClr val="111827"/>
                    </a:solidFill>
                    <a:latin typeface="Arial"/>
                  </a:rPr>
                  <a:t>, so the given relation reads </a:t>
                </a:r>
                <a:r>
                  <a:rPr lang="en-IN" sz="2400">
                    <a:solidFill>
                      <a:srgbClr val="111827"/>
                    </a:solidFill>
                    <a:latin typeface="Cambria Math" panose="02040503050406030204" pitchFamily="18" charset="0"/>
                  </a:rPr>
                  <a:t>$\binom{n-1}{r}=\left(k^2-8\right)\dfrac{n}{r+1}\binom{n-1}{r}$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$\binom{n-1}{r}\ne0$</a:t>
                </a:r>
                <a:r>
                  <a:rPr sz="2400" b="0">
                    <a:solidFill>
                      <a:srgbClr val="111827"/>
                    </a:solidFill>
                    <a:latin typeface="Arial"/>
                  </a:rPr>
                  <a:t> (here </a:t>
                </a:r>
                <a:r>
                  <a:rPr lang="en-IN" sz="2400">
                    <a:solidFill>
                      <a:srgbClr val="111827"/>
                    </a:solidFill>
                    <a:latin typeface="Cambria Math" panose="02040503050406030204" pitchFamily="18" charset="0"/>
                  </a:rPr>
                  <a:t>$0\le r\le n-1$</a:t>
                </a:r>
                <a:r>
                  <a:rPr sz="2400" b="0">
                    <a:solidFill>
                      <a:srgbClr val="111827"/>
                    </a:solidFill>
                    <a:latin typeface="Arial"/>
                  </a:rPr>
                  <a:t>), </a:t>
                </a:r>
                <a:r>
                  <a:rPr lang="en-IN" sz="2400">
                    <a:solidFill>
                      <a:srgbClr val="111827"/>
                    </a:solidFill>
                    <a:latin typeface="Cambria Math" panose="02040503050406030204" pitchFamily="18" charset="0"/>
                  </a:rPr>
                  <a:t>$k^2-8=\dfrac{r+1}{n}$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$0\le r\le n-1$</a:t>
                </a:r>
                <a:r>
                  <a:rPr sz="2400" b="0">
                    <a:solidFill>
                      <a:srgbClr val="111827"/>
                    </a:solidFill>
                    <a:latin typeface="Arial"/>
                  </a:rPr>
                  <a:t> we have </a:t>
                </a:r>
                <a:r>
                  <a:rPr lang="en-IN" sz="2400">
                    <a:solidFill>
                      <a:srgbClr val="111827"/>
                    </a:solidFill>
                    <a:latin typeface="Cambria Math" panose="02040503050406030204" pitchFamily="18" charset="0"/>
                  </a:rPr>
                  <a:t>$0&lt;\dfrac{r+1}{n}\le1$</a:t>
                </a:r>
                <a:r>
                  <a:rPr sz="2400" b="0">
                    <a:solidFill>
                      <a:srgbClr val="111827"/>
                    </a:solidFill>
                    <a:latin typeface="Arial"/>
                  </a:rPr>
                  <a:t>, so </a:t>
                </a:r>
                <a:r>
                  <a:rPr lang="en-IN" sz="2400">
                    <a:solidFill>
                      <a:srgbClr val="111827"/>
                    </a:solidFill>
                    <a:latin typeface="Cambria Math" panose="02040503050406030204" pitchFamily="18" charset="0"/>
                  </a:rPr>
                  <a:t>$0&lt;k^2-8\le1$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Among the options, only (A) matches (the negative range is not offered).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$8&lt;k^2\le9$</a:t>
                </a:r>
                <a:r>
                  <a:rPr sz="2400" b="0">
                    <a:solidFill>
                      <a:srgbClr val="111827"/>
                    </a:solidFill>
                    <a:latin typeface="Arial"/>
                  </a:rPr>
                  <a:t>, so </a:t>
                </a:r>
                <a:r>
                  <a:rPr lang="en-IN" sz="2400">
                    <a:solidFill>
                      <a:srgbClr val="111827"/>
                    </a:solidFill>
                    <a:latin typeface="Cambria Math" panose="02040503050406030204" pitchFamily="18" charset="0"/>
                  </a:rPr>
                  <a:t>$2\sqrt2&lt;|k|\le3$</a:t>
                </a:r>
                <a:r>
                  <a:rPr sz="2400" b="0">
                    <a:solidFill>
                      <a:srgbClr val="111827"/>
                    </a:solidFill>
                    <a:latin typeface="Arial"/>
                  </a:rPr>
                  <a:t>, i.e. </a:t>
                </a:r>
                <a:r>
                  <a:rPr lang="en-IN" sz="2400">
                    <a:solidFill>
                      <a:srgbClr val="111827"/>
                    </a:solidFill>
                    <a:latin typeface="Cambria Math" panose="02040503050406030204" pitchFamily="18" charset="0"/>
                  </a:rPr>
                  <a:t>$2\sqrt2&lt;k\le3$</a:t>
                </a:r>
                <a:r>
                  <a:rPr sz="2400" b="0">
                    <a:solidFill>
                      <a:srgbClr val="111827"/>
                    </a:solidFill>
                    <a:latin typeface="Arial"/>
                  </a:rPr>
                  <a:t> or </a:t>
                </a:r>
                <a:r>
                  <a:rPr lang="en-IN" sz="2400">
                    <a:solidFill>
                      <a:srgbClr val="111827"/>
                    </a:solidFill>
                    <a:latin typeface="Cambria Math" panose="02040503050406030204" pitchFamily="18" charset="0"/>
                  </a:rPr>
                  <a:t>$-3\le k&lt;-2\sqrt2$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Among the options, only (A) matches (the negative range is not offered).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r>
                      <m:rPr>
                        <m:sty m:val="p"/>
                      </m:rPr>
                      <a:rPr lang="en-IN" sz="2800">
                        <a:solidFill>
                          <a:srgbClr val="15803D"/>
                        </a:solidFill>
                        <a:latin typeface="Cambria Math" panose="02040503050406030204" pitchFamily="18" charset="0"/>
                      </a:rPr>
                      <m:t>&lt;</m:t>
                    </m:r>
                    <m:r>
                      <a:rPr lang="en-IN" sz="2800" i="1">
                        <a:solidFill>
                          <a:srgbClr val="15803D"/>
                        </a:solidFill>
                        <a:latin typeface="Cambria Math" panose="02040503050406030204" pitchFamily="18" charset="0"/>
                      </a:rPr>
                      <m:t>𝑘</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$2\sqrt2&lt;k\le3$</a:t>
                </a:r>
                <a:endParaRPr sz="2800">
                  <a:solidFill>
                    <a:srgbClr val="15803D"/>
                  </a:solidFill>
                </a:endParaRPr>
              </a:p>
            </p:txBody>
          </p:sp>
        </mc:Fallback>
      </mc:AlternateContent>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(absorption).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ratio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over valid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ranges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attaining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a:t>
                </a:r>
                <a14:m>
                  <m:oMath xmlns:m="http://schemas.openxmlformats.org/officeDocument/2006/math">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condition gives two symmetric ranges; check which appear in the options.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$\binom{n}{r+1}=\dfrac{n}{r+1}\binom{n-1}{r}$</a:t>
                </a:r>
                <a:r>
                  <a:rPr sz="2400" b="0">
                    <a:solidFill>
                      <a:srgbClr val="111827"/>
                    </a:solidFill>
                    <a:latin typeface="Arial"/>
                  </a:rPr>
                  <a:t> and </a:t>
                </a:r>
                <a:r>
                  <a:rPr lang="en-IN" sz="2400">
                    <a:solidFill>
                      <a:srgbClr val="111827"/>
                    </a:solidFill>
                    <a:latin typeface="Cambria Math" panose="02040503050406030204" pitchFamily="18" charset="0"/>
                  </a:rPr>
                  <a:t>$\binom{n}{r}=\dfrac nr\binom{n-1}{r-1}$</a:t>
                </a:r>
                <a:r>
                  <a:rPr sz="2400" b="0">
                    <a:solidFill>
                      <a:srgbClr val="111827"/>
                    </a:solidFill>
                    <a:latin typeface="Arial"/>
                  </a:rPr>
                  <a:t> (absorption).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ratio </a:t>
                </a:r>
                <a:r>
                  <a:rPr lang="en-IN" sz="2400">
                    <a:solidFill>
                      <a:srgbClr val="111827"/>
                    </a:solidFill>
                    <a:latin typeface="Cambria Math" panose="02040503050406030204" pitchFamily="18" charset="0"/>
                  </a:rPr>
                  <a:t>$\frac{r+1}{n}$</a:t>
                </a:r>
                <a:r>
                  <a:rPr sz="2400" b="0">
                    <a:solidFill>
                      <a:srgbClr val="111827"/>
                    </a:solidFill>
                    <a:latin typeface="Arial"/>
                  </a:rPr>
                  <a:t> over valid </a:t>
                </a:r>
                <a:r>
                  <a:rPr lang="en-IN" sz="2400">
                    <a:solidFill>
                      <a:srgbClr val="111827"/>
                    </a:solidFill>
                    <a:latin typeface="Cambria Math" panose="02040503050406030204" pitchFamily="18" charset="0"/>
                  </a:rPr>
                  <a:t>$r$</a:t>
                </a:r>
                <a:r>
                  <a:rPr sz="2400" b="0">
                    <a:solidFill>
                      <a:srgbClr val="111827"/>
                    </a:solidFill>
                    <a:latin typeface="Arial"/>
                  </a:rPr>
                  <a:t> ranges in </a:t>
                </a:r>
                <a:r>
                  <a:rPr lang="en-IN" sz="2400">
                    <a:solidFill>
                      <a:srgbClr val="111827"/>
                    </a:solidFill>
                    <a:latin typeface="Cambria Math" panose="02040503050406030204" pitchFamily="18" charset="0"/>
                  </a:rPr>
                  <a:t>$(0,1]$</a:t>
                </a:r>
                <a:r>
                  <a:rPr sz="2400" b="0">
                    <a:solidFill>
                      <a:srgbClr val="111827"/>
                    </a:solidFill>
                    <a:latin typeface="Arial"/>
                  </a:rPr>
                  <a:t>, attaining </a:t>
                </a:r>
                <a:r>
                  <a:rPr lang="en-IN" sz="2400">
                    <a:solidFill>
                      <a:srgbClr val="111827"/>
                    </a:solidFill>
                    <a:latin typeface="Cambria Math" panose="02040503050406030204" pitchFamily="18" charset="0"/>
                  </a:rPr>
                  <a:t>$1$</a:t>
                </a:r>
                <a:r>
                  <a:rPr sz="2400" b="0">
                    <a:solidFill>
                      <a:srgbClr val="111827"/>
                    </a:solidFill>
                    <a:latin typeface="Arial"/>
                  </a:rPr>
                  <a:t> at </a:t>
                </a:r>
                <a:r>
                  <a:rPr lang="en-IN" sz="2400">
                    <a:solidFill>
                      <a:srgbClr val="111827"/>
                    </a:solidFill>
                    <a:latin typeface="Cambria Math" panose="02040503050406030204" pitchFamily="18" charset="0"/>
                  </a:rPr>
                  <a:t>$r=n-1$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a:t>
                </a:r>
                <a:r>
                  <a:rPr lang="en-IN" sz="2400">
                    <a:solidFill>
                      <a:srgbClr val="111827"/>
                    </a:solidFill>
                    <a:latin typeface="Cambria Math" panose="02040503050406030204" pitchFamily="18" charset="0"/>
                  </a:rPr>
                  <a:t>$k^2$</a:t>
                </a:r>
                <a:r>
                  <a:rPr sz="2400" b="0">
                    <a:solidFill>
                      <a:srgbClr val="111827"/>
                    </a:solidFill>
                    <a:latin typeface="Arial"/>
                  </a:rPr>
                  <a:t> condition gives two symmetric ranges; check which appear in the options.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$r=3$</a:t>
                </a:r>
                <a:r>
                  <a:rPr sz="2400" b="0">
                    <a:solidFill>
                      <a:srgbClr val="111827"/>
                    </a:solidFill>
                    <a:latin typeface="Arial"/>
                  </a:rPr>
                  <a:t>: </a:t>
                </a:r>
                <a:r>
                  <a:rPr lang="en-IN" sz="2400">
                    <a:solidFill>
                      <a:srgbClr val="111827"/>
                    </a:solidFill>
                    <a:latin typeface="Cambria Math" panose="02040503050406030204" pitchFamily="18" charset="0"/>
                  </a:rPr>
                  <a:t>$\binom33=1=(k^2-8)\binom44\Rightarrow k^2=9$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Suppose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are the coefficients of four consecutive terms in the expansion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Then the value of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oMath>
                </a14:m>
                <a:r>
                  <a:rPr sz="2400" b="0">
                    <a:solidFill>
                      <a:srgbClr val="111827"/>
                    </a:solidFill>
                    <a:latin typeface="Arial"/>
                  </a:rPr>
                  <a:t> equals: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4</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Suppose </a:t>
                </a:r>
                <a:r>
                  <a:rPr lang="en-IN" sz="2400">
                    <a:solidFill>
                      <a:srgbClr val="111827"/>
                    </a:solidFill>
                    <a:latin typeface="Cambria Math" panose="02040503050406030204" pitchFamily="18" charset="0"/>
                  </a:rPr>
                  <a:t>$2-p$</a:t>
                </a:r>
                <a:r>
                  <a:rPr sz="2400" b="0">
                    <a:solidFill>
                      <a:srgbClr val="111827"/>
                    </a:solidFill>
                    <a:latin typeface="Arial"/>
                  </a:rPr>
                  <a:t>,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$2-\alpha$</a:t>
                </a:r>
                <a:r>
                  <a:rPr sz="2400" b="0">
                    <a:solidFill>
                      <a:srgbClr val="111827"/>
                    </a:solidFill>
                    <a:latin typeface="Arial"/>
                  </a:rPr>
                  <a:t>, </a:t>
                </a:r>
                <a:r>
                  <a:rPr lang="en-IN" sz="2400">
                    <a:solidFill>
                      <a:srgbClr val="111827"/>
                    </a:solidFill>
                    <a:latin typeface="Cambria Math" panose="02040503050406030204" pitchFamily="18" charset="0"/>
                  </a:rPr>
                  <a:t>$\alpha$</a:t>
                </a:r>
                <a:r>
                  <a:rPr sz="2400" b="0">
                    <a:solidFill>
                      <a:srgbClr val="111827"/>
                    </a:solidFill>
                    <a:latin typeface="Arial"/>
                  </a:rPr>
                  <a:t> are the coefficients of four consecutive terms in the expansion of </a:t>
                </a:r>
                <a:r>
                  <a:rPr lang="en-IN" sz="2400">
                    <a:solidFill>
                      <a:srgbClr val="111827"/>
                    </a:solidFill>
                    <a:latin typeface="Cambria Math" panose="02040503050406030204" pitchFamily="18" charset="0"/>
                  </a:rPr>
                  <a:t>$(1+x)^n$</a:t>
                </a:r>
                <a:r>
                  <a:rPr sz="2400" b="0">
                    <a:solidFill>
                      <a:srgbClr val="111827"/>
                    </a:solidFill>
                    <a:latin typeface="Arial"/>
                  </a:rPr>
                  <a:t>. Then the value of </a:t>
                </a:r>
                <a:r>
                  <a:rPr lang="en-IN" sz="2400">
                    <a:solidFill>
                      <a:srgbClr val="111827"/>
                    </a:solidFill>
                    <a:latin typeface="Cambria Math" panose="02040503050406030204" pitchFamily="18" charset="0"/>
                  </a:rPr>
                  <a:t>$p^2-\alpha^2+6\alpha+2p$</a:t>
                </a:r>
                <a:r>
                  <a:rPr sz="2400" b="0">
                    <a:solidFill>
                      <a:srgbClr val="111827"/>
                    </a:solidFill>
                    <a:latin typeface="Arial"/>
                  </a:rPr>
                  <a:t> equals: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$8$</a:t>
                </a:r>
                <a:r>
                  <a:rPr sz="2400" b="0">
                    <a:solidFill>
                      <a:srgbClr val="111827"/>
                    </a:solidFill>
                    <a:latin typeface="Arial"/>
                  </a:rPr>
                  <a:t>   (B) </a:t>
                </a:r>
                <a:r>
                  <a:rPr lang="en-IN" sz="2400">
                    <a:solidFill>
                      <a:srgbClr val="111827"/>
                    </a:solidFill>
                    <a:latin typeface="Cambria Math" panose="02040503050406030204" pitchFamily="18" charset="0"/>
                  </a:rPr>
                  <a:t>$10$</a:t>
                </a:r>
                <a:r>
                  <a:rPr sz="2400" b="0">
                    <a:solidFill>
                      <a:srgbClr val="111827"/>
                    </a:solidFill>
                    <a:latin typeface="Arial"/>
                  </a:rPr>
                  <a:t>   (C) </a:t>
                </a:r>
                <a:r>
                  <a:rPr lang="en-IN" sz="2400">
                    <a:solidFill>
                      <a:srgbClr val="111827"/>
                    </a:solidFill>
                    <a:latin typeface="Cambria Math" panose="02040503050406030204" pitchFamily="18" charset="0"/>
                  </a:rPr>
                  <a:t>$6$</a:t>
                </a:r>
                <a:r>
                  <a:rPr sz="2400" b="0">
                    <a:solidFill>
                      <a:srgbClr val="111827"/>
                    </a:solidFill>
                    <a:latin typeface="Arial"/>
                  </a:rPr>
                  <a:t>   (D) </a:t>
                </a:r>
                <a:r>
                  <a:rPr lang="en-IN" sz="2400">
                    <a:solidFill>
                      <a:srgbClr val="111827"/>
                    </a:solidFill>
                    <a:latin typeface="Cambria Math" panose="02040503050406030204" pitchFamily="18" charset="0"/>
                  </a:rPr>
                  <a:t>$4$</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coefficients of consecutive terms and Pascal's rule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Pascal's rule turns each pair of neighbours into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m:rPr>
                                <m:sty m:val="p"/>
                              </m:rPr>
                              <a:rPr lang="en-IN" sz="2400">
                                <a:solidFill>
                                  <a:srgbClr val="78350F"/>
                                </a:solidFill>
                                <a:latin typeface="Cambria Math" panose="02040503050406030204" pitchFamily="18" charset="0"/>
                              </a:rPr>
                              <m:t>⋅</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 binomial coefficient can equal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only for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1</m:t>
                            </m:r>
                          </m:den>
                        </m:f>
                      </m:e>
                    </m:d>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Pascal's rule turns each pair of neighbours into </a:t>
                </a:r>
                <a:r>
                  <a:rPr lang="en-IN" sz="2400">
                    <a:solidFill>
                      <a:srgbClr val="78350F"/>
                    </a:solidFill>
                    <a:latin typeface="Cambria Math" panose="02040503050406030204" pitchFamily="18" charset="0"/>
                  </a:rPr>
                  <a:t>$\binom{n+1}{\cdot}=2$</a:t>
                </a:r>
                <a:r>
                  <a:rPr sz="2400" b="0">
                    <a:solidFill>
                      <a:srgbClr val="78350F"/>
                    </a:solidFill>
                    <a:latin typeface="Arial"/>
                  </a:rPr>
                  <a:t>; a binomial coefficient can equal </a:t>
                </a:r>
                <a:r>
                  <a:rPr lang="en-IN" sz="2400">
                    <a:solidFill>
                      <a:srgbClr val="78350F"/>
                    </a:solidFill>
                    <a:latin typeface="Cambria Math" panose="02040503050406030204" pitchFamily="18" charset="0"/>
                  </a:rPr>
                  <a:t>$2$</a:t>
                </a:r>
                <a:r>
                  <a:rPr sz="2400" b="0">
                    <a:solidFill>
                      <a:srgbClr val="78350F"/>
                    </a:solidFill>
                    <a:latin typeface="Arial"/>
                  </a:rPr>
                  <a:t> only for </a:t>
                </a:r>
                <a:r>
                  <a:rPr lang="en-IN" sz="2400">
                    <a:solidFill>
                      <a:srgbClr val="78350F"/>
                    </a:solidFill>
                    <a:latin typeface="Cambria Math" panose="02040503050406030204" pitchFamily="18" charset="0"/>
                  </a:rPr>
                  <a:t>$\binom21$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coefficients be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e>
                    </m:d>
                  </m:oMath>
                </a14:m>
                <a:r>
                  <a:rPr sz="2400" b="0">
                    <a:solidFill>
                      <a:srgbClr val="111827"/>
                    </a:solidFill>
                    <a:latin typeface="Arial"/>
                  </a:rPr>
                  <a:t> equal to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α</m:t>
                    </m:r>
                  </m:oMath>
                </a14:m>
                <a:r>
                  <a:rPr sz="2400" b="0">
                    <a:solidFill>
                      <a:srgbClr val="111827"/>
                    </a:solidFill>
                    <a:latin typeface="Arial"/>
                  </a:rPr>
                  <a:t> respectively.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the first two: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the last two: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...(2)</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coefficients be </a:t>
                </a:r>
                <a:r>
                  <a:rPr lang="en-IN" sz="2400">
                    <a:solidFill>
                      <a:srgbClr val="111827"/>
                    </a:solidFill>
                    <a:latin typeface="Cambria Math" panose="02040503050406030204" pitchFamily="18" charset="0"/>
                  </a:rPr>
                  <a:t>$\binom nr,\binom n{r+1},\binom n{r+2},\binom n{r+3}$</a:t>
                </a:r>
                <a:r>
                  <a:rPr sz="2400" b="0">
                    <a:solidFill>
                      <a:srgbClr val="111827"/>
                    </a:solidFill>
                    <a:latin typeface="Arial"/>
                  </a:rPr>
                  <a:t> equal to </a:t>
                </a:r>
                <a:r>
                  <a:rPr lang="en-IN" sz="2400">
                    <a:solidFill>
                      <a:srgbClr val="111827"/>
                    </a:solidFill>
                    <a:latin typeface="Cambria Math" panose="02040503050406030204" pitchFamily="18" charset="0"/>
                  </a:rPr>
                  <a:t>$2-p,\,p,\,2-\alpha,\,\alpha$</a:t>
                </a:r>
                <a:r>
                  <a:rPr sz="2400" b="0">
                    <a:solidFill>
                      <a:srgbClr val="111827"/>
                    </a:solidFill>
                    <a:latin typeface="Arial"/>
                  </a:rPr>
                  <a:t> respectively.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the first two: </a:t>
                </a:r>
                <a:r>
                  <a:rPr lang="en-IN" sz="2400">
                    <a:solidFill>
                      <a:srgbClr val="111827"/>
                    </a:solidFill>
                    <a:latin typeface="Cambria Math" panose="02040503050406030204" pitchFamily="18" charset="0"/>
                  </a:rPr>
                  <a:t>$\binom nr+\binom n{r+1}=2$</a:t>
                </a:r>
                <a:r>
                  <a:rPr sz="2400" b="0">
                    <a:solidFill>
                      <a:srgbClr val="111827"/>
                    </a:solidFill>
                    <a:latin typeface="Arial"/>
                  </a:rPr>
                  <a:t>, i.e. </a:t>
                </a:r>
                <a:r>
                  <a:rPr lang="en-IN" sz="2400">
                    <a:solidFill>
                      <a:srgbClr val="111827"/>
                    </a:solidFill>
                    <a:latin typeface="Cambria Math" panose="02040503050406030204" pitchFamily="18" charset="0"/>
                  </a:rPr>
                  <a:t>$\binom{n+1}{r+1}=2$</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the last two: </a:t>
                </a:r>
                <a:r>
                  <a:rPr lang="en-IN" sz="2400">
                    <a:solidFill>
                      <a:srgbClr val="111827"/>
                    </a:solidFill>
                    <a:latin typeface="Cambria Math" panose="02040503050406030204" pitchFamily="18" charset="0"/>
                  </a:rPr>
                  <a:t>$\binom n{r+2}+\binom n{r+3}=2$</a:t>
                </a:r>
                <a:r>
                  <a:rPr sz="2400" b="0">
                    <a:solidFill>
                      <a:srgbClr val="111827"/>
                    </a:solidFill>
                    <a:latin typeface="Arial"/>
                  </a:rPr>
                  <a:t>, i.e. </a:t>
                </a:r>
                <a:r>
                  <a:rPr lang="en-IN" sz="2400">
                    <a:solidFill>
                      <a:srgbClr val="111827"/>
                    </a:solidFill>
                    <a:latin typeface="Cambria Math" panose="02040503050406030204" pitchFamily="18" charset="0"/>
                  </a:rPr>
                  <a:t>$\binom{n+1}{r+3}=2$</a:t>
                </a:r>
                <a:r>
                  <a:rPr sz="2400" b="0">
                    <a:solidFill>
                      <a:srgbClr val="111827"/>
                    </a:solidFill>
                    <a:latin typeface="Arial"/>
                  </a:rPr>
                  <a:t>. ...(2)</a:t>
                </a:r>
                <a:endParaRPr sz="2400">
                  <a:solidFill>
                    <a:srgbClr val="111827"/>
                  </a:solidFill>
                </a:endParaRPr>
              </a:p>
            </p:txBody>
          </p:sp>
        </mc:Fallback>
      </mc:AlternateContent>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(1) and (2):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e>
                    </m:d>
                  </m:oMath>
                </a14:m>
                <a:r>
                  <a:rPr sz="2400" b="0">
                    <a:solidFill>
                      <a:srgbClr val="111827"/>
                    </a:solidFill>
                    <a:latin typeface="Arial"/>
                  </a:rPr>
                  <a:t>, so (the indices cannot be equal)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(1) reads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 binomial coefficient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 equals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only for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which would need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impossible.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no such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exist: the data are inconsistent and the question is a 'Bonus'; none of the options can be justified.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(1) and (2): </a:t>
                </a:r>
                <a:r>
                  <a:rPr lang="en-IN" sz="2400">
                    <a:solidFill>
                      <a:srgbClr val="111827"/>
                    </a:solidFill>
                    <a:latin typeface="Cambria Math" panose="02040503050406030204" pitchFamily="18" charset="0"/>
                  </a:rPr>
                  <a:t>$\binom{n+1}{r+1}=\binom{n+1}{r+3}$</a:t>
                </a:r>
                <a:r>
                  <a:rPr sz="2400" b="0">
                    <a:solidFill>
                      <a:srgbClr val="111827"/>
                    </a:solidFill>
                    <a:latin typeface="Arial"/>
                  </a:rPr>
                  <a:t>, so (the indices cannot be equal) </a:t>
                </a:r>
                <a:r>
                  <a:rPr lang="en-IN" sz="2400">
                    <a:solidFill>
                      <a:srgbClr val="111827"/>
                    </a:solidFill>
                    <a:latin typeface="Cambria Math" panose="02040503050406030204" pitchFamily="18" charset="0"/>
                  </a:rPr>
                  <a:t>$(r+1)+(r+3)=n+1$</a:t>
                </a:r>
                <a:r>
                  <a:rPr sz="2400" b="0">
                    <a:solidFill>
                      <a:srgbClr val="111827"/>
                    </a:solidFill>
                    <a:latin typeface="Arial"/>
                  </a:rPr>
                  <a:t>, i.e. </a:t>
                </a:r>
                <a:r>
                  <a:rPr lang="en-IN" sz="2400">
                    <a:solidFill>
                      <a:srgbClr val="111827"/>
                    </a:solidFill>
                    <a:latin typeface="Cambria Math" panose="02040503050406030204" pitchFamily="18" charset="0"/>
                  </a:rPr>
                  <a:t>$n=2r+3$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(1) reads </a:t>
                </a:r>
                <a:r>
                  <a:rPr lang="en-IN" sz="2400">
                    <a:solidFill>
                      <a:srgbClr val="111827"/>
                    </a:solidFill>
                    <a:latin typeface="Cambria Math" panose="02040503050406030204" pitchFamily="18" charset="0"/>
                  </a:rPr>
                  <a:t>$\binom{2r+4}{r+1}=2$</a:t>
                </a:r>
                <a:r>
                  <a:rPr sz="2400" b="0">
                    <a:solidFill>
                      <a:srgbClr val="111827"/>
                    </a:solidFill>
                    <a:latin typeface="Arial"/>
                  </a:rPr>
                  <a:t>. A binomial coefficient </a:t>
                </a:r>
                <a:r>
                  <a:rPr lang="en-IN" sz="2400">
                    <a:solidFill>
                      <a:srgbClr val="111827"/>
                    </a:solidFill>
                    <a:latin typeface="Cambria Math" panose="02040503050406030204" pitchFamily="18" charset="0"/>
                  </a:rPr>
                  <a:t>$\binom mk$</a:t>
                </a:r>
                <a:r>
                  <a:rPr sz="2400" b="0">
                    <a:solidFill>
                      <a:srgbClr val="111827"/>
                    </a:solidFill>
                    <a:latin typeface="Arial"/>
                  </a:rPr>
                  <a:t> equals </a:t>
                </a:r>
                <a:r>
                  <a:rPr lang="en-IN" sz="2400">
                    <a:solidFill>
                      <a:srgbClr val="111827"/>
                    </a:solidFill>
                    <a:latin typeface="Cambria Math" panose="02040503050406030204" pitchFamily="18" charset="0"/>
                  </a:rPr>
                  <a:t>$2$</a:t>
                </a:r>
                <a:r>
                  <a:rPr sz="2400" b="0">
                    <a:solidFill>
                      <a:srgbClr val="111827"/>
                    </a:solidFill>
                    <a:latin typeface="Arial"/>
                  </a:rPr>
                  <a:t> only for </a:t>
                </a:r>
                <a:r>
                  <a:rPr lang="en-IN" sz="2400">
                    <a:solidFill>
                      <a:srgbClr val="111827"/>
                    </a:solidFill>
                    <a:latin typeface="Cambria Math" panose="02040503050406030204" pitchFamily="18" charset="0"/>
                  </a:rPr>
                  <a:t>$m=2$</a:t>
                </a:r>
                <a:r>
                  <a:rPr sz="2400" b="0">
                    <a:solidFill>
                      <a:srgbClr val="111827"/>
                    </a:solidFill>
                    <a:latin typeface="Arial"/>
                  </a:rPr>
                  <a:t>, </a:t>
                </a:r>
                <a:r>
                  <a:rPr lang="en-IN" sz="2400">
                    <a:solidFill>
                      <a:srgbClr val="111827"/>
                    </a:solidFill>
                    <a:latin typeface="Cambria Math" panose="02040503050406030204" pitchFamily="18" charset="0"/>
                  </a:rPr>
                  <a:t>$k=1$</a:t>
                </a:r>
                <a:r>
                  <a:rPr sz="2400" b="0">
                    <a:solidFill>
                      <a:srgbClr val="111827"/>
                    </a:solidFill>
                    <a:latin typeface="Arial"/>
                  </a:rPr>
                  <a:t>, which would need </a:t>
                </a:r>
                <a:r>
                  <a:rPr lang="en-IN" sz="2400">
                    <a:solidFill>
                      <a:srgbClr val="111827"/>
                    </a:solidFill>
                    <a:latin typeface="Cambria Math" panose="02040503050406030204" pitchFamily="18" charset="0"/>
                  </a:rPr>
                  <a:t>$2r+4=2$</a:t>
                </a:r>
                <a:r>
                  <a:rPr sz="2400" b="0">
                    <a:solidFill>
                      <a:srgbClr val="111827"/>
                    </a:solidFill>
                    <a:latin typeface="Arial"/>
                  </a:rPr>
                  <a:t>, i.e. </a:t>
                </a:r>
                <a:r>
                  <a:rPr lang="en-IN" sz="2400">
                    <a:solidFill>
                      <a:srgbClr val="111827"/>
                    </a:solidFill>
                    <a:latin typeface="Cambria Math" panose="02040503050406030204" pitchFamily="18" charset="0"/>
                  </a:rPr>
                  <a:t>$r=-1$</a:t>
                </a:r>
                <a:r>
                  <a:rPr sz="2400" b="0">
                    <a:solidFill>
                      <a:srgbClr val="111827"/>
                    </a:solidFill>
                    <a:latin typeface="Arial"/>
                  </a:rPr>
                  <a:t>: impossible.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no such </a:t>
                </a:r>
                <a:r>
                  <a:rPr lang="en-IN" sz="2400">
                    <a:solidFill>
                      <a:srgbClr val="111827"/>
                    </a:solidFill>
                    <a:latin typeface="Cambria Math" panose="02040503050406030204" pitchFamily="18" charset="0"/>
                  </a:rPr>
                  <a:t>$n$</a:t>
                </a:r>
                <a:r>
                  <a:rPr sz="2400" b="0">
                    <a:solidFill>
                      <a:srgbClr val="111827"/>
                    </a:solidFill>
                    <a:latin typeface="Arial"/>
                  </a:rPr>
                  <a:t>, </a:t>
                </a:r>
                <a:r>
                  <a:rPr lang="en-IN" sz="2400">
                    <a:solidFill>
                      <a:srgbClr val="111827"/>
                    </a:solidFill>
                    <a:latin typeface="Cambria Math" panose="02040503050406030204" pitchFamily="18" charset="0"/>
                  </a:rPr>
                  <a:t>$r$</a:t>
                </a:r>
                <a:r>
                  <a:rPr sz="2400" b="0">
                    <a:solidFill>
                      <a:srgbClr val="111827"/>
                    </a:solidFill>
                    <a:latin typeface="Arial"/>
                  </a:rPr>
                  <a:t> exist: the data are inconsistent and the question is a 'Bonus'; none of the options can be justified.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None of the options: the data are inconsistent (the question was marked 'Bonus')</a:t>
            </a:r>
            <a:endParaRPr sz="2800">
              <a:solidFill>
                <a:srgbClr val="15803D"/>
              </a:solidFill>
            </a:endParaRP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Pascal's rule: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sums of adjacent coefficients are again binomial coefficients.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only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only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that data given in a problem can occur; inconsistent data are the typical reason for 'Bonus' questions.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𝑐</m:t>
                            </m:r>
                          </m:den>
                        </m:f>
                      </m:e>
                    </m:d>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forces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Pascal's rule: </a:t>
                </a:r>
                <a:r>
                  <a:rPr lang="en-IN" sz="2400">
                    <a:solidFill>
                      <a:srgbClr val="111827"/>
                    </a:solidFill>
                    <a:latin typeface="Cambria Math" panose="02040503050406030204" pitchFamily="18" charset="0"/>
                  </a:rPr>
                  <a:t>$\binom nr+\binom n{r+1}=\binom{n+1}{r+1}$</a:t>
                </a:r>
                <a:r>
                  <a:rPr sz="2400" b="0">
                    <a:solidFill>
                      <a:srgbClr val="111827"/>
                    </a:solidFill>
                    <a:latin typeface="Arial"/>
                  </a:rPr>
                  <a:t>; sums of adjacent coefficients are again binomial coefficients.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 mk=2$</a:t>
                </a:r>
                <a:r>
                  <a:rPr sz="2400" b="0">
                    <a:solidFill>
                      <a:srgbClr val="111827"/>
                    </a:solidFill>
                    <a:latin typeface="Arial"/>
                  </a:rPr>
                  <a:t> only for </a:t>
                </a:r>
                <a:r>
                  <a:rPr lang="en-IN" sz="2400">
                    <a:solidFill>
                      <a:srgbClr val="111827"/>
                    </a:solidFill>
                    <a:latin typeface="Cambria Math" panose="02040503050406030204" pitchFamily="18" charset="0"/>
                  </a:rPr>
                  <a:t>$(m,k)=(2,1)$</a:t>
                </a:r>
                <a:r>
                  <a:rPr sz="2400" b="0">
                    <a:solidFill>
                      <a:srgbClr val="111827"/>
                    </a:solidFill>
                    <a:latin typeface="Arial"/>
                  </a:rPr>
                  <a:t> (</a:t>
                </a:r>
                <a:r>
                  <a:rPr lang="en-IN" sz="2400">
                    <a:solidFill>
                      <a:srgbClr val="111827"/>
                    </a:solidFill>
                    <a:latin typeface="Cambria Math" panose="02040503050406030204" pitchFamily="18" charset="0"/>
                  </a:rPr>
                  <a:t>$\binom mk=1$</a:t>
                </a:r>
                <a:r>
                  <a:rPr sz="2400" b="0">
                    <a:solidFill>
                      <a:srgbClr val="111827"/>
                    </a:solidFill>
                    <a:latin typeface="Arial"/>
                  </a:rPr>
                  <a:t> only for </a:t>
                </a:r>
                <a:r>
                  <a:rPr lang="en-IN" sz="2400">
                    <a:solidFill>
                      <a:srgbClr val="111827"/>
                    </a:solidFill>
                    <a:latin typeface="Cambria Math" panose="02040503050406030204" pitchFamily="18" charset="0"/>
                  </a:rPr>
                  <a:t>$k=0$</a:t>
                </a:r>
                <a:r>
                  <a:rPr sz="2400" b="0">
                    <a:solidFill>
                      <a:srgbClr val="111827"/>
                    </a:solidFill>
                    <a:latin typeface="Arial"/>
                  </a:rPr>
                  <a:t> or </a:t>
                </a:r>
                <a:r>
                  <a:rPr lang="en-IN" sz="2400">
                    <a:solidFill>
                      <a:srgbClr val="111827"/>
                    </a:solidFill>
                    <a:latin typeface="Cambria Math" panose="02040503050406030204" pitchFamily="18" charset="0"/>
                  </a:rPr>
                  <a:t>$k=m$</a:t>
                </a:r>
                <a:r>
                  <a:rPr sz="2400" b="0">
                    <a:solidFill>
                      <a:srgbClr val="111827"/>
                    </a:solidFill>
                    <a:latin typeface="Arial"/>
                  </a:rPr>
                  <a:t>; </a:t>
                </a:r>
                <a:r>
                  <a:rPr lang="en-IN" sz="2400">
                    <a:solidFill>
                      <a:srgbClr val="111827"/>
                    </a:solidFill>
                    <a:latin typeface="Cambria Math" panose="02040503050406030204" pitchFamily="18" charset="0"/>
                  </a:rPr>
                  <a:t>$\binom m1=m$</a:t>
                </a:r>
                <a:r>
                  <a:rPr sz="2400" b="0">
                    <a:solidFill>
                      <a:srgbClr val="111827"/>
                    </a:solidFill>
                    <a:latin typeface="Arial"/>
                  </a:rPr>
                  <a:t>; and </a:t>
                </a:r>
                <a:r>
                  <a:rPr lang="en-IN" sz="2400">
                    <a:solidFill>
                      <a:srgbClr val="111827"/>
                    </a:solidFill>
                    <a:latin typeface="Cambria Math" panose="02040503050406030204" pitchFamily="18" charset="0"/>
                  </a:rPr>
                  <a:t>$\binom mk\ge6$</a:t>
                </a:r>
                <a:r>
                  <a:rPr sz="2400" b="0">
                    <a:solidFill>
                      <a:srgbClr val="111827"/>
                    </a:solidFill>
                    <a:latin typeface="Arial"/>
                  </a:rPr>
                  <a:t> for </a:t>
                </a:r>
                <a:r>
                  <a:rPr lang="en-IN" sz="2400">
                    <a:solidFill>
                      <a:srgbClr val="111827"/>
                    </a:solidFill>
                    <a:latin typeface="Cambria Math" panose="02040503050406030204" pitchFamily="18" charset="0"/>
                  </a:rPr>
                  <a:t>$2\le k\le m-2$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that data given in a problem can occur; inconsistent data are the typical reason for 'Bonus' questions.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Symmetry: </a:t>
                </a:r>
                <a:r>
                  <a:rPr lang="en-IN" sz="2400">
                    <a:solidFill>
                      <a:srgbClr val="111827"/>
                    </a:solidFill>
                    <a:latin typeface="Cambria Math" panose="02040503050406030204" pitchFamily="18" charset="0"/>
                  </a:rPr>
                  <a:t>$\binom ab=\binom ac$</a:t>
                </a:r>
                <a:r>
                  <a:rPr sz="2400" b="0">
                    <a:solidFill>
                      <a:srgbClr val="111827"/>
                    </a:solidFill>
                    <a:latin typeface="Arial"/>
                  </a:rPr>
                  <a:t> with </a:t>
                </a:r>
                <a:r>
                  <a:rPr lang="en-IN" sz="2400">
                    <a:solidFill>
                      <a:srgbClr val="111827"/>
                    </a:solidFill>
                    <a:latin typeface="Cambria Math" panose="02040503050406030204" pitchFamily="18" charset="0"/>
                  </a:rPr>
                  <a:t>$b\ne c$</a:t>
                </a:r>
                <a:r>
                  <a:rPr sz="2400" b="0">
                    <a:solidFill>
                      <a:srgbClr val="111827"/>
                    </a:solidFill>
                    <a:latin typeface="Arial"/>
                  </a:rPr>
                  <a:t> forces </a:t>
                </a:r>
                <a:r>
                  <a:rPr lang="en-IN" sz="2400">
                    <a:solidFill>
                      <a:srgbClr val="111827"/>
                    </a:solidFill>
                    <a:latin typeface="Cambria Math" panose="02040503050406030204" pitchFamily="18" charset="0"/>
                  </a:rPr>
                  <a:t>$b+c=a$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6397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be the coefficients of the seventh and thirteenth terms respectively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18</m:t>
                        </m:r>
                      </m:sup>
                    </m:sSup>
                  </m:oMath>
                </a14:m>
                <a:r>
                  <a:rPr sz="2400" b="0">
                    <a:solidFill>
                      <a:srgbClr val="111827"/>
                    </a:solidFill>
                    <a:latin typeface="Arial"/>
                  </a:rPr>
                  <a:t>. Then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𝑚</m:t>
                                </m:r>
                              </m:den>
                            </m:f>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oMath>
                </a14:m>
                <a:endParaRPr sz="2400">
                  <a:solidFill>
                    <a:srgbClr val="111827"/>
                  </a:solidFill>
                </a:endParaRPr>
              </a:p>
            </p:txBody>
          </p:sp>
        </mc:Choice>
        <mc:Fallback>
          <p:sp>
            <p:nvSpPr>
              <p:cNvPr id="4" name="Rounded Rectangle 3"/>
              <p:cNvSpPr/>
              <p:nvPr/>
            </p:nvSpPr>
            <p:spPr>
              <a:xfrm>
                <a:off x="731520" y="1280160"/>
                <a:ext cx="10725912" cy="336397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$m$</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be the coefficients of the seventh and thirteenth terms respectively in the expansion of </a:t>
                </a:r>
                <a:r>
                  <a:rPr lang="en-IN" sz="2400">
                    <a:solidFill>
                      <a:srgbClr val="111827"/>
                    </a:solidFill>
                    <a:latin typeface="Cambria Math" panose="02040503050406030204" pitchFamily="18" charset="0"/>
                  </a:rPr>
                  <a:t>$\left(\dfrac13x^{1/3}+\dfrac{1}{2x^{2/3}}\right)^{18}$</a:t>
                </a:r>
                <a:r>
                  <a:rPr sz="2400" b="0">
                    <a:solidFill>
                      <a:srgbClr val="111827"/>
                    </a:solidFill>
                    <a:latin typeface="Arial"/>
                  </a:rPr>
                  <a:t>. Then </a:t>
                </a:r>
                <a:r>
                  <a:rPr lang="en-IN" sz="2400">
                    <a:solidFill>
                      <a:srgbClr val="111827"/>
                    </a:solidFill>
                    <a:latin typeface="Cambria Math" panose="02040503050406030204" pitchFamily="18" charset="0"/>
                  </a:rPr>
                  <a:t>$\left(\dfrac nm\right)^{1/3}$</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$\dfrac49$</a:t>
                </a:r>
                <a:r>
                  <a:rPr sz="2400" b="0">
                    <a:solidFill>
                      <a:srgbClr val="111827"/>
                    </a:solidFill>
                    <a:latin typeface="Arial"/>
                  </a:rPr>
                  <a:t>   (B) </a:t>
                </a:r>
                <a:r>
                  <a:rPr lang="en-IN" sz="2400">
                    <a:solidFill>
                      <a:srgbClr val="111827"/>
                    </a:solidFill>
                    <a:latin typeface="Cambria Math" panose="02040503050406030204" pitchFamily="18" charset="0"/>
                  </a:rPr>
                  <a:t>$\dfrac19$</a:t>
                </a:r>
                <a:r>
                  <a:rPr sz="2400" b="0">
                    <a:solidFill>
                      <a:srgbClr val="111827"/>
                    </a:solidFill>
                    <a:latin typeface="Arial"/>
                  </a:rPr>
                  <a:t>   (C) </a:t>
                </a:r>
                <a:r>
                  <a:rPr lang="en-IN" sz="2400">
                    <a:solidFill>
                      <a:srgbClr val="111827"/>
                    </a:solidFill>
                    <a:latin typeface="Cambria Math" panose="02040503050406030204" pitchFamily="18" charset="0"/>
                  </a:rPr>
                  <a:t>$\dfrac14$</a:t>
                </a:r>
                <a:r>
                  <a:rPr sz="2400" b="0">
                    <a:solidFill>
                      <a:srgbClr val="111827"/>
                    </a:solidFill>
                    <a:latin typeface="Arial"/>
                  </a:rPr>
                  <a:t>   (D) </a:t>
                </a:r>
                <a:r>
                  <a:rPr lang="en-IN" sz="2400">
                    <a:solidFill>
                      <a:srgbClr val="111827"/>
                    </a:solidFill>
                    <a:latin typeface="Cambria Math" panose="02040503050406030204" pitchFamily="18" charset="0"/>
                  </a:rPr>
                  <a:t>$\dfrac94$</a:t>
                </a:r>
                <a:endParaRPr sz="2400">
                  <a:solidFill>
                    <a:srgbClr val="111827"/>
                  </a:solidFill>
                </a:endParaRPr>
              </a:p>
            </p:txBody>
          </p:sp>
        </mc:Fallback>
      </mc:AlternateContent>
      <p:sp>
        <p:nvSpPr>
          <p:cNvPr id="5" name="Rectangle 4"/>
          <p:cNvSpPr/>
          <p:nvPr/>
        </p:nvSpPr>
        <p:spPr>
          <a:xfrm>
            <a:off x="731520" y="4872736"/>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seventh and thirteenth terms have the same binomial coefficient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18</m:t>
                            </m:r>
                          </m:num>
                          <m:den>
                            <m:r>
                              <a:rPr lang="en-IN" sz="2400" i="1">
                                <a:solidFill>
                                  <a:srgbClr val="78350F"/>
                                </a:solidFill>
                                <a:latin typeface="Cambria Math" panose="02040503050406030204" pitchFamily="18" charset="0"/>
                              </a:rPr>
                              <m:t>6</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18</m:t>
                            </m:r>
                          </m:num>
                          <m:den>
                            <m:r>
                              <a:rPr lang="en-IN" sz="2400" i="1">
                                <a:solidFill>
                                  <a:srgbClr val="78350F"/>
                                </a:solidFill>
                                <a:latin typeface="Cambria Math" panose="02040503050406030204" pitchFamily="18" charset="0"/>
                              </a:rPr>
                              <m:t>12</m:t>
                            </m:r>
                          </m:den>
                        </m:f>
                      </m:e>
                    </m:d>
                  </m:oMath>
                </a14:m>
                <a:r>
                  <a:rPr sz="2400" b="0">
                    <a:solidFill>
                      <a:srgbClr val="78350F"/>
                    </a:solidFill>
                    <a:latin typeface="Arial"/>
                  </a:rPr>
                  <a:t>, so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𝑚</m:t>
                        </m:r>
                      </m:den>
                    </m:f>
                  </m:oMath>
                </a14:m>
                <a:r>
                  <a:rPr sz="2400" b="0">
                    <a:solidFill>
                      <a:srgbClr val="78350F"/>
                    </a:solidFill>
                    <a:latin typeface="Arial"/>
                  </a:rPr>
                  <a:t> is a ratio of powers.</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seventh and thirteenth terms have the same binomial coefficient </a:t>
                </a:r>
                <a:r>
                  <a:rPr lang="en-IN" sz="2400">
                    <a:solidFill>
                      <a:srgbClr val="78350F"/>
                    </a:solidFill>
                    <a:latin typeface="Cambria Math" panose="02040503050406030204" pitchFamily="18" charset="0"/>
                  </a:rPr>
                  <a:t>$\binom{18}{6}=\binom{18}{12}$</a:t>
                </a:r>
                <a:r>
                  <a:rPr sz="2400" b="0">
                    <a:solidFill>
                      <a:srgbClr val="78350F"/>
                    </a:solidFill>
                    <a:latin typeface="Arial"/>
                  </a:rPr>
                  <a:t>, so </a:t>
                </a:r>
                <a:r>
                  <a:rPr lang="en-IN" sz="2400">
                    <a:solidFill>
                      <a:srgbClr val="78350F"/>
                    </a:solidFill>
                    <a:latin typeface="Cambria Math" panose="02040503050406030204" pitchFamily="18" charset="0"/>
                  </a:rPr>
                  <a:t>$\frac nm$</a:t>
                </a:r>
                <a:r>
                  <a:rPr sz="2400" b="0">
                    <a:solidFill>
                      <a:srgbClr val="78350F"/>
                    </a:solidFill>
                    <a:latin typeface="Arial"/>
                  </a:rPr>
                  <a:t> is a ratio of powers.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Seventh term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6</m:t>
                            </m:r>
                          </m:den>
                        </m:f>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12</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6</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Thirteenth term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12</m:t>
                            </m:r>
                          </m:den>
                        </m:f>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6</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12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12</m:t>
                            </m:r>
                          </m:den>
                        </m:f>
                      </m:e>
                    </m:d>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𝑚</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12</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6</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𝑚</m:t>
                                </m:r>
                              </m:den>
                            </m:f>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6</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den>
                            </m:f>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option (D).</a:t>
                </a:r>
                <a:endParaRPr sz="2400">
                  <a:solidFill>
                    <a:srgbClr val="111827"/>
                  </a:solidFill>
                </a:endParaRPr>
              </a:p>
            </p:txBody>
          </p:sp>
        </mc:Choice>
        <mc:Fallback>
          <p:sp>
            <p:nvSpPr>
              <p:cNvPr id="5" name="Rectangle 4"/>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Seventh term (</a:t>
                </a:r>
                <a:r>
                  <a:rPr lang="en-IN" sz="2400">
                    <a:solidFill>
                      <a:srgbClr val="111827"/>
                    </a:solidFill>
                    <a:latin typeface="Cambria Math" panose="02040503050406030204" pitchFamily="18" charset="0"/>
                  </a:rPr>
                  <a:t>$r=6$</a:t>
                </a:r>
                <a:r>
                  <a:rPr sz="2400" b="0">
                    <a:solidFill>
                      <a:srgbClr val="111827"/>
                    </a:solidFill>
                    <a:latin typeface="Arial"/>
                  </a:rPr>
                  <a:t>): </a:t>
                </a:r>
                <a:r>
                  <a:rPr lang="en-IN" sz="2400">
                    <a:solidFill>
                      <a:srgbClr val="111827"/>
                    </a:solidFill>
                    <a:latin typeface="Cambria Math" panose="02040503050406030204" pitchFamily="18" charset="0"/>
                  </a:rPr>
                  <a:t>$m=\binom{18}{6}\left(\dfrac13\right)^{12}\left(\dfrac12\right)^{6}$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Thirteenth term (</a:t>
                </a:r>
                <a:r>
                  <a:rPr lang="en-IN" sz="2400">
                    <a:solidFill>
                      <a:srgbClr val="111827"/>
                    </a:solidFill>
                    <a:latin typeface="Cambria Math" panose="02040503050406030204" pitchFamily="18" charset="0"/>
                  </a:rPr>
                  <a:t>$r=12$</a:t>
                </a:r>
                <a:r>
                  <a:rPr sz="2400" b="0">
                    <a:solidFill>
                      <a:srgbClr val="111827"/>
                    </a:solidFill>
                    <a:latin typeface="Arial"/>
                  </a:rPr>
                  <a:t>): </a:t>
                </a:r>
                <a:r>
                  <a:rPr lang="en-IN" sz="2400">
                    <a:solidFill>
                      <a:srgbClr val="111827"/>
                    </a:solidFill>
                    <a:latin typeface="Cambria Math" panose="02040503050406030204" pitchFamily="18" charset="0"/>
                  </a:rPr>
                  <a:t>$n=\binom{18}{12}\left(\dfrac13\right)^{6}\left(\dfrac12\right)^{12}$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$\binom{18}{6}=\binom{18}{12}$</a:t>
                </a:r>
                <a:r>
                  <a:rPr sz="2400" b="0">
                    <a:solidFill>
                      <a:srgbClr val="111827"/>
                    </a:solidFill>
                    <a:latin typeface="Arial"/>
                  </a:rPr>
                  <a:t>, </a:t>
                </a:r>
                <a:r>
                  <a:rPr lang="en-IN" sz="2400">
                    <a:solidFill>
                      <a:srgbClr val="111827"/>
                    </a:solidFill>
                    <a:latin typeface="Cambria Math" panose="02040503050406030204" pitchFamily="18" charset="0"/>
                  </a:rPr>
                  <a:t>$\dfrac nm=\dfrac{(1/3)^6(1/2)^{12}}{(1/3)^{12}(1/2)^6}=\dfrac{3^{6}}{2^{6}}$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$\left(\dfrac nm\right)^{1/3}=\left(\dfrac{3^6}{2^6}\right)^{1/3}=\left(\dfrac32\right)^2=\dfrac94$</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9</m:t>
                        </m:r>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$\dfrac94$</a:t>
                </a:r>
                <a:endParaRPr sz="2800">
                  <a:solidFill>
                    <a:srgbClr val="15803D"/>
                  </a:solidFill>
                </a:endParaRPr>
              </a:p>
            </p:txBody>
          </p:sp>
        </mc:Fallback>
      </mc:AlternateContent>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Coefficients of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share the binomial coefficient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e>
                    </m:d>
                  </m:oMath>
                </a14:m>
                <a:r>
                  <a:rPr sz="2400" b="0">
                    <a:solidFill>
                      <a:srgbClr val="111827"/>
                    </a:solidFill>
                    <a:latin typeface="Arial"/>
                  </a:rPr>
                  <a:t>; only the scalar factors differ.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𝑝</m:t>
                                    </m:r>
                                  </m:sup>
                                </m:sSup>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𝑞</m:t>
                                    </m:r>
                                  </m:sup>
                                </m:sSup>
                              </m:den>
                            </m:f>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the scalar factor of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𝑏</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cube roots only after simplifying to a perfect power.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𝑚</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6</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729</m:t>
                        </m:r>
                      </m:num>
                      <m:den>
                        <m:r>
                          <a:rPr lang="en-IN" sz="2400" i="1">
                            <a:solidFill>
                              <a:srgbClr val="111827"/>
                            </a:solidFill>
                            <a:latin typeface="Cambria Math" panose="02040503050406030204" pitchFamily="18" charset="0"/>
                          </a:rPr>
                          <m:t>64</m:t>
                        </m:r>
                      </m:den>
                    </m:f>
                  </m:oMath>
                </a14:m>
                <a:r>
                  <a:rPr sz="2400" b="0">
                    <a:solidFill>
                      <a:srgbClr val="111827"/>
                    </a:solidFill>
                    <a:latin typeface="Arial"/>
                  </a:rPr>
                  <a:t> and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729</m:t>
                                </m:r>
                              </m:num>
                              <m:den>
                                <m:r>
                                  <a:rPr lang="en-IN" sz="2400" i="1">
                                    <a:solidFill>
                                      <a:srgbClr val="111827"/>
                                    </a:solidFill>
                                    <a:latin typeface="Cambria Math" panose="02040503050406030204" pitchFamily="18" charset="0"/>
                                  </a:rPr>
                                  <m:t>64</m:t>
                                </m:r>
                              </m:den>
                            </m:f>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Coefficients of </a:t>
                </a:r>
                <a:r>
                  <a:rPr lang="en-IN" sz="2400">
                    <a:solidFill>
                      <a:srgbClr val="111827"/>
                    </a:solidFill>
                    <a:latin typeface="Cambria Math" panose="02040503050406030204" pitchFamily="18" charset="0"/>
                  </a:rPr>
                  <a:t>$T_{r+1}$</a:t>
                </a:r>
                <a:r>
                  <a:rPr sz="2400" b="0">
                    <a:solidFill>
                      <a:srgbClr val="111827"/>
                    </a:solidFill>
                    <a:latin typeface="Arial"/>
                  </a:rPr>
                  <a:t> and </a:t>
                </a:r>
                <a:r>
                  <a:rPr lang="en-IN" sz="2400">
                    <a:solidFill>
                      <a:srgbClr val="111827"/>
                    </a:solidFill>
                    <a:latin typeface="Cambria Math" panose="02040503050406030204" pitchFamily="18" charset="0"/>
                  </a:rPr>
                  <a:t>$T_{n-r+1}$</a:t>
                </a:r>
                <a:r>
                  <a:rPr sz="2400" b="0">
                    <a:solidFill>
                      <a:srgbClr val="111827"/>
                    </a:solidFill>
                    <a:latin typeface="Arial"/>
                  </a:rPr>
                  <a:t> share the binomial coefficient </a:t>
                </a:r>
                <a:r>
                  <a:rPr lang="en-IN" sz="2400">
                    <a:solidFill>
                      <a:srgbClr val="111827"/>
                    </a:solidFill>
                    <a:latin typeface="Cambria Math" panose="02040503050406030204" pitchFamily="18" charset="0"/>
                  </a:rPr>
                  <a:t>$\binom nr=\binom n{n-r}$</a:t>
                </a:r>
                <a:r>
                  <a:rPr sz="2400" b="0">
                    <a:solidFill>
                      <a:srgbClr val="111827"/>
                    </a:solidFill>
                    <a:latin typeface="Arial"/>
                  </a:rPr>
                  <a:t>; only the scalar factors differ.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$\left(\frac{x^p}{a}+\frac{1}{bx^q}\right)^{n}$</a:t>
                </a:r>
                <a:r>
                  <a:rPr sz="2400" b="0">
                    <a:solidFill>
                      <a:srgbClr val="111827"/>
                    </a:solidFill>
                    <a:latin typeface="Arial"/>
                  </a:rPr>
                  <a:t> the scalar factor of </a:t>
                </a:r>
                <a:r>
                  <a:rPr lang="en-IN" sz="2400">
                    <a:solidFill>
                      <a:srgbClr val="111827"/>
                    </a:solidFill>
                    <a:latin typeface="Cambria Math" panose="02040503050406030204" pitchFamily="18" charset="0"/>
                  </a:rPr>
                  <a:t>$T_{r+1}$</a:t>
                </a:r>
                <a:r>
                  <a:rPr sz="2400" b="0">
                    <a:solidFill>
                      <a:srgbClr val="111827"/>
                    </a:solidFill>
                    <a:latin typeface="Arial"/>
                  </a:rPr>
                  <a:t> is </a:t>
                </a:r>
                <a:r>
                  <a:rPr lang="en-IN" sz="2400">
                    <a:solidFill>
                      <a:srgbClr val="111827"/>
                    </a:solidFill>
                    <a:latin typeface="Cambria Math" panose="02040503050406030204" pitchFamily="18" charset="0"/>
                  </a:rPr>
                  <a:t>$a^{-(n-r)}b^{-r}$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cube roots only after simplifying to a perfect power.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$\frac{n}{m}=\frac{3^6}{2^6}=\frac{729}{64}$</a:t>
                </a:r>
                <a:r>
                  <a:rPr sz="2400" b="0">
                    <a:solidFill>
                      <a:srgbClr val="111827"/>
                    </a:solidFill>
                    <a:latin typeface="Arial"/>
                  </a:rPr>
                  <a:t> and </a:t>
                </a:r>
                <a:r>
                  <a:rPr lang="en-IN" sz="2400">
                    <a:solidFill>
                      <a:srgbClr val="111827"/>
                    </a:solidFill>
                    <a:latin typeface="Cambria Math" panose="02040503050406030204" pitchFamily="18" charset="0"/>
                  </a:rPr>
                  <a:t>$\left(\frac{729}{64}\right)^{1/3}=\frac94$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6</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Q53 – Q60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Assumed +4 each (JEE Advanced default)</a:t>
            </a:r>
            <a:endParaRPr sz="2800">
              <a:solidFill>
                <a:srgbClr val="FFFFFF"/>
              </a:solidFill>
            </a:endParaRP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2012</m:t>
                        </m:r>
                      </m:sup>
                    </m:sSup>
                  </m:oMath>
                </a14:m>
                <a:r>
                  <a:rPr sz="2400" b="0">
                    <a:solidFill>
                      <a:srgbClr val="111827"/>
                    </a:solidFill>
                    <a:latin typeface="Arial"/>
                  </a:rPr>
                  <a:t> in the expansion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2008</m:t>
                        </m:r>
                      </m:sup>
                    </m:sSup>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2007</m:t>
                        </m:r>
                      </m:sup>
                    </m:sSup>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$x^{2012}$</a:t>
                </a:r>
                <a:r>
                  <a:rPr sz="2400" b="0">
                    <a:solidFill>
                      <a:srgbClr val="111827"/>
                    </a:solidFill>
                    <a:latin typeface="Arial"/>
                  </a:rPr>
                  <a:t> in the expansion of </a:t>
                </a:r>
                <a:r>
                  <a:rPr lang="en-IN" sz="2400">
                    <a:solidFill>
                      <a:srgbClr val="111827"/>
                    </a:solidFill>
                    <a:latin typeface="Cambria Math" panose="02040503050406030204" pitchFamily="18" charset="0"/>
                  </a:rPr>
                  <a:t>$(1-x)^{2008}\left(1+x+x^2\right)^{2007}$</a:t>
                </a:r>
                <a:r>
                  <a:rPr sz="2400" b="0">
                    <a:solidFill>
                      <a:srgbClr val="111827"/>
                    </a:solidFill>
                    <a:latin typeface="Arial"/>
                  </a:rPr>
                  <a:t> is equal to ________.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Coefficient extraction using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Coefficient extraction using </a:t>
                </a:r>
                <a:r>
                  <a:rPr lang="en-IN" sz="2400">
                    <a:solidFill>
                      <a:srgbClr val="111827"/>
                    </a:solidFill>
                    <a:latin typeface="Cambria Math" panose="02040503050406030204" pitchFamily="18" charset="0"/>
                  </a:rPr>
                  <a:t>$(1-x)(1+x+x^2)=1-x^3$</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oMath>
                </a14:m>
                <a:r>
                  <a:rPr sz="2400" b="0">
                    <a:solidFill>
                      <a:srgbClr val="78350F"/>
                    </a:solidFill>
                    <a:latin typeface="Arial"/>
                  </a:rPr>
                  <a:t>, so the product is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2007</m:t>
                        </m:r>
                      </m:sup>
                    </m:sSup>
                  </m:oMath>
                </a14:m>
                <a:r>
                  <a:rPr sz="2400" b="0">
                    <a:solidFill>
                      <a:srgbClr val="78350F"/>
                    </a:solidFill>
                    <a:latin typeface="Arial"/>
                  </a:rPr>
                  <a:t>, whose exponents are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$(1-x)(1+x+x^2)=1-x^3$</a:t>
                </a:r>
                <a:r>
                  <a:rPr sz="2400" b="0">
                    <a:solidFill>
                      <a:srgbClr val="78350F"/>
                    </a:solidFill>
                    <a:latin typeface="Arial"/>
                  </a:rPr>
                  <a:t>, so the product is </a:t>
                </a:r>
                <a:r>
                  <a:rPr lang="en-IN" sz="2400">
                    <a:solidFill>
                      <a:srgbClr val="78350F"/>
                    </a:solidFill>
                    <a:latin typeface="Cambria Math" panose="02040503050406030204" pitchFamily="18" charset="0"/>
                  </a:rPr>
                  <a:t>$(1-x)(1-x^3)^{2007}$</a:t>
                </a:r>
                <a:r>
                  <a:rPr sz="2400" b="0">
                    <a:solidFill>
                      <a:srgbClr val="78350F"/>
                    </a:solidFill>
                    <a:latin typeface="Arial"/>
                  </a:rPr>
                  <a:t>, whose exponents are </a:t>
                </a:r>
                <a:r>
                  <a:rPr lang="en-IN" sz="2400">
                    <a:solidFill>
                      <a:srgbClr val="78350F"/>
                    </a:solidFill>
                    <a:latin typeface="Cambria Math" panose="02040503050406030204" pitchFamily="18" charset="0"/>
                  </a:rPr>
                  <a:t>$\equiv0,1\pmod 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2008</m:t>
                        </m:r>
                      </m:sup>
                    </m:sSup>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2007</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e>
                        </m:d>
                      </m:e>
                      <m:sup>
                        <m:r>
                          <a:rPr lang="en-IN" sz="2400" i="1">
                            <a:solidFill>
                              <a:srgbClr val="111827"/>
                            </a:solidFill>
                            <a:latin typeface="Cambria Math" panose="02040503050406030204" pitchFamily="18" charset="0"/>
                          </a:rPr>
                          <m:t>2007</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2007</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2007</m:t>
                        </m:r>
                      </m:sup>
                    </m:sSup>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2007</m:t>
                                </m:r>
                              </m:num>
                              <m:den>
                                <m:r>
                                  <a:rPr lang="en-IN" sz="2400" i="1">
                                    <a:solidFill>
                                      <a:srgbClr val="111827"/>
                                    </a:solidFill>
                                    <a:latin typeface="Cambria Math" panose="02040503050406030204" pitchFamily="18" charset="0"/>
                                  </a:rPr>
                                  <m:t>𝑟</m:t>
                                </m:r>
                              </m:den>
                            </m:f>
                          </m:e>
                        </m:d>
                      </m:e>
                    </m:nary>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sup>
                    </m:sSup>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2007</m:t>
                        </m:r>
                      </m:sup>
                    </m:sSup>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2007</m:t>
                                </m:r>
                              </m:num>
                              <m:den>
                                <m:r>
                                  <a:rPr lang="en-IN" sz="2400" i="1">
                                    <a:solidFill>
                                      <a:srgbClr val="111827"/>
                                    </a:solidFill>
                                    <a:latin typeface="Cambria Math" panose="02040503050406030204" pitchFamily="18" charset="0"/>
                                  </a:rPr>
                                  <m:t>𝑟</m:t>
                                </m:r>
                              </m:den>
                            </m:f>
                          </m:e>
                        </m:d>
                      </m:e>
                    </m:nary>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Every exponent that occurs is of the form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$(1-x)^{2008}\left(1+x+x^2\right)^{2007}=(1-x)\left[(1-x)(1+x+x^2)\right]^{2007}=(1-x)\left(1-x^3\right)^{2007}$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$\left(1-x^3\right)^{2007}=\sum_r\binom{2007}{r}(-1)^rx^{3r}$</a:t>
                </a:r>
                <a:r>
                  <a:rPr sz="2400" b="0">
                    <a:solidFill>
                      <a:srgbClr val="111827"/>
                    </a:solidFill>
                    <a:latin typeface="Arial"/>
                  </a:rPr>
                  <a:t>, so </a:t>
                </a:r>
                <a:r>
                  <a:rPr lang="en-IN" sz="2400">
                    <a:solidFill>
                      <a:srgbClr val="111827"/>
                    </a:solidFill>
                    <a:latin typeface="Cambria Math" panose="02040503050406030204" pitchFamily="18" charset="0"/>
                  </a:rPr>
                  <a:t>$(1-x)\left(1-x^3\right)^{2007}=\sum_r\binom{2007}{r}(-1)^r\left[x^{3r}-x^{3r+1}\right]$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Every exponent that occurs is of the form </a:t>
                </a:r>
                <a:r>
                  <a:rPr lang="en-IN" sz="2400">
                    <a:solidFill>
                      <a:srgbClr val="111827"/>
                    </a:solidFill>
                    <a:latin typeface="Cambria Math" panose="02040503050406030204" pitchFamily="18" charset="0"/>
                  </a:rPr>
                  <a:t>$3r$</a:t>
                </a:r>
                <a:r>
                  <a:rPr sz="2400" b="0">
                    <a:solidFill>
                      <a:srgbClr val="111827"/>
                    </a:solidFill>
                    <a:latin typeface="Arial"/>
                  </a:rPr>
                  <a:t> or </a:t>
                </a:r>
                <a:r>
                  <a:rPr lang="en-IN" sz="2400">
                    <a:solidFill>
                      <a:srgbClr val="111827"/>
                    </a:solidFill>
                    <a:latin typeface="Cambria Math" panose="02040503050406030204" pitchFamily="18" charset="0"/>
                  </a:rPr>
                  <a:t>$3r+1$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2012</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2012</m:t>
                    </m:r>
                  </m:oMath>
                </a14:m>
                <a:r>
                  <a:rPr sz="2400" b="0">
                    <a:solidFill>
                      <a:srgbClr val="111827"/>
                    </a:solidFill>
                    <a:latin typeface="Arial"/>
                  </a:rPr>
                  <a:t> has no integer solution, and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2011</m:t>
                    </m:r>
                  </m:oMath>
                </a14:m>
                <a:r>
                  <a:rPr sz="2400" b="0">
                    <a:solidFill>
                      <a:srgbClr val="111827"/>
                    </a:solidFill>
                    <a:latin typeface="Arial"/>
                  </a:rPr>
                  <a:t>, also impossible (</a:t>
                </a:r>
                <a14:m>
                  <m:oMath xmlns:m="http://schemas.openxmlformats.org/officeDocument/2006/math">
                    <m:r>
                      <a:rPr lang="en-IN" sz="2400" i="1">
                        <a:solidFill>
                          <a:srgbClr val="111827"/>
                        </a:solidFill>
                        <a:latin typeface="Cambria Math" panose="02040503050406030204" pitchFamily="18" charset="0"/>
                      </a:rPr>
                      <m:t>2012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2012</m:t>
                        </m:r>
                      </m:sup>
                    </m:sSup>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$x^{2012}$</a:t>
                </a:r>
                <a:r>
                  <a:rPr sz="2400" b="0">
                    <a:solidFill>
                      <a:srgbClr val="111827"/>
                    </a:solidFill>
                    <a:latin typeface="Arial"/>
                  </a:rPr>
                  <a:t>: </a:t>
                </a:r>
                <a:r>
                  <a:rPr lang="en-IN" sz="2400">
                    <a:solidFill>
                      <a:srgbClr val="111827"/>
                    </a:solidFill>
                    <a:latin typeface="Cambria Math" panose="02040503050406030204" pitchFamily="18" charset="0"/>
                  </a:rPr>
                  <a:t>$3r=2012$</a:t>
                </a:r>
                <a:r>
                  <a:rPr sz="2400" b="0">
                    <a:solidFill>
                      <a:srgbClr val="111827"/>
                    </a:solidFill>
                    <a:latin typeface="Arial"/>
                  </a:rPr>
                  <a:t> has no integer solution, and </a:t>
                </a:r>
                <a:r>
                  <a:rPr lang="en-IN" sz="2400">
                    <a:solidFill>
                      <a:srgbClr val="111827"/>
                    </a:solidFill>
                    <a:latin typeface="Cambria Math" panose="02040503050406030204" pitchFamily="18" charset="0"/>
                  </a:rPr>
                  <a:t>$3r+1=2012$</a:t>
                </a:r>
                <a:r>
                  <a:rPr sz="2400" b="0">
                    <a:solidFill>
                      <a:srgbClr val="111827"/>
                    </a:solidFill>
                    <a:latin typeface="Arial"/>
                  </a:rPr>
                  <a:t> gives </a:t>
                </a:r>
                <a:r>
                  <a:rPr lang="en-IN" sz="2400">
                    <a:solidFill>
                      <a:srgbClr val="111827"/>
                    </a:solidFill>
                    <a:latin typeface="Cambria Math" panose="02040503050406030204" pitchFamily="18" charset="0"/>
                  </a:rPr>
                  <a:t>$3r=2011$</a:t>
                </a:r>
                <a:r>
                  <a:rPr sz="2400" b="0">
                    <a:solidFill>
                      <a:srgbClr val="111827"/>
                    </a:solidFill>
                    <a:latin typeface="Arial"/>
                  </a:rPr>
                  <a:t>, also impossible (</a:t>
                </a:r>
                <a:r>
                  <a:rPr lang="en-IN" sz="2400">
                    <a:solidFill>
                      <a:srgbClr val="111827"/>
                    </a:solidFill>
                    <a:latin typeface="Cambria Math" panose="02040503050406030204" pitchFamily="18" charset="0"/>
                  </a:rPr>
                  <a:t>$2012\equiv2\pmod3$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coefficient of </a:t>
                </a:r>
                <a:r>
                  <a:rPr lang="en-IN" sz="2400">
                    <a:solidFill>
                      <a:srgbClr val="111827"/>
                    </a:solidFill>
                    <a:latin typeface="Cambria Math" panose="02040503050406030204" pitchFamily="18" charset="0"/>
                  </a:rPr>
                  <a:t>$x^{2012}$</a:t>
                </a:r>
                <a:r>
                  <a:rPr sz="2400" b="0">
                    <a:solidFill>
                      <a:srgbClr val="111827"/>
                    </a:solidFill>
                    <a:latin typeface="Arial"/>
                  </a:rPr>
                  <a:t> is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0</a:t>
            </a:r>
            <a:endParaRPr sz="2800">
              <a:solidFill>
                <a:srgbClr val="15803D"/>
              </a:solidFill>
            </a:endParaRP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Look for factorisations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convert products of two binomial-type factors to a single power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Exponents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never reached, so the coefficient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(expand).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$(1-x)(1+x+x^2+\dots+x^{k-1})=1-x^k$</a:t>
                </a:r>
                <a:r>
                  <a:rPr sz="2400" b="0">
                    <a:solidFill>
                      <a:srgbClr val="111827"/>
                    </a:solidFill>
                    <a:latin typeface="Arial"/>
                  </a:rPr>
                  <a:t>; so </a:t>
                </a:r>
                <a:r>
                  <a:rPr lang="en-IN" sz="2400">
                    <a:solidFill>
                      <a:srgbClr val="111827"/>
                    </a:solidFill>
                    <a:latin typeface="Cambria Math" panose="02040503050406030204" pitchFamily="18" charset="0"/>
                  </a:rPr>
                  <a:t>$(1-x)^{n+1}(1+x+x^2)^n=(1-x)(1-x^3)^n$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Look for factorisations </a:t>
                </a:r>
                <a:r>
                  <a:rPr lang="en-IN" sz="2400">
                    <a:solidFill>
                      <a:srgbClr val="111827"/>
                    </a:solidFill>
                    <a:latin typeface="Cambria Math" panose="02040503050406030204" pitchFamily="18" charset="0"/>
                  </a:rPr>
                  <a:t>$(1-x)(1+x+\dots)$</a:t>
                </a:r>
                <a:r>
                  <a:rPr sz="2400" b="0">
                    <a:solidFill>
                      <a:srgbClr val="111827"/>
                    </a:solidFill>
                    <a:latin typeface="Arial"/>
                  </a:rPr>
                  <a:t> to convert products of two binomial-type factors to a single power of </a:t>
                </a:r>
                <a:r>
                  <a:rPr lang="en-IN" sz="2400">
                    <a:solidFill>
                      <a:srgbClr val="111827"/>
                    </a:solidFill>
                    <a:latin typeface="Cambria Math" panose="02040503050406030204" pitchFamily="18" charset="0"/>
                  </a:rPr>
                  <a:t>$(1-x^k)$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Exponents in </a:t>
                </a:r>
                <a:r>
                  <a:rPr lang="en-IN" sz="2400">
                    <a:solidFill>
                      <a:srgbClr val="111827"/>
                    </a:solidFill>
                    <a:latin typeface="Cambria Math" panose="02040503050406030204" pitchFamily="18" charset="0"/>
                  </a:rPr>
                  <a:t>$(1-x)(1-x^3)^n$</a:t>
                </a:r>
                <a:r>
                  <a:rPr sz="2400" b="0">
                    <a:solidFill>
                      <a:srgbClr val="111827"/>
                    </a:solidFill>
                    <a:latin typeface="Arial"/>
                  </a:rPr>
                  <a:t> are </a:t>
                </a:r>
                <a:r>
                  <a:rPr lang="en-IN" sz="2400">
                    <a:solidFill>
                      <a:srgbClr val="111827"/>
                    </a:solidFill>
                    <a:latin typeface="Cambria Math" panose="02040503050406030204" pitchFamily="18" charset="0"/>
                  </a:rPr>
                  <a:t>$\equiv0,1\pmod 3$</a:t>
                </a:r>
                <a:r>
                  <a:rPr sz="2400" b="0">
                    <a:solidFill>
                      <a:srgbClr val="111827"/>
                    </a:solidFill>
                    <a:latin typeface="Arial"/>
                  </a:rPr>
                  <a:t>; </a:t>
                </a:r>
                <a:r>
                  <a:rPr lang="en-IN" sz="2400">
                    <a:solidFill>
                      <a:srgbClr val="111827"/>
                    </a:solidFill>
                    <a:latin typeface="Cambria Math" panose="02040503050406030204" pitchFamily="18" charset="0"/>
                  </a:rPr>
                  <a:t>$2012\equiv2$</a:t>
                </a:r>
                <a:r>
                  <a:rPr sz="2400" b="0">
                    <a:solidFill>
                      <a:srgbClr val="111827"/>
                    </a:solidFill>
                    <a:latin typeface="Arial"/>
                  </a:rPr>
                  <a:t> is never reached, so the coefficient is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$(1-x)(1+x+x^2)=1-x^3$</a:t>
                </a:r>
                <a:r>
                  <a:rPr sz="2400" b="0">
                    <a:solidFill>
                      <a:srgbClr val="111827"/>
                    </a:solidFill>
                    <a:latin typeface="Arial"/>
                  </a:rPr>
                  <a:t> (expand).</a:t>
                </a:r>
                <a:endParaRPr sz="2400">
                  <a:solidFill>
                    <a:srgbClr val="111827"/>
                  </a:solidFill>
                </a:endParaRPr>
              </a:p>
            </p:txBody>
          </p:sp>
        </mc:Fallback>
      </mc:AlternateContent>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96545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9</m:t>
                            </m:r>
                          </m:sub>
                        </m:sSub>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196545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$\dfrac{{}^{11}C_1}{2}+\dfrac{{}^{11}C_2}{3}+\dots+\dfrac{{}^{11}C_9}{10}=\dfrac nm$</a:t>
                </a:r>
                <a:r>
                  <a:rPr sz="2400" b="0">
                    <a:solidFill>
                      <a:srgbClr val="111827"/>
                    </a:solidFill>
                    <a:latin typeface="Arial"/>
                  </a:rPr>
                  <a:t> with </a:t>
                </a:r>
                <a:r>
                  <a:rPr lang="en-IN" sz="2400">
                    <a:solidFill>
                      <a:srgbClr val="111827"/>
                    </a:solidFill>
                    <a:latin typeface="Cambria Math" panose="02040503050406030204" pitchFamily="18" charset="0"/>
                  </a:rPr>
                  <a:t>$\gcd(n,m)=1$</a:t>
                </a:r>
                <a:r>
                  <a:rPr sz="2400" b="0">
                    <a:solidFill>
                      <a:srgbClr val="111827"/>
                    </a:solidFill>
                    <a:latin typeface="Arial"/>
                  </a:rPr>
                  <a:t>, then </a:t>
                </a:r>
                <a:r>
                  <a:rPr lang="en-IN" sz="2400">
                    <a:solidFill>
                      <a:srgbClr val="111827"/>
                    </a:solidFill>
                    <a:latin typeface="Cambria Math" panose="02040503050406030204" pitchFamily="18" charset="0"/>
                  </a:rPr>
                  <a:t>$n+m$</a:t>
                </a:r>
                <a:r>
                  <a:rPr sz="2400" b="0">
                    <a:solidFill>
                      <a:srgbClr val="111827"/>
                    </a:solidFill>
                    <a:latin typeface="Arial"/>
                  </a:rPr>
                  <a:t> is equal to ________.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474212"/>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coefficient identities (sum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474212"/>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coefficient identities (sum of </a:t>
                </a:r>
                <a:r>
                  <a:rPr lang="en-IN" sz="2400">
                    <a:solidFill>
                      <a:srgbClr val="111827"/>
                    </a:solidFill>
                    <a:latin typeface="Cambria Math" panose="02040503050406030204" pitchFamily="18" charset="0"/>
                  </a:rPr>
                  <a:t>$\frac1{r+1}\binom nr$</a:t>
                </a:r>
                <a:r>
                  <a:rPr sz="2400" b="0">
                    <a:solidFill>
                      <a:srgbClr val="111827"/>
                    </a:solidFill>
                    <a:latin typeface="Arial"/>
                  </a:rPr>
                  <a: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11</m:t>
                            </m:r>
                          </m:num>
                          <m:den>
                            <m:r>
                              <a:rPr lang="en-IN" sz="2400" i="1">
                                <a:solidFill>
                                  <a:srgbClr val="78350F"/>
                                </a:solidFill>
                                <a:latin typeface="Cambria Math" panose="02040503050406030204" pitchFamily="18" charset="0"/>
                              </a:rPr>
                              <m:t>𝑟</m:t>
                            </m:r>
                          </m:den>
                        </m:f>
                      </m:e>
                    </m:d>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12</m:t>
                        </m:r>
                      </m:den>
                    </m:f>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12</m:t>
                            </m:r>
                          </m:num>
                          <m:den>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e>
                    </m:d>
                  </m:oMath>
                </a14:m>
                <a:r>
                  <a:rPr sz="2400" b="0">
                    <a:solidFill>
                      <a:srgbClr val="78350F"/>
                    </a:solidFill>
                    <a:latin typeface="Arial"/>
                  </a:rPr>
                  <a:t>, so the sum is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12</m:t>
                        </m:r>
                      </m:den>
                    </m:f>
                    <m:nary>
                      <m:naryPr>
                        <m:chr m:val="∑"/>
                        <m:limLoc m:val="undOvr"/>
                        <m:subHide m:val="off"/>
                        <m:supHide m:val="off"/>
                        <m:ctrlPr>
                          <a:rPr lang="en-IN" sz="2400" i="1">
                            <a:solidFill>
                              <a:srgbClr val="78350F"/>
                            </a:solidFill>
                            <a:latin typeface="Cambria Math" panose="02040503050406030204" pitchFamily="18" charset="0"/>
                          </a:rPr>
                        </m:ctrlPr>
                      </m:naryPr>
                      <m:sub>
                        <m:r>
                          <a:rPr lang="en-IN" sz="2400" i="1">
                            <a:solidFill>
                              <a:srgbClr val="78350F"/>
                            </a:solidFill>
                            <a:latin typeface="Cambria Math" panose="02040503050406030204" pitchFamily="18" charset="0"/>
                          </a:rPr>
                          <m:t>𝑗</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b>
                      <m:sup>
                        <m:r>
                          <a:rPr lang="en-IN" sz="2400" i="1">
                            <a:solidFill>
                              <a:srgbClr val="78350F"/>
                            </a:solidFill>
                            <a:latin typeface="Cambria Math" panose="02040503050406030204" pitchFamily="18" charset="0"/>
                          </a:rPr>
                          <m:t>10</m:t>
                        </m:r>
                      </m:sup>
                      <m:e>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12</m:t>
                                </m:r>
                              </m:num>
                              <m:den>
                                <m:r>
                                  <a:rPr lang="en-IN" sz="2400" i="1">
                                    <a:solidFill>
                                      <a:srgbClr val="78350F"/>
                                    </a:solidFill>
                                    <a:latin typeface="Cambria Math" panose="02040503050406030204" pitchFamily="18" charset="0"/>
                                  </a:rPr>
                                  <m:t>𝑗</m:t>
                                </m:r>
                              </m:den>
                            </m:f>
                          </m:e>
                        </m:d>
                      </m:e>
                    </m:nary>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$\frac{1}{r+1}\binom{11}{r}=\frac1{12}\binom{12}{r+1}$</a:t>
                </a:r>
                <a:r>
                  <a:rPr sz="2400" b="0">
                    <a:solidFill>
                      <a:srgbClr val="78350F"/>
                    </a:solidFill>
                    <a:latin typeface="Arial"/>
                  </a:rPr>
                  <a:t>, so the sum is </a:t>
                </a:r>
                <a:r>
                  <a:rPr lang="en-IN" sz="2400">
                    <a:solidFill>
                      <a:srgbClr val="78350F"/>
                    </a:solidFill>
                    <a:latin typeface="Cambria Math" panose="02040503050406030204" pitchFamily="18" charset="0"/>
                  </a:rPr>
                  <a:t>$\frac1{12}\sum_{j=2}^{10}\binom{12}{j}$</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sum is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9</m:t>
                        </m:r>
                      </m:sup>
                      <m:e>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𝑟</m:t>
                                    </m:r>
                                  </m:den>
                                </m:f>
                              </m:e>
                            </m:d>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nary>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so the sum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9</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10</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𝑗</m:t>
                                </m:r>
                              </m:den>
                            </m:f>
                          </m:e>
                        </m:d>
                      </m:e>
                    </m:nary>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12</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𝑗</m:t>
                                </m:r>
                              </m:den>
                            </m:f>
                          </m:e>
                        </m:d>
                      </m:e>
                    </m:nary>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12</m:t>
                        </m:r>
                      </m:sup>
                    </m:sSup>
                  </m:oMath>
                </a14:m>
                <a:r>
                  <a:rPr sz="2400" b="0">
                    <a:solidFill>
                      <a:srgbClr val="111827"/>
                    </a:solidFill>
                    <a:latin typeface="Arial"/>
                  </a:rPr>
                  <a:t>; remove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0</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11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12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sum is </a:t>
                </a:r>
                <a:r>
                  <a:rPr lang="en-IN" sz="2400">
                    <a:solidFill>
                      <a:srgbClr val="111827"/>
                    </a:solidFill>
                    <a:latin typeface="Cambria Math" panose="02040503050406030204" pitchFamily="18" charset="0"/>
                  </a:rPr>
                  <a:t>$\sum_{r=1}^{9}\dfrac{\binom{11}{r}}{r+1}$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$\dfrac{1}{r+1}\binom{11}{r}=\dfrac{1}{12}\binom{12}{r+1}$</a:t>
                </a:r>
                <a:r>
                  <a:rPr sz="2400" b="0">
                    <a:solidFill>
                      <a:srgbClr val="111827"/>
                    </a:solidFill>
                    <a:latin typeface="Arial"/>
                  </a:rPr>
                  <a:t>, so the sum is </a:t>
                </a:r>
                <a:r>
                  <a:rPr lang="en-IN" sz="2400">
                    <a:solidFill>
                      <a:srgbClr val="111827"/>
                    </a:solidFill>
                    <a:latin typeface="Cambria Math" panose="02040503050406030204" pitchFamily="18" charset="0"/>
                  </a:rPr>
                  <a:t>$\dfrac1{12}\sum_{r=1}^{9}\binom{12}{r+1}=\dfrac1{12}\sum_{j=2}^{10}\binom{12}{j}$</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$\sum_{j=0}^{12}\binom{12}{j}=2^{12}$</a:t>
                </a:r>
                <a:r>
                  <a:rPr sz="2400" b="0">
                    <a:solidFill>
                      <a:srgbClr val="111827"/>
                    </a:solidFill>
                    <a:latin typeface="Arial"/>
                  </a:rPr>
                  <a:t>; remove </a:t>
                </a:r>
                <a:r>
                  <a:rPr lang="en-IN" sz="2400">
                    <a:solidFill>
                      <a:srgbClr val="111827"/>
                    </a:solidFill>
                    <a:latin typeface="Cambria Math" panose="02040503050406030204" pitchFamily="18" charset="0"/>
                  </a:rPr>
                  <a:t>$j=0,1,11,12$</a:t>
                </a:r>
                <a:r>
                  <a:rPr sz="2400" b="0">
                    <a:solidFill>
                      <a:srgbClr val="111827"/>
                    </a:solidFill>
                    <a:latin typeface="Arial"/>
                  </a:rPr>
                  <a:t>: </a:t>
                </a:r>
                <a:r>
                  <a:rPr lang="en-IN" sz="2400">
                    <a:solidFill>
                      <a:srgbClr val="111827"/>
                    </a:solidFill>
                    <a:latin typeface="Cambria Math" panose="02040503050406030204" pitchFamily="18" charset="0"/>
                  </a:rPr>
                  <a:t>$\binom{12}0+\binom{12}1+\binom{12}{11}+\binom{12}{12}=1+12+12+1=26$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10</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𝑗</m:t>
                                </m:r>
                              </m:den>
                            </m:f>
                          </m:e>
                        </m:d>
                      </m:e>
                    </m:nary>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4070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4070</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2035</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2035</m:t>
                    </m:r>
                  </m:oMath>
                </a14:m>
                <a:r>
                  <a:rPr sz="2400" b="0">
                    <a:solidFill>
                      <a:srgbClr val="111827"/>
                    </a:solidFill>
                    <a:latin typeface="Arial"/>
                  </a:rPr>
                  <a:t> is odd and not a multiple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2041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$\sum_{j=2}^{10}\binom{12}{j}=2^{12}-26=4070$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$=\dfrac{4070}{12}=\dfrac{2035}{6}$</a:t>
                </a:r>
                <a:r>
                  <a:rPr sz="2400" b="0">
                    <a:solidFill>
                      <a:srgbClr val="111827"/>
                    </a:solidFill>
                    <a:latin typeface="Arial"/>
                  </a:rPr>
                  <a:t>, and </a:t>
                </a:r>
                <a:r>
                  <a:rPr lang="en-IN" sz="2400">
                    <a:solidFill>
                      <a:srgbClr val="111827"/>
                    </a:solidFill>
                    <a:latin typeface="Cambria Math" panose="02040503050406030204" pitchFamily="18" charset="0"/>
                  </a:rPr>
                  <a:t>$\gcd(2035,6)=1$</a:t>
                </a:r>
                <a:r>
                  <a:rPr sz="2400" b="0">
                    <a:solidFill>
                      <a:srgbClr val="111827"/>
                    </a:solidFill>
                    <a:latin typeface="Arial"/>
                  </a:rPr>
                  <a:t> (</a:t>
                </a:r>
                <a:r>
                  <a:rPr lang="en-IN" sz="2400">
                    <a:solidFill>
                      <a:srgbClr val="111827"/>
                    </a:solidFill>
                    <a:latin typeface="Cambria Math" panose="02040503050406030204" pitchFamily="18" charset="0"/>
                  </a:rPr>
                  <a:t>$2035$</a:t>
                </a:r>
                <a:r>
                  <a:rPr sz="2400" b="0">
                    <a:solidFill>
                      <a:srgbClr val="111827"/>
                    </a:solidFill>
                    <a:latin typeface="Arial"/>
                  </a:rPr>
                  <a:t> is odd and not a multiple of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$n+m=2035+6=2041$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2041</a:t>
            </a:r>
            <a:endParaRPr sz="2800">
              <a:solidFill>
                <a:srgbClr val="15803D"/>
              </a:solidFill>
            </a:endParaRP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Integrate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11</m:t>
                        </m:r>
                      </m:sup>
                    </m:sSup>
                  </m:oMath>
                </a14:m>
                <a:r>
                  <a:rPr sz="2400" b="0">
                    <a:solidFill>
                      <a:srgbClr val="78350F"/>
                    </a:solidFill>
                    <a:latin typeface="Arial"/>
                  </a:rPr>
                  <a:t> from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to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and remove the end terms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11</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Integrate </a:t>
                </a:r>
                <a:r>
                  <a:rPr lang="en-IN" sz="2400">
                    <a:solidFill>
                      <a:srgbClr val="78350F"/>
                    </a:solidFill>
                    <a:latin typeface="Cambria Math" panose="02040503050406030204" pitchFamily="18" charset="0"/>
                  </a:rPr>
                  <a:t>$(1+x)^{11}$</a:t>
                </a:r>
                <a:r>
                  <a:rPr sz="2400" b="0">
                    <a:solidFill>
                      <a:srgbClr val="78350F"/>
                    </a:solidFill>
                    <a:latin typeface="Arial"/>
                  </a:rPr>
                  <a:t> from </a:t>
                </a:r>
                <a:r>
                  <a:rPr lang="en-IN" sz="2400">
                    <a:solidFill>
                      <a:srgbClr val="78350F"/>
                    </a:solidFill>
                    <a:latin typeface="Cambria Math" panose="02040503050406030204" pitchFamily="18" charset="0"/>
                  </a:rPr>
                  <a:t>$0$</a:t>
                </a:r>
                <a:r>
                  <a:rPr sz="2400" b="0">
                    <a:solidFill>
                      <a:srgbClr val="78350F"/>
                    </a:solidFill>
                    <a:latin typeface="Arial"/>
                  </a:rPr>
                  <a:t> to </a:t>
                </a:r>
                <a:r>
                  <a:rPr lang="en-IN" sz="2400">
                    <a:solidFill>
                      <a:srgbClr val="78350F"/>
                    </a:solidFill>
                    <a:latin typeface="Cambria Math" panose="02040503050406030204" pitchFamily="18" charset="0"/>
                  </a:rPr>
                  <a:t>$1$</a:t>
                </a:r>
                <a:r>
                  <a:rPr sz="2400" b="0">
                    <a:solidFill>
                      <a:srgbClr val="78350F"/>
                    </a:solidFill>
                    <a:latin typeface="Arial"/>
                  </a:rPr>
                  <a:t> and remove the end terms </a:t>
                </a:r>
                <a:r>
                  <a:rPr lang="en-IN" sz="2400">
                    <a:solidFill>
                      <a:srgbClr val="78350F"/>
                    </a:solidFill>
                    <a:latin typeface="Cambria Math" panose="02040503050406030204" pitchFamily="18" charset="0"/>
                  </a:rPr>
                  <a:t>$r=0,10,11$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11</m:t>
                        </m:r>
                      </m:sup>
                      <m:e>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𝑟</m:t>
                                    </m:r>
                                  </m:den>
                                </m:f>
                              </m:e>
                            </m:d>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4095</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terms not in our sum are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0</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10</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11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$\int_0^1(1+x)^{11}dx=\sum_{r=0}^{11}\dfrac{\binom{11}{r}}{r+1}=\dfrac{2^{12}-1}{12}=\dfrac{4095}{12}$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terms not in our sum are </a:t>
                </a:r>
                <a:r>
                  <a:rPr lang="en-IN" sz="2400">
                    <a:solidFill>
                      <a:srgbClr val="111827"/>
                    </a:solidFill>
                    <a:latin typeface="Cambria Math" panose="02040503050406030204" pitchFamily="18" charset="0"/>
                  </a:rPr>
                  <a:t>$r=0$</a:t>
                </a:r>
                <a:r>
                  <a:rPr sz="2400" b="0">
                    <a:solidFill>
                      <a:srgbClr val="111827"/>
                    </a:solidFill>
                    <a:latin typeface="Arial"/>
                  </a:rPr>
                  <a:t>: </a:t>
                </a:r>
                <a:r>
                  <a:rPr lang="en-IN" sz="2400">
                    <a:solidFill>
                      <a:srgbClr val="111827"/>
                    </a:solidFill>
                    <a:latin typeface="Cambria Math" panose="02040503050406030204" pitchFamily="18" charset="0"/>
                  </a:rPr>
                  <a:t>$\binom{11}{0}/1=1$</a:t>
                </a:r>
                <a:r>
                  <a:rPr sz="2400" b="0">
                    <a:solidFill>
                      <a:srgbClr val="111827"/>
                    </a:solidFill>
                    <a:latin typeface="Arial"/>
                  </a:rPr>
                  <a:t>; </a:t>
                </a:r>
                <a:r>
                  <a:rPr lang="en-IN" sz="2400">
                    <a:solidFill>
                      <a:srgbClr val="111827"/>
                    </a:solidFill>
                    <a:latin typeface="Cambria Math" panose="02040503050406030204" pitchFamily="18" charset="0"/>
                  </a:rPr>
                  <a:t>$r=10$</a:t>
                </a:r>
                <a:r>
                  <a:rPr sz="2400" b="0">
                    <a:solidFill>
                      <a:srgbClr val="111827"/>
                    </a:solidFill>
                    <a:latin typeface="Arial"/>
                  </a:rPr>
                  <a:t>: </a:t>
                </a:r>
                <a:r>
                  <a:rPr lang="en-IN" sz="2400">
                    <a:solidFill>
                      <a:srgbClr val="111827"/>
                    </a:solidFill>
                    <a:latin typeface="Cambria Math" panose="02040503050406030204" pitchFamily="18" charset="0"/>
                  </a:rPr>
                  <a:t>$\binom{11}{10}/11=1$</a:t>
                </a:r>
                <a:r>
                  <a:rPr sz="2400" b="0">
                    <a:solidFill>
                      <a:srgbClr val="111827"/>
                    </a:solidFill>
                    <a:latin typeface="Arial"/>
                  </a:rPr>
                  <a:t>; </a:t>
                </a:r>
                <a:r>
                  <a:rPr lang="en-IN" sz="2400">
                    <a:solidFill>
                      <a:srgbClr val="111827"/>
                    </a:solidFill>
                    <a:latin typeface="Cambria Math" panose="02040503050406030204" pitchFamily="18" charset="0"/>
                  </a:rPr>
                  <a:t>$r=11$</a:t>
                </a:r>
                <a:r>
                  <a:rPr sz="2400" b="0">
                    <a:solidFill>
                      <a:srgbClr val="111827"/>
                    </a:solidFill>
                    <a:latin typeface="Arial"/>
                  </a:rPr>
                  <a:t>: </a:t>
                </a:r>
                <a:r>
                  <a:rPr lang="en-IN" sz="2400">
                    <a:solidFill>
                      <a:srgbClr val="111827"/>
                    </a:solidFill>
                    <a:latin typeface="Cambria Math" panose="02040503050406030204" pitchFamily="18" charset="0"/>
                  </a:rPr>
                  <a:t>$\binom{11}{11}/12=\frac{1}{12}$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Required sum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4095</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4094</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4094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4070</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2035</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2041</m:t>
                    </m:r>
                  </m:oMath>
                </a14:m>
                <a:r>
                  <a:rPr sz="2400" b="0">
                    <a:solidFill>
                      <a:srgbClr val="111827"/>
                    </a:solidFill>
                    <a:latin typeface="Arial"/>
                  </a:rPr>
                  <a:t>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Required sum </a:t>
                </a:r>
                <a:r>
                  <a:rPr lang="en-IN" sz="2400">
                    <a:solidFill>
                      <a:srgbClr val="111827"/>
                    </a:solidFill>
                    <a:latin typeface="Cambria Math" panose="02040503050406030204" pitchFamily="18" charset="0"/>
                  </a:rPr>
                  <a:t>$=\dfrac{4095}{12}-1-1-\dfrac1{12}=\dfrac{4094}{12}-2=\dfrac{4094-24}{12}=\dfrac{4070}{12}=\dfrac{2035}{6}$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$n+m=2041$</a:t>
                </a:r>
                <a:r>
                  <a:rPr sz="2400" b="0">
                    <a:solidFill>
                      <a:srgbClr val="111827"/>
                    </a:solidFill>
                    <a:latin typeface="Arial"/>
                  </a:rPr>
                  <a:t>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2041</a:t>
            </a:r>
            <a:endParaRPr sz="2800">
              <a:solidFill>
                <a:srgbClr val="15803D"/>
              </a:solidFill>
            </a:endParaRP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remove the end terms to get partial sums.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is the key conversion for such sums.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Remove symmetric end terms: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0</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11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12</m:t>
                            </m:r>
                          </m:den>
                        </m:f>
                      </m:e>
                    </m:d>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26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4070</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339.2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$\sum_{r=0}^{n}\frac{1}{r+1}\binom nr=\frac{2^{n+1}-1}{n+1}$</a:t>
                </a:r>
                <a:r>
                  <a:rPr sz="2400" b="0">
                    <a:solidFill>
                      <a:srgbClr val="111827"/>
                    </a:solidFill>
                    <a:latin typeface="Arial"/>
                  </a:rPr>
                  <a:t>; remove the end terms to get partial sums.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$\frac{1}{r+1}\binom nr=\frac{1}{n+1}\binom{n+1}{r+1}$</a:t>
                </a:r>
                <a:r>
                  <a:rPr sz="2400" b="0">
                    <a:solidFill>
                      <a:srgbClr val="111827"/>
                    </a:solidFill>
                    <a:latin typeface="Arial"/>
                  </a:rPr>
                  <a:t> is the key conversion for such sums.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Remove symmetric end terms: </a:t>
                </a:r>
                <a:r>
                  <a:rPr lang="en-IN" sz="2400">
                    <a:solidFill>
                      <a:srgbClr val="111827"/>
                    </a:solidFill>
                    <a:latin typeface="Cambria Math" panose="02040503050406030204" pitchFamily="18" charset="0"/>
                  </a:rPr>
                  <a:t>$\binom{12}{0},\binom{12}{1},\binom{12}{11},\binom{12}{12}$</a:t>
                </a:r>
                <a:r>
                  <a:rPr sz="2400" b="0">
                    <a:solidFill>
                      <a:srgbClr val="111827"/>
                    </a:solidFill>
                    <a:latin typeface="Arial"/>
                  </a:rPr>
                  <a:t> total </a:t>
                </a:r>
                <a:r>
                  <a:rPr lang="en-IN" sz="2400">
                    <a:solidFill>
                      <a:srgbClr val="111827"/>
                    </a:solidFill>
                    <a:latin typeface="Cambria Math" panose="02040503050406030204" pitchFamily="18" charset="0"/>
                  </a:rPr>
                  <a:t>$26$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$\frac{4070}{12}\approx339.2$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remainder when </a:t>
                </a:r>
                <a14:m>
                  <m:oMath xmlns:m="http://schemas.openxmlformats.org/officeDocument/2006/math">
                    <m:sSup>
                      <m:e>
                        <m:r>
                          <a:rPr lang="en-IN" sz="2400" i="1">
                            <a:solidFill>
                              <a:srgbClr val="111827"/>
                            </a:solidFill>
                            <a:latin typeface="Cambria Math" panose="02040503050406030204" pitchFamily="18" charset="0"/>
                          </a:rPr>
                          <m:t>64</m:t>
                        </m:r>
                      </m:e>
                      <m:sup>
                        <m:sSup>
                          <m:e>
                            <m:r>
                              <a:rPr lang="en-IN" sz="2400" i="1">
                                <a:solidFill>
                                  <a:srgbClr val="111827"/>
                                </a:solidFill>
                                <a:latin typeface="Cambria Math" panose="02040503050406030204" pitchFamily="18" charset="0"/>
                              </a:rPr>
                              <m:t>32</m:t>
                            </m:r>
                          </m:e>
                          <m:sup>
                            <m:r>
                              <a:rPr lang="en-IN" sz="2400" i="1">
                                <a:solidFill>
                                  <a:srgbClr val="111827"/>
                                </a:solidFill>
                                <a:latin typeface="Cambria Math" panose="02040503050406030204" pitchFamily="18" charset="0"/>
                              </a:rPr>
                              <m:t>32</m:t>
                            </m:r>
                          </m:sup>
                        </m:sSup>
                      </m:sup>
                    </m:sSup>
                  </m:oMath>
                </a14:m>
                <a:r>
                  <a:rPr sz="2400" b="0">
                    <a:solidFill>
                      <a:srgbClr val="111827"/>
                    </a:solidFill>
                    <a:latin typeface="Arial"/>
                  </a:rPr>
                  <a:t> is divided by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remainder when </a:t>
                </a:r>
                <a:r>
                  <a:rPr lang="en-IN" sz="2400">
                    <a:solidFill>
                      <a:srgbClr val="111827"/>
                    </a:solidFill>
                    <a:latin typeface="Cambria Math" panose="02040503050406030204" pitchFamily="18" charset="0"/>
                  </a:rPr>
                  <a:t>$64^{32^{32}}$</a:t>
                </a:r>
                <a:r>
                  <a:rPr sz="2400" b="0">
                    <a:solidFill>
                      <a:srgbClr val="111827"/>
                    </a:solidFill>
                    <a:latin typeface="Arial"/>
                  </a:rPr>
                  <a:t> is divided by </a:t>
                </a:r>
                <a:r>
                  <a:rPr lang="en-IN" sz="2400">
                    <a:solidFill>
                      <a:srgbClr val="111827"/>
                    </a:solidFill>
                    <a:latin typeface="Cambria Math" panose="02040503050406030204" pitchFamily="18" charset="0"/>
                  </a:rPr>
                  <a:t>$9$</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Remainder (divisibility) using the binomial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64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9</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every power of </a:t>
                </a:r>
                <a14:m>
                  <m:oMath xmlns:m="http://schemas.openxmlformats.org/officeDocument/2006/math">
                    <m:r>
                      <a:rPr lang="en-IN" sz="2400" i="1">
                        <a:solidFill>
                          <a:srgbClr val="78350F"/>
                        </a:solidFill>
                        <a:latin typeface="Cambria Math" panose="02040503050406030204" pitchFamily="18" charset="0"/>
                      </a:rPr>
                      <m:t>64</m:t>
                    </m:r>
                  </m:oMath>
                </a14:m>
                <a:r>
                  <a:rPr sz="2400" b="0">
                    <a:solidFill>
                      <a:srgbClr val="78350F"/>
                    </a:solidFill>
                    <a:latin typeface="Arial"/>
                  </a:rPr>
                  <a:t> leaves remainder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$64=63+1\equiv1\pmod9$</a:t>
                </a:r>
                <a:r>
                  <a:rPr sz="2400" b="0">
                    <a:solidFill>
                      <a:srgbClr val="78350F"/>
                    </a:solidFill>
                    <a:latin typeface="Arial"/>
                  </a:rPr>
                  <a:t>, so every power of </a:t>
                </a:r>
                <a:r>
                  <a:rPr lang="en-IN" sz="2400">
                    <a:solidFill>
                      <a:srgbClr val="78350F"/>
                    </a:solidFill>
                    <a:latin typeface="Cambria Math" panose="02040503050406030204" pitchFamily="18" charset="0"/>
                  </a:rPr>
                  <a:t>$64$</a:t>
                </a:r>
                <a:r>
                  <a:rPr sz="2400" b="0">
                    <a:solidFill>
                      <a:srgbClr val="78350F"/>
                    </a:solidFill>
                    <a:latin typeface="Arial"/>
                  </a:rPr>
                  <a:t> leaves remainder </a:t>
                </a:r>
                <a:r>
                  <a:rPr lang="en-IN" sz="2400">
                    <a:solidFill>
                      <a:srgbClr val="78350F"/>
                    </a:solidFill>
                    <a:latin typeface="Cambria Math" panose="02040503050406030204" pitchFamily="18" charset="0"/>
                  </a:rPr>
                  <a:t>$1$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p>
                      <m:e>
                        <m:r>
                          <a:rPr lang="en-IN" sz="2400" i="1">
                            <a:solidFill>
                              <a:srgbClr val="111827"/>
                            </a:solidFill>
                            <a:latin typeface="Cambria Math" panose="02040503050406030204" pitchFamily="18" charset="0"/>
                          </a:rPr>
                          <m:t>32</m:t>
                        </m:r>
                      </m:e>
                      <m:sup>
                        <m:r>
                          <a:rPr lang="en-IN" sz="2400" i="1">
                            <a:solidFill>
                              <a:srgbClr val="111827"/>
                            </a:solidFill>
                            <a:latin typeface="Cambria Math" panose="02040503050406030204" pitchFamily="18" charset="0"/>
                          </a:rPr>
                          <m:t>32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(a positive integer). Then </a:t>
                </a:r>
                <a14:m>
                  <m:oMath xmlns:m="http://schemas.openxmlformats.org/officeDocument/2006/math">
                    <m:sSup>
                      <m:e>
                        <m:r>
                          <a:rPr lang="en-IN" sz="2400" i="1">
                            <a:solidFill>
                              <a:srgbClr val="111827"/>
                            </a:solidFill>
                            <a:latin typeface="Cambria Math" panose="02040503050406030204" pitchFamily="18" charset="0"/>
                          </a:rPr>
                          <m:t>64</m:t>
                        </m:r>
                      </m:e>
                      <m:sup>
                        <m:sSup>
                          <m:e>
                            <m:r>
                              <a:rPr lang="en-IN" sz="2400" i="1">
                                <a:solidFill>
                                  <a:srgbClr val="111827"/>
                                </a:solidFill>
                                <a:latin typeface="Cambria Math" panose="02040503050406030204" pitchFamily="18" charset="0"/>
                              </a:rPr>
                              <m:t>32</m:t>
                            </m:r>
                          </m:e>
                          <m:sup>
                            <m:r>
                              <a:rPr lang="en-IN" sz="2400" i="1">
                                <a:solidFill>
                                  <a:srgbClr val="111827"/>
                                </a:solidFill>
                                <a:latin typeface="Cambria Math" panose="02040503050406030204" pitchFamily="18" charset="0"/>
                              </a:rPr>
                              <m:t>32</m:t>
                            </m:r>
                          </m:sup>
                        </m:sSup>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64</m:t>
                        </m:r>
                      </m:e>
                      <m:sup>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some integer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remainder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$32^{32}=t$</a:t>
                </a:r>
                <a:r>
                  <a:rPr sz="2400" b="0">
                    <a:solidFill>
                      <a:srgbClr val="111827"/>
                    </a:solidFill>
                    <a:latin typeface="Arial"/>
                  </a:rPr>
                  <a:t> (a positive integer). Then </a:t>
                </a:r>
                <a:r>
                  <a:rPr lang="en-IN" sz="2400">
                    <a:solidFill>
                      <a:srgbClr val="111827"/>
                    </a:solidFill>
                    <a:latin typeface="Cambria Math" panose="02040503050406030204" pitchFamily="18" charset="0"/>
                  </a:rPr>
                  <a:t>$64^{32^{32}}=64^t=8^{2t}$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$8^{2t}=(9-1)^{2t}=9k+(-1)^{2t}=9k+1$</a:t>
                </a:r>
                <a:r>
                  <a:rPr sz="2400" b="0">
                    <a:solidFill>
                      <a:srgbClr val="111827"/>
                    </a:solidFill>
                    <a:latin typeface="Arial"/>
                  </a:rPr>
                  <a:t> for some integer </a:t>
                </a:r>
                <a:r>
                  <a:rPr lang="en-IN" sz="2400">
                    <a:solidFill>
                      <a:srgbClr val="111827"/>
                    </a:solidFill>
                    <a:latin typeface="Cambria Math" panose="02040503050406030204" pitchFamily="18" charset="0"/>
                  </a:rPr>
                  <a:t>$k$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remainder is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a:t>
            </a:r>
            <a:endParaRPr sz="2800">
              <a:solidFill>
                <a:srgbClr val="15803D"/>
              </a:solidFill>
            </a:endParaRP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Observe </a:t>
                </a:r>
                <a14:m>
                  <m:oMath xmlns:m="http://schemas.openxmlformats.org/officeDocument/2006/math">
                    <m:r>
                      <a:rPr lang="en-IN" sz="2400" i="1">
                        <a:solidFill>
                          <a:srgbClr val="78350F"/>
                        </a:solidFill>
                        <a:latin typeface="Cambria Math" panose="02040503050406030204" pitchFamily="18" charset="0"/>
                      </a:rPr>
                      <m:t>64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9</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63</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64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9</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no exponent matters.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Observe </a:t>
                </a:r>
                <a:r>
                  <a:rPr lang="en-IN" sz="2400">
                    <a:solidFill>
                      <a:srgbClr val="78350F"/>
                    </a:solidFill>
                    <a:latin typeface="Cambria Math" panose="02040503050406030204" pitchFamily="18" charset="0"/>
                  </a:rPr>
                  <a:t>$64=63+1$</a:t>
                </a:r>
                <a:r>
                  <a:rPr sz="2400" b="0">
                    <a:solidFill>
                      <a:srgbClr val="78350F"/>
                    </a:solidFill>
                    <a:latin typeface="Arial"/>
                  </a:rPr>
                  <a:t> with </a:t>
                </a:r>
                <a:r>
                  <a:rPr lang="en-IN" sz="2400">
                    <a:solidFill>
                      <a:srgbClr val="78350F"/>
                    </a:solidFill>
                    <a:latin typeface="Cambria Math" panose="02040503050406030204" pitchFamily="18" charset="0"/>
                  </a:rPr>
                  <a:t>$9\mid63$</a:t>
                </a:r>
                <a:r>
                  <a:rPr sz="2400" b="0">
                    <a:solidFill>
                      <a:srgbClr val="78350F"/>
                    </a:solidFill>
                    <a:latin typeface="Arial"/>
                  </a:rPr>
                  <a:t>, so </a:t>
                </a:r>
                <a:r>
                  <a:rPr lang="en-IN" sz="2400">
                    <a:solidFill>
                      <a:srgbClr val="78350F"/>
                    </a:solidFill>
                    <a:latin typeface="Cambria Math" panose="02040503050406030204" pitchFamily="18" charset="0"/>
                  </a:rPr>
                  <a:t>$64\equiv1\pmod 9$</a:t>
                </a:r>
                <a:r>
                  <a:rPr sz="2400" b="0">
                    <a:solidFill>
                      <a:srgbClr val="78350F"/>
                    </a:solidFill>
                    <a:latin typeface="Arial"/>
                  </a:rPr>
                  <a:t> and no exponent matters.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sSup>
                      <m:e>
                        <m:r>
                          <a:rPr lang="en-IN" sz="2400" i="1">
                            <a:solidFill>
                              <a:srgbClr val="111827"/>
                            </a:solidFill>
                            <a:latin typeface="Cambria Math" panose="02040503050406030204" pitchFamily="18" charset="0"/>
                          </a:rPr>
                          <m:t>64</m:t>
                        </m:r>
                      </m:e>
                      <m:sup>
                        <m:r>
                          <a:rPr lang="en-IN" sz="2400" i="1">
                            <a:solidFill>
                              <a:srgbClr val="111827"/>
                            </a:solidFill>
                            <a:latin typeface="Cambria Math" panose="02040503050406030204" pitchFamily="18" charset="0"/>
                          </a:rPr>
                          <m:t>𝑁</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𝑁</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every positive integer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in particular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32</m:t>
                        </m:r>
                      </m:e>
                      <m:sup>
                        <m:r>
                          <a:rPr lang="en-IN" sz="2400" i="1">
                            <a:solidFill>
                              <a:srgbClr val="111827"/>
                            </a:solidFill>
                            <a:latin typeface="Cambria Math" panose="02040503050406030204" pitchFamily="18" charset="0"/>
                          </a:rPr>
                          <m:t>32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remainder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$64=63+1=9\cdot7+1\equiv1\pmod9$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$64^N\equiv1^N=1\pmod9$</a:t>
                </a:r>
                <a:r>
                  <a:rPr sz="2400" b="0">
                    <a:solidFill>
                      <a:srgbClr val="111827"/>
                    </a:solidFill>
                    <a:latin typeface="Arial"/>
                  </a:rPr>
                  <a:t> for every positive integer </a:t>
                </a:r>
                <a:r>
                  <a:rPr lang="en-IN" sz="2400">
                    <a:solidFill>
                      <a:srgbClr val="111827"/>
                    </a:solidFill>
                    <a:latin typeface="Cambria Math" panose="02040503050406030204" pitchFamily="18" charset="0"/>
                  </a:rPr>
                  <a:t>$N$</a:t>
                </a:r>
                <a:r>
                  <a:rPr sz="2400" b="0">
                    <a:solidFill>
                      <a:srgbClr val="111827"/>
                    </a:solidFill>
                    <a:latin typeface="Arial"/>
                  </a:rPr>
                  <a:t>, in particular </a:t>
                </a:r>
                <a:r>
                  <a:rPr lang="en-IN" sz="2400">
                    <a:solidFill>
                      <a:srgbClr val="111827"/>
                    </a:solidFill>
                    <a:latin typeface="Cambria Math" panose="02040503050406030204" pitchFamily="18" charset="0"/>
                  </a:rPr>
                  <a:t>$N=32^{32}$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remainder is </a:t>
                </a:r>
                <a:r>
                  <a:rPr lang="en-IN" sz="2400">
                    <a:solidFill>
                      <a:srgbClr val="111827"/>
                    </a:solidFill>
                    <a:latin typeface="Cambria Math" panose="02040503050406030204" pitchFamily="18" charset="0"/>
                  </a:rPr>
                  <a:t>$1$</a:t>
                </a:r>
                <a:r>
                  <a:rPr sz="2400" b="0">
                    <a:solidFill>
                      <a:srgbClr val="111827"/>
                    </a:solidFill>
                    <a:latin typeface="Arial"/>
                  </a:rPr>
                  <a:t>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a:t>
            </a:r>
            <a:endParaRPr sz="2800">
              <a:solidFill>
                <a:srgbClr val="15803D"/>
              </a:solidFill>
            </a:endParaRP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𝑁</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spot such bases first.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𝑁</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𝑁</m:t>
                        </m:r>
                      </m:sup>
                    </m:sSup>
                  </m:oMath>
                </a14:m>
                <a:r>
                  <a:rPr sz="2400" b="0">
                    <a:solidFill>
                      <a:srgbClr val="111827"/>
                    </a:solidFill>
                    <a:latin typeface="Arial"/>
                  </a:rPr>
                  <a:t>; for even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this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Huge exponents (towers) are irrelevant when the base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$a\equiv1\pmod m$</a:t>
                </a:r>
                <a:r>
                  <a:rPr sz="2400" b="0">
                    <a:solidFill>
                      <a:srgbClr val="111827"/>
                    </a:solidFill>
                    <a:latin typeface="Arial"/>
                  </a:rPr>
                  <a:t> then </a:t>
                </a:r>
                <a:r>
                  <a:rPr lang="en-IN" sz="2400">
                    <a:solidFill>
                      <a:srgbClr val="111827"/>
                    </a:solidFill>
                    <a:latin typeface="Cambria Math" panose="02040503050406030204" pitchFamily="18" charset="0"/>
                  </a:rPr>
                  <a:t>$a^N\equiv1\pmod m$</a:t>
                </a:r>
                <a:r>
                  <a:rPr sz="2400" b="0">
                    <a:solidFill>
                      <a:srgbClr val="111827"/>
                    </a:solidFill>
                    <a:latin typeface="Arial"/>
                  </a:rPr>
                  <a:t> for all </a:t>
                </a:r>
                <a:r>
                  <a:rPr lang="en-IN" sz="2400">
                    <a:solidFill>
                      <a:srgbClr val="111827"/>
                    </a:solidFill>
                    <a:latin typeface="Cambria Math" panose="02040503050406030204" pitchFamily="18" charset="0"/>
                  </a:rPr>
                  <a:t>$N$</a:t>
                </a:r>
                <a:r>
                  <a:rPr sz="2400" b="0">
                    <a:solidFill>
                      <a:srgbClr val="111827"/>
                    </a:solidFill>
                    <a:latin typeface="Arial"/>
                  </a:rPr>
                  <a:t>: spot such bases first.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$8\equiv-1\pmod9$</a:t>
                </a:r>
                <a:r>
                  <a:rPr sz="2400" b="0">
                    <a:solidFill>
                      <a:srgbClr val="111827"/>
                    </a:solidFill>
                    <a:latin typeface="Arial"/>
                  </a:rPr>
                  <a:t>, so </a:t>
                </a:r>
                <a:r>
                  <a:rPr lang="en-IN" sz="2400">
                    <a:solidFill>
                      <a:srgbClr val="111827"/>
                    </a:solidFill>
                    <a:latin typeface="Cambria Math" panose="02040503050406030204" pitchFamily="18" charset="0"/>
                  </a:rPr>
                  <a:t>$8^N\equiv(-1)^N$</a:t>
                </a:r>
                <a:r>
                  <a:rPr sz="2400" b="0">
                    <a:solidFill>
                      <a:srgbClr val="111827"/>
                    </a:solidFill>
                    <a:latin typeface="Arial"/>
                  </a:rPr>
                  <a:t>; for even </a:t>
                </a:r>
                <a:r>
                  <a:rPr lang="en-IN" sz="2400">
                    <a:solidFill>
                      <a:srgbClr val="111827"/>
                    </a:solidFill>
                    <a:latin typeface="Cambria Math" panose="02040503050406030204" pitchFamily="18" charset="0"/>
                  </a:rPr>
                  <a:t>$N$</a:t>
                </a:r>
                <a:r>
                  <a:rPr sz="2400" b="0">
                    <a:solidFill>
                      <a:srgbClr val="111827"/>
                    </a:solidFill>
                    <a:latin typeface="Arial"/>
                  </a:rPr>
                  <a:t> this is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Huge exponents (towers) are irrelevant when the base is </a:t>
                </a:r>
                <a:r>
                  <a:rPr lang="en-IN" sz="2400">
                    <a:solidFill>
                      <a:srgbClr val="111827"/>
                    </a:solidFill>
                    <a:latin typeface="Cambria Math" panose="02040503050406030204" pitchFamily="18" charset="0"/>
                  </a:rPr>
                  <a:t>$\equiv\pm1$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$64=7\cdot9+1$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integral terms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11</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e>
                        </m:d>
                      </m:e>
                      <m:sup>
                        <m:r>
                          <a:rPr lang="en-IN" sz="2400" i="1">
                            <a:solidFill>
                              <a:srgbClr val="111827"/>
                            </a:solidFill>
                            <a:latin typeface="Cambria Math" panose="02040503050406030204" pitchFamily="18" charset="0"/>
                          </a:rPr>
                          <m:t>824</m:t>
                        </m:r>
                      </m:sup>
                    </m:sSup>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integral terms in the expansion of </a:t>
                </a:r>
                <a:r>
                  <a:rPr lang="en-IN" sz="2400">
                    <a:solidFill>
                      <a:srgbClr val="111827"/>
                    </a:solidFill>
                    <a:latin typeface="Cambria Math" panose="02040503050406030204" pitchFamily="18" charset="0"/>
                  </a:rPr>
                  <a:t>$\left\{7^{1/2}+11^{1/6}\right\}^{824}$</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integral terms in a binomial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824</m:t>
                            </m:r>
                          </m:num>
                          <m:den>
                            <m:r>
                              <a:rPr lang="en-IN" sz="2400" i="1">
                                <a:solidFill>
                                  <a:srgbClr val="78350F"/>
                                </a:solidFill>
                                <a:latin typeface="Cambria Math" panose="02040503050406030204" pitchFamily="18" charset="0"/>
                              </a:rPr>
                              <m:t>𝑟</m:t>
                            </m:r>
                          </m:den>
                        </m:f>
                      </m:e>
                    </m:d>
                    <m:sSup>
                      <m:e>
                        <m:r>
                          <a:rPr lang="en-IN" sz="2400" i="1">
                            <a:solidFill>
                              <a:srgbClr val="78350F"/>
                            </a:solidFill>
                            <a:latin typeface="Cambria Math" panose="02040503050406030204" pitchFamily="18" charset="0"/>
                          </a:rPr>
                          <m:t>7</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824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p>
                    </m:sSup>
                    <m:sSup>
                      <m:e>
                        <m:r>
                          <a:rPr lang="en-IN" sz="2400" i="1">
                            <a:solidFill>
                              <a:srgbClr val="78350F"/>
                            </a:solidFill>
                            <a:latin typeface="Cambria Math" panose="02040503050406030204" pitchFamily="18" charset="0"/>
                          </a:rPr>
                          <m:t>11</m:t>
                        </m:r>
                      </m:e>
                      <m:sup>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sup>
                    </m:sSup>
                  </m:oMath>
                </a14:m>
                <a:r>
                  <a:rPr sz="2400" b="0">
                    <a:solidFill>
                      <a:srgbClr val="78350F"/>
                    </a:solidFill>
                    <a:latin typeface="Arial"/>
                  </a:rPr>
                  <a:t> is integral exactly when </a:t>
                </a:r>
                <a14:m>
                  <m:oMath xmlns:m="http://schemas.openxmlformats.org/officeDocument/2006/math">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$T_{r+1}=\binom{824}{r}7^{(824-r)/2}11^{r/6}$</a:t>
                </a:r>
                <a:r>
                  <a:rPr sz="2400" b="0">
                    <a:solidFill>
                      <a:srgbClr val="78350F"/>
                    </a:solidFill>
                    <a:latin typeface="Arial"/>
                  </a:rPr>
                  <a:t> is integral exactly when </a:t>
                </a:r>
                <a:r>
                  <a:rPr lang="en-IN" sz="2400">
                    <a:solidFill>
                      <a:srgbClr val="78350F"/>
                    </a:solidFill>
                    <a:latin typeface="Cambria Math" panose="02040503050406030204" pitchFamily="18" charset="0"/>
                  </a:rPr>
                  <a:t>$6\mid 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824</m:t>
                            </m:r>
                          </m:num>
                          <m:den>
                            <m:r>
                              <a:rPr lang="en-IN" sz="2400" i="1">
                                <a:solidFill>
                                  <a:srgbClr val="111827"/>
                                </a:solidFill>
                                <a:latin typeface="Cambria Math" panose="02040503050406030204" pitchFamily="18" charset="0"/>
                              </a:rPr>
                              <m:t>𝑟</m:t>
                            </m:r>
                          </m:den>
                        </m:f>
                      </m:e>
                    </m:d>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824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11</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e>
                        </m:d>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824</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7</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sup>
                    </m:sSup>
                    <m:sSup>
                      <m:e>
                        <m:r>
                          <a:rPr lang="en-IN" sz="2400" i="1">
                            <a:solidFill>
                              <a:srgbClr val="111827"/>
                            </a:solidFill>
                            <a:latin typeface="Cambria Math" panose="02040503050406030204" pitchFamily="18" charset="0"/>
                          </a:rPr>
                          <m:t>11</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6</m:t>
                            </m:r>
                          </m:den>
                        </m:f>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 integral term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must be an integer,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824</m:t>
                    </m:r>
                  </m:oMath>
                </a14:m>
                <a:r>
                  <a:rPr sz="2400" b="0">
                    <a:solidFill>
                      <a:srgbClr val="111827"/>
                    </a:solidFill>
                    <a:latin typeface="Arial"/>
                  </a:rPr>
                  <a:t>; the largest is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822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$T_{r+1}=\binom{824}{r}\left(7^{1/2}\right)^{824-r}\left(11^{1/6}\right)^r=\binom{824}{r}7^{\frac{824-r}{2}}11^{\frac r6}$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 integral term </a:t>
                </a:r>
                <a:r>
                  <a:rPr lang="en-IN" sz="2400">
                    <a:solidFill>
                      <a:srgbClr val="111827"/>
                    </a:solidFill>
                    <a:latin typeface="Cambria Math" panose="02040503050406030204" pitchFamily="18" charset="0"/>
                  </a:rPr>
                  <a:t>$\frac r6$</a:t>
                </a:r>
                <a:r>
                  <a:rPr sz="2400" b="0">
                    <a:solidFill>
                      <a:srgbClr val="111827"/>
                    </a:solidFill>
                    <a:latin typeface="Arial"/>
                  </a:rPr>
                  <a:t> must be an integer, so </a:t>
                </a:r>
                <a:r>
                  <a:rPr lang="en-IN" sz="2400">
                    <a:solidFill>
                      <a:srgbClr val="111827"/>
                    </a:solidFill>
                    <a:latin typeface="Cambria Math" panose="02040503050406030204" pitchFamily="18" charset="0"/>
                  </a:rPr>
                  <a:t>$r=0,6,12,\dots$</a:t>
                </a:r>
                <a:r>
                  <a:rPr sz="2400" b="0">
                    <a:solidFill>
                      <a:srgbClr val="111827"/>
                    </a:solidFill>
                    <a:latin typeface="Arial"/>
                  </a:rPr>
                  <a:t> with </a:t>
                </a:r>
                <a:r>
                  <a:rPr lang="en-IN" sz="2400">
                    <a:solidFill>
                      <a:srgbClr val="111827"/>
                    </a:solidFill>
                    <a:latin typeface="Cambria Math" panose="02040503050406030204" pitchFamily="18" charset="0"/>
                  </a:rPr>
                  <a:t>$r\le824$</a:t>
                </a:r>
                <a:r>
                  <a:rPr sz="2400" b="0">
                    <a:solidFill>
                      <a:srgbClr val="111827"/>
                    </a:solidFill>
                    <a:latin typeface="Arial"/>
                  </a:rPr>
                  <a:t>; the largest is </a:t>
                </a:r>
                <a:r>
                  <a:rPr lang="en-IN" sz="2400">
                    <a:solidFill>
                      <a:srgbClr val="111827"/>
                    </a:solidFill>
                    <a:latin typeface="Cambria Math" panose="02040503050406030204" pitchFamily="18" charset="0"/>
                  </a:rPr>
                  <a:t>$r=822$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these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is even and </a:t>
                </a:r>
                <a14:m>
                  <m:oMath xmlns:m="http://schemas.openxmlformats.org/officeDocument/2006/math">
                    <m:r>
                      <a:rPr lang="en-IN" sz="2400" i="1">
                        <a:solidFill>
                          <a:srgbClr val="111827"/>
                        </a:solidFill>
                        <a:latin typeface="Cambria Math" panose="02040503050406030204" pitchFamily="18" charset="0"/>
                      </a:rPr>
                      <m:t>824</m:t>
                    </m:r>
                  </m:oMath>
                </a14:m>
                <a:r>
                  <a:rPr sz="2400" b="0">
                    <a:solidFill>
                      <a:srgbClr val="111827"/>
                    </a:solidFill>
                    <a:latin typeface="Arial"/>
                  </a:rPr>
                  <a:t> is even,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is an integer too.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values of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822</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these </a:t>
                </a:r>
                <a:r>
                  <a:rPr lang="en-IN" sz="2400">
                    <a:solidFill>
                      <a:srgbClr val="111827"/>
                    </a:solidFill>
                    <a:latin typeface="Cambria Math" panose="02040503050406030204" pitchFamily="18" charset="0"/>
                  </a:rPr>
                  <a:t>$r$</a:t>
                </a:r>
                <a:r>
                  <a:rPr sz="2400" b="0">
                    <a:solidFill>
                      <a:srgbClr val="111827"/>
                    </a:solidFill>
                    <a:latin typeface="Arial"/>
                  </a:rPr>
                  <a:t>, </a:t>
                </a:r>
                <a:r>
                  <a:rPr lang="en-IN" sz="2400">
                    <a:solidFill>
                      <a:srgbClr val="111827"/>
                    </a:solidFill>
                    <a:latin typeface="Cambria Math" panose="02040503050406030204" pitchFamily="18" charset="0"/>
                  </a:rPr>
                  <a:t>$r$</a:t>
                </a:r>
                <a:r>
                  <a:rPr sz="2400" b="0">
                    <a:solidFill>
                      <a:srgbClr val="111827"/>
                    </a:solidFill>
                    <a:latin typeface="Arial"/>
                  </a:rPr>
                  <a:t> is even and </a:t>
                </a:r>
                <a:r>
                  <a:rPr lang="en-IN" sz="2400">
                    <a:solidFill>
                      <a:srgbClr val="111827"/>
                    </a:solidFill>
                    <a:latin typeface="Cambria Math" panose="02040503050406030204" pitchFamily="18" charset="0"/>
                  </a:rPr>
                  <a:t>$824$</a:t>
                </a:r>
                <a:r>
                  <a:rPr sz="2400" b="0">
                    <a:solidFill>
                      <a:srgbClr val="111827"/>
                    </a:solidFill>
                    <a:latin typeface="Arial"/>
                  </a:rPr>
                  <a:t> is even, so </a:t>
                </a:r>
                <a:r>
                  <a:rPr lang="en-IN" sz="2400">
                    <a:solidFill>
                      <a:srgbClr val="111827"/>
                    </a:solidFill>
                    <a:latin typeface="Cambria Math" panose="02040503050406030204" pitchFamily="18" charset="0"/>
                  </a:rPr>
                  <a:t>$\frac{824-r}{2}$</a:t>
                </a:r>
                <a:r>
                  <a:rPr sz="2400" b="0">
                    <a:solidFill>
                      <a:srgbClr val="111827"/>
                    </a:solidFill>
                    <a:latin typeface="Arial"/>
                  </a:rPr>
                  <a:t> is an integer too.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values of </a:t>
                </a:r>
                <a:r>
                  <a:rPr lang="en-IN" sz="2400">
                    <a:solidFill>
                      <a:srgbClr val="111827"/>
                    </a:solidFill>
                    <a:latin typeface="Cambria Math" panose="02040503050406030204" pitchFamily="18" charset="0"/>
                  </a:rPr>
                  <a:t>$r$</a:t>
                </a:r>
                <a:r>
                  <a:rPr sz="2400" b="0">
                    <a:solidFill>
                      <a:srgbClr val="111827"/>
                    </a:solidFill>
                    <a:latin typeface="Arial"/>
                  </a:rPr>
                  <a:t>: </a:t>
                </a:r>
                <a:r>
                  <a:rPr lang="en-IN" sz="2400">
                    <a:solidFill>
                      <a:srgbClr val="111827"/>
                    </a:solidFill>
                    <a:latin typeface="Cambria Math" panose="02040503050406030204" pitchFamily="18" charset="0"/>
                  </a:rPr>
                  <a:t>$\frac{822}{6}+1=137+1=138$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138</a:t>
            </a:r>
            <a:endParaRPr sz="2800">
              <a:solidFill>
                <a:srgbClr val="15803D"/>
              </a:solidFill>
            </a:endParaRP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up>
                            </m:sSup>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not perfect powers, integral terms need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compatibility: here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automatic when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824</m:t>
                    </m:r>
                  </m:oMath>
                </a14:m>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multiples of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824</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828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$\left(a^{1/p}+b^{1/q}\right)^n$</a:t>
                </a:r>
                <a:r>
                  <a:rPr sz="2400" b="0">
                    <a:solidFill>
                      <a:srgbClr val="111827"/>
                    </a:solidFill>
                    <a:latin typeface="Arial"/>
                  </a:rPr>
                  <a:t> with </a:t>
                </a:r>
                <a:r>
                  <a:rPr lang="en-IN" sz="2400">
                    <a:solidFill>
                      <a:srgbClr val="111827"/>
                    </a:solidFill>
                    <a:latin typeface="Cambria Math" panose="02040503050406030204" pitchFamily="18" charset="0"/>
                  </a:rPr>
                  <a:t>$a,b$</a:t>
                </a:r>
                <a:r>
                  <a:rPr sz="2400" b="0">
                    <a:solidFill>
                      <a:srgbClr val="111827"/>
                    </a:solidFill>
                    <a:latin typeface="Arial"/>
                  </a:rPr>
                  <a:t> not perfect powers, integral terms need </a:t>
                </a:r>
                <a:r>
                  <a:rPr lang="en-IN" sz="2400">
                    <a:solidFill>
                      <a:srgbClr val="111827"/>
                    </a:solidFill>
                    <a:latin typeface="Cambria Math" panose="02040503050406030204" pitchFamily="18" charset="0"/>
                  </a:rPr>
                  <a:t>$p\mid(n-r)$</a:t>
                </a:r>
                <a:r>
                  <a:rPr sz="2400" b="0">
                    <a:solidFill>
                      <a:srgbClr val="111827"/>
                    </a:solidFill>
                    <a:latin typeface="Arial"/>
                  </a:rPr>
                  <a:t> and </a:t>
                </a:r>
                <a:r>
                  <a:rPr lang="en-IN" sz="2400">
                    <a:solidFill>
                      <a:srgbClr val="111827"/>
                    </a:solidFill>
                    <a:latin typeface="Cambria Math" panose="02040503050406030204" pitchFamily="18" charset="0"/>
                  </a:rPr>
                  <a:t>$q\mid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compatibility: here </a:t>
                </a:r>
                <a:r>
                  <a:rPr lang="en-IN" sz="2400">
                    <a:solidFill>
                      <a:srgbClr val="111827"/>
                    </a:solidFill>
                    <a:latin typeface="Cambria Math" panose="02040503050406030204" pitchFamily="18" charset="0"/>
                  </a:rPr>
                  <a:t>$2\mid(824-r)$</a:t>
                </a:r>
                <a:r>
                  <a:rPr sz="2400" b="0">
                    <a:solidFill>
                      <a:srgbClr val="111827"/>
                    </a:solidFill>
                    <a:latin typeface="Arial"/>
                  </a:rPr>
                  <a:t> is automatic when </a:t>
                </a:r>
                <a:r>
                  <a:rPr lang="en-IN" sz="2400">
                    <a:solidFill>
                      <a:srgbClr val="111827"/>
                    </a:solidFill>
                    <a:latin typeface="Cambria Math" panose="02040503050406030204" pitchFamily="18" charset="0"/>
                  </a:rPr>
                  <a:t>$6\mid r$</a:t>
                </a:r>
                <a:r>
                  <a:rPr sz="2400" b="0">
                    <a:solidFill>
                      <a:srgbClr val="111827"/>
                    </a:solidFill>
                    <a:latin typeface="Arial"/>
                  </a:rPr>
                  <a:t> since </a:t>
                </a:r>
                <a:r>
                  <a:rPr lang="en-IN" sz="2400">
                    <a:solidFill>
                      <a:srgbClr val="111827"/>
                    </a:solidFill>
                    <a:latin typeface="Cambria Math" panose="02040503050406030204" pitchFamily="18" charset="0"/>
                  </a:rPr>
                  <a:t>$824$</a:t>
                </a:r>
                <a:r>
                  <a:rPr sz="2400" b="0">
                    <a:solidFill>
                      <a:srgbClr val="111827"/>
                    </a:solidFill>
                    <a:latin typeface="Arial"/>
                  </a:rPr>
                  <a:t> is even.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multiples of </a:t>
                </a:r>
                <a:r>
                  <a:rPr lang="en-IN" sz="2400">
                    <a:solidFill>
                      <a:srgbClr val="111827"/>
                    </a:solidFill>
                    <a:latin typeface="Cambria Math" panose="02040503050406030204" pitchFamily="18" charset="0"/>
                  </a:rPr>
                  <a:t>$d$</a:t>
                </a:r>
                <a:r>
                  <a:rPr sz="2400" b="0">
                    <a:solidFill>
                      <a:srgbClr val="111827"/>
                    </a:solidFill>
                    <a:latin typeface="Arial"/>
                  </a:rPr>
                  <a:t> in </a:t>
                </a:r>
                <a:r>
                  <a:rPr lang="en-IN" sz="2400">
                    <a:solidFill>
                      <a:srgbClr val="111827"/>
                    </a:solidFill>
                    <a:latin typeface="Cambria Math" panose="02040503050406030204" pitchFamily="18" charset="0"/>
                  </a:rPr>
                  <a:t>$[0,n]$</a:t>
                </a:r>
                <a:r>
                  <a:rPr sz="2400" b="0">
                    <a:solidFill>
                      <a:srgbClr val="111827"/>
                    </a:solidFill>
                    <a:latin typeface="Arial"/>
                  </a:rPr>
                  <a:t> as </a:t>
                </a:r>
                <a:r>
                  <a:rPr lang="en-IN" sz="2400">
                    <a:solidFill>
                      <a:srgbClr val="111827"/>
                    </a:solidFill>
                    <a:latin typeface="Cambria Math" panose="02040503050406030204" pitchFamily="18" charset="0"/>
                  </a:rPr>
                  <a:t>$\lfloor n/d\rfloor+1$</a:t>
                </a:r>
                <a:r>
                  <a:rPr sz="2400" b="0">
                    <a:solidFill>
                      <a:srgbClr val="111827"/>
                    </a:solidFill>
                    <a:latin typeface="Arial"/>
                  </a:rPr>
                  <a:t>: </a:t>
                </a:r>
                <a:r>
                  <a:rPr lang="en-IN" sz="2400">
                    <a:solidFill>
                      <a:srgbClr val="111827"/>
                    </a:solidFill>
                    <a:latin typeface="Cambria Math" panose="02040503050406030204" pitchFamily="18" charset="0"/>
                  </a:rPr>
                  <a:t>$\lfloor824/6\rfloor+1=137+1=138$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$6\cdot137=822\le824&lt;828$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557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f>
                          <m:fPr>
                            <m:type m:val="bar"/>
                            <m:ctrlPr>
                              <a:rPr lang="en-IN" sz="2400" i="1">
                                <a:solidFill>
                                  <a:srgbClr val="111827"/>
                                </a:solidFill>
                                <a:latin typeface="Cambria Math" panose="02040503050406030204" pitchFamily="18" charset="0"/>
                              </a:rPr>
                            </m:ctrlPr>
                          </m:fPr>
                          <m:num>
                            <m:sSup>
                              <m:e>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e>
                                </m:d>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nary>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e>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e>
                    </m:nary>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β</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equals ________.</a:t>
                </a:r>
                <a:endParaRPr sz="2400">
                  <a:solidFill>
                    <a:srgbClr val="111827"/>
                  </a:solidFill>
                </a:endParaRPr>
              </a:p>
            </p:txBody>
          </p:sp>
        </mc:Choice>
        <mc:Fallback>
          <p:sp>
            <p:nvSpPr>
              <p:cNvPr id="4" name="Rounded Rectangle 3"/>
              <p:cNvSpPr/>
              <p:nvPr/>
            </p:nvSpPr>
            <p:spPr>
              <a:xfrm>
                <a:off x="731520" y="1280160"/>
                <a:ext cx="10725912" cy="18557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$\alpha=\sum_{k=0}^{n}\dfrac{\left(\binom nk\right)^2}{k+1}$</a:t>
                </a:r>
                <a:r>
                  <a:rPr sz="2400" b="0">
                    <a:solidFill>
                      <a:srgbClr val="111827"/>
                    </a:solidFill>
                    <a:latin typeface="Arial"/>
                  </a:rPr>
                  <a:t> and </a:t>
                </a:r>
                <a:r>
                  <a:rPr lang="en-IN" sz="2400">
                    <a:solidFill>
                      <a:srgbClr val="111827"/>
                    </a:solidFill>
                    <a:latin typeface="Cambria Math" panose="02040503050406030204" pitchFamily="18" charset="0"/>
                  </a:rPr>
                  <a:t>$\beta=\sum_{k=0}^{n-1}\dfrac{\binom nk\binom n{k+1}}{k+2}$</a:t>
                </a:r>
                <a:r>
                  <a:rPr sz="2400" b="0">
                    <a:solidFill>
                      <a:srgbClr val="111827"/>
                    </a:solidFill>
                    <a:latin typeface="Arial"/>
                  </a:rPr>
                  <a:t>. If </a:t>
                </a:r>
                <a:r>
                  <a:rPr lang="en-IN" sz="2400">
                    <a:solidFill>
                      <a:srgbClr val="111827"/>
                    </a:solidFill>
                    <a:latin typeface="Cambria Math" panose="02040503050406030204" pitchFamily="18" charset="0"/>
                  </a:rPr>
                  <a:t>$5\alpha=6\beta$</a:t>
                </a:r>
                <a:r>
                  <a:rPr sz="2400" b="0">
                    <a:solidFill>
                      <a:srgbClr val="111827"/>
                    </a:solidFill>
                    <a:latin typeface="Arial"/>
                  </a:rPr>
                  <a:t>, then </a:t>
                </a:r>
                <a:r>
                  <a:rPr lang="en-IN" sz="2400">
                    <a:solidFill>
                      <a:srgbClr val="111827"/>
                    </a:solidFill>
                    <a:latin typeface="Cambria Math" panose="02040503050406030204" pitchFamily="18" charset="0"/>
                  </a:rPr>
                  <a:t>$n$</a:t>
                </a:r>
                <a:r>
                  <a:rPr sz="2400" b="0">
                    <a:solidFill>
                      <a:srgbClr val="111827"/>
                    </a:solidFill>
                    <a:latin typeface="Arial"/>
                  </a:rPr>
                  <a:t> equals ________.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364484"/>
                <a:ext cx="10725912" cy="20848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coefficient identities (Vandermonde with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weights)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Choice>
        <mc:Fallback>
          <p:sp>
            <p:nvSpPr>
              <p:cNvPr id="5" name="Rectangle 4"/>
              <p:cNvSpPr/>
              <p:nvPr/>
            </p:nvSpPr>
            <p:spPr>
              <a:xfrm>
                <a:off x="731520" y="3364484"/>
                <a:ext cx="10725912" cy="20848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coefficient identities (Vandermonde with </a:t>
                </a:r>
                <a:r>
                  <a:rPr lang="en-IN" sz="2400">
                    <a:solidFill>
                      <a:srgbClr val="111827"/>
                    </a:solidFill>
                    <a:latin typeface="Cambria Math" panose="02040503050406030204" pitchFamily="18" charset="0"/>
                  </a:rPr>
                  <a:t>$\frac{1}{k+1}$</a:t>
                </a:r>
                <a:r>
                  <a:rPr sz="2400" b="0">
                    <a:solidFill>
                      <a:srgbClr val="111827"/>
                    </a:solidFill>
                    <a:latin typeface="Arial"/>
                  </a:rPr>
                  <a:t> weights)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Fallback>
      </mc:AlternateContent>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𝑘</m:t>
                            </m:r>
                          </m:den>
                        </m:f>
                      </m:e>
                    </m:d>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e>
                    </m:d>
                  </m:oMath>
                </a14:m>
                <a:r>
                  <a:rPr sz="2400" b="0">
                    <a:solidFill>
                      <a:srgbClr val="78350F"/>
                    </a:solidFill>
                    <a:latin typeface="Arial"/>
                  </a:rPr>
                  <a:t> to turn both sums into Vandermonde convolutions: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e>
                    </m:d>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den>
                        </m:f>
                      </m:e>
                    </m:d>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a:t>
                </a:r>
                <a:r>
                  <a:rPr lang="en-IN" sz="2400">
                    <a:solidFill>
                      <a:srgbClr val="78350F"/>
                    </a:solidFill>
                    <a:latin typeface="Cambria Math" panose="02040503050406030204" pitchFamily="18" charset="0"/>
                  </a:rPr>
                  <a:t>$\frac{1}{k+1}\binom nk=\frac1{n+1}\binom{n+1}{k+1}$</a:t>
                </a:r>
                <a:r>
                  <a:rPr sz="2400" b="0">
                    <a:solidFill>
                      <a:srgbClr val="78350F"/>
                    </a:solidFill>
                    <a:latin typeface="Arial"/>
                  </a:rPr>
                  <a:t> to turn both sums into Vandermonde convolutions: </a:t>
                </a:r>
                <a:r>
                  <a:rPr lang="en-IN" sz="2400">
                    <a:solidFill>
                      <a:srgbClr val="78350F"/>
                    </a:solidFill>
                    <a:latin typeface="Cambria Math" panose="02040503050406030204" pitchFamily="18" charset="0"/>
                  </a:rPr>
                  <a:t>$\alpha=\frac{1}{n+1}\binom{2n+1}{n+1}$</a:t>
                </a:r>
                <a:r>
                  <a:rPr sz="2400" b="0">
                    <a:solidFill>
                      <a:srgbClr val="78350F"/>
                    </a:solidFill>
                    <a:latin typeface="Arial"/>
                  </a:rPr>
                  <a:t>, </a:t>
                </a:r>
                <a:r>
                  <a:rPr lang="en-IN" sz="2400">
                    <a:solidFill>
                      <a:srgbClr val="78350F"/>
                    </a:solidFill>
                    <a:latin typeface="Cambria Math" panose="02040503050406030204" pitchFamily="18" charset="0"/>
                  </a:rPr>
                  <a:t>$\beta=\frac1{n+1}\binom{2n+1}{n+2}$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lower indices add up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by Vandermonde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e>
                    </m: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e>
                    </m:d>
                  </m:oMath>
                </a14:m>
                <a:r>
                  <a:rPr sz="2400" b="0">
                    <a:solidFill>
                      <a:srgbClr val="111827"/>
                    </a:solidFill>
                    <a:latin typeface="Arial"/>
                  </a:rPr>
                  <a:t> (the missing term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$\dfrac{1}{k+1}\binom nk=\dfrac{1}{n+1}\binom{n+1}{k+1}$</a:t>
                </a:r>
                <a:r>
                  <a:rPr sz="2400" b="0">
                    <a:solidFill>
                      <a:srgbClr val="111827"/>
                    </a:solidFill>
                    <a:latin typeface="Arial"/>
                  </a:rPr>
                  <a:t>, so </a:t>
                </a:r>
                <a:r>
                  <a:rPr lang="en-IN" sz="2400">
                    <a:solidFill>
                      <a:srgbClr val="111827"/>
                    </a:solidFill>
                    <a:latin typeface="Cambria Math" panose="02040503050406030204" pitchFamily="18" charset="0"/>
                  </a:rPr>
                  <a:t>$\alpha=\dfrac1{n+1}\sum_{k=0}^{n}\binom nk\binom{n+1}{k+1}=\dfrac1{n+1}\sum_{k=0}^{n}\binom n{n-k}\binom{n+1}{k+1}$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lower indices add up to </a:t>
                </a:r>
                <a:r>
                  <a:rPr lang="en-IN" sz="2400">
                    <a:solidFill>
                      <a:srgbClr val="111827"/>
                    </a:solidFill>
                    <a:latin typeface="Cambria Math" panose="02040503050406030204" pitchFamily="18" charset="0"/>
                  </a:rPr>
                  <a:t>$(n-k)+(k+1)=n+1$</a:t>
                </a:r>
                <a:r>
                  <a:rPr sz="2400" b="0">
                    <a:solidFill>
                      <a:srgbClr val="111827"/>
                    </a:solidFill>
                    <a:latin typeface="Arial"/>
                  </a:rPr>
                  <a:t>, so by Vandermonde </a:t>
                </a:r>
                <a:r>
                  <a:rPr lang="en-IN" sz="2400">
                    <a:solidFill>
                      <a:srgbClr val="111827"/>
                    </a:solidFill>
                    <a:latin typeface="Cambria Math" panose="02040503050406030204" pitchFamily="18" charset="0"/>
                  </a:rPr>
                  <a:t>$\alpha=\dfrac{1}{n+1}\binom{2n+1}{n+1}$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$\dfrac{1}{k+2}\binom n{k+1}=\dfrac{1}{n+1}\binom{n+1}{k+2}$</a:t>
                </a:r>
                <a:r>
                  <a:rPr sz="2400" b="0">
                    <a:solidFill>
                      <a:srgbClr val="111827"/>
                    </a:solidFill>
                    <a:latin typeface="Arial"/>
                  </a:rPr>
                  <a:t>, so </a:t>
                </a:r>
                <a:r>
                  <a:rPr lang="en-IN" sz="2400">
                    <a:solidFill>
                      <a:srgbClr val="111827"/>
                    </a:solidFill>
                    <a:latin typeface="Cambria Math" panose="02040503050406030204" pitchFamily="18" charset="0"/>
                  </a:rPr>
                  <a:t>$\beta=\dfrac{1}{n+1}\sum_{k=0}^{n-1}\binom n{n-k}\binom{n+1}{k+2}$</a:t>
                </a:r>
                <a:r>
                  <a:rPr sz="2400" b="0">
                    <a:solidFill>
                      <a:srgbClr val="111827"/>
                    </a:solidFill>
                    <a:latin typeface="Arial"/>
                  </a:rPr>
                  <a:t> (the missing term </a:t>
                </a:r>
                <a:r>
                  <a:rPr lang="en-IN" sz="2400">
                    <a:solidFill>
                      <a:srgbClr val="111827"/>
                    </a:solidFill>
                    <a:latin typeface="Cambria Math" panose="02040503050406030204" pitchFamily="18" charset="0"/>
                  </a:rPr>
                  <a:t>$k=n$</a:t>
                </a:r>
                <a:r>
                  <a:rPr sz="2400" b="0">
                    <a:solidFill>
                      <a:srgbClr val="111827"/>
                    </a:solidFill>
                    <a:latin typeface="Arial"/>
                  </a:rPr>
                  <a:t> is </a:t>
                </a:r>
                <a:r>
                  <a:rPr lang="en-IN" sz="2400">
                    <a:solidFill>
                      <a:srgbClr val="111827"/>
                    </a:solidFill>
                    <a:latin typeface="Cambria Math" panose="02040503050406030204" pitchFamily="18" charset="0"/>
                  </a:rPr>
                  <a:t>$\binom{n+1}{n+2}=0$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Now the lower indices add up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α</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oMath>
                </a14:m>
                <a:r>
                  <a:rPr sz="2400" b="0">
                    <a:solidFill>
                      <a:srgbClr val="111827"/>
                    </a:solidFill>
                    <a:latin typeface="Arial"/>
                  </a:rPr>
                  <a:t> (using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𝑗</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𝑗</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α</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Now the lower indices add up to </a:t>
                </a:r>
                <a:r>
                  <a:rPr lang="en-IN" sz="2400">
                    <a:solidFill>
                      <a:srgbClr val="111827"/>
                    </a:solidFill>
                    <a:latin typeface="Cambria Math" panose="02040503050406030204" pitchFamily="18" charset="0"/>
                  </a:rPr>
                  <a:t>$(n-k)+(k+2)=n+2$</a:t>
                </a:r>
                <a:r>
                  <a:rPr sz="2400" b="0">
                    <a:solidFill>
                      <a:srgbClr val="111827"/>
                    </a:solidFill>
                    <a:latin typeface="Arial"/>
                  </a:rPr>
                  <a:t>, so </a:t>
                </a:r>
                <a:r>
                  <a:rPr lang="en-IN" sz="2400">
                    <a:solidFill>
                      <a:srgbClr val="111827"/>
                    </a:solidFill>
                    <a:latin typeface="Cambria Math" panose="02040503050406030204" pitchFamily="18" charset="0"/>
                  </a:rPr>
                  <a:t>$\beta=\dfrac{1}{n+1}\binom{2n+1}{n+2}$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$\dfrac\beta\alpha=\dfrac{\binom{2n+1}{n+2}}{\binom{2n+1}{n+1}}=\dfrac{(2n+1)-(n+1)}{n+2}=\dfrac{n}{n+2}$</a:t>
                </a:r>
                <a:r>
                  <a:rPr sz="2400" b="0">
                    <a:solidFill>
                      <a:srgbClr val="111827"/>
                    </a:solidFill>
                    <a:latin typeface="Arial"/>
                  </a:rPr>
                  <a:t> (using </a:t>
                </a:r>
                <a:r>
                  <a:rPr lang="en-IN" sz="2400">
                    <a:solidFill>
                      <a:srgbClr val="111827"/>
                    </a:solidFill>
                    <a:latin typeface="Cambria Math" panose="02040503050406030204" pitchFamily="18" charset="0"/>
                  </a:rPr>
                  <a:t>$\binom Nj\big/\binom N{j-1}=\frac{N-j+1}{j}$</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$5\alpha=6\beta\Rightarrow\dfrac\beta\alpha=\dfrac56\Rightarrow\dfrac{n}{n+2}=\dfrac56\Rightarrow6n=5n+10\Rightarrow n=10$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10</a:t>
            </a:r>
            <a:endParaRPr sz="2800">
              <a:solidFill>
                <a:srgbClr val="15803D"/>
              </a:solidFill>
            </a:endParaRP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Absorption: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Vandermonde: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𝑘</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𝑚</m:t>
                            </m:r>
                          </m:den>
                        </m:f>
                      </m:e>
                    </m:d>
                  </m:oMath>
                </a14:m>
                <a:r>
                  <a:rPr sz="2400" b="0">
                    <a:solidFill>
                      <a:srgbClr val="111827"/>
                    </a:solidFill>
                    <a:latin typeface="Arial"/>
                  </a:rPr>
                  <a:t>; rewrite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oMath>
                </a14:m>
                <a:r>
                  <a:rPr sz="2400" b="0">
                    <a:solidFill>
                      <a:srgbClr val="111827"/>
                    </a:solidFill>
                    <a:latin typeface="Arial"/>
                  </a:rPr>
                  <a:t> so the lower indices have a fixed sum.</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oMath>
                </a14:m>
                <a:r>
                  <a:rPr sz="2400" b="0">
                    <a:solidFill>
                      <a:srgbClr val="111827"/>
                    </a:solidFill>
                    <a:latin typeface="Arial"/>
                  </a:rPr>
                  <a:t> is a handy ratio;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Absorption: </a:t>
                </a:r>
                <a:r>
                  <a:rPr lang="en-IN" sz="2400">
                    <a:solidFill>
                      <a:srgbClr val="111827"/>
                    </a:solidFill>
                    <a:latin typeface="Cambria Math" panose="02040503050406030204" pitchFamily="18" charset="0"/>
                  </a:rPr>
                  <a:t>$\frac1{k+1}\binom nk=\frac{1}{n+1}\binom{n+1}{k+1}$</a:t>
                </a:r>
                <a:r>
                  <a:rPr sz="2400" b="0">
                    <a:solidFill>
                      <a:srgbClr val="111827"/>
                    </a:solidFill>
                    <a:latin typeface="Arial"/>
                  </a:rPr>
                  <a:t> and </a:t>
                </a:r>
                <a:r>
                  <a:rPr lang="en-IN" sz="2400">
                    <a:solidFill>
                      <a:srgbClr val="111827"/>
                    </a:solidFill>
                    <a:latin typeface="Cambria Math" panose="02040503050406030204" pitchFamily="18" charset="0"/>
                  </a:rPr>
                  <a:t>$\frac1{k+2}\binom n{k+1}=\frac1{n+1}\binom{n+1}{k+2}$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Vandermonde: </a:t>
                </a:r>
                <a:r>
                  <a:rPr lang="en-IN" sz="2400">
                    <a:solidFill>
                      <a:srgbClr val="111827"/>
                    </a:solidFill>
                    <a:latin typeface="Cambria Math" panose="02040503050406030204" pitchFamily="18" charset="0"/>
                  </a:rPr>
                  <a:t>$\sum_k\binom a{k}\binom b{m-k}=\binom{a+b}{m}$</a:t>
                </a:r>
                <a:r>
                  <a:rPr sz="2400" b="0">
                    <a:solidFill>
                      <a:srgbClr val="111827"/>
                    </a:solidFill>
                    <a:latin typeface="Arial"/>
                  </a:rPr>
                  <a:t>; rewrite </a:t>
                </a:r>
                <a:r>
                  <a:rPr lang="en-IN" sz="2400">
                    <a:solidFill>
                      <a:srgbClr val="111827"/>
                    </a:solidFill>
                    <a:latin typeface="Cambria Math" panose="02040503050406030204" pitchFamily="18" charset="0"/>
                  </a:rPr>
                  <a:t>$\binom nk=\binom n{n-k}$</a:t>
                </a:r>
                <a:r>
                  <a:rPr sz="2400" b="0">
                    <a:solidFill>
                      <a:srgbClr val="111827"/>
                    </a:solidFill>
                    <a:latin typeface="Arial"/>
                  </a:rPr>
                  <a:t> so the lower indices have a fixed sum.</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$\alpha=\frac{1}{n+1}\binom{2n+1}{n+1}$</a:t>
                </a:r>
                <a:r>
                  <a:rPr sz="2400" b="0">
                    <a:solidFill>
                      <a:srgbClr val="111827"/>
                    </a:solidFill>
                    <a:latin typeface="Arial"/>
                  </a:rPr>
                  <a:t> (for </a:t>
                </a:r>
                <a:r>
                  <a:rPr lang="en-IN" sz="2400">
                    <a:solidFill>
                      <a:srgbClr val="111827"/>
                    </a:solidFill>
                    <a:latin typeface="Cambria Math" panose="02040503050406030204" pitchFamily="18" charset="0"/>
                  </a:rPr>
                  <a:t>$n=1$</a:t>
                </a:r>
                <a:r>
                  <a:rPr sz="2400" b="0">
                    <a:solidFill>
                      <a:srgbClr val="111827"/>
                    </a:solidFill>
                    <a:latin typeface="Arial"/>
                  </a:rPr>
                  <a:t>: </a:t>
                </a:r>
                <a:r>
                  <a:rPr lang="en-IN" sz="2400">
                    <a:solidFill>
                      <a:srgbClr val="111827"/>
                    </a:solidFill>
                    <a:latin typeface="Cambria Math" panose="02040503050406030204" pitchFamily="18" charset="0"/>
                  </a:rPr>
                  <a:t>$\frac12\cdot3=\frac32=1+\frac12$</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$\beta/\alpha=\frac{n}{n+2}$</a:t>
                </a:r>
                <a:r>
                  <a:rPr sz="2400" b="0">
                    <a:solidFill>
                      <a:srgbClr val="111827"/>
                    </a:solidFill>
                    <a:latin typeface="Arial"/>
                  </a:rPr>
                  <a:t> is a handy ratio; for </a:t>
                </a:r>
                <a:r>
                  <a:rPr lang="en-IN" sz="2400">
                    <a:solidFill>
                      <a:srgbClr val="111827"/>
                    </a:solidFill>
                    <a:latin typeface="Cambria Math" panose="02040503050406030204" pitchFamily="18" charset="0"/>
                  </a:rPr>
                  <a:t>$n=10$</a:t>
                </a:r>
                <a:r>
                  <a:rPr sz="2400" b="0">
                    <a:solidFill>
                      <a:srgbClr val="111827"/>
                    </a:solidFill>
                    <a:latin typeface="Arial"/>
                  </a:rPr>
                  <a:t>: </a:t>
                </a:r>
                <a:r>
                  <a:rPr lang="en-IN" sz="2400">
                    <a:solidFill>
                      <a:srgbClr val="111827"/>
                    </a:solidFill>
                    <a:latin typeface="Cambria Math" panose="02040503050406030204" pitchFamily="18" charset="0"/>
                  </a:rPr>
                  <a:t>$\frac{10}{12}=\frac56$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96545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the expansion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sum of the coefficients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sup>
                    </m:sSup>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196545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the expansion of </a:t>
                </a:r>
                <a:r>
                  <a:rPr lang="en-IN" sz="2400">
                    <a:solidFill>
                      <a:srgbClr val="111827"/>
                    </a:solidFill>
                    <a:latin typeface="Cambria Math" panose="02040503050406030204" pitchFamily="18" charset="0"/>
                  </a:rPr>
                  <a:t>$(1+x)(1-x^2)\left(1+\dfrac3x+\dfrac{3}{x^2}+\dfrac{1}{x^3}\right)^{5}$</a:t>
                </a:r>
                <a:r>
                  <a:rPr sz="2400" b="0">
                    <a:solidFill>
                      <a:srgbClr val="111827"/>
                    </a:solidFill>
                    <a:latin typeface="Arial"/>
                  </a:rPr>
                  <a:t>, </a:t>
                </a:r>
                <a:r>
                  <a:rPr lang="en-IN" sz="2400">
                    <a:solidFill>
                      <a:srgbClr val="111827"/>
                    </a:solidFill>
                    <a:latin typeface="Cambria Math" panose="02040503050406030204" pitchFamily="18" charset="0"/>
                  </a:rPr>
                  <a:t>$x\ne0$</a:t>
                </a:r>
                <a:r>
                  <a:rPr sz="2400" b="0">
                    <a:solidFill>
                      <a:srgbClr val="111827"/>
                    </a:solidFill>
                    <a:latin typeface="Arial"/>
                  </a:rPr>
                  <a:t>, the sum of the coefficients of </a:t>
                </a:r>
                <a:r>
                  <a:rPr lang="en-IN" sz="2400">
                    <a:solidFill>
                      <a:srgbClr val="111827"/>
                    </a:solidFill>
                    <a:latin typeface="Cambria Math" panose="02040503050406030204" pitchFamily="18" charset="0"/>
                  </a:rPr>
                  <a:t>$x^{3}$</a:t>
                </a:r>
                <a:r>
                  <a:rPr sz="2400" b="0">
                    <a:solidFill>
                      <a:srgbClr val="111827"/>
                    </a:solidFill>
                    <a:latin typeface="Arial"/>
                  </a:rPr>
                  <a:t> and </a:t>
                </a:r>
                <a:r>
                  <a:rPr lang="en-IN" sz="2400">
                    <a:solidFill>
                      <a:srgbClr val="111827"/>
                    </a:solidFill>
                    <a:latin typeface="Cambria Math" panose="02040503050406030204" pitchFamily="18" charset="0"/>
                  </a:rPr>
                  <a:t>$x^{-13}$</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474212"/>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Coefficient extraction after factorising the expression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r>
                          <a:rPr lang="en-IN" sz="2400" i="1">
                            <a:solidFill>
                              <a:srgbClr val="78350F"/>
                            </a:solidFill>
                            <a:latin typeface="Cambria Math" panose="02040503050406030204" pitchFamily="18" charset="0"/>
                          </a:rPr>
                          <m:t>𝑥</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den>
                    </m:f>
                    <m:r>
                      <m:rPr>
                        <m:sty m:val="p"/>
                      </m:rPr>
                      <a:rPr lang="en-IN" sz="2400">
                        <a:solidFill>
                          <a:srgbClr val="78350F"/>
                        </a:solidFill>
                        <a:latin typeface="Cambria Math" panose="02040503050406030204" pitchFamily="18" charset="0"/>
                      </a:rPr>
                      <m:t>=</m:t>
                    </m:r>
                    <m:sSup>
                      <m:e>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𝑥</m:t>
                                </m:r>
                              </m:den>
                            </m:f>
                          </m:e>
                        </m:d>
                      </m:e>
                      <m:sup>
                        <m:r>
                          <a:rPr lang="en-IN" sz="2400" i="1">
                            <a:solidFill>
                              <a:srgbClr val="78350F"/>
                            </a:solidFill>
                            <a:latin typeface="Cambria Math" panose="02040503050406030204" pitchFamily="18" charset="0"/>
                          </a:rPr>
                          <m:t>3</m:t>
                        </m:r>
                      </m:sup>
                    </m:sSup>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turn the expression into </a:t>
                </a:r>
                <a14:m>
                  <m:oMath xmlns:m="http://schemas.openxmlformats.org/officeDocument/2006/math">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17</m:t>
                            </m:r>
                          </m:sup>
                        </m:sSup>
                      </m:num>
                      <m:den>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15</m:t>
                            </m:r>
                          </m:sup>
                        </m:sSup>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$1+\frac3x+\frac3{x^2}+\frac1{x^3}=\left(1+\frac1x\right)^3$</a:t>
                </a:r>
                <a:r>
                  <a:rPr sz="2400" b="0">
                    <a:solidFill>
                      <a:srgbClr val="78350F"/>
                    </a:solidFill>
                    <a:latin typeface="Arial"/>
                  </a:rPr>
                  <a:t> and </a:t>
                </a:r>
                <a:r>
                  <a:rPr lang="en-IN" sz="2400">
                    <a:solidFill>
                      <a:srgbClr val="78350F"/>
                    </a:solidFill>
                    <a:latin typeface="Cambria Math" panose="02040503050406030204" pitchFamily="18" charset="0"/>
                  </a:rPr>
                  <a:t>$1-x^2=(1-x)(1+x)$</a:t>
                </a:r>
                <a:r>
                  <a:rPr sz="2400" b="0">
                    <a:solidFill>
                      <a:srgbClr val="78350F"/>
                    </a:solidFill>
                    <a:latin typeface="Arial"/>
                  </a:rPr>
                  <a:t> turn the expression into </a:t>
                </a:r>
                <a:r>
                  <a:rPr lang="en-IN" sz="2400">
                    <a:solidFill>
                      <a:srgbClr val="78350F"/>
                    </a:solidFill>
                    <a:latin typeface="Cambria Math" panose="02040503050406030204" pitchFamily="18" charset="0"/>
                  </a:rPr>
                  <a:t>$\frac{(1-x)(1+x)^{17}}{x^{15}}$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so the fifth power is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15</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expression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15</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in the expression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18</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$1+\dfrac3x+\dfrac3{x^2}+\dfrac1{x^3}=\left(1+\dfrac1x\right)^3$</a:t>
                </a:r>
                <a:r>
                  <a:rPr sz="2400" b="0">
                    <a:solidFill>
                      <a:srgbClr val="111827"/>
                    </a:solidFill>
                    <a:latin typeface="Arial"/>
                  </a:rPr>
                  <a:t>, so the fifth power is </a:t>
                </a:r>
                <a:r>
                  <a:rPr lang="en-IN" sz="2400">
                    <a:solidFill>
                      <a:srgbClr val="111827"/>
                    </a:solidFill>
                    <a:latin typeface="Cambria Math" panose="02040503050406030204" pitchFamily="18" charset="0"/>
                  </a:rPr>
                  <a:t>$\left(1+\dfrac1x\right)^{15}=\dfrac{(1+x)^{15}}{x^{15}}$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$(1+x)(1-x^2)=(1+x)^2(1-x)$</a:t>
                </a:r>
                <a:r>
                  <a:rPr sz="2400" b="0">
                    <a:solidFill>
                      <a:srgbClr val="111827"/>
                    </a:solidFill>
                    <a:latin typeface="Arial"/>
                  </a:rPr>
                  <a:t>, so the expression is </a:t>
                </a:r>
                <a:r>
                  <a:rPr lang="en-IN" sz="2400">
                    <a:solidFill>
                      <a:srgbClr val="111827"/>
                    </a:solidFill>
                    <a:latin typeface="Cambria Math" panose="02040503050406030204" pitchFamily="18" charset="0"/>
                  </a:rPr>
                  <a:t>$\dfrac{(1+x)^2(1-x)(1+x)^{15}}{x^{15}}=\dfrac{(1+x)^{17}-x(1+x)^{17}}{x^{15}}$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$x^3$</a:t>
                </a:r>
                <a:r>
                  <a:rPr sz="2400" b="0">
                    <a:solidFill>
                      <a:srgbClr val="111827"/>
                    </a:solidFill>
                    <a:latin typeface="Arial"/>
                  </a:rPr>
                  <a:t> in the expression </a:t>
                </a:r>
                <a:r>
                  <a:rPr lang="en-IN" sz="2400">
                    <a:solidFill>
                      <a:srgbClr val="111827"/>
                    </a:solidFill>
                    <a:latin typeface="Cambria Math" panose="02040503050406030204" pitchFamily="18" charset="0"/>
                  </a:rPr>
                  <a:t>$=$</a:t>
                </a:r>
                <a:r>
                  <a:rPr sz="2400" b="0">
                    <a:solidFill>
                      <a:srgbClr val="111827"/>
                    </a:solidFill>
                    <a:latin typeface="Arial"/>
                  </a:rPr>
                  <a:t> coefficient of </a:t>
                </a:r>
                <a:r>
                  <a:rPr lang="en-IN" sz="2400">
                    <a:solidFill>
                      <a:srgbClr val="111827"/>
                    </a:solidFill>
                    <a:latin typeface="Cambria Math" panose="02040503050406030204" pitchFamily="18" charset="0"/>
                  </a:rPr>
                  <a:t>$x^{18}$</a:t>
                </a:r>
                <a:r>
                  <a:rPr sz="2400" b="0">
                    <a:solidFill>
                      <a:srgbClr val="111827"/>
                    </a:solidFill>
                    <a:latin typeface="Arial"/>
                  </a:rPr>
                  <a:t> in </a:t>
                </a:r>
                <a:r>
                  <a:rPr lang="en-IN" sz="2400">
                    <a:solidFill>
                      <a:srgbClr val="111827"/>
                    </a:solidFill>
                    <a:latin typeface="Cambria Math" panose="02040503050406030204" pitchFamily="18" charset="0"/>
                  </a:rPr>
                  <a:t>$(1+x)^{17}-x(1+x)^{17}$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oMath>
                </a14:m>
                <a:r>
                  <a:rPr sz="2400" b="0">
                    <a:solidFill>
                      <a:srgbClr val="111827"/>
                    </a:solidFill>
                    <a:latin typeface="Arial"/>
                  </a:rPr>
                  <a:t> there is no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18</m:t>
                        </m:r>
                      </m:sup>
                    </m:sSup>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oMath>
                </a14:m>
                <a:r>
                  <a:rPr sz="2400" b="0">
                    <a:solidFill>
                      <a:srgbClr val="111827"/>
                    </a:solidFill>
                    <a:latin typeface="Arial"/>
                  </a:rPr>
                  <a:t>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18</m:t>
                        </m:r>
                      </m:sup>
                    </m:sSup>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17</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the coefficient is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in the numerator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$(1+x)^{17}$</a:t>
                </a:r>
                <a:r>
                  <a:rPr sz="2400" b="0">
                    <a:solidFill>
                      <a:srgbClr val="111827"/>
                    </a:solidFill>
                    <a:latin typeface="Arial"/>
                  </a:rPr>
                  <a:t> there is no </a:t>
                </a:r>
                <a:r>
                  <a:rPr lang="en-IN" sz="2400">
                    <a:solidFill>
                      <a:srgbClr val="111827"/>
                    </a:solidFill>
                    <a:latin typeface="Cambria Math" panose="02040503050406030204" pitchFamily="18" charset="0"/>
                  </a:rPr>
                  <a:t>$x^{18}$</a:t>
                </a:r>
                <a:r>
                  <a:rPr sz="2400" b="0">
                    <a:solidFill>
                      <a:srgbClr val="111827"/>
                    </a:solidFill>
                    <a:latin typeface="Arial"/>
                  </a:rPr>
                  <a:t>; in </a:t>
                </a:r>
                <a:r>
                  <a:rPr lang="en-IN" sz="2400">
                    <a:solidFill>
                      <a:srgbClr val="111827"/>
                    </a:solidFill>
                    <a:latin typeface="Cambria Math" panose="02040503050406030204" pitchFamily="18" charset="0"/>
                  </a:rPr>
                  <a:t>$x(1+x)^{17}$</a:t>
                </a:r>
                <a:r>
                  <a:rPr sz="2400" b="0">
                    <a:solidFill>
                      <a:srgbClr val="111827"/>
                    </a:solidFill>
                    <a:latin typeface="Arial"/>
                  </a:rPr>
                  <a:t> the coefficient of </a:t>
                </a:r>
                <a:r>
                  <a:rPr lang="en-IN" sz="2400">
                    <a:solidFill>
                      <a:srgbClr val="111827"/>
                    </a:solidFill>
                    <a:latin typeface="Cambria Math" panose="02040503050406030204" pitchFamily="18" charset="0"/>
                  </a:rPr>
                  <a:t>$x^{18}$</a:t>
                </a:r>
                <a:r>
                  <a:rPr sz="2400" b="0">
                    <a:solidFill>
                      <a:srgbClr val="111827"/>
                    </a:solidFill>
                    <a:latin typeface="Arial"/>
                  </a:rPr>
                  <a:t> is </a:t>
                </a:r>
                <a:r>
                  <a:rPr lang="en-IN" sz="2400">
                    <a:solidFill>
                      <a:srgbClr val="111827"/>
                    </a:solidFill>
                    <a:latin typeface="Cambria Math" panose="02040503050406030204" pitchFamily="18" charset="0"/>
                  </a:rPr>
                  <a:t>$\binom{17}{17}=1$</a:t>
                </a:r>
                <a:r>
                  <a:rPr sz="2400" b="0">
                    <a:solidFill>
                      <a:srgbClr val="111827"/>
                    </a:solidFill>
                    <a:latin typeface="Arial"/>
                  </a:rPr>
                  <a:t>. So the coefficient is </a:t>
                </a:r>
                <a:r>
                  <a:rPr lang="en-IN" sz="2400">
                    <a:solidFill>
                      <a:srgbClr val="111827"/>
                    </a:solidFill>
                    <a:latin typeface="Cambria Math" panose="02040503050406030204" pitchFamily="18" charset="0"/>
                  </a:rPr>
                  <a:t>$0-1=-1$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$x^{-13}$</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coefficient of </a:t>
                </a:r>
                <a:r>
                  <a:rPr lang="en-IN" sz="2400">
                    <a:solidFill>
                      <a:srgbClr val="111827"/>
                    </a:solidFill>
                    <a:latin typeface="Cambria Math" panose="02040503050406030204" pitchFamily="18" charset="0"/>
                  </a:rPr>
                  <a:t>$x^{2}$</a:t>
                </a:r>
                <a:r>
                  <a:rPr sz="2400" b="0">
                    <a:solidFill>
                      <a:srgbClr val="111827"/>
                    </a:solidFill>
                    <a:latin typeface="Arial"/>
                  </a:rPr>
                  <a:t> in the numerator </a:t>
                </a:r>
                <a:r>
                  <a:rPr lang="en-IN" sz="2400">
                    <a:solidFill>
                      <a:srgbClr val="111827"/>
                    </a:solidFill>
                    <a:latin typeface="Cambria Math" panose="02040503050406030204" pitchFamily="18" charset="0"/>
                  </a:rPr>
                  <a:t>$=\binom{17}{2}-\binom{17}{1}=136-17=119$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$=-1+119=118$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118</a:t>
            </a:r>
            <a:endParaRPr sz="2800">
              <a:solidFill>
                <a:srgbClr val="15803D"/>
              </a:solidFill>
            </a:endParaRP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Group the factors as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16</m:t>
                        </m:r>
                      </m:sup>
                    </m:sSup>
                  </m:oMath>
                </a14:m>
                <a:r>
                  <a:rPr sz="2400" b="0">
                    <a:solidFill>
                      <a:srgbClr val="78350F"/>
                    </a:solidFill>
                    <a:latin typeface="Arial"/>
                  </a:rPr>
                  <a:t> instead, with smaller numbers.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Group the factors as </a:t>
                </a:r>
                <a:r>
                  <a:rPr lang="en-IN" sz="2400">
                    <a:solidFill>
                      <a:srgbClr val="78350F"/>
                    </a:solidFill>
                    <a:latin typeface="Cambria Math" panose="02040503050406030204" pitchFamily="18" charset="0"/>
                  </a:rPr>
                  <a:t>$(1-x^2)(1+x)^{16}$</a:t>
                </a:r>
                <a:r>
                  <a:rPr sz="2400" b="0">
                    <a:solidFill>
                      <a:srgbClr val="78350F"/>
                    </a:solidFill>
                    <a:latin typeface="Arial"/>
                  </a:rPr>
                  <a:t> instead, with smaller numbers.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the expression equals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16</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16</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18</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16</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16</m:t>
                        </m:r>
                      </m:sup>
                    </m:sSup>
                  </m:oMath>
                </a14:m>
                <a:r>
                  <a:rPr sz="2400" b="0">
                    <a:solidFill>
                      <a:srgbClr val="111827"/>
                    </a:solidFill>
                    <a:latin typeface="Arial"/>
                  </a:rPr>
                  <a:t> has degree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so only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16</m:t>
                        </m:r>
                      </m:sup>
                    </m:sSup>
                  </m:oMath>
                </a14:m>
                <a:r>
                  <a:rPr sz="2400" b="0">
                    <a:solidFill>
                      <a:srgbClr val="111827"/>
                    </a:solidFill>
                    <a:latin typeface="Arial"/>
                  </a:rPr>
                  <a:t> contributes: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16</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0</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118</m:t>
                    </m:r>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the expression equals </a:t>
                </a:r>
                <a:r>
                  <a:rPr lang="en-IN" sz="2400">
                    <a:solidFill>
                      <a:srgbClr val="111827"/>
                    </a:solidFill>
                    <a:latin typeface="Cambria Math" panose="02040503050406030204" pitchFamily="18" charset="0"/>
                  </a:rPr>
                  <a:t>$\dfrac{(1-x)(1+x)^{17}}{x^{15}}$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$(1-x)(1+x)^{17}=(1-x)(1+x)\cdot(1+x)^{16}=(1-x^2)(1+x)^{16}$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$x^{18}$</a:t>
                </a:r>
                <a:r>
                  <a:rPr sz="2400" b="0">
                    <a:solidFill>
                      <a:srgbClr val="111827"/>
                    </a:solidFill>
                    <a:latin typeface="Arial"/>
                  </a:rPr>
                  <a:t> in </a:t>
                </a:r>
                <a:r>
                  <a:rPr lang="en-IN" sz="2400">
                    <a:solidFill>
                      <a:srgbClr val="111827"/>
                    </a:solidFill>
                    <a:latin typeface="Cambria Math" panose="02040503050406030204" pitchFamily="18" charset="0"/>
                  </a:rPr>
                  <a:t>$(1-x^2)(1+x)^{16}$</a:t>
                </a:r>
                <a:r>
                  <a:rPr sz="2400" b="0">
                    <a:solidFill>
                      <a:srgbClr val="111827"/>
                    </a:solidFill>
                    <a:latin typeface="Arial"/>
                  </a:rPr>
                  <a:t>: </a:t>
                </a:r>
                <a:r>
                  <a:rPr lang="en-IN" sz="2400">
                    <a:solidFill>
                      <a:srgbClr val="111827"/>
                    </a:solidFill>
                    <a:latin typeface="Cambria Math" panose="02040503050406030204" pitchFamily="18" charset="0"/>
                  </a:rPr>
                  <a:t>$(1+x)^{16}$</a:t>
                </a:r>
                <a:r>
                  <a:rPr sz="2400" b="0">
                    <a:solidFill>
                      <a:srgbClr val="111827"/>
                    </a:solidFill>
                    <a:latin typeface="Arial"/>
                  </a:rPr>
                  <a:t> has degree </a:t>
                </a:r>
                <a:r>
                  <a:rPr lang="en-IN" sz="2400">
                    <a:solidFill>
                      <a:srgbClr val="111827"/>
                    </a:solidFill>
                    <a:latin typeface="Cambria Math" panose="02040503050406030204" pitchFamily="18" charset="0"/>
                  </a:rPr>
                  <a:t>$16$</a:t>
                </a:r>
                <a:r>
                  <a:rPr sz="2400" b="0">
                    <a:solidFill>
                      <a:srgbClr val="111827"/>
                    </a:solidFill>
                    <a:latin typeface="Arial"/>
                  </a:rPr>
                  <a:t>, so only </a:t>
                </a:r>
                <a:r>
                  <a:rPr lang="en-IN" sz="2400">
                    <a:solidFill>
                      <a:srgbClr val="111827"/>
                    </a:solidFill>
                    <a:latin typeface="Cambria Math" panose="02040503050406030204" pitchFamily="18" charset="0"/>
                  </a:rPr>
                  <a:t>$-x^2\cdot x^{16}$</a:t>
                </a:r>
                <a:r>
                  <a:rPr sz="2400" b="0">
                    <a:solidFill>
                      <a:srgbClr val="111827"/>
                    </a:solidFill>
                    <a:latin typeface="Arial"/>
                  </a:rPr>
                  <a:t> contributes: </a:t>
                </a:r>
                <a:r>
                  <a:rPr lang="en-IN" sz="2400">
                    <a:solidFill>
                      <a:srgbClr val="111827"/>
                    </a:solidFill>
                    <a:latin typeface="Cambria Math" panose="02040503050406030204" pitchFamily="18" charset="0"/>
                  </a:rPr>
                  <a:t>$-\binom{16}{16}=-1$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$\binom{16}{2}-\binom{16}{0}=120-1=119$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$=-1+119=118$</a:t>
                </a:r>
                <a:r>
                  <a:rPr sz="2400" b="0">
                    <a:solidFill>
                      <a:srgbClr val="111827"/>
                    </a:solidFill>
                    <a:latin typeface="Arial"/>
                  </a:rPr>
                  <a:t>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118</a:t>
            </a:r>
            <a:endParaRPr sz="2800">
              <a:solidFill>
                <a:srgbClr val="15803D"/>
              </a:solidFill>
            </a:endParaRP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 recognise perfect-cube patterns before expanding.</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Shift trick: a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𝑝</m:t>
                        </m:r>
                      </m:sup>
                    </m:sSup>
                  </m:oMath>
                </a14:m>
                <a:r>
                  <a:rPr sz="2400" b="0">
                    <a:solidFill>
                      <a:srgbClr val="111827"/>
                    </a:solidFill>
                    <a:latin typeface="Arial"/>
                  </a:rPr>
                  <a:t> in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sup>
                        </m:sSup>
                      </m:den>
                    </m:f>
                  </m:oMath>
                </a14:m>
                <a:r>
                  <a:rPr sz="2400" b="0">
                    <a:solidFill>
                      <a:srgbClr val="111827"/>
                    </a:solidFill>
                    <a:latin typeface="Arial"/>
                  </a:rPr>
                  <a:t> is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sup>
                    </m:sSup>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sup>
                    </m:sSup>
                  </m:oMath>
                </a14:m>
                <a:r>
                  <a:rPr sz="2400" b="0">
                    <a:solidFill>
                      <a:srgbClr val="111827"/>
                    </a:solidFill>
                    <a:latin typeface="Arial"/>
                  </a:rPr>
                  <a:t> needs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of the numerator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needs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18</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above the degree </a:t>
                </a:r>
                <a14:m>
                  <m:oMath xmlns:m="http://schemas.openxmlformats.org/officeDocument/2006/math">
                    <m:r>
                      <a:rPr lang="en-IN" sz="2400" i="1">
                        <a:solidFill>
                          <a:srgbClr val="111827"/>
                        </a:solidFill>
                        <a:latin typeface="Cambria Math" panose="02040503050406030204" pitchFamily="18" charset="0"/>
                      </a:rPr>
                      <m:t>17</m:t>
                    </m:r>
                  </m:oMath>
                </a14:m>
                <a:r>
                  <a:rPr sz="2400" b="0">
                    <a:solidFill>
                      <a:srgbClr val="111827"/>
                    </a:solidFill>
                    <a:latin typeface="Arial"/>
                  </a:rPr>
                  <a:t>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oMath>
                </a14:m>
                <a:r>
                  <a:rPr sz="2400" b="0">
                    <a:solidFill>
                      <a:srgbClr val="111827"/>
                    </a:solidFill>
                    <a:latin typeface="Arial"/>
                  </a:rPr>
                  <a:t>, so only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17</m:t>
                        </m:r>
                      </m:sup>
                    </m:sSup>
                  </m:oMath>
                </a14:m>
                <a:r>
                  <a:rPr sz="2400" b="0">
                    <a:solidFill>
                      <a:srgbClr val="111827"/>
                    </a:solidFill>
                    <a:latin typeface="Arial"/>
                  </a:rPr>
                  <a:t> reaches it.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$(1+\frac1x)^3=1+\frac3x+\frac3{x^2}+\frac1{x^3}$</a:t>
                </a:r>
                <a:r>
                  <a:rPr sz="2400" b="0">
                    <a:solidFill>
                      <a:srgbClr val="111827"/>
                    </a:solidFill>
                    <a:latin typeface="Arial"/>
                  </a:rPr>
                  <a:t>: recognise perfect-cube patterns before expanding.</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$(1+x)(1-x^2)=(1-x)(1+x)^2$</a:t>
                </a:r>
                <a:r>
                  <a:rPr sz="2400" b="0">
                    <a:solidFill>
                      <a:srgbClr val="111827"/>
                    </a:solidFill>
                    <a:latin typeface="Arial"/>
                  </a:rPr>
                  <a:t> and </a:t>
                </a:r>
                <a:r>
                  <a:rPr lang="en-IN" sz="2400">
                    <a:solidFill>
                      <a:srgbClr val="111827"/>
                    </a:solidFill>
                    <a:latin typeface="Cambria Math" panose="02040503050406030204" pitchFamily="18" charset="0"/>
                  </a:rPr>
                  <a:t>$(1-x)(1+x)^m=(1+x)^{m}-x(1+x)^m$</a:t>
                </a:r>
                <a:r>
                  <a:rPr sz="2400" b="0">
                    <a:solidFill>
                      <a:srgbClr val="111827"/>
                    </a:solidFill>
                    <a:latin typeface="Arial"/>
                  </a:rPr>
                  <a:t> or </a:t>
                </a:r>
                <a:r>
                  <a:rPr lang="en-IN" sz="2400">
                    <a:solidFill>
                      <a:srgbClr val="111827"/>
                    </a:solidFill>
                    <a:latin typeface="Cambria Math" panose="02040503050406030204" pitchFamily="18" charset="0"/>
                  </a:rPr>
                  <a:t>$(1-x^2)(1+x)^{m-1}$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Shift trick: a coefficient of </a:t>
                </a:r>
                <a:r>
                  <a:rPr lang="en-IN" sz="2400">
                    <a:solidFill>
                      <a:srgbClr val="111827"/>
                    </a:solidFill>
                    <a:latin typeface="Cambria Math" panose="02040503050406030204" pitchFamily="18" charset="0"/>
                  </a:rPr>
                  <a:t>$x^{p}$</a:t>
                </a:r>
                <a:r>
                  <a:rPr sz="2400" b="0">
                    <a:solidFill>
                      <a:srgbClr val="111827"/>
                    </a:solidFill>
                    <a:latin typeface="Arial"/>
                  </a:rPr>
                  <a:t> in </a:t>
                </a:r>
                <a:r>
                  <a:rPr lang="en-IN" sz="2400">
                    <a:solidFill>
                      <a:srgbClr val="111827"/>
                    </a:solidFill>
                    <a:latin typeface="Cambria Math" panose="02040503050406030204" pitchFamily="18" charset="0"/>
                  </a:rPr>
                  <a:t>$\frac{N(x)}{x^{15}}$</a:t>
                </a:r>
                <a:r>
                  <a:rPr sz="2400" b="0">
                    <a:solidFill>
                      <a:srgbClr val="111827"/>
                    </a:solidFill>
                    <a:latin typeface="Arial"/>
                  </a:rPr>
                  <a:t> is the coefficient of </a:t>
                </a:r>
                <a:r>
                  <a:rPr lang="en-IN" sz="2400">
                    <a:solidFill>
                      <a:srgbClr val="111827"/>
                    </a:solidFill>
                    <a:latin typeface="Cambria Math" panose="02040503050406030204" pitchFamily="18" charset="0"/>
                  </a:rPr>
                  <a:t>$x^{p+15}$</a:t>
                </a:r>
                <a:r>
                  <a:rPr sz="2400" b="0">
                    <a:solidFill>
                      <a:srgbClr val="111827"/>
                    </a:solidFill>
                    <a:latin typeface="Arial"/>
                  </a:rPr>
                  <a:t> in </a:t>
                </a:r>
                <a:r>
                  <a:rPr lang="en-IN" sz="2400">
                    <a:solidFill>
                      <a:srgbClr val="111827"/>
                    </a:solidFill>
                    <a:latin typeface="Cambria Math" panose="02040503050406030204" pitchFamily="18" charset="0"/>
                  </a:rPr>
                  <a:t>$N(x)$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$x^{-13}$</a:t>
                </a:r>
                <a:r>
                  <a:rPr sz="2400" b="0">
                    <a:solidFill>
                      <a:srgbClr val="111827"/>
                    </a:solidFill>
                    <a:latin typeface="Arial"/>
                  </a:rPr>
                  <a:t> needs </a:t>
                </a:r>
                <a:r>
                  <a:rPr lang="en-IN" sz="2400">
                    <a:solidFill>
                      <a:srgbClr val="111827"/>
                    </a:solidFill>
                    <a:latin typeface="Cambria Math" panose="02040503050406030204" pitchFamily="18" charset="0"/>
                  </a:rPr>
                  <a:t>$x^{2}$</a:t>
                </a:r>
                <a:r>
                  <a:rPr sz="2400" b="0">
                    <a:solidFill>
                      <a:srgbClr val="111827"/>
                    </a:solidFill>
                    <a:latin typeface="Arial"/>
                  </a:rPr>
                  <a:t> of the numerator (</a:t>
                </a:r>
                <a:r>
                  <a:rPr lang="en-IN" sz="2400">
                    <a:solidFill>
                      <a:srgbClr val="111827"/>
                    </a:solidFill>
                    <a:latin typeface="Cambria Math" panose="02040503050406030204" pitchFamily="18" charset="0"/>
                  </a:rPr>
                  <a:t>$-13+15=2$</a:t>
                </a:r>
                <a:r>
                  <a:rPr sz="2400" b="0">
                    <a:solidFill>
                      <a:srgbClr val="111827"/>
                    </a:solidFill>
                    <a:latin typeface="Arial"/>
                  </a:rPr>
                  <a:t>); </a:t>
                </a:r>
                <a:r>
                  <a:rPr lang="en-IN" sz="2400">
                    <a:solidFill>
                      <a:srgbClr val="111827"/>
                    </a:solidFill>
                    <a:latin typeface="Cambria Math" panose="02040503050406030204" pitchFamily="18" charset="0"/>
                  </a:rPr>
                  <a:t>$x^{3}$</a:t>
                </a:r>
                <a:r>
                  <a:rPr sz="2400" b="0">
                    <a:solidFill>
                      <a:srgbClr val="111827"/>
                    </a:solidFill>
                    <a:latin typeface="Arial"/>
                  </a:rPr>
                  <a:t> needs </a:t>
                </a:r>
                <a:r>
                  <a:rPr lang="en-IN" sz="2400">
                    <a:solidFill>
                      <a:srgbClr val="111827"/>
                    </a:solidFill>
                    <a:latin typeface="Cambria Math" panose="02040503050406030204" pitchFamily="18" charset="0"/>
                  </a:rPr>
                  <a:t>$x^{18}$</a:t>
                </a:r>
                <a:r>
                  <a:rPr sz="2400" b="0">
                    <a:solidFill>
                      <a:srgbClr val="111827"/>
                    </a:solidFill>
                    <a:latin typeface="Arial"/>
                  </a:rPr>
                  <a:t> (</a:t>
                </a:r>
                <a:r>
                  <a:rPr lang="en-IN" sz="2400">
                    <a:solidFill>
                      <a:srgbClr val="111827"/>
                    </a:solidFill>
                    <a:latin typeface="Cambria Math" panose="02040503050406030204" pitchFamily="18" charset="0"/>
                  </a:rPr>
                  <a:t>$3+15=18$</a:t>
                </a:r>
                <a:r>
                  <a:rPr sz="2400" b="0">
                    <a:solidFill>
                      <a:srgbClr val="111827"/>
                    </a:solidFill>
                    <a:latin typeface="Arial"/>
                  </a:rPr>
                  <a:t>), above the degree </a:t>
                </a:r>
                <a:r>
                  <a:rPr lang="en-IN" sz="2400">
                    <a:solidFill>
                      <a:srgbClr val="111827"/>
                    </a:solidFill>
                    <a:latin typeface="Cambria Math" panose="02040503050406030204" pitchFamily="18" charset="0"/>
                  </a:rPr>
                  <a:t>$17$</a:t>
                </a:r>
                <a:r>
                  <a:rPr sz="2400" b="0">
                    <a:solidFill>
                      <a:srgbClr val="111827"/>
                    </a:solidFill>
                    <a:latin typeface="Arial"/>
                  </a:rPr>
                  <a:t> of </a:t>
                </a:r>
                <a:r>
                  <a:rPr lang="en-IN" sz="2400">
                    <a:solidFill>
                      <a:srgbClr val="111827"/>
                    </a:solidFill>
                    <a:latin typeface="Cambria Math" panose="02040503050406030204" pitchFamily="18" charset="0"/>
                  </a:rPr>
                  <a:t>$(1+x)^{17}$</a:t>
                </a:r>
                <a:r>
                  <a:rPr sz="2400" b="0">
                    <a:solidFill>
                      <a:srgbClr val="111827"/>
                    </a:solidFill>
                    <a:latin typeface="Arial"/>
                  </a:rPr>
                  <a:t>, so only </a:t>
                </a:r>
                <a:r>
                  <a:rPr lang="en-IN" sz="2400">
                    <a:solidFill>
                      <a:srgbClr val="111827"/>
                    </a:solidFill>
                    <a:latin typeface="Cambria Math" panose="02040503050406030204" pitchFamily="18" charset="0"/>
                  </a:rPr>
                  <a:t>$x(1+x)^{17}$</a:t>
                </a:r>
                <a:r>
                  <a:rPr sz="2400" b="0">
                    <a:solidFill>
                      <a:srgbClr val="111827"/>
                    </a:solidFill>
                    <a:latin typeface="Arial"/>
                  </a:rPr>
                  <a:t> reaches it.</a:t>
                </a:r>
                <a:endParaRPr sz="2400">
                  <a:solidFill>
                    <a:srgbClr val="111827"/>
                  </a:solidFill>
                </a:endParaRPr>
              </a:p>
            </p:txBody>
          </p:sp>
        </mc:Fallback>
      </mc:AlternateContent>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in the expansion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be </a:t>
                </a:r>
                <a14:m>
                  <m:oMath xmlns:m="http://schemas.openxmlformats.org/officeDocument/2006/math">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If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𝑟</m:t>
                            </m:r>
                          </m:sub>
                        </m:sSub>
                      </m:e>
                    </m:nary>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γ</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then the value of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γ</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equals ________.</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coefficient of </a:t>
                </a:r>
                <a:r>
                  <a:rPr lang="en-IN" sz="2400">
                    <a:solidFill>
                      <a:srgbClr val="111827"/>
                    </a:solidFill>
                    <a:latin typeface="Cambria Math" panose="02040503050406030204" pitchFamily="18" charset="0"/>
                  </a:rPr>
                  <a:t>$x^r$</a:t>
                </a:r>
                <a:r>
                  <a:rPr sz="2400" b="0">
                    <a:solidFill>
                      <a:srgbClr val="111827"/>
                    </a:solidFill>
                    <a:latin typeface="Arial"/>
                  </a:rPr>
                  <a:t> in the expansion of </a:t>
                </a:r>
                <a:r>
                  <a:rPr lang="en-IN" sz="2400">
                    <a:solidFill>
                      <a:srgbClr val="111827"/>
                    </a:solidFill>
                    <a:latin typeface="Cambria Math" panose="02040503050406030204" pitchFamily="18" charset="0"/>
                  </a:rPr>
                  <a:t>$(x+3)^{n-1}+(x+3)^{n-2}(x+2)+(x+3)^{n-3}(x+2)^2+\dots+(x+2)^{n-1}$</a:t>
                </a:r>
                <a:r>
                  <a:rPr sz="2400" b="0">
                    <a:solidFill>
                      <a:srgbClr val="111827"/>
                    </a:solidFill>
                    <a:latin typeface="Arial"/>
                  </a:rPr>
                  <a:t> be </a:t>
                </a:r>
                <a:r>
                  <a:rPr lang="en-IN" sz="2400">
                    <a:solidFill>
                      <a:srgbClr val="111827"/>
                    </a:solidFill>
                    <a:latin typeface="Cambria Math" panose="02040503050406030204" pitchFamily="18" charset="0"/>
                  </a:rPr>
                  <a:t>$\alpha_r$</a:t>
                </a:r>
                <a:r>
                  <a:rPr sz="2400" b="0">
                    <a:solidFill>
                      <a:srgbClr val="111827"/>
                    </a:solidFill>
                    <a:latin typeface="Arial"/>
                  </a:rPr>
                  <a:t>. If </a:t>
                </a:r>
                <a:r>
                  <a:rPr lang="en-IN" sz="2400">
                    <a:solidFill>
                      <a:srgbClr val="111827"/>
                    </a:solidFill>
                    <a:latin typeface="Cambria Math" panose="02040503050406030204" pitchFamily="18" charset="0"/>
                  </a:rPr>
                  <a:t>$\sum_{r=0}^{n}\alpha_r=\beta^n-\gamma^n$</a:t>
                </a:r>
                <a:r>
                  <a:rPr sz="2400" b="0">
                    <a:solidFill>
                      <a:srgbClr val="111827"/>
                    </a:solidFill>
                    <a:latin typeface="Arial"/>
                  </a:rPr>
                  <a:t>, </a:t>
                </a:r>
                <a:r>
                  <a:rPr lang="en-IN" sz="2400">
                    <a:solidFill>
                      <a:srgbClr val="111827"/>
                    </a:solidFill>
                    <a:latin typeface="Cambria Math" panose="02040503050406030204" pitchFamily="18" charset="0"/>
                  </a:rPr>
                  <a:t>$\beta,\gamma\in\mathbb N$</a:t>
                </a:r>
                <a:r>
                  <a:rPr sz="2400" b="0">
                    <a:solidFill>
                      <a:srgbClr val="111827"/>
                    </a:solidFill>
                    <a:latin typeface="Arial"/>
                  </a:rPr>
                  <a:t>, then the value of </a:t>
                </a:r>
                <a:r>
                  <a:rPr lang="en-IN" sz="2400">
                    <a:solidFill>
                      <a:srgbClr val="111827"/>
                    </a:solidFill>
                    <a:latin typeface="Cambria Math" panose="02040503050406030204" pitchFamily="18" charset="0"/>
                  </a:rPr>
                  <a:t>$\beta^2+\gamma^2$</a:t>
                </a:r>
                <a:r>
                  <a:rPr sz="2400" b="0">
                    <a:solidFill>
                      <a:srgbClr val="111827"/>
                    </a:solidFill>
                    <a:latin typeface="Arial"/>
                  </a:rPr>
                  <a:t> equals ________.</a:t>
                </a:r>
                <a:endParaRPr sz="2400">
                  <a:solidFill>
                    <a:srgbClr val="111827"/>
                  </a:solidFill>
                </a:endParaRPr>
              </a:p>
            </p:txBody>
          </p:sp>
        </mc:Fallback>
      </mc:AlternateContent>
      <p:sp>
        <p:nvSpPr>
          <p:cNvPr id="5" name="Rectangle 4"/>
          <p:cNvSpPr/>
          <p:nvPr/>
        </p:nvSpPr>
        <p:spPr>
          <a:xfrm>
            <a:off x="731520" y="38887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a geometric progression of binomials, Sum of coefficients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expression is a G.P. in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den>
                    </m:f>
                  </m:oMath>
                </a14:m>
                <a:r>
                  <a:rPr sz="2400" b="0">
                    <a:solidFill>
                      <a:srgbClr val="78350F"/>
                    </a:solidFill>
                    <a:latin typeface="Arial"/>
                  </a:rPr>
                  <a:t> whose sum is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𝑛</m:t>
                        </m:r>
                      </m:sup>
                    </m:sSup>
                  </m:oMath>
                </a14:m>
                <a:r>
                  <a:rPr sz="2400" b="0">
                    <a:solidFill>
                      <a:srgbClr val="78350F"/>
                    </a:solidFill>
                    <a:latin typeface="Arial"/>
                  </a:rPr>
                  <a:t>; the sum of the coefficients is its value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expression is a G.P. in </a:t>
                </a:r>
                <a:r>
                  <a:rPr lang="en-IN" sz="2400">
                    <a:solidFill>
                      <a:srgbClr val="78350F"/>
                    </a:solidFill>
                    <a:latin typeface="Cambria Math" panose="02040503050406030204" pitchFamily="18" charset="0"/>
                  </a:rPr>
                  <a:t>$\frac{x+2}{x+3}$</a:t>
                </a:r>
                <a:r>
                  <a:rPr sz="2400" b="0">
                    <a:solidFill>
                      <a:srgbClr val="78350F"/>
                    </a:solidFill>
                    <a:latin typeface="Arial"/>
                  </a:rPr>
                  <a:t> whose sum is </a:t>
                </a:r>
                <a:r>
                  <a:rPr lang="en-IN" sz="2400">
                    <a:solidFill>
                      <a:srgbClr val="78350F"/>
                    </a:solidFill>
                    <a:latin typeface="Cambria Math" panose="02040503050406030204" pitchFamily="18" charset="0"/>
                  </a:rPr>
                  <a:t>$(x+3)^n-(x+2)^n$</a:t>
                </a:r>
                <a:r>
                  <a:rPr sz="2400" b="0">
                    <a:solidFill>
                      <a:srgbClr val="78350F"/>
                    </a:solidFill>
                    <a:latin typeface="Arial"/>
                  </a:rPr>
                  <a:t>; the sum of the coefficients is its value at </a:t>
                </a:r>
                <a:r>
                  <a:rPr lang="en-IN" sz="2400">
                    <a:solidFill>
                      <a:srgbClr val="78350F"/>
                    </a:solidFill>
                    <a:latin typeface="Cambria Math" panose="02040503050406030204" pitchFamily="18" charset="0"/>
                  </a:rPr>
                  <a:t>$x=1$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terms form a G.P. with first term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common ratio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𝑟</m:t>
                            </m:r>
                          </m:sub>
                        </m:sSub>
                      </m:e>
                    </m:nary>
                  </m:oMath>
                </a14:m>
                <a:r>
                  <a:rPr sz="2400" b="0">
                    <a:solidFill>
                      <a:srgbClr val="111827"/>
                    </a:solidFill>
                    <a:latin typeface="Arial"/>
                  </a:rPr>
                  <a:t> is the sum of all coefficients, i.e. the value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terms form a G.P. with first term </a:t>
                </a:r>
                <a:r>
                  <a:rPr lang="en-IN" sz="2400">
                    <a:solidFill>
                      <a:srgbClr val="111827"/>
                    </a:solidFill>
                    <a:latin typeface="Cambria Math" panose="02040503050406030204" pitchFamily="18" charset="0"/>
                  </a:rPr>
                  <a:t>$(x+3)^{n-1}$</a:t>
                </a:r>
                <a:r>
                  <a:rPr sz="2400" b="0">
                    <a:solidFill>
                      <a:srgbClr val="111827"/>
                    </a:solidFill>
                    <a:latin typeface="Arial"/>
                  </a:rPr>
                  <a:t>, common ratio </a:t>
                </a:r>
                <a:r>
                  <a:rPr lang="en-IN" sz="2400">
                    <a:solidFill>
                      <a:srgbClr val="111827"/>
                    </a:solidFill>
                    <a:latin typeface="Cambria Math" panose="02040503050406030204" pitchFamily="18" charset="0"/>
                  </a:rPr>
                  <a:t>$\dfrac{x+2}{x+3}$</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$=(x+3)^{n-1}\cdot\dfrac{1-\left(\frac{x+2}{x+3}\right)^n}{1-\frac{x+2}{x+3}}=(x+3)^{n-1}\cdot\dfrac{(x+3)^n-(x+2)^n}{(x+3)^n}\cdot(x+3)=(x+3)^n-(x+2)^n$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$\sum_{r=0}^{n}\alpha_r$</a:t>
                </a:r>
                <a:r>
                  <a:rPr sz="2400" b="0">
                    <a:solidFill>
                      <a:srgbClr val="111827"/>
                    </a:solidFill>
                    <a:latin typeface="Arial"/>
                  </a:rPr>
                  <a:t> is the sum of all coefficients, i.e. the value at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$4^n-3^n$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γ</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γ</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$4^n-3^n=\beta^n-\gamma^n$</a:t>
                </a:r>
                <a:r>
                  <a:rPr sz="2400" b="0">
                    <a:solidFill>
                      <a:srgbClr val="111827"/>
                    </a:solidFill>
                    <a:latin typeface="Arial"/>
                  </a:rPr>
                  <a:t> with </a:t>
                </a:r>
                <a:r>
                  <a:rPr lang="en-IN" sz="2400">
                    <a:solidFill>
                      <a:srgbClr val="111827"/>
                    </a:solidFill>
                    <a:latin typeface="Cambria Math" panose="02040503050406030204" pitchFamily="18" charset="0"/>
                  </a:rPr>
                  <a:t>$\beta,\gamma\in\mathbb N$</a:t>
                </a:r>
                <a:r>
                  <a:rPr sz="2400" b="0">
                    <a:solidFill>
                      <a:srgbClr val="111827"/>
                    </a:solidFill>
                    <a:latin typeface="Arial"/>
                  </a:rPr>
                  <a:t>, giving </a:t>
                </a:r>
                <a:r>
                  <a:rPr lang="en-IN" sz="2400">
                    <a:solidFill>
                      <a:srgbClr val="111827"/>
                    </a:solidFill>
                    <a:latin typeface="Cambria Math" panose="02040503050406030204" pitchFamily="18" charset="0"/>
                  </a:rPr>
                  <a:t>$\beta=4$</a:t>
                </a:r>
                <a:r>
                  <a:rPr sz="2400" b="0">
                    <a:solidFill>
                      <a:srgbClr val="111827"/>
                    </a:solidFill>
                    <a:latin typeface="Arial"/>
                  </a:rPr>
                  <a:t>, </a:t>
                </a:r>
                <a:r>
                  <a:rPr lang="en-IN" sz="2400">
                    <a:solidFill>
                      <a:srgbClr val="111827"/>
                    </a:solidFill>
                    <a:latin typeface="Cambria Math" panose="02040503050406030204" pitchFamily="18" charset="0"/>
                  </a:rPr>
                  <a:t>$\gamma=3$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$\beta^2+\gamma^2=16+9=25$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25</a:t>
            </a:r>
            <a:endParaRPr sz="2800">
              <a:solidFill>
                <a:srgbClr val="15803D"/>
              </a:solidFill>
            </a:endParaRP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Substitute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before summing: the sum of coefficients is then a G.P. in the numbers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Substitute </a:t>
                </a:r>
                <a:r>
                  <a:rPr lang="en-IN" sz="2400">
                    <a:solidFill>
                      <a:srgbClr val="78350F"/>
                    </a:solidFill>
                    <a:latin typeface="Cambria Math" panose="02040503050406030204" pitchFamily="18" charset="0"/>
                  </a:rPr>
                  <a:t>$x=1$</a:t>
                </a:r>
                <a:r>
                  <a:rPr sz="2400" b="0">
                    <a:solidFill>
                      <a:srgbClr val="78350F"/>
                    </a:solidFill>
                    <a:latin typeface="Arial"/>
                  </a:rPr>
                  <a:t> before summing: the sum of coefficients is then a G.P. in the numbers </a:t>
                </a:r>
                <a:r>
                  <a:rPr lang="en-IN" sz="2400">
                    <a:solidFill>
                      <a:srgbClr val="78350F"/>
                    </a:solidFill>
                    <a:latin typeface="Cambria Math" panose="02040503050406030204" pitchFamily="18" charset="0"/>
                  </a:rPr>
                  <a:t>$4$</a:t>
                </a:r>
                <a:r>
                  <a:rPr sz="2400" b="0">
                    <a:solidFill>
                      <a:srgbClr val="78350F"/>
                    </a:solidFill>
                    <a:latin typeface="Arial"/>
                  </a:rPr>
                  <a:t> and </a:t>
                </a:r>
                <a:r>
                  <a:rPr lang="en-IN" sz="2400">
                    <a:solidFill>
                      <a:srgbClr val="78350F"/>
                    </a:solidFill>
                    <a:latin typeface="Cambria Math" panose="02040503050406030204" pitchFamily="18" charset="0"/>
                  </a:rPr>
                  <a:t>$3$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sum of all coefficients is the value of the expression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e>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e>
                    </m:nary>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a G.P. with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terms, first term </a:t>
                </a:r>
                <a14:m>
                  <m:oMath xmlns:m="http://schemas.openxmlformats.org/officeDocument/2006/math">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and ratio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num>
                          <m:den>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𝑛</m:t>
                                </m:r>
                              </m:sup>
                            </m:sSup>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γ</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γ</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sum of all coefficients is the value of the expression at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$\sum_{k=0}^{n-1}4^{\,n-1-k}3^{k}$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a G.P. with </a:t>
                </a:r>
                <a:r>
                  <a:rPr lang="en-IN" sz="2400">
                    <a:solidFill>
                      <a:srgbClr val="111827"/>
                    </a:solidFill>
                    <a:latin typeface="Cambria Math" panose="02040503050406030204" pitchFamily="18" charset="0"/>
                  </a:rPr>
                  <a:t>$n$</a:t>
                </a:r>
                <a:r>
                  <a:rPr sz="2400" b="0">
                    <a:solidFill>
                      <a:srgbClr val="111827"/>
                    </a:solidFill>
                    <a:latin typeface="Arial"/>
                  </a:rPr>
                  <a:t> terms, first term </a:t>
                </a:r>
                <a:r>
                  <a:rPr lang="en-IN" sz="2400">
                    <a:solidFill>
                      <a:srgbClr val="111827"/>
                    </a:solidFill>
                    <a:latin typeface="Cambria Math" panose="02040503050406030204" pitchFamily="18" charset="0"/>
                  </a:rPr>
                  <a:t>$4^{n-1}$</a:t>
                </a:r>
                <a:r>
                  <a:rPr sz="2400" b="0">
                    <a:solidFill>
                      <a:srgbClr val="111827"/>
                    </a:solidFill>
                    <a:latin typeface="Arial"/>
                  </a:rPr>
                  <a:t> and ratio </a:t>
                </a:r>
                <a:r>
                  <a:rPr lang="en-IN" sz="2400">
                    <a:solidFill>
                      <a:srgbClr val="111827"/>
                    </a:solidFill>
                    <a:latin typeface="Cambria Math" panose="02040503050406030204" pitchFamily="18" charset="0"/>
                  </a:rPr>
                  <a:t>$\frac34$</a:t>
                </a:r>
                <a:r>
                  <a:rPr sz="2400" b="0">
                    <a:solidFill>
                      <a:srgbClr val="111827"/>
                    </a:solidFill>
                    <a:latin typeface="Arial"/>
                  </a:rPr>
                  <a:t>: </a:t>
                </a:r>
                <a:r>
                  <a:rPr lang="en-IN" sz="2400">
                    <a:solidFill>
                      <a:srgbClr val="111827"/>
                    </a:solidFill>
                    <a:latin typeface="Cambria Math" panose="02040503050406030204" pitchFamily="18" charset="0"/>
                  </a:rPr>
                  <a:t>$4^{n-1}\cdot\dfrac{1-(3/4)^n}{1-3/4}=4^{n-1}\cdot4\left(1-\dfrac{3^n}{4^n}\right)=4^n-3^n$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$4^n-3^n=\beta^n-\gamma^n$</a:t>
                </a:r>
                <a:r>
                  <a:rPr sz="2400" b="0">
                    <a:solidFill>
                      <a:srgbClr val="111827"/>
                    </a:solidFill>
                    <a:latin typeface="Arial"/>
                  </a:rPr>
                  <a:t> gives </a:t>
                </a:r>
                <a:r>
                  <a:rPr lang="en-IN" sz="2400">
                    <a:solidFill>
                      <a:srgbClr val="111827"/>
                    </a:solidFill>
                    <a:latin typeface="Cambria Math" panose="02040503050406030204" pitchFamily="18" charset="0"/>
                  </a:rPr>
                  <a:t>$\beta=4$</a:t>
                </a:r>
                <a:r>
                  <a:rPr sz="2400" b="0">
                    <a:solidFill>
                      <a:srgbClr val="111827"/>
                    </a:solidFill>
                    <a:latin typeface="Arial"/>
                  </a:rPr>
                  <a:t>, </a:t>
                </a:r>
                <a:r>
                  <a:rPr lang="en-IN" sz="2400">
                    <a:solidFill>
                      <a:srgbClr val="111827"/>
                    </a:solidFill>
                    <a:latin typeface="Cambria Math" panose="02040503050406030204" pitchFamily="18" charset="0"/>
                  </a:rPr>
                  <a:t>$\gamma=3$</a:t>
                </a:r>
                <a:r>
                  <a:rPr sz="2400" b="0">
                    <a:solidFill>
                      <a:srgbClr val="111827"/>
                    </a:solidFill>
                    <a:latin typeface="Arial"/>
                  </a:rPr>
                  <a:t> and </a:t>
                </a:r>
                <a:r>
                  <a:rPr lang="en-IN" sz="2400">
                    <a:solidFill>
                      <a:srgbClr val="111827"/>
                    </a:solidFill>
                    <a:latin typeface="Cambria Math" panose="02040503050406030204" pitchFamily="18" charset="0"/>
                  </a:rPr>
                  <a:t>$\beta^2+\gamma^2=25$</a:t>
                </a:r>
                <a:r>
                  <a:rPr sz="2400" b="0">
                    <a:solidFill>
                      <a:srgbClr val="111827"/>
                    </a:solidFill>
                    <a:latin typeface="Arial"/>
                  </a:rPr>
                  <a:t>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25</a:t>
            </a:r>
            <a:endParaRPr sz="2800">
              <a:solidFill>
                <a:srgbClr val="15803D"/>
              </a:solidFill>
            </a:endParaRP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e>
                    </m:nary>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all coefficients of a polynomial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Whenever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is a constant, expressions of this G.P. type collapse to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$\sum_{k=0}^{n-1}a^{n-1-k}b^k=\dfrac{a^n-b^n}{a-b}$</a:t>
                </a:r>
                <a:r>
                  <a:rPr sz="2400" b="0">
                    <a:solidFill>
                      <a:srgbClr val="111827"/>
                    </a:solidFill>
                    <a:latin typeface="Arial"/>
                  </a:rPr>
                  <a:t>; here </a:t>
                </a:r>
                <a:r>
                  <a:rPr lang="en-IN" sz="2400">
                    <a:solidFill>
                      <a:srgbClr val="111827"/>
                    </a:solidFill>
                    <a:latin typeface="Cambria Math" panose="02040503050406030204" pitchFamily="18" charset="0"/>
                  </a:rPr>
                  <a:t>$a=x+3$</a:t>
                </a:r>
                <a:r>
                  <a:rPr sz="2400" b="0">
                    <a:solidFill>
                      <a:srgbClr val="111827"/>
                    </a:solidFill>
                    <a:latin typeface="Arial"/>
                  </a:rPr>
                  <a:t>, </a:t>
                </a:r>
                <a:r>
                  <a:rPr lang="en-IN" sz="2400">
                    <a:solidFill>
                      <a:srgbClr val="111827"/>
                    </a:solidFill>
                    <a:latin typeface="Cambria Math" panose="02040503050406030204" pitchFamily="18" charset="0"/>
                  </a:rPr>
                  <a:t>$b=x+2$</a:t>
                </a:r>
                <a:r>
                  <a:rPr sz="2400" b="0">
                    <a:solidFill>
                      <a:srgbClr val="111827"/>
                    </a:solidFill>
                    <a:latin typeface="Arial"/>
                  </a:rPr>
                  <a:t> and </a:t>
                </a:r>
                <a:r>
                  <a:rPr lang="en-IN" sz="2400">
                    <a:solidFill>
                      <a:srgbClr val="111827"/>
                    </a:solidFill>
                    <a:latin typeface="Cambria Math" panose="02040503050406030204" pitchFamily="18" charset="0"/>
                  </a:rPr>
                  <a:t>$a-b=1$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all coefficients of a polynomial </a:t>
                </a:r>
                <a:r>
                  <a:rPr lang="en-IN" sz="2400">
                    <a:solidFill>
                      <a:srgbClr val="111827"/>
                    </a:solidFill>
                    <a:latin typeface="Cambria Math" panose="02040503050406030204" pitchFamily="18" charset="0"/>
                  </a:rPr>
                  <a:t>$f(x)$</a:t>
                </a:r>
                <a:r>
                  <a:rPr sz="2400" b="0">
                    <a:solidFill>
                      <a:srgbClr val="111827"/>
                    </a:solidFill>
                    <a:latin typeface="Arial"/>
                  </a:rPr>
                  <a:t> is </a:t>
                </a:r>
                <a:r>
                  <a:rPr lang="en-IN" sz="2400">
                    <a:solidFill>
                      <a:srgbClr val="111827"/>
                    </a:solidFill>
                    <a:latin typeface="Cambria Math" panose="02040503050406030204" pitchFamily="18" charset="0"/>
                  </a:rPr>
                  <a:t>$f(1)$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Whenever </a:t>
                </a:r>
                <a:r>
                  <a:rPr lang="en-IN" sz="2400">
                    <a:solidFill>
                      <a:srgbClr val="111827"/>
                    </a:solidFill>
                    <a:latin typeface="Cambria Math" panose="02040503050406030204" pitchFamily="18" charset="0"/>
                  </a:rPr>
                  <a:t>$a-b$</a:t>
                </a:r>
                <a:r>
                  <a:rPr sz="2400" b="0">
                    <a:solidFill>
                      <a:srgbClr val="111827"/>
                    </a:solidFill>
                    <a:latin typeface="Arial"/>
                  </a:rPr>
                  <a:t> is a constant, expressions of this G.P. type collapse to </a:t>
                </a:r>
                <a:r>
                  <a:rPr lang="en-IN" sz="2400">
                    <a:solidFill>
                      <a:srgbClr val="111827"/>
                    </a:solidFill>
                    <a:latin typeface="Cambria Math" panose="02040503050406030204" pitchFamily="18" charset="0"/>
                  </a:rPr>
                  <a:t>$\frac{a^n-b^n}{a-b}$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$n=2$</a:t>
                </a:r>
                <a:r>
                  <a:rPr sz="2400" b="0">
                    <a:solidFill>
                      <a:srgbClr val="111827"/>
                    </a:solidFill>
                    <a:latin typeface="Arial"/>
                  </a:rPr>
                  <a:t>: </a:t>
                </a:r>
                <a:r>
                  <a:rPr lang="en-IN" sz="2400">
                    <a:solidFill>
                      <a:srgbClr val="111827"/>
                    </a:solidFill>
                    <a:latin typeface="Cambria Math" panose="02040503050406030204" pitchFamily="18" charset="0"/>
                  </a:rPr>
                  <a:t>$(x+3)+(x+2)=2x+5=(x+3)^2-(x+2)^2$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30</m:t>
                        </m:r>
                      </m:sup>
                    </m:sSup>
                  </m:oMath>
                </a14:m>
                <a:r>
                  <a:rPr sz="2400" b="0">
                    <a:solidFill>
                      <a:srgbClr val="111827"/>
                    </a:solidFill>
                    <a:latin typeface="Arial"/>
                  </a:rPr>
                  <a:t>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6</m:t>
                        </m:r>
                      </m:sup>
                    </m:sSup>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7</m:t>
                        </m:r>
                      </m:sup>
                    </m:sSup>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8</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equals ________.</a:t>
                </a:r>
                <a:endParaRPr sz="2400">
                  <a:solidFill>
                    <a:srgbClr val="111827"/>
                  </a:solidFill>
                </a:endParaRPr>
              </a:p>
            </p:txBody>
          </p:sp>
        </mc:Choice>
        <mc:Fallback>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coefficient of </a:t>
                </a:r>
                <a:r>
                  <a:rPr lang="en-IN" sz="2400">
                    <a:solidFill>
                      <a:srgbClr val="111827"/>
                    </a:solidFill>
                    <a:latin typeface="Cambria Math" panose="02040503050406030204" pitchFamily="18" charset="0"/>
                  </a:rPr>
                  <a:t>$x^{30}$</a:t>
                </a:r>
                <a:r>
                  <a:rPr sz="2400" b="0">
                    <a:solidFill>
                      <a:srgbClr val="111827"/>
                    </a:solidFill>
                    <a:latin typeface="Arial"/>
                  </a:rPr>
                  <a:t> in the expansion of </a:t>
                </a:r>
                <a:r>
                  <a:rPr lang="en-IN" sz="2400">
                    <a:solidFill>
                      <a:srgbClr val="111827"/>
                    </a:solidFill>
                    <a:latin typeface="Cambria Math" panose="02040503050406030204" pitchFamily="18" charset="0"/>
                  </a:rPr>
                  <a:t>$\left(1+\dfrac1x\right)^{6}\left(1+x^2\right)^{7}\left(1-x^3\right)^{8}$</a:t>
                </a:r>
                <a:r>
                  <a:rPr sz="2400" b="0">
                    <a:solidFill>
                      <a:srgbClr val="111827"/>
                    </a:solidFill>
                    <a:latin typeface="Arial"/>
                  </a:rPr>
                  <a:t>, </a:t>
                </a:r>
                <a:r>
                  <a:rPr lang="en-IN" sz="2400">
                    <a:solidFill>
                      <a:srgbClr val="111827"/>
                    </a:solidFill>
                    <a:latin typeface="Cambria Math" panose="02040503050406030204" pitchFamily="18" charset="0"/>
                  </a:rPr>
                  <a:t>$x\ne0$</a:t>
                </a:r>
                <a:r>
                  <a:rPr sz="2400" b="0">
                    <a:solidFill>
                      <a:srgbClr val="111827"/>
                    </a:solidFill>
                    <a:latin typeface="Arial"/>
                  </a:rPr>
                  <a:t>, is </a:t>
                </a:r>
                <a:r>
                  <a:rPr lang="en-IN" sz="2400">
                    <a:solidFill>
                      <a:srgbClr val="111827"/>
                    </a:solidFill>
                    <a:latin typeface="Cambria Math" panose="02040503050406030204" pitchFamily="18" charset="0"/>
                  </a:rPr>
                  <a:t>$\alpha$</a:t>
                </a:r>
                <a:r>
                  <a:rPr sz="2400" b="0">
                    <a:solidFill>
                      <a:srgbClr val="111827"/>
                    </a:solidFill>
                    <a:latin typeface="Arial"/>
                  </a:rPr>
                  <a:t>, then </a:t>
                </a:r>
                <a:r>
                  <a:rPr lang="en-IN" sz="2400">
                    <a:solidFill>
                      <a:srgbClr val="111827"/>
                    </a:solidFill>
                    <a:latin typeface="Cambria Math" panose="02040503050406030204" pitchFamily="18" charset="0"/>
                  </a:rPr>
                  <a:t>$|\alpha|$</a:t>
                </a:r>
                <a:r>
                  <a:rPr sz="2400" b="0">
                    <a:solidFill>
                      <a:srgbClr val="111827"/>
                    </a:solidFill>
                    <a:latin typeface="Arial"/>
                  </a:rPr>
                  <a:t> equals ________.</a:t>
                </a:r>
                <a:endParaRPr sz="2400">
                  <a:solidFill>
                    <a:srgbClr val="111827"/>
                  </a:solidFill>
                </a:endParaRPr>
              </a:p>
            </p:txBody>
          </p:sp>
        </mc:Fallback>
      </mc:AlternateContent>
      <p:sp>
        <p:nvSpPr>
          <p:cNvPr id="5" name="Rectangle 4"/>
          <p:cNvSpPr/>
          <p:nvPr/>
        </p:nvSpPr>
        <p:spPr>
          <a:xfrm>
            <a:off x="731520" y="325475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Multinomial expansion (coefficient with several factors)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14:m>
                  <m:oMath xmlns:m="http://schemas.openxmlformats.org/officeDocument/2006/math">
                    <m:sSup>
                      <m:e>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𝑥</m:t>
                                </m:r>
                              </m:den>
                            </m:f>
                          </m:e>
                        </m:d>
                      </m:e>
                      <m:sup>
                        <m:r>
                          <a:rPr lang="en-IN" sz="2400" i="1">
                            <a:solidFill>
                              <a:srgbClr val="78350F"/>
                            </a:solidFill>
                            <a:latin typeface="Cambria Math" panose="02040503050406030204" pitchFamily="18" charset="0"/>
                          </a:rPr>
                          <m:t>6</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6</m:t>
                            </m:r>
                          </m:sup>
                        </m:sSup>
                      </m:num>
                      <m:den>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6</m:t>
                            </m:r>
                          </m:sup>
                        </m:sSup>
                      </m:den>
                    </m:f>
                  </m:oMath>
                </a14:m>
                <a:r>
                  <a:rPr sz="2400" b="0">
                    <a:solidFill>
                      <a:srgbClr val="78350F"/>
                    </a:solidFill>
                    <a:latin typeface="Arial"/>
                  </a:rPr>
                  <a:t> and find the coefficient of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36</m:t>
                        </m:r>
                      </m:sup>
                    </m:sSup>
                  </m:oMath>
                </a14:m>
                <a:r>
                  <a:rPr sz="2400" b="0">
                    <a:solidFill>
                      <a:srgbClr val="78350F"/>
                    </a:solidFill>
                    <a:latin typeface="Arial"/>
                  </a:rPr>
                  <a:t>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6</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7</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8</m:t>
                        </m:r>
                      </m:sup>
                    </m:sSup>
                  </m:oMath>
                </a14:m>
                <a:r>
                  <a:rPr sz="2400" b="0">
                    <a:solidFill>
                      <a:srgbClr val="78350F"/>
                    </a:solidFill>
                    <a:latin typeface="Arial"/>
                  </a:rPr>
                  <a:t> by casework on </a:t>
                </a:r>
                <a14:m>
                  <m:oMath xmlns:m="http://schemas.openxmlformats.org/officeDocument/2006/math">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r>
                  <a:rPr lang="en-IN" sz="2400">
                    <a:solidFill>
                      <a:srgbClr val="78350F"/>
                    </a:solidFill>
                    <a:latin typeface="Cambria Math" panose="02040503050406030204" pitchFamily="18" charset="0"/>
                  </a:rPr>
                  <a:t>$\left(1+\frac1x\right)^6=\frac{(1+x)^6}{x^6}$</a:t>
                </a:r>
                <a:r>
                  <a:rPr sz="2400" b="0">
                    <a:solidFill>
                      <a:srgbClr val="78350F"/>
                    </a:solidFill>
                    <a:latin typeface="Arial"/>
                  </a:rPr>
                  <a:t> and find the coefficient of </a:t>
                </a:r>
                <a:r>
                  <a:rPr lang="en-IN" sz="2400">
                    <a:solidFill>
                      <a:srgbClr val="78350F"/>
                    </a:solidFill>
                    <a:latin typeface="Cambria Math" panose="02040503050406030204" pitchFamily="18" charset="0"/>
                  </a:rPr>
                  <a:t>$x^{36}$</a:t>
                </a:r>
                <a:r>
                  <a:rPr sz="2400" b="0">
                    <a:solidFill>
                      <a:srgbClr val="78350F"/>
                    </a:solidFill>
                    <a:latin typeface="Arial"/>
                  </a:rPr>
                  <a:t> in </a:t>
                </a:r>
                <a:r>
                  <a:rPr lang="en-IN" sz="2400">
                    <a:solidFill>
                      <a:srgbClr val="78350F"/>
                    </a:solidFill>
                    <a:latin typeface="Cambria Math" panose="02040503050406030204" pitchFamily="18" charset="0"/>
                  </a:rPr>
                  <a:t>$(1+x)^6(1+x^2)^7(1-x^3)^8$</a:t>
                </a:r>
                <a:r>
                  <a:rPr sz="2400" b="0">
                    <a:solidFill>
                      <a:srgbClr val="78350F"/>
                    </a:solidFill>
                    <a:latin typeface="Arial"/>
                  </a:rPr>
                  <a:t> by casework on </a:t>
                </a:r>
                <a:r>
                  <a:rPr lang="en-IN" sz="2400">
                    <a:solidFill>
                      <a:srgbClr val="78350F"/>
                    </a:solidFill>
                    <a:latin typeface="Cambria Math" panose="02040503050406030204" pitchFamily="18" charset="0"/>
                  </a:rPr>
                  <a:t>$r_3$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den>
                    </m:f>
                  </m:oMath>
                </a14:m>
                <a:r>
                  <a:rPr sz="2400" b="0">
                    <a:solidFill>
                      <a:srgbClr val="111827"/>
                    </a:solidFill>
                    <a:latin typeface="Arial"/>
                  </a:rPr>
                  <a:t>, so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30</m:t>
                        </m:r>
                      </m:sup>
                    </m:sSup>
                  </m:oMath>
                </a14:m>
                <a:r>
                  <a:rPr sz="2400" b="0">
                    <a:solidFill>
                      <a:srgbClr val="111827"/>
                    </a:solidFill>
                    <a:latin typeface="Arial"/>
                  </a:rPr>
                  <a:t> is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36</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term: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sup>
                    </m:sSup>
                    <m:sSup>
                      <m:e>
                        <m:r>
                          <a:rPr lang="en-IN" sz="2400" i="1">
                            <a:solidFill>
                              <a:srgbClr val="111827"/>
                            </a:solidFill>
                            <a:latin typeface="Cambria Math" panose="02040503050406030204" pitchFamily="18" charset="0"/>
                          </a:rPr>
                          <m:t>𝑥</m:t>
                        </m:r>
                      </m:e>
                      <m:sup>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sup>
                    </m:sSup>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III,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needs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but the maximum is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$\left(1+\dfrac1x\right)^6=\dfrac{(1+x)^6}{x^6}$</a:t>
                </a:r>
                <a:r>
                  <a:rPr sz="2400" b="0">
                    <a:solidFill>
                      <a:srgbClr val="111827"/>
                    </a:solidFill>
                    <a:latin typeface="Arial"/>
                  </a:rPr>
                  <a:t>, so the coefficient of </a:t>
                </a:r>
                <a:r>
                  <a:rPr lang="en-IN" sz="2400">
                    <a:solidFill>
                      <a:srgbClr val="111827"/>
                    </a:solidFill>
                    <a:latin typeface="Cambria Math" panose="02040503050406030204" pitchFamily="18" charset="0"/>
                  </a:rPr>
                  <a:t>$x^{30}$</a:t>
                </a:r>
                <a:r>
                  <a:rPr sz="2400" b="0">
                    <a:solidFill>
                      <a:srgbClr val="111827"/>
                    </a:solidFill>
                    <a:latin typeface="Arial"/>
                  </a:rPr>
                  <a:t> is the coefficient of </a:t>
                </a:r>
                <a:r>
                  <a:rPr lang="en-IN" sz="2400">
                    <a:solidFill>
                      <a:srgbClr val="111827"/>
                    </a:solidFill>
                    <a:latin typeface="Cambria Math" panose="02040503050406030204" pitchFamily="18" charset="0"/>
                  </a:rPr>
                  <a:t>$x^{36}$</a:t>
                </a:r>
                <a:r>
                  <a:rPr sz="2400" b="0">
                    <a:solidFill>
                      <a:srgbClr val="111827"/>
                    </a:solidFill>
                    <a:latin typeface="Arial"/>
                  </a:rPr>
                  <a:t> in </a:t>
                </a:r>
                <a:r>
                  <a:rPr lang="en-IN" sz="2400">
                    <a:solidFill>
                      <a:srgbClr val="111827"/>
                    </a:solidFill>
                    <a:latin typeface="Cambria Math" panose="02040503050406030204" pitchFamily="18" charset="0"/>
                  </a:rPr>
                  <a:t>$(1+x)^6(1+x^2)^7(1-x^3)^8$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term: </a:t>
                </a:r>
                <a:r>
                  <a:rPr lang="en-IN" sz="2400">
                    <a:solidFill>
                      <a:srgbClr val="111827"/>
                    </a:solidFill>
                    <a:latin typeface="Cambria Math" panose="02040503050406030204" pitchFamily="18" charset="0"/>
                  </a:rPr>
                  <a:t>$\binom6{r_1}\binom7{r_2}\binom8{r_3}(-1)^{r_3}x^{r_1+2r_2+3r_3}$</a:t>
                </a:r>
                <a:r>
                  <a:rPr sz="2400" b="0">
                    <a:solidFill>
                      <a:srgbClr val="111827"/>
                    </a:solidFill>
                    <a:latin typeface="Arial"/>
                  </a:rPr>
                  <a:t> with </a:t>
                </a:r>
                <a:r>
                  <a:rPr lang="en-IN" sz="2400">
                    <a:solidFill>
                      <a:srgbClr val="111827"/>
                    </a:solidFill>
                    <a:latin typeface="Cambria Math" panose="02040503050406030204" pitchFamily="18" charset="0"/>
                  </a:rPr>
                  <a:t>$r_1\le6$</a:t>
                </a:r>
                <a:r>
                  <a:rPr sz="2400" b="0">
                    <a:solidFill>
                      <a:srgbClr val="111827"/>
                    </a:solidFill>
                    <a:latin typeface="Arial"/>
                  </a:rPr>
                  <a:t>, </a:t>
                </a:r>
                <a:r>
                  <a:rPr lang="en-IN" sz="2400">
                    <a:solidFill>
                      <a:srgbClr val="111827"/>
                    </a:solidFill>
                    <a:latin typeface="Cambria Math" panose="02040503050406030204" pitchFamily="18" charset="0"/>
                  </a:rPr>
                  <a:t>$r_2\le7$</a:t>
                </a:r>
                <a:r>
                  <a:rPr sz="2400" b="0">
                    <a:solidFill>
                      <a:srgbClr val="111827"/>
                    </a:solidFill>
                    <a:latin typeface="Arial"/>
                  </a:rPr>
                  <a:t>, </a:t>
                </a:r>
                <a:r>
                  <a:rPr lang="en-IN" sz="2400">
                    <a:solidFill>
                      <a:srgbClr val="111827"/>
                    </a:solidFill>
                    <a:latin typeface="Cambria Math" panose="02040503050406030204" pitchFamily="18" charset="0"/>
                  </a:rPr>
                  <a:t>$r_3\le8$</a:t>
                </a:r>
                <a:r>
                  <a:rPr sz="2400" b="0">
                    <a:solidFill>
                      <a:srgbClr val="111827"/>
                    </a:solidFill>
                    <a:latin typeface="Arial"/>
                  </a:rPr>
                  <a:t> and </a:t>
                </a:r>
                <a:r>
                  <a:rPr lang="en-IN" sz="2400">
                    <a:solidFill>
                      <a:srgbClr val="111827"/>
                    </a:solidFill>
                    <a:latin typeface="Cambria Math" panose="02040503050406030204" pitchFamily="18" charset="0"/>
                  </a:rPr>
                  <a:t>$r_1+2r_2+3r_3=36$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 </a:t>
                </a:r>
                <a:r>
                  <a:rPr lang="en-IN" sz="2400">
                    <a:solidFill>
                      <a:srgbClr val="111827"/>
                    </a:solidFill>
                    <a:latin typeface="Cambria Math" panose="02040503050406030204" pitchFamily="18" charset="0"/>
                  </a:rPr>
                  <a:t>$r_3=8$</a:t>
                </a:r>
                <a:r>
                  <a:rPr sz="2400" b="0">
                    <a:solidFill>
                      <a:srgbClr val="111827"/>
                    </a:solidFill>
                    <a:latin typeface="Arial"/>
                  </a:rPr>
                  <a:t>: </a:t>
                </a:r>
                <a:r>
                  <a:rPr lang="en-IN" sz="2400">
                    <a:solidFill>
                      <a:srgbClr val="111827"/>
                    </a:solidFill>
                    <a:latin typeface="Cambria Math" panose="02040503050406030204" pitchFamily="18" charset="0"/>
                  </a:rPr>
                  <a:t>$r_1+2r_2=12$</a:t>
                </a:r>
                <a:r>
                  <a:rPr sz="2400" b="0">
                    <a:solidFill>
                      <a:srgbClr val="111827"/>
                    </a:solidFill>
                    <a:latin typeface="Arial"/>
                  </a:rPr>
                  <a:t>: </a:t>
                </a:r>
                <a:r>
                  <a:rPr lang="en-IN" sz="2400">
                    <a:solidFill>
                      <a:srgbClr val="111827"/>
                    </a:solidFill>
                    <a:latin typeface="Cambria Math" panose="02040503050406030204" pitchFamily="18" charset="0"/>
                  </a:rPr>
                  <a:t>$(r_1,r_2)=(0,6),(2,5),(4,4),(6,3)$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a:t>
                </a:r>
                <a:r>
                  <a:rPr lang="en-IN" sz="2400">
                    <a:solidFill>
                      <a:srgbClr val="111827"/>
                    </a:solidFill>
                    <a:latin typeface="Cambria Math" panose="02040503050406030204" pitchFamily="18" charset="0"/>
                  </a:rPr>
                  <a:t>$r_3=7$</a:t>
                </a:r>
                <a:r>
                  <a:rPr sz="2400" b="0">
                    <a:solidFill>
                      <a:srgbClr val="111827"/>
                    </a:solidFill>
                    <a:latin typeface="Arial"/>
                  </a:rPr>
                  <a:t>: </a:t>
                </a:r>
                <a:r>
                  <a:rPr lang="en-IN" sz="2400">
                    <a:solidFill>
                      <a:srgbClr val="111827"/>
                    </a:solidFill>
                    <a:latin typeface="Cambria Math" panose="02040503050406030204" pitchFamily="18" charset="0"/>
                  </a:rPr>
                  <a:t>$r_1+2r_2=15$</a:t>
                </a:r>
                <a:r>
                  <a:rPr sz="2400" b="0">
                    <a:solidFill>
                      <a:srgbClr val="111827"/>
                    </a:solidFill>
                    <a:latin typeface="Arial"/>
                  </a:rPr>
                  <a:t>: </a:t>
                </a:r>
                <a:r>
                  <a:rPr lang="en-IN" sz="2400">
                    <a:solidFill>
                      <a:srgbClr val="111827"/>
                    </a:solidFill>
                    <a:latin typeface="Cambria Math" panose="02040503050406030204" pitchFamily="18" charset="0"/>
                  </a:rPr>
                  <a:t>$(1,7),(3,6),(5,5)$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III, </a:t>
                </a:r>
                <a:r>
                  <a:rPr lang="en-IN" sz="2400">
                    <a:solidFill>
                      <a:srgbClr val="111827"/>
                    </a:solidFill>
                    <a:latin typeface="Cambria Math" panose="02040503050406030204" pitchFamily="18" charset="0"/>
                  </a:rPr>
                  <a:t>$r_3=6$</a:t>
                </a:r>
                <a:r>
                  <a:rPr sz="2400" b="0">
                    <a:solidFill>
                      <a:srgbClr val="111827"/>
                    </a:solidFill>
                    <a:latin typeface="Arial"/>
                  </a:rPr>
                  <a:t>: </a:t>
                </a:r>
                <a:r>
                  <a:rPr lang="en-IN" sz="2400">
                    <a:solidFill>
                      <a:srgbClr val="111827"/>
                    </a:solidFill>
                    <a:latin typeface="Cambria Math" panose="02040503050406030204" pitchFamily="18" charset="0"/>
                  </a:rPr>
                  <a:t>$r_1+2r_2=18$</a:t>
                </a:r>
                <a:r>
                  <a:rPr sz="2400" b="0">
                    <a:solidFill>
                      <a:srgbClr val="111827"/>
                    </a:solidFill>
                    <a:latin typeface="Arial"/>
                  </a:rPr>
                  <a:t>: </a:t>
                </a:r>
                <a:r>
                  <a:rPr lang="en-IN" sz="2400">
                    <a:solidFill>
                      <a:srgbClr val="111827"/>
                    </a:solidFill>
                    <a:latin typeface="Cambria Math" panose="02040503050406030204" pitchFamily="18" charset="0"/>
                  </a:rPr>
                  <a:t>$(4,7),(6,6)$</a:t>
                </a:r>
                <a:r>
                  <a:rPr sz="2400" b="0">
                    <a:solidFill>
                      <a:srgbClr val="111827"/>
                    </a:solidFill>
                    <a:latin typeface="Arial"/>
                  </a:rPr>
                  <a:t>. (</a:t>
                </a:r>
                <a:r>
                  <a:rPr lang="en-IN" sz="2400">
                    <a:solidFill>
                      <a:srgbClr val="111827"/>
                    </a:solidFill>
                    <a:latin typeface="Cambria Math" panose="02040503050406030204" pitchFamily="18" charset="0"/>
                  </a:rPr>
                  <a:t>$r_3\le5$</a:t>
                </a:r>
                <a:r>
                  <a:rPr sz="2400" b="0">
                    <a:solidFill>
                      <a:srgbClr val="111827"/>
                    </a:solidFill>
                    <a:latin typeface="Arial"/>
                  </a:rPr>
                  <a:t> needs </a:t>
                </a:r>
                <a:r>
                  <a:rPr lang="en-IN" sz="2400">
                    <a:solidFill>
                      <a:srgbClr val="111827"/>
                    </a:solidFill>
                    <a:latin typeface="Cambria Math" panose="02040503050406030204" pitchFamily="18" charset="0"/>
                  </a:rPr>
                  <a:t>$r_1+2r_2\ge21$</a:t>
                </a:r>
                <a:r>
                  <a:rPr sz="2400" b="0">
                    <a:solidFill>
                      <a:srgbClr val="111827"/>
                    </a:solidFill>
                    <a:latin typeface="Arial"/>
                  </a:rPr>
                  <a:t>, but the maximum is </a:t>
                </a:r>
                <a:r>
                  <a:rPr lang="en-IN" sz="2400">
                    <a:solidFill>
                      <a:srgbClr val="111827"/>
                    </a:solidFill>
                    <a:latin typeface="Cambria Math" panose="02040503050406030204" pitchFamily="18" charset="0"/>
                  </a:rPr>
                  <a:t>$6+14=20$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I contributes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8</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882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contributes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7</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2176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III contributes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882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2176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678</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678</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678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I contributes </a:t>
                </a:r>
                <a:r>
                  <a:rPr lang="en-IN" sz="2400">
                    <a:solidFill>
                      <a:srgbClr val="111827"/>
                    </a:solidFill>
                    <a:latin typeface="Cambria Math" panose="02040503050406030204" pitchFamily="18" charset="0"/>
                  </a:rPr>
                  <a:t>$\binom88(-1)^8\left[7+15\cdot21+15\cdot35+1\cdot35\right]=7+315+525+35=882$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contributes </a:t>
                </a:r>
                <a:r>
                  <a:rPr lang="en-IN" sz="2400">
                    <a:solidFill>
                      <a:srgbClr val="111827"/>
                    </a:solidFill>
                    <a:latin typeface="Cambria Math" panose="02040503050406030204" pitchFamily="18" charset="0"/>
                  </a:rPr>
                  <a:t>$\binom87(-1)^7\left[6\cdot1+20\cdot7+6\cdot21\right]=-8\,(6+140+126)=-2176$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III contributes </a:t>
                </a:r>
                <a:r>
                  <a:rPr lang="en-IN" sz="2400">
                    <a:solidFill>
                      <a:srgbClr val="111827"/>
                    </a:solidFill>
                    <a:latin typeface="Cambria Math" panose="02040503050406030204" pitchFamily="18" charset="0"/>
                  </a:rPr>
                  <a:t>$\binom86(-1)^6\left[15\cdot1+1\cdot7\right]=28\cdot22=616$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$=882-2176+616=-678$</a:t>
                </a:r>
                <a:r>
                  <a:rPr sz="2400" b="0">
                    <a:solidFill>
                      <a:srgbClr val="111827"/>
                    </a:solidFill>
                    <a:latin typeface="Arial"/>
                  </a:rPr>
                  <a:t>, so </a:t>
                </a:r>
                <a:r>
                  <a:rPr lang="en-IN" sz="2400">
                    <a:solidFill>
                      <a:srgbClr val="111827"/>
                    </a:solidFill>
                    <a:latin typeface="Cambria Math" panose="02040503050406030204" pitchFamily="18" charset="0"/>
                  </a:rPr>
                  <a:t>$\alpha=-678$</a:t>
                </a:r>
                <a:r>
                  <a:rPr sz="2400" b="0">
                    <a:solidFill>
                      <a:srgbClr val="111827"/>
                    </a:solidFill>
                    <a:latin typeface="Arial"/>
                  </a:rPr>
                  <a:t> and </a:t>
                </a:r>
                <a:r>
                  <a:rPr lang="en-IN" sz="2400">
                    <a:solidFill>
                      <a:srgbClr val="111827"/>
                    </a:solidFill>
                    <a:latin typeface="Cambria Math" panose="02040503050406030204" pitchFamily="18" charset="0"/>
                  </a:rPr>
                  <a:t>$|\alpha|=678$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678</a:t>
            </a:r>
            <a:endParaRPr sz="2800">
              <a:solidFill>
                <a:srgbClr val="15803D"/>
              </a:solidFill>
            </a:endParaRP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polynomial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6</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7</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8</m:t>
                        </m:r>
                      </m:sup>
                    </m:sSup>
                  </m:oMath>
                </a14:m>
                <a:r>
                  <a:rPr sz="2400" b="0">
                    <a:solidFill>
                      <a:srgbClr val="78350F"/>
                    </a:solidFill>
                    <a:latin typeface="Arial"/>
                  </a:rPr>
                  <a:t> has degree </a:t>
                </a:r>
                <a14:m>
                  <m:oMath xmlns:m="http://schemas.openxmlformats.org/officeDocument/2006/math">
                    <m:r>
                      <a:rPr lang="en-IN" sz="2400" i="1">
                        <a:solidFill>
                          <a:srgbClr val="78350F"/>
                        </a:solidFill>
                        <a:latin typeface="Cambria Math" panose="02040503050406030204" pitchFamily="18" charset="0"/>
                      </a:rPr>
                      <m:t>44</m:t>
                    </m:r>
                  </m:oMath>
                </a14:m>
                <a:r>
                  <a:rPr sz="2400" b="0">
                    <a:solidFill>
                      <a:srgbClr val="78350F"/>
                    </a:solidFill>
                    <a:latin typeface="Arial"/>
                  </a:rPr>
                  <a:t> and is palindromic, so the coefficient of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36</m:t>
                        </m:r>
                      </m:sup>
                    </m:sSup>
                  </m:oMath>
                </a14:m>
                <a:r>
                  <a:rPr sz="2400" b="0">
                    <a:solidFill>
                      <a:srgbClr val="78350F"/>
                    </a:solidFill>
                    <a:latin typeface="Arial"/>
                  </a:rPr>
                  <a:t> equals that of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8</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polynomial </a:t>
                </a:r>
                <a:r>
                  <a:rPr lang="en-IN" sz="2400">
                    <a:solidFill>
                      <a:srgbClr val="78350F"/>
                    </a:solidFill>
                    <a:latin typeface="Cambria Math" panose="02040503050406030204" pitchFamily="18" charset="0"/>
                  </a:rPr>
                  <a:t>$(1+x)^6(1+x^2)^7(1-x^3)^8$</a:t>
                </a:r>
                <a:r>
                  <a:rPr sz="2400" b="0">
                    <a:solidFill>
                      <a:srgbClr val="78350F"/>
                    </a:solidFill>
                    <a:latin typeface="Arial"/>
                  </a:rPr>
                  <a:t> has degree </a:t>
                </a:r>
                <a:r>
                  <a:rPr lang="en-IN" sz="2400">
                    <a:solidFill>
                      <a:srgbClr val="78350F"/>
                    </a:solidFill>
                    <a:latin typeface="Cambria Math" panose="02040503050406030204" pitchFamily="18" charset="0"/>
                  </a:rPr>
                  <a:t>$44$</a:t>
                </a:r>
                <a:r>
                  <a:rPr sz="2400" b="0">
                    <a:solidFill>
                      <a:srgbClr val="78350F"/>
                    </a:solidFill>
                    <a:latin typeface="Arial"/>
                  </a:rPr>
                  <a:t> and is palindromic, so the coefficient of </a:t>
                </a:r>
                <a:r>
                  <a:rPr lang="en-IN" sz="2400">
                    <a:solidFill>
                      <a:srgbClr val="78350F"/>
                    </a:solidFill>
                    <a:latin typeface="Cambria Math" panose="02040503050406030204" pitchFamily="18" charset="0"/>
                  </a:rPr>
                  <a:t>$x^{36}$</a:t>
                </a:r>
                <a:r>
                  <a:rPr sz="2400" b="0">
                    <a:solidFill>
                      <a:srgbClr val="78350F"/>
                    </a:solidFill>
                    <a:latin typeface="Arial"/>
                  </a:rPr>
                  <a:t> equals that of </a:t>
                </a:r>
                <a:r>
                  <a:rPr lang="en-IN" sz="2400">
                    <a:solidFill>
                      <a:srgbClr val="78350F"/>
                    </a:solidFill>
                    <a:latin typeface="Cambria Math" panose="02040503050406030204" pitchFamily="18" charset="0"/>
                  </a:rPr>
                  <a:t>$x^{8}$</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oMath>
                </a14:m>
                <a:r>
                  <a:rPr sz="2400" b="0">
                    <a:solidFill>
                      <a:srgbClr val="111827"/>
                    </a:solidFill>
                    <a:latin typeface="Arial"/>
                  </a:rPr>
                  <a:t>, of degree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44</m:t>
                        </m:r>
                      </m:sup>
                    </m:sSup>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oMath>
                </a14:m>
                <a:r>
                  <a:rPr sz="2400" b="0">
                    <a:solidFill>
                      <a:srgbClr val="111827"/>
                    </a:solidFill>
                    <a:latin typeface="Arial"/>
                  </a:rPr>
                  <a:t>), so the coefficients satisfy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8</m:t>
                        </m:r>
                      </m:sup>
                    </m:sSup>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$P(x)=(1+x)^6(1+x^2)^7(1-x^3)^8$</a:t>
                </a:r>
                <a:r>
                  <a:rPr sz="2400" b="0">
                    <a:solidFill>
                      <a:srgbClr val="111827"/>
                    </a:solidFill>
                    <a:latin typeface="Arial"/>
                  </a:rPr>
                  <a:t>, of degree </a:t>
                </a:r>
                <a:r>
                  <a:rPr lang="en-IN" sz="2400">
                    <a:solidFill>
                      <a:srgbClr val="111827"/>
                    </a:solidFill>
                    <a:latin typeface="Cambria Math" panose="02040503050406030204" pitchFamily="18" charset="0"/>
                  </a:rPr>
                  <a:t>$6+14+24=44$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$x^{44}P(1/x)=(x+1)^6(x^2+1)^7(x^3-1)^8=(1+x)^6(1+x^2)^7(1-x^3)^8=P(x)$</a:t>
                </a:r>
                <a:r>
                  <a:rPr sz="2400" b="0">
                    <a:solidFill>
                      <a:srgbClr val="111827"/>
                    </a:solidFill>
                    <a:latin typeface="Arial"/>
                  </a:rPr>
                  <a:t> (as </a:t>
                </a:r>
                <a:r>
                  <a:rPr lang="en-IN" sz="2400">
                    <a:solidFill>
                      <a:srgbClr val="111827"/>
                    </a:solidFill>
                    <a:latin typeface="Cambria Math" panose="02040503050406030204" pitchFamily="18" charset="0"/>
                  </a:rPr>
                  <a:t>$(x^3-1)^8=(1-x^3)^8$</a:t>
                </a:r>
                <a:r>
                  <a:rPr sz="2400" b="0">
                    <a:solidFill>
                      <a:srgbClr val="111827"/>
                    </a:solidFill>
                    <a:latin typeface="Arial"/>
                  </a:rPr>
                  <a:t>), so the coefficients satisfy </a:t>
                </a:r>
                <a:r>
                  <a:rPr lang="en-IN" sz="2400">
                    <a:solidFill>
                      <a:srgbClr val="111827"/>
                    </a:solidFill>
                    <a:latin typeface="Cambria Math" panose="02040503050406030204" pitchFamily="18" charset="0"/>
                  </a:rPr>
                  <a:t>$[x^{36}]P=[x^{8}]P$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$x^8$</a:t>
                </a:r>
                <a:r>
                  <a:rPr sz="2400" b="0">
                    <a:solidFill>
                      <a:srgbClr val="111827"/>
                    </a:solidFill>
                    <a:latin typeface="Arial"/>
                  </a:rPr>
                  <a:t>: </a:t>
                </a:r>
                <a:r>
                  <a:rPr lang="en-IN" sz="2400">
                    <a:solidFill>
                      <a:srgbClr val="111827"/>
                    </a:solidFill>
                    <a:latin typeface="Cambria Math" panose="02040503050406030204" pitchFamily="18" charset="0"/>
                  </a:rPr>
                  <a:t>$r_1+2r_2+3r_3=8$</a:t>
                </a:r>
                <a:r>
                  <a:rPr sz="2400" b="0">
                    <a:solidFill>
                      <a:srgbClr val="111827"/>
                    </a:solidFill>
                    <a:latin typeface="Arial"/>
                  </a:rPr>
                  <a:t> (</a:t>
                </a:r>
                <a:r>
                  <a:rPr lang="en-IN" sz="2400">
                    <a:solidFill>
                      <a:srgbClr val="111827"/>
                    </a:solidFill>
                    <a:latin typeface="Cambria Math" panose="02040503050406030204" pitchFamily="18" charset="0"/>
                  </a:rPr>
                  <a:t>$r_1\le6$</a:t>
                </a:r>
                <a:r>
                  <a:rPr sz="2400" b="0">
                    <a:solidFill>
                      <a:srgbClr val="111827"/>
                    </a:solidFill>
                    <a:latin typeface="Arial"/>
                  </a:rPr>
                  <a:t>): </a:t>
                </a:r>
                <a:r>
                  <a:rPr lang="en-IN" sz="2400">
                    <a:solidFill>
                      <a:srgbClr val="111827"/>
                    </a:solidFill>
                    <a:latin typeface="Cambria Math" panose="02040503050406030204" pitchFamily="18" charset="0"/>
                  </a:rPr>
                  <a:t>$r_3=0$</a:t>
                </a:r>
                <a:r>
                  <a:rPr sz="2400" b="0">
                    <a:solidFill>
                      <a:srgbClr val="111827"/>
                    </a:solidFill>
                    <a:latin typeface="Arial"/>
                  </a:rPr>
                  <a:t>: </a:t>
                </a:r>
                <a:r>
                  <a:rPr lang="en-IN" sz="2400">
                    <a:solidFill>
                      <a:srgbClr val="111827"/>
                    </a:solidFill>
                    <a:latin typeface="Cambria Math" panose="02040503050406030204" pitchFamily="18" charset="0"/>
                  </a:rPr>
                  <a:t>$(6,1),(4,2),(2,3),(0,4)$</a:t>
                </a:r>
                <a:r>
                  <a:rPr sz="2400" b="0">
                    <a:solidFill>
                      <a:srgbClr val="111827"/>
                    </a:solidFill>
                    <a:latin typeface="Arial"/>
                  </a:rPr>
                  <a:t>; </a:t>
                </a:r>
                <a:r>
                  <a:rPr lang="en-IN" sz="2400">
                    <a:solidFill>
                      <a:srgbClr val="111827"/>
                    </a:solidFill>
                    <a:latin typeface="Cambria Math" panose="02040503050406030204" pitchFamily="18" charset="0"/>
                  </a:rPr>
                  <a:t>$r_3=1$</a:t>
                </a:r>
                <a:r>
                  <a:rPr sz="2400" b="0">
                    <a:solidFill>
                      <a:srgbClr val="111827"/>
                    </a:solidFill>
                    <a:latin typeface="Arial"/>
                  </a:rPr>
                  <a:t>: </a:t>
                </a:r>
                <a:r>
                  <a:rPr lang="en-IN" sz="2400">
                    <a:solidFill>
                      <a:srgbClr val="111827"/>
                    </a:solidFill>
                    <a:latin typeface="Cambria Math" panose="02040503050406030204" pitchFamily="18" charset="0"/>
                  </a:rPr>
                  <a:t>$(5,0),(3,1),(1,2)$</a:t>
                </a:r>
                <a:r>
                  <a:rPr sz="2400" b="0">
                    <a:solidFill>
                      <a:srgbClr val="111827"/>
                    </a:solidFill>
                    <a:latin typeface="Arial"/>
                  </a:rPr>
                  <a:t>; </a:t>
                </a:r>
                <a:r>
                  <a:rPr lang="en-IN" sz="2400">
                    <a:solidFill>
                      <a:srgbClr val="111827"/>
                    </a:solidFill>
                    <a:latin typeface="Cambria Math" panose="02040503050406030204" pitchFamily="18" charset="0"/>
                  </a:rPr>
                  <a:t>$r_3=2$</a:t>
                </a:r>
                <a:r>
                  <a:rPr sz="2400" b="0">
                    <a:solidFill>
                      <a:srgbClr val="111827"/>
                    </a:solidFill>
                    <a:latin typeface="Arial"/>
                  </a:rPr>
                  <a:t>: </a:t>
                </a:r>
                <a:r>
                  <a:rPr lang="en-IN" sz="2400">
                    <a:solidFill>
                      <a:srgbClr val="111827"/>
                    </a:solidFill>
                    <a:latin typeface="Cambria Math" panose="02040503050406030204" pitchFamily="18" charset="0"/>
                  </a:rPr>
                  <a:t>$(2,0),(0,1)$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4</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0</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882</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2176</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28</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882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2176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678</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678</m:t>
                    </m:r>
                  </m:oMath>
                </a14:m>
                <a:r>
                  <a:rPr sz="2400" b="0">
                    <a:solidFill>
                      <a:srgbClr val="111827"/>
                    </a:solidFill>
                    <a:latin typeface="Arial"/>
                  </a:rPr>
                  <a:t> (same answer, with far smaller exponents to track).</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$r_3=0$</a:t>
                </a:r>
                <a:r>
                  <a:rPr sz="2400" b="0">
                    <a:solidFill>
                      <a:srgbClr val="111827"/>
                    </a:solidFill>
                    <a:latin typeface="Arial"/>
                  </a:rPr>
                  <a:t>: </a:t>
                </a:r>
                <a:r>
                  <a:rPr lang="en-IN" sz="2400">
                    <a:solidFill>
                      <a:srgbClr val="111827"/>
                    </a:solidFill>
                    <a:latin typeface="Cambria Math" panose="02040503050406030204" pitchFamily="18" charset="0"/>
                  </a:rPr>
                  <a:t>$\binom61\binom71+\binom64\binom72+\binom62\binom73+\binom60\binom74=7+315+525+35=882$</a:t>
                </a:r>
                <a:r>
                  <a:rPr sz="2400" b="0">
                    <a:solidFill>
                      <a:srgbClr val="111827"/>
                    </a:solidFill>
                    <a:latin typeface="Arial"/>
                  </a:rPr>
                  <a:t>; </a:t>
                </a:r>
                <a:r>
                  <a:rPr lang="en-IN" sz="2400">
                    <a:solidFill>
                      <a:srgbClr val="111827"/>
                    </a:solidFill>
                    <a:latin typeface="Cambria Math" panose="02040503050406030204" pitchFamily="18" charset="0"/>
                  </a:rPr>
                  <a:t>$r_3=1$</a:t>
                </a:r>
                <a:r>
                  <a:rPr sz="2400" b="0">
                    <a:solidFill>
                      <a:srgbClr val="111827"/>
                    </a:solidFill>
                    <a:latin typeface="Arial"/>
                  </a:rPr>
                  <a:t>: </a:t>
                </a:r>
                <a:r>
                  <a:rPr lang="en-IN" sz="2400">
                    <a:solidFill>
                      <a:srgbClr val="111827"/>
                    </a:solidFill>
                    <a:latin typeface="Cambria Math" panose="02040503050406030204" pitchFamily="18" charset="0"/>
                  </a:rPr>
                  <a:t>$-8\,(6+140+126)=-2176$</a:t>
                </a:r>
                <a:r>
                  <a:rPr sz="2400" b="0">
                    <a:solidFill>
                      <a:srgbClr val="111827"/>
                    </a:solidFill>
                    <a:latin typeface="Arial"/>
                  </a:rPr>
                  <a:t>; </a:t>
                </a:r>
                <a:r>
                  <a:rPr lang="en-IN" sz="2400">
                    <a:solidFill>
                      <a:srgbClr val="111827"/>
                    </a:solidFill>
                    <a:latin typeface="Cambria Math" panose="02040503050406030204" pitchFamily="18" charset="0"/>
                  </a:rPr>
                  <a:t>$r_3=2$</a:t>
                </a:r>
                <a:r>
                  <a:rPr sz="2400" b="0">
                    <a:solidFill>
                      <a:srgbClr val="111827"/>
                    </a:solidFill>
                    <a:latin typeface="Arial"/>
                  </a:rPr>
                  <a:t>: </a:t>
                </a:r>
                <a:r>
                  <a:rPr lang="en-IN" sz="2400">
                    <a:solidFill>
                      <a:srgbClr val="111827"/>
                    </a:solidFill>
                    <a:latin typeface="Cambria Math" panose="02040503050406030204" pitchFamily="18" charset="0"/>
                  </a:rPr>
                  <a:t>$28\,(15+7)=616$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$=882-2176+616=-678$</a:t>
                </a:r>
                <a:r>
                  <a:rPr sz="2400" b="0">
                    <a:solidFill>
                      <a:srgbClr val="111827"/>
                    </a:solidFill>
                    <a:latin typeface="Arial"/>
                  </a:rPr>
                  <a:t>, so </a:t>
                </a:r>
                <a:r>
                  <a:rPr lang="en-IN" sz="2400">
                    <a:solidFill>
                      <a:srgbClr val="111827"/>
                    </a:solidFill>
                    <a:latin typeface="Cambria Math" panose="02040503050406030204" pitchFamily="18" charset="0"/>
                  </a:rPr>
                  <a:t>$|\alpha|=678$</a:t>
                </a:r>
                <a:r>
                  <a:rPr sz="2400" b="0">
                    <a:solidFill>
                      <a:srgbClr val="111827"/>
                    </a:solidFill>
                    <a:latin typeface="Arial"/>
                  </a:rPr>
                  <a:t> (same answer, with far smaller exponents to track).</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678</a:t>
            </a:r>
            <a:endParaRPr sz="2800">
              <a:solidFill>
                <a:srgbClr val="15803D"/>
              </a:solidFill>
            </a:endParaRP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Shift negative powers out: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the original equals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the polynomial.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Palindromic polynomials: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𝑎</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𝑏</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𝑐</m:t>
                        </m:r>
                      </m:sup>
                    </m:sSup>
                  </m:oMath>
                </a14:m>
                <a:r>
                  <a:rPr sz="2400" b="0">
                    <a:solidFill>
                      <a:srgbClr val="111827"/>
                    </a:solidFill>
                    <a:latin typeface="Arial"/>
                  </a:rPr>
                  <a:t> satisfies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𝑗</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𝑐</m:t>
                    </m:r>
                  </m:oMath>
                </a14:m>
                <a:r>
                  <a:rPr sz="2400" b="0">
                    <a:solidFill>
                      <a:srgbClr val="111827"/>
                    </a:solidFill>
                    <a:latin typeface="Arial"/>
                  </a:rPr>
                  <a:t>; use the smaller index.</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List multinomial triples with the weight equation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and the bounds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exponent; check each triple.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sum of all coefficients is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here the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36</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8</m:t>
                        </m:r>
                      </m:sup>
                    </m:sSup>
                  </m:oMath>
                </a14:m>
                <a:r>
                  <a:rPr sz="2400" b="0">
                    <a:solidFill>
                      <a:srgbClr val="111827"/>
                    </a:solidFill>
                    <a:latin typeface="Arial"/>
                  </a:rPr>
                  <a:t> cases agree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678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Shift negative powers out: </a:t>
                </a:r>
                <a:r>
                  <a:rPr lang="en-IN" sz="2400">
                    <a:solidFill>
                      <a:srgbClr val="111827"/>
                    </a:solidFill>
                    <a:latin typeface="Cambria Math" panose="02040503050406030204" pitchFamily="18" charset="0"/>
                  </a:rPr>
                  <a:t>$\left(1+\frac1x\right)^m=\frac{(1+x)^m}{x^m}$</a:t>
                </a:r>
                <a:r>
                  <a:rPr sz="2400" b="0">
                    <a:solidFill>
                      <a:srgbClr val="111827"/>
                    </a:solidFill>
                    <a:latin typeface="Arial"/>
                  </a:rPr>
                  <a:t>, so </a:t>
                </a:r>
                <a:r>
                  <a:rPr lang="en-IN" sz="2400">
                    <a:solidFill>
                      <a:srgbClr val="111827"/>
                    </a:solidFill>
                    <a:latin typeface="Cambria Math" panose="02040503050406030204" pitchFamily="18" charset="0"/>
                  </a:rPr>
                  <a:t>$[x^{k}]$</a:t>
                </a:r>
                <a:r>
                  <a:rPr sz="2400" b="0">
                    <a:solidFill>
                      <a:srgbClr val="111827"/>
                    </a:solidFill>
                    <a:latin typeface="Arial"/>
                  </a:rPr>
                  <a:t> of the original equals </a:t>
                </a:r>
                <a:r>
                  <a:rPr lang="en-IN" sz="2400">
                    <a:solidFill>
                      <a:srgbClr val="111827"/>
                    </a:solidFill>
                    <a:latin typeface="Cambria Math" panose="02040503050406030204" pitchFamily="18" charset="0"/>
                  </a:rPr>
                  <a:t>$[x^{k+m}]$</a:t>
                </a:r>
                <a:r>
                  <a:rPr sz="2400" b="0">
                    <a:solidFill>
                      <a:srgbClr val="111827"/>
                    </a:solidFill>
                    <a:latin typeface="Arial"/>
                  </a:rPr>
                  <a:t> of the polynomial.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Palindromic polynomials: </a:t>
                </a:r>
                <a:r>
                  <a:rPr lang="en-IN" sz="2400">
                    <a:solidFill>
                      <a:srgbClr val="111827"/>
                    </a:solidFill>
                    <a:latin typeface="Cambria Math" panose="02040503050406030204" pitchFamily="18" charset="0"/>
                  </a:rPr>
                  <a:t>$(1+x)^a(1+x^2)^b(1-x^3)^c$</a:t>
                </a:r>
                <a:r>
                  <a:rPr sz="2400" b="0">
                    <a:solidFill>
                      <a:srgbClr val="111827"/>
                    </a:solidFill>
                    <a:latin typeface="Arial"/>
                  </a:rPr>
                  <a:t> satisfies </a:t>
                </a:r>
                <a:r>
                  <a:rPr lang="en-IN" sz="2400">
                    <a:solidFill>
                      <a:srgbClr val="111827"/>
                    </a:solidFill>
                    <a:latin typeface="Cambria Math" panose="02040503050406030204" pitchFamily="18" charset="0"/>
                  </a:rPr>
                  <a:t>$[x^j]=[x^{d-j}]$</a:t>
                </a:r>
                <a:r>
                  <a:rPr sz="2400" b="0">
                    <a:solidFill>
                      <a:srgbClr val="111827"/>
                    </a:solidFill>
                    <a:latin typeface="Arial"/>
                  </a:rPr>
                  <a:t> with </a:t>
                </a:r>
                <a:r>
                  <a:rPr lang="en-IN" sz="2400">
                    <a:solidFill>
                      <a:srgbClr val="111827"/>
                    </a:solidFill>
                    <a:latin typeface="Cambria Math" panose="02040503050406030204" pitchFamily="18" charset="0"/>
                  </a:rPr>
                  <a:t>$d=a+2b+3c$</a:t>
                </a:r>
                <a:r>
                  <a:rPr sz="2400" b="0">
                    <a:solidFill>
                      <a:srgbClr val="111827"/>
                    </a:solidFill>
                    <a:latin typeface="Arial"/>
                  </a:rPr>
                  <a:t>; use the smaller index.</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List multinomial triples with the weight equation </a:t>
                </a:r>
                <a:r>
                  <a:rPr lang="en-IN" sz="2400">
                    <a:solidFill>
                      <a:srgbClr val="111827"/>
                    </a:solidFill>
                    <a:latin typeface="Cambria Math" panose="02040503050406030204" pitchFamily="18" charset="0"/>
                  </a:rPr>
                  <a:t>$r_1+2r_2+3r_3=k$</a:t>
                </a:r>
                <a:r>
                  <a:rPr sz="2400" b="0">
                    <a:solidFill>
                      <a:srgbClr val="111827"/>
                    </a:solidFill>
                    <a:latin typeface="Arial"/>
                  </a:rPr>
                  <a:t> and the bounds </a:t>
                </a:r>
                <a:r>
                  <a:rPr lang="en-IN" sz="2400">
                    <a:solidFill>
                      <a:srgbClr val="111827"/>
                    </a:solidFill>
                    <a:latin typeface="Cambria Math" panose="02040503050406030204" pitchFamily="18" charset="0"/>
                  </a:rPr>
                  <a:t>$r_i\le$</a:t>
                </a:r>
                <a:r>
                  <a:rPr sz="2400" b="0">
                    <a:solidFill>
                      <a:srgbClr val="111827"/>
                    </a:solidFill>
                    <a:latin typeface="Arial"/>
                  </a:rPr>
                  <a:t> exponent; check each triple.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sum of all coefficients is </a:t>
                </a:r>
                <a:r>
                  <a:rPr lang="en-IN" sz="2400">
                    <a:solidFill>
                      <a:srgbClr val="111827"/>
                    </a:solidFill>
                    <a:latin typeface="Cambria Math" panose="02040503050406030204" pitchFamily="18" charset="0"/>
                  </a:rPr>
                  <a:t>$2^6\cdot2^7\cdot0=0$</a:t>
                </a:r>
                <a:r>
                  <a:rPr sz="2400" b="0">
                    <a:solidFill>
                      <a:srgbClr val="111827"/>
                    </a:solidFill>
                    <a:latin typeface="Arial"/>
                  </a:rPr>
                  <a:t>; here the </a:t>
                </a:r>
                <a:r>
                  <a:rPr lang="en-IN" sz="2400">
                    <a:solidFill>
                      <a:srgbClr val="111827"/>
                    </a:solidFill>
                    <a:latin typeface="Cambria Math" panose="02040503050406030204" pitchFamily="18" charset="0"/>
                  </a:rPr>
                  <a:t>$x^{36}$</a:t>
                </a:r>
                <a:r>
                  <a:rPr sz="2400" b="0">
                    <a:solidFill>
                      <a:srgbClr val="111827"/>
                    </a:solidFill>
                    <a:latin typeface="Arial"/>
                  </a:rPr>
                  <a:t> and </a:t>
                </a:r>
                <a:r>
                  <a:rPr lang="en-IN" sz="2400">
                    <a:solidFill>
                      <a:srgbClr val="111827"/>
                    </a:solidFill>
                    <a:latin typeface="Cambria Math" panose="02040503050406030204" pitchFamily="18" charset="0"/>
                  </a:rPr>
                  <a:t>$x^{8}$</a:t>
                </a:r>
                <a:r>
                  <a:rPr sz="2400" b="0">
                    <a:solidFill>
                      <a:srgbClr val="111827"/>
                    </a:solidFill>
                    <a:latin typeface="Arial"/>
                  </a:rPr>
                  <a:t> cases agree at </a:t>
                </a:r>
                <a:r>
                  <a:rPr lang="en-IN" sz="2400">
                    <a:solidFill>
                      <a:srgbClr val="111827"/>
                    </a:solidFill>
                    <a:latin typeface="Cambria Math" panose="02040503050406030204" pitchFamily="18" charset="0"/>
                  </a:rPr>
                  <a:t>$-678$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7</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Q61 – Q67</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Assumed +4 each (JEE Advanced default)</a:t>
            </a:r>
            <a:endParaRPr sz="2800">
              <a:solidFill>
                <a:srgbClr val="FFFFFF"/>
              </a:solidFill>
            </a:endParaRP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all rational terms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15</m:t>
                        </m:r>
                      </m:sup>
                    </m:sSup>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6131</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3133</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931</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633</m:t>
                    </m:r>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all rational terms in the expansion of </a:t>
                </a:r>
                <a:r>
                  <a:rPr lang="en-IN" sz="2400">
                    <a:solidFill>
                      <a:srgbClr val="111827"/>
                    </a:solidFill>
                    <a:latin typeface="Cambria Math" panose="02040503050406030204" pitchFamily="18" charset="0"/>
                  </a:rPr>
                  <a:t>$\left(2^{1/5}+5^{1/3}\right)^{15}$</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$6131$</a:t>
                </a:r>
                <a:r>
                  <a:rPr sz="2400" b="0">
                    <a:solidFill>
                      <a:srgbClr val="111827"/>
                    </a:solidFill>
                    <a:latin typeface="Arial"/>
                  </a:rPr>
                  <a:t>   (B) </a:t>
                </a:r>
                <a:r>
                  <a:rPr lang="en-IN" sz="2400">
                    <a:solidFill>
                      <a:srgbClr val="111827"/>
                    </a:solidFill>
                    <a:latin typeface="Cambria Math" panose="02040503050406030204" pitchFamily="18" charset="0"/>
                  </a:rPr>
                  <a:t>$3133$</a:t>
                </a:r>
                <a:r>
                  <a:rPr sz="2400" b="0">
                    <a:solidFill>
                      <a:srgbClr val="111827"/>
                    </a:solidFill>
                    <a:latin typeface="Arial"/>
                  </a:rPr>
                  <a:t>   (C) </a:t>
                </a:r>
                <a:r>
                  <a:rPr lang="en-IN" sz="2400">
                    <a:solidFill>
                      <a:srgbClr val="111827"/>
                    </a:solidFill>
                    <a:latin typeface="Cambria Math" panose="02040503050406030204" pitchFamily="18" charset="0"/>
                  </a:rPr>
                  <a:t>$931$</a:t>
                </a:r>
                <a:r>
                  <a:rPr sz="2400" b="0">
                    <a:solidFill>
                      <a:srgbClr val="111827"/>
                    </a:solidFill>
                    <a:latin typeface="Arial"/>
                  </a:rPr>
                  <a:t>   (D) </a:t>
                </a:r>
                <a:r>
                  <a:rPr lang="en-IN" sz="2400">
                    <a:solidFill>
                      <a:srgbClr val="111827"/>
                    </a:solidFill>
                    <a:latin typeface="Cambria Math" panose="02040503050406030204" pitchFamily="18" charset="0"/>
                  </a:rPr>
                  <a:t>$633$</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Rational terms in a binomial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15</m:t>
                            </m:r>
                          </m:num>
                          <m:den>
                            <m:r>
                              <a:rPr lang="en-IN" sz="2400" i="1">
                                <a:solidFill>
                                  <a:srgbClr val="78350F"/>
                                </a:solidFill>
                                <a:latin typeface="Cambria Math" panose="02040503050406030204" pitchFamily="18" charset="0"/>
                              </a:rPr>
                              <m:t>𝑟</m:t>
                            </m:r>
                          </m:den>
                        </m:f>
                      </m:e>
                    </m:d>
                    <m:sSup>
                      <m:e>
                        <m:r>
                          <a:rPr lang="en-IN" sz="2400" i="1">
                            <a:solidFill>
                              <a:srgbClr val="78350F"/>
                            </a:solidFill>
                            <a:latin typeface="Cambria Math" panose="02040503050406030204" pitchFamily="18" charset="0"/>
                          </a:rPr>
                          <m:t>5</m:t>
                        </m:r>
                      </m:e>
                      <m:sup>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up>
                    </m:sSup>
                    <m:sSup>
                      <m:e>
                        <m:r>
                          <a:rPr lang="en-IN" sz="2400" i="1">
                            <a:solidFill>
                              <a:srgbClr val="78350F"/>
                            </a:solidFill>
                            <a:latin typeface="Cambria Math" panose="02040503050406030204" pitchFamily="18" charset="0"/>
                          </a:rPr>
                          <m:t>2</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sup>
                    </m:sSup>
                  </m:oMath>
                </a14:m>
                <a:r>
                  <a:rPr sz="2400" b="0">
                    <a:solidFill>
                      <a:srgbClr val="78350F"/>
                    </a:solidFill>
                    <a:latin typeface="Arial"/>
                  </a:rPr>
                  <a:t> is rational exactly when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i.e.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15</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$T_{r+1}=\binom{15}{r}5^{r/3}2^{(15-r)/5}$</a:t>
                </a:r>
                <a:r>
                  <a:rPr sz="2400" b="0">
                    <a:solidFill>
                      <a:srgbClr val="78350F"/>
                    </a:solidFill>
                    <a:latin typeface="Arial"/>
                  </a:rPr>
                  <a:t> is rational exactly when </a:t>
                </a:r>
                <a:r>
                  <a:rPr lang="en-IN" sz="2400">
                    <a:solidFill>
                      <a:srgbClr val="78350F"/>
                    </a:solidFill>
                    <a:latin typeface="Cambria Math" panose="02040503050406030204" pitchFamily="18" charset="0"/>
                  </a:rPr>
                  <a:t>$3\mid r$</a:t>
                </a:r>
                <a:r>
                  <a:rPr sz="2400" b="0">
                    <a:solidFill>
                      <a:srgbClr val="78350F"/>
                    </a:solidFill>
                    <a:latin typeface="Arial"/>
                  </a:rPr>
                  <a:t> and </a:t>
                </a:r>
                <a:r>
                  <a:rPr lang="en-IN" sz="2400">
                    <a:solidFill>
                      <a:srgbClr val="78350F"/>
                    </a:solidFill>
                    <a:latin typeface="Cambria Math" panose="02040503050406030204" pitchFamily="18" charset="0"/>
                  </a:rPr>
                  <a:t>$5\mid(15-r)$</a:t>
                </a:r>
                <a:r>
                  <a:rPr sz="2400" b="0">
                    <a:solidFill>
                      <a:srgbClr val="78350F"/>
                    </a:solidFill>
                    <a:latin typeface="Arial"/>
                  </a:rPr>
                  <a:t>, i.e. </a:t>
                </a:r>
                <a:r>
                  <a:rPr lang="en-IN" sz="2400">
                    <a:solidFill>
                      <a:srgbClr val="78350F"/>
                    </a:solidFill>
                    <a:latin typeface="Cambria Math" panose="02040503050406030204" pitchFamily="18" charset="0"/>
                  </a:rPr>
                  <a:t>$r=0,15$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𝑟</m:t>
                            </m:r>
                          </m:den>
                        </m:f>
                      </m:e>
                    </m:d>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e>
                        </m:d>
                      </m:e>
                      <m:sup>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5</m:t>
                            </m:r>
                          </m:den>
                        </m:f>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Rational needs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to be integers: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the only values are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two rational terms.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$T_{r+1}=\binom{15}{r}\left(5^{1/3}\right)^r\left(2^{1/5}\right)^{15-r}=\binom{15}{r}5^{r/3}\,2^{\frac{15-r}{5}}$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Rational needs </a:t>
                </a:r>
                <a:r>
                  <a:rPr lang="en-IN" sz="2400">
                    <a:solidFill>
                      <a:srgbClr val="111827"/>
                    </a:solidFill>
                    <a:latin typeface="Cambria Math" panose="02040503050406030204" pitchFamily="18" charset="0"/>
                  </a:rPr>
                  <a:t>$\dfrac r3$</a:t>
                </a:r>
                <a:r>
                  <a:rPr sz="2400" b="0">
                    <a:solidFill>
                      <a:srgbClr val="111827"/>
                    </a:solidFill>
                    <a:latin typeface="Arial"/>
                  </a:rPr>
                  <a:t> and </a:t>
                </a:r>
                <a:r>
                  <a:rPr lang="en-IN" sz="2400">
                    <a:solidFill>
                      <a:srgbClr val="111827"/>
                    </a:solidFill>
                    <a:latin typeface="Cambria Math" panose="02040503050406030204" pitchFamily="18" charset="0"/>
                  </a:rPr>
                  <a:t>$\dfrac{15-r}{5}$</a:t>
                </a:r>
                <a:r>
                  <a:rPr sz="2400" b="0">
                    <a:solidFill>
                      <a:srgbClr val="111827"/>
                    </a:solidFill>
                    <a:latin typeface="Arial"/>
                  </a:rPr>
                  <a:t> to be integers: </a:t>
                </a:r>
                <a:r>
                  <a:rPr lang="en-IN" sz="2400">
                    <a:solidFill>
                      <a:srgbClr val="111827"/>
                    </a:solidFill>
                    <a:latin typeface="Cambria Math" panose="02040503050406030204" pitchFamily="18" charset="0"/>
                  </a:rPr>
                  <a:t>$3\mid r$</a:t>
                </a:r>
                <a:r>
                  <a:rPr sz="2400" b="0">
                    <a:solidFill>
                      <a:srgbClr val="111827"/>
                    </a:solidFill>
                    <a:latin typeface="Arial"/>
                  </a:rPr>
                  <a:t> and </a:t>
                </a:r>
                <a:r>
                  <a:rPr lang="en-IN" sz="2400">
                    <a:solidFill>
                      <a:srgbClr val="111827"/>
                    </a:solidFill>
                    <a:latin typeface="Cambria Math" panose="02040503050406030204" pitchFamily="18" charset="0"/>
                  </a:rPr>
                  <a:t>$5\mid r$</a:t>
                </a:r>
                <a:r>
                  <a:rPr sz="2400" b="0">
                    <a:solidFill>
                      <a:srgbClr val="111827"/>
                    </a:solidFill>
                    <a:latin typeface="Arial"/>
                  </a:rPr>
                  <a:t> (as </a:t>
                </a:r>
                <a:r>
                  <a:rPr lang="en-IN" sz="2400">
                    <a:solidFill>
                      <a:srgbClr val="111827"/>
                    </a:solidFill>
                    <a:latin typeface="Cambria Math" panose="02040503050406030204" pitchFamily="18" charset="0"/>
                  </a:rPr>
                  <a:t>$5\mid15$</a:t>
                </a:r>
                <a:r>
                  <a:rPr sz="2400" b="0">
                    <a:solidFill>
                      <a:srgbClr val="111827"/>
                    </a:solidFill>
                    <a:latin typeface="Arial"/>
                  </a:rPr>
                  <a:t>), so </a:t>
                </a:r>
                <a:r>
                  <a:rPr lang="en-IN" sz="2400">
                    <a:solidFill>
                      <a:srgbClr val="111827"/>
                    </a:solidFill>
                    <a:latin typeface="Cambria Math" panose="02040503050406030204" pitchFamily="18" charset="0"/>
                  </a:rPr>
                  <a:t>$15\mid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$0\le r\le15$</a:t>
                </a:r>
                <a:r>
                  <a:rPr sz="2400" b="0">
                    <a:solidFill>
                      <a:srgbClr val="111827"/>
                    </a:solidFill>
                    <a:latin typeface="Arial"/>
                  </a:rPr>
                  <a:t> the only values are </a:t>
                </a:r>
                <a:r>
                  <a:rPr lang="en-IN" sz="2400">
                    <a:solidFill>
                      <a:srgbClr val="111827"/>
                    </a:solidFill>
                    <a:latin typeface="Cambria Math" panose="02040503050406030204" pitchFamily="18" charset="0"/>
                  </a:rPr>
                  <a:t>$r=0$</a:t>
                </a:r>
                <a:r>
                  <a:rPr sz="2400" b="0">
                    <a:solidFill>
                      <a:srgbClr val="111827"/>
                    </a:solidFill>
                    <a:latin typeface="Arial"/>
                  </a:rPr>
                  <a:t> and </a:t>
                </a:r>
                <a:r>
                  <a:rPr lang="en-IN" sz="2400">
                    <a:solidFill>
                      <a:srgbClr val="111827"/>
                    </a:solidFill>
                    <a:latin typeface="Cambria Math" panose="02040503050406030204" pitchFamily="18" charset="0"/>
                  </a:rPr>
                  <a:t>$r=15$</a:t>
                </a:r>
                <a:r>
                  <a:rPr sz="2400" b="0">
                    <a:solidFill>
                      <a:srgbClr val="111827"/>
                    </a:solidFill>
                    <a:latin typeface="Arial"/>
                  </a:rPr>
                  <a:t>: two rational terms.</a:t>
                </a:r>
                <a:endParaRPr sz="2400">
                  <a:solidFill>
                    <a:srgbClr val="111827"/>
                  </a:solidFill>
                </a:endParaRPr>
              </a:p>
            </p:txBody>
          </p:sp>
        </mc:Fallback>
      </mc:AlternateContent>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0</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15</m:t>
                            </m:r>
                          </m:den>
                        </m:f>
                      </m:e>
                    </m:d>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3133</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$r=0$</a:t>
                </a:r>
                <a:r>
                  <a:rPr sz="2400" b="0">
                    <a:solidFill>
                      <a:srgbClr val="111827"/>
                    </a:solidFill>
                    <a:latin typeface="Arial"/>
                  </a:rPr>
                  <a:t>: </a:t>
                </a:r>
                <a:r>
                  <a:rPr lang="en-IN" sz="2400">
                    <a:solidFill>
                      <a:srgbClr val="111827"/>
                    </a:solidFill>
                    <a:latin typeface="Cambria Math" panose="02040503050406030204" pitchFamily="18" charset="0"/>
                  </a:rPr>
                  <a:t>$\binom{15}{0}2^{3}=8$</a:t>
                </a:r>
                <a:r>
                  <a:rPr sz="2400" b="0">
                    <a:solidFill>
                      <a:srgbClr val="111827"/>
                    </a:solidFill>
                    <a:latin typeface="Arial"/>
                  </a:rPr>
                  <a:t>; </a:t>
                </a:r>
                <a:r>
                  <a:rPr lang="en-IN" sz="2400">
                    <a:solidFill>
                      <a:srgbClr val="111827"/>
                    </a:solidFill>
                    <a:latin typeface="Cambria Math" panose="02040503050406030204" pitchFamily="18" charset="0"/>
                  </a:rPr>
                  <a:t>$r=15$</a:t>
                </a:r>
                <a:r>
                  <a:rPr sz="2400" b="0">
                    <a:solidFill>
                      <a:srgbClr val="111827"/>
                    </a:solidFill>
                    <a:latin typeface="Arial"/>
                  </a:rPr>
                  <a:t>: </a:t>
                </a:r>
                <a:r>
                  <a:rPr lang="en-IN" sz="2400">
                    <a:solidFill>
                      <a:srgbClr val="111827"/>
                    </a:solidFill>
                    <a:latin typeface="Cambria Math" panose="02040503050406030204" pitchFamily="18" charset="0"/>
                  </a:rPr>
                  <a:t>$\binom{15}{15}5^{5}=3125$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$=8+3125=3133$</a:t>
                </a:r>
                <a:r>
                  <a:rPr sz="2400" b="0">
                    <a:solidFill>
                      <a:srgbClr val="111827"/>
                    </a:solidFill>
                    <a:latin typeface="Arial"/>
                  </a:rPr>
                  <a:t>,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3133</a:t>
            </a:r>
            <a:endParaRPr sz="2800">
              <a:solidFill>
                <a:srgbClr val="15803D"/>
              </a:solidFill>
            </a:endParaRP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Rational terms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up>
                            </m:sSup>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primes):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coprime and divide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rational terms are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end terms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up>
                    </m:sSup>
                  </m:oMath>
                </a14:m>
                <a:r>
                  <a:rPr sz="2400" b="0">
                    <a:solidFill>
                      <a:srgbClr val="111827"/>
                    </a:solidFill>
                    <a:latin typeface="Arial"/>
                  </a:rPr>
                  <a:t> are rational whenever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3125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Rational terms of </a:t>
                </a:r>
                <a:r>
                  <a:rPr lang="en-IN" sz="2400">
                    <a:solidFill>
                      <a:srgbClr val="111827"/>
                    </a:solidFill>
                    <a:latin typeface="Cambria Math" panose="02040503050406030204" pitchFamily="18" charset="0"/>
                  </a:rPr>
                  <a:t>$\left(a^{1/p}+b^{1/q}\right)^n$</a:t>
                </a:r>
                <a:r>
                  <a:rPr sz="2400" b="0">
                    <a:solidFill>
                      <a:srgbClr val="111827"/>
                    </a:solidFill>
                    <a:latin typeface="Arial"/>
                  </a:rPr>
                  <a:t> (</a:t>
                </a:r>
                <a:r>
                  <a:rPr lang="en-IN" sz="2400">
                    <a:solidFill>
                      <a:srgbClr val="111827"/>
                    </a:solidFill>
                    <a:latin typeface="Cambria Math" panose="02040503050406030204" pitchFamily="18" charset="0"/>
                  </a:rPr>
                  <a:t>$a,b$</a:t>
                </a:r>
                <a:r>
                  <a:rPr sz="2400" b="0">
                    <a:solidFill>
                      <a:srgbClr val="111827"/>
                    </a:solidFill>
                    <a:latin typeface="Arial"/>
                  </a:rPr>
                  <a:t> primes): </a:t>
                </a:r>
                <a:r>
                  <a:rPr lang="en-IN" sz="2400">
                    <a:solidFill>
                      <a:srgbClr val="111827"/>
                    </a:solidFill>
                    <a:latin typeface="Cambria Math" panose="02040503050406030204" pitchFamily="18" charset="0"/>
                  </a:rPr>
                  <a:t>$q\mid r$</a:t>
                </a:r>
                <a:r>
                  <a:rPr sz="2400" b="0">
                    <a:solidFill>
                      <a:srgbClr val="111827"/>
                    </a:solidFill>
                    <a:latin typeface="Arial"/>
                  </a:rPr>
                  <a:t> and </a:t>
                </a:r>
                <a:r>
                  <a:rPr lang="en-IN" sz="2400">
                    <a:solidFill>
                      <a:srgbClr val="111827"/>
                    </a:solidFill>
                    <a:latin typeface="Cambria Math" panose="02040503050406030204" pitchFamily="18" charset="0"/>
                  </a:rPr>
                  <a:t>$p\mid(n-r)$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t>
                </a:r>
                <a:r>
                  <a:rPr lang="en-IN" sz="2400">
                    <a:solidFill>
                      <a:srgbClr val="111827"/>
                    </a:solidFill>
                    <a:latin typeface="Cambria Math" panose="02040503050406030204" pitchFamily="18" charset="0"/>
                  </a:rPr>
                  <a:t>$p,q$</a:t>
                </a:r>
                <a:r>
                  <a:rPr sz="2400" b="0">
                    <a:solidFill>
                      <a:srgbClr val="111827"/>
                    </a:solidFill>
                    <a:latin typeface="Arial"/>
                  </a:rPr>
                  <a:t> coprime and divide </a:t>
                </a:r>
                <a:r>
                  <a:rPr lang="en-IN" sz="2400">
                    <a:solidFill>
                      <a:srgbClr val="111827"/>
                    </a:solidFill>
                    <a:latin typeface="Cambria Math" panose="02040503050406030204" pitchFamily="18" charset="0"/>
                  </a:rPr>
                  <a:t>$n$</a:t>
                </a:r>
                <a:r>
                  <a:rPr sz="2400" b="0">
                    <a:solidFill>
                      <a:srgbClr val="111827"/>
                    </a:solidFill>
                    <a:latin typeface="Arial"/>
                  </a:rPr>
                  <a:t>, rational terms are at </a:t>
                </a:r>
                <a:r>
                  <a:rPr lang="en-IN" sz="2400">
                    <a:solidFill>
                      <a:srgbClr val="111827"/>
                    </a:solidFill>
                    <a:latin typeface="Cambria Math" panose="02040503050406030204" pitchFamily="18" charset="0"/>
                  </a:rPr>
                  <a:t>$r\equiv0\pmod{pq}$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end terms </a:t>
                </a:r>
                <a:r>
                  <a:rPr lang="en-IN" sz="2400">
                    <a:solidFill>
                      <a:srgbClr val="111827"/>
                    </a:solidFill>
                    <a:latin typeface="Cambria Math" panose="02040503050406030204" pitchFamily="18" charset="0"/>
                  </a:rPr>
                  <a:t>$a^{n/p}$</a:t>
                </a:r>
                <a:r>
                  <a:rPr sz="2400" b="0">
                    <a:solidFill>
                      <a:srgbClr val="111827"/>
                    </a:solidFill>
                    <a:latin typeface="Arial"/>
                  </a:rPr>
                  <a:t> and </a:t>
                </a:r>
                <a:r>
                  <a:rPr lang="en-IN" sz="2400">
                    <a:solidFill>
                      <a:srgbClr val="111827"/>
                    </a:solidFill>
                    <a:latin typeface="Cambria Math" panose="02040503050406030204" pitchFamily="18" charset="0"/>
                  </a:rPr>
                  <a:t>$b^{n/q}$</a:t>
                </a:r>
                <a:r>
                  <a:rPr sz="2400" b="0">
                    <a:solidFill>
                      <a:srgbClr val="111827"/>
                    </a:solidFill>
                    <a:latin typeface="Arial"/>
                  </a:rPr>
                  <a:t> are rational whenever </a:t>
                </a:r>
                <a:r>
                  <a:rPr lang="en-IN" sz="2400">
                    <a:solidFill>
                      <a:srgbClr val="111827"/>
                    </a:solidFill>
                    <a:latin typeface="Cambria Math" panose="02040503050406030204" pitchFamily="18" charset="0"/>
                  </a:rPr>
                  <a:t>$p\mid n$</a:t>
                </a:r>
                <a:r>
                  <a:rPr sz="2400" b="0">
                    <a:solidFill>
                      <a:srgbClr val="111827"/>
                    </a:solidFill>
                    <a:latin typeface="Arial"/>
                  </a:rPr>
                  <a:t> and </a:t>
                </a:r>
                <a:r>
                  <a:rPr lang="en-IN" sz="2400">
                    <a:solidFill>
                      <a:srgbClr val="111827"/>
                    </a:solidFill>
                    <a:latin typeface="Cambria Math" panose="02040503050406030204" pitchFamily="18" charset="0"/>
                  </a:rPr>
                  <a:t>$q\mid 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$2^{15/5}=2^3=8$</a:t>
                </a:r>
                <a:r>
                  <a:rPr sz="2400" b="0">
                    <a:solidFill>
                      <a:srgbClr val="111827"/>
                    </a:solidFill>
                    <a:latin typeface="Arial"/>
                  </a:rPr>
                  <a:t> and </a:t>
                </a:r>
                <a:r>
                  <a:rPr lang="en-IN" sz="2400">
                    <a:solidFill>
                      <a:srgbClr val="111827"/>
                    </a:solidFill>
                    <a:latin typeface="Cambria Math" panose="02040503050406030204" pitchFamily="18" charset="0"/>
                  </a:rPr>
                  <a:t>$5^{15/3}=5^5=3125$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coefficients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oMath>
                </a14:m>
                <a:r>
                  <a:rPr sz="2400" b="0">
                    <a:solidFill>
                      <a:srgbClr val="111827"/>
                    </a:solidFill>
                    <a:latin typeface="Arial"/>
                  </a:rPr>
                  <a:t> in the expansion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are in arithmetic progression, then the maximum value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28</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14</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coefficients of </a:t>
                </a:r>
                <a:r>
                  <a:rPr lang="en-IN" sz="2400">
                    <a:solidFill>
                      <a:srgbClr val="111827"/>
                    </a:solidFill>
                    <a:latin typeface="Cambria Math" panose="02040503050406030204" pitchFamily="18" charset="0"/>
                  </a:rPr>
                  <a:t>$x^4$</a:t>
                </a:r>
                <a:r>
                  <a:rPr sz="2400" b="0">
                    <a:solidFill>
                      <a:srgbClr val="111827"/>
                    </a:solidFill>
                    <a:latin typeface="Arial"/>
                  </a:rPr>
                  <a:t>, </a:t>
                </a:r>
                <a:r>
                  <a:rPr lang="en-IN" sz="2400">
                    <a:solidFill>
                      <a:srgbClr val="111827"/>
                    </a:solidFill>
                    <a:latin typeface="Cambria Math" panose="02040503050406030204" pitchFamily="18" charset="0"/>
                  </a:rPr>
                  <a:t>$x^5$</a:t>
                </a:r>
                <a:r>
                  <a:rPr sz="2400" b="0">
                    <a:solidFill>
                      <a:srgbClr val="111827"/>
                    </a:solidFill>
                    <a:latin typeface="Arial"/>
                  </a:rPr>
                  <a:t> and </a:t>
                </a:r>
                <a:r>
                  <a:rPr lang="en-IN" sz="2400">
                    <a:solidFill>
                      <a:srgbClr val="111827"/>
                    </a:solidFill>
                    <a:latin typeface="Cambria Math" panose="02040503050406030204" pitchFamily="18" charset="0"/>
                  </a:rPr>
                  <a:t>$x^6$</a:t>
                </a:r>
                <a:r>
                  <a:rPr sz="2400" b="0">
                    <a:solidFill>
                      <a:srgbClr val="111827"/>
                    </a:solidFill>
                    <a:latin typeface="Arial"/>
                  </a:rPr>
                  <a:t> in the expansion of </a:t>
                </a:r>
                <a:r>
                  <a:rPr lang="en-IN" sz="2400">
                    <a:solidFill>
                      <a:srgbClr val="111827"/>
                    </a:solidFill>
                    <a:latin typeface="Cambria Math" panose="02040503050406030204" pitchFamily="18" charset="0"/>
                  </a:rPr>
                  <a:t>$(1+x)^n$</a:t>
                </a:r>
                <a:r>
                  <a:rPr sz="2400" b="0">
                    <a:solidFill>
                      <a:srgbClr val="111827"/>
                    </a:solidFill>
                    <a:latin typeface="Arial"/>
                  </a:rPr>
                  <a:t> are in arithmetic progression, then the maximum value of </a:t>
                </a:r>
                <a:r>
                  <a:rPr lang="en-IN" sz="2400">
                    <a:solidFill>
                      <a:srgbClr val="111827"/>
                    </a:solidFill>
                    <a:latin typeface="Cambria Math" panose="02040503050406030204" pitchFamily="18" charset="0"/>
                  </a:rPr>
                  <a:t>$n$</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$28$</a:t>
                </a:r>
                <a:r>
                  <a:rPr sz="2400" b="0">
                    <a:solidFill>
                      <a:srgbClr val="111827"/>
                    </a:solidFill>
                    <a:latin typeface="Arial"/>
                  </a:rPr>
                  <a:t>   (B) </a:t>
                </a:r>
                <a:r>
                  <a:rPr lang="en-IN" sz="2400">
                    <a:solidFill>
                      <a:srgbClr val="111827"/>
                    </a:solidFill>
                    <a:latin typeface="Cambria Math" panose="02040503050406030204" pitchFamily="18" charset="0"/>
                  </a:rPr>
                  <a:t>$7$</a:t>
                </a:r>
                <a:r>
                  <a:rPr sz="2400" b="0">
                    <a:solidFill>
                      <a:srgbClr val="111827"/>
                    </a:solidFill>
                    <a:latin typeface="Arial"/>
                  </a:rPr>
                  <a:t>   (C) </a:t>
                </a:r>
                <a:r>
                  <a:rPr lang="en-IN" sz="2400">
                    <a:solidFill>
                      <a:srgbClr val="111827"/>
                    </a:solidFill>
                    <a:latin typeface="Cambria Math" panose="02040503050406030204" pitchFamily="18" charset="0"/>
                  </a:rPr>
                  <a:t>$21$</a:t>
                </a:r>
                <a:r>
                  <a:rPr sz="2400" b="0">
                    <a:solidFill>
                      <a:srgbClr val="111827"/>
                    </a:solidFill>
                    <a:latin typeface="Arial"/>
                  </a:rPr>
                  <a:t>   (D) </a:t>
                </a:r>
                <a:r>
                  <a:rPr lang="en-IN" sz="2400">
                    <a:solidFill>
                      <a:srgbClr val="111827"/>
                    </a:solidFill>
                    <a:latin typeface="Cambria Math" panose="02040503050406030204" pitchFamily="18" charset="0"/>
                  </a:rPr>
                  <a:t>$14$</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coefficients in arithmetic progression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Set </a:t>
                </a:r>
                <a14:m>
                  <m:oMath xmlns:m="http://schemas.openxmlformats.org/officeDocument/2006/math">
                    <m:r>
                      <a:rPr lang="en-IN" sz="2400" i="1">
                        <a:solidFill>
                          <a:srgbClr val="78350F"/>
                        </a:solidFill>
                        <a:latin typeface="Cambria Math" panose="02040503050406030204" pitchFamily="18" charset="0"/>
                      </a:rPr>
                      <m:t>2</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5</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4</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6</m:t>
                            </m:r>
                          </m:den>
                        </m:f>
                      </m:e>
                    </m:d>
                  </m:oMath>
                </a14:m>
                <a:r>
                  <a:rPr sz="2400" b="0">
                    <a:solidFill>
                      <a:srgbClr val="78350F"/>
                    </a:solidFill>
                    <a:latin typeface="Arial"/>
                  </a:rPr>
                  <a:t> and reduce to </a:t>
                </a:r>
                <a14:m>
                  <m:oMath xmlns:m="http://schemas.openxmlformats.org/officeDocument/2006/math">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21</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98</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Set </a:t>
                </a:r>
                <a:r>
                  <a:rPr lang="en-IN" sz="2400">
                    <a:solidFill>
                      <a:srgbClr val="78350F"/>
                    </a:solidFill>
                    <a:latin typeface="Cambria Math" panose="02040503050406030204" pitchFamily="18" charset="0"/>
                  </a:rPr>
                  <a:t>$2\binom n5=\binom n4+\binom n6$</a:t>
                </a:r>
                <a:r>
                  <a:rPr sz="2400" b="0">
                    <a:solidFill>
                      <a:srgbClr val="78350F"/>
                    </a:solidFill>
                    <a:latin typeface="Arial"/>
                  </a:rPr>
                  <a:t> and reduce to </a:t>
                </a:r>
                <a:r>
                  <a:rPr lang="en-IN" sz="2400">
                    <a:solidFill>
                      <a:srgbClr val="78350F"/>
                    </a:solidFill>
                    <a:latin typeface="Cambria Math" panose="02040503050406030204" pitchFamily="18" charset="0"/>
                  </a:rPr>
                  <a:t>$n^2-21n+98=0$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coefficients are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6</m:t>
                            </m:r>
                          </m:den>
                        </m:f>
                      </m:e>
                    </m:d>
                  </m:oMath>
                </a14:m>
                <a:r>
                  <a:rPr sz="2400" b="0">
                    <a:solidFill>
                      <a:srgbClr val="111827"/>
                    </a:solidFill>
                    <a:latin typeface="Arial"/>
                  </a:rPr>
                  <a:t> and they are in A.P., so </a:t>
                </a:r>
                <a14:m>
                  <m:oMath xmlns:m="http://schemas.openxmlformats.org/officeDocument/2006/math">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6</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30</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coefficients are </a:t>
                </a:r>
                <a:r>
                  <a:rPr lang="en-IN" sz="2400">
                    <a:solidFill>
                      <a:srgbClr val="111827"/>
                    </a:solidFill>
                    <a:latin typeface="Cambria Math" panose="02040503050406030204" pitchFamily="18" charset="0"/>
                  </a:rPr>
                  <a:t>$\binom n4,\binom n5,\binom n6$</a:t>
                </a:r>
                <a:r>
                  <a:rPr sz="2400" b="0">
                    <a:solidFill>
                      <a:srgbClr val="111827"/>
                    </a:solidFill>
                    <a:latin typeface="Arial"/>
                  </a:rPr>
                  <a:t> and they are in A.P., so </a:t>
                </a:r>
                <a:r>
                  <a:rPr lang="en-IN" sz="2400">
                    <a:solidFill>
                      <a:srgbClr val="111827"/>
                    </a:solidFill>
                    <a:latin typeface="Cambria Math" panose="02040503050406030204" pitchFamily="18" charset="0"/>
                  </a:rPr>
                  <a:t>$2\binom n5=\binom n4+\binom n6$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$\dfrac{2\cdot n!}{5!\,(n-5)!}=\dfrac{n!}{4!\,(n-4)!}+\dfrac{n!}{6!\,(n-6)!}$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r>
                  <a:rPr lang="en-IN" sz="2400">
                    <a:solidFill>
                      <a:srgbClr val="111827"/>
                    </a:solidFill>
                    <a:latin typeface="Cambria Math" panose="02040503050406030204" pitchFamily="18" charset="0"/>
                  </a:rPr>
                  <a:t>$\dfrac{n!}{4!\,(n-6)!}$</a:t>
                </a:r>
                <a:r>
                  <a:rPr sz="2400" b="0">
                    <a:solidFill>
                      <a:srgbClr val="111827"/>
                    </a:solidFill>
                    <a:latin typeface="Arial"/>
                  </a:rPr>
                  <a:t>: </a:t>
                </a:r>
                <a:r>
                  <a:rPr lang="en-IN" sz="2400">
                    <a:solidFill>
                      <a:srgbClr val="111827"/>
                    </a:solidFill>
                    <a:latin typeface="Cambria Math" panose="02040503050406030204" pitchFamily="18" charset="0"/>
                  </a:rPr>
                  <a:t>$\dfrac{2}{5(n-5)}=\dfrac{1}{(n-4)(n-5)}+\dfrac{1}{30}$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r>
                  <a:rPr lang="en-IN" sz="2400">
                    <a:solidFill>
                      <a:srgbClr val="111827"/>
                    </a:solidFill>
                    <a:latin typeface="Cambria Math" panose="02040503050406030204" pitchFamily="18" charset="0"/>
                  </a:rPr>
                  <a:t>$(n-4)(n-5)$</a:t>
                </a:r>
                <a:r>
                  <a:rPr sz="2400" b="0">
                    <a:solidFill>
                      <a:srgbClr val="111827"/>
                    </a:solidFill>
                    <a:latin typeface="Arial"/>
                  </a:rPr>
                  <a:t>: </a:t>
                </a:r>
                <a:r>
                  <a:rPr lang="en-IN" sz="2400">
                    <a:solidFill>
                      <a:srgbClr val="111827"/>
                    </a:solidFill>
                    <a:latin typeface="Cambria Math" panose="02040503050406030204" pitchFamily="18" charset="0"/>
                  </a:rPr>
                  <a:t>$\dfrac{2(n-4)}{5}=1+\dfrac{(n-4)(n-5)}{30}$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14:m>
                  <m:oMath xmlns:m="http://schemas.openxmlformats.org/officeDocument/2006/math">
                    <m:r>
                      <a:rPr lang="en-IN" sz="2400" i="1">
                        <a:solidFill>
                          <a:srgbClr val="111827"/>
                        </a:solidFill>
                        <a:latin typeface="Cambria Math" panose="02040503050406030204" pitchFamily="18" charset="0"/>
                      </a:rPr>
                      <m:t>30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maximum value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r>
                  <a:rPr lang="en-IN" sz="2400">
                    <a:solidFill>
                      <a:srgbClr val="111827"/>
                    </a:solidFill>
                    <a:latin typeface="Cambria Math" panose="02040503050406030204" pitchFamily="18" charset="0"/>
                  </a:rPr>
                  <a:t>$30$</a:t>
                </a:r>
                <a:r>
                  <a:rPr sz="2400" b="0">
                    <a:solidFill>
                      <a:srgbClr val="111827"/>
                    </a:solidFill>
                    <a:latin typeface="Arial"/>
                  </a:rPr>
                  <a:t>: </a:t>
                </a:r>
                <a:r>
                  <a:rPr lang="en-IN" sz="2400">
                    <a:solidFill>
                      <a:srgbClr val="111827"/>
                    </a:solidFill>
                    <a:latin typeface="Cambria Math" panose="02040503050406030204" pitchFamily="18" charset="0"/>
                  </a:rPr>
                  <a:t>$12(n-4)=30+(n-4)(n-5)$</a:t>
                </a:r>
                <a:r>
                  <a:rPr sz="2400" b="0">
                    <a:solidFill>
                      <a:srgbClr val="111827"/>
                    </a:solidFill>
                    <a:latin typeface="Arial"/>
                  </a:rPr>
                  <a:t>, i.e. </a:t>
                </a:r>
                <a:r>
                  <a:rPr lang="en-IN" sz="2400">
                    <a:solidFill>
                      <a:srgbClr val="111827"/>
                    </a:solidFill>
                    <a:latin typeface="Cambria Math" panose="02040503050406030204" pitchFamily="18" charset="0"/>
                  </a:rPr>
                  <a:t>$12n-48=30+n^2-9n+20$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$n^2-21n+98=0\Rightarrow(n-7)(n-14)=0$</a:t>
                </a:r>
                <a:r>
                  <a:rPr sz="2400" b="0">
                    <a:solidFill>
                      <a:srgbClr val="111827"/>
                    </a:solidFill>
                    <a:latin typeface="Arial"/>
                  </a:rPr>
                  <a:t>, so </a:t>
                </a:r>
                <a:r>
                  <a:rPr lang="en-IN" sz="2400">
                    <a:solidFill>
                      <a:srgbClr val="111827"/>
                    </a:solidFill>
                    <a:latin typeface="Cambria Math" panose="02040503050406030204" pitchFamily="18" charset="0"/>
                  </a:rPr>
                  <a:t>$n=7$</a:t>
                </a:r>
                <a:r>
                  <a:rPr sz="2400" b="0">
                    <a:solidFill>
                      <a:srgbClr val="111827"/>
                    </a:solidFill>
                    <a:latin typeface="Arial"/>
                  </a:rPr>
                  <a:t> or </a:t>
                </a:r>
                <a:r>
                  <a:rPr lang="en-IN" sz="2400">
                    <a:solidFill>
                      <a:srgbClr val="111827"/>
                    </a:solidFill>
                    <a:latin typeface="Cambria Math" panose="02040503050406030204" pitchFamily="18" charset="0"/>
                  </a:rPr>
                  <a:t>$n=14$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maximum value of </a:t>
                </a:r>
                <a:r>
                  <a:rPr lang="en-IN" sz="2400">
                    <a:solidFill>
                      <a:srgbClr val="111827"/>
                    </a:solidFill>
                    <a:latin typeface="Cambria Math" panose="02040503050406030204" pitchFamily="18" charset="0"/>
                  </a:rPr>
                  <a:t>$n$</a:t>
                </a:r>
                <a:r>
                  <a:rPr sz="2400" b="0">
                    <a:solidFill>
                      <a:srgbClr val="111827"/>
                    </a:solidFill>
                    <a:latin typeface="Arial"/>
                  </a:rPr>
                  <a:t> is </a:t>
                </a:r>
                <a:r>
                  <a:rPr lang="en-IN" sz="2400">
                    <a:solidFill>
                      <a:srgbClr val="111827"/>
                    </a:solidFill>
                    <a:latin typeface="Cambria Math" panose="02040503050406030204" pitchFamily="18" charset="0"/>
                  </a:rPr>
                  <a:t>$14$</a:t>
                </a:r>
                <a:r>
                  <a:rPr sz="2400" b="0">
                    <a:solidFill>
                      <a:srgbClr val="111827"/>
                    </a:solidFill>
                    <a:latin typeface="Arial"/>
                  </a:rPr>
                  <a:t>,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14</a:t>
            </a:r>
            <a:endParaRPr sz="2800">
              <a:solidFill>
                <a:srgbClr val="15803D"/>
              </a:solidFill>
            </a:endParaRP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Pascal's rule twice: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4</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5</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6</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6</m:t>
                            </m:r>
                          </m:den>
                        </m:f>
                      </m:e>
                    </m:d>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Pascal's rule twice: </a:t>
                </a:r>
                <a:r>
                  <a:rPr lang="en-IN" sz="2400">
                    <a:solidFill>
                      <a:srgbClr val="78350F"/>
                    </a:solidFill>
                    <a:latin typeface="Cambria Math" panose="02040503050406030204" pitchFamily="18" charset="0"/>
                  </a:rPr>
                  <a:t>$\binom n4+2\binom n5+\binom n6=\binom{n+2}{6}$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Pascal twice: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5</m:t>
                                </m:r>
                              </m:den>
                            </m:f>
                          </m:e>
                        </m:d>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6</m:t>
                                </m:r>
                              </m:den>
                            </m:f>
                          </m:e>
                        </m:d>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A.P. condition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5</m:t>
                            </m:r>
                          </m:den>
                        </m:f>
                      </m:e>
                    </m:d>
                  </m:oMath>
                </a14:m>
                <a:r>
                  <a:rPr sz="2400" b="0">
                    <a:solidFill>
                      <a:srgbClr val="111827"/>
                    </a:solidFill>
                    <a:latin typeface="Arial"/>
                  </a:rPr>
                  <a:t>; adding </a:t>
                </a:r>
                <a14:m>
                  <m:oMath xmlns:m="http://schemas.openxmlformats.org/officeDocument/2006/math">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5</m:t>
                            </m:r>
                          </m:den>
                        </m:f>
                      </m:e>
                    </m:d>
                  </m:oMath>
                </a14:m>
                <a:r>
                  <a:rPr sz="2400" b="0">
                    <a:solidFill>
                      <a:srgbClr val="111827"/>
                    </a:solidFill>
                    <a:latin typeface="Arial"/>
                  </a:rPr>
                  <a:t> to both sides gives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5</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5</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and the maximum is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Pascal twice: </a:t>
                </a:r>
                <a:r>
                  <a:rPr lang="en-IN" sz="2400">
                    <a:solidFill>
                      <a:srgbClr val="111827"/>
                    </a:solidFill>
                    <a:latin typeface="Cambria Math" panose="02040503050406030204" pitchFamily="18" charset="0"/>
                  </a:rPr>
                  <a:t>$\left[\binom n4+\binom n5\right]+\left[\binom n5+\binom n6\right]=\binom{n+1}{5}+\binom{n+1}{6}=\binom{n+2}{6}$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A.P. condition is </a:t>
                </a:r>
                <a:r>
                  <a:rPr lang="en-IN" sz="2400">
                    <a:solidFill>
                      <a:srgbClr val="111827"/>
                    </a:solidFill>
                    <a:latin typeface="Cambria Math" panose="02040503050406030204" pitchFamily="18" charset="0"/>
                  </a:rPr>
                  <a:t>$\binom n4+\binom n6=2\binom n5$</a:t>
                </a:r>
                <a:r>
                  <a:rPr sz="2400" b="0">
                    <a:solidFill>
                      <a:srgbClr val="111827"/>
                    </a:solidFill>
                    <a:latin typeface="Arial"/>
                  </a:rPr>
                  <a:t>; adding </a:t>
                </a:r>
                <a:r>
                  <a:rPr lang="en-IN" sz="2400">
                    <a:solidFill>
                      <a:srgbClr val="111827"/>
                    </a:solidFill>
                    <a:latin typeface="Cambria Math" panose="02040503050406030204" pitchFamily="18" charset="0"/>
                  </a:rPr>
                  <a:t>$2\binom n5$</a:t>
                </a:r>
                <a:r>
                  <a:rPr sz="2400" b="0">
                    <a:solidFill>
                      <a:srgbClr val="111827"/>
                    </a:solidFill>
                    <a:latin typeface="Arial"/>
                  </a:rPr>
                  <a:t> to both sides gives </a:t>
                </a:r>
                <a:r>
                  <a:rPr lang="en-IN" sz="2400">
                    <a:solidFill>
                      <a:srgbClr val="111827"/>
                    </a:solidFill>
                    <a:latin typeface="Cambria Math" panose="02040503050406030204" pitchFamily="18" charset="0"/>
                  </a:rPr>
                  <a:t>$\binom{n+2}{6}=4\binom n5$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$\dfrac{\binom{n+2}{6}}{\binom n5}=\dfrac{(n+2)(n+1)}{6(n-4)}=4\Rightarrow(n+2)(n+1)=24(n-4)$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$n^2+3n+2=24n-96\Rightarrow n^2-21n+98=0$</a:t>
                </a:r>
                <a:r>
                  <a:rPr sz="2400" b="0">
                    <a:solidFill>
                      <a:srgbClr val="111827"/>
                    </a:solidFill>
                    <a:latin typeface="Arial"/>
                  </a:rPr>
                  <a:t>, so </a:t>
                </a:r>
                <a:r>
                  <a:rPr lang="en-IN" sz="2400">
                    <a:solidFill>
                      <a:srgbClr val="111827"/>
                    </a:solidFill>
                    <a:latin typeface="Cambria Math" panose="02040503050406030204" pitchFamily="18" charset="0"/>
                  </a:rPr>
                  <a:t>$n=7$</a:t>
                </a:r>
                <a:r>
                  <a:rPr sz="2400" b="0">
                    <a:solidFill>
                      <a:srgbClr val="111827"/>
                    </a:solidFill>
                    <a:latin typeface="Arial"/>
                  </a:rPr>
                  <a:t> or </a:t>
                </a:r>
                <a:r>
                  <a:rPr lang="en-IN" sz="2400">
                    <a:solidFill>
                      <a:srgbClr val="111827"/>
                    </a:solidFill>
                    <a:latin typeface="Cambria Math" panose="02040503050406030204" pitchFamily="18" charset="0"/>
                  </a:rPr>
                  <a:t>$14$</a:t>
                </a:r>
                <a:r>
                  <a:rPr sz="2400" b="0">
                    <a:solidFill>
                      <a:srgbClr val="111827"/>
                    </a:solidFill>
                    <a:latin typeface="Arial"/>
                  </a:rPr>
                  <a:t> and the maximum is </a:t>
                </a:r>
                <a:r>
                  <a:rPr lang="en-IN" sz="2400">
                    <a:solidFill>
                      <a:srgbClr val="111827"/>
                    </a:solidFill>
                    <a:latin typeface="Cambria Math" panose="02040503050406030204" pitchFamily="18" charset="0"/>
                  </a:rPr>
                  <a:t>$14$</a:t>
                </a:r>
                <a:r>
                  <a:rPr sz="2400" b="0">
                    <a:solidFill>
                      <a:srgbClr val="111827"/>
                    </a:solidFill>
                    <a:latin typeface="Arial"/>
                  </a:rPr>
                  <a:t>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14</a:t>
            </a:r>
            <a:endParaRPr sz="2800">
              <a:solidFill>
                <a:srgbClr val="15803D"/>
              </a:solidFill>
            </a:endParaRP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Three consecutive binomial coefficients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are in A.P. iff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(Both give integer A.P.: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Ratios: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three coefficients are in A.P. the 'ratio' form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the same quadratic.</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Three consecutive binomial coefficients </a:t>
                </a:r>
                <a:r>
                  <a:rPr lang="en-IN" sz="2400">
                    <a:solidFill>
                      <a:srgbClr val="111827"/>
                    </a:solidFill>
                    <a:latin typeface="Cambria Math" panose="02040503050406030204" pitchFamily="18" charset="0"/>
                  </a:rPr>
                  <a:t>$\binom n{r-1},\binom nr,\binom n{r+1}$</a:t>
                </a:r>
                <a:r>
                  <a:rPr sz="2400" b="0">
                    <a:solidFill>
                      <a:srgbClr val="111827"/>
                    </a:solidFill>
                    <a:latin typeface="Arial"/>
                  </a:rPr>
                  <a:t> are in A.P. iff </a:t>
                </a:r>
                <a:r>
                  <a:rPr lang="en-IN" sz="2400">
                    <a:solidFill>
                      <a:srgbClr val="111827"/>
                    </a:solidFill>
                    <a:latin typeface="Cambria Math" panose="02040503050406030204" pitchFamily="18" charset="0"/>
                  </a:rPr>
                  <a:t>$(n-2r)^2=n+2$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$r=5$</a:t>
                </a:r>
                <a:r>
                  <a:rPr sz="2400" b="0">
                    <a:solidFill>
                      <a:srgbClr val="111827"/>
                    </a:solidFill>
                    <a:latin typeface="Arial"/>
                  </a:rPr>
                  <a:t>: </a:t>
                </a:r>
                <a:r>
                  <a:rPr lang="en-IN" sz="2400">
                    <a:solidFill>
                      <a:srgbClr val="111827"/>
                    </a:solidFill>
                    <a:latin typeface="Cambria Math" panose="02040503050406030204" pitchFamily="18" charset="0"/>
                  </a:rPr>
                  <a:t>$(n-10)^2=n+2\Rightarrow n^2-21n+98=0$</a:t>
                </a:r>
                <a:r>
                  <a:rPr sz="2400" b="0">
                    <a:solidFill>
                      <a:srgbClr val="111827"/>
                    </a:solidFill>
                    <a:latin typeface="Arial"/>
                  </a:rPr>
                  <a:t>, </a:t>
                </a:r>
                <a:r>
                  <a:rPr lang="en-IN" sz="2400">
                    <a:solidFill>
                      <a:srgbClr val="111827"/>
                    </a:solidFill>
                    <a:latin typeface="Cambria Math" panose="02040503050406030204" pitchFamily="18" charset="0"/>
                  </a:rPr>
                  <a:t>$n=7,14$</a:t>
                </a:r>
                <a:r>
                  <a:rPr sz="2400" b="0">
                    <a:solidFill>
                      <a:srgbClr val="111827"/>
                    </a:solidFill>
                    <a:latin typeface="Arial"/>
                  </a:rPr>
                  <a:t>. (Both give integer A.P.: </a:t>
                </a:r>
                <a:r>
                  <a:rPr lang="en-IN" sz="2400">
                    <a:solidFill>
                      <a:srgbClr val="111827"/>
                    </a:solidFill>
                    <a:latin typeface="Cambria Math" panose="02040503050406030204" pitchFamily="18" charset="0"/>
                  </a:rPr>
                  <a:t>$n=14$</a:t>
                </a:r>
                <a:r>
                  <a:rPr sz="2400" b="0">
                    <a:solidFill>
                      <a:srgbClr val="111827"/>
                    </a:solidFill>
                    <a:latin typeface="Arial"/>
                  </a:rPr>
                  <a:t>: </a:t>
                </a:r>
                <a:r>
                  <a:rPr lang="en-IN" sz="2400">
                    <a:solidFill>
                      <a:srgbClr val="111827"/>
                    </a:solidFill>
                    <a:latin typeface="Cambria Math" panose="02040503050406030204" pitchFamily="18" charset="0"/>
                  </a:rPr>
                  <a:t>$1001,2002,3003$</a:t>
                </a:r>
                <a:r>
                  <a:rPr sz="2400" b="0">
                    <a:solidFill>
                      <a:srgbClr val="111827"/>
                    </a:solidFill>
                    <a:latin typeface="Arial"/>
                  </a:rPr>
                  <a:t>; </a:t>
                </a:r>
                <a:r>
                  <a:rPr lang="en-IN" sz="2400">
                    <a:solidFill>
                      <a:srgbClr val="111827"/>
                    </a:solidFill>
                    <a:latin typeface="Cambria Math" panose="02040503050406030204" pitchFamily="18" charset="0"/>
                  </a:rPr>
                  <a:t>$n=7$</a:t>
                </a:r>
                <a:r>
                  <a:rPr sz="2400" b="0">
                    <a:solidFill>
                      <a:srgbClr val="111827"/>
                    </a:solidFill>
                    <a:latin typeface="Arial"/>
                  </a:rPr>
                  <a:t>: </a:t>
                </a:r>
                <a:r>
                  <a:rPr lang="en-IN" sz="2400">
                    <a:solidFill>
                      <a:srgbClr val="111827"/>
                    </a:solidFill>
                    <a:latin typeface="Cambria Math" panose="02040503050406030204" pitchFamily="18" charset="0"/>
                  </a:rPr>
                  <a:t>$35,21,7$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Ratios: </a:t>
                </a:r>
                <a:r>
                  <a:rPr lang="en-IN" sz="2400">
                    <a:solidFill>
                      <a:srgbClr val="111827"/>
                    </a:solidFill>
                    <a:latin typeface="Cambria Math" panose="02040503050406030204" pitchFamily="18" charset="0"/>
                  </a:rPr>
                  <a:t>$\frac{\binom n{r+1}}{\binom nr}=\frac{n-r}{r+1}$</a:t>
                </a:r>
                <a:r>
                  <a:rPr sz="2400" b="0">
                    <a:solidFill>
                      <a:srgbClr val="111827"/>
                    </a:solidFill>
                    <a:latin typeface="Arial"/>
                  </a:rPr>
                  <a:t> and </a:t>
                </a:r>
                <a:r>
                  <a:rPr lang="en-IN" sz="2400">
                    <a:solidFill>
                      <a:srgbClr val="111827"/>
                    </a:solidFill>
                    <a:latin typeface="Cambria Math" panose="02040503050406030204" pitchFamily="18" charset="0"/>
                  </a:rPr>
                  <a:t>$\frac{\binom nr}{\binom n{r-1}}=\frac{n-r+1}{r}$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three coefficients are in A.P. the 'ratio' form </a:t>
                </a:r>
                <a:r>
                  <a:rPr lang="en-IN" sz="2400">
                    <a:solidFill>
                      <a:srgbClr val="111827"/>
                    </a:solidFill>
                    <a:latin typeface="Cambria Math" panose="02040503050406030204" pitchFamily="18" charset="0"/>
                  </a:rPr>
                  <a:t>$\frac{r}{n-r+1}+\frac{n-r}{r+1}=2$</a:t>
                </a:r>
                <a:r>
                  <a:rPr sz="2400" b="0">
                    <a:solidFill>
                      <a:srgbClr val="111827"/>
                    </a:solidFill>
                    <a:latin typeface="Arial"/>
                  </a:rPr>
                  <a:t> gives the same quadratic.</a:t>
                </a:r>
                <a:endParaRPr sz="2400">
                  <a:solidFill>
                    <a:srgbClr val="111827"/>
                  </a:solidFill>
                </a:endParaRPr>
              </a:p>
            </p:txBody>
          </p:sp>
        </mc:Fallback>
      </mc:AlternateContent>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constant term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ad>
                                  <m:deg>
                                    <m:r>
                                      <a:rPr lang="en-IN" sz="2400" i="1">
                                        <a:solidFill>
                                          <a:srgbClr val="111827"/>
                                        </a:solidFill>
                                        <a:latin typeface="Cambria Math" panose="02040503050406030204" pitchFamily="18" charset="0"/>
                                      </a:rPr>
                                      <m:t>5</m:t>
                                    </m: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ad>
                                  <m:deg>
                                    <m:r>
                                      <a:rPr lang="en-IN" sz="2400" i="1">
                                        <a:solidFill>
                                          <a:srgbClr val="111827"/>
                                        </a:solidFill>
                                        <a:latin typeface="Cambria Math" panose="02040503050406030204" pitchFamily="18" charset="0"/>
                                      </a:rPr>
                                      <m:t>3</m:t>
                                    </m:r>
                                  </m:deg>
                                  <m:e>
                                    <m:r>
                                      <a:rPr lang="en-IN" sz="2400" i="1">
                                        <a:solidFill>
                                          <a:srgbClr val="111827"/>
                                        </a:solidFill>
                                        <a:latin typeface="Cambria Math" panose="02040503050406030204" pitchFamily="18" charset="0"/>
                                      </a:rPr>
                                      <m:t>5</m:t>
                                    </m:r>
                                  </m:e>
                                </m:rad>
                              </m:den>
                            </m:f>
                          </m:e>
                        </m:d>
                      </m:e>
                      <m:sup>
                        <m:r>
                          <a:rPr lang="en-IN" sz="2400" i="1">
                            <a:solidFill>
                              <a:srgbClr val="111827"/>
                            </a:solidFill>
                            <a:latin typeface="Cambria Math" panose="02040503050406030204" pitchFamily="18" charset="0"/>
                          </a:rPr>
                          <m:t>12</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ad>
                      <m:deg>
                        <m:r>
                          <a:rPr lang="en-IN" sz="2400" i="1">
                            <a:solidFill>
                              <a:srgbClr val="111827"/>
                            </a:solidFill>
                            <a:latin typeface="Cambria Math" panose="02040503050406030204" pitchFamily="18" charset="0"/>
                          </a:rPr>
                          <m:t>5</m:t>
                        </m:r>
                      </m:deg>
                      <m:e>
                        <m:r>
                          <a:rPr lang="en-IN" sz="2400" i="1">
                            <a:solidFill>
                              <a:srgbClr val="111827"/>
                            </a:solidFill>
                            <a:latin typeface="Cambria Math" panose="02040503050406030204" pitchFamily="18" charset="0"/>
                          </a:rPr>
                          <m:t>3</m:t>
                        </m:r>
                      </m:e>
                    </m:rad>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α</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724</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742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693</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639</m:t>
                    </m:r>
                  </m:oMath>
                </a14:m>
                <a:endParaRPr sz="2400">
                  <a:solidFill>
                    <a:srgbClr val="111827"/>
                  </a:solidFill>
                </a:endParaRPr>
              </a:p>
            </p:txBody>
          </p:sp>
        </mc:Choice>
        <mc:Fallback>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constant term in the expansion of </a:t>
                </a:r>
                <a:r>
                  <a:rPr lang="en-IN" sz="2400">
                    <a:solidFill>
                      <a:srgbClr val="111827"/>
                    </a:solidFill>
                    <a:latin typeface="Cambria Math" panose="02040503050406030204" pitchFamily="18" charset="0"/>
                  </a:rPr>
                  <a:t>$\left(\dfrac{\sqrt[5]{3}}{x}+\dfrac{2x}{\sqrt[3]{5}}\right)^{12}$</a:t>
                </a:r>
                <a:r>
                  <a:rPr sz="2400" b="0">
                    <a:solidFill>
                      <a:srgbClr val="111827"/>
                    </a:solidFill>
                    <a:latin typeface="Arial"/>
                  </a:rPr>
                  <a:t>, </a:t>
                </a:r>
                <a:r>
                  <a:rPr lang="en-IN" sz="2400">
                    <a:solidFill>
                      <a:srgbClr val="111827"/>
                    </a:solidFill>
                    <a:latin typeface="Cambria Math" panose="02040503050406030204" pitchFamily="18" charset="0"/>
                  </a:rPr>
                  <a:t>$x\ne0$</a:t>
                </a:r>
                <a:r>
                  <a:rPr sz="2400" b="0">
                    <a:solidFill>
                      <a:srgbClr val="111827"/>
                    </a:solidFill>
                    <a:latin typeface="Arial"/>
                  </a:rPr>
                  <a:t>, is </a:t>
                </a:r>
                <a:r>
                  <a:rPr lang="en-IN" sz="2400">
                    <a:solidFill>
                      <a:srgbClr val="111827"/>
                    </a:solidFill>
                    <a:latin typeface="Cambria Math" panose="02040503050406030204" pitchFamily="18" charset="0"/>
                  </a:rPr>
                  <a:t>$\alpha\times2^8\times\sqrt[5]{3}$</a:t>
                </a:r>
                <a:r>
                  <a:rPr sz="2400" b="0">
                    <a:solidFill>
                      <a:srgbClr val="111827"/>
                    </a:solidFill>
                    <a:latin typeface="Arial"/>
                  </a:rPr>
                  <a:t>, then </a:t>
                </a:r>
                <a:r>
                  <a:rPr lang="en-IN" sz="2400">
                    <a:solidFill>
                      <a:srgbClr val="111827"/>
                    </a:solidFill>
                    <a:latin typeface="Cambria Math" panose="02040503050406030204" pitchFamily="18" charset="0"/>
                  </a:rPr>
                  <a:t>$25\alpha$</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$724$</a:t>
                </a:r>
                <a:r>
                  <a:rPr sz="2400" b="0">
                    <a:solidFill>
                      <a:srgbClr val="111827"/>
                    </a:solidFill>
                    <a:latin typeface="Arial"/>
                  </a:rPr>
                  <a:t>   (B) </a:t>
                </a:r>
                <a:r>
                  <a:rPr lang="en-IN" sz="2400">
                    <a:solidFill>
                      <a:srgbClr val="111827"/>
                    </a:solidFill>
                    <a:latin typeface="Cambria Math" panose="02040503050406030204" pitchFamily="18" charset="0"/>
                  </a:rPr>
                  <a:t>$742$</a:t>
                </a:r>
                <a:r>
                  <a:rPr sz="2400" b="0">
                    <a:solidFill>
                      <a:srgbClr val="111827"/>
                    </a:solidFill>
                    <a:latin typeface="Arial"/>
                  </a:rPr>
                  <a:t>   (C) </a:t>
                </a:r>
                <a:r>
                  <a:rPr lang="en-IN" sz="2400">
                    <a:solidFill>
                      <a:srgbClr val="111827"/>
                    </a:solidFill>
                    <a:latin typeface="Cambria Math" panose="02040503050406030204" pitchFamily="18" charset="0"/>
                  </a:rPr>
                  <a:t>$693$</a:t>
                </a:r>
                <a:r>
                  <a:rPr sz="2400" b="0">
                    <a:solidFill>
                      <a:srgbClr val="111827"/>
                    </a:solidFill>
                    <a:latin typeface="Arial"/>
                  </a:rPr>
                  <a:t>   (D) </a:t>
                </a:r>
                <a:r>
                  <a:rPr lang="en-IN" sz="2400">
                    <a:solidFill>
                      <a:srgbClr val="111827"/>
                    </a:solidFill>
                    <a:latin typeface="Cambria Math" panose="02040503050406030204" pitchFamily="18" charset="0"/>
                  </a:rPr>
                  <a:t>$639$</a:t>
                </a:r>
                <a:endParaRPr sz="2400">
                  <a:solidFill>
                    <a:srgbClr val="111827"/>
                  </a:solidFill>
                </a:endParaRPr>
              </a:p>
            </p:txBody>
          </p:sp>
        </mc:Fallback>
      </mc:AlternateContent>
      <p:sp>
        <p:nvSpPr>
          <p:cNvPr id="5" name="Rectangle 4"/>
          <p:cNvSpPr/>
          <p:nvPr/>
        </p:nvSpPr>
        <p:spPr>
          <a:xfrm>
            <a:off x="731520" y="37998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 Radicals (surds) in coefficients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power of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is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12</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then compare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12</m:t>
                            </m:r>
                          </m:num>
                          <m:den>
                            <m:r>
                              <a:rPr lang="en-IN" sz="2400" i="1">
                                <a:solidFill>
                                  <a:srgbClr val="78350F"/>
                                </a:solidFill>
                                <a:latin typeface="Cambria Math" panose="02040503050406030204" pitchFamily="18" charset="0"/>
                              </a:rPr>
                              <m:t>6</m:t>
                            </m:r>
                          </m:den>
                        </m:f>
                      </m:e>
                    </m:d>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sup>
                        </m:sSup>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6</m:t>
                            </m:r>
                          </m:sup>
                        </m:sSup>
                      </m:num>
                      <m:den>
                        <m:sSup>
                          <m:e>
                            <m:r>
                              <a:rPr lang="en-IN" sz="2400" i="1">
                                <a:solidFill>
                                  <a:srgbClr val="78350F"/>
                                </a:solidFill>
                                <a:latin typeface="Cambria Math" panose="02040503050406030204" pitchFamily="18" charset="0"/>
                              </a:rPr>
                              <m:t>5</m:t>
                            </m:r>
                          </m:e>
                          <m:sup>
                            <m:r>
                              <a:rPr lang="en-IN" sz="2400" i="1">
                                <a:solidFill>
                                  <a:srgbClr val="78350F"/>
                                </a:solidFill>
                                <a:latin typeface="Cambria Math" panose="02040503050406030204" pitchFamily="18" charset="0"/>
                              </a:rPr>
                              <m:t>2</m:t>
                            </m:r>
                          </m:sup>
                        </m:sSup>
                      </m:den>
                    </m:f>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α</m:t>
                    </m:r>
                    <m:r>
                      <a:rPr lang="en-IN" sz="2400" i="1">
                        <a:solidFill>
                          <a:srgbClr val="78350F"/>
                        </a:solidFill>
                        <a:latin typeface="Cambria Math" panose="02040503050406030204" pitchFamily="18" charset="0"/>
                      </a:rPr>
                      <m:t> </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8</m:t>
                        </m:r>
                      </m:sup>
                    </m:sSup>
                    <m:r>
                      <a:rPr lang="en-IN" sz="2400" i="1">
                        <a:solidFill>
                          <a:srgbClr val="78350F"/>
                        </a:solidFill>
                        <a:latin typeface="Cambria Math" panose="02040503050406030204" pitchFamily="18" charset="0"/>
                      </a:rPr>
                      <m:t> </m:t>
                    </m:r>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power of </a:t>
                </a:r>
                <a:r>
                  <a:rPr lang="en-IN" sz="2400">
                    <a:solidFill>
                      <a:srgbClr val="78350F"/>
                    </a:solidFill>
                    <a:latin typeface="Cambria Math" panose="02040503050406030204" pitchFamily="18" charset="0"/>
                  </a:rPr>
                  <a:t>$x$</a:t>
                </a:r>
                <a:r>
                  <a:rPr sz="2400" b="0">
                    <a:solidFill>
                      <a:srgbClr val="78350F"/>
                    </a:solidFill>
                    <a:latin typeface="Arial"/>
                  </a:rPr>
                  <a:t> is </a:t>
                </a:r>
                <a:r>
                  <a:rPr lang="en-IN" sz="2400">
                    <a:solidFill>
                      <a:srgbClr val="78350F"/>
                    </a:solidFill>
                    <a:latin typeface="Cambria Math" panose="02040503050406030204" pitchFamily="18" charset="0"/>
                  </a:rPr>
                  <a:t>$2r-12$</a:t>
                </a:r>
                <a:r>
                  <a:rPr sz="2400" b="0">
                    <a:solidFill>
                      <a:srgbClr val="78350F"/>
                    </a:solidFill>
                    <a:latin typeface="Arial"/>
                  </a:rPr>
                  <a:t>, so </a:t>
                </a:r>
                <a:r>
                  <a:rPr lang="en-IN" sz="2400">
                    <a:solidFill>
                      <a:srgbClr val="78350F"/>
                    </a:solidFill>
                    <a:latin typeface="Cambria Math" panose="02040503050406030204" pitchFamily="18" charset="0"/>
                  </a:rPr>
                  <a:t>$r=6$</a:t>
                </a:r>
                <a:r>
                  <a:rPr sz="2400" b="0">
                    <a:solidFill>
                      <a:srgbClr val="78350F"/>
                    </a:solidFill>
                    <a:latin typeface="Arial"/>
                  </a:rPr>
                  <a:t>; then compare </a:t>
                </a:r>
                <a:r>
                  <a:rPr lang="en-IN" sz="2400">
                    <a:solidFill>
                      <a:srgbClr val="78350F"/>
                    </a:solidFill>
                    <a:latin typeface="Cambria Math" panose="02040503050406030204" pitchFamily="18" charset="0"/>
                  </a:rPr>
                  <a:t>$\binom{12}{6}\frac{3^{6/5}2^6}{5^{2}}$</a:t>
                </a:r>
                <a:r>
                  <a:rPr sz="2400" b="0">
                    <a:solidFill>
                      <a:srgbClr val="78350F"/>
                    </a:solidFill>
                    <a:latin typeface="Arial"/>
                  </a:rPr>
                  <a:t> with </a:t>
                </a:r>
                <a:r>
                  <a:rPr lang="en-IN" sz="2400">
                    <a:solidFill>
                      <a:srgbClr val="78350F"/>
                    </a:solidFill>
                    <a:latin typeface="Cambria Math" panose="02040503050406030204" pitchFamily="18" charset="0"/>
                  </a:rPr>
                  <a:t>$\alpha\,2^8\,3^{1/5}$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𝑟</m:t>
                            </m:r>
                          </m:den>
                        </m:f>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num>
                              <m:den>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𝑟</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5</m:t>
                                </m:r>
                              </m:den>
                            </m:f>
                          </m:sup>
                        </m:sSup>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sup>
                        </m:sSup>
                      </m:num>
                      <m:den>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den>
                    </m:f>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6</m:t>
                            </m:r>
                          </m:den>
                        </m:f>
                      </m:e>
                    </m:d>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num>
                      <m:den>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num>
                      <m:den>
                        <m:r>
                          <a:rPr lang="en-IN" sz="2400" i="1">
                            <a:solidFill>
                              <a:srgbClr val="111827"/>
                            </a:solidFill>
                            <a:latin typeface="Cambria Math" panose="02040503050406030204" pitchFamily="18" charset="0"/>
                          </a:rPr>
                          <m:t>25</m:t>
                        </m:r>
                      </m:den>
                    </m:f>
                  </m:oMath>
                </a14:m>
                <a:r>
                  <a:rPr sz="2400" b="0">
                    <a:solidFill>
                      <a:srgbClr val="111827"/>
                    </a:solidFill>
                    <a:latin typeface="Arial"/>
                  </a:rPr>
                  <a:t>, using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$T_{r+1}=\binom{12}{r}\left(\dfrac{3^{1/5}}{x}\right)^{12-r}\left(\dfrac{2x}{5^{1/3}}\right)^r=\binom{12}{r}\dfrac{3^{\frac{12-r}{5}}\,2^r}{5^{r/3}}\,x^{2r-12}$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a:t>
                </a:r>
                <a:r>
                  <a:rPr lang="en-IN" sz="2400">
                    <a:solidFill>
                      <a:srgbClr val="111827"/>
                    </a:solidFill>
                    <a:latin typeface="Cambria Math" panose="02040503050406030204" pitchFamily="18" charset="0"/>
                  </a:rPr>
                  <a:t>$2r-12=0$</a:t>
                </a:r>
                <a:r>
                  <a:rPr sz="2400" b="0">
                    <a:solidFill>
                      <a:srgbClr val="111827"/>
                    </a:solidFill>
                    <a:latin typeface="Arial"/>
                  </a:rPr>
                  <a:t>, so </a:t>
                </a:r>
                <a:r>
                  <a:rPr lang="en-IN" sz="2400">
                    <a:solidFill>
                      <a:srgbClr val="111827"/>
                    </a:solidFill>
                    <a:latin typeface="Cambria Math" panose="02040503050406030204" pitchFamily="18" charset="0"/>
                  </a:rPr>
                  <a:t>$r=6$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$T_7=\binom{12}{6}\dfrac{3^{6/5}\,2^6}{5^2}=\dfrac{924\cdot3\cdot3^{1/5}\cdot2^6}{25}$</a:t>
                </a:r>
                <a:r>
                  <a:rPr sz="2400" b="0">
                    <a:solidFill>
                      <a:srgbClr val="111827"/>
                    </a:solidFill>
                    <a:latin typeface="Arial"/>
                  </a:rPr>
                  <a:t>, using </a:t>
                </a:r>
                <a:r>
                  <a:rPr lang="en-IN" sz="2400">
                    <a:solidFill>
                      <a:srgbClr val="111827"/>
                    </a:solidFill>
                    <a:latin typeface="Cambria Math" panose="02040503050406030204" pitchFamily="18" charset="0"/>
                  </a:rPr>
                  <a:t>$3^{6/5}=3\cdot3^{1/5}$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924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num>
                      <m:den>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693</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693</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$924=2^2\cdot3\cdot7\cdot11$</a:t>
                </a:r>
                <a:r>
                  <a:rPr sz="2400" b="0">
                    <a:solidFill>
                      <a:srgbClr val="111827"/>
                    </a:solidFill>
                    <a:latin typeface="Arial"/>
                  </a:rPr>
                  <a:t>, so </a:t>
                </a:r>
                <a:r>
                  <a:rPr lang="en-IN" sz="2400">
                    <a:solidFill>
                      <a:srgbClr val="111827"/>
                    </a:solidFill>
                    <a:latin typeface="Cambria Math" panose="02040503050406030204" pitchFamily="18" charset="0"/>
                  </a:rPr>
                  <a:t>$T_7=\dfrac{2^2\cdot3\cdot7\cdot11\cdot3\cdot2^6\cdot3^{1/5}}{25}=\dfrac{3^2\cdot7\cdot11}{25}\cdot2^8\cdot3^{1/5}$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r>
                  <a:rPr lang="en-IN" sz="2400">
                    <a:solidFill>
                      <a:srgbClr val="111827"/>
                    </a:solidFill>
                    <a:latin typeface="Cambria Math" panose="02040503050406030204" pitchFamily="18" charset="0"/>
                  </a:rPr>
                  <a:t>$\alpha\cdot2^8\cdot3^{1/5}$</a:t>
                </a:r>
                <a:r>
                  <a:rPr sz="2400" b="0">
                    <a:solidFill>
                      <a:srgbClr val="111827"/>
                    </a:solidFill>
                    <a:latin typeface="Arial"/>
                  </a:rPr>
                  <a:t>: </a:t>
                </a:r>
                <a:r>
                  <a:rPr lang="en-IN" sz="2400">
                    <a:solidFill>
                      <a:srgbClr val="111827"/>
                    </a:solidFill>
                    <a:latin typeface="Cambria Math" panose="02040503050406030204" pitchFamily="18" charset="0"/>
                  </a:rPr>
                  <a:t>$\alpha=\dfrac{3^2\cdot7\cdot11}{5^2}=\dfrac{693}{25}$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$25\alpha=693$</a:t>
                </a:r>
                <a:r>
                  <a:rPr sz="2400" b="0">
                    <a:solidFill>
                      <a:srgbClr val="111827"/>
                    </a:solidFill>
                    <a:latin typeface="Arial"/>
                  </a:rPr>
                  <a:t>, option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693</a:t>
            </a:r>
            <a:endParaRPr sz="2800">
              <a:solidFill>
                <a:srgbClr val="15803D"/>
              </a:solidFill>
            </a:endParaRP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Fractional exponents: write each radical as a power (</a:t>
                </a:r>
                <a14:m>
                  <m:oMath xmlns:m="http://schemas.openxmlformats.org/officeDocument/2006/math">
                    <m:rad>
                      <m:deg>
                        <m:r>
                          <a:rPr lang="en-IN" sz="2400" i="1">
                            <a:solidFill>
                              <a:srgbClr val="111827"/>
                            </a:solidFill>
                            <a:latin typeface="Cambria Math" panose="02040503050406030204" pitchFamily="18" charset="0"/>
                          </a:rPr>
                          <m:t>5</m:t>
                        </m: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oMath>
                </a14:m>
                <a:r>
                  <a:rPr sz="2400" b="0">
                    <a:solidFill>
                      <a:srgbClr val="111827"/>
                    </a:solidFill>
                    <a:latin typeface="Arial"/>
                  </a:rPr>
                  <a:t>) and keep track of the common factor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oMath>
                </a14:m>
                <a:r>
                  <a:rPr sz="2400" b="0">
                    <a:solidFill>
                      <a:srgbClr val="111827"/>
                    </a:solidFill>
                    <a:latin typeface="Arial"/>
                  </a:rPr>
                  <a:t> separately.</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924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 useful to prime-factorise when comparing with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8</m:t>
                        </m:r>
                      </m:sup>
                    </m:sSup>
                  </m:oMath>
                </a14:m>
                <a:r>
                  <a:rPr sz="2400" b="0">
                    <a:solidFill>
                      <a:srgbClr val="111827"/>
                    </a:solidFill>
                    <a:latin typeface="Arial"/>
                  </a:rPr>
                  <a:t> and powers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𝑥</m:t>
                            </m:r>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even) is the middle term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numerically: </a:t>
                </a:r>
                <a14:m>
                  <m:oMath xmlns:m="http://schemas.openxmlformats.org/officeDocument/2006/math">
                    <m:r>
                      <a:rPr lang="en-IN" sz="2400" i="1">
                        <a:solidFill>
                          <a:srgbClr val="111827"/>
                        </a:solidFill>
                        <a:latin typeface="Cambria Math" panose="02040503050406030204" pitchFamily="18" charset="0"/>
                      </a:rPr>
                      <m:t>924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8840</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693</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0.2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8840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Fractional exponents: write each radical as a power (</a:t>
                </a:r>
                <a:r>
                  <a:rPr lang="en-IN" sz="2400">
                    <a:solidFill>
                      <a:srgbClr val="111827"/>
                    </a:solidFill>
                    <a:latin typeface="Cambria Math" panose="02040503050406030204" pitchFamily="18" charset="0"/>
                  </a:rPr>
                  <a:t>$\sqrt[5]3=3^{1/5}$</a:t>
                </a:r>
                <a:r>
                  <a:rPr sz="2400" b="0">
                    <a:solidFill>
                      <a:srgbClr val="111827"/>
                    </a:solidFill>
                    <a:latin typeface="Arial"/>
                  </a:rPr>
                  <a:t>) and keep track of the common factor </a:t>
                </a:r>
                <a:r>
                  <a:rPr lang="en-IN" sz="2400">
                    <a:solidFill>
                      <a:srgbClr val="111827"/>
                    </a:solidFill>
                    <a:latin typeface="Cambria Math" panose="02040503050406030204" pitchFamily="18" charset="0"/>
                  </a:rPr>
                  <a:t>$3^{1/5}$</a:t>
                </a:r>
                <a:r>
                  <a:rPr sz="2400" b="0">
                    <a:solidFill>
                      <a:srgbClr val="111827"/>
                    </a:solidFill>
                    <a:latin typeface="Arial"/>
                  </a:rPr>
                  <a:t> separately.</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$\binom{12}{6}=924=2^2\cdot3\cdot7\cdot11$</a:t>
                </a:r>
                <a:r>
                  <a:rPr sz="2400" b="0">
                    <a:solidFill>
                      <a:srgbClr val="111827"/>
                    </a:solidFill>
                    <a:latin typeface="Arial"/>
                  </a:rPr>
                  <a:t> — useful to prime-factorise when comparing with </a:t>
                </a:r>
                <a:r>
                  <a:rPr lang="en-IN" sz="2400">
                    <a:solidFill>
                      <a:srgbClr val="111827"/>
                    </a:solidFill>
                    <a:latin typeface="Cambria Math" panose="02040503050406030204" pitchFamily="18" charset="0"/>
                  </a:rPr>
                  <a:t>$2^8$</a:t>
                </a:r>
                <a:r>
                  <a:rPr sz="2400" b="0">
                    <a:solidFill>
                      <a:srgbClr val="111827"/>
                    </a:solidFill>
                    <a:latin typeface="Arial"/>
                  </a:rPr>
                  <a:t> and powers of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of </a:t>
                </a:r>
                <a:r>
                  <a:rPr lang="en-IN" sz="2400">
                    <a:solidFill>
                      <a:srgbClr val="111827"/>
                    </a:solidFill>
                    <a:latin typeface="Cambria Math" panose="02040503050406030204" pitchFamily="18" charset="0"/>
                  </a:rPr>
                  <a:t>$\left(Ax^{-1}+Bx\right)^{n}$</a:t>
                </a:r>
                <a:r>
                  <a:rPr sz="2400" b="0">
                    <a:solidFill>
                      <a:srgbClr val="111827"/>
                    </a:solidFill>
                    <a:latin typeface="Arial"/>
                  </a:rPr>
                  <a:t> (</a:t>
                </a:r>
                <a:r>
                  <a:rPr lang="en-IN" sz="2400">
                    <a:solidFill>
                      <a:srgbClr val="111827"/>
                    </a:solidFill>
                    <a:latin typeface="Cambria Math" panose="02040503050406030204" pitchFamily="18" charset="0"/>
                  </a:rPr>
                  <a:t>$n$</a:t>
                </a:r>
                <a:r>
                  <a:rPr sz="2400" b="0">
                    <a:solidFill>
                      <a:srgbClr val="111827"/>
                    </a:solidFill>
                    <a:latin typeface="Arial"/>
                  </a:rPr>
                  <a:t> even) is the middle term </a:t>
                </a:r>
                <a:r>
                  <a:rPr lang="en-IN" sz="2400">
                    <a:solidFill>
                      <a:srgbClr val="111827"/>
                    </a:solidFill>
                    <a:latin typeface="Cambria Math" panose="02040503050406030204" pitchFamily="18" charset="0"/>
                  </a:rPr>
                  <a:t>$\binom{n}{n/2}(AB)^{n/2}$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numerically: </a:t>
                </a:r>
                <a:r>
                  <a:rPr lang="en-IN" sz="2400">
                    <a:solidFill>
                      <a:srgbClr val="111827"/>
                    </a:solidFill>
                    <a:latin typeface="Cambria Math" panose="02040503050406030204" pitchFamily="18" charset="0"/>
                  </a:rPr>
                  <a:t>$924\cdot3^{1.2}\cdot64/25\approx8840$</a:t>
                </a:r>
                <a:r>
                  <a:rPr sz="2400" b="0">
                    <a:solidFill>
                      <a:srgbClr val="111827"/>
                    </a:solidFill>
                    <a:latin typeface="Arial"/>
                  </a:rPr>
                  <a:t> and </a:t>
                </a:r>
                <a:r>
                  <a:rPr lang="en-IN" sz="2400">
                    <a:solidFill>
                      <a:srgbClr val="111827"/>
                    </a:solidFill>
                    <a:latin typeface="Cambria Math" panose="02040503050406030204" pitchFamily="18" charset="0"/>
                  </a:rPr>
                  <a:t>$\frac{693}{25}\cdot256\cdot3^{0.2}\approx8840$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If </a:t>
                </a:r>
                <a14:m>
                  <m:oMath xmlns:m="http://schemas.openxmlformats.org/officeDocument/2006/math">
                    <m:sSup>
                      <m:e>
                        <m:r>
                          <a:rPr lang="en-IN" sz="2400" i="1">
                            <a:solidFill>
                              <a:srgbClr val="111827"/>
                            </a:solidFill>
                            <a:latin typeface="Cambria Math" panose="02040503050406030204" pitchFamily="18" charset="0"/>
                          </a:rPr>
                          <m:t> </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 </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 </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55</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62</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50</m:t>
                    </m:r>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$0\le r\le n$</a:t>
                </a:r>
                <a:r>
                  <a:rPr sz="2400" b="0">
                    <a:solidFill>
                      <a:srgbClr val="111827"/>
                    </a:solidFill>
                    <a:latin typeface="Arial"/>
                  </a:rPr>
                  <a:t>. If </a:t>
                </a:r>
                <a:r>
                  <a:rPr lang="en-IN" sz="2400">
                    <a:solidFill>
                      <a:srgbClr val="111827"/>
                    </a:solidFill>
                    <a:latin typeface="Cambria Math" panose="02040503050406030204" pitchFamily="18" charset="0"/>
                  </a:rPr>
                  <a:t>$\ ^{n+1}C_{r+1}:\ ^{n}C_r:\ ^{n-1}C_{r-1}=55:35:21$</a:t>
                </a:r>
                <a:r>
                  <a:rPr sz="2400" b="0">
                    <a:solidFill>
                      <a:srgbClr val="111827"/>
                    </a:solidFill>
                    <a:latin typeface="Arial"/>
                  </a:rPr>
                  <a:t>, then </a:t>
                </a:r>
                <a:r>
                  <a:rPr lang="en-IN" sz="2400">
                    <a:solidFill>
                      <a:srgbClr val="111827"/>
                    </a:solidFill>
                    <a:latin typeface="Cambria Math" panose="02040503050406030204" pitchFamily="18" charset="0"/>
                  </a:rPr>
                  <a:t>$2n+5r$</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$55$</a:t>
                </a:r>
                <a:r>
                  <a:rPr sz="2400" b="0">
                    <a:solidFill>
                      <a:srgbClr val="111827"/>
                    </a:solidFill>
                    <a:latin typeface="Arial"/>
                  </a:rPr>
                  <a:t>   (B) </a:t>
                </a:r>
                <a:r>
                  <a:rPr lang="en-IN" sz="2400">
                    <a:solidFill>
                      <a:srgbClr val="111827"/>
                    </a:solidFill>
                    <a:latin typeface="Cambria Math" panose="02040503050406030204" pitchFamily="18" charset="0"/>
                  </a:rPr>
                  <a:t>$60$</a:t>
                </a:r>
                <a:r>
                  <a:rPr sz="2400" b="0">
                    <a:solidFill>
                      <a:srgbClr val="111827"/>
                    </a:solidFill>
                    <a:latin typeface="Arial"/>
                  </a:rPr>
                  <a:t>   (C) </a:t>
                </a:r>
                <a:r>
                  <a:rPr lang="en-IN" sz="2400">
                    <a:solidFill>
                      <a:srgbClr val="111827"/>
                    </a:solidFill>
                    <a:latin typeface="Cambria Math" panose="02040503050406030204" pitchFamily="18" charset="0"/>
                  </a:rPr>
                  <a:t>$62$</a:t>
                </a:r>
                <a:r>
                  <a:rPr sz="2400" b="0">
                    <a:solidFill>
                      <a:srgbClr val="111827"/>
                    </a:solidFill>
                    <a:latin typeface="Arial"/>
                  </a:rPr>
                  <a:t>   (D) </a:t>
                </a:r>
                <a:r>
                  <a:rPr lang="en-IN" sz="2400">
                    <a:solidFill>
                      <a:srgbClr val="111827"/>
                    </a:solidFill>
                    <a:latin typeface="Cambria Math" panose="02040503050406030204" pitchFamily="18" charset="0"/>
                  </a:rPr>
                  <a:t>$50$</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Ratio of binomial coefficients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Express the three coefficients through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𝑟</m:t>
                            </m:r>
                          </m:den>
                        </m:f>
                      </m:e>
                    </m:d>
                  </m:oMath>
                </a14:m>
                <a:r>
                  <a:rPr sz="2400" b="0">
                    <a:solidFill>
                      <a:srgbClr val="78350F"/>
                    </a:solidFill>
                    <a:latin typeface="Arial"/>
                  </a:rPr>
                  <a:t>: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𝑟</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𝑟</m:t>
                            </m:r>
                          </m:den>
                        </m:f>
                      </m:e>
                    </m:d>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𝑟</m:t>
                        </m:r>
                      </m:num>
                      <m:den>
                        <m:r>
                          <a:rPr lang="en-IN" sz="2400" i="1">
                            <a:solidFill>
                              <a:srgbClr val="78350F"/>
                            </a:solidFill>
                            <a:latin typeface="Cambria Math" panose="02040503050406030204" pitchFamily="18" charset="0"/>
                          </a:rPr>
                          <m:t>𝑛</m:t>
                        </m:r>
                      </m:den>
                    </m:f>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𝑟</m:t>
                            </m:r>
                          </m:den>
                        </m:f>
                      </m:e>
                    </m:d>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Express the three coefficients through </a:t>
                </a:r>
                <a:r>
                  <a:rPr lang="en-IN" sz="2400">
                    <a:solidFill>
                      <a:srgbClr val="78350F"/>
                    </a:solidFill>
                    <a:latin typeface="Cambria Math" panose="02040503050406030204" pitchFamily="18" charset="0"/>
                  </a:rPr>
                  <a:t>$\binom nr$</a:t>
                </a:r>
                <a:r>
                  <a:rPr sz="2400" b="0">
                    <a:solidFill>
                      <a:srgbClr val="78350F"/>
                    </a:solidFill>
                    <a:latin typeface="Arial"/>
                  </a:rPr>
                  <a:t>: </a:t>
                </a:r>
                <a:r>
                  <a:rPr lang="en-IN" sz="2400">
                    <a:solidFill>
                      <a:srgbClr val="78350F"/>
                    </a:solidFill>
                    <a:latin typeface="Cambria Math" panose="02040503050406030204" pitchFamily="18" charset="0"/>
                  </a:rPr>
                  <a:t>$\frac{n+1}{r+1}\binom nr:\binom nr:\frac rn\binom nr$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𝑛</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the first two: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55</m:t>
                        </m:r>
                      </m:num>
                      <m:den>
                        <m:r>
                          <a:rPr lang="en-IN" sz="2400" i="1">
                            <a:solidFill>
                              <a:srgbClr val="111827"/>
                            </a:solidFill>
                            <a:latin typeface="Cambria Math" panose="02040503050406030204" pitchFamily="18" charset="0"/>
                          </a:rPr>
                          <m:t>35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the last two: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35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...(2)</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$\binom{n+1}{r+1}=\dfrac{n+1}{r+1}\binom nr$</a:t>
                </a:r>
                <a:r>
                  <a:rPr sz="2400" b="0">
                    <a:solidFill>
                      <a:srgbClr val="111827"/>
                    </a:solidFill>
                    <a:latin typeface="Arial"/>
                  </a:rPr>
                  <a:t> and </a:t>
                </a:r>
                <a:r>
                  <a:rPr lang="en-IN" sz="2400">
                    <a:solidFill>
                      <a:srgbClr val="111827"/>
                    </a:solidFill>
                    <a:latin typeface="Cambria Math" panose="02040503050406030204" pitchFamily="18" charset="0"/>
                  </a:rPr>
                  <a:t>$\binom{n-1}{r-1}=\dfrac rn\binom nr$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$\dfrac{n+1}{r+1}:1:\dfrac rn=55:35:21$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the first two: </a:t>
                </a:r>
                <a:r>
                  <a:rPr lang="en-IN" sz="2400">
                    <a:solidFill>
                      <a:srgbClr val="111827"/>
                    </a:solidFill>
                    <a:latin typeface="Cambria Math" panose="02040503050406030204" pitchFamily="18" charset="0"/>
                  </a:rPr>
                  <a:t>$\dfrac{n+1}{r+1}=\dfrac{55}{35}=\dfrac{11}{7}\Rightarrow7n-11r=4$</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the last two: </a:t>
                </a:r>
                <a:r>
                  <a:rPr lang="en-IN" sz="2400">
                    <a:solidFill>
                      <a:srgbClr val="111827"/>
                    </a:solidFill>
                    <a:latin typeface="Cambria Math" panose="02040503050406030204" pitchFamily="18" charset="0"/>
                  </a:rPr>
                  <a:t>$\dfrac rn=\dfrac{21}{35}=\dfrac35\Rightarrow3n-5r=0$</a:t>
                </a:r>
                <a:r>
                  <a:rPr sz="2400" b="0">
                    <a:solidFill>
                      <a:srgbClr val="111827"/>
                    </a:solidFill>
                    <a:latin typeface="Arial"/>
                  </a:rPr>
                  <a:t>. ...(2)</a:t>
                </a:r>
                <a:endParaRPr sz="2400">
                  <a:solidFill>
                    <a:srgbClr val="111827"/>
                  </a:solidFill>
                </a:endParaRPr>
              </a:p>
            </p:txBody>
          </p:sp>
        </mc:Fallback>
      </mc:AlternateContent>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(2)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in (1):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7</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(2) </a:t>
                </a:r>
                <a:r>
                  <a:rPr lang="en-IN" sz="2400">
                    <a:solidFill>
                      <a:srgbClr val="111827"/>
                    </a:solidFill>
                    <a:latin typeface="Cambria Math" panose="02040503050406030204" pitchFamily="18" charset="0"/>
                  </a:rPr>
                  <a:t>$n=\dfrac{5r}{3}$</a:t>
                </a:r>
                <a:r>
                  <a:rPr sz="2400" b="0">
                    <a:solidFill>
                      <a:srgbClr val="111827"/>
                    </a:solidFill>
                    <a:latin typeface="Arial"/>
                  </a:rPr>
                  <a:t>; in (1): </a:t>
                </a:r>
                <a:r>
                  <a:rPr lang="en-IN" sz="2400">
                    <a:solidFill>
                      <a:srgbClr val="111827"/>
                    </a:solidFill>
                    <a:latin typeface="Cambria Math" panose="02040503050406030204" pitchFamily="18" charset="0"/>
                  </a:rPr>
                  <a:t>$\dfrac{35r}{3}-11r=4\Rightarrow\dfrac{2r}{3}=4\Rightarrow r=6$</a:t>
                </a:r>
                <a:r>
                  <a:rPr sz="2400" b="0">
                    <a:solidFill>
                      <a:srgbClr val="111827"/>
                    </a:solidFill>
                    <a:latin typeface="Arial"/>
                  </a:rPr>
                  <a:t>, </a:t>
                </a:r>
                <a:r>
                  <a:rPr lang="en-IN" sz="2400">
                    <a:solidFill>
                      <a:srgbClr val="111827"/>
                    </a:solidFill>
                    <a:latin typeface="Cambria Math" panose="02040503050406030204" pitchFamily="18" charset="0"/>
                  </a:rPr>
                  <a:t>$n=10$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$\binom{11}{7}:\binom{10}{6}:\binom95=330:210:126=55:35:21$</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$2n+5r=20+30=50$</a:t>
                </a:r>
                <a:r>
                  <a:rPr sz="2400" b="0">
                    <a:solidFill>
                      <a:srgbClr val="111827"/>
                    </a:solidFill>
                    <a:latin typeface="Arial"/>
                  </a:rPr>
                  <a:t>,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50</a:t>
            </a:r>
            <a:endParaRPr sz="2800">
              <a:solidFill>
                <a:srgbClr val="15803D"/>
              </a:solidFill>
            </a:endParaRP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Absorption: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𝑛</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Reduce a ratio of three binomial coefficients to two ratios of simple fractions; then solve two linear equations in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verify with the actual values: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7</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330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Absorption: </a:t>
                </a:r>
                <a:r>
                  <a:rPr lang="en-IN" sz="2400">
                    <a:solidFill>
                      <a:srgbClr val="111827"/>
                    </a:solidFill>
                    <a:latin typeface="Cambria Math" panose="02040503050406030204" pitchFamily="18" charset="0"/>
                  </a:rPr>
                  <a:t>$\binom{n+1}{r+1}=\frac{n+1}{r+1}\binom nr$</a:t>
                </a:r>
                <a:r>
                  <a:rPr sz="2400" b="0">
                    <a:solidFill>
                      <a:srgbClr val="111827"/>
                    </a:solidFill>
                    <a:latin typeface="Arial"/>
                  </a:rPr>
                  <a:t>, </a:t>
                </a:r>
                <a:r>
                  <a:rPr lang="en-IN" sz="2400">
                    <a:solidFill>
                      <a:srgbClr val="111827"/>
                    </a:solidFill>
                    <a:latin typeface="Cambria Math" panose="02040503050406030204" pitchFamily="18" charset="0"/>
                  </a:rPr>
                  <a:t>$\binom{n-1}{r-1}=\frac rn\binom nr$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Reduce a ratio of three binomial coefficients to two ratios of simple fractions; then solve two linear equations in </a:t>
                </a:r>
                <a:r>
                  <a:rPr lang="en-IN" sz="2400">
                    <a:solidFill>
                      <a:srgbClr val="111827"/>
                    </a:solidFill>
                    <a:latin typeface="Cambria Math" panose="02040503050406030204" pitchFamily="18" charset="0"/>
                  </a:rPr>
                  <a:t>$n,r$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verify with the actual values: </a:t>
                </a:r>
                <a:r>
                  <a:rPr lang="en-IN" sz="2400">
                    <a:solidFill>
                      <a:srgbClr val="111827"/>
                    </a:solidFill>
                    <a:latin typeface="Cambria Math" panose="02040503050406030204" pitchFamily="18" charset="0"/>
                  </a:rPr>
                  <a:t>$\binom{11}{7},\binom{10}{6},\binom{9}{5}=330,210,126$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$330/6=55$</a:t>
                </a:r>
                <a:r>
                  <a:rPr sz="2400" b="0">
                    <a:solidFill>
                      <a:srgbClr val="111827"/>
                    </a:solidFill>
                    <a:latin typeface="Arial"/>
                  </a:rPr>
                  <a:t>, </a:t>
                </a:r>
                <a:r>
                  <a:rPr lang="en-IN" sz="2400">
                    <a:solidFill>
                      <a:srgbClr val="111827"/>
                    </a:solidFill>
                    <a:latin typeface="Cambria Math" panose="02040503050406030204" pitchFamily="18" charset="0"/>
                  </a:rPr>
                  <a:t>$210/6=35$</a:t>
                </a:r>
                <a:r>
                  <a:rPr sz="2400" b="0">
                    <a:solidFill>
                      <a:srgbClr val="111827"/>
                    </a:solidFill>
                    <a:latin typeface="Arial"/>
                  </a:rPr>
                  <a:t>, </a:t>
                </a:r>
                <a:r>
                  <a:rPr lang="en-IN" sz="2400">
                    <a:solidFill>
                      <a:srgbClr val="111827"/>
                    </a:solidFill>
                    <a:latin typeface="Cambria Math" panose="02040503050406030204" pitchFamily="18" charset="0"/>
                  </a:rPr>
                  <a:t>$126/6=21$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term independent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the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10</m:t>
                        </m:r>
                      </m:sup>
                    </m:sSup>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105</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m:t>
                    </m:r>
                  </m:oMath>
                </a14:m>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term independent of </a:t>
                </a:r>
                <a:r>
                  <a:rPr lang="en-IN" sz="2400">
                    <a:solidFill>
                      <a:srgbClr val="111827"/>
                    </a:solidFill>
                    <a:latin typeface="Cambria Math" panose="02040503050406030204" pitchFamily="18" charset="0"/>
                  </a:rPr>
                  <a:t>$x$</a:t>
                </a:r>
                <a:r>
                  <a:rPr sz="2400" b="0">
                    <a:solidFill>
                      <a:srgbClr val="111827"/>
                    </a:solidFill>
                    <a:latin typeface="Arial"/>
                  </a:rPr>
                  <a:t> in the expansion of </a:t>
                </a:r>
                <a:r>
                  <a:rPr lang="en-IN" sz="2400">
                    <a:solidFill>
                      <a:srgbClr val="111827"/>
                    </a:solidFill>
                    <a:latin typeface="Cambria Math" panose="02040503050406030204" pitchFamily="18" charset="0"/>
                  </a:rPr>
                  <a:t>$\left(\sqrt a\,x^2+\dfrac{1}{2x^3}\right)^{10}$</a:t>
                </a:r>
                <a:r>
                  <a:rPr sz="2400" b="0">
                    <a:solidFill>
                      <a:srgbClr val="111827"/>
                    </a:solidFill>
                    <a:latin typeface="Arial"/>
                  </a:rPr>
                  <a:t> is </a:t>
                </a:r>
                <a:r>
                  <a:rPr lang="en-IN" sz="2400">
                    <a:solidFill>
                      <a:srgbClr val="111827"/>
                    </a:solidFill>
                    <a:latin typeface="Cambria Math" panose="02040503050406030204" pitchFamily="18" charset="0"/>
                  </a:rPr>
                  <a:t>$105$</a:t>
                </a:r>
                <a:r>
                  <a:rPr sz="2400" b="0">
                    <a:solidFill>
                      <a:srgbClr val="111827"/>
                    </a:solidFill>
                    <a:latin typeface="Arial"/>
                  </a:rPr>
                  <a:t>, then </a:t>
                </a:r>
                <a:r>
                  <a:rPr lang="en-IN" sz="2400">
                    <a:solidFill>
                      <a:srgbClr val="111827"/>
                    </a:solidFill>
                    <a:latin typeface="Cambria Math" panose="02040503050406030204" pitchFamily="18" charset="0"/>
                  </a:rPr>
                  <a:t>$a^2$</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$4$</a:t>
                </a:r>
                <a:r>
                  <a:rPr sz="2400" b="0">
                    <a:solidFill>
                      <a:srgbClr val="111827"/>
                    </a:solidFill>
                    <a:latin typeface="Arial"/>
                  </a:rPr>
                  <a:t>   (B) </a:t>
                </a:r>
                <a:r>
                  <a:rPr lang="en-IN" sz="2400">
                    <a:solidFill>
                      <a:srgbClr val="111827"/>
                    </a:solidFill>
                    <a:latin typeface="Cambria Math" panose="02040503050406030204" pitchFamily="18" charset="0"/>
                  </a:rPr>
                  <a:t>$2$</a:t>
                </a:r>
                <a:r>
                  <a:rPr sz="2400" b="0">
                    <a:solidFill>
                      <a:srgbClr val="111827"/>
                    </a:solidFill>
                    <a:latin typeface="Arial"/>
                  </a:rPr>
                  <a:t>   (C) </a:t>
                </a:r>
                <a:r>
                  <a:rPr lang="en-IN" sz="2400">
                    <a:solidFill>
                      <a:srgbClr val="111827"/>
                    </a:solidFill>
                    <a:latin typeface="Cambria Math" panose="02040503050406030204" pitchFamily="18" charset="0"/>
                  </a:rPr>
                  <a:t>$9$</a:t>
                </a:r>
                <a:r>
                  <a:rPr sz="2400" b="0">
                    <a:solidFill>
                      <a:srgbClr val="111827"/>
                    </a:solidFill>
                    <a:latin typeface="Arial"/>
                  </a:rPr>
                  <a:t>   (D) </a:t>
                </a:r>
                <a:r>
                  <a:rPr lang="en-IN" sz="2400">
                    <a:solidFill>
                      <a:srgbClr val="111827"/>
                    </a:solidFill>
                    <a:latin typeface="Cambria Math" panose="02040503050406030204" pitchFamily="18" charset="0"/>
                  </a:rPr>
                  <a:t>$6$</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69011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 Term independent of </a:t>
                </a:r>
                <a14:m>
                  <m:oMath xmlns:m="http://schemas.openxmlformats.org/officeDocument/2006/math">
                    <m:r>
                      <a:rPr lang="en-IN" sz="2400" i="1">
                        <a:solidFill>
                          <a:srgbClr val="111827"/>
                        </a:solidFill>
                        <a:latin typeface="Cambria Math" panose="02040503050406030204" pitchFamily="18" charset="0"/>
                      </a:rPr>
                      <m:t>𝑥</m:t>
                    </m:r>
                  </m:oMath>
                </a14:m>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Choice>
        <mc:Fallback>
          <p:sp>
            <p:nvSpPr>
              <p:cNvPr id="5" name="Rectangle 4"/>
              <p:cNvSpPr/>
              <p:nvPr/>
            </p:nvSpPr>
            <p:spPr>
              <a:xfrm>
                <a:off x="731520" y="369011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 Term independent of </a:t>
                </a:r>
                <a:r>
                  <a:rPr lang="en-IN" sz="2400">
                    <a:solidFill>
                      <a:srgbClr val="111827"/>
                    </a:solidFill>
                    <a:latin typeface="Cambria Math" panose="02040503050406030204" pitchFamily="18" charset="0"/>
                  </a:rPr>
                  <a:t>$x$</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Fallback>
      </mc:AlternateContent>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 is </a:t>
                </a:r>
                <a14:m>
                  <m:oMath xmlns:m="http://schemas.openxmlformats.org/officeDocument/2006/math">
                    <m:r>
                      <a:rPr lang="en-IN" sz="2400" i="1">
                        <a:solidFill>
                          <a:srgbClr val="78350F"/>
                        </a:solidFill>
                        <a:latin typeface="Cambria Math" panose="02040503050406030204" pitchFamily="18" charset="0"/>
                      </a:rPr>
                      <m:t>20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a:rPr lang="en-IN" sz="2400" i="1">
                        <a:solidFill>
                          <a:srgbClr val="78350F"/>
                        </a:solidFill>
                        <a:latin typeface="Cambria Math" panose="02040503050406030204" pitchFamily="18" charset="0"/>
                      </a:rPr>
                      <m:t>𝑟</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then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10</m:t>
                            </m:r>
                          </m:num>
                          <m:den>
                            <m:r>
                              <a:rPr lang="en-IN" sz="2400" i="1">
                                <a:solidFill>
                                  <a:srgbClr val="78350F"/>
                                </a:solidFill>
                                <a:latin typeface="Cambria Math" panose="02040503050406030204" pitchFamily="18" charset="0"/>
                              </a:rPr>
                              <m:t>4</m:t>
                            </m:r>
                          </m:den>
                        </m:f>
                      </m:e>
                    </m:d>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3</m:t>
                            </m:r>
                          </m:sup>
                        </m:sSup>
                      </m:num>
                      <m:den>
                        <m:r>
                          <a:rPr lang="en-IN" sz="2400" i="1">
                            <a:solidFill>
                              <a:srgbClr val="78350F"/>
                            </a:solidFill>
                            <a:latin typeface="Cambria Math" panose="02040503050406030204" pitchFamily="18" charset="0"/>
                          </a:rPr>
                          <m:t>16</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105</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 is </a:t>
                </a:r>
                <a:r>
                  <a:rPr lang="en-IN" sz="2400">
                    <a:solidFill>
                      <a:srgbClr val="78350F"/>
                    </a:solidFill>
                    <a:latin typeface="Cambria Math" panose="02040503050406030204" pitchFamily="18" charset="0"/>
                  </a:rPr>
                  <a:t>$20-5r$</a:t>
                </a:r>
                <a:r>
                  <a:rPr sz="2400" b="0">
                    <a:solidFill>
                      <a:srgbClr val="78350F"/>
                    </a:solidFill>
                    <a:latin typeface="Arial"/>
                  </a:rPr>
                  <a:t>, so </a:t>
                </a:r>
                <a:r>
                  <a:rPr lang="en-IN" sz="2400">
                    <a:solidFill>
                      <a:srgbClr val="78350F"/>
                    </a:solidFill>
                    <a:latin typeface="Cambria Math" panose="02040503050406030204" pitchFamily="18" charset="0"/>
                  </a:rPr>
                  <a:t>$r=4$</a:t>
                </a:r>
                <a:r>
                  <a:rPr sz="2400" b="0">
                    <a:solidFill>
                      <a:srgbClr val="78350F"/>
                    </a:solidFill>
                    <a:latin typeface="Arial"/>
                  </a:rPr>
                  <a:t>; then </a:t>
                </a:r>
                <a:r>
                  <a:rPr lang="en-IN" sz="2400">
                    <a:solidFill>
                      <a:srgbClr val="78350F"/>
                    </a:solidFill>
                    <a:latin typeface="Cambria Math" panose="02040503050406030204" pitchFamily="18" charset="0"/>
                  </a:rPr>
                  <a:t>$\binom{10}{4}\frac{a^3}{16}=105$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𝑟</m:t>
                            </m:r>
                          </m:den>
                        </m:f>
                      </m:e>
                    </m:d>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with power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equal to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Term independent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4</m:t>
                            </m:r>
                          </m:den>
                        </m:f>
                      </m:e>
                    </m:d>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e>
                        </m:d>
                      </m:e>
                      <m:sup>
                        <m:r>
                          <a:rPr lang="en-IN" sz="2400" i="1">
                            <a:solidFill>
                              <a:srgbClr val="111827"/>
                            </a:solidFill>
                            <a:latin typeface="Cambria Math" panose="02040503050406030204" pitchFamily="18" charset="0"/>
                          </a:rPr>
                          <m:t>6</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16</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$T_{r+1}=\binom{10}{r}\left(\sqrt a\,x^2\right)^{10-r}\left(\dfrac{1}{2x^3}\right)^r$</a:t>
                </a:r>
                <a:r>
                  <a:rPr sz="2400" b="0">
                    <a:solidFill>
                      <a:srgbClr val="111827"/>
                    </a:solidFill>
                    <a:latin typeface="Arial"/>
                  </a:rPr>
                  <a:t> with power of </a:t>
                </a:r>
                <a:r>
                  <a:rPr lang="en-IN" sz="2400">
                    <a:solidFill>
                      <a:srgbClr val="111827"/>
                    </a:solidFill>
                    <a:latin typeface="Cambria Math" panose="02040503050406030204" pitchFamily="18" charset="0"/>
                  </a:rPr>
                  <a:t>$x$</a:t>
                </a:r>
                <a:r>
                  <a:rPr sz="2400" b="0">
                    <a:solidFill>
                      <a:srgbClr val="111827"/>
                    </a:solidFill>
                    <a:latin typeface="Arial"/>
                  </a:rPr>
                  <a:t> equal to </a:t>
                </a:r>
                <a:r>
                  <a:rPr lang="en-IN" sz="2400">
                    <a:solidFill>
                      <a:srgbClr val="111827"/>
                    </a:solidFill>
                    <a:latin typeface="Cambria Math" panose="02040503050406030204" pitchFamily="18" charset="0"/>
                  </a:rPr>
                  <a:t>$2(10-r)-3r=20-5r$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Term independent of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$20-5r=0$</a:t>
                </a:r>
                <a:r>
                  <a:rPr sz="2400" b="0">
                    <a:solidFill>
                      <a:srgbClr val="111827"/>
                    </a:solidFill>
                    <a:latin typeface="Arial"/>
                  </a:rPr>
                  <a:t>, so </a:t>
                </a:r>
                <a:r>
                  <a:rPr lang="en-IN" sz="2400">
                    <a:solidFill>
                      <a:srgbClr val="111827"/>
                    </a:solidFill>
                    <a:latin typeface="Cambria Math" panose="02040503050406030204" pitchFamily="18" charset="0"/>
                  </a:rPr>
                  <a:t>$r=4$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$T_5=\binom{10}{4}\left(\sqrt a\right)^6\left(\dfrac12\right)^4=210\cdot\dfrac{a^3}{16}$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$210\cdot\dfrac{a^3}{16}=105\Rightarrow a^3=8\Rightarrow 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$a^2=4$</a:t>
                </a:r>
                <a:r>
                  <a:rPr sz="2400" b="0">
                    <a:solidFill>
                      <a:srgbClr val="111827"/>
                    </a:solidFill>
                    <a:latin typeface="Arial"/>
                  </a:rPr>
                  <a:t>,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4</a:t>
            </a:r>
            <a:endParaRPr sz="2800">
              <a:solidFill>
                <a:srgbClr val="15803D"/>
              </a:solidFill>
            </a:endParaRP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Clear the denominator: </a:t>
                </a:r>
                <a14:m>
                  <m:oMath xmlns:m="http://schemas.openxmlformats.org/officeDocument/2006/math">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𝑎</m:t>
                        </m:r>
                      </m:e>
                    </m:rad>
                    <m:r>
                      <a:rPr lang="en-IN" sz="2400" i="1">
                        <a:solidFill>
                          <a:srgbClr val="78350F"/>
                        </a:solidFill>
                        <a:latin typeface="Cambria Math" panose="02040503050406030204" pitchFamily="18" charset="0"/>
                      </a:rPr>
                      <m:t> </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𝑎</m:t>
                            </m:r>
                          </m:e>
                        </m:rad>
                        <m:r>
                          <a:rPr lang="en-IN" sz="2400" i="1">
                            <a:solidFill>
                              <a:srgbClr val="78350F"/>
                            </a:solidFill>
                            <a:latin typeface="Cambria Math" panose="02040503050406030204" pitchFamily="18" charset="0"/>
                          </a:rPr>
                          <m:t> </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5</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Clear the denominator: </a:t>
                </a:r>
                <a:r>
                  <a:rPr lang="en-IN" sz="2400">
                    <a:solidFill>
                      <a:srgbClr val="78350F"/>
                    </a:solidFill>
                    <a:latin typeface="Cambria Math" panose="02040503050406030204" pitchFamily="18" charset="0"/>
                  </a:rPr>
                  <a:t>$\sqrt a\,x^2+\frac1{2x^3}=\frac{2\sqrt a\,x^5+1}{2x^3}$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e>
                            </m:d>
                          </m:e>
                          <m:sup>
                            <m:r>
                              <a:rPr lang="en-IN" sz="2400" i="1">
                                <a:solidFill>
                                  <a:srgbClr val="111827"/>
                                </a:solidFill>
                                <a:latin typeface="Cambria Math" panose="02040503050406030204" pitchFamily="18" charset="0"/>
                              </a:rPr>
                              <m:t>10</m:t>
                            </m:r>
                          </m:sup>
                        </m:sSup>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10</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30</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constant term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10</m:t>
                            </m:r>
                          </m:sup>
                        </m:sSup>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30</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oMath>
                </a14:m>
                <a:r>
                  <a:rPr sz="2400" b="0">
                    <a:solidFill>
                      <a:srgbClr val="111827"/>
                    </a:solidFill>
                    <a:latin typeface="Arial"/>
                  </a:rPr>
                  <a:t> in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e>
                        </m:d>
                      </m:e>
                      <m:sup>
                        <m:r>
                          <a:rPr lang="en-IN" sz="2400" i="1">
                            <a:solidFill>
                              <a:srgbClr val="111827"/>
                            </a:solidFill>
                            <a:latin typeface="Cambria Math" panose="02040503050406030204" pitchFamily="18" charset="0"/>
                          </a:rPr>
                          <m:t>10</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coefficient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6</m:t>
                            </m:r>
                          </m:den>
                        </m:f>
                      </m:e>
                    </m:d>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e>
                        </m:d>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so the constant term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1024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210</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option (A) (same answer).</a:t>
                </a:r>
                <a:endParaRPr sz="2400">
                  <a:solidFill>
                    <a:srgbClr val="111827"/>
                  </a:solidFill>
                </a:endParaRPr>
              </a:p>
            </p:txBody>
          </p:sp>
        </mc:Choice>
        <mc:Fallback>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$\left(\sqrt a\,x^2+\dfrac1{2x^3}\right)^{10}=\dfrac{\left(1+2\sqrt a\,x^5\right)^{10}}{2^{10}x^{30}}$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constant term is </a:t>
                </a:r>
                <a:r>
                  <a:rPr lang="en-IN" sz="2400">
                    <a:solidFill>
                      <a:srgbClr val="111827"/>
                    </a:solidFill>
                    <a:latin typeface="Cambria Math" panose="02040503050406030204" pitchFamily="18" charset="0"/>
                  </a:rPr>
                  <a:t>$\dfrac1{2^{10}}\times$</a:t>
                </a:r>
                <a:r>
                  <a:rPr sz="2400" b="0">
                    <a:solidFill>
                      <a:srgbClr val="111827"/>
                    </a:solidFill>
                    <a:latin typeface="Arial"/>
                  </a:rPr>
                  <a:t> the coefficient of </a:t>
                </a:r>
                <a:r>
                  <a:rPr lang="en-IN" sz="2400">
                    <a:solidFill>
                      <a:srgbClr val="111827"/>
                    </a:solidFill>
                    <a:latin typeface="Cambria Math" panose="02040503050406030204" pitchFamily="18" charset="0"/>
                  </a:rPr>
                  <a:t>$x^{30}=(x^5)^6$</a:t>
                </a:r>
                <a:r>
                  <a:rPr sz="2400" b="0">
                    <a:solidFill>
                      <a:srgbClr val="111827"/>
                    </a:solidFill>
                    <a:latin typeface="Arial"/>
                  </a:rPr>
                  <a:t> in </a:t>
                </a:r>
                <a:r>
                  <a:rPr lang="en-IN" sz="2400">
                    <a:solidFill>
                      <a:srgbClr val="111827"/>
                    </a:solidFill>
                    <a:latin typeface="Cambria Math" panose="02040503050406030204" pitchFamily="18" charset="0"/>
                  </a:rPr>
                  <a:t>$\left(1+2\sqrt a\,x^5\right)^{10}$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coefficient is </a:t>
                </a:r>
                <a:r>
                  <a:rPr lang="en-IN" sz="2400">
                    <a:solidFill>
                      <a:srgbClr val="111827"/>
                    </a:solidFill>
                    <a:latin typeface="Cambria Math" panose="02040503050406030204" pitchFamily="18" charset="0"/>
                  </a:rPr>
                  <a:t>$\binom{10}{6}\left(2\sqrt a\right)^6=210\cdot64\,a^3$</a:t>
                </a:r>
                <a:r>
                  <a:rPr sz="2400" b="0">
                    <a:solidFill>
                      <a:srgbClr val="111827"/>
                    </a:solidFill>
                    <a:latin typeface="Arial"/>
                  </a:rPr>
                  <a:t>, so the constant term is </a:t>
                </a:r>
                <a:r>
                  <a:rPr lang="en-IN" sz="2400">
                    <a:solidFill>
                      <a:srgbClr val="111827"/>
                    </a:solidFill>
                    <a:latin typeface="Cambria Math" panose="02040503050406030204" pitchFamily="18" charset="0"/>
                  </a:rPr>
                  <a:t>$\dfrac{210\cdot64\,a^3}{1024}=\dfrac{210a^3}{16}=105$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$a^3=8$</a:t>
                </a:r>
                <a:r>
                  <a:rPr sz="2400" b="0">
                    <a:solidFill>
                      <a:srgbClr val="111827"/>
                    </a:solidFill>
                    <a:latin typeface="Arial"/>
                  </a:rPr>
                  <a:t>, </a:t>
                </a:r>
                <a:r>
                  <a:rPr lang="en-IN" sz="2400">
                    <a:solidFill>
                      <a:srgbClr val="111827"/>
                    </a:solidFill>
                    <a:latin typeface="Cambria Math" panose="02040503050406030204" pitchFamily="18" charset="0"/>
                  </a:rPr>
                  <a:t>$a=2$</a:t>
                </a:r>
                <a:r>
                  <a:rPr sz="2400" b="0">
                    <a:solidFill>
                      <a:srgbClr val="111827"/>
                    </a:solidFill>
                    <a:latin typeface="Arial"/>
                  </a:rPr>
                  <a:t> and </a:t>
                </a:r>
                <a:r>
                  <a:rPr lang="en-IN" sz="2400">
                    <a:solidFill>
                      <a:srgbClr val="111827"/>
                    </a:solidFill>
                    <a:latin typeface="Cambria Math" panose="02040503050406030204" pitchFamily="18" charset="0"/>
                  </a:rPr>
                  <a:t>$a^2=4$</a:t>
                </a:r>
                <a:r>
                  <a:rPr sz="2400" b="0">
                    <a:solidFill>
                      <a:srgbClr val="111827"/>
                    </a:solidFill>
                    <a:latin typeface="Arial"/>
                  </a:rPr>
                  <a:t>, option (A)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4</a:t>
            </a:r>
            <a:endParaRPr sz="2800">
              <a:solidFill>
                <a:srgbClr val="15803D"/>
              </a:solidFill>
            </a:endParaRP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Constant term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𝑎</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appears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directly.</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powers of a square root halve the exponent.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Constant term of </a:t>
                </a:r>
                <a:r>
                  <a:rPr lang="en-IN" sz="2400">
                    <a:solidFill>
                      <a:srgbClr val="111827"/>
                    </a:solidFill>
                    <a:latin typeface="Cambria Math" panose="02040503050406030204" pitchFamily="18" charset="0"/>
                  </a:rPr>
                  <a:t>$(px^a+qx^{-b})^n$</a:t>
                </a:r>
                <a:r>
                  <a:rPr sz="2400" b="0">
                    <a:solidFill>
                      <a:srgbClr val="111827"/>
                    </a:solidFill>
                    <a:latin typeface="Arial"/>
                  </a:rPr>
                  <a:t> appears at </a:t>
                </a:r>
                <a:r>
                  <a:rPr lang="en-IN" sz="2400">
                    <a:solidFill>
                      <a:srgbClr val="111827"/>
                    </a:solidFill>
                    <a:latin typeface="Cambria Math" panose="02040503050406030204" pitchFamily="18" charset="0"/>
                  </a:rPr>
                  <a:t>$r=\frac{an}{a+b}$</a:t>
                </a:r>
                <a:r>
                  <a:rPr sz="2400" b="0">
                    <a:solidFill>
                      <a:srgbClr val="111827"/>
                    </a:solidFill>
                    <a:latin typeface="Arial"/>
                  </a:rPr>
                  <a:t> (</a:t>
                </a:r>
                <a:r>
                  <a:rPr lang="en-IN" sz="2400">
                    <a:solidFill>
                      <a:srgbClr val="111827"/>
                    </a:solidFill>
                    <a:latin typeface="Cambria Math" panose="02040503050406030204" pitchFamily="18" charset="0"/>
                  </a:rPr>
                  <a:t>$=\frac{20}{5}=4$</a:t>
                </a:r>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$\binom{10}{4}=210$</a:t>
                </a:r>
                <a:r>
                  <a:rPr sz="2400" b="0">
                    <a:solidFill>
                      <a:srgbClr val="111827"/>
                    </a:solidFill>
                    <a:latin typeface="Arial"/>
                  </a:rPr>
                  <a:t>, and </a:t>
                </a:r>
                <a:r>
                  <a:rPr lang="en-IN" sz="2400">
                    <a:solidFill>
                      <a:srgbClr val="111827"/>
                    </a:solidFill>
                    <a:latin typeface="Cambria Math" panose="02040503050406030204" pitchFamily="18" charset="0"/>
                  </a:rPr>
                  <a:t>$210/16\cdot a^3=105$</a:t>
                </a:r>
                <a:r>
                  <a:rPr sz="2400" b="0">
                    <a:solidFill>
                      <a:srgbClr val="111827"/>
                    </a:solidFill>
                    <a:latin typeface="Arial"/>
                  </a:rPr>
                  <a:t> gives </a:t>
                </a:r>
                <a:r>
                  <a:rPr lang="en-IN" sz="2400">
                    <a:solidFill>
                      <a:srgbClr val="111827"/>
                    </a:solidFill>
                    <a:latin typeface="Cambria Math" panose="02040503050406030204" pitchFamily="18" charset="0"/>
                  </a:rPr>
                  <a:t>$a^3=8$</a:t>
                </a:r>
                <a:r>
                  <a:rPr sz="2400" b="0">
                    <a:solidFill>
                      <a:srgbClr val="111827"/>
                    </a:solidFill>
                    <a:latin typeface="Arial"/>
                  </a:rPr>
                  <a:t> directly.</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$(\sqrt a)^6=a^3$</a:t>
                </a:r>
                <a:r>
                  <a:rPr sz="2400" b="0">
                    <a:solidFill>
                      <a:srgbClr val="111827"/>
                    </a:solidFill>
                    <a:latin typeface="Arial"/>
                  </a:rPr>
                  <a:t>: powers of a square root halve the exponent.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$210\cdot\frac{8}{16}=105$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70</m:t>
                        </m:r>
                      </m:sup>
                    </m:sSup>
                  </m:oMath>
                </a14:m>
                <a:r>
                  <a:rPr sz="2400" b="0">
                    <a:solidFill>
                      <a:srgbClr val="111827"/>
                    </a:solidFill>
                    <a:latin typeface="Arial"/>
                  </a:rPr>
                  <a:t> in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98</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97</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96</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46</m:t>
                        </m:r>
                      </m:sup>
                    </m:sSup>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 </m:t>
                        </m:r>
                      </m:e>
                      <m:sup>
                        <m:r>
                          <a:rPr lang="en-IN" sz="2400" i="1">
                            <a:solidFill>
                              <a:srgbClr val="111827"/>
                            </a:solidFill>
                            <a:latin typeface="Cambria Math" panose="02040503050406030204" pitchFamily="18" charset="0"/>
                          </a:rPr>
                          <m:t>99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𝑝</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 </m:t>
                        </m:r>
                      </m:e>
                      <m:sup>
                        <m:r>
                          <a:rPr lang="en-IN" sz="2400" i="1">
                            <a:solidFill>
                              <a:srgbClr val="111827"/>
                            </a:solidFill>
                            <a:latin typeface="Cambria Math" panose="02040503050406030204" pitchFamily="18" charset="0"/>
                          </a:rPr>
                          <m:t>46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𝑞</m:t>
                        </m:r>
                      </m:sub>
                    </m:sSub>
                  </m:oMath>
                </a14:m>
                <a:r>
                  <a:rPr sz="2400" b="0">
                    <a:solidFill>
                      <a:srgbClr val="111827"/>
                    </a:solidFill>
                    <a:latin typeface="Arial"/>
                  </a:rPr>
                  <a:t>. Then a possible value of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68</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83</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55</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61</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$x^{70}$</a:t>
                </a:r>
                <a:r>
                  <a:rPr sz="2400" b="0">
                    <a:solidFill>
                      <a:srgbClr val="111827"/>
                    </a:solidFill>
                    <a:latin typeface="Arial"/>
                  </a:rPr>
                  <a:t> in </a:t>
                </a:r>
                <a:r>
                  <a:rPr lang="en-IN" sz="2400">
                    <a:solidFill>
                      <a:srgbClr val="111827"/>
                    </a:solidFill>
                    <a:latin typeface="Cambria Math" panose="02040503050406030204" pitchFamily="18" charset="0"/>
                  </a:rPr>
                  <a:t>$x^2(1+x)^{98}+x^3(1+x)^{97}+x^4(1+x)^{96}+\dots+x^{54}(1+x)^{46}$</a:t>
                </a:r>
                <a:r>
                  <a:rPr sz="2400" b="0">
                    <a:solidFill>
                      <a:srgbClr val="111827"/>
                    </a:solidFill>
                    <a:latin typeface="Arial"/>
                  </a:rPr>
                  <a:t> is </a:t>
                </a:r>
                <a:r>
                  <a:rPr lang="en-IN" sz="2400">
                    <a:solidFill>
                      <a:srgbClr val="111827"/>
                    </a:solidFill>
                    <a:latin typeface="Cambria Math" panose="02040503050406030204" pitchFamily="18" charset="0"/>
                  </a:rPr>
                  <a:t>$\ ^{99}C_p-\ ^{46}C_q$</a:t>
                </a:r>
                <a:r>
                  <a:rPr sz="2400" b="0">
                    <a:solidFill>
                      <a:srgbClr val="111827"/>
                    </a:solidFill>
                    <a:latin typeface="Arial"/>
                  </a:rPr>
                  <a:t>. Then a possible value of </a:t>
                </a:r>
                <a:r>
                  <a:rPr lang="en-IN" sz="2400">
                    <a:solidFill>
                      <a:srgbClr val="111827"/>
                    </a:solidFill>
                    <a:latin typeface="Cambria Math" panose="02040503050406030204" pitchFamily="18" charset="0"/>
                  </a:rPr>
                  <a:t>$p+q$</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$68$</a:t>
                </a:r>
                <a:r>
                  <a:rPr sz="2400" b="0">
                    <a:solidFill>
                      <a:srgbClr val="111827"/>
                    </a:solidFill>
                    <a:latin typeface="Arial"/>
                  </a:rPr>
                  <a:t>   (B) </a:t>
                </a:r>
                <a:r>
                  <a:rPr lang="en-IN" sz="2400">
                    <a:solidFill>
                      <a:srgbClr val="111827"/>
                    </a:solidFill>
                    <a:latin typeface="Cambria Math" panose="02040503050406030204" pitchFamily="18" charset="0"/>
                  </a:rPr>
                  <a:t>$83$</a:t>
                </a:r>
                <a:r>
                  <a:rPr sz="2400" b="0">
                    <a:solidFill>
                      <a:srgbClr val="111827"/>
                    </a:solidFill>
                    <a:latin typeface="Arial"/>
                  </a:rPr>
                  <a:t>   (C) </a:t>
                </a:r>
                <a:r>
                  <a:rPr lang="en-IN" sz="2400">
                    <a:solidFill>
                      <a:srgbClr val="111827"/>
                    </a:solidFill>
                    <a:latin typeface="Cambria Math" panose="02040503050406030204" pitchFamily="18" charset="0"/>
                  </a:rPr>
                  <a:t>$55$</a:t>
                </a:r>
                <a:r>
                  <a:rPr sz="2400" b="0">
                    <a:solidFill>
                      <a:srgbClr val="111827"/>
                    </a:solidFill>
                    <a:latin typeface="Arial"/>
                  </a:rPr>
                  <a:t>   (D) </a:t>
                </a:r>
                <a:r>
                  <a:rPr lang="en-IN" sz="2400">
                    <a:solidFill>
                      <a:srgbClr val="111827"/>
                    </a:solidFill>
                    <a:latin typeface="Cambria Math" panose="02040503050406030204" pitchFamily="18" charset="0"/>
                  </a:rPr>
                  <a:t>$61$</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a geometric progression of binomials, Hockey-stick identity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coefficient of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70</m:t>
                        </m:r>
                      </m:sup>
                    </m:sSup>
                  </m:oMath>
                </a14:m>
                <a:r>
                  <a:rPr sz="2400" b="0">
                    <a:solidFill>
                      <a:srgbClr val="78350F"/>
                    </a:solidFill>
                    <a:latin typeface="Arial"/>
                  </a:rPr>
                  <a:t> in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𝑘</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100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sup>
                    </m:sSup>
                  </m:oMath>
                </a14:m>
                <a:r>
                  <a:rPr sz="2400" b="0">
                    <a:solidFill>
                      <a:srgbClr val="78350F"/>
                    </a:solidFill>
                    <a:latin typeface="Arial"/>
                  </a:rPr>
                  <a:t> is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100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num>
                          <m:den>
                            <m:r>
                              <a:rPr lang="en-IN" sz="2400" i="1">
                                <a:solidFill>
                                  <a:srgbClr val="78350F"/>
                                </a:solidFill>
                                <a:latin typeface="Cambria Math" panose="02040503050406030204" pitchFamily="18" charset="0"/>
                              </a:rPr>
                              <m:t>30</m:t>
                            </m:r>
                          </m:den>
                        </m:f>
                      </m:e>
                    </m:d>
                  </m:oMath>
                </a14:m>
                <a:r>
                  <a:rPr sz="2400" b="0">
                    <a:solidFill>
                      <a:srgbClr val="78350F"/>
                    </a:solidFill>
                    <a:latin typeface="Arial"/>
                  </a:rPr>
                  <a:t>; summing over </a:t>
                </a:r>
                <a14:m>
                  <m:oMath xmlns:m="http://schemas.openxmlformats.org/officeDocument/2006/math">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54</m:t>
                    </m:r>
                  </m:oMath>
                </a14:m>
                <a:r>
                  <a:rPr sz="2400" b="0">
                    <a:solidFill>
                      <a:srgbClr val="78350F"/>
                    </a:solidFill>
                    <a:latin typeface="Arial"/>
                  </a:rPr>
                  <a:t> is a hockey stick.</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coefficient of </a:t>
                </a:r>
                <a:r>
                  <a:rPr lang="en-IN" sz="2400">
                    <a:solidFill>
                      <a:srgbClr val="78350F"/>
                    </a:solidFill>
                    <a:latin typeface="Cambria Math" panose="02040503050406030204" pitchFamily="18" charset="0"/>
                  </a:rPr>
                  <a:t>$x^{70}$</a:t>
                </a:r>
                <a:r>
                  <a:rPr sz="2400" b="0">
                    <a:solidFill>
                      <a:srgbClr val="78350F"/>
                    </a:solidFill>
                    <a:latin typeface="Arial"/>
                  </a:rPr>
                  <a:t> in </a:t>
                </a:r>
                <a:r>
                  <a:rPr lang="en-IN" sz="2400">
                    <a:solidFill>
                      <a:srgbClr val="78350F"/>
                    </a:solidFill>
                    <a:latin typeface="Cambria Math" panose="02040503050406030204" pitchFamily="18" charset="0"/>
                  </a:rPr>
                  <a:t>$x^k(1+x)^{100-k}$</a:t>
                </a:r>
                <a:r>
                  <a:rPr sz="2400" b="0">
                    <a:solidFill>
                      <a:srgbClr val="78350F"/>
                    </a:solidFill>
                    <a:latin typeface="Arial"/>
                  </a:rPr>
                  <a:t> is </a:t>
                </a:r>
                <a:r>
                  <a:rPr lang="en-IN" sz="2400">
                    <a:solidFill>
                      <a:srgbClr val="78350F"/>
                    </a:solidFill>
                    <a:latin typeface="Cambria Math" panose="02040503050406030204" pitchFamily="18" charset="0"/>
                  </a:rPr>
                  <a:t>$\binom{100-k}{30}$</a:t>
                </a:r>
                <a:r>
                  <a:rPr sz="2400" b="0">
                    <a:solidFill>
                      <a:srgbClr val="78350F"/>
                    </a:solidFill>
                    <a:latin typeface="Arial"/>
                  </a:rPr>
                  <a:t>; summing over </a:t>
                </a:r>
                <a:r>
                  <a:rPr lang="en-IN" sz="2400">
                    <a:solidFill>
                      <a:srgbClr val="78350F"/>
                    </a:solidFill>
                    <a:latin typeface="Cambria Math" panose="02040503050406030204" pitchFamily="18" charset="0"/>
                  </a:rPr>
                  <a:t>$k=2,\dots,54$</a:t>
                </a:r>
                <a:r>
                  <a:rPr sz="2400" b="0">
                    <a:solidFill>
                      <a:srgbClr val="78350F"/>
                    </a:solidFill>
                    <a:latin typeface="Arial"/>
                  </a:rPr>
                  <a:t> is a hockey stick.</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70</m:t>
                        </m:r>
                      </m:sup>
                    </m:sSup>
                  </m:oMath>
                </a14:m>
                <a:r>
                  <a:rPr sz="2400" b="0">
                    <a:solidFill>
                      <a:srgbClr val="111827"/>
                    </a:solidFill>
                    <a:latin typeface="Arial"/>
                  </a:rPr>
                  <a:t> in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is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namely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30</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oMath>
                </a14:m>
                <a:r>
                  <a:rPr sz="2400" b="0">
                    <a:solidFill>
                      <a:srgbClr val="111827"/>
                    </a:solidFill>
                    <a:latin typeface="Arial"/>
                  </a:rPr>
                  <a:t> the upper index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runs over </a:t>
                </a:r>
                <a14:m>
                  <m:oMath xmlns:m="http://schemas.openxmlformats.org/officeDocument/2006/math">
                    <m:r>
                      <a:rPr lang="en-IN" sz="2400" i="1">
                        <a:solidFill>
                          <a:srgbClr val="111827"/>
                        </a:solidFill>
                        <a:latin typeface="Cambria Math" panose="02040503050406030204" pitchFamily="18" charset="0"/>
                      </a:rPr>
                      <m:t>98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m:t>
                    </m:r>
                  </m:oMath>
                </a14:m>
                <a:r>
                  <a:rPr sz="2400" b="0">
                    <a:solidFill>
                      <a:srgbClr val="111827"/>
                    </a:solidFill>
                    <a:latin typeface="Arial"/>
                  </a:rPr>
                  <a:t>, so the coefficient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30</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47</m:t>
                            </m:r>
                          </m:num>
                          <m:den>
                            <m:r>
                              <a:rPr lang="en-IN" sz="2400" i="1">
                                <a:solidFill>
                                  <a:srgbClr val="111827"/>
                                </a:solidFill>
                                <a:latin typeface="Cambria Math" panose="02040503050406030204" pitchFamily="18" charset="0"/>
                              </a:rPr>
                              <m:t>30</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98</m:t>
                            </m:r>
                          </m:num>
                          <m:den>
                            <m:r>
                              <a:rPr lang="en-IN" sz="2400" i="1">
                                <a:solidFill>
                                  <a:srgbClr val="111827"/>
                                </a:solidFill>
                                <a:latin typeface="Cambria Math" panose="02040503050406030204" pitchFamily="18" charset="0"/>
                              </a:rPr>
                              <m:t>30</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Hockey stick: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sub>
                      <m:sup>
                        <m:r>
                          <a:rPr lang="en-IN" sz="2400" i="1">
                            <a:solidFill>
                              <a:srgbClr val="111827"/>
                            </a:solidFill>
                            <a:latin typeface="Cambria Math" panose="02040503050406030204" pitchFamily="18" charset="0"/>
                          </a:rPr>
                          <m:t>98</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30</m:t>
                                </m:r>
                              </m:den>
                            </m:f>
                          </m:e>
                        </m:d>
                      </m:e>
                    </m:nary>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31</m:t>
                            </m:r>
                          </m:den>
                        </m:f>
                      </m:e>
                    </m:d>
                  </m:oMath>
                </a14:m>
                <a:r>
                  <a:rPr sz="2400" b="0">
                    <a:solidFill>
                      <a:srgbClr val="111827"/>
                    </a:solidFill>
                    <a:latin typeface="Arial"/>
                  </a:rPr>
                  <a:t>, and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sub>
                      <m:sup>
                        <m:r>
                          <a:rPr lang="en-IN" sz="2400" i="1">
                            <a:solidFill>
                              <a:srgbClr val="111827"/>
                            </a:solidFill>
                            <a:latin typeface="Cambria Math" panose="02040503050406030204" pitchFamily="18" charset="0"/>
                          </a:rPr>
                          <m:t>45</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30</m:t>
                                </m:r>
                              </m:den>
                            </m:f>
                          </m:e>
                        </m:d>
                      </m:e>
                    </m:nary>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31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coefficient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31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31</m:t>
                            </m:r>
                          </m:den>
                        </m:f>
                      </m:e>
                    </m:d>
                  </m:oMath>
                </a14:m>
                <a:r>
                  <a:rPr sz="2400" b="0">
                    <a:solidFill>
                      <a:srgbClr val="111827"/>
                    </a:solidFill>
                    <a:latin typeface="Arial"/>
                  </a:rPr>
                  <a:t>, so one choice is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$x^{70}$</a:t>
                </a:r>
                <a:r>
                  <a:rPr sz="2400" b="0">
                    <a:solidFill>
                      <a:srgbClr val="111827"/>
                    </a:solidFill>
                    <a:latin typeface="Arial"/>
                  </a:rPr>
                  <a:t> in </a:t>
                </a:r>
                <a:r>
                  <a:rPr lang="en-IN" sz="2400">
                    <a:solidFill>
                      <a:srgbClr val="111827"/>
                    </a:solidFill>
                    <a:latin typeface="Cambria Math" panose="02040503050406030204" pitchFamily="18" charset="0"/>
                  </a:rPr>
                  <a:t>$x^k(1+x)^{100-k}$</a:t>
                </a:r>
                <a:r>
                  <a:rPr sz="2400" b="0">
                    <a:solidFill>
                      <a:srgbClr val="111827"/>
                    </a:solidFill>
                    <a:latin typeface="Arial"/>
                  </a:rPr>
                  <a:t> is the coefficient of </a:t>
                </a:r>
                <a:r>
                  <a:rPr lang="en-IN" sz="2400">
                    <a:solidFill>
                      <a:srgbClr val="111827"/>
                    </a:solidFill>
                    <a:latin typeface="Cambria Math" panose="02040503050406030204" pitchFamily="18" charset="0"/>
                  </a:rPr>
                  <a:t>$x^{70-k}$</a:t>
                </a:r>
                <a:r>
                  <a:rPr sz="2400" b="0">
                    <a:solidFill>
                      <a:srgbClr val="111827"/>
                    </a:solidFill>
                    <a:latin typeface="Arial"/>
                  </a:rPr>
                  <a:t> in </a:t>
                </a:r>
                <a:r>
                  <a:rPr lang="en-IN" sz="2400">
                    <a:solidFill>
                      <a:srgbClr val="111827"/>
                    </a:solidFill>
                    <a:latin typeface="Cambria Math" panose="02040503050406030204" pitchFamily="18" charset="0"/>
                  </a:rPr>
                  <a:t>$(1+x)^{100-k}$</a:t>
                </a:r>
                <a:r>
                  <a:rPr sz="2400" b="0">
                    <a:solidFill>
                      <a:srgbClr val="111827"/>
                    </a:solidFill>
                    <a:latin typeface="Arial"/>
                  </a:rPr>
                  <a:t>, namely </a:t>
                </a:r>
                <a:r>
                  <a:rPr lang="en-IN" sz="2400">
                    <a:solidFill>
                      <a:srgbClr val="111827"/>
                    </a:solidFill>
                    <a:latin typeface="Cambria Math" panose="02040503050406030204" pitchFamily="18" charset="0"/>
                  </a:rPr>
                  <a:t>$\binom{100-k}{70-k}=\binom{100-k}{30}$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$k=2,3,\dots,54$</a:t>
                </a:r>
                <a:r>
                  <a:rPr sz="2400" b="0">
                    <a:solidFill>
                      <a:srgbClr val="111827"/>
                    </a:solidFill>
                    <a:latin typeface="Arial"/>
                  </a:rPr>
                  <a:t> the upper index </a:t>
                </a:r>
                <a:r>
                  <a:rPr lang="en-IN" sz="2400">
                    <a:solidFill>
                      <a:srgbClr val="111827"/>
                    </a:solidFill>
                    <a:latin typeface="Cambria Math" panose="02040503050406030204" pitchFamily="18" charset="0"/>
                  </a:rPr>
                  <a:t>$m=100-k$</a:t>
                </a:r>
                <a:r>
                  <a:rPr sz="2400" b="0">
                    <a:solidFill>
                      <a:srgbClr val="111827"/>
                    </a:solidFill>
                    <a:latin typeface="Arial"/>
                  </a:rPr>
                  <a:t> runs over </a:t>
                </a:r>
                <a:r>
                  <a:rPr lang="en-IN" sz="2400">
                    <a:solidFill>
                      <a:srgbClr val="111827"/>
                    </a:solidFill>
                    <a:latin typeface="Cambria Math" panose="02040503050406030204" pitchFamily="18" charset="0"/>
                  </a:rPr>
                  <a:t>$98,97,\dots,46$</a:t>
                </a:r>
                <a:r>
                  <a:rPr sz="2400" b="0">
                    <a:solidFill>
                      <a:srgbClr val="111827"/>
                    </a:solidFill>
                    <a:latin typeface="Arial"/>
                  </a:rPr>
                  <a:t>, so the coefficient is </a:t>
                </a:r>
                <a:r>
                  <a:rPr lang="en-IN" sz="2400">
                    <a:solidFill>
                      <a:srgbClr val="111827"/>
                    </a:solidFill>
                    <a:latin typeface="Cambria Math" panose="02040503050406030204" pitchFamily="18" charset="0"/>
                  </a:rPr>
                  <a:t>$\binom{46}{30}+\binom{47}{30}+\dots+\binom{98}{30}$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Hockey stick: </a:t>
                </a:r>
                <a:r>
                  <a:rPr lang="en-IN" sz="2400">
                    <a:solidFill>
                      <a:srgbClr val="111827"/>
                    </a:solidFill>
                    <a:latin typeface="Cambria Math" panose="02040503050406030204" pitchFamily="18" charset="0"/>
                  </a:rPr>
                  <a:t>$\sum_{m=30}^{98}\binom m{30}=\binom{99}{31}$</a:t>
                </a:r>
                <a:r>
                  <a:rPr sz="2400" b="0">
                    <a:solidFill>
                      <a:srgbClr val="111827"/>
                    </a:solidFill>
                    <a:latin typeface="Arial"/>
                  </a:rPr>
                  <a:t>, and </a:t>
                </a:r>
                <a:r>
                  <a:rPr lang="en-IN" sz="2400">
                    <a:solidFill>
                      <a:srgbClr val="111827"/>
                    </a:solidFill>
                    <a:latin typeface="Cambria Math" panose="02040503050406030204" pitchFamily="18" charset="0"/>
                  </a:rPr>
                  <a:t>$\sum_{m=30}^{45}\binom m{30}=\binom{46}{31}$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coefficient is </a:t>
                </a:r>
                <a:r>
                  <a:rPr lang="en-IN" sz="2400">
                    <a:solidFill>
                      <a:srgbClr val="111827"/>
                    </a:solidFill>
                    <a:latin typeface="Cambria Math" panose="02040503050406030204" pitchFamily="18" charset="0"/>
                  </a:rPr>
                  <a:t>$\binom{99}{31}-\binom{46}{31}$</a:t>
                </a:r>
                <a:r>
                  <a:rPr sz="2400" b="0">
                    <a:solidFill>
                      <a:srgbClr val="111827"/>
                    </a:solidFill>
                    <a:latin typeface="Arial"/>
                  </a:rPr>
                  <a:t>, so one choice is </a:t>
                </a:r>
                <a:r>
                  <a:rPr lang="en-IN" sz="2400">
                    <a:solidFill>
                      <a:srgbClr val="111827"/>
                    </a:solidFill>
                    <a:latin typeface="Cambria Math" panose="02040503050406030204" pitchFamily="18" charset="0"/>
                  </a:rPr>
                  <a:t>$p=31$</a:t>
                </a:r>
                <a:r>
                  <a:rPr sz="2400" b="0">
                    <a:solidFill>
                      <a:srgbClr val="111827"/>
                    </a:solidFill>
                    <a:latin typeface="Arial"/>
                  </a:rPr>
                  <a:t>, </a:t>
                </a:r>
                <a:r>
                  <a:rPr lang="en-IN" sz="2400">
                    <a:solidFill>
                      <a:srgbClr val="111827"/>
                    </a:solidFill>
                    <a:latin typeface="Cambria Math" panose="02040503050406030204" pitchFamily="18" charset="0"/>
                  </a:rPr>
                  <a:t>$q=31$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Other equivalent forms: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𝑝</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31</m:t>
                            </m:r>
                          </m:den>
                        </m:f>
                      </m:e>
                    </m:d>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68</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𝑞</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31</m:t>
                            </m:r>
                          </m:den>
                        </m:f>
                      </m:e>
                    </m:d>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Possible values of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t>
                </a:r>
                <a14:m>
                  <m:oMath xmlns:m="http://schemas.openxmlformats.org/officeDocument/2006/math">
                    <m:r>
                      <a:rPr lang="en-IN" sz="2400" i="1">
                        <a:solidFill>
                          <a:srgbClr val="111827"/>
                        </a:solidFill>
                        <a:latin typeface="Cambria Math" panose="02040503050406030204" pitchFamily="18" charset="0"/>
                      </a:rPr>
                      <m:t>83</m:t>
                    </m:r>
                  </m:oMath>
                </a14:m>
                <a:r>
                  <a:rPr sz="2400" b="0">
                    <a:solidFill>
                      <a:srgbClr val="111827"/>
                    </a:solidFill>
                    <a:latin typeface="Arial"/>
                  </a:rPr>
                  <a:t> appears among the options: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Other equivalent forms: </a:t>
                </a:r>
                <a:r>
                  <a:rPr lang="en-IN" sz="2400">
                    <a:solidFill>
                      <a:srgbClr val="111827"/>
                    </a:solidFill>
                    <a:latin typeface="Cambria Math" panose="02040503050406030204" pitchFamily="18" charset="0"/>
                  </a:rPr>
                  <a:t>$\binom{99}{p}=\binom{99}{31}$</a:t>
                </a:r>
                <a:r>
                  <a:rPr sz="2400" b="0">
                    <a:solidFill>
                      <a:srgbClr val="111827"/>
                    </a:solidFill>
                    <a:latin typeface="Arial"/>
                  </a:rPr>
                  <a:t> for </a:t>
                </a:r>
                <a:r>
                  <a:rPr lang="en-IN" sz="2400">
                    <a:solidFill>
                      <a:srgbClr val="111827"/>
                    </a:solidFill>
                    <a:latin typeface="Cambria Math" panose="02040503050406030204" pitchFamily="18" charset="0"/>
                  </a:rPr>
                  <a:t>$p=31$</a:t>
                </a:r>
                <a:r>
                  <a:rPr sz="2400" b="0">
                    <a:solidFill>
                      <a:srgbClr val="111827"/>
                    </a:solidFill>
                    <a:latin typeface="Arial"/>
                  </a:rPr>
                  <a:t> or </a:t>
                </a:r>
                <a:r>
                  <a:rPr lang="en-IN" sz="2400">
                    <a:solidFill>
                      <a:srgbClr val="111827"/>
                    </a:solidFill>
                    <a:latin typeface="Cambria Math" panose="02040503050406030204" pitchFamily="18" charset="0"/>
                  </a:rPr>
                  <a:t>$68$</a:t>
                </a:r>
                <a:r>
                  <a:rPr sz="2400" b="0">
                    <a:solidFill>
                      <a:srgbClr val="111827"/>
                    </a:solidFill>
                    <a:latin typeface="Arial"/>
                  </a:rPr>
                  <a:t>; </a:t>
                </a:r>
                <a:r>
                  <a:rPr lang="en-IN" sz="2400">
                    <a:solidFill>
                      <a:srgbClr val="111827"/>
                    </a:solidFill>
                    <a:latin typeface="Cambria Math" panose="02040503050406030204" pitchFamily="18" charset="0"/>
                  </a:rPr>
                  <a:t>$\binom{46}{q}=\binom{46}{31}$</a:t>
                </a:r>
                <a:r>
                  <a:rPr sz="2400" b="0">
                    <a:solidFill>
                      <a:srgbClr val="111827"/>
                    </a:solidFill>
                    <a:latin typeface="Arial"/>
                  </a:rPr>
                  <a:t> for </a:t>
                </a:r>
                <a:r>
                  <a:rPr lang="en-IN" sz="2400">
                    <a:solidFill>
                      <a:srgbClr val="111827"/>
                    </a:solidFill>
                    <a:latin typeface="Cambria Math" panose="02040503050406030204" pitchFamily="18" charset="0"/>
                  </a:rPr>
                  <a:t>$q=31$</a:t>
                </a:r>
                <a:r>
                  <a:rPr sz="2400" b="0">
                    <a:solidFill>
                      <a:srgbClr val="111827"/>
                    </a:solidFill>
                    <a:latin typeface="Arial"/>
                  </a:rPr>
                  <a:t> or </a:t>
                </a:r>
                <a:r>
                  <a:rPr lang="en-IN" sz="2400">
                    <a:solidFill>
                      <a:srgbClr val="111827"/>
                    </a:solidFill>
                    <a:latin typeface="Cambria Math" panose="02040503050406030204" pitchFamily="18" charset="0"/>
                  </a:rPr>
                  <a:t>$15$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Possible values of </a:t>
                </a:r>
                <a:r>
                  <a:rPr lang="en-IN" sz="2400">
                    <a:solidFill>
                      <a:srgbClr val="111827"/>
                    </a:solidFill>
                    <a:latin typeface="Cambria Math" panose="02040503050406030204" pitchFamily="18" charset="0"/>
                  </a:rPr>
                  <a:t>$p+q$</a:t>
                </a:r>
                <a:r>
                  <a:rPr sz="2400" b="0">
                    <a:solidFill>
                      <a:srgbClr val="111827"/>
                    </a:solidFill>
                    <a:latin typeface="Arial"/>
                  </a:rPr>
                  <a:t>: </a:t>
                </a:r>
                <a:r>
                  <a:rPr lang="en-IN" sz="2400">
                    <a:solidFill>
                      <a:srgbClr val="111827"/>
                    </a:solidFill>
                    <a:latin typeface="Cambria Math" panose="02040503050406030204" pitchFamily="18" charset="0"/>
                  </a:rPr>
                  <a:t>$31+31=62$</a:t>
                </a:r>
                <a:r>
                  <a:rPr sz="2400" b="0">
                    <a:solidFill>
                      <a:srgbClr val="111827"/>
                    </a:solidFill>
                    <a:latin typeface="Arial"/>
                  </a:rPr>
                  <a:t>, </a:t>
                </a:r>
                <a:r>
                  <a:rPr lang="en-IN" sz="2400">
                    <a:solidFill>
                      <a:srgbClr val="111827"/>
                    </a:solidFill>
                    <a:latin typeface="Cambria Math" panose="02040503050406030204" pitchFamily="18" charset="0"/>
                  </a:rPr>
                  <a:t>$31+15=46$</a:t>
                </a:r>
                <a:r>
                  <a:rPr sz="2400" b="0">
                    <a:solidFill>
                      <a:srgbClr val="111827"/>
                    </a:solidFill>
                    <a:latin typeface="Arial"/>
                  </a:rPr>
                  <a:t>, </a:t>
                </a:r>
                <a:r>
                  <a:rPr lang="en-IN" sz="2400">
                    <a:solidFill>
                      <a:srgbClr val="111827"/>
                    </a:solidFill>
                    <a:latin typeface="Cambria Math" panose="02040503050406030204" pitchFamily="18" charset="0"/>
                  </a:rPr>
                  <a:t>$68+31=99$</a:t>
                </a:r>
                <a:r>
                  <a:rPr sz="2400" b="0">
                    <a:solidFill>
                      <a:srgbClr val="111827"/>
                    </a:solidFill>
                    <a:latin typeface="Arial"/>
                  </a:rPr>
                  <a:t>, </a:t>
                </a:r>
                <a:r>
                  <a:rPr lang="en-IN" sz="2400">
                    <a:solidFill>
                      <a:srgbClr val="111827"/>
                    </a:solidFill>
                    <a:latin typeface="Cambria Math" panose="02040503050406030204" pitchFamily="18" charset="0"/>
                  </a:rPr>
                  <a:t>$68+15=83$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t>
                </a:r>
                <a:r>
                  <a:rPr lang="en-IN" sz="2400">
                    <a:solidFill>
                      <a:srgbClr val="111827"/>
                    </a:solidFill>
                    <a:latin typeface="Cambria Math" panose="02040503050406030204" pitchFamily="18" charset="0"/>
                  </a:rPr>
                  <a:t>$83$</a:t>
                </a:r>
                <a:r>
                  <a:rPr sz="2400" b="0">
                    <a:solidFill>
                      <a:srgbClr val="111827"/>
                    </a:solidFill>
                    <a:latin typeface="Arial"/>
                  </a:rPr>
                  <a:t> appears among the options: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83</a:t>
            </a:r>
            <a:endParaRPr sz="2800">
              <a:solidFill>
                <a:srgbClr val="15803D"/>
              </a:solidFill>
            </a:endParaRP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Sum the G.P. first: the ratio is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den>
                    </m:f>
                  </m:oMath>
                </a14:m>
                <a:r>
                  <a:rPr sz="2400" b="0">
                    <a:solidFill>
                      <a:srgbClr val="78350F"/>
                    </a:solidFill>
                    <a:latin typeface="Arial"/>
                  </a:rPr>
                  <a:t>, and the sum collapses to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99</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55</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46</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Sum the G.P. first: the ratio is </a:t>
                </a:r>
                <a:r>
                  <a:rPr lang="en-IN" sz="2400">
                    <a:solidFill>
                      <a:srgbClr val="78350F"/>
                    </a:solidFill>
                    <a:latin typeface="Cambria Math" panose="02040503050406030204" pitchFamily="18" charset="0"/>
                  </a:rPr>
                  <a:t>$\frac{x}{1+x}$</a:t>
                </a:r>
                <a:r>
                  <a:rPr sz="2400" b="0">
                    <a:solidFill>
                      <a:srgbClr val="78350F"/>
                    </a:solidFill>
                    <a:latin typeface="Arial"/>
                  </a:rPr>
                  <a:t>, and the sum collapses to </a:t>
                </a:r>
                <a:r>
                  <a:rPr lang="en-IN" sz="2400">
                    <a:solidFill>
                      <a:srgbClr val="78350F"/>
                    </a:solidFill>
                    <a:latin typeface="Cambria Math" panose="02040503050406030204" pitchFamily="18" charset="0"/>
                  </a:rPr>
                  <a:t>$x^2(1+x)^{99}-x^{55}(1+x)^{46}$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terms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oMath>
                </a14:m>
                <a:r>
                  <a:rPr sz="2400" b="0">
                    <a:solidFill>
                      <a:srgbClr val="111827"/>
                    </a:solidFill>
                    <a:latin typeface="Arial"/>
                  </a:rPr>
                  <a:t> form a G.P. with first term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98</m:t>
                        </m:r>
                      </m:sup>
                    </m:sSup>
                  </m:oMath>
                </a14:m>
                <a:r>
                  <a:rPr sz="2400" b="0">
                    <a:solidFill>
                      <a:srgbClr val="111827"/>
                    </a:solidFill>
                    <a:latin typeface="Arial"/>
                  </a:rPr>
                  <a:t>, ratio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53</m:t>
                    </m:r>
                  </m:oMath>
                </a14:m>
                <a:r>
                  <a:rPr sz="2400" b="0">
                    <a:solidFill>
                      <a:srgbClr val="111827"/>
                    </a:solidFill>
                    <a:latin typeface="Arial"/>
                  </a:rPr>
                  <a:t>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98</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53</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99</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53</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53</m:t>
                                </m:r>
                              </m:sup>
                            </m:sSup>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99</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46</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terms </a:t>
                </a:r>
                <a:r>
                  <a:rPr lang="en-IN" sz="2400">
                    <a:solidFill>
                      <a:srgbClr val="111827"/>
                    </a:solidFill>
                    <a:latin typeface="Cambria Math" panose="02040503050406030204" pitchFamily="18" charset="0"/>
                  </a:rPr>
                  <a:t>$x^k(1+x)^{100-k}$</a:t>
                </a:r>
                <a:r>
                  <a:rPr sz="2400" b="0">
                    <a:solidFill>
                      <a:srgbClr val="111827"/>
                    </a:solidFill>
                    <a:latin typeface="Arial"/>
                  </a:rPr>
                  <a:t> for </a:t>
                </a:r>
                <a:r>
                  <a:rPr lang="en-IN" sz="2400">
                    <a:solidFill>
                      <a:srgbClr val="111827"/>
                    </a:solidFill>
                    <a:latin typeface="Cambria Math" panose="02040503050406030204" pitchFamily="18" charset="0"/>
                  </a:rPr>
                  <a:t>$k=2,\dots,54$</a:t>
                </a:r>
                <a:r>
                  <a:rPr sz="2400" b="0">
                    <a:solidFill>
                      <a:srgbClr val="111827"/>
                    </a:solidFill>
                    <a:latin typeface="Arial"/>
                  </a:rPr>
                  <a:t> form a G.P. with first term </a:t>
                </a:r>
                <a:r>
                  <a:rPr lang="en-IN" sz="2400">
                    <a:solidFill>
                      <a:srgbClr val="111827"/>
                    </a:solidFill>
                    <a:latin typeface="Cambria Math" panose="02040503050406030204" pitchFamily="18" charset="0"/>
                  </a:rPr>
                  <a:t>$x^2(1+x)^{98}$</a:t>
                </a:r>
                <a:r>
                  <a:rPr sz="2400" b="0">
                    <a:solidFill>
                      <a:srgbClr val="111827"/>
                    </a:solidFill>
                    <a:latin typeface="Arial"/>
                  </a:rPr>
                  <a:t>, ratio </a:t>
                </a:r>
                <a:r>
                  <a:rPr lang="en-IN" sz="2400">
                    <a:solidFill>
                      <a:srgbClr val="111827"/>
                    </a:solidFill>
                    <a:latin typeface="Cambria Math" panose="02040503050406030204" pitchFamily="18" charset="0"/>
                  </a:rPr>
                  <a:t>$\dfrac{x}{1+x}$</a:t>
                </a:r>
                <a:r>
                  <a:rPr sz="2400" b="0">
                    <a:solidFill>
                      <a:srgbClr val="111827"/>
                    </a:solidFill>
                    <a:latin typeface="Arial"/>
                  </a:rPr>
                  <a:t> and </a:t>
                </a:r>
                <a:r>
                  <a:rPr lang="en-IN" sz="2400">
                    <a:solidFill>
                      <a:srgbClr val="111827"/>
                    </a:solidFill>
                    <a:latin typeface="Cambria Math" panose="02040503050406030204" pitchFamily="18" charset="0"/>
                  </a:rPr>
                  <a:t>$53$</a:t>
                </a:r>
                <a:r>
                  <a:rPr sz="2400" b="0">
                    <a:solidFill>
                      <a:srgbClr val="111827"/>
                    </a:solidFill>
                    <a:latin typeface="Arial"/>
                  </a:rPr>
                  <a:t>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$=x^2(1+x)^{98}\cdot\dfrac{1-\left(\frac x{1+x}\right)^{53}}{1-\frac{x}{1+x}}=x^2(1+x)^{99}\left[1-\dfrac{x^{53}}{(1+x)^{53}}\right]=x^2(1+x)^{99}-x^{55}(1+x)^{46}$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70</m:t>
                        </m:r>
                      </m:sup>
                    </m:sSup>
                  </m:oMath>
                </a14:m>
                <a:r>
                  <a:rPr sz="2400" b="0">
                    <a:solidFill>
                      <a:srgbClr val="111827"/>
                    </a:solidFill>
                    <a:latin typeface="Arial"/>
                  </a:rPr>
                  <a:t>: from the first part,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68</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99</m:t>
                        </m:r>
                      </m:sup>
                    </m:sSup>
                  </m:oMath>
                </a14:m>
                <a:r>
                  <a:rPr sz="2400" b="0">
                    <a:solidFill>
                      <a:srgbClr val="111827"/>
                    </a:solidFill>
                    <a:latin typeface="Arial"/>
                  </a:rPr>
                  <a:t>, i.e.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68</m:t>
                            </m:r>
                          </m:den>
                        </m:f>
                      </m:e>
                    </m:d>
                  </m:oMath>
                </a14:m>
                <a:r>
                  <a:rPr sz="2400" b="0">
                    <a:solidFill>
                      <a:srgbClr val="111827"/>
                    </a:solidFill>
                    <a:latin typeface="Arial"/>
                  </a:rPr>
                  <a:t>; from the second,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15</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46</m:t>
                        </m:r>
                      </m:sup>
                    </m:sSup>
                  </m:oMath>
                </a14:m>
                <a:r>
                  <a:rPr sz="2400" b="0">
                    <a:solidFill>
                      <a:srgbClr val="111827"/>
                    </a:solidFill>
                    <a:latin typeface="Arial"/>
                  </a:rPr>
                  <a:t>, i.e.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15</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coefficient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68</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15</m:t>
                            </m:r>
                          </m:den>
                        </m:f>
                      </m:e>
                    </m:d>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83</m:t>
                    </m:r>
                  </m:oMath>
                </a14:m>
                <a:r>
                  <a:rPr sz="2400" b="0">
                    <a:solidFill>
                      <a:srgbClr val="111827"/>
                    </a:solidFill>
                    <a:latin typeface="Arial"/>
                  </a:rPr>
                  <a:t>, option (B)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$x^{70}$</a:t>
                </a:r>
                <a:r>
                  <a:rPr sz="2400" b="0">
                    <a:solidFill>
                      <a:srgbClr val="111827"/>
                    </a:solidFill>
                    <a:latin typeface="Arial"/>
                  </a:rPr>
                  <a:t>: from the first part, the coefficient of </a:t>
                </a:r>
                <a:r>
                  <a:rPr lang="en-IN" sz="2400">
                    <a:solidFill>
                      <a:srgbClr val="111827"/>
                    </a:solidFill>
                    <a:latin typeface="Cambria Math" panose="02040503050406030204" pitchFamily="18" charset="0"/>
                  </a:rPr>
                  <a:t>$x^{68}$</a:t>
                </a:r>
                <a:r>
                  <a:rPr sz="2400" b="0">
                    <a:solidFill>
                      <a:srgbClr val="111827"/>
                    </a:solidFill>
                    <a:latin typeface="Arial"/>
                  </a:rPr>
                  <a:t> in </a:t>
                </a:r>
                <a:r>
                  <a:rPr lang="en-IN" sz="2400">
                    <a:solidFill>
                      <a:srgbClr val="111827"/>
                    </a:solidFill>
                    <a:latin typeface="Cambria Math" panose="02040503050406030204" pitchFamily="18" charset="0"/>
                  </a:rPr>
                  <a:t>$(1+x)^{99}$</a:t>
                </a:r>
                <a:r>
                  <a:rPr sz="2400" b="0">
                    <a:solidFill>
                      <a:srgbClr val="111827"/>
                    </a:solidFill>
                    <a:latin typeface="Arial"/>
                  </a:rPr>
                  <a:t>, i.e. </a:t>
                </a:r>
                <a:r>
                  <a:rPr lang="en-IN" sz="2400">
                    <a:solidFill>
                      <a:srgbClr val="111827"/>
                    </a:solidFill>
                    <a:latin typeface="Cambria Math" panose="02040503050406030204" pitchFamily="18" charset="0"/>
                  </a:rPr>
                  <a:t>$\binom{99}{68}$</a:t>
                </a:r>
                <a:r>
                  <a:rPr sz="2400" b="0">
                    <a:solidFill>
                      <a:srgbClr val="111827"/>
                    </a:solidFill>
                    <a:latin typeface="Arial"/>
                  </a:rPr>
                  <a:t>; from the second, the coefficient of </a:t>
                </a:r>
                <a:r>
                  <a:rPr lang="en-IN" sz="2400">
                    <a:solidFill>
                      <a:srgbClr val="111827"/>
                    </a:solidFill>
                    <a:latin typeface="Cambria Math" panose="02040503050406030204" pitchFamily="18" charset="0"/>
                  </a:rPr>
                  <a:t>$x^{15}$</a:t>
                </a:r>
                <a:r>
                  <a:rPr sz="2400" b="0">
                    <a:solidFill>
                      <a:srgbClr val="111827"/>
                    </a:solidFill>
                    <a:latin typeface="Arial"/>
                  </a:rPr>
                  <a:t> in </a:t>
                </a:r>
                <a:r>
                  <a:rPr lang="en-IN" sz="2400">
                    <a:solidFill>
                      <a:srgbClr val="111827"/>
                    </a:solidFill>
                    <a:latin typeface="Cambria Math" panose="02040503050406030204" pitchFamily="18" charset="0"/>
                  </a:rPr>
                  <a:t>$(1+x)^{46}$</a:t>
                </a:r>
                <a:r>
                  <a:rPr sz="2400" b="0">
                    <a:solidFill>
                      <a:srgbClr val="111827"/>
                    </a:solidFill>
                    <a:latin typeface="Arial"/>
                  </a:rPr>
                  <a:t>, i.e. </a:t>
                </a:r>
                <a:r>
                  <a:rPr lang="en-IN" sz="2400">
                    <a:solidFill>
                      <a:srgbClr val="111827"/>
                    </a:solidFill>
                    <a:latin typeface="Cambria Math" panose="02040503050406030204" pitchFamily="18" charset="0"/>
                  </a:rPr>
                  <a:t>$\binom{46}{15}$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coefficient is </a:t>
                </a:r>
                <a:r>
                  <a:rPr lang="en-IN" sz="2400">
                    <a:solidFill>
                      <a:srgbClr val="111827"/>
                    </a:solidFill>
                    <a:latin typeface="Cambria Math" panose="02040503050406030204" pitchFamily="18" charset="0"/>
                  </a:rPr>
                  <a:t>$\binom{99}{68}-\binom{46}{15}$</a:t>
                </a:r>
                <a:r>
                  <a:rPr sz="2400" b="0">
                    <a:solidFill>
                      <a:srgbClr val="111827"/>
                    </a:solidFill>
                    <a:latin typeface="Arial"/>
                  </a:rPr>
                  <a:t>, giving </a:t>
                </a:r>
                <a:r>
                  <a:rPr lang="en-IN" sz="2400">
                    <a:solidFill>
                      <a:srgbClr val="111827"/>
                    </a:solidFill>
                    <a:latin typeface="Cambria Math" panose="02040503050406030204" pitchFamily="18" charset="0"/>
                  </a:rPr>
                  <a:t>$p=68$</a:t>
                </a:r>
                <a:r>
                  <a:rPr sz="2400" b="0">
                    <a:solidFill>
                      <a:srgbClr val="111827"/>
                    </a:solidFill>
                    <a:latin typeface="Arial"/>
                  </a:rPr>
                  <a:t>, </a:t>
                </a:r>
                <a:r>
                  <a:rPr lang="en-IN" sz="2400">
                    <a:solidFill>
                      <a:srgbClr val="111827"/>
                    </a:solidFill>
                    <a:latin typeface="Cambria Math" panose="02040503050406030204" pitchFamily="18" charset="0"/>
                  </a:rPr>
                  <a:t>$q=15$</a:t>
                </a:r>
                <a:r>
                  <a:rPr sz="2400" b="0">
                    <a:solidFill>
                      <a:srgbClr val="111827"/>
                    </a:solidFill>
                    <a:latin typeface="Arial"/>
                  </a:rPr>
                  <a:t> and </a:t>
                </a:r>
                <a:r>
                  <a:rPr lang="en-IN" sz="2400">
                    <a:solidFill>
                      <a:srgbClr val="111827"/>
                    </a:solidFill>
                    <a:latin typeface="Cambria Math" panose="02040503050406030204" pitchFamily="18" charset="0"/>
                  </a:rPr>
                  <a:t>$p+q=83$</a:t>
                </a:r>
                <a:r>
                  <a:rPr sz="2400" b="0">
                    <a:solidFill>
                      <a:srgbClr val="111827"/>
                    </a:solidFill>
                    <a:latin typeface="Arial"/>
                  </a:rPr>
                  <a:t>, option (B)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83</a:t>
            </a:r>
            <a:endParaRPr sz="2800">
              <a:solidFill>
                <a:srgbClr val="15803D"/>
              </a:solidFill>
            </a:endParaRP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Sums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are G.P.s with ratio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oMath>
                </a14:m>
                <a:r>
                  <a:rPr sz="2400" b="0">
                    <a:solidFill>
                      <a:srgbClr val="111827"/>
                    </a:solidFill>
                    <a:latin typeface="Arial"/>
                  </a:rPr>
                  <a:t> and collapse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-type differences.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Hockey stick: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ub>
                      <m:sup>
                        <m:r>
                          <a:rPr lang="en-IN" sz="2400" i="1">
                            <a:solidFill>
                              <a:srgbClr val="111827"/>
                            </a:solidFill>
                            <a:latin typeface="Cambria Math" panose="02040503050406030204" pitchFamily="18" charset="0"/>
                          </a:rPr>
                          <m:t>𝑏</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𝑟</m:t>
                                </m:r>
                              </m:den>
                            </m:f>
                          </m:e>
                        </m:d>
                      </m:e>
                    </m:nary>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oMath>
                </a14:m>
                <a:r>
                  <a:rPr sz="2400" b="0">
                    <a:solidFill>
                      <a:srgbClr val="111827"/>
                    </a:solidFill>
                    <a:latin typeface="Arial"/>
                  </a:rPr>
                  <a:t> makes 'possible values' multiple; check which combination matches the options.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31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68</m:t>
                            </m:r>
                          </m:den>
                        </m:f>
                      </m:e>
                    </m:d>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31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46</m:t>
                            </m:r>
                          </m:num>
                          <m:den>
                            <m:r>
                              <a:rPr lang="en-IN" sz="2400" i="1">
                                <a:solidFill>
                                  <a:srgbClr val="111827"/>
                                </a:solidFill>
                                <a:latin typeface="Cambria Math" panose="02040503050406030204" pitchFamily="18" charset="0"/>
                              </a:rPr>
                              <m:t>15</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Sums </a:t>
                </a:r>
                <a:r>
                  <a:rPr lang="en-IN" sz="2400">
                    <a:solidFill>
                      <a:srgbClr val="111827"/>
                    </a:solidFill>
                    <a:latin typeface="Cambria Math" panose="02040503050406030204" pitchFamily="18" charset="0"/>
                  </a:rPr>
                  <a:t>$\sum_k x^k(1+x)^{N-k}$</a:t>
                </a:r>
                <a:r>
                  <a:rPr sz="2400" b="0">
                    <a:solidFill>
                      <a:srgbClr val="111827"/>
                    </a:solidFill>
                    <a:latin typeface="Arial"/>
                  </a:rPr>
                  <a:t> are G.P.s with ratio </a:t>
                </a:r>
                <a:r>
                  <a:rPr lang="en-IN" sz="2400">
                    <a:solidFill>
                      <a:srgbClr val="111827"/>
                    </a:solidFill>
                    <a:latin typeface="Cambria Math" panose="02040503050406030204" pitchFamily="18" charset="0"/>
                  </a:rPr>
                  <a:t>$\frac{x}{1+x}$</a:t>
                </a:r>
                <a:r>
                  <a:rPr sz="2400" b="0">
                    <a:solidFill>
                      <a:srgbClr val="111827"/>
                    </a:solidFill>
                    <a:latin typeface="Arial"/>
                  </a:rPr>
                  <a:t> and collapse to </a:t>
                </a:r>
                <a:r>
                  <a:rPr lang="en-IN" sz="2400">
                    <a:solidFill>
                      <a:srgbClr val="111827"/>
                    </a:solidFill>
                    <a:latin typeface="Cambria Math" panose="02040503050406030204" pitchFamily="18" charset="0"/>
                  </a:rPr>
                  <a:t>$(1+x)^{N+1}$</a:t>
                </a:r>
                <a:r>
                  <a:rPr sz="2400" b="0">
                    <a:solidFill>
                      <a:srgbClr val="111827"/>
                    </a:solidFill>
                    <a:latin typeface="Arial"/>
                  </a:rPr>
                  <a:t>-type differences.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Hockey stick: </a:t>
                </a:r>
                <a:r>
                  <a:rPr lang="en-IN" sz="2400">
                    <a:solidFill>
                      <a:srgbClr val="111827"/>
                    </a:solidFill>
                    <a:latin typeface="Cambria Math" panose="02040503050406030204" pitchFamily="18" charset="0"/>
                  </a:rPr>
                  <a:t>$\sum_{m=a}^{b}\binom mr=\binom{b+1}{r+1}-\binom{a}{r+1}$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Symmetry </a:t>
                </a:r>
                <a:r>
                  <a:rPr lang="en-IN" sz="2400">
                    <a:solidFill>
                      <a:srgbClr val="111827"/>
                    </a:solidFill>
                    <a:latin typeface="Cambria Math" panose="02040503050406030204" pitchFamily="18" charset="0"/>
                  </a:rPr>
                  <a:t>$\binom nk=\binom n{n-k}$</a:t>
                </a:r>
                <a:r>
                  <a:rPr sz="2400" b="0">
                    <a:solidFill>
                      <a:srgbClr val="111827"/>
                    </a:solidFill>
                    <a:latin typeface="Arial"/>
                  </a:rPr>
                  <a:t> makes 'possible values' multiple; check which combination matches the options.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$\binom{99}{31}=\binom{99}{68}$</a:t>
                </a:r>
                <a:r>
                  <a:rPr sz="2400" b="0">
                    <a:solidFill>
                      <a:srgbClr val="111827"/>
                    </a:solidFill>
                    <a:latin typeface="Arial"/>
                  </a:rPr>
                  <a:t> and </a:t>
                </a:r>
                <a:r>
                  <a:rPr lang="en-IN" sz="2400">
                    <a:solidFill>
                      <a:srgbClr val="111827"/>
                    </a:solidFill>
                    <a:latin typeface="Cambria Math" panose="02040503050406030204" pitchFamily="18" charset="0"/>
                  </a:rPr>
                  <a:t>$\binom{46}{31}=\binom{46}{15}$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726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the coefficients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oMath>
                </a14:m>
                <a:r>
                  <a:rPr sz="2400" b="0">
                    <a:solidFill>
                      <a:srgbClr val="111827"/>
                    </a:solidFill>
                    <a:latin typeface="Arial"/>
                  </a:rPr>
                  <a:t> in the binomial expansion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e>
                        </m:d>
                      </m:e>
                      <m:sup>
                        <m:r>
                          <a:rPr lang="en-IN" sz="2400" i="1">
                            <a:solidFill>
                              <a:srgbClr val="111827"/>
                            </a:solidFill>
                            <a:latin typeface="Cambria Math" panose="02040503050406030204" pitchFamily="18" charset="0"/>
                          </a:rPr>
                          <m:t>9</m:t>
                        </m:r>
                      </m:sup>
                    </m:sSup>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63</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69</m:t>
                        </m:r>
                      </m:num>
                      <m:den>
                        <m:r>
                          <a:rPr lang="en-IN" sz="2400" i="1">
                            <a:solidFill>
                              <a:srgbClr val="111827"/>
                            </a:solidFill>
                            <a:latin typeface="Cambria Math" panose="02040503050406030204" pitchFamily="18" charset="0"/>
                          </a:rPr>
                          <m:t>16</m:t>
                        </m:r>
                      </m:den>
                    </m:f>
                  </m:oMath>
                </a14:m>
                <a:endParaRPr sz="2400">
                  <a:solidFill>
                    <a:srgbClr val="111827"/>
                  </a:solidFill>
                </a:endParaRPr>
              </a:p>
            </p:txBody>
          </p:sp>
        </mc:Choice>
        <mc:Fallback>
          <p:sp>
            <p:nvSpPr>
              <p:cNvPr id="4" name="Rounded Rectangle 3"/>
              <p:cNvSpPr/>
              <p:nvPr/>
            </p:nvSpPr>
            <p:spPr>
              <a:xfrm>
                <a:off x="731520" y="1280160"/>
                <a:ext cx="10725912" cy="27726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the coefficients of </a:t>
                </a:r>
                <a:r>
                  <a:rPr lang="en-IN" sz="2400">
                    <a:solidFill>
                      <a:srgbClr val="111827"/>
                    </a:solidFill>
                    <a:latin typeface="Cambria Math" panose="02040503050406030204" pitchFamily="18" charset="0"/>
                  </a:rPr>
                  <a:t>$x^{2/3}$</a:t>
                </a:r>
                <a:r>
                  <a:rPr sz="2400" b="0">
                    <a:solidFill>
                      <a:srgbClr val="111827"/>
                    </a:solidFill>
                    <a:latin typeface="Arial"/>
                  </a:rPr>
                  <a:t> and </a:t>
                </a:r>
                <a:r>
                  <a:rPr lang="en-IN" sz="2400">
                    <a:solidFill>
                      <a:srgbClr val="111827"/>
                    </a:solidFill>
                    <a:latin typeface="Cambria Math" panose="02040503050406030204" pitchFamily="18" charset="0"/>
                  </a:rPr>
                  <a:t>$x^{-2/5}$</a:t>
                </a:r>
                <a:r>
                  <a:rPr sz="2400" b="0">
                    <a:solidFill>
                      <a:srgbClr val="111827"/>
                    </a:solidFill>
                    <a:latin typeface="Arial"/>
                  </a:rPr>
                  <a:t> in the binomial expansion of </a:t>
                </a:r>
                <a:r>
                  <a:rPr lang="en-IN" sz="2400">
                    <a:solidFill>
                      <a:srgbClr val="111827"/>
                    </a:solidFill>
                    <a:latin typeface="Cambria Math" panose="02040503050406030204" pitchFamily="18" charset="0"/>
                  </a:rPr>
                  <a:t>$\left(x^{2/3}+\dfrac12x^{-2/5}\right)^{9}$</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$\dfrac{63}{16}$</a:t>
                </a:r>
                <a:r>
                  <a:rPr sz="2400" b="0">
                    <a:solidFill>
                      <a:srgbClr val="111827"/>
                    </a:solidFill>
                    <a:latin typeface="Arial"/>
                  </a:rPr>
                  <a:t>   (B) </a:t>
                </a:r>
                <a:r>
                  <a:rPr lang="en-IN" sz="2400">
                    <a:solidFill>
                      <a:srgbClr val="111827"/>
                    </a:solidFill>
                    <a:latin typeface="Cambria Math" panose="02040503050406030204" pitchFamily="18" charset="0"/>
                  </a:rPr>
                  <a:t>$\dfrac{21}{4}$</a:t>
                </a:r>
                <a:r>
                  <a:rPr sz="2400" b="0">
                    <a:solidFill>
                      <a:srgbClr val="111827"/>
                    </a:solidFill>
                    <a:latin typeface="Arial"/>
                  </a:rPr>
                  <a:t>   (C) </a:t>
                </a:r>
                <a:r>
                  <a:rPr lang="en-IN" sz="2400">
                    <a:solidFill>
                      <a:srgbClr val="111827"/>
                    </a:solidFill>
                    <a:latin typeface="Cambria Math" panose="02040503050406030204" pitchFamily="18" charset="0"/>
                  </a:rPr>
                  <a:t>$\dfrac{19}{4}$</a:t>
                </a:r>
                <a:r>
                  <a:rPr sz="2400" b="0">
                    <a:solidFill>
                      <a:srgbClr val="111827"/>
                    </a:solidFill>
                    <a:latin typeface="Arial"/>
                  </a:rPr>
                  <a:t>   (D) </a:t>
                </a:r>
                <a:r>
                  <a:rPr lang="en-IN" sz="2400">
                    <a:solidFill>
                      <a:srgbClr val="111827"/>
                    </a:solidFill>
                    <a:latin typeface="Cambria Math" panose="02040503050406030204" pitchFamily="18" charset="0"/>
                  </a:rPr>
                  <a:t>$\dfrac{69}{16}$</a:t>
                </a:r>
                <a:endParaRPr sz="2400">
                  <a:solidFill>
                    <a:srgbClr val="111827"/>
                  </a:solidFill>
                </a:endParaRPr>
              </a:p>
            </p:txBody>
          </p:sp>
        </mc:Fallback>
      </mc:AlternateContent>
      <p:sp>
        <p:nvSpPr>
          <p:cNvPr id="5" name="Rectangle 4"/>
          <p:cNvSpPr/>
          <p:nvPr/>
        </p:nvSpPr>
        <p:spPr>
          <a:xfrm>
            <a:off x="731520" y="428142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 Fractional exponents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power of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is </a:t>
                </a:r>
                <a14:m>
                  <m:oMath xmlns:m="http://schemas.openxmlformats.org/officeDocument/2006/math">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16</m:t>
                        </m:r>
                        <m:r>
                          <a:rPr lang="en-IN" sz="2400" i="1">
                            <a:solidFill>
                              <a:srgbClr val="78350F"/>
                            </a:solidFill>
                            <a:latin typeface="Cambria Math" panose="02040503050406030204" pitchFamily="18" charset="0"/>
                          </a:rPr>
                          <m:t>𝑟</m:t>
                        </m:r>
                      </m:num>
                      <m:den>
                        <m:r>
                          <a:rPr lang="en-IN" sz="2400" i="1">
                            <a:solidFill>
                              <a:srgbClr val="78350F"/>
                            </a:solidFill>
                            <a:latin typeface="Cambria Math" panose="02040503050406030204" pitchFamily="18" charset="0"/>
                          </a:rPr>
                          <m:t>15</m:t>
                        </m:r>
                      </m:den>
                    </m:f>
                  </m:oMath>
                </a14:m>
                <a:r>
                  <a:rPr sz="2400" b="0">
                    <a:solidFill>
                      <a:srgbClr val="78350F"/>
                    </a:solidFill>
                    <a:latin typeface="Arial"/>
                  </a:rPr>
                  <a:t>: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up>
                    </m:sSup>
                  </m:oMath>
                </a14:m>
                <a:r>
                  <a:rPr sz="2400" b="0">
                    <a:solidFill>
                      <a:srgbClr val="78350F"/>
                    </a:solidFill>
                    <a:latin typeface="Arial"/>
                  </a:rPr>
                  <a:t> at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𝑥</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sup>
                    </m:sSup>
                  </m:oMath>
                </a14:m>
                <a:r>
                  <a:rPr sz="2400" b="0">
                    <a:solidFill>
                      <a:srgbClr val="78350F"/>
                    </a:solidFill>
                    <a:latin typeface="Arial"/>
                  </a:rPr>
                  <a:t> at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power of </a:t>
                </a:r>
                <a:r>
                  <a:rPr lang="en-IN" sz="2400">
                    <a:solidFill>
                      <a:srgbClr val="78350F"/>
                    </a:solidFill>
                    <a:latin typeface="Cambria Math" panose="02040503050406030204" pitchFamily="18" charset="0"/>
                  </a:rPr>
                  <a:t>$x$</a:t>
                </a:r>
                <a:r>
                  <a:rPr sz="2400" b="0">
                    <a:solidFill>
                      <a:srgbClr val="78350F"/>
                    </a:solidFill>
                    <a:latin typeface="Arial"/>
                  </a:rPr>
                  <a:t> is </a:t>
                </a:r>
                <a:r>
                  <a:rPr lang="en-IN" sz="2400">
                    <a:solidFill>
                      <a:srgbClr val="78350F"/>
                    </a:solidFill>
                    <a:latin typeface="Cambria Math" panose="02040503050406030204" pitchFamily="18" charset="0"/>
                  </a:rPr>
                  <a:t>$6-\frac{16r}{15}$</a:t>
                </a:r>
                <a:r>
                  <a:rPr sz="2400" b="0">
                    <a:solidFill>
                      <a:srgbClr val="78350F"/>
                    </a:solidFill>
                    <a:latin typeface="Arial"/>
                  </a:rPr>
                  <a:t>: </a:t>
                </a:r>
                <a:r>
                  <a:rPr lang="en-IN" sz="2400">
                    <a:solidFill>
                      <a:srgbClr val="78350F"/>
                    </a:solidFill>
                    <a:latin typeface="Cambria Math" panose="02040503050406030204" pitchFamily="18" charset="0"/>
                  </a:rPr>
                  <a:t>$x^{2/3}$</a:t>
                </a:r>
                <a:r>
                  <a:rPr sz="2400" b="0">
                    <a:solidFill>
                      <a:srgbClr val="78350F"/>
                    </a:solidFill>
                    <a:latin typeface="Arial"/>
                  </a:rPr>
                  <a:t> at </a:t>
                </a:r>
                <a:r>
                  <a:rPr lang="en-IN" sz="2400">
                    <a:solidFill>
                      <a:srgbClr val="78350F"/>
                    </a:solidFill>
                    <a:latin typeface="Cambria Math" panose="02040503050406030204" pitchFamily="18" charset="0"/>
                  </a:rPr>
                  <a:t>$r=5$</a:t>
                </a:r>
                <a:r>
                  <a:rPr sz="2400" b="0">
                    <a:solidFill>
                      <a:srgbClr val="78350F"/>
                    </a:solidFill>
                    <a:latin typeface="Arial"/>
                  </a:rPr>
                  <a:t> and </a:t>
                </a:r>
                <a:r>
                  <a:rPr lang="en-IN" sz="2400">
                    <a:solidFill>
                      <a:srgbClr val="78350F"/>
                    </a:solidFill>
                    <a:latin typeface="Cambria Math" panose="02040503050406030204" pitchFamily="18" charset="0"/>
                  </a:rPr>
                  <a:t>$x^{-2/5}$</a:t>
                </a:r>
                <a:r>
                  <a:rPr sz="2400" b="0">
                    <a:solidFill>
                      <a:srgbClr val="78350F"/>
                    </a:solidFill>
                    <a:latin typeface="Arial"/>
                  </a:rPr>
                  <a:t> at </a:t>
                </a:r>
                <a:r>
                  <a:rPr lang="en-IN" sz="2400">
                    <a:solidFill>
                      <a:srgbClr val="78350F"/>
                    </a:solidFill>
                    <a:latin typeface="Cambria Math" panose="02040503050406030204" pitchFamily="18" charset="0"/>
                  </a:rPr>
                  <a:t>$r=6$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𝑟</m:t>
                            </m:r>
                          </m:den>
                        </m:f>
                      </m:e>
                    </m:d>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e>
                        </m:d>
                      </m:e>
                      <m:sup>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e>
                        </m:d>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𝑟</m:t>
                            </m:r>
                          </m:den>
                        </m:f>
                      </m:e>
                    </m:d>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sup>
                        </m:sSup>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5</m:t>
                            </m:r>
                          </m:den>
                        </m:f>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𝑟</m:t>
                            </m:r>
                          </m:den>
                        </m:f>
                      </m:e>
                    </m:d>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sup>
                        </m:sSup>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15</m:t>
                            </m:r>
                          </m:den>
                        </m:f>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$T_{r+1}=\binom9r\left(x^{2/3}\right)^{9-r}\left(\dfrac12x^{-2/5}\right)^r=\binom9r\dfrac1{2^r}x^{6-\frac{2r}{3}-\frac{2r}{5}}=\binom9r\dfrac1{2^r}x^{6-\frac{16r}{15}}$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$x^{2/3}$</a:t>
                </a:r>
                <a:r>
                  <a:rPr sz="2400" b="0">
                    <a:solidFill>
                      <a:srgbClr val="111827"/>
                    </a:solidFill>
                    <a:latin typeface="Arial"/>
                  </a:rPr>
                  <a:t>: </a:t>
                </a:r>
                <a:r>
                  <a:rPr lang="en-IN" sz="2400">
                    <a:solidFill>
                      <a:srgbClr val="111827"/>
                    </a:solidFill>
                    <a:latin typeface="Cambria Math" panose="02040503050406030204" pitchFamily="18" charset="0"/>
                  </a:rPr>
                  <a:t>$6-\dfrac{16r}{15}=\dfrac23\Rightarrow\dfrac{16r}{15}=\dfrac{16}{3}\Rightarrow r=5$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$x^{-2/5}$</a:t>
                </a:r>
                <a:r>
                  <a:rPr sz="2400" b="0">
                    <a:solidFill>
                      <a:srgbClr val="111827"/>
                    </a:solidFill>
                    <a:latin typeface="Arial"/>
                  </a:rPr>
                  <a:t>: </a:t>
                </a:r>
                <a:r>
                  <a:rPr lang="en-IN" sz="2400">
                    <a:solidFill>
                      <a:srgbClr val="111827"/>
                    </a:solidFill>
                    <a:latin typeface="Cambria Math" panose="02040503050406030204" pitchFamily="18" charset="0"/>
                  </a:rPr>
                  <a:t>$6-\dfrac{16r}{15}=-\dfrac25\Rightarrow\dfrac{16r}{15}=\dfrac{32}{5}\Rightarrow r=6$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coefficients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m:t>
                            </m:r>
                          </m:den>
                        </m:f>
                      </m:e>
                    </m:d>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6</m:t>
                            </m:r>
                          </m:den>
                        </m:f>
                      </m:e>
                    </m:d>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6</m:t>
                            </m:r>
                          </m:sup>
                        </m:sSup>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3</m:t>
                                </m:r>
                              </m:den>
                            </m:f>
                          </m:e>
                        </m:d>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3</m:t>
                                </m:r>
                              </m:den>
                            </m:f>
                          </m:e>
                        </m:d>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336</m:t>
                        </m:r>
                      </m:num>
                      <m:den>
                        <m:r>
                          <a:rPr lang="en-IN" sz="2400" i="1">
                            <a:solidFill>
                              <a:srgbClr val="111827"/>
                            </a:solidFill>
                            <a:latin typeface="Cambria Math" panose="02040503050406030204" pitchFamily="18" charset="0"/>
                          </a:rPr>
                          <m:t>64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coefficients </a:t>
                </a:r>
                <a:r>
                  <a:rPr lang="en-IN" sz="2400">
                    <a:solidFill>
                      <a:srgbClr val="111827"/>
                    </a:solidFill>
                    <a:latin typeface="Cambria Math" panose="02040503050406030204" pitchFamily="18" charset="0"/>
                  </a:rPr>
                  <a:t>$=\binom95\dfrac1{2^5}+\binom96\dfrac{1}{2^6}=\dfrac{1}{2^6}\left\{2\binom94+\binom93\right\}$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$2\binom94+\binom93=\binom94+\left(\binom94+\binom93\right)=\binom94+\binom{10}4=126+210=336$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$=\dfrac{336}{64}=\dfrac{21}{4}$</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21</m:t>
                        </m:r>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$\dfrac{21}{4}$</a:t>
                </a:r>
                <a:endParaRPr sz="2800">
                  <a:solidFill>
                    <a:srgbClr val="15803D"/>
                  </a:solidFill>
                </a:endParaRPr>
              </a:p>
            </p:txBody>
          </p:sp>
        </mc:Fallback>
      </mc:AlternateContent>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Fractional exponents: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keep the common denominator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Exponent in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is linear in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with common difference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so each required power fixes a unique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126</m:t>
                        </m:r>
                      </m:num>
                      <m:den>
                        <m:r>
                          <a:rPr lang="en-IN" sz="2400" i="1">
                            <a:solidFill>
                              <a:srgbClr val="111827"/>
                            </a:solidFill>
                            <a:latin typeface="Cambria Math" panose="02040503050406030204" pitchFamily="18" charset="0"/>
                          </a:rPr>
                          <m:t>32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84</m:t>
                        </m:r>
                      </m:num>
                      <m:den>
                        <m:r>
                          <a:rPr lang="en-IN" sz="2400" i="1">
                            <a:solidFill>
                              <a:srgbClr val="111827"/>
                            </a:solidFill>
                            <a:latin typeface="Cambria Math" panose="02040503050406030204" pitchFamily="18" charset="0"/>
                          </a:rPr>
                          <m:t>64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3.9375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Fractional exponents: </a:t>
                </a:r>
                <a:r>
                  <a:rPr lang="en-IN" sz="2400">
                    <a:solidFill>
                      <a:srgbClr val="111827"/>
                    </a:solidFill>
                    <a:latin typeface="Cambria Math" panose="02040503050406030204" pitchFamily="18" charset="0"/>
                  </a:rPr>
                  <a:t>$\frac23+\frac25=\frac{16}{15}$</a:t>
                </a:r>
                <a:r>
                  <a:rPr sz="2400" b="0">
                    <a:solidFill>
                      <a:srgbClr val="111827"/>
                    </a:solidFill>
                    <a:latin typeface="Arial"/>
                  </a:rPr>
                  <a:t>; keep the common denominator </a:t>
                </a:r>
                <a:r>
                  <a:rPr lang="en-IN" sz="2400">
                    <a:solidFill>
                      <a:srgbClr val="111827"/>
                    </a:solidFill>
                    <a:latin typeface="Cambria Math" panose="02040503050406030204" pitchFamily="18" charset="0"/>
                  </a:rPr>
                  <a:t>$15$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Exponent in </a:t>
                </a:r>
                <a:r>
                  <a:rPr lang="en-IN" sz="2400">
                    <a:solidFill>
                      <a:srgbClr val="111827"/>
                    </a:solidFill>
                    <a:latin typeface="Cambria Math" panose="02040503050406030204" pitchFamily="18" charset="0"/>
                  </a:rPr>
                  <a:t>$T_{r+1}$</a:t>
                </a:r>
                <a:r>
                  <a:rPr sz="2400" b="0">
                    <a:solidFill>
                      <a:srgbClr val="111827"/>
                    </a:solidFill>
                    <a:latin typeface="Arial"/>
                  </a:rPr>
                  <a:t> is linear in </a:t>
                </a:r>
                <a:r>
                  <a:rPr lang="en-IN" sz="2400">
                    <a:solidFill>
                      <a:srgbClr val="111827"/>
                    </a:solidFill>
                    <a:latin typeface="Cambria Math" panose="02040503050406030204" pitchFamily="18" charset="0"/>
                  </a:rPr>
                  <a:t>$r$</a:t>
                </a:r>
                <a:r>
                  <a:rPr sz="2400" b="0">
                    <a:solidFill>
                      <a:srgbClr val="111827"/>
                    </a:solidFill>
                    <a:latin typeface="Arial"/>
                  </a:rPr>
                  <a:t> with common difference </a:t>
                </a:r>
                <a:r>
                  <a:rPr lang="en-IN" sz="2400">
                    <a:solidFill>
                      <a:srgbClr val="111827"/>
                    </a:solidFill>
                    <a:latin typeface="Cambria Math" panose="02040503050406030204" pitchFamily="18" charset="0"/>
                  </a:rPr>
                  <a:t>$-\frac{16}{15}$</a:t>
                </a:r>
                <a:r>
                  <a:rPr sz="2400" b="0">
                    <a:solidFill>
                      <a:srgbClr val="111827"/>
                    </a:solidFill>
                    <a:latin typeface="Arial"/>
                  </a:rPr>
                  <a:t>, so each required power fixes a unique </a:t>
                </a:r>
                <a:r>
                  <a:rPr lang="en-IN" sz="2400">
                    <a:solidFill>
                      <a:srgbClr val="111827"/>
                    </a:solidFill>
                    <a:latin typeface="Cambria Math" panose="02040503050406030204" pitchFamily="18" charset="0"/>
                  </a:rPr>
                  <a:t>$r$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$\binom95=\binom94=126$</a:t>
                </a:r>
                <a:r>
                  <a:rPr sz="2400" b="0">
                    <a:solidFill>
                      <a:srgbClr val="111827"/>
                    </a:solidFill>
                    <a:latin typeface="Arial"/>
                  </a:rPr>
                  <a:t> and </a:t>
                </a:r>
                <a:r>
                  <a:rPr lang="en-IN" sz="2400">
                    <a:solidFill>
                      <a:srgbClr val="111827"/>
                    </a:solidFill>
                    <a:latin typeface="Cambria Math" panose="02040503050406030204" pitchFamily="18" charset="0"/>
                  </a:rPr>
                  <a:t>$\binom96=\binom93=84$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$\frac{126}{32}+\frac{84}{64}=3.9375+1.3125=5.25=\frac{21}{4}$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8</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Q68 – Q73</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Assumed +4 each (JEE Advanced default)</a:t>
            </a:r>
            <a:endParaRPr sz="2800">
              <a:solidFill>
                <a:srgbClr val="FFFFFF"/>
              </a:solidFill>
            </a:endParaRP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70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24470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$a=1+\dfrac{{}^2C_2}{3!}+\dfrac{{}^3C_2}{4!}+\dfrac{{}^4C_2}{5!}+\dots$</a:t>
                </a:r>
                <a:r>
                  <a:rPr sz="2400" b="0">
                    <a:solidFill>
                      <a:srgbClr val="111827"/>
                    </a:solidFill>
                    <a:latin typeface="Arial"/>
                  </a:rPr>
                  <a:t> and </a:t>
                </a:r>
                <a:r>
                  <a:rPr lang="en-IN" sz="2400">
                    <a:solidFill>
                      <a:srgbClr val="111827"/>
                    </a:solidFill>
                    <a:latin typeface="Cambria Math" panose="02040503050406030204" pitchFamily="18" charset="0"/>
                  </a:rPr>
                  <a:t>$b=1+\dfrac{{}^1C_0+{}^1C_1}{1!}+\dfrac{{}^2C_0+{}^2C_1+{}^2C_2}{2!}+\dfrac{{}^3C_0+{}^3C_1+{}^3C_2+{}^3C_3}{3!}+\dots$</a:t>
                </a:r>
                <a:r>
                  <a:rPr sz="2400" b="0">
                    <a:solidFill>
                      <a:srgbClr val="111827"/>
                    </a:solidFill>
                    <a:latin typeface="Arial"/>
                  </a:rPr>
                  <a:t>. Then </a:t>
                </a:r>
                <a:r>
                  <a:rPr lang="en-IN" sz="2400">
                    <a:solidFill>
                      <a:srgbClr val="111827"/>
                    </a:solidFill>
                    <a:latin typeface="Cambria Math" panose="02040503050406030204" pitchFamily="18" charset="0"/>
                  </a:rPr>
                  <a:t>$\dfrac{2b}{a^2}$</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95579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Exponential series, Binomial coefficient sums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𝑛</m:t>
                            </m:r>
                          </m:sup>
                        </m:sSup>
                      </m:num>
                      <m:den>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den>
                    </m:f>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and </a:t>
                </a:r>
                <a14:m>
                  <m:oMath xmlns:m="http://schemas.openxmlformats.org/officeDocument/2006/math">
                    <m:f>
                      <m:fPr>
                        <m:type m:val="bar"/>
                        <m:ctrlPr>
                          <a:rPr lang="en-IN" sz="2400" i="1">
                            <a:solidFill>
                              <a:srgbClr val="78350F"/>
                            </a:solidFill>
                            <a:latin typeface="Cambria Math" panose="02040503050406030204" pitchFamily="18" charset="0"/>
                          </a:rPr>
                        </m:ctrlPr>
                      </m:fPr>
                      <m:num>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𝑟</m:t>
                                </m:r>
                              </m:num>
                              <m:den>
                                <m:r>
                                  <a:rPr lang="en-IN" sz="2400" i="1">
                                    <a:solidFill>
                                      <a:srgbClr val="78350F"/>
                                    </a:solidFill>
                                    <a:latin typeface="Cambria Math" panose="02040503050406030204" pitchFamily="18" charset="0"/>
                                  </a:rPr>
                                  <m:t>2</m:t>
                                </m:r>
                              </m:den>
                            </m:f>
                          </m:e>
                        </m:d>
                      </m:num>
                      <m:den>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splits into three exponential-type series giving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𝑒</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$b=\sum\frac{2^n}{n!}=e^2$</a:t>
                </a:r>
                <a:r>
                  <a:rPr sz="2400" b="0">
                    <a:solidFill>
                      <a:srgbClr val="78350F"/>
                    </a:solidFill>
                    <a:latin typeface="Arial"/>
                  </a:rPr>
                  <a:t>, and </a:t>
                </a:r>
                <a:r>
                  <a:rPr lang="en-IN" sz="2400">
                    <a:solidFill>
                      <a:srgbClr val="78350F"/>
                    </a:solidFill>
                    <a:latin typeface="Cambria Math" panose="02040503050406030204" pitchFamily="18" charset="0"/>
                  </a:rPr>
                  <a:t>$\frac{\binom r2}{(r+1)!}$</a:t>
                </a:r>
                <a:r>
                  <a:rPr sz="2400" b="0">
                    <a:solidFill>
                      <a:srgbClr val="78350F"/>
                    </a:solidFill>
                    <a:latin typeface="Arial"/>
                  </a:rPr>
                  <a:t> splits into three exponential-type series giving </a:t>
                </a:r>
                <a:r>
                  <a:rPr lang="en-IN" sz="2400">
                    <a:solidFill>
                      <a:srgbClr val="78350F"/>
                    </a:solidFill>
                    <a:latin typeface="Cambria Math" panose="02040503050406030204" pitchFamily="18" charset="0"/>
                  </a:rPr>
                  <a:t>$a=\frac e2$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m:rPr>
                            <m:sty m:val="p"/>
                          </m:rPr>
                          <a:rPr lang="en-IN" sz="2400">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e>
                            </m:d>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m:rPr>
                            <m:sty m:val="p"/>
                          </m:rPr>
                          <a:rPr lang="en-IN" sz="2400">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$a=1+\sum_{r=2}^{\infty}\dfrac{\binom r2}{(r+1)!}=1+\sum_{r=2}^{\infty}\dfrac{r(r-1)}{2\,(r+1)!}$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$r(r-1)=r(r+1)-2r$</a:t>
                </a:r>
                <a:r>
                  <a:rPr sz="2400" b="0">
                    <a:solidFill>
                      <a:srgbClr val="111827"/>
                    </a:solidFill>
                    <a:latin typeface="Arial"/>
                  </a:rPr>
                  <a:t>, so </a:t>
                </a:r>
                <a:r>
                  <a:rPr lang="en-IN" sz="2400">
                    <a:solidFill>
                      <a:srgbClr val="111827"/>
                    </a:solidFill>
                    <a:latin typeface="Cambria Math" panose="02040503050406030204" pitchFamily="18" charset="0"/>
                  </a:rPr>
                  <a:t>$\dfrac{r(r-1)}{(r+1)!}=\dfrac{r(r+1)-2r}{(r+1)!}=\dfrac1{(r-1)!}-\dfrac{2r}{(r+1)!}$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$\dfrac{2r}{(r+1)!}=\dfrac{2(r+1)-2}{(r+1)!}=\dfrac2{r!}-\dfrac2{(r+1)!}$</a:t>
                </a:r>
                <a:r>
                  <a:rPr sz="2400" b="0">
                    <a:solidFill>
                      <a:srgbClr val="111827"/>
                    </a:solidFill>
                    <a:latin typeface="Arial"/>
                  </a:rPr>
                  <a:t>, so </a:t>
                </a:r>
                <a:r>
                  <a:rPr lang="en-IN" sz="2400">
                    <a:solidFill>
                      <a:srgbClr val="111827"/>
                    </a:solidFill>
                    <a:latin typeface="Cambria Math" panose="02040503050406030204" pitchFamily="18" charset="0"/>
                  </a:rPr>
                  <a:t>$\dfrac{r(r-1)}{(r+1)!}=\dfrac{1}{(r-1)!}-\dfrac2{r!}+\dfrac2{(r+1)!}$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m:rPr>
                            <m:sty m:val="p"/>
                          </m:rPr>
                          <a:rPr lang="en-IN" sz="2400">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m:rPr>
                            <m:sty m:val="p"/>
                          </m:rPr>
                          <a:rPr lang="en-IN" sz="2400">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m:rPr>
                            <m:sty m:val="p"/>
                          </m:rPr>
                          <a:rPr lang="en-IN" sz="2400">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the numerator of the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-th term is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e>
                    </m:nary>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$\sum_{r=2}^{\infty}\dfrac1{(r-1)!}=e-1$</a:t>
                </a:r>
                <a:r>
                  <a:rPr sz="2400" b="0">
                    <a:solidFill>
                      <a:srgbClr val="111827"/>
                    </a:solidFill>
                    <a:latin typeface="Arial"/>
                  </a:rPr>
                  <a:t>, </a:t>
                </a:r>
                <a:r>
                  <a:rPr lang="en-IN" sz="2400">
                    <a:solidFill>
                      <a:srgbClr val="111827"/>
                    </a:solidFill>
                    <a:latin typeface="Cambria Math" panose="02040503050406030204" pitchFamily="18" charset="0"/>
                  </a:rPr>
                  <a:t>$\sum_{r=2}^{\infty}\dfrac1{r!}=e-2$</a:t>
                </a:r>
                <a:r>
                  <a:rPr sz="2400" b="0">
                    <a:solidFill>
                      <a:srgbClr val="111827"/>
                    </a:solidFill>
                    <a:latin typeface="Arial"/>
                  </a:rPr>
                  <a:t>, </a:t>
                </a:r>
                <a:r>
                  <a:rPr lang="en-IN" sz="2400">
                    <a:solidFill>
                      <a:srgbClr val="111827"/>
                    </a:solidFill>
                    <a:latin typeface="Cambria Math" panose="02040503050406030204" pitchFamily="18" charset="0"/>
                  </a:rPr>
                  <a:t>$\sum_{r=2}^{\infty}\dfrac1{(r+1)!}=e-2-\dfrac12$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$a=1+\dfrac12\left[(e-1)-2(e-2)+2\left(e-2-\dfrac12\right)\right]=1+\dfrac12(e-2)=\dfrac e2$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$b$</a:t>
                </a:r>
                <a:r>
                  <a:rPr sz="2400" b="0">
                    <a:solidFill>
                      <a:srgbClr val="111827"/>
                    </a:solidFill>
                    <a:latin typeface="Arial"/>
                  </a:rPr>
                  <a:t>, the numerator of the </a:t>
                </a:r>
                <a:r>
                  <a:rPr lang="en-IN" sz="2400">
                    <a:solidFill>
                      <a:srgbClr val="111827"/>
                    </a:solidFill>
                    <a:latin typeface="Cambria Math" panose="02040503050406030204" pitchFamily="18" charset="0"/>
                  </a:rPr>
                  <a:t>$n$</a:t>
                </a:r>
                <a:r>
                  <a:rPr sz="2400" b="0">
                    <a:solidFill>
                      <a:srgbClr val="111827"/>
                    </a:solidFill>
                    <a:latin typeface="Arial"/>
                  </a:rPr>
                  <a:t>-th term is </a:t>
                </a:r>
                <a:r>
                  <a:rPr lang="en-IN" sz="2400">
                    <a:solidFill>
                      <a:srgbClr val="111827"/>
                    </a:solidFill>
                    <a:latin typeface="Cambria Math" panose="02040503050406030204" pitchFamily="18" charset="0"/>
                  </a:rPr>
                  <a:t>$\sum_{k=0}^{n}\binom nk=2^n$</a:t>
                </a:r>
                <a:r>
                  <a:rPr sz="2400" b="0">
                    <a:solidFill>
                      <a:srgbClr val="111827"/>
                    </a:solidFill>
                    <a:latin typeface="Arial"/>
                  </a:rPr>
                  <a:t>, so </a:t>
                </a:r>
                <a:r>
                  <a:rPr lang="en-IN" sz="2400">
                    <a:solidFill>
                      <a:srgbClr val="111827"/>
                    </a:solidFill>
                    <a:latin typeface="Cambria Math" panose="02040503050406030204" pitchFamily="18" charset="0"/>
                  </a:rPr>
                  <a:t>$b=\sum_{n\ge0}\dfrac{2^n}{n!}=e^2$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$\dfrac{2b}{a^2}=\dfrac{2e^2}{e^2/4}=8$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8</a:t>
            </a:r>
            <a:endParaRPr sz="2800">
              <a:solidFill>
                <a:srgbClr val="15803D"/>
              </a:solidFill>
            </a:endParaRP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Treat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as an integral of an exponential generating function: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𝑟</m:t>
                            </m:r>
                          </m:num>
                          <m:den>
                            <m:r>
                              <a:rPr lang="en-IN" sz="2400" i="1">
                                <a:solidFill>
                                  <a:srgbClr val="78350F"/>
                                </a:solidFill>
                                <a:latin typeface="Cambria Math" panose="02040503050406030204" pitchFamily="18" charset="0"/>
                              </a:rPr>
                              <m:t>2</m:t>
                            </m:r>
                          </m:den>
                        </m:f>
                      </m:e>
                    </m:d>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num>
                      <m:den>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has </a:t>
                </a:r>
                <a14:m>
                  <m:oMath xmlns:m="http://schemas.openxmlformats.org/officeDocument/2006/math">
                    <m:sSup>
                      <m:e>
                        <m:r>
                          <a:rPr lang="en-IN" sz="2400" i="1">
                            <a:solidFill>
                              <a:srgbClr val="78350F"/>
                            </a:solidFill>
                            <a:latin typeface="Cambria Math" panose="02040503050406030204" pitchFamily="18" charset="0"/>
                          </a:rPr>
                          <m:t>𝐴</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2</m:t>
                        </m:r>
                      </m:den>
                    </m:f>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Treat </a:t>
                </a:r>
                <a:r>
                  <a:rPr lang="en-IN" sz="2400">
                    <a:solidFill>
                      <a:srgbClr val="78350F"/>
                    </a:solidFill>
                    <a:latin typeface="Cambria Math" panose="02040503050406030204" pitchFamily="18" charset="0"/>
                  </a:rPr>
                  <a:t>$a$</a:t>
                </a:r>
                <a:r>
                  <a:rPr sz="2400" b="0">
                    <a:solidFill>
                      <a:srgbClr val="78350F"/>
                    </a:solidFill>
                    <a:latin typeface="Arial"/>
                  </a:rPr>
                  <a:t> as an integral of an exponential generating function: </a:t>
                </a:r>
                <a:r>
                  <a:rPr lang="en-IN" sz="2400">
                    <a:solidFill>
                      <a:srgbClr val="78350F"/>
                    </a:solidFill>
                    <a:latin typeface="Cambria Math" panose="02040503050406030204" pitchFamily="18" charset="0"/>
                  </a:rPr>
                  <a:t>$A(x)=\sum\binom r2\frac{x^{r+1}}{(r+1)!}$</a:t>
                </a:r>
                <a:r>
                  <a:rPr sz="2400" b="0">
                    <a:solidFill>
                      <a:srgbClr val="78350F"/>
                    </a:solidFill>
                    <a:latin typeface="Arial"/>
                  </a:rPr>
                  <a:t> has </a:t>
                </a:r>
                <a:r>
                  <a:rPr lang="en-IN" sz="2400">
                    <a:solidFill>
                      <a:srgbClr val="78350F"/>
                    </a:solidFill>
                    <a:latin typeface="Cambria Math" panose="02040503050406030204" pitchFamily="18" charset="0"/>
                  </a:rPr>
                  <a:t>$A'(x)=\frac{x^2}{2}e^x$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e>
                        </m:d>
                      </m:e>
                    </m:nary>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e>
                        </m:d>
                      </m:e>
                    </m:nary>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e>
                    </m:nary>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$A(x)=\sum_{r\ge2}\binom r2\dfrac{x^{r+1}}{(r+1)!}$</a:t>
                </a:r>
                <a:r>
                  <a:rPr sz="2400" b="0">
                    <a:solidFill>
                      <a:srgbClr val="111827"/>
                    </a:solidFill>
                    <a:latin typeface="Arial"/>
                  </a:rPr>
                  <a:t>. Then </a:t>
                </a:r>
                <a:r>
                  <a:rPr lang="en-IN" sz="2400">
                    <a:solidFill>
                      <a:srgbClr val="111827"/>
                    </a:solidFill>
                    <a:latin typeface="Cambria Math" panose="02040503050406030204" pitchFamily="18" charset="0"/>
                  </a:rPr>
                  <a:t>$A'(x)=\sum_{r\ge2}\binom r2\dfrac{x^r}{r!}=\sum_{r\ge2}\dfrac{x^r}{2\,(r-2)!}=\dfrac{x^2}{2}e^x$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$a=1+A(1)=1+\displaystyle\int_0^1\dfrac{x^2}{2}e^x\,dx$</a:t>
                </a:r>
                <a:r>
                  <a:rPr sz="2400" b="0">
                    <a:solidFill>
                      <a:srgbClr val="111827"/>
                    </a:solidFill>
                    <a:latin typeface="Arial"/>
                  </a:rPr>
                  <a:t> (since </a:t>
                </a:r>
                <a:r>
                  <a:rPr lang="en-IN" sz="2400">
                    <a:solidFill>
                      <a:srgbClr val="111827"/>
                    </a:solidFill>
                    <a:latin typeface="Cambria Math" panose="02040503050406030204" pitchFamily="18" charset="0"/>
                  </a:rPr>
                  <a:t>$A(0)=0$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e>
                    </m:nary>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we get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 x^2e^x\,dx=e^x(x^2-2x+2)$</a:t>
                </a:r>
                <a:r>
                  <a:rPr sz="2400" b="0">
                    <a:solidFill>
                      <a:srgbClr val="111827"/>
                    </a:solidFill>
                    <a:latin typeface="Arial"/>
                  </a:rPr>
                  <a:t>, so </a:t>
                </a:r>
                <a:r>
                  <a:rPr lang="en-IN" sz="2400">
                    <a:solidFill>
                      <a:srgbClr val="111827"/>
                    </a:solidFill>
                    <a:latin typeface="Cambria Math" panose="02040503050406030204" pitchFamily="18" charset="0"/>
                  </a:rPr>
                  <a:t>$\displaystyle\int_0^1\dfrac{x^2}{2}e^x\,dx=\dfrac12\left[e(1-2+2)-2\right]=\dfrac{e-2}{2}$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$a=1+\dfrac{e-2}{2}=\dfrac e2$</a:t>
                </a:r>
                <a:r>
                  <a:rPr sz="2400" b="0">
                    <a:solidFill>
                      <a:srgbClr val="111827"/>
                    </a:solidFill>
                    <a:latin typeface="Arial"/>
                  </a:rPr>
                  <a:t>; with </a:t>
                </a:r>
                <a:r>
                  <a:rPr lang="en-IN" sz="2400">
                    <a:solidFill>
                      <a:srgbClr val="111827"/>
                    </a:solidFill>
                    <a:latin typeface="Cambria Math" panose="02040503050406030204" pitchFamily="18" charset="0"/>
                  </a:rPr>
                  <a:t>$b=e^2$</a:t>
                </a:r>
                <a:r>
                  <a:rPr sz="2400" b="0">
                    <a:solidFill>
                      <a:srgbClr val="111827"/>
                    </a:solidFill>
                    <a:latin typeface="Arial"/>
                  </a:rPr>
                  <a:t> we get </a:t>
                </a:r>
                <a:r>
                  <a:rPr lang="en-IN" sz="2400">
                    <a:solidFill>
                      <a:srgbClr val="111827"/>
                    </a:solidFill>
                    <a:latin typeface="Cambria Math" panose="02040503050406030204" pitchFamily="18" charset="0"/>
                  </a:rPr>
                  <a:t>$\dfrac{2b}{a^2}=8$</a:t>
                </a:r>
                <a:r>
                  <a:rPr sz="2400" b="0">
                    <a:solidFill>
                      <a:srgbClr val="111827"/>
                    </a:solidFill>
                    <a:latin typeface="Arial"/>
                  </a:rPr>
                  <a:t>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8</a:t>
            </a:r>
            <a:endParaRPr sz="2800">
              <a:solidFill>
                <a:srgbClr val="15803D"/>
              </a:solidFill>
            </a:endParaRP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e>
                    </m:nary>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so numerators of the type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0</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den>
                        </m:f>
                      </m:e>
                    </m:d>
                  </m:oMath>
                </a14:m>
                <a:r>
                  <a:rPr sz="2400" b="0">
                    <a:solidFill>
                      <a:srgbClr val="111827"/>
                    </a:solidFill>
                    <a:latin typeface="Arial"/>
                  </a:rPr>
                  <a:t>' give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Reduce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by expressing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the basis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oMath>
                </a14:m>
                <a:r>
                  <a:rPr sz="2400" b="0">
                    <a:solidFill>
                      <a:srgbClr val="111827"/>
                    </a:solidFill>
                    <a:latin typeface="Arial"/>
                  </a:rPr>
                  <a:t>: each piece telescopes to a shifted </a:t>
                </a:r>
                <a14:m>
                  <m:oMath xmlns:m="http://schemas.openxmlformats.org/officeDocument/2006/math">
                    <m:r>
                      <a:rPr lang="en-IN" sz="2400" i="1">
                        <a:solidFill>
                          <a:srgbClr val="111827"/>
                        </a:solidFill>
                        <a:latin typeface="Cambria Math" panose="02040503050406030204" pitchFamily="18" charset="0"/>
                      </a:rPr>
                      <m:t>𝑒</m:t>
                    </m:r>
                  </m:oMath>
                </a14:m>
                <a:r>
                  <a:rPr sz="2400" b="0">
                    <a:solidFill>
                      <a:srgbClr val="111827"/>
                    </a:solidFill>
                    <a:latin typeface="Arial"/>
                  </a:rPr>
                  <a:t>-series.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e>
                            </m:d>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numerically: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48</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$\sum_{k=0}^{n}\binom nk=2^n$</a:t>
                </a:r>
                <a:r>
                  <a:rPr sz="2400" b="0">
                    <a:solidFill>
                      <a:srgbClr val="111827"/>
                    </a:solidFill>
                    <a:latin typeface="Arial"/>
                  </a:rPr>
                  <a:t>, so numerators of the type '</a:t>
                </a:r>
                <a:r>
                  <a:rPr lang="en-IN" sz="2400">
                    <a:solidFill>
                      <a:srgbClr val="111827"/>
                    </a:solidFill>
                    <a:latin typeface="Cambria Math" panose="02040503050406030204" pitchFamily="18" charset="0"/>
                  </a:rPr>
                  <a:t>$\binom n0+\binom n1+\dots+\binom nn$</a:t>
                </a:r>
                <a:r>
                  <a:rPr sz="2400" b="0">
                    <a:solidFill>
                      <a:srgbClr val="111827"/>
                    </a:solidFill>
                    <a:latin typeface="Arial"/>
                  </a:rPr>
                  <a:t>' give </a:t>
                </a:r>
                <a:r>
                  <a:rPr lang="en-IN" sz="2400">
                    <a:solidFill>
                      <a:srgbClr val="111827"/>
                    </a:solidFill>
                    <a:latin typeface="Cambria Math" panose="02040503050406030204" pitchFamily="18" charset="0"/>
                  </a:rPr>
                  <a:t>$\sum\frac{2^n}{n!}=e^2$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Reduce </a:t>
                </a:r>
                <a:r>
                  <a:rPr lang="en-IN" sz="2400">
                    <a:solidFill>
                      <a:srgbClr val="111827"/>
                    </a:solidFill>
                    <a:latin typeface="Cambria Math" panose="02040503050406030204" pitchFamily="18" charset="0"/>
                  </a:rPr>
                  <a:t>$\frac{P(r)}{(r+1)!}$</a:t>
                </a:r>
                <a:r>
                  <a:rPr sz="2400" b="0">
                    <a:solidFill>
                      <a:srgbClr val="111827"/>
                    </a:solidFill>
                    <a:latin typeface="Arial"/>
                  </a:rPr>
                  <a:t> by expressing </a:t>
                </a:r>
                <a:r>
                  <a:rPr lang="en-IN" sz="2400">
                    <a:solidFill>
                      <a:srgbClr val="111827"/>
                    </a:solidFill>
                    <a:latin typeface="Cambria Math" panose="02040503050406030204" pitchFamily="18" charset="0"/>
                  </a:rPr>
                  <a:t>$P(r)$</a:t>
                </a:r>
                <a:r>
                  <a:rPr sz="2400" b="0">
                    <a:solidFill>
                      <a:srgbClr val="111827"/>
                    </a:solidFill>
                    <a:latin typeface="Arial"/>
                  </a:rPr>
                  <a:t> in the basis </a:t>
                </a:r>
                <a:r>
                  <a:rPr lang="en-IN" sz="2400">
                    <a:solidFill>
                      <a:srgbClr val="111827"/>
                    </a:solidFill>
                    <a:latin typeface="Cambria Math" panose="02040503050406030204" pitchFamily="18" charset="0"/>
                  </a:rPr>
                  <a:t>$(r+1)r,\ r+1,\ 1$</a:t>
                </a:r>
                <a:r>
                  <a:rPr sz="2400" b="0">
                    <a:solidFill>
                      <a:srgbClr val="111827"/>
                    </a:solidFill>
                    <a:latin typeface="Arial"/>
                  </a:rPr>
                  <a:t>: each piece telescopes to a shifted </a:t>
                </a:r>
                <a:r>
                  <a:rPr lang="en-IN" sz="2400">
                    <a:solidFill>
                      <a:srgbClr val="111827"/>
                    </a:solidFill>
                    <a:latin typeface="Cambria Math" panose="02040503050406030204" pitchFamily="18" charset="0"/>
                  </a:rPr>
                  <a:t>$e$</a:t>
                </a:r>
                <a:r>
                  <a:rPr sz="2400" b="0">
                    <a:solidFill>
                      <a:srgbClr val="111827"/>
                    </a:solidFill>
                    <a:latin typeface="Arial"/>
                  </a:rPr>
                  <a:t>-series.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$\sum_{r\ge2}\frac{\binom r2}{(r+1)!}=\frac{e-2}{2}$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numerically: </a:t>
                </a:r>
                <a:r>
                  <a:rPr lang="en-IN" sz="2400">
                    <a:solidFill>
                      <a:srgbClr val="111827"/>
                    </a:solidFill>
                    <a:latin typeface="Cambria Math" panose="02040503050406030204" pitchFamily="18" charset="0"/>
                  </a:rPr>
                  <a:t>$a=1+\frac16+\frac18+\frac1{20}+\frac1{48}+\dots\approx1.359=\frac e2$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557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constant term in the expansion of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9</m:t>
                        </m:r>
                      </m:sup>
                    </m:sSup>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108</m:t>
                    </m:r>
                    <m:r>
                      <a:rPr lang="en-IN" sz="2400" i="1">
                        <a:solidFill>
                          <a:srgbClr val="111827"/>
                        </a:solidFill>
                        <a:latin typeface="Cambria Math" panose="02040503050406030204" pitchFamily="18" charset="0"/>
                      </a:rPr>
                      <m:t>𝑝</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18557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constant term in the expansion of </a:t>
                </a:r>
                <a:r>
                  <a:rPr lang="en-IN" sz="2400">
                    <a:solidFill>
                      <a:srgbClr val="111827"/>
                    </a:solidFill>
                    <a:latin typeface="Cambria Math" panose="02040503050406030204" pitchFamily="18" charset="0"/>
                  </a:rPr>
                  <a:t>$\left(1+2x-3x^3\right)\left(\dfrac32x^2-\dfrac{1}{3x}\right)^{9}$</a:t>
                </a:r>
                <a:r>
                  <a:rPr sz="2400" b="0">
                    <a:solidFill>
                      <a:srgbClr val="111827"/>
                    </a:solidFill>
                    <a:latin typeface="Arial"/>
                  </a:rPr>
                  <a:t> is </a:t>
                </a:r>
                <a:r>
                  <a:rPr lang="en-IN" sz="2400">
                    <a:solidFill>
                      <a:srgbClr val="111827"/>
                    </a:solidFill>
                    <a:latin typeface="Cambria Math" panose="02040503050406030204" pitchFamily="18" charset="0"/>
                  </a:rPr>
                  <a:t>$p$</a:t>
                </a:r>
                <a:r>
                  <a:rPr sz="2400" b="0">
                    <a:solidFill>
                      <a:srgbClr val="111827"/>
                    </a:solidFill>
                    <a:latin typeface="Arial"/>
                  </a:rPr>
                  <a:t>, then </a:t>
                </a:r>
                <a:r>
                  <a:rPr lang="en-IN" sz="2400">
                    <a:solidFill>
                      <a:srgbClr val="111827"/>
                    </a:solidFill>
                    <a:latin typeface="Cambria Math" panose="02040503050406030204" pitchFamily="18" charset="0"/>
                  </a:rPr>
                  <a:t>$108p$</a:t>
                </a:r>
                <a:r>
                  <a:rPr sz="2400" b="0">
                    <a:solidFill>
                      <a:srgbClr val="111827"/>
                    </a:solidFill>
                    <a:latin typeface="Arial"/>
                  </a:rPr>
                  <a:t> is equal to ________.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3644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 Term independent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a product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3644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 binomial expansion, Term independent of </a:t>
                </a:r>
                <a:r>
                  <a:rPr lang="en-IN" sz="2400">
                    <a:solidFill>
                      <a:srgbClr val="111827"/>
                    </a:solidFill>
                    <a:latin typeface="Cambria Math" panose="02040503050406030204" pitchFamily="18" charset="0"/>
                  </a:rPr>
                  <a:t>$x$</a:t>
                </a:r>
                <a:r>
                  <a:rPr sz="2400" b="0">
                    <a:solidFill>
                      <a:srgbClr val="111827"/>
                    </a:solidFill>
                    <a:latin typeface="Arial"/>
                  </a:rPr>
                  <a:t> in a product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constant term collects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7</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8</m:t>
                        </m:r>
                      </m:sub>
                    </m:sSub>
                  </m:oMath>
                </a14:m>
                <a:r>
                  <a:rPr sz="2400" b="0">
                    <a:solidFill>
                      <a:srgbClr val="78350F"/>
                    </a:solidFill>
                    <a:latin typeface="Arial"/>
                  </a:rPr>
                  <a:t> (the term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oMath>
                </a14:m>
                <a:r>
                  <a:rPr sz="2400" b="0">
                    <a:solidFill>
                      <a:srgbClr val="78350F"/>
                    </a:solidFill>
                    <a:latin typeface="Arial"/>
                  </a:rPr>
                  <a:t> would need </a:t>
                </a:r>
                <a14:m>
                  <m:oMath xmlns:m="http://schemas.openxmlformats.org/officeDocument/2006/math">
                    <m:sSup>
                      <m:e>
                        <m:r>
                          <a:rPr lang="en-IN" sz="2400" i="1">
                            <a:solidFill>
                              <a:srgbClr val="78350F"/>
                            </a:solidFill>
                            <a:latin typeface="Cambria Math" panose="02040503050406030204" pitchFamily="18" charset="0"/>
                          </a:rPr>
                          <m:t>𝑥</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which does not occur).</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constant term collects </a:t>
                </a:r>
                <a:r>
                  <a:rPr lang="en-IN" sz="2400">
                    <a:solidFill>
                      <a:srgbClr val="78350F"/>
                    </a:solidFill>
                    <a:latin typeface="Cambria Math" panose="02040503050406030204" pitchFamily="18" charset="0"/>
                  </a:rPr>
                  <a:t>$1\cdot T_7-3x^3\cdot T_8$</a:t>
                </a:r>
                <a:r>
                  <a:rPr sz="2400" b="0">
                    <a:solidFill>
                      <a:srgbClr val="78350F"/>
                    </a:solidFill>
                    <a:latin typeface="Arial"/>
                  </a:rPr>
                  <a:t> (the term </a:t>
                </a:r>
                <a:r>
                  <a:rPr lang="en-IN" sz="2400">
                    <a:solidFill>
                      <a:srgbClr val="78350F"/>
                    </a:solidFill>
                    <a:latin typeface="Cambria Math" panose="02040503050406030204" pitchFamily="18" charset="0"/>
                  </a:rPr>
                  <a:t>$2x$</a:t>
                </a:r>
                <a:r>
                  <a:rPr sz="2400" b="0">
                    <a:solidFill>
                      <a:srgbClr val="78350F"/>
                    </a:solidFill>
                    <a:latin typeface="Arial"/>
                  </a:rPr>
                  <a:t> would need </a:t>
                </a:r>
                <a:r>
                  <a:rPr lang="en-IN" sz="2400">
                    <a:solidFill>
                      <a:srgbClr val="78350F"/>
                    </a:solidFill>
                    <a:latin typeface="Cambria Math" panose="02040503050406030204" pitchFamily="18" charset="0"/>
                  </a:rPr>
                  <a:t>$x^{-1}$</a:t>
                </a:r>
                <a:r>
                  <a:rPr sz="2400" b="0">
                    <a:solidFill>
                      <a:srgbClr val="78350F"/>
                    </a:solidFill>
                    <a:latin typeface="Arial"/>
                  </a:rPr>
                  <a:t>, which does not occur).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𝑟</m:t>
                            </m:r>
                          </m:den>
                        </m:f>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constant term of the product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(constant term of the second factor)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0</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has no integer solution.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$T_{r+1}=\binom9r\left(\dfrac32x^2\right)^{9-r}\left(-\dfrac1{3x}\right)^r=\binom9r(-1)^r3^{9-2r}2^{r-9}x^{18-3r}$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constant term of the product is: (</a:t>
                </a:r>
                <a:r>
                  <a:rPr lang="en-IN" sz="2400">
                    <a:solidFill>
                      <a:srgbClr val="111827"/>
                    </a:solidFill>
                    <a:latin typeface="Cambria Math" panose="02040503050406030204" pitchFamily="18" charset="0"/>
                  </a:rPr>
                  <a:t>$1$</a:t>
                </a:r>
                <a:r>
                  <a:rPr sz="2400" b="0">
                    <a:solidFill>
                      <a:srgbClr val="111827"/>
                    </a:solidFill>
                    <a:latin typeface="Arial"/>
                  </a:rPr>
                  <a:t>)</a:t>
                </a:r>
                <a:r>
                  <a:rPr lang="en-IN" sz="2400">
                    <a:solidFill>
                      <a:srgbClr val="111827"/>
                    </a:solidFill>
                    <a:latin typeface="Cambria Math" panose="02040503050406030204" pitchFamily="18" charset="0"/>
                  </a:rPr>
                  <a:t>$\times$</a:t>
                </a:r>
                <a:r>
                  <a:rPr sz="2400" b="0">
                    <a:solidFill>
                      <a:srgbClr val="111827"/>
                    </a:solidFill>
                    <a:latin typeface="Arial"/>
                  </a:rPr>
                  <a:t>(constant term of the second factor) </a:t>
                </a:r>
                <a:r>
                  <a:rPr lang="en-IN" sz="2400">
                    <a:solidFill>
                      <a:srgbClr val="111827"/>
                    </a:solidFill>
                    <a:latin typeface="Cambria Math" panose="02040503050406030204" pitchFamily="18" charset="0"/>
                  </a:rPr>
                  <a:t>$+$</a:t>
                </a:r>
                <a:r>
                  <a:rPr sz="2400" b="0">
                    <a:solidFill>
                      <a:srgbClr val="111827"/>
                    </a:solidFill>
                    <a:latin typeface="Arial"/>
                  </a:rPr>
                  <a:t> (</a:t>
                </a:r>
                <a:r>
                  <a:rPr lang="en-IN" sz="2400">
                    <a:solidFill>
                      <a:srgbClr val="111827"/>
                    </a:solidFill>
                    <a:latin typeface="Cambria Math" panose="02040503050406030204" pitchFamily="18" charset="0"/>
                  </a:rPr>
                  <a:t>$2x$</a:t>
                </a:r>
                <a:r>
                  <a:rPr sz="2400" b="0">
                    <a:solidFill>
                      <a:srgbClr val="111827"/>
                    </a:solidFill>
                    <a:latin typeface="Arial"/>
                  </a:rPr>
                  <a:t>)</a:t>
                </a:r>
                <a:r>
                  <a:rPr lang="en-IN" sz="2400">
                    <a:solidFill>
                      <a:srgbClr val="111827"/>
                    </a:solidFill>
                    <a:latin typeface="Cambria Math" panose="02040503050406030204" pitchFamily="18" charset="0"/>
                  </a:rPr>
                  <a:t>$\times$</a:t>
                </a:r>
                <a:r>
                  <a:rPr sz="2400" b="0">
                    <a:solidFill>
                      <a:srgbClr val="111827"/>
                    </a:solidFill>
                    <a:latin typeface="Arial"/>
                  </a:rPr>
                  <a:t>(coefficient of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a:t>
                </a:r>
                <a:r>
                  <a:rPr lang="en-IN" sz="2400">
                    <a:solidFill>
                      <a:srgbClr val="111827"/>
                    </a:solidFill>
                    <a:latin typeface="Cambria Math" panose="02040503050406030204" pitchFamily="18" charset="0"/>
                  </a:rPr>
                  <a:t>$-3x^3$</a:t>
                </a:r>
                <a:r>
                  <a:rPr sz="2400" b="0">
                    <a:solidFill>
                      <a:srgbClr val="111827"/>
                    </a:solidFill>
                    <a:latin typeface="Arial"/>
                  </a:rPr>
                  <a:t>)</a:t>
                </a:r>
                <a:r>
                  <a:rPr lang="en-IN" sz="2400">
                    <a:solidFill>
                      <a:srgbClr val="111827"/>
                    </a:solidFill>
                    <a:latin typeface="Cambria Math" panose="02040503050406030204" pitchFamily="18" charset="0"/>
                  </a:rPr>
                  <a:t>$\times$</a:t>
                </a:r>
                <a:r>
                  <a:rPr sz="2400" b="0">
                    <a:solidFill>
                      <a:srgbClr val="111827"/>
                    </a:solidFill>
                    <a:latin typeface="Arial"/>
                  </a:rPr>
                  <a:t>(coefficient of </a:t>
                </a:r>
                <a:r>
                  <a:rPr lang="en-IN" sz="2400">
                    <a:solidFill>
                      <a:srgbClr val="111827"/>
                    </a:solidFill>
                    <a:latin typeface="Cambria Math" panose="02040503050406030204" pitchFamily="18" charset="0"/>
                  </a:rPr>
                  <a:t>$x^{-3}$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$18-3r=0\Rightarrow r=6$</a:t>
                </a:r>
                <a:r>
                  <a:rPr sz="2400" b="0">
                    <a:solidFill>
                      <a:srgbClr val="111827"/>
                    </a:solidFill>
                    <a:latin typeface="Arial"/>
                  </a:rPr>
                  <a: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$18-3r=-1$</a:t>
                </a:r>
                <a:r>
                  <a:rPr sz="2400" b="0">
                    <a:solidFill>
                      <a:srgbClr val="111827"/>
                    </a:solidFill>
                    <a:latin typeface="Arial"/>
                  </a:rPr>
                  <a:t> has no integer solution. </a:t>
                </a:r>
                <a:r>
                  <a:rPr lang="en-IN" sz="2400">
                    <a:solidFill>
                      <a:srgbClr val="111827"/>
                    </a:solidFill>
                    <a:latin typeface="Cambria Math" panose="02040503050406030204" pitchFamily="18" charset="0"/>
                  </a:rPr>
                  <a:t>$x^{-3}$</a:t>
                </a:r>
                <a:r>
                  <a:rPr sz="2400" b="0">
                    <a:solidFill>
                      <a:srgbClr val="111827"/>
                    </a:solidFill>
                    <a:latin typeface="Arial"/>
                  </a:rPr>
                  <a:t>: </a:t>
                </a:r>
                <a:r>
                  <a:rPr lang="en-IN" sz="2400">
                    <a:solidFill>
                      <a:srgbClr val="111827"/>
                    </a:solidFill>
                    <a:latin typeface="Cambria Math" panose="02040503050406030204" pitchFamily="18" charset="0"/>
                  </a:rPr>
                  <a:t>$18-3r=-3\Rightarrow r=7$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6</m:t>
                            </m:r>
                          </m:den>
                        </m:f>
                      </m:e>
                    </m: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84</m:t>
                        </m:r>
                      </m:num>
                      <m:den>
                        <m:r>
                          <a:rPr lang="en-IN" sz="2400" i="1">
                            <a:solidFill>
                              <a:srgbClr val="111827"/>
                            </a:solidFill>
                            <a:latin typeface="Cambria Math" panose="02040503050406030204" pitchFamily="18" charset="0"/>
                          </a:rPr>
                          <m:t>216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18</m:t>
                        </m:r>
                      </m:den>
                    </m:f>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8</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7</m:t>
                            </m:r>
                          </m:den>
                        </m:f>
                      </m:e>
                    </m: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up>
                    </m:sSup>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num>
                      <m:den>
                        <m:r>
                          <a:rPr lang="en-IN" sz="2400" i="1">
                            <a:solidFill>
                              <a:srgbClr val="111827"/>
                            </a:solidFill>
                            <a:latin typeface="Cambria Math" panose="02040503050406030204" pitchFamily="18" charset="0"/>
                          </a:rPr>
                          <m:t>972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8</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108</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$T_7=\binom96\,3^{-3}\,2^{-3}=\dfrac{84}{216}=\dfrac{7}{18}$</a:t>
                </a:r>
                <a:r>
                  <a:rPr sz="2400" b="0">
                    <a:solidFill>
                      <a:srgbClr val="111827"/>
                    </a:solidFill>
                    <a:latin typeface="Arial"/>
                  </a:rPr>
                  <a:t> and </a:t>
                </a:r>
                <a:r>
                  <a:rPr lang="en-IN" sz="2400">
                    <a:solidFill>
                      <a:srgbClr val="111827"/>
                    </a:solidFill>
                    <a:latin typeface="Cambria Math" panose="02040503050406030204" pitchFamily="18" charset="0"/>
                  </a:rPr>
                  <a:t>$T_8=-\binom97\,3^{-5}\,2^{-2}=-\dfrac{36}{972}=-\dfrac1{27}$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a:t>
                </a:r>
                <a:r>
                  <a:rPr lang="en-IN" sz="2400">
                    <a:solidFill>
                      <a:srgbClr val="111827"/>
                    </a:solidFill>
                    <a:latin typeface="Cambria Math" panose="02040503050406030204" pitchFamily="18" charset="0"/>
                  </a:rPr>
                  <a:t>$p=T_7-3T_8=\dfrac7{18}+\dfrac{3}{27}=\dfrac{7}{18}+\dfrac19=\dfrac{9}{18}=\dfrac12$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$108p=54$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54</a:t>
            </a:r>
            <a:endParaRPr sz="2800">
              <a:solidFill>
                <a:srgbClr val="15803D"/>
              </a:solidFill>
            </a:endParaRP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Clear the denominator of the second bracket: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r>
                          <a:rPr lang="en-IN" sz="2400" i="1">
                            <a:solidFill>
                              <a:srgbClr val="78350F"/>
                            </a:solidFill>
                            <a:latin typeface="Cambria Math" panose="02040503050406030204" pitchFamily="18" charset="0"/>
                          </a:rPr>
                          <m:t>2</m:t>
                        </m:r>
                      </m:den>
                    </m:f>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𝑥</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9</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6</m:t>
                        </m:r>
                        <m:r>
                          <a:rPr lang="en-IN" sz="2400" i="1">
                            <a:solidFill>
                              <a:srgbClr val="78350F"/>
                            </a:solidFill>
                            <a:latin typeface="Cambria Math" panose="02040503050406030204" pitchFamily="18" charset="0"/>
                          </a:rPr>
                          <m:t>𝑥</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Clear the denominator of the second bracket: </a:t>
                </a:r>
                <a:r>
                  <a:rPr lang="en-IN" sz="2400">
                    <a:solidFill>
                      <a:srgbClr val="78350F"/>
                    </a:solidFill>
                    <a:latin typeface="Cambria Math" panose="02040503050406030204" pitchFamily="18" charset="0"/>
                  </a:rPr>
                  <a:t>$\frac32x^2-\frac1{3x}=\frac{9x^3-2}{6x}$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9</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num>
                      <m:den>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9</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9</m:t>
                            </m:r>
                          </m:sup>
                        </m:sSup>
                      </m:den>
                    </m:f>
                  </m:oMath>
                </a14:m>
                <a:r>
                  <a:rPr sz="2400" b="0">
                    <a:solidFill>
                      <a:srgbClr val="111827"/>
                    </a:solidFill>
                    <a:latin typeface="Arial"/>
                  </a:rPr>
                  <a:t>, so the constant term of the product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9</m:t>
                            </m:r>
                          </m:sup>
                        </m:sSup>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9</m:t>
                        </m:r>
                      </m:sup>
                    </m:sSup>
                  </m:oMath>
                </a14:m>
                <a:r>
                  <a:rPr sz="2400" b="0">
                    <a:solidFill>
                      <a:srgbClr val="111827"/>
                    </a:solidFill>
                    <a:latin typeface="Arial"/>
                  </a:rPr>
                  <a:t>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oMath>
                </a14:m>
                <a:r>
                  <a:rPr sz="2400" b="0">
                    <a:solidFill>
                      <a:srgbClr val="111827"/>
                    </a:solidFill>
                    <a:latin typeface="Arial"/>
                  </a:rPr>
                  <a:t> contains only powers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𝑗</m:t>
                        </m:r>
                      </m:sup>
                    </m:sSup>
                  </m:oMath>
                </a14:m>
                <a:r>
                  <a:rPr sz="2400" b="0">
                    <a:solidFill>
                      <a:srgbClr val="111827"/>
                    </a:solidFill>
                    <a:latin typeface="Arial"/>
                  </a:rPr>
                  <a:t>. Hence the term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needs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9</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the term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needs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8</m:t>
                        </m:r>
                      </m:sup>
                    </m:sSup>
                  </m:oMath>
                </a14:m>
                <a:r>
                  <a:rPr sz="2400" b="0">
                    <a:solidFill>
                      <a:srgbClr val="111827"/>
                    </a:solidFill>
                    <a:latin typeface="Arial"/>
                  </a:rPr>
                  <a:t> (impossible), and the term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needs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9</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3</m:t>
                            </m:r>
                          </m:den>
                        </m:f>
                      </m:e>
                    </m: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9</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3919104</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$\left(\dfrac32x^2-\dfrac1{3x}\right)^{9}=\dfrac{(9x^3-2)^9}{6^9x^9}$</a:t>
                </a:r>
                <a:r>
                  <a:rPr sz="2400" b="0">
                    <a:solidFill>
                      <a:srgbClr val="111827"/>
                    </a:solidFill>
                    <a:latin typeface="Arial"/>
                  </a:rPr>
                  <a:t>, so the constant term of the product is </a:t>
                </a:r>
                <a:r>
                  <a:rPr lang="en-IN" sz="2400">
                    <a:solidFill>
                      <a:srgbClr val="111827"/>
                    </a:solidFill>
                    <a:latin typeface="Cambria Math" panose="02040503050406030204" pitchFamily="18" charset="0"/>
                  </a:rPr>
                  <a:t>$\dfrac1{6^9}\times$</a:t>
                </a:r>
                <a:r>
                  <a:rPr sz="2400" b="0">
                    <a:solidFill>
                      <a:srgbClr val="111827"/>
                    </a:solidFill>
                    <a:latin typeface="Arial"/>
                  </a:rPr>
                  <a:t> the coefficient of </a:t>
                </a:r>
                <a:r>
                  <a:rPr lang="en-IN" sz="2400">
                    <a:solidFill>
                      <a:srgbClr val="111827"/>
                    </a:solidFill>
                    <a:latin typeface="Cambria Math" panose="02040503050406030204" pitchFamily="18" charset="0"/>
                  </a:rPr>
                  <a:t>$x^{9}$</a:t>
                </a:r>
                <a:r>
                  <a:rPr sz="2400" b="0">
                    <a:solidFill>
                      <a:srgbClr val="111827"/>
                    </a:solidFill>
                    <a:latin typeface="Arial"/>
                  </a:rPr>
                  <a:t> in </a:t>
                </a:r>
                <a:r>
                  <a:rPr lang="en-IN" sz="2400">
                    <a:solidFill>
                      <a:srgbClr val="111827"/>
                    </a:solidFill>
                    <a:latin typeface="Cambria Math" panose="02040503050406030204" pitchFamily="18" charset="0"/>
                  </a:rPr>
                  <a:t>$\left(1+2x-3x^3\right)(9x^3-2)^9$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$(9x^3-2)^9$</a:t>
                </a:r>
                <a:r>
                  <a:rPr sz="2400" b="0">
                    <a:solidFill>
                      <a:srgbClr val="111827"/>
                    </a:solidFill>
                    <a:latin typeface="Arial"/>
                  </a:rPr>
                  <a:t> contains only powers </a:t>
                </a:r>
                <a:r>
                  <a:rPr lang="en-IN" sz="2400">
                    <a:solidFill>
                      <a:srgbClr val="111827"/>
                    </a:solidFill>
                    <a:latin typeface="Cambria Math" panose="02040503050406030204" pitchFamily="18" charset="0"/>
                  </a:rPr>
                  <a:t>$x^{3j}$</a:t>
                </a:r>
                <a:r>
                  <a:rPr sz="2400" b="0">
                    <a:solidFill>
                      <a:srgbClr val="111827"/>
                    </a:solidFill>
                    <a:latin typeface="Arial"/>
                  </a:rPr>
                  <a:t>. Hence the term </a:t>
                </a:r>
                <a:r>
                  <a:rPr lang="en-IN" sz="2400">
                    <a:solidFill>
                      <a:srgbClr val="111827"/>
                    </a:solidFill>
                    <a:latin typeface="Cambria Math" panose="02040503050406030204" pitchFamily="18" charset="0"/>
                  </a:rPr>
                  <a:t>$1$</a:t>
                </a:r>
                <a:r>
                  <a:rPr sz="2400" b="0">
                    <a:solidFill>
                      <a:srgbClr val="111827"/>
                    </a:solidFill>
                    <a:latin typeface="Arial"/>
                  </a:rPr>
                  <a:t> needs </a:t>
                </a:r>
                <a:r>
                  <a:rPr lang="en-IN" sz="2400">
                    <a:solidFill>
                      <a:srgbClr val="111827"/>
                    </a:solidFill>
                    <a:latin typeface="Cambria Math" panose="02040503050406030204" pitchFamily="18" charset="0"/>
                  </a:rPr>
                  <a:t>$x^9=(x^3)^3$</a:t>
                </a:r>
                <a:r>
                  <a:rPr sz="2400" b="0">
                    <a:solidFill>
                      <a:srgbClr val="111827"/>
                    </a:solidFill>
                    <a:latin typeface="Arial"/>
                  </a:rPr>
                  <a:t>, the term </a:t>
                </a:r>
                <a:r>
                  <a:rPr lang="en-IN" sz="2400">
                    <a:solidFill>
                      <a:srgbClr val="111827"/>
                    </a:solidFill>
                    <a:latin typeface="Cambria Math" panose="02040503050406030204" pitchFamily="18" charset="0"/>
                  </a:rPr>
                  <a:t>$2x$</a:t>
                </a:r>
                <a:r>
                  <a:rPr sz="2400" b="0">
                    <a:solidFill>
                      <a:srgbClr val="111827"/>
                    </a:solidFill>
                    <a:latin typeface="Arial"/>
                  </a:rPr>
                  <a:t> needs </a:t>
                </a:r>
                <a:r>
                  <a:rPr lang="en-IN" sz="2400">
                    <a:solidFill>
                      <a:srgbClr val="111827"/>
                    </a:solidFill>
                    <a:latin typeface="Cambria Math" panose="02040503050406030204" pitchFamily="18" charset="0"/>
                  </a:rPr>
                  <a:t>$x^8$</a:t>
                </a:r>
                <a:r>
                  <a:rPr sz="2400" b="0">
                    <a:solidFill>
                      <a:srgbClr val="111827"/>
                    </a:solidFill>
                    <a:latin typeface="Arial"/>
                  </a:rPr>
                  <a:t> (impossible), and the term </a:t>
                </a:r>
                <a:r>
                  <a:rPr lang="en-IN" sz="2400">
                    <a:solidFill>
                      <a:srgbClr val="111827"/>
                    </a:solidFill>
                    <a:latin typeface="Cambria Math" panose="02040503050406030204" pitchFamily="18" charset="0"/>
                  </a:rPr>
                  <a:t>$-3x^3$</a:t>
                </a:r>
                <a:r>
                  <a:rPr sz="2400" b="0">
                    <a:solidFill>
                      <a:srgbClr val="111827"/>
                    </a:solidFill>
                    <a:latin typeface="Arial"/>
                  </a:rPr>
                  <a:t> needs </a:t>
                </a:r>
                <a:r>
                  <a:rPr lang="en-IN" sz="2400">
                    <a:solidFill>
                      <a:srgbClr val="111827"/>
                    </a:solidFill>
                    <a:latin typeface="Cambria Math" panose="02040503050406030204" pitchFamily="18" charset="0"/>
                  </a:rPr>
                  <a:t>$x^6=(x^3)^2$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$[x^9]$</a:t>
                </a:r>
                <a:r>
                  <a:rPr sz="2400" b="0">
                    <a:solidFill>
                      <a:srgbClr val="111827"/>
                    </a:solidFill>
                    <a:latin typeface="Arial"/>
                  </a:rPr>
                  <a:t> from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$\binom93\,9^3(-2)^6=84\cdot729\cdot64=3919104$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9</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e>
                    </m:d>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9</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1119744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3919104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1119744</m:t>
                        </m:r>
                      </m:num>
                      <m:den>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9</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5038848</m:t>
                        </m:r>
                      </m:num>
                      <m:den>
                        <m:r>
                          <a:rPr lang="en-IN" sz="2400" i="1">
                            <a:solidFill>
                              <a:srgbClr val="111827"/>
                            </a:solidFill>
                            <a:latin typeface="Cambria Math" panose="02040503050406030204" pitchFamily="18" charset="0"/>
                          </a:rPr>
                          <m:t>10077696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108</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oMath>
                </a14:m>
                <a:r>
                  <a:rPr sz="2400" b="0">
                    <a:solidFill>
                      <a:srgbClr val="111827"/>
                    </a:solidFill>
                    <a:latin typeface="Arial"/>
                  </a:rPr>
                  <a:t>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$[x^9]$</a:t>
                </a:r>
                <a:r>
                  <a:rPr sz="2400" b="0">
                    <a:solidFill>
                      <a:srgbClr val="111827"/>
                    </a:solidFill>
                    <a:latin typeface="Arial"/>
                  </a:rPr>
                  <a:t> from </a:t>
                </a:r>
                <a:r>
                  <a:rPr lang="en-IN" sz="2400">
                    <a:solidFill>
                      <a:srgbClr val="111827"/>
                    </a:solidFill>
                    <a:latin typeface="Cambria Math" panose="02040503050406030204" pitchFamily="18" charset="0"/>
                  </a:rPr>
                  <a:t>$-3x^3$</a:t>
                </a:r>
                <a:r>
                  <a:rPr sz="2400" b="0">
                    <a:solidFill>
                      <a:srgbClr val="111827"/>
                    </a:solidFill>
                    <a:latin typeface="Arial"/>
                  </a:rPr>
                  <a:t>: </a:t>
                </a:r>
                <a:r>
                  <a:rPr lang="en-IN" sz="2400">
                    <a:solidFill>
                      <a:srgbClr val="111827"/>
                    </a:solidFill>
                    <a:latin typeface="Cambria Math" panose="02040503050406030204" pitchFamily="18" charset="0"/>
                  </a:rPr>
                  <a:t>$-3\binom92\,9^2(-2)^7=-3\cdot36\cdot81\cdot(-128)=1119744$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$p=\dfrac{3919104+1119744}{6^9}=\dfrac{5038848}{10077696}=\dfrac12$</a:t>
                </a:r>
                <a:r>
                  <a:rPr sz="2400" b="0">
                    <a:solidFill>
                      <a:srgbClr val="111827"/>
                    </a:solidFill>
                    <a:latin typeface="Arial"/>
                  </a:rPr>
                  <a:t>, so </a:t>
                </a:r>
                <a:r>
                  <a:rPr lang="en-IN" sz="2400">
                    <a:solidFill>
                      <a:srgbClr val="111827"/>
                    </a:solidFill>
                    <a:latin typeface="Cambria Math" panose="02040503050406030204" pitchFamily="18" charset="0"/>
                  </a:rPr>
                  <a:t>$108p=54$</a:t>
                </a:r>
                <a:r>
                  <a:rPr sz="2400" b="0">
                    <a:solidFill>
                      <a:srgbClr val="111827"/>
                    </a:solidFill>
                    <a:latin typeface="Arial"/>
                  </a:rPr>
                  <a:t>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54</a:t>
            </a:r>
            <a:endParaRPr sz="2800">
              <a:solidFill>
                <a:srgbClr val="15803D"/>
              </a:solidFill>
            </a:endParaRP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69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Constant term of a product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oMath>
                </a14:m>
                <a:r>
                  <a:rPr sz="2400" b="0">
                    <a:solidFill>
                      <a:srgbClr val="111827"/>
                    </a:solidFill>
                    <a:latin typeface="Arial"/>
                  </a:rPr>
                  <a:t>; match each term of the first factor with the needed power from the second.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needed power is not attained (here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requires </a:t>
                </a:r>
                <a14:m>
                  <m:oMath xmlns:m="http://schemas.openxmlformats.org/officeDocument/2006/math">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that term contributes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Exponents in the second factor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oMath>
                </a14:m>
                <a:r>
                  <a:rPr sz="2400" b="0">
                    <a:solidFill>
                      <a:srgbClr val="111827"/>
                    </a:solidFill>
                    <a:latin typeface="Arial"/>
                  </a:rPr>
                  <a:t>), so only terms of the first factor with exponent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matter: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108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Constant term of a product </a:t>
                </a:r>
                <a:r>
                  <a:rPr lang="en-IN" sz="2400">
                    <a:solidFill>
                      <a:srgbClr val="111827"/>
                    </a:solidFill>
                    <a:latin typeface="Cambria Math" panose="02040503050406030204" pitchFamily="18" charset="0"/>
                  </a:rPr>
                  <a:t>$f(x)g(x)$</a:t>
                </a:r>
                <a:r>
                  <a:rPr sz="2400" b="0">
                    <a:solidFill>
                      <a:srgbClr val="111827"/>
                    </a:solidFill>
                    <a:latin typeface="Arial"/>
                  </a:rPr>
                  <a:t>: </a:t>
                </a:r>
                <a:r>
                  <a:rPr lang="en-IN" sz="2400">
                    <a:solidFill>
                      <a:srgbClr val="111827"/>
                    </a:solidFill>
                    <a:latin typeface="Cambria Math" panose="02040503050406030204" pitchFamily="18" charset="0"/>
                  </a:rPr>
                  <a:t>$\sum_k[x^k]f\cdot[x^{-k}]g$</a:t>
                </a:r>
                <a:r>
                  <a:rPr sz="2400" b="0">
                    <a:solidFill>
                      <a:srgbClr val="111827"/>
                    </a:solidFill>
                    <a:latin typeface="Arial"/>
                  </a:rPr>
                  <a:t>; match each term of the first factor with the needed power from the second.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needed power is not attained (here </a:t>
                </a:r>
                <a:r>
                  <a:rPr lang="en-IN" sz="2400">
                    <a:solidFill>
                      <a:srgbClr val="111827"/>
                    </a:solidFill>
                    <a:latin typeface="Cambria Math" panose="02040503050406030204" pitchFamily="18" charset="0"/>
                  </a:rPr>
                  <a:t>$x^{-1}$</a:t>
                </a:r>
                <a:r>
                  <a:rPr sz="2400" b="0">
                    <a:solidFill>
                      <a:srgbClr val="111827"/>
                    </a:solidFill>
                    <a:latin typeface="Arial"/>
                  </a:rPr>
                  <a:t> requires </a:t>
                </a:r>
                <a:r>
                  <a:rPr lang="en-IN" sz="2400">
                    <a:solidFill>
                      <a:srgbClr val="111827"/>
                    </a:solidFill>
                    <a:latin typeface="Cambria Math" panose="02040503050406030204" pitchFamily="18" charset="0"/>
                  </a:rPr>
                  <a:t>$18-3r=-1$</a:t>
                </a:r>
                <a:r>
                  <a:rPr sz="2400" b="0">
                    <a:solidFill>
                      <a:srgbClr val="111827"/>
                    </a:solidFill>
                    <a:latin typeface="Arial"/>
                  </a:rPr>
                  <a:t>), that term contributes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Exponents in the second factor are </a:t>
                </a:r>
                <a:r>
                  <a:rPr lang="en-IN" sz="2400">
                    <a:solidFill>
                      <a:srgbClr val="111827"/>
                    </a:solidFill>
                    <a:latin typeface="Cambria Math" panose="02040503050406030204" pitchFamily="18" charset="0"/>
                  </a:rPr>
                  <a:t>$\equiv0\pmod 3$</a:t>
                </a:r>
                <a:r>
                  <a:rPr sz="2400" b="0">
                    <a:solidFill>
                      <a:srgbClr val="111827"/>
                    </a:solidFill>
                    <a:latin typeface="Arial"/>
                  </a:rPr>
                  <a:t> (here </a:t>
                </a:r>
                <a:r>
                  <a:rPr lang="en-IN" sz="2400">
                    <a:solidFill>
                      <a:srgbClr val="111827"/>
                    </a:solidFill>
                    <a:latin typeface="Cambria Math" panose="02040503050406030204" pitchFamily="18" charset="0"/>
                  </a:rPr>
                  <a:t>$18-3r$</a:t>
                </a:r>
                <a:r>
                  <a:rPr sz="2400" b="0">
                    <a:solidFill>
                      <a:srgbClr val="111827"/>
                    </a:solidFill>
                    <a:latin typeface="Arial"/>
                  </a:rPr>
                  <a:t>), so only terms of the first factor with exponent </a:t>
                </a:r>
                <a:r>
                  <a:rPr lang="en-IN" sz="2400">
                    <a:solidFill>
                      <a:srgbClr val="111827"/>
                    </a:solidFill>
                    <a:latin typeface="Cambria Math" panose="02040503050406030204" pitchFamily="18" charset="0"/>
                  </a:rPr>
                  <a:t>$\equiv0\pmod3$</a:t>
                </a:r>
                <a:r>
                  <a:rPr sz="2400" b="0">
                    <a:solidFill>
                      <a:srgbClr val="111827"/>
                    </a:solidFill>
                    <a:latin typeface="Arial"/>
                  </a:rPr>
                  <a:t> matter: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$-3x^3$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$\frac{7}{18}+\frac{1}{9}=\frac12$</a:t>
                </a:r>
                <a:r>
                  <a:rPr sz="2400" b="0">
                    <a:solidFill>
                      <a:srgbClr val="111827"/>
                    </a:solidFill>
                    <a:latin typeface="Arial"/>
                  </a:rPr>
                  <a:t> and </a:t>
                </a:r>
                <a:r>
                  <a:rPr lang="en-IN" sz="2400">
                    <a:solidFill>
                      <a:srgbClr val="111827"/>
                    </a:solidFill>
                    <a:latin typeface="Cambria Math" panose="02040503050406030204" pitchFamily="18" charset="0"/>
                  </a:rPr>
                  <a:t>$108\cdot\frac12=54$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286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36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num>
                      <m:den>
                        <m:r>
                          <a:rPr lang="en-IN" sz="2400" i="1">
                            <a:solidFill>
                              <a:srgbClr val="111827"/>
                            </a:solidFill>
                            <a:latin typeface="Cambria Math" panose="02040503050406030204" pitchFamily="18" charset="0"/>
                          </a:rPr>
                          <m:t>180</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up to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e>
                    </m:d>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are integers with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𝑏</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29286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$1+\dfrac{\sqrt3-\sqrt2}{2\sqrt3}+\dfrac{5-2\sqrt6}{18}+\dfrac{9\sqrt3-11\sqrt2}{36\sqrt3}+\dfrac{49-20\sqrt6}{180}+\dots$</a:t>
                </a:r>
                <a:r>
                  <a:rPr sz="2400" b="0">
                    <a:solidFill>
                      <a:srgbClr val="111827"/>
                    </a:solidFill>
                    <a:latin typeface="Arial"/>
                  </a:rPr>
                  <a:t> up to </a:t>
                </a:r>
                <a:r>
                  <a:rPr lang="en-IN" sz="2400">
                    <a:solidFill>
                      <a:srgbClr val="111827"/>
                    </a:solidFill>
                    <a:latin typeface="Cambria Math" panose="02040503050406030204" pitchFamily="18" charset="0"/>
                  </a:rPr>
                  <a:t>$\infty=2+\left(\sqrt{\dfrac ba}+1\right)\log_e\left(\dfrac ab\right)$</a:t>
                </a:r>
                <a:r>
                  <a:rPr sz="2400" b="0">
                    <a:solidFill>
                      <a:srgbClr val="111827"/>
                    </a:solidFill>
                    <a:latin typeface="Arial"/>
                  </a:rPr>
                  <a:t>, where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are integers with </a:t>
                </a:r>
                <a:r>
                  <a:rPr lang="en-IN" sz="2400">
                    <a:solidFill>
                      <a:srgbClr val="111827"/>
                    </a:solidFill>
                    <a:latin typeface="Cambria Math" panose="02040503050406030204" pitchFamily="18" charset="0"/>
                  </a:rPr>
                  <a:t>$\gcd(a,b)=1$</a:t>
                </a:r>
                <a:r>
                  <a:rPr sz="2400" b="0">
                    <a:solidFill>
                      <a:srgbClr val="111827"/>
                    </a:solidFill>
                    <a:latin typeface="Arial"/>
                  </a:rPr>
                  <a:t>, then </a:t>
                </a:r>
                <a:r>
                  <a:rPr lang="en-IN" sz="2400">
                    <a:solidFill>
                      <a:srgbClr val="111827"/>
                    </a:solidFill>
                    <a:latin typeface="Cambria Math" panose="02040503050406030204" pitchFamily="18" charset="0"/>
                  </a:rPr>
                  <a:t>$11a+18b$</a:t>
                </a:r>
                <a:r>
                  <a:rPr sz="2400" b="0">
                    <a:solidFill>
                      <a:srgbClr val="111827"/>
                    </a:solidFill>
                    <a:latin typeface="Arial"/>
                  </a:rPr>
                  <a:t> is equal to ________.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4437380"/>
                <a:ext cx="10725912" cy="20848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Logarithmic series, Series with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weights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mc:Choice>
        <mc:Fallback>
          <p:sp>
            <p:nvSpPr>
              <p:cNvPr id="5" name="Rectangle 4"/>
              <p:cNvSpPr/>
              <p:nvPr/>
            </p:nvSpPr>
            <p:spPr>
              <a:xfrm>
                <a:off x="731520" y="4437380"/>
                <a:ext cx="10725912" cy="20848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Logarithmic series, Series with </a:t>
                </a:r>
                <a:r>
                  <a:rPr lang="en-IN" sz="2400">
                    <a:solidFill>
                      <a:srgbClr val="111827"/>
                    </a:solidFill>
                    <a:latin typeface="Cambria Math" panose="02040503050406030204" pitchFamily="18" charset="0"/>
                  </a:rPr>
                  <a:t>$\frac{1}{n(n+1)}$</a:t>
                </a:r>
                <a:r>
                  <a:rPr sz="2400" b="0">
                    <a:solidFill>
                      <a:srgbClr val="111827"/>
                    </a:solidFill>
                    <a:latin typeface="Arial"/>
                  </a:rPr>
                  <a:t> weights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mc:Fallback>
      </mc:AlternateContent>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e>
                    </m:rad>
                  </m:oMath>
                </a14:m>
                <a:r>
                  <a:rPr sz="2400" b="0">
                    <a:solidFill>
                      <a:srgbClr val="78350F"/>
                    </a:solidFill>
                    <a:latin typeface="Arial"/>
                  </a:rPr>
                  <a:t> the terms are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𝑛</m:t>
                            </m:r>
                          </m:sup>
                        </m:sSup>
                      </m:num>
                      <m:den>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which split into the series of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ln</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a:t>
                </a:r>
                <a:r>
                  <a:rPr lang="en-IN" sz="2400">
                    <a:solidFill>
                      <a:srgbClr val="78350F"/>
                    </a:solidFill>
                    <a:latin typeface="Cambria Math" panose="02040503050406030204" pitchFamily="18" charset="0"/>
                  </a:rPr>
                  <a:t>$t=1-\sqrt{2/3}$</a:t>
                </a:r>
                <a:r>
                  <a:rPr sz="2400" b="0">
                    <a:solidFill>
                      <a:srgbClr val="78350F"/>
                    </a:solidFill>
                    <a:latin typeface="Arial"/>
                  </a:rPr>
                  <a:t> the terms are </a:t>
                </a:r>
                <a:r>
                  <a:rPr lang="en-IN" sz="2400">
                    <a:solidFill>
                      <a:srgbClr val="78350F"/>
                    </a:solidFill>
                    <a:latin typeface="Cambria Math" panose="02040503050406030204" pitchFamily="18" charset="0"/>
                  </a:rPr>
                  <a:t>$\frac{t^n}{n(n+1)}$</a:t>
                </a:r>
                <a:r>
                  <a:rPr sz="2400" b="0">
                    <a:solidFill>
                      <a:srgbClr val="78350F"/>
                    </a:solidFill>
                    <a:latin typeface="Arial"/>
                  </a:rPr>
                  <a:t>, which split into the series of </a:t>
                </a:r>
                <a:r>
                  <a:rPr lang="en-IN" sz="2400">
                    <a:solidFill>
                      <a:srgbClr val="78350F"/>
                    </a:solidFill>
                    <a:latin typeface="Cambria Math" panose="02040503050406030204" pitchFamily="18" charset="0"/>
                  </a:rPr>
                  <a:t>$-\ln(1-t)$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Then the first term is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num>
                      <m:den>
                        <m:r>
                          <a:rPr lang="en-IN" sz="2400" i="1">
                            <a:solidFill>
                              <a:srgbClr val="111827"/>
                            </a:solidFill>
                            <a:latin typeface="Cambria Math" panose="02040503050406030204" pitchFamily="18" charset="0"/>
                          </a:rPr>
                          <m:t>18</m:t>
                        </m:r>
                      </m:den>
                    </m:f>
                  </m:oMath>
                </a14:m>
                <a:r>
                  <a:rPr sz="2400" b="0">
                    <a:solidFill>
                      <a:srgbClr val="111827"/>
                    </a:solidFill>
                    <a:latin typeface="Arial"/>
                  </a:rPr>
                  <a:t> (second term);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num>
                      <m:den>
                        <m:r>
                          <a:rPr lang="en-IN" sz="2400" i="1">
                            <a:solidFill>
                              <a:srgbClr val="111827"/>
                            </a:solidFill>
                            <a:latin typeface="Cambria Math" panose="02040503050406030204" pitchFamily="18" charset="0"/>
                          </a:rPr>
                          <m:t>9</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36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(third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e>
                    </m:nary>
                  </m:oMath>
                </a14:m>
                <a:r>
                  <a:rPr sz="2400" b="0">
                    <a:solidFill>
                      <a:srgbClr val="111827"/>
                    </a:solidFill>
                    <a:latin typeface="Arial"/>
                  </a:rPr>
                  <a:t>, using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𝑛</m:t>
                            </m:r>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nary>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$t=1-\dfrac{\sqrt2}{\sqrt3}$</a:t>
                </a:r>
                <a:r>
                  <a:rPr sz="2400" b="0">
                    <a:solidFill>
                      <a:srgbClr val="111827"/>
                    </a:solidFill>
                    <a:latin typeface="Arial"/>
                  </a:rPr>
                  <a:t>. Then the first term is </a:t>
                </a:r>
                <a:r>
                  <a:rPr lang="en-IN" sz="2400">
                    <a:solidFill>
                      <a:srgbClr val="111827"/>
                    </a:solidFill>
                    <a:latin typeface="Cambria Math" panose="02040503050406030204" pitchFamily="18" charset="0"/>
                  </a:rPr>
                  <a:t>$\dfrac{\sqrt3-\sqrt2}{2\sqrt3}=\dfrac 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$t^2=\dfrac{5-2\sqrt6}{3}$</a:t>
                </a:r>
                <a:r>
                  <a:rPr sz="2400" b="0">
                    <a:solidFill>
                      <a:srgbClr val="111827"/>
                    </a:solidFill>
                    <a:latin typeface="Arial"/>
                  </a:rPr>
                  <a:t>, so </a:t>
                </a:r>
                <a:r>
                  <a:rPr lang="en-IN" sz="2400">
                    <a:solidFill>
                      <a:srgbClr val="111827"/>
                    </a:solidFill>
                    <a:latin typeface="Cambria Math" panose="02040503050406030204" pitchFamily="18" charset="0"/>
                  </a:rPr>
                  <a:t>$\dfrac{t^2}{6}=\dfrac{5-2\sqrt6}{18}$</a:t>
                </a:r>
                <a:r>
                  <a:rPr sz="2400" b="0">
                    <a:solidFill>
                      <a:srgbClr val="111827"/>
                    </a:solidFill>
                    <a:latin typeface="Arial"/>
                  </a:rPr>
                  <a:t> (second term); </a:t>
                </a:r>
                <a:r>
                  <a:rPr lang="en-IN" sz="2400">
                    <a:solidFill>
                      <a:srgbClr val="111827"/>
                    </a:solidFill>
                    <a:latin typeface="Cambria Math" panose="02040503050406030204" pitchFamily="18" charset="0"/>
                  </a:rPr>
                  <a:t>$t^3=3-\dfrac{11\sqrt6}{9}$</a:t>
                </a:r>
                <a:r>
                  <a:rPr sz="2400" b="0">
                    <a:solidFill>
                      <a:srgbClr val="111827"/>
                    </a:solidFill>
                    <a:latin typeface="Arial"/>
                  </a:rPr>
                  <a:t>, so </a:t>
                </a:r>
                <a:r>
                  <a:rPr lang="en-IN" sz="2400">
                    <a:solidFill>
                      <a:srgbClr val="111827"/>
                    </a:solidFill>
                    <a:latin typeface="Cambria Math" panose="02040503050406030204" pitchFamily="18" charset="0"/>
                  </a:rPr>
                  <a:t>$\dfrac{t^3}{12}=\dfrac{9\sqrt3-11\sqrt2}{36\sqrt3}$</a:t>
                </a:r>
                <a:r>
                  <a:rPr sz="2400" b="0">
                    <a:solidFill>
                      <a:srgbClr val="111827"/>
                    </a:solidFill>
                    <a:latin typeface="Arial"/>
                  </a:rPr>
                  <a:t> (third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$S=1+\dfrac t2+\dfrac{t^2}{6}+\dfrac{t^3}{12}+\dots=1+\sum_{n\ge1}\dfrac{t^n}{n(n+1)}$</a:t>
                </a:r>
                <a:r>
                  <a:rPr sz="2400" b="0">
                    <a:solidFill>
                      <a:srgbClr val="111827"/>
                    </a:solidFill>
                    <a:latin typeface="Arial"/>
                  </a:rPr>
                  <a:t>, using </a:t>
                </a:r>
                <a:r>
                  <a:rPr lang="en-IN" sz="2400">
                    <a:solidFill>
                      <a:srgbClr val="111827"/>
                    </a:solidFill>
                    <a:latin typeface="Cambria Math" panose="02040503050406030204" pitchFamily="18" charset="0"/>
                  </a:rPr>
                  <a:t>$2=1\cdot2$</a:t>
                </a:r>
                <a:r>
                  <a:rPr sz="2400" b="0">
                    <a:solidFill>
                      <a:srgbClr val="111827"/>
                    </a:solidFill>
                    <a:latin typeface="Arial"/>
                  </a:rPr>
                  <a:t>, </a:t>
                </a:r>
                <a:r>
                  <a:rPr lang="en-IN" sz="2400">
                    <a:solidFill>
                      <a:srgbClr val="111827"/>
                    </a:solidFill>
                    <a:latin typeface="Cambria Math" panose="02040503050406030204" pitchFamily="18" charset="0"/>
                  </a:rPr>
                  <a:t>$6=2\cdot3$</a:t>
                </a:r>
                <a:r>
                  <a:rPr sz="2400" b="0">
                    <a:solidFill>
                      <a:srgbClr val="111827"/>
                    </a:solidFill>
                    <a:latin typeface="Arial"/>
                  </a:rPr>
                  <a:t>, </a:t>
                </a:r>
                <a:r>
                  <a:rPr lang="en-IN" sz="2400">
                    <a:solidFill>
                      <a:srgbClr val="111827"/>
                    </a:solidFill>
                    <a:latin typeface="Cambria Math" panose="02040503050406030204" pitchFamily="18" charset="0"/>
                  </a:rPr>
                  <a:t>$12=3\cdot4$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$\dfrac{1}{n(n+1)}=\dfrac1n-\dfrac1{n+1}$</a:t>
                </a:r>
                <a:r>
                  <a:rPr sz="2400" b="0">
                    <a:solidFill>
                      <a:srgbClr val="111827"/>
                    </a:solidFill>
                    <a:latin typeface="Arial"/>
                  </a:rPr>
                  <a:t>: </a:t>
                </a:r>
                <a:r>
                  <a:rPr lang="en-IN" sz="2400">
                    <a:solidFill>
                      <a:srgbClr val="111827"/>
                    </a:solidFill>
                    <a:latin typeface="Cambria Math" panose="02040503050406030204" pitchFamily="18" charset="0"/>
                  </a:rPr>
                  <a:t>$S=1+\sum_{n\ge1}\dfrac{t^n}{n}-\dfrac1t\sum_{n\ge1}\dfrac{t^{n+1}}{n+1}$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𝑛</m:t>
                            </m:r>
                          </m:den>
                        </m:f>
                      </m:e>
                    </m:nary>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nary>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rad>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$\sum_{n\ge1}\dfrac{t^n}{n}=-\ln(1-t)$</a:t>
                </a:r>
                <a:r>
                  <a:rPr sz="2400" b="0">
                    <a:solidFill>
                      <a:srgbClr val="111827"/>
                    </a:solidFill>
                    <a:latin typeface="Arial"/>
                  </a:rPr>
                  <a:t> and </a:t>
                </a:r>
                <a:r>
                  <a:rPr lang="en-IN" sz="2400">
                    <a:solidFill>
                      <a:srgbClr val="111827"/>
                    </a:solidFill>
                    <a:latin typeface="Cambria Math" panose="02040503050406030204" pitchFamily="18" charset="0"/>
                  </a:rPr>
                  <a:t>$\sum_{n\ge1}\dfrac{t^{n+1}}{n+1}=-\ln(1-t)-t$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$S=1-\ln(1-t)+\dfrac1t\ln(1-t)+1=2+\left(\dfrac1t-1\right)\ln(1-t)$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$1-t=\sqrt{\dfrac23}$</a:t>
                </a:r>
                <a:r>
                  <a:rPr sz="2400" b="0">
                    <a:solidFill>
                      <a:srgbClr val="111827"/>
                    </a:solidFill>
                    <a:latin typeface="Arial"/>
                  </a:rPr>
                  <a:t> and </a:t>
                </a:r>
                <a:r>
                  <a:rPr lang="en-IN" sz="2400">
                    <a:solidFill>
                      <a:srgbClr val="111827"/>
                    </a:solidFill>
                    <a:latin typeface="Cambria Math" panose="02040503050406030204" pitchFamily="18" charset="0"/>
                  </a:rPr>
                  <a:t>$\dfrac1t-1=\dfrac{1-t}{t}=\dfrac{\sqrt2}{\sqrt3-\sqrt2}=\sqrt2(\sqrt3+\sqrt2)=\sqrt6+2$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$S=2+(\sqrt6+2)\cdot\dfrac12\ln\dfrac23=2+\left(\sqrt{\dfrac32}+1\right)\ln\dfrac23$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r>
                  <a:rPr lang="en-IN" sz="2400">
                    <a:solidFill>
                      <a:srgbClr val="111827"/>
                    </a:solidFill>
                    <a:latin typeface="Cambria Math" panose="02040503050406030204" pitchFamily="18" charset="0"/>
                  </a:rPr>
                  <a:t>$2+\left(\sqrt{\frac ba}+1\right)\ln\frac ab$</a:t>
                </a:r>
                <a:r>
                  <a:rPr sz="2400" b="0">
                    <a:solidFill>
                      <a:srgbClr val="111827"/>
                    </a:solidFill>
                    <a:latin typeface="Arial"/>
                  </a:rPr>
                  <a:t>: </a:t>
                </a:r>
                <a:r>
                  <a:rPr lang="en-IN" sz="2400">
                    <a:solidFill>
                      <a:srgbClr val="111827"/>
                    </a:solidFill>
                    <a:latin typeface="Cambria Math" panose="02040503050406030204" pitchFamily="18" charset="0"/>
                  </a:rPr>
                  <a:t>$\frac ab=\frac23$</a:t>
                </a:r>
                <a:r>
                  <a:rPr sz="2400" b="0">
                    <a:solidFill>
                      <a:srgbClr val="111827"/>
                    </a:solidFill>
                    <a:latin typeface="Arial"/>
                  </a:rPr>
                  <a:t>, so </a:t>
                </a:r>
                <a:r>
                  <a:rPr lang="en-IN" sz="2400">
                    <a:solidFill>
                      <a:srgbClr val="111827"/>
                    </a:solidFill>
                    <a:latin typeface="Cambria Math" panose="02040503050406030204" pitchFamily="18" charset="0"/>
                  </a:rPr>
                  <a:t>$a=2$</a:t>
                </a:r>
                <a:r>
                  <a:rPr sz="2400" b="0">
                    <a:solidFill>
                      <a:srgbClr val="111827"/>
                    </a:solidFill>
                    <a:latin typeface="Arial"/>
                  </a:rPr>
                  <a:t>, </a:t>
                </a:r>
                <a:r>
                  <a:rPr lang="en-IN" sz="2400">
                    <a:solidFill>
                      <a:srgbClr val="111827"/>
                    </a:solidFill>
                    <a:latin typeface="Cambria Math" panose="02040503050406030204" pitchFamily="18" charset="0"/>
                  </a:rPr>
                  <a:t>$b=3$</a:t>
                </a:r>
                <a:r>
                  <a:rPr sz="2400" b="0">
                    <a:solidFill>
                      <a:srgbClr val="111827"/>
                    </a:solidFill>
                    <a:latin typeface="Arial"/>
                  </a:rPr>
                  <a:t> and </a:t>
                </a:r>
                <a:r>
                  <a:rPr lang="en-IN" sz="2400">
                    <a:solidFill>
                      <a:srgbClr val="111827"/>
                    </a:solidFill>
                    <a:latin typeface="Cambria Math" panose="02040503050406030204" pitchFamily="18" charset="0"/>
                  </a:rPr>
                  <a:t>$11a+18b=22+54=76$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76</a:t>
            </a:r>
            <a:endParaRPr sz="2800">
              <a:solidFill>
                <a:srgbClr val="15803D"/>
              </a:solidFill>
            </a:endParaRP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Integrate twice: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num>
                      <m:den>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has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Integrate twice: </a:t>
                </a:r>
                <a:r>
                  <a:rPr lang="en-IN" sz="2400">
                    <a:solidFill>
                      <a:srgbClr val="78350F"/>
                    </a:solidFill>
                    <a:latin typeface="Cambria Math" panose="02040503050406030204" pitchFamily="18" charset="0"/>
                  </a:rPr>
                  <a:t>$f(t)=\sum\frac{t^{n+1}}{n(n+1)}$</a:t>
                </a:r>
                <a:r>
                  <a:rPr sz="2400" b="0">
                    <a:solidFill>
                      <a:srgbClr val="78350F"/>
                    </a:solidFill>
                    <a:latin typeface="Arial"/>
                  </a:rPr>
                  <a:t> has </a:t>
                </a:r>
                <a:r>
                  <a:rPr lang="en-IN" sz="2400">
                    <a:solidFill>
                      <a:srgbClr val="78350F"/>
                    </a:solidFill>
                    <a:latin typeface="Cambria Math" panose="02040503050406030204" pitchFamily="18" charset="0"/>
                  </a:rPr>
                  <a:t>$f''=\frac1{1-t}$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e>
                    </m:nary>
                  </m:oMath>
                </a14:m>
                <a:r>
                  <a:rPr sz="2400" b="0">
                    <a:solidFill>
                      <a:srgbClr val="111827"/>
                    </a:solidFill>
                    <a:latin typeface="Arial"/>
                  </a:rPr>
                  <a:t>, so that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𝑡</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𝑛</m:t>
                            </m:r>
                          </m:den>
                        </m:f>
                      </m:e>
                    </m:nary>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𝑡</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$f(t)=\sum_{n\ge1}\dfrac{t^{n+1}}{n(n+1)}$</a:t>
                </a:r>
                <a:r>
                  <a:rPr sz="2400" b="0">
                    <a:solidFill>
                      <a:srgbClr val="111827"/>
                    </a:solidFill>
                    <a:latin typeface="Arial"/>
                  </a:rPr>
                  <a:t>, so that </a:t>
                </a:r>
                <a:r>
                  <a:rPr lang="en-IN" sz="2400">
                    <a:solidFill>
                      <a:srgbClr val="111827"/>
                    </a:solidFill>
                    <a:latin typeface="Cambria Math" panose="02040503050406030204" pitchFamily="18" charset="0"/>
                  </a:rPr>
                  <a:t>$S=1+\dfrac{f(t)}{t}$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$f'(t)=\sum_{n\ge1}\dfrac{t^n}{n}=-\ln(1-t)$</a:t>
                </a:r>
                <a:r>
                  <a:rPr sz="2400" b="0">
                    <a:solidFill>
                      <a:srgbClr val="111827"/>
                    </a:solidFill>
                    <a:latin typeface="Arial"/>
                  </a:rPr>
                  <a:t> and </a:t>
                </a:r>
                <a:r>
                  <a:rPr lang="en-IN" sz="2400">
                    <a:solidFill>
                      <a:srgbClr val="111827"/>
                    </a:solidFill>
                    <a:latin typeface="Cambria Math" panose="02040503050406030204" pitchFamily="18" charset="0"/>
                  </a:rPr>
                  <a:t>$f(0)=0$</a:t>
                </a:r>
                <a:r>
                  <a:rPr sz="2400" b="0">
                    <a:solidFill>
                      <a:srgbClr val="111827"/>
                    </a:solidFill>
                    <a:latin typeface="Arial"/>
                  </a:rPr>
                  <a:t>, so </a:t>
                </a:r>
                <a:r>
                  <a:rPr lang="en-IN" sz="2400">
                    <a:solidFill>
                      <a:srgbClr val="111827"/>
                    </a:solidFill>
                    <a:latin typeface="Cambria Math" panose="02040503050406030204" pitchFamily="18" charset="0"/>
                  </a:rPr>
                  <a:t>$f(t)=\int_0^t-\ln(1-s)\,ds=(1-t)\ln(1-t)+t$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same expression as before.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76</m:t>
                    </m:r>
                  </m:oMath>
                </a14:m>
                <a:r>
                  <a:rPr sz="2400" b="0">
                    <a:solidFill>
                      <a:srgbClr val="111827"/>
                    </a:solidFill>
                    <a:latin typeface="Arial"/>
                  </a:rPr>
                  <a:t>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$S=1+\dfrac{(1-t)\ln(1-t)+t}{t}=2+\dfrac{1-t}{t}\ln(1-t)$</a:t>
                </a:r>
                <a:r>
                  <a:rPr sz="2400" b="0">
                    <a:solidFill>
                      <a:srgbClr val="111827"/>
                    </a:solidFill>
                    <a:latin typeface="Arial"/>
                  </a:rPr>
                  <a:t>, the same expression as before.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$1-t=\sqrt{2/3}$</a:t>
                </a:r>
                <a:r>
                  <a:rPr sz="2400" b="0">
                    <a:solidFill>
                      <a:srgbClr val="111827"/>
                    </a:solidFill>
                    <a:latin typeface="Arial"/>
                  </a:rPr>
                  <a:t>, </a:t>
                </a:r>
                <a:r>
                  <a:rPr lang="en-IN" sz="2400">
                    <a:solidFill>
                      <a:srgbClr val="111827"/>
                    </a:solidFill>
                    <a:latin typeface="Cambria Math" panose="02040503050406030204" pitchFamily="18" charset="0"/>
                  </a:rPr>
                  <a:t>$\frac{1-t}{t}=\sqrt6+2$</a:t>
                </a:r>
                <a:r>
                  <a:rPr sz="2400" b="0">
                    <a:solidFill>
                      <a:srgbClr val="111827"/>
                    </a:solidFill>
                    <a:latin typeface="Arial"/>
                  </a:rPr>
                  <a:t> and </a:t>
                </a:r>
                <a:r>
                  <a:rPr lang="en-IN" sz="2400">
                    <a:solidFill>
                      <a:srgbClr val="111827"/>
                    </a:solidFill>
                    <a:latin typeface="Cambria Math" panose="02040503050406030204" pitchFamily="18" charset="0"/>
                  </a:rPr>
                  <a:t>$\ln(1-t)=\frac12\ln\frac23$</a:t>
                </a:r>
                <a:r>
                  <a:rPr sz="2400" b="0">
                    <a:solidFill>
                      <a:srgbClr val="111827"/>
                    </a:solidFill>
                    <a:latin typeface="Arial"/>
                  </a:rPr>
                  <a:t>, giving </a:t>
                </a:r>
                <a:r>
                  <a:rPr lang="en-IN" sz="2400">
                    <a:solidFill>
                      <a:srgbClr val="111827"/>
                    </a:solidFill>
                    <a:latin typeface="Cambria Math" panose="02040503050406030204" pitchFamily="18" charset="0"/>
                  </a:rPr>
                  <a:t>$a=2,\ b=3$</a:t>
                </a:r>
                <a:r>
                  <a:rPr sz="2400" b="0">
                    <a:solidFill>
                      <a:srgbClr val="111827"/>
                    </a:solidFill>
                    <a:latin typeface="Arial"/>
                  </a:rPr>
                  <a:t> and </a:t>
                </a:r>
                <a:r>
                  <a:rPr lang="en-IN" sz="2400">
                    <a:solidFill>
                      <a:srgbClr val="111827"/>
                    </a:solidFill>
                    <a:latin typeface="Cambria Math" panose="02040503050406030204" pitchFamily="18" charset="0"/>
                  </a:rPr>
                  <a:t>$11a+18b=76$</a:t>
                </a:r>
                <a:r>
                  <a:rPr sz="2400" b="0">
                    <a:solidFill>
                      <a:srgbClr val="111827"/>
                    </a:solidFill>
                    <a:latin typeface="Arial"/>
                  </a:rPr>
                  <a:t>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76</a:t>
            </a:r>
            <a:endParaRPr sz="2800">
              <a:solidFill>
                <a:srgbClr val="15803D"/>
              </a:solidFill>
            </a:endParaRP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Partial fractions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reduce such series to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 shifted version.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Recognition cue: numerators that are powers of a common surd such 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with denominators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numerically: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0.1835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0.0918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0.0056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0.0005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1.0979</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0.9021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1.0979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$\sum_{n\ge1}\frac{t^n}{n(n+1)}=1+\frac{(1-t)}{t}\ln(1-t)$</a:t>
                </a:r>
                <a:r>
                  <a:rPr sz="2400" b="0">
                    <a:solidFill>
                      <a:srgbClr val="111827"/>
                    </a:solidFill>
                    <a:latin typeface="Arial"/>
                  </a:rPr>
                  <a:t> for </a:t>
                </a:r>
                <a:r>
                  <a:rPr lang="en-IN" sz="2400">
                    <a:solidFill>
                      <a:srgbClr val="111827"/>
                    </a:solidFill>
                    <a:latin typeface="Cambria Math" panose="02040503050406030204" pitchFamily="18" charset="0"/>
                  </a:rPr>
                  <a:t>$|t|&lt;1$</a:t>
                </a:r>
                <a:r>
                  <a:rPr sz="2400" b="0">
                    <a:solidFill>
                      <a:srgbClr val="111827"/>
                    </a:solidFill>
                    <a:latin typeface="Arial"/>
                  </a:rPr>
                  <a:t>, </a:t>
                </a:r>
                <a:r>
                  <a:rPr lang="en-IN" sz="2400">
                    <a:solidFill>
                      <a:srgbClr val="111827"/>
                    </a:solidFill>
                    <a:latin typeface="Cambria Math" panose="02040503050406030204" pitchFamily="18" charset="0"/>
                  </a:rPr>
                  <a:t>$t\ne0$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Partial fractions </a:t>
                </a:r>
                <a:r>
                  <a:rPr lang="en-IN" sz="2400">
                    <a:solidFill>
                      <a:srgbClr val="111827"/>
                    </a:solidFill>
                    <a:latin typeface="Cambria Math" panose="02040503050406030204" pitchFamily="18" charset="0"/>
                  </a:rPr>
                  <a:t>$\frac1{n(n+1)}=\frac1n-\frac1{n+1}$</a:t>
                </a:r>
                <a:r>
                  <a:rPr sz="2400" b="0">
                    <a:solidFill>
                      <a:srgbClr val="111827"/>
                    </a:solidFill>
                    <a:latin typeface="Arial"/>
                  </a:rPr>
                  <a:t> reduce such series to </a:t>
                </a:r>
                <a:r>
                  <a:rPr lang="en-IN" sz="2400">
                    <a:solidFill>
                      <a:srgbClr val="111827"/>
                    </a:solidFill>
                    <a:latin typeface="Cambria Math" panose="02040503050406030204" pitchFamily="18" charset="0"/>
                  </a:rPr>
                  <a:t>$-\ln(1-t)$</a:t>
                </a:r>
                <a:r>
                  <a:rPr sz="2400" b="0">
                    <a:solidFill>
                      <a:srgbClr val="111827"/>
                    </a:solidFill>
                    <a:latin typeface="Arial"/>
                  </a:rPr>
                  <a:t> and a shifted version.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Recognition cue: numerators that are powers of a common surd such as </a:t>
                </a:r>
                <a:r>
                  <a:rPr lang="en-IN" sz="2400">
                    <a:solidFill>
                      <a:srgbClr val="111827"/>
                    </a:solidFill>
                    <a:latin typeface="Cambria Math" panose="02040503050406030204" pitchFamily="18" charset="0"/>
                  </a:rPr>
                  <a:t>$(1-\sqrt{2/3})^n$</a:t>
                </a:r>
                <a:r>
                  <a:rPr sz="2400" b="0">
                    <a:solidFill>
                      <a:srgbClr val="111827"/>
                    </a:solidFill>
                    <a:latin typeface="Arial"/>
                  </a:rPr>
                  <a:t> with denominators </a:t>
                </a:r>
                <a:r>
                  <a:rPr lang="en-IN" sz="2400">
                    <a:solidFill>
                      <a:srgbClr val="111827"/>
                    </a:solidFill>
                    <a:latin typeface="Cambria Math" panose="02040503050406030204" pitchFamily="18" charset="0"/>
                  </a:rPr>
                  <a:t>$2,6,12,20,\dots$</a:t>
                </a:r>
                <a:r>
                  <a:rPr sz="2400" b="0">
                    <a:solidFill>
                      <a:srgbClr val="111827"/>
                    </a:solidFill>
                    <a:latin typeface="Arial"/>
                  </a:rPr>
                  <a:t> (</a:t>
                </a:r>
                <a:r>
                  <a:rPr lang="en-IN" sz="2400">
                    <a:solidFill>
                      <a:srgbClr val="111827"/>
                    </a:solidFill>
                    <a:latin typeface="Cambria Math" panose="02040503050406030204" pitchFamily="18" charset="0"/>
                  </a:rPr>
                  <a:t>$n(n+1)$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numerically: </a:t>
                </a:r>
                <a:r>
                  <a:rPr lang="en-IN" sz="2400">
                    <a:solidFill>
                      <a:srgbClr val="111827"/>
                    </a:solidFill>
                    <a:latin typeface="Cambria Math" panose="02040503050406030204" pitchFamily="18" charset="0"/>
                  </a:rPr>
                  <a:t>$t\approx0.1835$</a:t>
                </a:r>
                <a:r>
                  <a:rPr sz="2400" b="0">
                    <a:solidFill>
                      <a:srgbClr val="111827"/>
                    </a:solidFill>
                    <a:latin typeface="Arial"/>
                  </a:rPr>
                  <a:t>, </a:t>
                </a:r>
                <a:r>
                  <a:rPr lang="en-IN" sz="2400">
                    <a:solidFill>
                      <a:srgbClr val="111827"/>
                    </a:solidFill>
                    <a:latin typeface="Cambria Math" panose="02040503050406030204" pitchFamily="18" charset="0"/>
                  </a:rPr>
                  <a:t>$S\approx1+0.0918+0.0056+0.0005\approx1.0979$</a:t>
                </a:r>
                <a:r>
                  <a:rPr sz="2400" b="0">
                    <a:solidFill>
                      <a:srgbClr val="111827"/>
                    </a:solidFill>
                    <a:latin typeface="Arial"/>
                  </a:rPr>
                  <a:t> and </a:t>
                </a:r>
                <a:r>
                  <a:rPr lang="en-IN" sz="2400">
                    <a:solidFill>
                      <a:srgbClr val="111827"/>
                    </a:solidFill>
                    <a:latin typeface="Cambria Math" panose="02040503050406030204" pitchFamily="18" charset="0"/>
                  </a:rPr>
                  <a:t>$2+(\sqrt{1.5}+1)\ln(2/3)\approx2-0.9021=1.0979$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second, third and fourth terms in the expansion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135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30</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respectively, then </a:t>
                </a:r>
                <a14:m>
                  <m:oMath xmlns:m="http://schemas.openxmlformats.org/officeDocument/2006/math">
                    <m:r>
                      <a:rPr lang="en-IN" sz="2400" i="1">
                        <a:solidFill>
                          <a:srgbClr val="111827"/>
                        </a:solidFill>
                        <a:latin typeface="Cambria Math" panose="02040503050406030204" pitchFamily="18" charset="0"/>
                      </a:rPr>
                      <m:t>6</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e>
                    </m:d>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second, third and fourth terms in the expansion of </a:t>
                </a:r>
                <a:r>
                  <a:rPr lang="en-IN" sz="2400">
                    <a:solidFill>
                      <a:srgbClr val="111827"/>
                    </a:solidFill>
                    <a:latin typeface="Cambria Math" panose="02040503050406030204" pitchFamily="18" charset="0"/>
                  </a:rPr>
                  <a:t>$(x+y)^n$</a:t>
                </a:r>
                <a:r>
                  <a:rPr sz="2400" b="0">
                    <a:solidFill>
                      <a:srgbClr val="111827"/>
                    </a:solidFill>
                    <a:latin typeface="Arial"/>
                  </a:rPr>
                  <a:t> are </a:t>
                </a:r>
                <a:r>
                  <a:rPr lang="en-IN" sz="2400">
                    <a:solidFill>
                      <a:srgbClr val="111827"/>
                    </a:solidFill>
                    <a:latin typeface="Cambria Math" panose="02040503050406030204" pitchFamily="18" charset="0"/>
                  </a:rPr>
                  <a:t>$135$</a:t>
                </a:r>
                <a:r>
                  <a:rPr sz="2400" b="0">
                    <a:solidFill>
                      <a:srgbClr val="111827"/>
                    </a:solidFill>
                    <a:latin typeface="Arial"/>
                  </a:rPr>
                  <a:t>, </a:t>
                </a:r>
                <a:r>
                  <a:rPr lang="en-IN" sz="2400">
                    <a:solidFill>
                      <a:srgbClr val="111827"/>
                    </a:solidFill>
                    <a:latin typeface="Cambria Math" panose="02040503050406030204" pitchFamily="18" charset="0"/>
                  </a:rPr>
                  <a:t>$30$</a:t>
                </a:r>
                <a:r>
                  <a:rPr sz="2400" b="0">
                    <a:solidFill>
                      <a:srgbClr val="111827"/>
                    </a:solidFill>
                    <a:latin typeface="Arial"/>
                  </a:rPr>
                  <a:t> and </a:t>
                </a:r>
                <a:r>
                  <a:rPr lang="en-IN" sz="2400">
                    <a:solidFill>
                      <a:srgbClr val="111827"/>
                    </a:solidFill>
                    <a:latin typeface="Cambria Math" panose="02040503050406030204" pitchFamily="18" charset="0"/>
                  </a:rPr>
                  <a:t>$\dfrac{10}{3}$</a:t>
                </a:r>
                <a:r>
                  <a:rPr sz="2400" b="0">
                    <a:solidFill>
                      <a:srgbClr val="111827"/>
                    </a:solidFill>
                    <a:latin typeface="Arial"/>
                  </a:rPr>
                  <a:t> respectively, then </a:t>
                </a:r>
                <a:r>
                  <a:rPr lang="en-IN" sz="2400">
                    <a:solidFill>
                      <a:srgbClr val="111827"/>
                    </a:solidFill>
                    <a:latin typeface="Cambria Math" panose="02040503050406030204" pitchFamily="18" charset="0"/>
                  </a:rPr>
                  <a:t>$6\left(n^3+x^2+y\right)$</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25475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Terms of a binomial expansion (ratios of consecutive terms)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Divide consecutive terms to eliminate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 in turn: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 then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𝑦</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Divide consecutive terms to eliminate </a:t>
                </a:r>
                <a:r>
                  <a:rPr lang="en-IN" sz="2400">
                    <a:solidFill>
                      <a:srgbClr val="78350F"/>
                    </a:solidFill>
                    <a:latin typeface="Cambria Math" panose="02040503050406030204" pitchFamily="18" charset="0"/>
                  </a:rPr>
                  <a:t>$x,y$</a:t>
                </a:r>
                <a:r>
                  <a:rPr sz="2400" b="0">
                    <a:solidFill>
                      <a:srgbClr val="78350F"/>
                    </a:solidFill>
                    <a:latin typeface="Arial"/>
                  </a:rPr>
                  <a:t> in turn: </a:t>
                </a:r>
                <a:r>
                  <a:rPr lang="en-IN" sz="2400">
                    <a:solidFill>
                      <a:srgbClr val="78350F"/>
                    </a:solidFill>
                    <a:latin typeface="Cambria Math" panose="02040503050406030204" pitchFamily="18" charset="0"/>
                  </a:rPr>
                  <a:t>$n=5$</a:t>
                </a:r>
                <a:r>
                  <a:rPr sz="2400" b="0">
                    <a:solidFill>
                      <a:srgbClr val="78350F"/>
                    </a:solidFill>
                    <a:latin typeface="Arial"/>
                  </a:rPr>
                  <a:t>, then </a:t>
                </a:r>
                <a:r>
                  <a:rPr lang="en-IN" sz="2400">
                    <a:solidFill>
                      <a:srgbClr val="78350F"/>
                    </a:solidFill>
                    <a:latin typeface="Cambria Math" panose="02040503050406030204" pitchFamily="18" charset="0"/>
                  </a:rPr>
                  <a:t>$\frac xy=9$</a:t>
                </a:r>
                <a:r>
                  <a:rPr sz="2400" b="0">
                    <a:solidFill>
                      <a:srgbClr val="78350F"/>
                    </a:solidFill>
                    <a:latin typeface="Arial"/>
                  </a:rPr>
                  <a:t> and </a:t>
                </a:r>
                <a:r>
                  <a:rPr lang="en-IN" sz="2400">
                    <a:solidFill>
                      <a:srgbClr val="78350F"/>
                    </a:solidFill>
                    <a:latin typeface="Cambria Math" panose="02040503050406030204" pitchFamily="18" charset="0"/>
                  </a:rPr>
                  <a:t>$x=3$</a:t>
                </a:r>
                <a:r>
                  <a:rPr sz="2400" b="0">
                    <a:solidFill>
                      <a:srgbClr val="78350F"/>
                    </a:solidFill>
                    <a:latin typeface="Arial"/>
                  </a:rPr>
                  <a:t>, </a:t>
                </a:r>
                <a:r>
                  <a:rPr lang="en-IN" sz="2400">
                    <a:solidFill>
                      <a:srgbClr val="78350F"/>
                    </a:solidFill>
                    <a:latin typeface="Cambria Math" panose="02040503050406030204" pitchFamily="18" charset="0"/>
                  </a:rPr>
                  <a:t>$y=\frac13$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1</m:t>
                            </m:r>
                          </m:den>
                        </m:f>
                      </m:e>
                    </m:d>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m:t>
                    </m:r>
                  </m:oMath>
                </a14:m>
                <a:r>
                  <a:rPr sz="2400" b="0">
                    <a:solidFill>
                      <a:srgbClr val="111827"/>
                    </a:solidFill>
                    <a:latin typeface="Arial"/>
                  </a:rPr>
                  <a:t> ...(i);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...(ii);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3</m:t>
                            </m:r>
                          </m:den>
                        </m:f>
                      </m:e>
                    </m:d>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(ii):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1</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135</m:t>
                        </m:r>
                      </m:num>
                      <m:den>
                        <m:r>
                          <a:rPr lang="en-IN" sz="2400" i="1">
                            <a:solidFill>
                              <a:srgbClr val="111827"/>
                            </a:solidFill>
                            <a:latin typeface="Cambria Math" panose="02040503050406030204" pitchFamily="18" charset="0"/>
                          </a:rPr>
                          <m:t>30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...(iv)</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(iii):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3</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...(v)</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(iv)</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(v):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1</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3</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 n1x^{n-1}y=135$</a:t>
                </a:r>
                <a:r>
                  <a:rPr sz="2400" b="0">
                    <a:solidFill>
                      <a:srgbClr val="111827"/>
                    </a:solidFill>
                    <a:latin typeface="Arial"/>
                  </a:rPr>
                  <a:t> ...(i); </a:t>
                </a:r>
                <a:r>
                  <a:rPr lang="en-IN" sz="2400">
                    <a:solidFill>
                      <a:srgbClr val="111827"/>
                    </a:solidFill>
                    <a:latin typeface="Cambria Math" panose="02040503050406030204" pitchFamily="18" charset="0"/>
                  </a:rPr>
                  <a:t>$\binom n2x^{n-2}y^2=30$</a:t>
                </a:r>
                <a:r>
                  <a:rPr sz="2400" b="0">
                    <a:solidFill>
                      <a:srgbClr val="111827"/>
                    </a:solidFill>
                    <a:latin typeface="Arial"/>
                  </a:rPr>
                  <a:t> ...(ii); </a:t>
                </a:r>
                <a:r>
                  <a:rPr lang="en-IN" sz="2400">
                    <a:solidFill>
                      <a:srgbClr val="111827"/>
                    </a:solidFill>
                    <a:latin typeface="Cambria Math" panose="02040503050406030204" pitchFamily="18" charset="0"/>
                  </a:rPr>
                  <a:t>$\binom n3x^{n-3}y^3=\dfrac{10}{3}$</a:t>
                </a:r>
                <a:r>
                  <a:rPr sz="2400" b="0">
                    <a:solidFill>
                      <a:srgbClr val="111827"/>
                    </a:solidFill>
                    <a:latin typeface="Arial"/>
                  </a:rPr>
                  <a:t> ...(iii).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a:t>
                </a:r>
                <a:r>
                  <a:rPr lang="en-IN" sz="2400">
                    <a:solidFill>
                      <a:srgbClr val="111827"/>
                    </a:solidFill>
                    <a:latin typeface="Cambria Math" panose="02040503050406030204" pitchFamily="18" charset="0"/>
                  </a:rPr>
                  <a:t>$\div$</a:t>
                </a:r>
                <a:r>
                  <a:rPr sz="2400" b="0">
                    <a:solidFill>
                      <a:srgbClr val="111827"/>
                    </a:solidFill>
                    <a:latin typeface="Arial"/>
                  </a:rPr>
                  <a:t>(ii): </a:t>
                </a:r>
                <a:r>
                  <a:rPr lang="en-IN" sz="2400">
                    <a:solidFill>
                      <a:srgbClr val="111827"/>
                    </a:solidFill>
                    <a:latin typeface="Cambria Math" panose="02040503050406030204" pitchFamily="18" charset="0"/>
                  </a:rPr>
                  <a:t>$\dfrac{\binom n1}{\binom n2}\cdot\dfrac xy=\dfrac{135}{30}=\dfrac92$</a:t>
                </a:r>
                <a:r>
                  <a:rPr sz="2400" b="0">
                    <a:solidFill>
                      <a:srgbClr val="111827"/>
                    </a:solidFill>
                    <a:latin typeface="Arial"/>
                  </a:rPr>
                  <a:t>. ...(iv)</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a:t>
                </a:r>
                <a:r>
                  <a:rPr lang="en-IN" sz="2400">
                    <a:solidFill>
                      <a:srgbClr val="111827"/>
                    </a:solidFill>
                    <a:latin typeface="Cambria Math" panose="02040503050406030204" pitchFamily="18" charset="0"/>
                  </a:rPr>
                  <a:t>$\div$</a:t>
                </a:r>
                <a:r>
                  <a:rPr sz="2400" b="0">
                    <a:solidFill>
                      <a:srgbClr val="111827"/>
                    </a:solidFill>
                    <a:latin typeface="Arial"/>
                  </a:rPr>
                  <a:t>(iii): </a:t>
                </a:r>
                <a:r>
                  <a:rPr lang="en-IN" sz="2400">
                    <a:solidFill>
                      <a:srgbClr val="111827"/>
                    </a:solidFill>
                    <a:latin typeface="Cambria Math" panose="02040503050406030204" pitchFamily="18" charset="0"/>
                  </a:rPr>
                  <a:t>$\dfrac{\binom n2}{\binom n3}\cdot\dfrac xy=\dfrac{30}{10/3}=9$</a:t>
                </a:r>
                <a:r>
                  <a:rPr sz="2400" b="0">
                    <a:solidFill>
                      <a:srgbClr val="111827"/>
                    </a:solidFill>
                    <a:latin typeface="Arial"/>
                  </a:rPr>
                  <a:t>. ...(v)</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(iv)</a:t>
                </a:r>
                <a:r>
                  <a:rPr lang="en-IN" sz="2400">
                    <a:solidFill>
                      <a:srgbClr val="111827"/>
                    </a:solidFill>
                    <a:latin typeface="Cambria Math" panose="02040503050406030204" pitchFamily="18" charset="0"/>
                  </a:rPr>
                  <a:t>$\div$</a:t>
                </a:r>
                <a:r>
                  <a:rPr sz="2400" b="0">
                    <a:solidFill>
                      <a:srgbClr val="111827"/>
                    </a:solidFill>
                    <a:latin typeface="Arial"/>
                  </a:rPr>
                  <a:t>(v): </a:t>
                </a:r>
                <a:r>
                  <a:rPr lang="en-IN" sz="2400">
                    <a:solidFill>
                      <a:srgbClr val="111827"/>
                    </a:solidFill>
                    <a:latin typeface="Cambria Math" panose="02040503050406030204" pitchFamily="18" charset="0"/>
                  </a:rPr>
                  <a:t>$\dfrac{\binom n1\binom n3}{\binom n2\binom n2}=\dfrac12$</a:t>
                </a:r>
                <a:r>
                  <a:rPr sz="2400" b="0">
                    <a:solidFill>
                      <a:srgbClr val="111827"/>
                    </a:solidFill>
                    <a:latin typeface="Arial"/>
                  </a:rPr>
                  <a:t>, i.e. </a:t>
                </a:r>
                <a:r>
                  <a:rPr lang="en-IN" sz="2400">
                    <a:solidFill>
                      <a:srgbClr val="111827"/>
                    </a:solidFill>
                    <a:latin typeface="Cambria Math" panose="02040503050406030204" pitchFamily="18" charset="0"/>
                  </a:rPr>
                  <a:t>$\dfrac{2n\cdot n(n-1)(n-2)}{6}=\left(\dfrac{n(n-1)}{2}\right)^2$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Dividing by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in (v):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in (i): </a:t>
                </a:r>
                <a14:m>
                  <m:oMath xmlns:m="http://schemas.openxmlformats.org/officeDocument/2006/math">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6</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Dividing by </a:t>
                </a:r>
                <a:r>
                  <a:rPr lang="en-IN" sz="2400">
                    <a:solidFill>
                      <a:srgbClr val="111827"/>
                    </a:solidFill>
                    <a:latin typeface="Cambria Math" panose="02040503050406030204" pitchFamily="18" charset="0"/>
                  </a:rPr>
                  <a:t>$\dfrac{n^2(n-1)}{12}$</a:t>
                </a:r>
                <a:r>
                  <a:rPr sz="2400" b="0">
                    <a:solidFill>
                      <a:srgbClr val="111827"/>
                    </a:solidFill>
                    <a:latin typeface="Arial"/>
                  </a:rPr>
                  <a:t>: </a:t>
                </a:r>
                <a:r>
                  <a:rPr lang="en-IN" sz="2400">
                    <a:solidFill>
                      <a:srgbClr val="111827"/>
                    </a:solidFill>
                    <a:latin typeface="Cambria Math" panose="02040503050406030204" pitchFamily="18" charset="0"/>
                  </a:rPr>
                  <a:t>$4(n-2)=3(n-1)$</a:t>
                </a:r>
                <a:r>
                  <a:rPr sz="2400" b="0">
                    <a:solidFill>
                      <a:srgbClr val="111827"/>
                    </a:solidFill>
                    <a:latin typeface="Arial"/>
                  </a:rPr>
                  <a:t>, so </a:t>
                </a:r>
                <a:r>
                  <a:rPr lang="en-IN" sz="2400">
                    <a:solidFill>
                      <a:srgbClr val="111827"/>
                    </a:solidFill>
                    <a:latin typeface="Cambria Math" panose="02040503050406030204" pitchFamily="18" charset="0"/>
                  </a:rPr>
                  <a:t>$n=5$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$n=5$</a:t>
                </a:r>
                <a:r>
                  <a:rPr sz="2400" b="0">
                    <a:solidFill>
                      <a:srgbClr val="111827"/>
                    </a:solidFill>
                    <a:latin typeface="Arial"/>
                  </a:rPr>
                  <a:t> in (v): </a:t>
                </a:r>
                <a:r>
                  <a:rPr lang="en-IN" sz="2400">
                    <a:solidFill>
                      <a:srgbClr val="111827"/>
                    </a:solidFill>
                    <a:latin typeface="Cambria Math" panose="02040503050406030204" pitchFamily="18" charset="0"/>
                  </a:rPr>
                  <a:t>$\dfrac{\binom52}{\binom53}\cdot\dfrac xy=\dfrac xy=9$</a:t>
                </a:r>
                <a:r>
                  <a:rPr sz="2400" b="0">
                    <a:solidFill>
                      <a:srgbClr val="111827"/>
                    </a:solidFill>
                    <a:latin typeface="Arial"/>
                  </a:rPr>
                  <a:t>, so </a:t>
                </a:r>
                <a:r>
                  <a:rPr lang="en-IN" sz="2400">
                    <a:solidFill>
                      <a:srgbClr val="111827"/>
                    </a:solidFill>
                    <a:latin typeface="Cambria Math" panose="02040503050406030204" pitchFamily="18" charset="0"/>
                  </a:rPr>
                  <a:t>$x=9y$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in (i): </a:t>
                </a:r>
                <a:r>
                  <a:rPr lang="en-IN" sz="2400">
                    <a:solidFill>
                      <a:srgbClr val="111827"/>
                    </a:solidFill>
                    <a:latin typeface="Cambria Math" panose="02040503050406030204" pitchFamily="18" charset="0"/>
                  </a:rPr>
                  <a:t>$5x^4y=135\Rightarrow5x^4\cdot\dfrac x9=135\Rightarrow x^5=243\Rightarrow x=3$</a:t>
                </a:r>
                <a:r>
                  <a:rPr sz="2400" b="0">
                    <a:solidFill>
                      <a:srgbClr val="111827"/>
                    </a:solidFill>
                    <a:latin typeface="Arial"/>
                  </a:rPr>
                  <a:t>, </a:t>
                </a:r>
                <a:r>
                  <a:rPr lang="en-IN" sz="2400">
                    <a:solidFill>
                      <a:srgbClr val="111827"/>
                    </a:solidFill>
                    <a:latin typeface="Cambria Math" panose="02040503050406030204" pitchFamily="18" charset="0"/>
                  </a:rPr>
                  <a:t>$y=\dfrac13$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$6\left(n^3+x^2+y\right)=6\left(125+9+\dfrac13\right)=750+54+2=806$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806</a:t>
            </a:r>
            <a:endParaRPr sz="2800">
              <a:solidFill>
                <a:srgbClr val="15803D"/>
              </a:solidFill>
            </a:endParaRP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consecutive-term ratios eliminate one unknown each time.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of ratios: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4</m:t>
                            </m:r>
                          </m:sub>
                        </m:sSub>
                      </m:num>
                      <m:den>
                        <m:sSubSup>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3</m:t>
                            </m:r>
                          </m:sub>
                          <m:sup>
                            <m:r>
                              <a:rPr lang="en-IN" sz="2400" i="1">
                                <a:solidFill>
                                  <a:srgbClr val="111827"/>
                                </a:solidFill>
                                <a:latin typeface="Cambria Math" panose="02040503050406030204" pitchFamily="18" charset="0"/>
                              </a:rPr>
                              <m:t>2</m:t>
                            </m:r>
                          </m:sup>
                        </m:sSub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1</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3</m:t>
                                </m:r>
                              </m:den>
                            </m:f>
                          </m:e>
                        </m:d>
                      </m:num>
                      <m:den>
                        <m:s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independent of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sSup>
                          <m:e>
                            <m:r>
                              <a:rPr lang="en-IN" sz="2400" i="1">
                                <a:solidFill>
                                  <a:srgbClr val="111827"/>
                                </a:solidFill>
                                <a:latin typeface="Cambria Math" panose="02040503050406030204" pitchFamily="18" charset="0"/>
                              </a:rPr>
                              <m:t>30</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e>
                    </m:d>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$(x+y)^n$</a:t>
                </a:r>
                <a:r>
                  <a:rPr sz="2400" b="0">
                    <a:solidFill>
                      <a:srgbClr val="111827"/>
                    </a:solidFill>
                    <a:latin typeface="Arial"/>
                  </a:rPr>
                  <a:t>: </a:t>
                </a:r>
                <a:r>
                  <a:rPr lang="en-IN" sz="2400">
                    <a:solidFill>
                      <a:srgbClr val="111827"/>
                    </a:solidFill>
                    <a:latin typeface="Cambria Math" panose="02040503050406030204" pitchFamily="18" charset="0"/>
                  </a:rPr>
                  <a:t>$\dfrac{T_{r+1}}{T_r}=\dfrac{n-r+1}{r}\cdot\dfrac yx$</a:t>
                </a:r>
                <a:r>
                  <a:rPr sz="2400" b="0">
                    <a:solidFill>
                      <a:srgbClr val="111827"/>
                    </a:solidFill>
                    <a:latin typeface="Arial"/>
                  </a:rPr>
                  <a:t>; consecutive-term ratios eliminate one unknown each time.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of ratios: </a:t>
                </a:r>
                <a:r>
                  <a:rPr lang="en-IN" sz="2400">
                    <a:solidFill>
                      <a:srgbClr val="111827"/>
                    </a:solidFill>
                    <a:latin typeface="Cambria Math" panose="02040503050406030204" pitchFamily="18" charset="0"/>
                  </a:rPr>
                  <a:t>$\dfrac{T_2T_4}{T_3^2}=\dfrac{\binom n1\binom n3}{\binom n2^2}=\dfrac{2(n-2)}{3(n-1)}$</a:t>
                </a:r>
                <a:r>
                  <a:rPr sz="2400" b="0">
                    <a:solidFill>
                      <a:srgbClr val="111827"/>
                    </a:solidFill>
                    <a:latin typeface="Arial"/>
                  </a:rPr>
                  <a:t>, independent of </a:t>
                </a:r>
                <a:r>
                  <a:rPr lang="en-IN" sz="2400">
                    <a:solidFill>
                      <a:srgbClr val="111827"/>
                    </a:solidFill>
                    <a:latin typeface="Cambria Math" panose="02040503050406030204" pitchFamily="18" charset="0"/>
                  </a:rPr>
                  <a:t>$x,y$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$\frac{135\cdot10/3}{30^2}=\frac12=\frac{2(n-2)}{3(n-1)}\Rightarrow n=5$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$\binom52x^3y^2=10\cdot27\cdot\frac19=30$</a:t>
                </a:r>
                <a:r>
                  <a:rPr sz="2400" b="0">
                    <a:solidFill>
                      <a:srgbClr val="111827"/>
                    </a:solidFill>
                    <a:latin typeface="Arial"/>
                  </a:rPr>
                  <a:t> ✓ and </a:t>
                </a:r>
                <a:r>
                  <a:rPr lang="en-IN" sz="2400">
                    <a:solidFill>
                      <a:srgbClr val="111827"/>
                    </a:solidFill>
                    <a:latin typeface="Cambria Math" panose="02040503050406030204" pitchFamily="18" charset="0"/>
                  </a:rPr>
                  <a:t>$\binom53x^2y^3=10\cdot9\cdot\frac1{27}=\frac{10}3$</a:t>
                </a:r>
                <a:r>
                  <a:rPr sz="2400" b="0">
                    <a:solidFill>
                      <a:srgbClr val="111827"/>
                    </a:solidFill>
                    <a:latin typeface="Arial"/>
                  </a:rPr>
                  <a:t> ✓.</a:t>
                </a:r>
                <a:endParaRPr sz="2400">
                  <a:solidFill>
                    <a:srgbClr val="111827"/>
                  </a:solidFill>
                </a:endParaRPr>
              </a:p>
            </p:txBody>
          </p:sp>
        </mc:Fallback>
      </mc:AlternateContent>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3730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nary>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140</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β</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281</m:t>
                    </m:r>
                  </m:oMath>
                </a14:m>
                <a:r>
                  <a:rPr sz="2400" b="0">
                    <a:solidFill>
                      <a:srgbClr val="111827"/>
                    </a:solidFill>
                    <a:latin typeface="Arial"/>
                  </a:rPr>
                  <a:t>, then the value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233730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$\alpha=\sum_{r=0}^{n}\left(4r^2+2r+1\right)\binom nr$</a:t>
                </a:r>
                <a:r>
                  <a:rPr sz="2400" b="0">
                    <a:solidFill>
                      <a:srgbClr val="111827"/>
                    </a:solidFill>
                    <a:latin typeface="Arial"/>
                  </a:rPr>
                  <a:t> and </a:t>
                </a:r>
                <a:r>
                  <a:rPr lang="en-IN" sz="2400">
                    <a:solidFill>
                      <a:srgbClr val="111827"/>
                    </a:solidFill>
                    <a:latin typeface="Cambria Math" panose="02040503050406030204" pitchFamily="18" charset="0"/>
                  </a:rPr>
                  <a:t>$\beta=\left(\sum_{r=0}^{n}\dfrac{\binom nr}{r+1}\right)+\dfrac{1}{n+1}$</a:t>
                </a:r>
                <a:r>
                  <a:rPr sz="2400" b="0">
                    <a:solidFill>
                      <a:srgbClr val="111827"/>
                    </a:solidFill>
                    <a:latin typeface="Arial"/>
                  </a:rPr>
                  <a:t>. If </a:t>
                </a:r>
                <a:r>
                  <a:rPr lang="en-IN" sz="2400">
                    <a:solidFill>
                      <a:srgbClr val="111827"/>
                    </a:solidFill>
                    <a:latin typeface="Cambria Math" panose="02040503050406030204" pitchFamily="18" charset="0"/>
                  </a:rPr>
                  <a:t>$140&lt;\dfrac{2\alpha}{\beta}&lt;281$</a:t>
                </a:r>
                <a:r>
                  <a:rPr sz="2400" b="0">
                    <a:solidFill>
                      <a:srgbClr val="111827"/>
                    </a:solidFill>
                    <a:latin typeface="Arial"/>
                  </a:rPr>
                  <a:t>, then the value of </a:t>
                </a:r>
                <a:r>
                  <a:rPr lang="en-IN" sz="2400">
                    <a:solidFill>
                      <a:srgbClr val="111827"/>
                    </a:solidFill>
                    <a:latin typeface="Cambria Math" panose="02040503050406030204" pitchFamily="18" charset="0"/>
                  </a:rPr>
                  <a:t>$n$</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846068"/>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Binomial coefficient identities (moments), Integration of binomial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num>
                      <m:den>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oMath>
                </a14:m>
                <a:r>
                  <a:rPr sz="2400" b="0">
                    <a:solidFill>
                      <a:srgbClr val="78350F"/>
                    </a:solidFill>
                    <a:latin typeface="Arial"/>
                  </a:rPr>
                  <a:t>, so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α</m:t>
                        </m:r>
                      </m:num>
                      <m:den>
                        <m:r>
                          <a:rPr lang="en-IN" sz="2400" i="1">
                            <a:solidFill>
                              <a:srgbClr val="78350F"/>
                            </a:solidFill>
                            <a:latin typeface="Cambria Math" panose="02040503050406030204" pitchFamily="18" charset="0"/>
                          </a:rPr>
                          <m:t>β</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3</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$\alpha=2^n(n+1)^2$</a:t>
                </a:r>
                <a:r>
                  <a:rPr sz="2400" b="0">
                    <a:solidFill>
                      <a:srgbClr val="78350F"/>
                    </a:solidFill>
                    <a:latin typeface="Arial"/>
                  </a:rPr>
                  <a:t> and </a:t>
                </a:r>
                <a:r>
                  <a:rPr lang="en-IN" sz="2400">
                    <a:solidFill>
                      <a:srgbClr val="78350F"/>
                    </a:solidFill>
                    <a:latin typeface="Cambria Math" panose="02040503050406030204" pitchFamily="18" charset="0"/>
                  </a:rPr>
                  <a:t>$\beta=\frac{2^{n+1}}{n+1}$</a:t>
                </a:r>
                <a:r>
                  <a:rPr sz="2400" b="0">
                    <a:solidFill>
                      <a:srgbClr val="78350F"/>
                    </a:solidFill>
                    <a:latin typeface="Arial"/>
                  </a:rPr>
                  <a:t>, so </a:t>
                </a:r>
                <a:r>
                  <a:rPr lang="en-IN" sz="2400">
                    <a:solidFill>
                      <a:srgbClr val="78350F"/>
                    </a:solidFill>
                    <a:latin typeface="Cambria Math" panose="02040503050406030204" pitchFamily="18" charset="0"/>
                  </a:rPr>
                  <a:t>$\frac{2\alpha}{\beta}=(n+1)^3$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$4r^2+2r+1=4r(r-1)+6r+1$</a:t>
                </a:r>
                <a:r>
                  <a:rPr sz="2400" b="0">
                    <a:solidFill>
                      <a:srgbClr val="111827"/>
                    </a:solidFill>
                    <a:latin typeface="Arial"/>
                  </a:rPr>
                  <a:t>, so </a:t>
                </a:r>
                <a:r>
                  <a:rPr lang="en-IN" sz="2400">
                    <a:solidFill>
                      <a:srgbClr val="111827"/>
                    </a:solidFill>
                    <a:latin typeface="Cambria Math" panose="02040503050406030204" pitchFamily="18" charset="0"/>
                  </a:rPr>
                  <a:t>$\alpha=4\sum r(r-1)\binom nr+6\sum r\binom nr+\sum\binom nr$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r(r-1)\binom nr=n(n-1)2^{n-2}$</a:t>
                </a:r>
                <a:r>
                  <a:rPr sz="2400" b="0">
                    <a:solidFill>
                      <a:srgbClr val="111827"/>
                    </a:solidFill>
                    <a:latin typeface="Arial"/>
                  </a:rPr>
                  <a:t>, </a:t>
                </a:r>
                <a:r>
                  <a:rPr lang="en-IN" sz="2400">
                    <a:solidFill>
                      <a:srgbClr val="111827"/>
                    </a:solidFill>
                    <a:latin typeface="Cambria Math" panose="02040503050406030204" pitchFamily="18" charset="0"/>
                  </a:rPr>
                  <a:t>$\sum r\binom nr=n2^{n-1}$</a:t>
                </a:r>
                <a:r>
                  <a:rPr sz="2400" b="0">
                    <a:solidFill>
                      <a:srgbClr val="111827"/>
                    </a:solidFill>
                    <a:latin typeface="Arial"/>
                  </a:rPr>
                  <a:t>, </a:t>
                </a:r>
                <a:r>
                  <a:rPr lang="en-IN" sz="2400">
                    <a:solidFill>
                      <a:srgbClr val="111827"/>
                    </a:solidFill>
                    <a:latin typeface="Cambria Math" panose="02040503050406030204" pitchFamily="18" charset="0"/>
                  </a:rPr>
                  <a:t>$\sum\binom nr=2^n$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$\alpha=4n(n-1)2^{n-2}+6n2^{n-1}+2^n=2^n\left[n(n-1)+3n+1\right]=2^n(n+1)^2$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$\sum_{r=0}^{n}\dfrac{\binom nr}{r+1}=\dfrac{2^{n+1}-1}{n+1}$</a:t>
                </a:r>
                <a:r>
                  <a:rPr sz="2400" b="0">
                    <a:solidFill>
                      <a:srgbClr val="111827"/>
                    </a:solidFill>
                    <a:latin typeface="Arial"/>
                  </a:rPr>
                  <a:t>, so </a:t>
                </a:r>
                <a:r>
                  <a:rPr lang="en-IN" sz="2400">
                    <a:solidFill>
                      <a:srgbClr val="111827"/>
                    </a:solidFill>
                    <a:latin typeface="Cambria Math" panose="02040503050406030204" pitchFamily="18" charset="0"/>
                  </a:rPr>
                  <a:t>$\beta=\dfrac{2^{n+1}-1}{n+1}+\dfrac1{n+1}=\dfrac{2^{n+1}}{n+1}$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β</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140</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281</m:t>
                    </m:r>
                  </m:oMath>
                </a14:m>
                <a:r>
                  <a:rPr sz="2400" b="0">
                    <a:solidFill>
                      <a:srgbClr val="111827"/>
                    </a:solidFill>
                    <a:latin typeface="Arial"/>
                  </a:rPr>
                  <a:t>: since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140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oMath>
                </a14:m>
                <a:r>
                  <a:rPr sz="2400" b="0">
                    <a:solidFill>
                      <a:srgbClr val="111827"/>
                    </a:solidFill>
                    <a:latin typeface="Arial"/>
                  </a:rPr>
                  <a:t> lies in the range and </a:t>
                </a:r>
                <a14:m>
                  <m:oMath xmlns:m="http://schemas.openxmlformats.org/officeDocument/2006/math">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281</m:t>
                    </m:r>
                  </m:oMath>
                </a14:m>
                <a:r>
                  <a:rPr sz="2400" b="0">
                    <a:solidFill>
                      <a:srgbClr val="111827"/>
                    </a:solidFill>
                    <a:latin typeface="Arial"/>
                  </a:rPr>
                  <a:t>, we get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$\dfrac{2\alpha}{\beta}=\dfrac{2\cdot2^n(n+1)^2\,(n+1)}{2^{n+1}}=(n+1)^3$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$140&lt;(n+1)^3&lt;281$</a:t>
                </a:r>
                <a:r>
                  <a:rPr sz="2400" b="0">
                    <a:solidFill>
                      <a:srgbClr val="111827"/>
                    </a:solidFill>
                    <a:latin typeface="Arial"/>
                  </a:rPr>
                  <a:t>: since </a:t>
                </a:r>
                <a:r>
                  <a:rPr lang="en-IN" sz="2400">
                    <a:solidFill>
                      <a:srgbClr val="111827"/>
                    </a:solidFill>
                    <a:latin typeface="Cambria Math" panose="02040503050406030204" pitchFamily="18" charset="0"/>
                  </a:rPr>
                  <a:t>$5^3=125&lt;140$</a:t>
                </a:r>
                <a:r>
                  <a:rPr sz="2400" b="0">
                    <a:solidFill>
                      <a:srgbClr val="111827"/>
                    </a:solidFill>
                    <a:latin typeface="Arial"/>
                  </a:rPr>
                  <a:t>, </a:t>
                </a:r>
                <a:r>
                  <a:rPr lang="en-IN" sz="2400">
                    <a:solidFill>
                      <a:srgbClr val="111827"/>
                    </a:solidFill>
                    <a:latin typeface="Cambria Math" panose="02040503050406030204" pitchFamily="18" charset="0"/>
                  </a:rPr>
                  <a:t>$6^3=216$</a:t>
                </a:r>
                <a:r>
                  <a:rPr sz="2400" b="0">
                    <a:solidFill>
                      <a:srgbClr val="111827"/>
                    </a:solidFill>
                    <a:latin typeface="Arial"/>
                  </a:rPr>
                  <a:t> lies in the range and </a:t>
                </a:r>
                <a:r>
                  <a:rPr lang="en-IN" sz="2400">
                    <a:solidFill>
                      <a:srgbClr val="111827"/>
                    </a:solidFill>
                    <a:latin typeface="Cambria Math" panose="02040503050406030204" pitchFamily="18" charset="0"/>
                  </a:rPr>
                  <a:t>$7^3=343&gt;281$</a:t>
                </a:r>
                <a:r>
                  <a:rPr sz="2400" b="0">
                    <a:solidFill>
                      <a:srgbClr val="111827"/>
                    </a:solidFill>
                    <a:latin typeface="Arial"/>
                  </a:rPr>
                  <a:t>, we get </a:t>
                </a:r>
                <a:r>
                  <a:rPr lang="en-IN" sz="2400">
                    <a:solidFill>
                      <a:srgbClr val="111827"/>
                    </a:solidFill>
                    <a:latin typeface="Cambria Math" panose="02040503050406030204" pitchFamily="18" charset="0"/>
                  </a:rPr>
                  <a:t>$n+1=6$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$n=5$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a:t>
            </a:r>
            <a:endParaRPr sz="2800">
              <a:solidFill>
                <a:srgbClr val="15803D"/>
              </a:solidFill>
            </a:endParaRP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write polynomial weights in the basis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(integrate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over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 a perfect square times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β</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r\binom nr=n2^{n-1}$</a:t>
                </a:r>
                <a:r>
                  <a:rPr sz="2400" b="0">
                    <a:solidFill>
                      <a:srgbClr val="111827"/>
                    </a:solidFill>
                    <a:latin typeface="Arial"/>
                  </a:rPr>
                  <a:t>, </a:t>
                </a:r>
                <a:r>
                  <a:rPr lang="en-IN" sz="2400">
                    <a:solidFill>
                      <a:srgbClr val="111827"/>
                    </a:solidFill>
                    <a:latin typeface="Cambria Math" panose="02040503050406030204" pitchFamily="18" charset="0"/>
                  </a:rPr>
                  <a:t>$\sum r(r-1)\binom nr=n(n-1)2^{n-2}$</a:t>
                </a:r>
                <a:r>
                  <a:rPr sz="2400" b="0">
                    <a:solidFill>
                      <a:srgbClr val="111827"/>
                    </a:solidFill>
                    <a:latin typeface="Arial"/>
                  </a:rPr>
                  <a:t>; write polynomial weights in the basis </a:t>
                </a:r>
                <a:r>
                  <a:rPr lang="en-IN" sz="2400">
                    <a:solidFill>
                      <a:srgbClr val="111827"/>
                    </a:solidFill>
                    <a:latin typeface="Cambria Math" panose="02040503050406030204" pitchFamily="18" charset="0"/>
                  </a:rPr>
                  <a:t>$1,\ r,\ r(r-1)$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$\sum\frac{\binom nr}{r+1}=\frac{2^{n+1}-1}{n+1}$</a:t>
                </a:r>
                <a:r>
                  <a:rPr sz="2400" b="0">
                    <a:solidFill>
                      <a:srgbClr val="111827"/>
                    </a:solidFill>
                    <a:latin typeface="Arial"/>
                  </a:rPr>
                  <a:t> (integrate </a:t>
                </a:r>
                <a:r>
                  <a:rPr lang="en-IN" sz="2400">
                    <a:solidFill>
                      <a:srgbClr val="111827"/>
                    </a:solidFill>
                    <a:latin typeface="Cambria Math" panose="02040503050406030204" pitchFamily="18" charset="0"/>
                  </a:rPr>
                  <a:t>$(1+x)^n$</a:t>
                </a:r>
                <a:r>
                  <a:rPr sz="2400" b="0">
                    <a:solidFill>
                      <a:srgbClr val="111827"/>
                    </a:solidFill>
                    <a:latin typeface="Arial"/>
                  </a:rPr>
                  <a:t> over </a:t>
                </a:r>
                <a:r>
                  <a:rPr lang="en-IN" sz="2400">
                    <a:solidFill>
                      <a:srgbClr val="111827"/>
                    </a:solidFill>
                    <a:latin typeface="Cambria Math" panose="02040503050406030204" pitchFamily="18" charset="0"/>
                  </a:rPr>
                  <a:t>$[0,1]$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Combine: </a:t>
                </a:r>
                <a:r>
                  <a:rPr lang="en-IN" sz="2400">
                    <a:solidFill>
                      <a:srgbClr val="111827"/>
                    </a:solidFill>
                    <a:latin typeface="Cambria Math" panose="02040503050406030204" pitchFamily="18" charset="0"/>
                  </a:rPr>
                  <a:t>$\sum(4r^2+2r+1)\binom nr=2^n(n+1)^2$</a:t>
                </a:r>
                <a:r>
                  <a:rPr sz="2400" b="0">
                    <a:solidFill>
                      <a:srgbClr val="111827"/>
                    </a:solidFill>
                    <a:latin typeface="Arial"/>
                  </a:rPr>
                  <a:t> — a perfect square times </a:t>
                </a:r>
                <a:r>
                  <a:rPr lang="en-IN" sz="2400">
                    <a:solidFill>
                      <a:srgbClr val="111827"/>
                    </a:solidFill>
                    <a:latin typeface="Cambria Math" panose="02040503050406030204" pitchFamily="18" charset="0"/>
                  </a:rPr>
                  <a:t>$2^n$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$n=1$</a:t>
                </a:r>
                <a:r>
                  <a:rPr sz="2400" b="0">
                    <a:solidFill>
                      <a:srgbClr val="111827"/>
                    </a:solidFill>
                    <a:latin typeface="Arial"/>
                  </a:rPr>
                  <a:t>: </a:t>
                </a:r>
                <a:r>
                  <a:rPr lang="en-IN" sz="2400">
                    <a:solidFill>
                      <a:srgbClr val="111827"/>
                    </a:solidFill>
                    <a:latin typeface="Cambria Math" panose="02040503050406030204" pitchFamily="18" charset="0"/>
                  </a:rPr>
                  <a:t>$\alpha=1+7=8=2\cdot4$</a:t>
                </a:r>
                <a:r>
                  <a:rPr sz="2400" b="0">
                    <a:solidFill>
                      <a:srgbClr val="111827"/>
                    </a:solidFill>
                    <a:latin typeface="Arial"/>
                  </a:rPr>
                  <a:t>; </a:t>
                </a:r>
                <a:r>
                  <a:rPr lang="en-IN" sz="2400">
                    <a:solidFill>
                      <a:srgbClr val="111827"/>
                    </a:solidFill>
                    <a:latin typeface="Cambria Math" panose="02040503050406030204" pitchFamily="18" charset="0"/>
                  </a:rPr>
                  <a:t>$\beta=1+\frac12+\frac12=2$</a:t>
                </a:r>
                <a:r>
                  <a:rPr sz="2400" b="0">
                    <a:solidFill>
                      <a:srgbClr val="111827"/>
                    </a:solidFill>
                    <a:latin typeface="Arial"/>
                  </a:rPr>
                  <a:t>; </a:t>
                </a:r>
                <a:r>
                  <a:rPr lang="en-IN" sz="2400">
                    <a:solidFill>
                      <a:srgbClr val="111827"/>
                    </a:solidFill>
                    <a:latin typeface="Cambria Math" panose="02040503050406030204" pitchFamily="18" charset="0"/>
                  </a:rPr>
                  <a:t>$\frac{2\alpha}{\beta}=8=(1+1)^3$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remainder when </a:t>
                </a:r>
                <a14:m>
                  <m:oMath xmlns:m="http://schemas.openxmlformats.org/officeDocument/2006/math">
                    <m:sSup>
                      <m:e>
                        <m:r>
                          <a:rPr lang="en-IN" sz="2400" i="1">
                            <a:solidFill>
                              <a:srgbClr val="111827"/>
                            </a:solidFill>
                            <a:latin typeface="Cambria Math" panose="02040503050406030204" pitchFamily="18" charset="0"/>
                          </a:rPr>
                          <m:t>428</m:t>
                        </m:r>
                      </m:e>
                      <m:sup>
                        <m:r>
                          <a:rPr lang="en-IN" sz="2400" i="1">
                            <a:solidFill>
                              <a:srgbClr val="111827"/>
                            </a:solidFill>
                            <a:latin typeface="Cambria Math" panose="02040503050406030204" pitchFamily="18" charset="0"/>
                          </a:rPr>
                          <m:t>2024</m:t>
                        </m:r>
                      </m:sup>
                    </m:sSup>
                  </m:oMath>
                </a14:m>
                <a:r>
                  <a:rPr sz="2400" b="0">
                    <a:solidFill>
                      <a:srgbClr val="111827"/>
                    </a:solidFill>
                    <a:latin typeface="Arial"/>
                  </a:rPr>
                  <a:t> is divided by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remainder when </a:t>
                </a:r>
                <a:r>
                  <a:rPr lang="en-IN" sz="2400">
                    <a:solidFill>
                      <a:srgbClr val="111827"/>
                    </a:solidFill>
                    <a:latin typeface="Cambria Math" panose="02040503050406030204" pitchFamily="18" charset="0"/>
                  </a:rPr>
                  <a:t>$428^{2024}$</a:t>
                </a:r>
                <a:r>
                  <a:rPr sz="2400" b="0">
                    <a:solidFill>
                      <a:srgbClr val="111827"/>
                    </a:solidFill>
                    <a:latin typeface="Arial"/>
                  </a:rPr>
                  <a:t> is divided by </a:t>
                </a:r>
                <a:r>
                  <a:rPr lang="en-IN" sz="2400">
                    <a:solidFill>
                      <a:srgbClr val="111827"/>
                    </a:solidFill>
                    <a:latin typeface="Cambria Math" panose="02040503050406030204" pitchFamily="18" charset="0"/>
                  </a:rPr>
                  <a:t>$21$</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Remainder (divisibility) using the binomial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428</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8</m:t>
                        </m:r>
                      </m:e>
                      <m:sup>
                        <m:r>
                          <a:rPr lang="en-IN" sz="2400" i="1">
                            <a:solidFill>
                              <a:srgbClr val="78350F"/>
                            </a:solidFill>
                            <a:latin typeface="Cambria Math" panose="02040503050406030204" pitchFamily="18" charset="0"/>
                          </a:rPr>
                          <m:t>2024</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64</m:t>
                        </m:r>
                      </m:e>
                      <m:sup>
                        <m:r>
                          <a:rPr lang="en-IN" sz="2400" i="1">
                            <a:solidFill>
                              <a:srgbClr val="78350F"/>
                            </a:solidFill>
                            <a:latin typeface="Cambria Math" panose="02040503050406030204" pitchFamily="18" charset="0"/>
                          </a:rPr>
                          <m:t>1012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1012</m:t>
                        </m:r>
                      </m:sup>
                    </m:sSup>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63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$428=21\cdot20+8$</a:t>
                </a:r>
                <a:r>
                  <a:rPr sz="2400" b="0">
                    <a:solidFill>
                      <a:srgbClr val="78350F"/>
                    </a:solidFill>
                    <a:latin typeface="Arial"/>
                  </a:rPr>
                  <a:t> and </a:t>
                </a:r>
                <a:r>
                  <a:rPr lang="en-IN" sz="2400">
                    <a:solidFill>
                      <a:srgbClr val="78350F"/>
                    </a:solidFill>
                    <a:latin typeface="Cambria Math" panose="02040503050406030204" pitchFamily="18" charset="0"/>
                  </a:rPr>
                  <a:t>$8^{2024}=64^{1012}=(63+1)^{1012}$</a:t>
                </a:r>
                <a:r>
                  <a:rPr sz="2400" b="0">
                    <a:solidFill>
                      <a:srgbClr val="78350F"/>
                    </a:solidFill>
                    <a:latin typeface="Arial"/>
                  </a:rPr>
                  <a:t> with </a:t>
                </a:r>
                <a:r>
                  <a:rPr lang="en-IN" sz="2400">
                    <a:solidFill>
                      <a:srgbClr val="78350F"/>
                    </a:solidFill>
                    <a:latin typeface="Cambria Math" panose="02040503050406030204" pitchFamily="18" charset="0"/>
                  </a:rPr>
                  <a:t>$63=21\cdot3$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428</m:t>
                        </m:r>
                      </m:e>
                      <m:sup>
                        <m:r>
                          <a:rPr lang="en-IN" sz="2400" i="1">
                            <a:solidFill>
                              <a:srgbClr val="111827"/>
                            </a:solidFill>
                            <a:latin typeface="Cambria Math" panose="02040503050406030204" pitchFamily="18" charset="0"/>
                          </a:rPr>
                          <m:t>2024</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2024</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2024</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2024</m:t>
                            </m:r>
                          </m:num>
                          <m:den>
                            <m:r>
                              <a:rPr lang="en-IN" sz="2400" i="1">
                                <a:solidFill>
                                  <a:srgbClr val="111827"/>
                                </a:solidFill>
                                <a:latin typeface="Cambria Math" panose="02040503050406030204" pitchFamily="18" charset="0"/>
                              </a:rPr>
                              <m:t>0</m:t>
                            </m:r>
                          </m:den>
                        </m:f>
                      </m:e>
                    </m:d>
                    <m:sSup>
                      <m:e>
                        <m:r>
                          <a:rPr lang="en-IN" sz="2400" i="1">
                            <a:solidFill>
                              <a:srgbClr val="111827"/>
                            </a:solidFill>
                            <a:latin typeface="Cambria Math" panose="02040503050406030204" pitchFamily="18" charset="0"/>
                          </a:rPr>
                          <m:t>420</m:t>
                        </m:r>
                      </m:e>
                      <m:sup>
                        <m:r>
                          <a:rPr lang="en-IN" sz="2400" i="1">
                            <a:solidFill>
                              <a:srgbClr val="111827"/>
                            </a:solidFill>
                            <a:latin typeface="Cambria Math" panose="02040503050406030204" pitchFamily="18" charset="0"/>
                          </a:rPr>
                          <m:t>2024</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2024</m:t>
                            </m:r>
                          </m:num>
                          <m:den>
                            <m:r>
                              <a:rPr lang="en-IN" sz="2400" i="1">
                                <a:solidFill>
                                  <a:srgbClr val="111827"/>
                                </a:solidFill>
                                <a:latin typeface="Cambria Math" panose="02040503050406030204" pitchFamily="18" charset="0"/>
                              </a:rPr>
                              <m:t>2023</m:t>
                            </m:r>
                          </m:den>
                        </m:f>
                      </m:e>
                    </m:d>
                    <m:r>
                      <a:rPr lang="en-IN" sz="2400" i="1">
                        <a:solidFill>
                          <a:srgbClr val="111827"/>
                        </a:solidFill>
                        <a:latin typeface="Cambria Math" panose="02040503050406030204" pitchFamily="18" charset="0"/>
                      </a:rPr>
                      <m:t>420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2023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2024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𝑠𝑜𝑚𝑒 𝑖𝑛𝑡𝑒𝑔𝑒𝑟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2024</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420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it remains to find </a:t>
                </a:r>
                <a14:m>
                  <m:oMath xmlns:m="http://schemas.openxmlformats.org/officeDocument/2006/math">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2024</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$21\times20=420$</a:t>
                </a:r>
                <a:r>
                  <a:rPr sz="2400" b="0">
                    <a:solidFill>
                      <a:srgbClr val="111827"/>
                    </a:solidFill>
                    <a:latin typeface="Arial"/>
                  </a:rPr>
                  <a:t>, so </a:t>
                </a:r>
                <a:r>
                  <a:rPr lang="en-IN" sz="2400">
                    <a:solidFill>
                      <a:srgbClr val="111827"/>
                    </a:solidFill>
                    <a:latin typeface="Cambria Math" panose="02040503050406030204" pitchFamily="18" charset="0"/>
                  </a:rPr>
                  <a:t>$428^{2024}=(420+8)^{2024}$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$(420+8)^{2024}=\binom{2024}{0}420^{2024}+\dots+\binom{2024}{2023}420\cdot8^{2023}+8^{2024}=420\,[\text{some integer}]+8^{2024}$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$420=21\cdot20$</a:t>
                </a:r>
                <a:r>
                  <a:rPr sz="2400" b="0">
                    <a:solidFill>
                      <a:srgbClr val="111827"/>
                    </a:solidFill>
                    <a:latin typeface="Arial"/>
                  </a:rPr>
                  <a:t>, so </a:t>
                </a:r>
                <a:r>
                  <a:rPr lang="en-IN" sz="2400">
                    <a:solidFill>
                      <a:srgbClr val="111827"/>
                    </a:solidFill>
                    <a:latin typeface="Cambria Math" panose="02040503050406030204" pitchFamily="18" charset="0"/>
                  </a:rPr>
                  <a:t>$420\,[\ldots]$</a:t>
                </a:r>
                <a:r>
                  <a:rPr sz="2400" b="0">
                    <a:solidFill>
                      <a:srgbClr val="111827"/>
                    </a:solidFill>
                    <a:latin typeface="Arial"/>
                  </a:rPr>
                  <a:t> is a multiple of </a:t>
                </a:r>
                <a:r>
                  <a:rPr lang="en-IN" sz="2400">
                    <a:solidFill>
                      <a:srgbClr val="111827"/>
                    </a:solidFill>
                    <a:latin typeface="Cambria Math" panose="02040503050406030204" pitchFamily="18" charset="0"/>
                  </a:rPr>
                  <a:t>$21$</a:t>
                </a:r>
                <a:r>
                  <a:rPr sz="2400" b="0">
                    <a:solidFill>
                      <a:srgbClr val="111827"/>
                    </a:solidFill>
                    <a:latin typeface="Arial"/>
                  </a:rPr>
                  <a:t>; it remains to find </a:t>
                </a:r>
                <a:r>
                  <a:rPr lang="en-IN" sz="2400">
                    <a:solidFill>
                      <a:srgbClr val="111827"/>
                    </a:solidFill>
                    <a:latin typeface="Cambria Math" panose="02040503050406030204" pitchFamily="18" charset="0"/>
                  </a:rPr>
                  <a:t>$8^{2024}\bmod21$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2024</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1012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64</m:t>
                        </m:r>
                      </m:e>
                      <m:sup>
                        <m:r>
                          <a:rPr lang="en-IN" sz="2400" i="1">
                            <a:solidFill>
                              <a:srgbClr val="111827"/>
                            </a:solidFill>
                            <a:latin typeface="Cambria Math" panose="02040503050406030204" pitchFamily="18" charset="0"/>
                          </a:rPr>
                          <m:t>1012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1012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1012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𝑠𝑜𝑚𝑒 𝑖𝑛𝑡𝑒𝑔𝑒𝑟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remainder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$8^{2024}=\left(8^2\right)^{1012}=64^{1012}=(63+1)^{1012}$</a:t>
                </a:r>
                <a:r>
                  <a:rPr sz="2400" b="0">
                    <a:solidFill>
                      <a:srgbClr val="111827"/>
                    </a:solidFill>
                    <a:latin typeface="Arial"/>
                  </a:rPr>
                  <a:t> and </a:t>
                </a:r>
                <a:r>
                  <a:rPr lang="en-IN" sz="2400">
                    <a:solidFill>
                      <a:srgbClr val="111827"/>
                    </a:solidFill>
                    <a:latin typeface="Cambria Math" panose="02040503050406030204" pitchFamily="18" charset="0"/>
                  </a:rPr>
                  <a:t>$63=21\cdot3$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$(63+1)^{1012}=63\,[\text{some integer}]+1=21\cdot3\,[\ldots]+1$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remainder is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a:t>
            </a:r>
            <a:endParaRPr sz="2800">
              <a:solidFill>
                <a:srgbClr val="15803D"/>
              </a:solidFill>
            </a:endParaRP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Chinese remainder theorem: find the remainders modulo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and modulo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Chinese remainder theorem: find the remainders modulo </a:t>
                </a:r>
                <a:r>
                  <a:rPr lang="en-IN" sz="2400">
                    <a:solidFill>
                      <a:srgbClr val="78350F"/>
                    </a:solidFill>
                    <a:latin typeface="Cambria Math" panose="02040503050406030204" pitchFamily="18" charset="0"/>
                  </a:rPr>
                  <a:t>$3$</a:t>
                </a:r>
                <a:r>
                  <a:rPr sz="2400" b="0">
                    <a:solidFill>
                      <a:srgbClr val="78350F"/>
                    </a:solidFill>
                    <a:latin typeface="Arial"/>
                  </a:rPr>
                  <a:t> and modulo </a:t>
                </a:r>
                <a:r>
                  <a:rPr lang="en-IN" sz="2400">
                    <a:solidFill>
                      <a:srgbClr val="78350F"/>
                    </a:solidFill>
                    <a:latin typeface="Cambria Math" panose="02040503050406030204" pitchFamily="18" charset="0"/>
                  </a:rPr>
                  <a:t>$7$</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428</m:t>
                        </m:r>
                      </m:e>
                      <m:sup>
                        <m:r>
                          <a:rPr lang="en-IN" sz="2400" i="1">
                            <a:solidFill>
                              <a:srgbClr val="111827"/>
                            </a:solidFill>
                            <a:latin typeface="Cambria Math" panose="02040503050406030204" pitchFamily="18" charset="0"/>
                          </a:rPr>
                          <m:t>2024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2024</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e>
                        </m:d>
                      </m:e>
                      <m:sup>
                        <m:r>
                          <a:rPr lang="en-IN" sz="2400" i="1">
                            <a:solidFill>
                              <a:srgbClr val="111827"/>
                            </a:solidFill>
                            <a:latin typeface="Cambria Math" panose="02040503050406030204" pitchFamily="18" charset="0"/>
                          </a:rPr>
                          <m:t>1012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428</m:t>
                        </m:r>
                      </m:e>
                      <m:sup>
                        <m:r>
                          <a:rPr lang="en-IN" sz="2400" i="1">
                            <a:solidFill>
                              <a:srgbClr val="111827"/>
                            </a:solidFill>
                            <a:latin typeface="Cambria Math" panose="02040503050406030204" pitchFamily="18" charset="0"/>
                          </a:rPr>
                          <m:t>2024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modulo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modulo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remainder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$428=3\cdot142+2\equiv2\pmod3$</a:t>
                </a:r>
                <a:r>
                  <a:rPr sz="2400" b="0">
                    <a:solidFill>
                      <a:srgbClr val="111827"/>
                    </a:solidFill>
                    <a:latin typeface="Arial"/>
                  </a:rPr>
                  <a:t>, so </a:t>
                </a:r>
                <a:r>
                  <a:rPr lang="en-IN" sz="2400">
                    <a:solidFill>
                      <a:srgbClr val="111827"/>
                    </a:solidFill>
                    <a:latin typeface="Cambria Math" panose="02040503050406030204" pitchFamily="18" charset="0"/>
                  </a:rPr>
                  <a:t>$428^{2024}\equiv2^{2024}=\left(2^2\right)^{1012}\equiv1\pmod 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$428=7\cdot61+1\equiv1\pmod7$</a:t>
                </a:r>
                <a:r>
                  <a:rPr sz="2400" b="0">
                    <a:solidFill>
                      <a:srgbClr val="111827"/>
                    </a:solidFill>
                    <a:latin typeface="Arial"/>
                  </a:rPr>
                  <a:t>, so </a:t>
                </a:r>
                <a:r>
                  <a:rPr lang="en-IN" sz="2400">
                    <a:solidFill>
                      <a:srgbClr val="111827"/>
                    </a:solidFill>
                    <a:latin typeface="Cambria Math" panose="02040503050406030204" pitchFamily="18" charset="0"/>
                  </a:rPr>
                  <a:t>$428^{2024}\equiv1\pmod7$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number </a:t>
                </a:r>
                <a:r>
                  <a:rPr lang="en-IN" sz="2400">
                    <a:solidFill>
                      <a:srgbClr val="111827"/>
                    </a:solidFill>
                    <a:latin typeface="Cambria Math" panose="02040503050406030204" pitchFamily="18" charset="0"/>
                  </a:rPr>
                  <a:t>$\equiv1$</a:t>
                </a:r>
                <a:r>
                  <a:rPr sz="2400" b="0">
                    <a:solidFill>
                      <a:srgbClr val="111827"/>
                    </a:solidFill>
                    <a:latin typeface="Arial"/>
                  </a:rPr>
                  <a:t> modulo </a:t>
                </a:r>
                <a:r>
                  <a:rPr lang="en-IN" sz="2400">
                    <a:solidFill>
                      <a:srgbClr val="111827"/>
                    </a:solidFill>
                    <a:latin typeface="Cambria Math" panose="02040503050406030204" pitchFamily="18" charset="0"/>
                  </a:rPr>
                  <a:t>$3$</a:t>
                </a:r>
                <a:r>
                  <a:rPr sz="2400" b="0">
                    <a:solidFill>
                      <a:srgbClr val="111827"/>
                    </a:solidFill>
                    <a:latin typeface="Arial"/>
                  </a:rPr>
                  <a:t> and modulo </a:t>
                </a:r>
                <a:r>
                  <a:rPr lang="en-IN" sz="2400">
                    <a:solidFill>
                      <a:srgbClr val="111827"/>
                    </a:solidFill>
                    <a:latin typeface="Cambria Math" panose="02040503050406030204" pitchFamily="18" charset="0"/>
                  </a:rPr>
                  <a:t>$7$</a:t>
                </a:r>
                <a:r>
                  <a:rPr sz="2400" b="0">
                    <a:solidFill>
                      <a:srgbClr val="111827"/>
                    </a:solidFill>
                    <a:latin typeface="Arial"/>
                  </a:rPr>
                  <a:t> is </a:t>
                </a:r>
                <a:r>
                  <a:rPr lang="en-IN" sz="2400">
                    <a:solidFill>
                      <a:srgbClr val="111827"/>
                    </a:solidFill>
                    <a:latin typeface="Cambria Math" panose="02040503050406030204" pitchFamily="18" charset="0"/>
                  </a:rPr>
                  <a:t>$\equiv1\pmod{21}$</a:t>
                </a:r>
                <a:r>
                  <a:rPr sz="2400" b="0">
                    <a:solidFill>
                      <a:srgbClr val="111827"/>
                    </a:solidFill>
                    <a:latin typeface="Arial"/>
                  </a:rPr>
                  <a:t>, so the remainder is </a:t>
                </a:r>
                <a:r>
                  <a:rPr lang="en-IN" sz="2400">
                    <a:solidFill>
                      <a:srgbClr val="111827"/>
                    </a:solidFill>
                    <a:latin typeface="Cambria Math" panose="02040503050406030204" pitchFamily="18" charset="0"/>
                  </a:rPr>
                  <a:t>$1$</a:t>
                </a:r>
                <a:r>
                  <a:rPr sz="2400" b="0">
                    <a:solidFill>
                      <a:srgbClr val="111827"/>
                    </a:solidFill>
                    <a:latin typeface="Arial"/>
                  </a:rPr>
                  <a:t> (same answer).</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a:t>
            </a:r>
            <a:endParaRPr sz="2800">
              <a:solidFill>
                <a:srgbClr val="15803D"/>
              </a:solidFill>
            </a:endParaRP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73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𝑁</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also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𝑁</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composite modulus </a:t>
                </a:r>
                <a14:m>
                  <m:oMath xmlns:m="http://schemas.openxmlformats.org/officeDocument/2006/math">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work separately modulo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and recombine (CRT).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has order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modulo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$a\equiv1\pmod m$</a:t>
                </a:r>
                <a:r>
                  <a:rPr sz="2400" b="0">
                    <a:solidFill>
                      <a:srgbClr val="111827"/>
                    </a:solidFill>
                    <a:latin typeface="Arial"/>
                  </a:rPr>
                  <a:t> then </a:t>
                </a:r>
                <a:r>
                  <a:rPr lang="en-IN" sz="2400">
                    <a:solidFill>
                      <a:srgbClr val="111827"/>
                    </a:solidFill>
                    <a:latin typeface="Cambria Math" panose="02040503050406030204" pitchFamily="18" charset="0"/>
                  </a:rPr>
                  <a:t>$a^N\equiv1$</a:t>
                </a:r>
                <a:r>
                  <a:rPr sz="2400" b="0">
                    <a:solidFill>
                      <a:srgbClr val="111827"/>
                    </a:solidFill>
                    <a:latin typeface="Arial"/>
                  </a:rPr>
                  <a:t>; also </a:t>
                </a:r>
                <a:r>
                  <a:rPr lang="en-IN" sz="2400">
                    <a:solidFill>
                      <a:srgbClr val="111827"/>
                    </a:solidFill>
                    <a:latin typeface="Cambria Math" panose="02040503050406030204" pitchFamily="18" charset="0"/>
                  </a:rPr>
                  <a:t>$a\equiv-1$</a:t>
                </a:r>
                <a:r>
                  <a:rPr sz="2400" b="0">
                    <a:solidFill>
                      <a:srgbClr val="111827"/>
                    </a:solidFill>
                    <a:latin typeface="Arial"/>
                  </a:rPr>
                  <a:t> gives </a:t>
                </a:r>
                <a:r>
                  <a:rPr lang="en-IN" sz="2400">
                    <a:solidFill>
                      <a:srgbClr val="111827"/>
                    </a:solidFill>
                    <a:latin typeface="Cambria Math" panose="02040503050406030204" pitchFamily="18" charset="0"/>
                  </a:rPr>
                  <a:t>$(-1)^N$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composite modulus </a:t>
                </a:r>
                <a:r>
                  <a:rPr lang="en-IN" sz="2400">
                    <a:solidFill>
                      <a:srgbClr val="111827"/>
                    </a:solidFill>
                    <a:latin typeface="Cambria Math" panose="02040503050406030204" pitchFamily="18" charset="0"/>
                  </a:rPr>
                  <a:t>$21=3\cdot7$</a:t>
                </a:r>
                <a:r>
                  <a:rPr sz="2400" b="0">
                    <a:solidFill>
                      <a:srgbClr val="111827"/>
                    </a:solidFill>
                    <a:latin typeface="Arial"/>
                  </a:rPr>
                  <a:t> work separately modulo </a:t>
                </a:r>
                <a:r>
                  <a:rPr lang="en-IN" sz="2400">
                    <a:solidFill>
                      <a:srgbClr val="111827"/>
                    </a:solidFill>
                    <a:latin typeface="Cambria Math" panose="02040503050406030204" pitchFamily="18" charset="0"/>
                  </a:rPr>
                  <a:t>$3$</a:t>
                </a:r>
                <a:r>
                  <a:rPr sz="2400" b="0">
                    <a:solidFill>
                      <a:srgbClr val="111827"/>
                    </a:solidFill>
                    <a:latin typeface="Arial"/>
                  </a:rPr>
                  <a:t> and </a:t>
                </a:r>
                <a:r>
                  <a:rPr lang="en-IN" sz="2400">
                    <a:solidFill>
                      <a:srgbClr val="111827"/>
                    </a:solidFill>
                    <a:latin typeface="Cambria Math" panose="02040503050406030204" pitchFamily="18" charset="0"/>
                  </a:rPr>
                  <a:t>$7$</a:t>
                </a:r>
                <a:r>
                  <a:rPr sz="2400" b="0">
                    <a:solidFill>
                      <a:srgbClr val="111827"/>
                    </a:solidFill>
                    <a:latin typeface="Arial"/>
                  </a:rPr>
                  <a:t> and recombine (CRT).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$428\equiv8\pmod{21}$</a:t>
                </a:r>
                <a:r>
                  <a:rPr sz="2400" b="0">
                    <a:solidFill>
                      <a:srgbClr val="111827"/>
                    </a:solidFill>
                    <a:latin typeface="Arial"/>
                  </a:rPr>
                  <a:t> and </a:t>
                </a:r>
                <a:r>
                  <a:rPr lang="en-IN" sz="2400">
                    <a:solidFill>
                      <a:srgbClr val="111827"/>
                    </a:solidFill>
                    <a:latin typeface="Cambria Math" panose="02040503050406030204" pitchFamily="18" charset="0"/>
                  </a:rPr>
                  <a:t>$8^2=64\equiv1\pmod{21}$</a:t>
                </a:r>
                <a:r>
                  <a:rPr sz="2400" b="0">
                    <a:solidFill>
                      <a:srgbClr val="111827"/>
                    </a:solidFill>
                    <a:latin typeface="Arial"/>
                  </a:rPr>
                  <a:t>, so </a:t>
                </a:r>
                <a:r>
                  <a:rPr lang="en-IN" sz="2400">
                    <a:solidFill>
                      <a:srgbClr val="111827"/>
                    </a:solidFill>
                    <a:latin typeface="Cambria Math" panose="02040503050406030204" pitchFamily="18" charset="0"/>
                  </a:rPr>
                  <a:t>$8$</a:t>
                </a:r>
                <a:r>
                  <a:rPr sz="2400" b="0">
                    <a:solidFill>
                      <a:srgbClr val="111827"/>
                    </a:solidFill>
                    <a:latin typeface="Arial"/>
                  </a:rPr>
                  <a:t> has order </a:t>
                </a:r>
                <a:r>
                  <a:rPr lang="en-IN" sz="2400">
                    <a:solidFill>
                      <a:srgbClr val="111827"/>
                    </a:solidFill>
                    <a:latin typeface="Cambria Math" panose="02040503050406030204" pitchFamily="18" charset="0"/>
                  </a:rPr>
                  <a:t>$2$</a:t>
                </a:r>
                <a:r>
                  <a:rPr sz="2400" b="0">
                    <a:solidFill>
                      <a:srgbClr val="111827"/>
                    </a:solidFill>
                    <a:latin typeface="Arial"/>
                  </a:rPr>
                  <a:t> modulo </a:t>
                </a:r>
                <a:r>
                  <a:rPr lang="en-IN" sz="2400">
                    <a:solidFill>
                      <a:srgbClr val="111827"/>
                    </a:solidFill>
                    <a:latin typeface="Cambria Math" panose="02040503050406030204" pitchFamily="18" charset="0"/>
                  </a:rPr>
                  <a:t>$21$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$64=3\cdot21+1$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(5/15)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(6/15)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(7/15)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31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33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(8/15)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36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38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40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(9/15)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41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43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44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(10/15)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46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47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48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50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(11/15)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51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52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53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(12/15)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56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58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59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60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bl>
          </a:graphicData>
        </a:graphic>
      </p:graphicFrame>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(13/15)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61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62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63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64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65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(14/15)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66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67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68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69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(15/15)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70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r h="868680">
                <a:tc>
                  <a:txBody>
                    <a:bodyPr/>
                    <a:lstStyle/>
                    <a:p>
                      <a:pPr algn="ctr"/>
                      <a:r>
                        <a:rPr sz="2400" b="1">
                          <a:solidFill>
                            <a:srgbClr val="111827"/>
                          </a:solidFill>
                          <a:latin typeface="Arial"/>
                        </a:rPr>
                        <a:t>71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72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73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1.90</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23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36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12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2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73 questions, 292 marks.  Index = Σ(marks × level) ÷ Σ marks, on the 0-5 scale.</a:t>
            </a:r>
            <a:endParaRPr sz="2400">
              <a:solidFill>
                <a:srgbClr val="111827"/>
              </a:solidFill>
            </a:endParaRP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Binomial Theorem JM Sheet</a:t>
                      </a:r>
                    </a:p>
                  </a:txBody>
                  <a:tcPr anchor="ctr" marL="137160" marR="137160">
                    <a:solidFill>
                      <a:srgbClr val="E0ECFF"/>
                    </a:solidFill>
                  </a:tcPr>
                </a:tc>
                <a:tc>
                  <a:txBody>
                    <a:bodyPr/>
                    <a:lstStyle/>
                    <a:p>
                      <a:pPr algn="ctr"/>
                      <a:r>
                        <a:rPr sz="2600" b="1">
                          <a:solidFill>
                            <a:srgbClr val="0B1F3A"/>
                          </a:solidFill>
                          <a:latin typeface="Arial"/>
                        </a:rPr>
                        <a:t>1.90</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