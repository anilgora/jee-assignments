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 id="391" r:id="rId143"/>
    <p:sldId id="392" r:id="rId144"/>
    <p:sldId id="393" r:id="rId145"/>
    <p:sldId id="394" r:id="rId146"/>
    <p:sldId id="395" r:id="rId147"/>
    <p:sldId id="396" r:id="rId148"/>
    <p:sldId id="397" r:id="rId149"/>
    <p:sldId id="398" r:id="rId150"/>
    <p:sldId id="399" r:id="rId151"/>
    <p:sldId id="400" r:id="rId152"/>
    <p:sldId id="401" r:id="rId153"/>
    <p:sldId id="402" r:id="rId154"/>
    <p:sldId id="403" r:id="rId155"/>
    <p:sldId id="404" r:id="rId156"/>
    <p:sldId id="405" r:id="rId157"/>
    <p:sldId id="406" r:id="rId158"/>
    <p:sldId id="407" r:id="rId159"/>
    <p:sldId id="408" r:id="rId160"/>
    <p:sldId id="409" r:id="rId161"/>
    <p:sldId id="410" r:id="rId16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 Id="rId135" Type="http://schemas.openxmlformats.org/officeDocument/2006/relationships/slide" Target="slides/slide128.xml"/><Relationship Id="rId136" Type="http://schemas.openxmlformats.org/officeDocument/2006/relationships/slide" Target="slides/slide129.xml"/><Relationship Id="rId137" Type="http://schemas.openxmlformats.org/officeDocument/2006/relationships/slide" Target="slides/slide130.xml"/><Relationship Id="rId138" Type="http://schemas.openxmlformats.org/officeDocument/2006/relationships/slide" Target="slides/slide131.xml"/><Relationship Id="rId139" Type="http://schemas.openxmlformats.org/officeDocument/2006/relationships/slide" Target="slides/slide132.xml"/><Relationship Id="rId140" Type="http://schemas.openxmlformats.org/officeDocument/2006/relationships/slide" Target="slides/slide133.xml"/><Relationship Id="rId141" Type="http://schemas.openxmlformats.org/officeDocument/2006/relationships/slide" Target="slides/slide134.xml"/><Relationship Id="rId142" Type="http://schemas.openxmlformats.org/officeDocument/2006/relationships/slide" Target="slides/slide135.xml"/><Relationship Id="rId143" Type="http://schemas.openxmlformats.org/officeDocument/2006/relationships/slide" Target="slides/slide136.xml"/><Relationship Id="rId144" Type="http://schemas.openxmlformats.org/officeDocument/2006/relationships/slide" Target="slides/slide137.xml"/><Relationship Id="rId145" Type="http://schemas.openxmlformats.org/officeDocument/2006/relationships/slide" Target="slides/slide138.xml"/><Relationship Id="rId146" Type="http://schemas.openxmlformats.org/officeDocument/2006/relationships/slide" Target="slides/slide139.xml"/><Relationship Id="rId147" Type="http://schemas.openxmlformats.org/officeDocument/2006/relationships/slide" Target="slides/slide140.xml"/><Relationship Id="rId148" Type="http://schemas.openxmlformats.org/officeDocument/2006/relationships/slide" Target="slides/slide141.xml"/><Relationship Id="rId149" Type="http://schemas.openxmlformats.org/officeDocument/2006/relationships/slide" Target="slides/slide142.xml"/><Relationship Id="rId150" Type="http://schemas.openxmlformats.org/officeDocument/2006/relationships/slide" Target="slides/slide143.xml"/><Relationship Id="rId151" Type="http://schemas.openxmlformats.org/officeDocument/2006/relationships/slide" Target="slides/slide144.xml"/><Relationship Id="rId152" Type="http://schemas.openxmlformats.org/officeDocument/2006/relationships/slide" Target="slides/slide145.xml"/><Relationship Id="rId153" Type="http://schemas.openxmlformats.org/officeDocument/2006/relationships/slide" Target="slides/slide146.xml"/><Relationship Id="rId154" Type="http://schemas.openxmlformats.org/officeDocument/2006/relationships/slide" Target="slides/slide147.xml"/><Relationship Id="rId155" Type="http://schemas.openxmlformats.org/officeDocument/2006/relationships/slide" Target="slides/slide148.xml"/><Relationship Id="rId156" Type="http://schemas.openxmlformats.org/officeDocument/2006/relationships/slide" Target="slides/slide149.xml"/><Relationship Id="rId157" Type="http://schemas.openxmlformats.org/officeDocument/2006/relationships/slide" Target="slides/slide150.xml"/><Relationship Id="rId158" Type="http://schemas.openxmlformats.org/officeDocument/2006/relationships/slide" Target="slides/slide151.xml"/><Relationship Id="rId159" Type="http://schemas.openxmlformats.org/officeDocument/2006/relationships/slide" Target="slides/slide152.xml"/><Relationship Id="rId160" Type="http://schemas.openxmlformats.org/officeDocument/2006/relationships/slide" Target="slides/slide153.xml"/><Relationship Id="rId161" Type="http://schemas.openxmlformats.org/officeDocument/2006/relationships/slide" Target="slides/slide154.xml"/><Relationship Id="rId162" Type="http://schemas.openxmlformats.org/officeDocument/2006/relationships/slide" Target="slides/slide15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Level</c:v>
                </c:pt>
              </c:strCache>
            </c:strRef>
          </c:tx>
          <c:dPt>
            <c:idx val="0"/>
            <c:spPr>
              <a:solidFill>
                <a:srgbClr val="F6B26B"/>
              </a:solidFill>
              <a:ln w="9525">
                <a:solidFill>
                  <a:srgbClr val="111827"/>
                </a:solidFill>
              </a:ln>
            </c:spPr>
          </c:dPt>
          <c:dPt>
            <c:idx val="1"/>
            <c:spPr>
              <a:solidFill>
                <a:srgbClr val="FFD966"/>
              </a:solidFill>
              <a:ln w="9525">
                <a:solidFill>
                  <a:srgbClr val="111827"/>
                </a:solidFill>
              </a:ln>
            </c:spPr>
          </c:dPt>
          <c:dPt>
            <c:idx val="2"/>
            <c:spPr>
              <a:solidFill>
                <a:srgbClr val="F6B26B"/>
              </a:solidFill>
              <a:ln w="9525">
                <a:solidFill>
                  <a:srgbClr val="111827"/>
                </a:solidFill>
              </a:ln>
            </c:spPr>
          </c:dPt>
          <c:dPt>
            <c:idx val="3"/>
            <c:spPr>
              <a:solidFill>
                <a:srgbClr val="B6D7A8"/>
              </a:solidFill>
              <a:ln w="9525">
                <a:solidFill>
                  <a:srgbClr val="111827"/>
                </a:solidFill>
              </a:ln>
            </c:spPr>
          </c:dPt>
          <c:dPt>
            <c:idx val="4"/>
            <c:spPr>
              <a:solidFill>
                <a:srgbClr val="FFD966"/>
              </a:solidFill>
              <a:ln w="9525">
                <a:solidFill>
                  <a:srgbClr val="111827"/>
                </a:solidFill>
              </a:ln>
            </c:spPr>
          </c:dPt>
          <c:dPt>
            <c:idx val="5"/>
            <c:spPr>
              <a:solidFill>
                <a:srgbClr val="F6B26B"/>
              </a:solidFill>
              <a:ln w="9525">
                <a:solidFill>
                  <a:srgbClr val="111827"/>
                </a:solidFill>
              </a:ln>
            </c:spPr>
          </c:dPt>
          <c:dPt>
            <c:idx val="6"/>
            <c:spPr>
              <a:solidFill>
                <a:srgbClr val="FFD966"/>
              </a:solidFill>
              <a:ln w="9525">
                <a:solidFill>
                  <a:srgbClr val="111827"/>
                </a:solidFill>
              </a:ln>
            </c:spPr>
          </c:dPt>
          <c:dPt>
            <c:idx val="7"/>
            <c:spPr>
              <a:solidFill>
                <a:srgbClr val="FFD966"/>
              </a:solidFill>
              <a:ln w="9525">
                <a:solidFill>
                  <a:srgbClr val="111827"/>
                </a:solidFill>
              </a:ln>
            </c:spPr>
          </c:dPt>
          <c:dPt>
            <c:idx val="8"/>
            <c:spPr>
              <a:solidFill>
                <a:srgbClr val="FFD966"/>
              </a:solidFill>
              <a:ln w="9525">
                <a:solidFill>
                  <a:srgbClr val="111827"/>
                </a:solidFill>
              </a:ln>
            </c:spPr>
          </c:dPt>
          <c:dPt>
            <c:idx val="9"/>
            <c:spPr>
              <a:solidFill>
                <a:srgbClr val="FFD966"/>
              </a:solidFill>
              <a:ln w="9525">
                <a:solidFill>
                  <a:srgbClr val="111827"/>
                </a:solidFill>
              </a:ln>
            </c:spPr>
          </c:dPt>
          <c:dPt>
            <c:idx val="10"/>
            <c:spPr>
              <a:solidFill>
                <a:srgbClr val="FFD966"/>
              </a:solidFill>
              <a:ln w="9525">
                <a:solidFill>
                  <a:srgbClr val="111827"/>
                </a:solidFill>
              </a:ln>
            </c:spPr>
          </c:dPt>
          <c:dPt>
            <c:idx val="11"/>
            <c:spPr>
              <a:solidFill>
                <a:srgbClr val="FFD966"/>
              </a:solidFill>
              <a:ln w="9525">
                <a:solidFill>
                  <a:srgbClr val="111827"/>
                </a:solidFill>
              </a:ln>
            </c:spPr>
          </c:dPt>
          <c:dPt>
            <c:idx val="12"/>
            <c:spPr>
              <a:solidFill>
                <a:srgbClr val="B6D7A8"/>
              </a:solidFill>
              <a:ln w="9525">
                <a:solidFill>
                  <a:srgbClr val="111827"/>
                </a:solidFill>
              </a:ln>
            </c:spPr>
          </c:dPt>
          <c:dPt>
            <c:idx val="13"/>
            <c:spPr>
              <a:solidFill>
                <a:srgbClr val="B6D7A8"/>
              </a:solidFill>
              <a:ln w="9525">
                <a:solidFill>
                  <a:srgbClr val="111827"/>
                </a:solidFill>
              </a:ln>
            </c:spPr>
          </c:dPt>
          <c:dPt>
            <c:idx val="14"/>
            <c:spPr>
              <a:solidFill>
                <a:srgbClr val="B6D7A8"/>
              </a:solidFill>
              <a:ln w="9525">
                <a:solidFill>
                  <a:srgbClr val="111827"/>
                </a:solidFill>
              </a:ln>
            </c:spPr>
          </c:dPt>
          <c:dPt>
            <c:idx val="15"/>
            <c:spPr>
              <a:solidFill>
                <a:srgbClr val="F6B26B"/>
              </a:solidFill>
              <a:ln w="9525">
                <a:solidFill>
                  <a:srgbClr val="111827"/>
                </a:solidFill>
              </a:ln>
            </c:spPr>
          </c:dPt>
          <c:dPt>
            <c:idx val="16"/>
            <c:spPr>
              <a:solidFill>
                <a:srgbClr val="FFD966"/>
              </a:solidFill>
              <a:ln w="9525">
                <a:solidFill>
                  <a:srgbClr val="111827"/>
                </a:solidFill>
              </a:ln>
            </c:spPr>
          </c:dPt>
          <c:dPt>
            <c:idx val="17"/>
            <c:spPr>
              <a:solidFill>
                <a:srgbClr val="B6D7A8"/>
              </a:solidFill>
              <a:ln w="9525">
                <a:solidFill>
                  <a:srgbClr val="111827"/>
                </a:solidFill>
              </a:ln>
            </c:spPr>
          </c:dPt>
          <c:dPt>
            <c:idx val="18"/>
            <c:spPr>
              <a:solidFill>
                <a:srgbClr val="FFD966"/>
              </a:solidFill>
              <a:ln w="9525">
                <a:solidFill>
                  <a:srgbClr val="111827"/>
                </a:solidFill>
              </a:ln>
            </c:spPr>
          </c:dPt>
          <c:dPt>
            <c:idx val="19"/>
            <c:spPr>
              <a:solidFill>
                <a:srgbClr val="F6B26B"/>
              </a:solidFill>
              <a:ln w="9525">
                <a:solidFill>
                  <a:srgbClr val="111827"/>
                </a:solidFill>
              </a:ln>
            </c:spPr>
          </c:dPt>
          <c:dPt>
            <c:idx val="20"/>
            <c:spPr>
              <a:solidFill>
                <a:srgbClr val="F6B26B"/>
              </a:solidFill>
              <a:ln w="9525">
                <a:solidFill>
                  <a:srgbClr val="111827"/>
                </a:solidFill>
              </a:ln>
            </c:spPr>
          </c:dPt>
          <c:dPt>
            <c:idx val="21"/>
            <c:spPr>
              <a:solidFill>
                <a:srgbClr val="B6D7A8"/>
              </a:solidFill>
              <a:ln w="9525">
                <a:solidFill>
                  <a:srgbClr val="111827"/>
                </a:solidFill>
              </a:ln>
            </c:spPr>
          </c:dPt>
          <c:dPt>
            <c:idx val="22"/>
            <c:spPr>
              <a:solidFill>
                <a:srgbClr val="B6D7A8"/>
              </a:solidFill>
              <a:ln w="9525">
                <a:solidFill>
                  <a:srgbClr val="111827"/>
                </a:solidFill>
              </a:ln>
            </c:spPr>
          </c:dPt>
          <c:dPt>
            <c:idx val="23"/>
            <c:spPr>
              <a:solidFill>
                <a:srgbClr val="FFD966"/>
              </a:solidFill>
              <a:ln w="9525">
                <a:solidFill>
                  <a:srgbClr val="111827"/>
                </a:solidFill>
              </a:ln>
            </c:spPr>
          </c:dPt>
          <c:dPt>
            <c:idx val="24"/>
            <c:spPr>
              <a:solidFill>
                <a:srgbClr val="B6D7A8"/>
              </a:solidFill>
              <a:ln w="9525">
                <a:solidFill>
                  <a:srgbClr val="111827"/>
                </a:solidFill>
              </a:ln>
            </c:spPr>
          </c:dPt>
          <c:dPt>
            <c:idx val="25"/>
            <c:spPr>
              <a:solidFill>
                <a:srgbClr val="FFD966"/>
              </a:solidFill>
              <a:ln w="9525">
                <a:solidFill>
                  <a:srgbClr val="111827"/>
                </a:solidFill>
              </a:ln>
            </c:spPr>
          </c:dPt>
          <c:dPt>
            <c:idx val="26"/>
            <c:spPr>
              <a:solidFill>
                <a:srgbClr val="FFD966"/>
              </a:solidFill>
              <a:ln w="9525">
                <a:solidFill>
                  <a:srgbClr val="111827"/>
                </a:solidFill>
              </a:ln>
            </c:spPr>
          </c:dPt>
          <c:dPt>
            <c:idx val="27"/>
            <c:spPr>
              <a:solidFill>
                <a:srgbClr val="F6B26B"/>
              </a:solidFill>
              <a:ln w="9525">
                <a:solidFill>
                  <a:srgbClr val="111827"/>
                </a:solidFill>
              </a:ln>
            </c:spPr>
          </c:dPt>
          <c:cat>
            <c:strRef>
              <c:f>Sheet1!$A$2:$A$29</c:f>
              <c:strCache>
                <c:ptCount val="28"/>
                <c:pt idx="0">
                  <c:v>Q1</c:v>
                </c:pt>
                <c:pt idx="1">
                  <c:v>Q2</c:v>
                </c:pt>
                <c:pt idx="2">
                  <c:v>Q3</c:v>
                </c:pt>
                <c:pt idx="3">
                  <c:v>Q4</c:v>
                </c:pt>
                <c:pt idx="4">
                  <c:v>Q5</c:v>
                </c:pt>
                <c:pt idx="5">
                  <c:v>Q6</c:v>
                </c:pt>
                <c:pt idx="6">
                  <c:v>Q7</c:v>
                </c:pt>
                <c:pt idx="7">
                  <c:v>Q8</c:v>
                </c:pt>
                <c:pt idx="8">
                  <c:v>Q9</c:v>
                </c:pt>
                <c:pt idx="9">
                  <c:v>Q10</c:v>
                </c:pt>
                <c:pt idx="10">
                  <c:v>Q11</c:v>
                </c:pt>
                <c:pt idx="11">
                  <c:v>Q12</c:v>
                </c:pt>
                <c:pt idx="12">
                  <c:v>Q13</c:v>
                </c:pt>
                <c:pt idx="13">
                  <c:v>Q14</c:v>
                </c:pt>
                <c:pt idx="14">
                  <c:v>Q15</c:v>
                </c:pt>
                <c:pt idx="15">
                  <c:v>Q16</c:v>
                </c:pt>
                <c:pt idx="16">
                  <c:v>Q17</c:v>
                </c:pt>
                <c:pt idx="17">
                  <c:v>Q18</c:v>
                </c:pt>
                <c:pt idx="18">
                  <c:v>Q19</c:v>
                </c:pt>
                <c:pt idx="19">
                  <c:v>Q20</c:v>
                </c:pt>
                <c:pt idx="20">
                  <c:v>Q21</c:v>
                </c:pt>
                <c:pt idx="21">
                  <c:v>Q22</c:v>
                </c:pt>
                <c:pt idx="22">
                  <c:v>Q23</c:v>
                </c:pt>
                <c:pt idx="23">
                  <c:v>Q24</c:v>
                </c:pt>
                <c:pt idx="24">
                  <c:v>Q25</c:v>
                </c:pt>
                <c:pt idx="25">
                  <c:v>Q26</c:v>
                </c:pt>
                <c:pt idx="26">
                  <c:v>Q27</c:v>
                </c:pt>
                <c:pt idx="27">
                  <c:v>Q28</c:v>
                </c:pt>
              </c:strCache>
            </c:strRef>
          </c:cat>
          <c:val>
            <c:numRef>
              <c:f>Sheet1!$B$2:$B$29</c:f>
              <c:numCache>
                <c:formatCode>General</c:formatCode>
                <c:ptCount val="28"/>
                <c:pt idx="0">
                  <c:v>3.0</c:v>
                </c:pt>
                <c:pt idx="1">
                  <c:v>2.0</c:v>
                </c:pt>
                <c:pt idx="2">
                  <c:v>3.0</c:v>
                </c:pt>
                <c:pt idx="3">
                  <c:v>1.0</c:v>
                </c:pt>
                <c:pt idx="4">
                  <c:v>2.0</c:v>
                </c:pt>
                <c:pt idx="5">
                  <c:v>3.0</c:v>
                </c:pt>
                <c:pt idx="6">
                  <c:v>2.0</c:v>
                </c:pt>
                <c:pt idx="7">
                  <c:v>2.0</c:v>
                </c:pt>
                <c:pt idx="8">
                  <c:v>2.0</c:v>
                </c:pt>
                <c:pt idx="9">
                  <c:v>2.0</c:v>
                </c:pt>
                <c:pt idx="10">
                  <c:v>2.0</c:v>
                </c:pt>
                <c:pt idx="11">
                  <c:v>2.0</c:v>
                </c:pt>
                <c:pt idx="12">
                  <c:v>1.0</c:v>
                </c:pt>
                <c:pt idx="13">
                  <c:v>1.0</c:v>
                </c:pt>
                <c:pt idx="14">
                  <c:v>1.0</c:v>
                </c:pt>
                <c:pt idx="15">
                  <c:v>3.0</c:v>
                </c:pt>
                <c:pt idx="16">
                  <c:v>2.0</c:v>
                </c:pt>
                <c:pt idx="17">
                  <c:v>1.0</c:v>
                </c:pt>
                <c:pt idx="18">
                  <c:v>2.0</c:v>
                </c:pt>
                <c:pt idx="19">
                  <c:v>3.0</c:v>
                </c:pt>
                <c:pt idx="20">
                  <c:v>3.0</c:v>
                </c:pt>
                <c:pt idx="21">
                  <c:v>1.0</c:v>
                </c:pt>
                <c:pt idx="22">
                  <c:v>1.0</c:v>
                </c:pt>
                <c:pt idx="23">
                  <c:v>2.0</c:v>
                </c:pt>
                <c:pt idx="24">
                  <c:v>1.0</c:v>
                </c:pt>
                <c:pt idx="25">
                  <c:v>2.0</c:v>
                </c:pt>
                <c:pt idx="26">
                  <c:v>2.0</c:v>
                </c:pt>
                <c:pt idx="27">
                  <c:v>3.0</c:v>
                </c:pt>
              </c:numCache>
            </c:numRef>
          </c:val>
        </c:ser>
        <c:dLbls>
          <c:numFmt formatCode="0.0#" sourceLinked="0"/>
          <c:txPr>
            <a:bodyPr/>
            <a:lstStyle/>
            <a:p>
              <a:pPr>
                <a:defRPr sz="2000" b="1">
                  <a:solidFill>
                    <a:srgbClr val="111827"/>
                  </a:solidFill>
                  <a:latin typeface="Arial"/>
                </a:defRPr>
              </a:pPr>
            </a:p>
          </c:txPr>
          <c:dLblPos val="outEnd"/>
          <c:showLegendKey val="0"/>
          <c:showVal val="1"/>
          <c:showCatName val="0"/>
          <c:showSerName val="0"/>
          <c:showPercent val="0"/>
          <c:showBubbleSize val="0"/>
          <c:showLeaderLines val="1"/>
        </c:dLbls>
        <c:gapWidth val="40"/>
        <c:axId val="-2068027336"/>
        <c:axId val="-2113994440"/>
      </c:barChart>
      <c:catAx>
        <c:axId val="-2068027336"/>
        <c:scaling>
          <c:orientation val="minMax"/>
        </c:scaling>
        <c:delete val="0"/>
        <c:axPos val="b"/>
        <c:majorTickMark val="out"/>
        <c:minorTickMark val="none"/>
        <c:tickLblPos val="nextTo"/>
        <c:txPr>
          <a:bodyPr/>
          <a:lstStyle/>
          <a:p>
            <a:pPr>
              <a:defRPr sz="2000" b="1">
                <a:latin typeface="Arial"/>
              </a:defRPr>
            </a:pPr>
          </a:p>
        </c:txPr>
        <c:crossAx val="-2113994440"/>
        <c:crosses val="autoZero"/>
        <c:auto val="1"/>
        <c:lblAlgn val="ctr"/>
        <c:lblOffset val="100"/>
        <c:noMultiLvlLbl val="0"/>
      </c:catAx>
      <c:valAx>
        <c:axId val="-2113994440"/>
        <c:scaling>
          <c:max val="5.5"/>
          <c:min val="0.0"/>
        </c:scaling>
        <c:delete val="0"/>
        <c:axPos val="l"/>
        <c:majorGridlines>
          <c:spPr>
            <a:ln>
              <a:solidFill>
                <a:srgbClr val="D1D5DB"/>
              </a:solidFill>
            </a:ln>
          </c:spPr>
        </c:majorGridlines>
        <c:title>
          <c:tx>
            <c:rich>
              <a:bodyPr/>
              <a:lstStyle/>
              <a:p>
                <a:r>
                  <a:rPr sz="2000"/>
                  <a:t>Level</a:t>
                </a:r>
              </a:p>
            </c:rich>
          </c:tx>
          <c:layout/>
          <c:overlay val="0"/>
        </c:title>
        <c:majorTickMark val="out"/>
        <c:minorTickMark val="none"/>
        <c:tickLblPos val="nextTo"/>
        <c:txPr>
          <a:bodyPr/>
          <a:lstStyle/>
          <a:p>
            <a:pPr>
              <a:defRPr sz="2000">
                <a:latin typeface="Arial"/>
              </a:defRPr>
            </a:pPr>
          </a:p>
        </c:txPr>
        <c:crossAx val="-2068027336"/>
        <c:crosses val="autoZero"/>
        <c:majorUnit val="1.0"/>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The PDF subtracts $\{\binom32 2^n+3\}$ and ends with $3^n-3\cdot2^n-3$. Single-digit numbers are already inside the pair counts, so they must be subtracted once, not added: the correct count of numbers missing a digit is $3\cdot2^n-3$, giving $3^n-3\cdot2^n+3$. The PDF's printed answer $3^n-3\cdot2^n+3$ is right; only its working and last line had the wrong sign.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The PDF solves only part (i); part (ii) (answer $1260$ in the key) has no working. Part (ii) was added by distributing the prime exponents. Part (i) is reproduced as printed.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The PDF's working writes $(x-1)^n-1$ against 'all arms at rest' and concludes 'signals $(x-1)^x$', which drops the $-1$ and disagrees with its own printed answer $(x-1)^x-1$. The correct working subtracts the one all-rest configuration from $(x-1)^x$; the printed answer is right.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The PDF says '$3!$ ways for Maths, $3!$ for Physics, $3!$ for Chemistry' and then writes $9!/(3!3!3!)$. The $3!$ factors are not multiplied here (that would give a different number); they are divided out because the order within each subject is already fixed by the places. The answer $1680$ is right; the reasoning was reworded.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The PDF writes 'Total ways to divide $16$ different players in $4$ different groups' but the value $2{,}627{,}625=\frac{16!}{(4!)^5}$ is for identical (unlabelled) groups, as the question needs. Wording fixed; the number and answer (A) are right.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a:lstStyle>
            <a:lvl1pPr>
              <a:defRPr sz="4000">
                <a:solidFill>
                  <a:srgbClr val="FFFFFF"/>
                </a:solidFill>
              </a:defRPr>
            </a:lvl1pPr>
          </a:lstStyle>
          <a:p>
            <a:pPr algn="ctr">
              <a:defRPr sz="4000">
                <a:solidFill>
                  <a:srgbClr val="FFFFFF"/>
                </a:solidFill>
              </a:defRPr>
            </a:pPr>
            <a:r>
              <a:rPr sz="4000" b="1">
                <a:solidFill>
                  <a:srgbClr val="FFFFFF"/>
                </a:solidFill>
                <a:latin typeface="Arial"/>
              </a:rPr>
              <a:t>P &amp; C Sheet (Exercise C-II) — Paper Analysis</a:t>
            </a:r>
            <a:endParaRPr sz="4000">
              <a:solidFill>
                <a:srgbClr val="FFFFFF"/>
              </a:solidFill>
            </a:endParaRPr>
          </a:p>
          <a:p>
            <a:pPr algn="ctr"/>
            <a:r>
              <a:rPr sz="2200">
                <a:solidFill>
                  <a:srgbClr val="FFFFFF"/>
                </a:solidFill>
                <a:latin typeface="Arial"/>
              </a:rPr>
              <a:t>SHEET P &amp; C · FCopy C2 · detailed solutions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2895" cy="4114800"/>
          </a:xfrm>
          <a:prstGeom prst="rect">
            <a:avLst/>
          </a:prstGeom>
          <a:noFill/>
        </p:spPr>
        <p:txBody>
          <a:bodyPr wrap="square">
            <a:spAutoFit/>
          </a:bodyPr>
          <a:lstStyle>
            <a:lvl1pPr>
              <a:defRPr sz="2800">
                <a:solidFill>
                  <a:srgbClr val="FFFFFF"/>
                </a:solidFill>
              </a:defRPr>
            </a:lvl1pPr>
          </a:lstStyle>
          <a:p>
            <a:pPr algn="ctr">
              <a:spcAft>
                <a:spcPts val="1000"/>
              </a:spcAft>
              <a:defRPr sz="2800">
                <a:solidFill>
                  <a:srgbClr val="FFFFFF"/>
                </a:solidFill>
              </a:defRPr>
            </a:pPr>
            <a:r>
              <a:rPr sz="2800" b="0">
                <a:solidFill>
                  <a:srgbClr val="93C5FD"/>
                </a:solidFill>
                <a:latin typeface="Arial"/>
              </a:rPr>
              <a:t>Section 1</a:t>
            </a:r>
            <a:endParaRPr sz="2800">
              <a:solidFill>
                <a:srgbClr val="FFFFFF"/>
              </a:solidFill>
            </a:endParaRPr>
          </a:p>
          <a:p>
            <a:pPr algn="ctr">
              <a:spcAft>
                <a:spcPts val="1000"/>
              </a:spcAft>
              <a:defRPr sz="2800">
                <a:solidFill>
                  <a:srgbClr val="FFFFFF"/>
                </a:solidFill>
              </a:defRPr>
            </a:pPr>
            <a:r>
              <a:rPr sz="4400" b="1">
                <a:solidFill>
                  <a:srgbClr val="FFFFFF"/>
                </a:solidFill>
                <a:latin typeface="Arial"/>
              </a:rPr>
              <a:t>Numerical / Subjective Type</a:t>
            </a:r>
            <a:endParaRPr sz="2800">
              <a:solidFill>
                <a:srgbClr val="FFFFFF"/>
              </a:solidFill>
            </a:endParaRPr>
          </a:p>
          <a:p>
            <a:pPr algn="ctr">
              <a:spcAft>
                <a:spcPts val="1000"/>
              </a:spcAft>
              <a:defRPr sz="2800">
                <a:solidFill>
                  <a:srgbClr val="FFFFFF"/>
                </a:solidFill>
              </a:defRPr>
            </a:pPr>
            <a:r>
              <a:rPr sz="3200" b="1">
                <a:solidFill>
                  <a:srgbClr val="FFFFFF"/>
                </a:solidFill>
                <a:latin typeface="Arial"/>
              </a:rPr>
              <a:t>Q01 – Q18</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Marks not printed in the paper: 4 marks each assumed (JEE Advanced default)</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Find / fill-in-the-blank questions with a numerical or expression answer</a:t>
            </a:r>
            <a:endParaRPr sz="2800">
              <a:solidFill>
                <a:srgbClr val="FFFFFF"/>
              </a:solidFill>
            </a:endParaRP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How many five digit numbers divisible by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can be formed using the digits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8</m:t>
                    </m:r>
                  </m:oMath>
                </a14:m>
                <a:r>
                  <a:rPr sz="2400" b="0">
                    <a:solidFill>
                      <a:srgbClr val="111827"/>
                    </a:solidFill>
                    <a:latin typeface="Arial"/>
                  </a:rPr>
                  <a:t> if each digit is to be used at most once?</a:t>
                </a:r>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How many five digit numbers divisible by </a:t>
                </a:r>
                <a:r>
                  <a:rPr lang="en-IN" sz="2400">
                    <a:solidFill>
                      <a:srgbClr val="111827"/>
                    </a:solidFill>
                    <a:latin typeface="Cambria Math" panose="02040503050406030204" pitchFamily="18" charset="0"/>
                  </a:rPr>
                  <a:t>$3$</a:t>
                </a:r>
                <a:r>
                  <a:rPr sz="2400" b="0">
                    <a:solidFill>
                      <a:srgbClr val="111827"/>
                    </a:solidFill>
                    <a:latin typeface="Arial"/>
                  </a:rPr>
                  <a:t> can be formed using the digits </a:t>
                </a:r>
                <a:r>
                  <a:rPr lang="en-IN" sz="2400">
                    <a:solidFill>
                      <a:srgbClr val="111827"/>
                    </a:solidFill>
                    <a:latin typeface="Cambria Math" panose="02040503050406030204" pitchFamily="18" charset="0"/>
                  </a:rPr>
                  <a:t>$0,1,2,3,4,7$</a:t>
                </a:r>
                <a:r>
                  <a:rPr sz="2400" b="0">
                    <a:solidFill>
                      <a:srgbClr val="111827"/>
                    </a:solidFill>
                    <a:latin typeface="Arial"/>
                  </a:rPr>
                  <a:t> and </a:t>
                </a:r>
                <a:r>
                  <a:rPr lang="en-IN" sz="2400">
                    <a:solidFill>
                      <a:srgbClr val="111827"/>
                    </a:solidFill>
                    <a:latin typeface="Cambria Math" panose="02040503050406030204" pitchFamily="18" charset="0"/>
                  </a:rPr>
                  <a:t>$8$</a:t>
                </a:r>
                <a:r>
                  <a:rPr sz="2400" b="0">
                    <a:solidFill>
                      <a:srgbClr val="111827"/>
                    </a:solidFill>
                    <a:latin typeface="Arial"/>
                  </a:rPr>
                  <a:t> if each digit is to be used at most once?</a:t>
                </a:r>
                <a:endParaRPr sz="2400">
                  <a:solidFill>
                    <a:srgbClr val="111827"/>
                  </a:solidFill>
                </a:endParaRPr>
              </a:p>
            </p:txBody>
          </p:sp>
        </mc:Fallback>
      </mc:AlternateContent>
      <p:sp>
        <p:nvSpPr>
          <p:cNvPr id="5" name="Rectangle 4"/>
          <p:cNvSpPr/>
          <p:nvPr/>
        </p:nvSpPr>
        <p:spPr>
          <a:xfrm>
            <a:off x="731520" y="324612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Number formation with divisibility condition (digits at most once)</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A number is divisible by </a:t>
                </a:r>
                <a14:m>
                  <m:oMath xmlns:m="http://schemas.openxmlformats.org/officeDocument/2006/math">
                    <m:r>
                      <a:rPr lang="en-IN" sz="2400" i="1">
                        <a:solidFill>
                          <a:srgbClr val="78350F"/>
                        </a:solidFill>
                        <a:latin typeface="Cambria Math" panose="02040503050406030204" pitchFamily="18" charset="0"/>
                      </a:rPr>
                      <m:t>3</m:t>
                    </m:r>
                  </m:oMath>
                </a14:m>
                <a:r>
                  <a:rPr sz="2400" b="0">
                    <a:solidFill>
                      <a:srgbClr val="78350F"/>
                    </a:solidFill>
                    <a:latin typeface="Arial"/>
                  </a:rPr>
                  <a:t> iff its digit sum is; choose which two digits are left out, so the digit sum of the rest is a multiple of </a:t>
                </a:r>
                <a14:m>
                  <m:oMath xmlns:m="http://schemas.openxmlformats.org/officeDocument/2006/math">
                    <m:r>
                      <a:rPr lang="en-IN" sz="2400" i="1">
                        <a:solidFill>
                          <a:srgbClr val="78350F"/>
                        </a:solidFill>
                        <a:latin typeface="Cambria Math" panose="02040503050406030204" pitchFamily="18" charset="0"/>
                      </a:rPr>
                      <m:t>3</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A number is divisible by </a:t>
                </a:r>
                <a:r>
                  <a:rPr lang="en-IN" sz="2400">
                    <a:solidFill>
                      <a:srgbClr val="78350F"/>
                    </a:solidFill>
                    <a:latin typeface="Cambria Math" panose="02040503050406030204" pitchFamily="18" charset="0"/>
                  </a:rPr>
                  <a:t>$3$</a:t>
                </a:r>
                <a:r>
                  <a:rPr sz="2400" b="0">
                    <a:solidFill>
                      <a:srgbClr val="78350F"/>
                    </a:solidFill>
                    <a:latin typeface="Arial"/>
                  </a:rPr>
                  <a:t> iff its digit sum is; choose which two digits are left out, so the digit sum of the rest is a multiple of </a:t>
                </a:r>
                <a:r>
                  <a:rPr lang="en-IN" sz="2400">
                    <a:solidFill>
                      <a:srgbClr val="78350F"/>
                    </a:solidFill>
                    <a:latin typeface="Cambria Math" panose="02040503050406030204" pitchFamily="18" charset="0"/>
                  </a:rPr>
                  <a:t>$3$</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digits are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 with total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oMath>
                </a14:m>
                <a:r>
                  <a:rPr sz="2400" b="0">
                    <a:solidFill>
                      <a:srgbClr val="111827"/>
                    </a:solidFill>
                    <a:latin typeface="Arial"/>
                  </a:rPr>
                  <a:t>. A five digit number uses five of them, so two digits are left out.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five digits used must have sum divisible by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so the left-out pair must have sum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(sum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10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Case 1: digit sum </a:t>
                </a:r>
                <a14:m>
                  <m:oMath xmlns:m="http://schemas.openxmlformats.org/officeDocument/2006/math">
                    <m:r>
                      <a:rPr lang="en-IN" sz="2400" i="1">
                        <a:solidFill>
                          <a:srgbClr val="111827"/>
                        </a:solidFill>
                        <a:latin typeface="Cambria Math" panose="02040503050406030204" pitchFamily="18" charset="0"/>
                      </a:rPr>
                      <m:t>24</m:t>
                    </m:r>
                  </m:oMath>
                </a14:m>
                <a:r>
                  <a:rPr sz="2400" b="0">
                    <a:solidFill>
                      <a:srgbClr val="111827"/>
                    </a:solidFill>
                    <a:latin typeface="Arial"/>
                  </a:rPr>
                  <a:t> (left out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Digits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 contain no zero, so </a:t>
                </a:r>
                <a14:m>
                  <m:oMath xmlns:m="http://schemas.openxmlformats.org/officeDocument/2006/math">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120</m:t>
                    </m:r>
                  </m:oMath>
                </a14:m>
                <a:r>
                  <a:rPr sz="2400" b="0">
                    <a:solidFill>
                      <a:srgbClr val="111827"/>
                    </a:solidFill>
                    <a:latin typeface="Arial"/>
                  </a:rPr>
                  <a:t> numbers.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Case 2: digit sum </a:t>
                </a:r>
                <a14:m>
                  <m:oMath xmlns:m="http://schemas.openxmlformats.org/officeDocument/2006/math">
                    <m:r>
                      <a:rPr lang="en-IN" sz="2400" i="1">
                        <a:solidFill>
                          <a:srgbClr val="111827"/>
                        </a:solidFill>
                        <a:latin typeface="Cambria Math" panose="02040503050406030204" pitchFamily="18" charset="0"/>
                      </a:rPr>
                      <m:t>21</m:t>
                    </m:r>
                  </m:oMath>
                </a14:m>
                <a:r>
                  <a:rPr sz="2400" b="0">
                    <a:solidFill>
                      <a:srgbClr val="111827"/>
                    </a:solidFill>
                    <a:latin typeface="Arial"/>
                  </a:rPr>
                  <a:t> (left-out sum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left out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or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digits are </a:t>
                </a:r>
                <a:r>
                  <a:rPr lang="en-IN" sz="2400">
                    <a:solidFill>
                      <a:srgbClr val="111827"/>
                    </a:solidFill>
                    <a:latin typeface="Cambria Math" panose="02040503050406030204" pitchFamily="18" charset="0"/>
                  </a:rPr>
                  <a:t>$0,1,2,3,4,7,8$</a:t>
                </a:r>
                <a:r>
                  <a:rPr sz="2400" b="0">
                    <a:solidFill>
                      <a:srgbClr val="111827"/>
                    </a:solidFill>
                    <a:latin typeface="Arial"/>
                  </a:rPr>
                  <a:t> with total </a:t>
                </a:r>
                <a:r>
                  <a:rPr lang="en-IN" sz="2400">
                    <a:solidFill>
                      <a:srgbClr val="111827"/>
                    </a:solidFill>
                    <a:latin typeface="Cambria Math" panose="02040503050406030204" pitchFamily="18" charset="0"/>
                  </a:rPr>
                  <a:t>$0+1+2+3+4+7+8=25$</a:t>
                </a:r>
                <a:r>
                  <a:rPr sz="2400" b="0">
                    <a:solidFill>
                      <a:srgbClr val="111827"/>
                    </a:solidFill>
                    <a:latin typeface="Arial"/>
                  </a:rPr>
                  <a:t>. A five digit number uses five of them, so two digits are left out.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five digits used must have sum divisible by </a:t>
                </a:r>
                <a:r>
                  <a:rPr lang="en-IN" sz="2400">
                    <a:solidFill>
                      <a:srgbClr val="111827"/>
                    </a:solidFill>
                    <a:latin typeface="Cambria Math" panose="02040503050406030204" pitchFamily="18" charset="0"/>
                  </a:rPr>
                  <a:t>$3$</a:t>
                </a:r>
                <a:r>
                  <a:rPr sz="2400" b="0">
                    <a:solidFill>
                      <a:srgbClr val="111827"/>
                    </a:solidFill>
                    <a:latin typeface="Arial"/>
                  </a:rPr>
                  <a:t>, so the left-out pair must have sum </a:t>
                </a:r>
                <a:r>
                  <a:rPr lang="en-IN" sz="2400">
                    <a:solidFill>
                      <a:srgbClr val="111827"/>
                    </a:solidFill>
                    <a:latin typeface="Cambria Math" panose="02040503050406030204" pitchFamily="18" charset="0"/>
                  </a:rPr>
                  <a:t>$\equiv 1 \pmod 3$</a:t>
                </a:r>
                <a:r>
                  <a:rPr sz="2400" b="0">
                    <a:solidFill>
                      <a:srgbClr val="111827"/>
                    </a:solidFill>
                    <a:latin typeface="Arial"/>
                  </a:rPr>
                  <a:t> (sum </a:t>
                </a:r>
                <a:r>
                  <a:rPr lang="en-IN" sz="2400">
                    <a:solidFill>
                      <a:srgbClr val="111827"/>
                    </a:solidFill>
                    <a:latin typeface="Cambria Math" panose="02040503050406030204" pitchFamily="18" charset="0"/>
                  </a:rPr>
                  <a:t>$1,4,7$</a:t>
                </a:r>
                <a:r>
                  <a:rPr sz="2400" b="0">
                    <a:solidFill>
                      <a:srgbClr val="111827"/>
                    </a:solidFill>
                    <a:latin typeface="Arial"/>
                  </a:rPr>
                  <a:t> or </a:t>
                </a:r>
                <a:r>
                  <a:rPr lang="en-IN" sz="2400">
                    <a:solidFill>
                      <a:srgbClr val="111827"/>
                    </a:solidFill>
                    <a:latin typeface="Cambria Math" panose="02040503050406030204" pitchFamily="18" charset="0"/>
                  </a:rPr>
                  <a:t>$10$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Case 1: digit sum </a:t>
                </a:r>
                <a:r>
                  <a:rPr lang="en-IN" sz="2400">
                    <a:solidFill>
                      <a:srgbClr val="111827"/>
                    </a:solidFill>
                    <a:latin typeface="Cambria Math" panose="02040503050406030204" pitchFamily="18" charset="0"/>
                  </a:rPr>
                  <a:t>$24$</a:t>
                </a:r>
                <a:r>
                  <a:rPr sz="2400" b="0">
                    <a:solidFill>
                      <a:srgbClr val="111827"/>
                    </a:solidFill>
                    <a:latin typeface="Arial"/>
                  </a:rPr>
                  <a:t> (left out </a:t>
                </a:r>
                <a:r>
                  <a:rPr lang="en-IN" sz="2400">
                    <a:solidFill>
                      <a:srgbClr val="111827"/>
                    </a:solidFill>
                    <a:latin typeface="Cambria Math" panose="02040503050406030204" pitchFamily="18" charset="0"/>
                  </a:rPr>
                  <a:t>$0$</a:t>
                </a:r>
                <a:r>
                  <a:rPr sz="2400" b="0">
                    <a:solidFill>
                      <a:srgbClr val="111827"/>
                    </a:solidFill>
                    <a:latin typeface="Arial"/>
                  </a:rPr>
                  <a:t> and </a:t>
                </a:r>
                <a:r>
                  <a:rPr lang="en-IN" sz="2400">
                    <a:solidFill>
                      <a:srgbClr val="111827"/>
                    </a:solidFill>
                    <a:latin typeface="Cambria Math" panose="02040503050406030204" pitchFamily="18" charset="0"/>
                  </a:rPr>
                  <a:t>$1$</a:t>
                </a:r>
                <a:r>
                  <a:rPr sz="2400" b="0">
                    <a:solidFill>
                      <a:srgbClr val="111827"/>
                    </a:solidFill>
                    <a:latin typeface="Arial"/>
                  </a:rPr>
                  <a:t>). Digits </a:t>
                </a:r>
                <a:r>
                  <a:rPr lang="en-IN" sz="2400">
                    <a:solidFill>
                      <a:srgbClr val="111827"/>
                    </a:solidFill>
                    <a:latin typeface="Cambria Math" panose="02040503050406030204" pitchFamily="18" charset="0"/>
                  </a:rPr>
                  <a:t>$2,3,4,7,8$</a:t>
                </a:r>
                <a:r>
                  <a:rPr sz="2400" b="0">
                    <a:solidFill>
                      <a:srgbClr val="111827"/>
                    </a:solidFill>
                    <a:latin typeface="Arial"/>
                  </a:rPr>
                  <a:t> contain no zero, so </a:t>
                </a:r>
                <a:r>
                  <a:rPr lang="en-IN" sz="2400">
                    <a:solidFill>
                      <a:srgbClr val="111827"/>
                    </a:solidFill>
                    <a:latin typeface="Cambria Math" panose="02040503050406030204" pitchFamily="18" charset="0"/>
                  </a:rPr>
                  <a:t>$5!=120$</a:t>
                </a:r>
                <a:r>
                  <a:rPr sz="2400" b="0">
                    <a:solidFill>
                      <a:srgbClr val="111827"/>
                    </a:solidFill>
                    <a:latin typeface="Arial"/>
                  </a:rPr>
                  <a:t> numbers.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Case 2: digit sum </a:t>
                </a:r>
                <a:r>
                  <a:rPr lang="en-IN" sz="2400">
                    <a:solidFill>
                      <a:srgbClr val="111827"/>
                    </a:solidFill>
                    <a:latin typeface="Cambria Math" panose="02040503050406030204" pitchFamily="18" charset="0"/>
                  </a:rPr>
                  <a:t>$21$</a:t>
                </a:r>
                <a:r>
                  <a:rPr sz="2400" b="0">
                    <a:solidFill>
                      <a:srgbClr val="111827"/>
                    </a:solidFill>
                    <a:latin typeface="Arial"/>
                  </a:rPr>
                  <a:t> (left-out sum </a:t>
                </a:r>
                <a:r>
                  <a:rPr lang="en-IN" sz="2400">
                    <a:solidFill>
                      <a:srgbClr val="111827"/>
                    </a:solidFill>
                    <a:latin typeface="Cambria Math" panose="02040503050406030204" pitchFamily="18" charset="0"/>
                  </a:rPr>
                  <a:t>$4$</a:t>
                </a:r>
                <a:r>
                  <a:rPr sz="2400" b="0">
                    <a:solidFill>
                      <a:srgbClr val="111827"/>
                    </a:solidFill>
                    <a:latin typeface="Arial"/>
                  </a:rPr>
                  <a:t>): left out </a:t>
                </a:r>
                <a:r>
                  <a:rPr lang="en-IN" sz="2400">
                    <a:solidFill>
                      <a:srgbClr val="111827"/>
                    </a:solidFill>
                    <a:latin typeface="Cambria Math" panose="02040503050406030204" pitchFamily="18" charset="0"/>
                  </a:rPr>
                  <a:t>$\{0,4\}$</a:t>
                </a:r>
                <a:r>
                  <a:rPr sz="2400" b="0">
                    <a:solidFill>
                      <a:srgbClr val="111827"/>
                    </a:solidFill>
                    <a:latin typeface="Arial"/>
                  </a:rPr>
                  <a:t> or </a:t>
                </a:r>
                <a:r>
                  <a:rPr lang="en-IN" sz="2400">
                    <a:solidFill>
                      <a:srgbClr val="111827"/>
                    </a:solidFill>
                    <a:latin typeface="Cambria Math" panose="02040503050406030204" pitchFamily="18" charset="0"/>
                  </a:rPr>
                  <a:t>$\{1,3\}$</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Subcase (i), left out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digits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 give </a:t>
                </a:r>
                <a14:m>
                  <m:oMath xmlns:m="http://schemas.openxmlformats.org/officeDocument/2006/math">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120</m:t>
                    </m:r>
                  </m:oMath>
                </a14:m>
                <a:r>
                  <a:rPr sz="2400" b="0">
                    <a:solidFill>
                      <a:srgbClr val="111827"/>
                    </a:solidFill>
                    <a:latin typeface="Arial"/>
                  </a:rPr>
                  <a:t> numbers.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Subcase (ii), left out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digits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 zero cannot be first, so </a:t>
                </a:r>
                <a14:m>
                  <m:oMath xmlns:m="http://schemas.openxmlformats.org/officeDocument/2006/math">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96</m:t>
                    </m:r>
                  </m:oMath>
                </a14:m>
                <a:r>
                  <a:rPr sz="2400" b="0">
                    <a:solidFill>
                      <a:srgbClr val="111827"/>
                    </a:solidFill>
                    <a:latin typeface="Arial"/>
                  </a:rPr>
                  <a:t> numbers. Case 2 total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Case 3: digit sum </a:t>
                </a:r>
                <a14:m>
                  <m:oMath xmlns:m="http://schemas.openxmlformats.org/officeDocument/2006/math">
                    <m:r>
                      <a:rPr lang="en-IN" sz="2400" i="1">
                        <a:solidFill>
                          <a:srgbClr val="111827"/>
                        </a:solidFill>
                        <a:latin typeface="Cambria Math" panose="02040503050406030204" pitchFamily="18" charset="0"/>
                      </a:rPr>
                      <m:t>18</m:t>
                    </m:r>
                  </m:oMath>
                </a14:m>
                <a:r>
                  <a:rPr sz="2400" b="0">
                    <a:solidFill>
                      <a:srgbClr val="111827"/>
                    </a:solidFill>
                    <a:latin typeface="Arial"/>
                  </a:rPr>
                  <a:t> (left-out sum </a:t>
                </a:r>
                <a14:m>
                  <m:oMath xmlns:m="http://schemas.openxmlformats.org/officeDocument/2006/math">
                    <m:r>
                      <a:rPr lang="en-IN" sz="2400" i="1">
                        <a:solidFill>
                          <a:srgbClr val="111827"/>
                        </a:solidFill>
                        <a:latin typeface="Cambria Math" panose="02040503050406030204" pitchFamily="18" charset="0"/>
                      </a:rPr>
                      <m:t>7</m:t>
                    </m:r>
                  </m:oMath>
                </a14:m>
                <a:r>
                  <a:rPr sz="2400" b="0">
                    <a:solidFill>
                      <a:srgbClr val="111827"/>
                    </a:solidFill>
                    <a:latin typeface="Arial"/>
                  </a:rPr>
                  <a:t>): left out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or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Again </a:t>
                </a:r>
                <a14:m>
                  <m:oMath xmlns:m="http://schemas.openxmlformats.org/officeDocument/2006/math">
                    <m:r>
                      <a:rPr lang="en-IN" sz="2400" i="1">
                        <a:solidFill>
                          <a:srgbClr val="111827"/>
                        </a:solidFill>
                        <a:latin typeface="Cambria Math" panose="02040503050406030204" pitchFamily="18" charset="0"/>
                      </a:rPr>
                      <m:t>120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Case 4: digit sum </a:t>
                </a:r>
                <a14:m>
                  <m:oMath xmlns:m="http://schemas.openxmlformats.org/officeDocument/2006/math">
                    <m:r>
                      <a:rPr lang="en-IN" sz="2400" i="1">
                        <a:solidFill>
                          <a:srgbClr val="111827"/>
                        </a:solidFill>
                        <a:latin typeface="Cambria Math" panose="02040503050406030204" pitchFamily="18" charset="0"/>
                      </a:rPr>
                      <m:t>15</m:t>
                    </m:r>
                  </m:oMath>
                </a14:m>
                <a:r>
                  <a:rPr sz="2400" b="0">
                    <a:solidFill>
                      <a:srgbClr val="111827"/>
                    </a:solidFill>
                    <a:latin typeface="Arial"/>
                  </a:rPr>
                  <a:t> (left-out sum </a:t>
                </a:r>
                <a14:m>
                  <m:oMath xmlns:m="http://schemas.openxmlformats.org/officeDocument/2006/math">
                    <m:r>
                      <a:rPr lang="en-IN" sz="2400" i="1">
                        <a:solidFill>
                          <a:srgbClr val="111827"/>
                        </a:solidFill>
                        <a:latin typeface="Cambria Math" panose="02040503050406030204" pitchFamily="18" charset="0"/>
                      </a:rPr>
                      <m:t>10</m:t>
                    </m:r>
                  </m:oMath>
                </a14:m>
                <a:r>
                  <a:rPr sz="2400" b="0">
                    <a:solidFill>
                      <a:srgbClr val="111827"/>
                    </a:solidFill>
                    <a:latin typeface="Arial"/>
                  </a:rPr>
                  <a:t>): left out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or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Both leave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among the digits, so </a:t>
                </a:r>
                <a14:m>
                  <m:oMath xmlns:m="http://schemas.openxmlformats.org/officeDocument/2006/math">
                    <m:r>
                      <a:rPr lang="en-IN" sz="2400" i="1">
                        <a:solidFill>
                          <a:srgbClr val="111827"/>
                        </a:solidFill>
                        <a:latin typeface="Cambria Math" panose="02040503050406030204" pitchFamily="18" charset="0"/>
                      </a:rPr>
                      <m:t>96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744</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Subcase (i), left out </a:t>
                </a:r>
                <a:r>
                  <a:rPr lang="en-IN" sz="2400">
                    <a:solidFill>
                      <a:srgbClr val="111827"/>
                    </a:solidFill>
                    <a:latin typeface="Cambria Math" panose="02040503050406030204" pitchFamily="18" charset="0"/>
                  </a:rPr>
                  <a:t>$\{0,4\}$</a:t>
                </a:r>
                <a:r>
                  <a:rPr sz="2400" b="0">
                    <a:solidFill>
                      <a:srgbClr val="111827"/>
                    </a:solidFill>
                    <a:latin typeface="Arial"/>
                  </a:rPr>
                  <a:t>: digits </a:t>
                </a:r>
                <a:r>
                  <a:rPr lang="en-IN" sz="2400">
                    <a:solidFill>
                      <a:srgbClr val="111827"/>
                    </a:solidFill>
                    <a:latin typeface="Cambria Math" panose="02040503050406030204" pitchFamily="18" charset="0"/>
                  </a:rPr>
                  <a:t>$1,2,3,7,8$</a:t>
                </a:r>
                <a:r>
                  <a:rPr sz="2400" b="0">
                    <a:solidFill>
                      <a:srgbClr val="111827"/>
                    </a:solidFill>
                    <a:latin typeface="Arial"/>
                  </a:rPr>
                  <a:t> give </a:t>
                </a:r>
                <a:r>
                  <a:rPr lang="en-IN" sz="2400">
                    <a:solidFill>
                      <a:srgbClr val="111827"/>
                    </a:solidFill>
                    <a:latin typeface="Cambria Math" panose="02040503050406030204" pitchFamily="18" charset="0"/>
                  </a:rPr>
                  <a:t>$5!=120$</a:t>
                </a:r>
                <a:r>
                  <a:rPr sz="2400" b="0">
                    <a:solidFill>
                      <a:srgbClr val="111827"/>
                    </a:solidFill>
                    <a:latin typeface="Arial"/>
                  </a:rPr>
                  <a:t> numbers.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Subcase (ii), left out </a:t>
                </a:r>
                <a:r>
                  <a:rPr lang="en-IN" sz="2400">
                    <a:solidFill>
                      <a:srgbClr val="111827"/>
                    </a:solidFill>
                    <a:latin typeface="Cambria Math" panose="02040503050406030204" pitchFamily="18" charset="0"/>
                  </a:rPr>
                  <a:t>$\{1,3\}$</a:t>
                </a:r>
                <a:r>
                  <a:rPr sz="2400" b="0">
                    <a:solidFill>
                      <a:srgbClr val="111827"/>
                    </a:solidFill>
                    <a:latin typeface="Arial"/>
                  </a:rPr>
                  <a:t>: digits </a:t>
                </a:r>
                <a:r>
                  <a:rPr lang="en-IN" sz="2400">
                    <a:solidFill>
                      <a:srgbClr val="111827"/>
                    </a:solidFill>
                    <a:latin typeface="Cambria Math" panose="02040503050406030204" pitchFamily="18" charset="0"/>
                  </a:rPr>
                  <a:t>$0,2,4,7,8$</a:t>
                </a:r>
                <a:r>
                  <a:rPr sz="2400" b="0">
                    <a:solidFill>
                      <a:srgbClr val="111827"/>
                    </a:solidFill>
                    <a:latin typeface="Arial"/>
                  </a:rPr>
                  <a:t>; zero cannot be first, so </a:t>
                </a:r>
                <a:r>
                  <a:rPr lang="en-IN" sz="2400">
                    <a:solidFill>
                      <a:srgbClr val="111827"/>
                    </a:solidFill>
                    <a:latin typeface="Cambria Math" panose="02040503050406030204" pitchFamily="18" charset="0"/>
                  </a:rPr>
                  <a:t>$4\times4\times3\times2\times1=96$</a:t>
                </a:r>
                <a:r>
                  <a:rPr sz="2400" b="0">
                    <a:solidFill>
                      <a:srgbClr val="111827"/>
                    </a:solidFill>
                    <a:latin typeface="Arial"/>
                  </a:rPr>
                  <a:t> numbers. Case 2 total </a:t>
                </a:r>
                <a:r>
                  <a:rPr lang="en-IN" sz="2400">
                    <a:solidFill>
                      <a:srgbClr val="111827"/>
                    </a:solidFill>
                    <a:latin typeface="Cambria Math" panose="02040503050406030204" pitchFamily="18" charset="0"/>
                  </a:rPr>
                  <a:t>$=120+96=216$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Case 3: digit sum </a:t>
                </a:r>
                <a:r>
                  <a:rPr lang="en-IN" sz="2400">
                    <a:solidFill>
                      <a:srgbClr val="111827"/>
                    </a:solidFill>
                    <a:latin typeface="Cambria Math" panose="02040503050406030204" pitchFamily="18" charset="0"/>
                  </a:rPr>
                  <a:t>$18$</a:t>
                </a:r>
                <a:r>
                  <a:rPr sz="2400" b="0">
                    <a:solidFill>
                      <a:srgbClr val="111827"/>
                    </a:solidFill>
                    <a:latin typeface="Arial"/>
                  </a:rPr>
                  <a:t> (left-out sum </a:t>
                </a:r>
                <a:r>
                  <a:rPr lang="en-IN" sz="2400">
                    <a:solidFill>
                      <a:srgbClr val="111827"/>
                    </a:solidFill>
                    <a:latin typeface="Cambria Math" panose="02040503050406030204" pitchFamily="18" charset="0"/>
                  </a:rPr>
                  <a:t>$7$</a:t>
                </a:r>
                <a:r>
                  <a:rPr sz="2400" b="0">
                    <a:solidFill>
                      <a:srgbClr val="111827"/>
                    </a:solidFill>
                    <a:latin typeface="Arial"/>
                  </a:rPr>
                  <a:t>): left out </a:t>
                </a:r>
                <a:r>
                  <a:rPr lang="en-IN" sz="2400">
                    <a:solidFill>
                      <a:srgbClr val="111827"/>
                    </a:solidFill>
                    <a:latin typeface="Cambria Math" panose="02040503050406030204" pitchFamily="18" charset="0"/>
                  </a:rPr>
                  <a:t>$\{0,7\}$</a:t>
                </a:r>
                <a:r>
                  <a:rPr sz="2400" b="0">
                    <a:solidFill>
                      <a:srgbClr val="111827"/>
                    </a:solidFill>
                    <a:latin typeface="Arial"/>
                  </a:rPr>
                  <a:t> or </a:t>
                </a:r>
                <a:r>
                  <a:rPr lang="en-IN" sz="2400">
                    <a:solidFill>
                      <a:srgbClr val="111827"/>
                    </a:solidFill>
                    <a:latin typeface="Cambria Math" panose="02040503050406030204" pitchFamily="18" charset="0"/>
                  </a:rPr>
                  <a:t>$\{3,4\}$</a:t>
                </a:r>
                <a:r>
                  <a:rPr sz="2400" b="0">
                    <a:solidFill>
                      <a:srgbClr val="111827"/>
                    </a:solidFill>
                    <a:latin typeface="Arial"/>
                  </a:rPr>
                  <a:t>. Again </a:t>
                </a:r>
                <a:r>
                  <a:rPr lang="en-IN" sz="2400">
                    <a:solidFill>
                      <a:srgbClr val="111827"/>
                    </a:solidFill>
                    <a:latin typeface="Cambria Math" panose="02040503050406030204" pitchFamily="18" charset="0"/>
                  </a:rPr>
                  <a:t>$120+96=216$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Case 4: digit sum </a:t>
                </a:r>
                <a:r>
                  <a:rPr lang="en-IN" sz="2400">
                    <a:solidFill>
                      <a:srgbClr val="111827"/>
                    </a:solidFill>
                    <a:latin typeface="Cambria Math" panose="02040503050406030204" pitchFamily="18" charset="0"/>
                  </a:rPr>
                  <a:t>$15$</a:t>
                </a:r>
                <a:r>
                  <a:rPr sz="2400" b="0">
                    <a:solidFill>
                      <a:srgbClr val="111827"/>
                    </a:solidFill>
                    <a:latin typeface="Arial"/>
                  </a:rPr>
                  <a:t> (left-out sum </a:t>
                </a:r>
                <a:r>
                  <a:rPr lang="en-IN" sz="2400">
                    <a:solidFill>
                      <a:srgbClr val="111827"/>
                    </a:solidFill>
                    <a:latin typeface="Cambria Math" panose="02040503050406030204" pitchFamily="18" charset="0"/>
                  </a:rPr>
                  <a:t>$10$</a:t>
                </a:r>
                <a:r>
                  <a:rPr sz="2400" b="0">
                    <a:solidFill>
                      <a:srgbClr val="111827"/>
                    </a:solidFill>
                    <a:latin typeface="Arial"/>
                  </a:rPr>
                  <a:t>): left out </a:t>
                </a:r>
                <a:r>
                  <a:rPr lang="en-IN" sz="2400">
                    <a:solidFill>
                      <a:srgbClr val="111827"/>
                    </a:solidFill>
                    <a:latin typeface="Cambria Math" panose="02040503050406030204" pitchFamily="18" charset="0"/>
                  </a:rPr>
                  <a:t>$\{2,8\}$</a:t>
                </a:r>
                <a:r>
                  <a:rPr sz="2400" b="0">
                    <a:solidFill>
                      <a:srgbClr val="111827"/>
                    </a:solidFill>
                    <a:latin typeface="Arial"/>
                  </a:rPr>
                  <a:t> or </a:t>
                </a:r>
                <a:r>
                  <a:rPr lang="en-IN" sz="2400">
                    <a:solidFill>
                      <a:srgbClr val="111827"/>
                    </a:solidFill>
                    <a:latin typeface="Cambria Math" panose="02040503050406030204" pitchFamily="18" charset="0"/>
                  </a:rPr>
                  <a:t>$\{3,7\}$</a:t>
                </a:r>
                <a:r>
                  <a:rPr sz="2400" b="0">
                    <a:solidFill>
                      <a:srgbClr val="111827"/>
                    </a:solidFill>
                    <a:latin typeface="Arial"/>
                  </a:rPr>
                  <a:t>. Both leave </a:t>
                </a:r>
                <a:r>
                  <a:rPr lang="en-IN" sz="2400">
                    <a:solidFill>
                      <a:srgbClr val="111827"/>
                    </a:solidFill>
                    <a:latin typeface="Cambria Math" panose="02040503050406030204" pitchFamily="18" charset="0"/>
                  </a:rPr>
                  <a:t>$0$</a:t>
                </a:r>
                <a:r>
                  <a:rPr sz="2400" b="0">
                    <a:solidFill>
                      <a:srgbClr val="111827"/>
                    </a:solidFill>
                    <a:latin typeface="Arial"/>
                  </a:rPr>
                  <a:t> among the digits, so </a:t>
                </a:r>
                <a:r>
                  <a:rPr lang="en-IN" sz="2400">
                    <a:solidFill>
                      <a:srgbClr val="111827"/>
                    </a:solidFill>
                    <a:latin typeface="Cambria Math" panose="02040503050406030204" pitchFamily="18" charset="0"/>
                  </a:rPr>
                  <a:t>$96+96=192$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r>
                  <a:rPr lang="en-IN" sz="2400">
                    <a:solidFill>
                      <a:srgbClr val="111827"/>
                    </a:solidFill>
                    <a:latin typeface="Cambria Math" panose="02040503050406030204" pitchFamily="18" charset="0"/>
                  </a:rPr>
                  <a:t>$=120+216+216+192=744$</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744</a:t>
            </a:r>
            <a:endParaRPr sz="2800">
              <a:solidFill>
                <a:srgbClr val="15803D"/>
              </a:solidFill>
            </a:endParaRP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Allow a leading zero first, then subtract: every valid digit set gives </a:t>
                </a:r>
                <a14:m>
                  <m:oMath xmlns:m="http://schemas.openxmlformats.org/officeDocument/2006/math">
                    <m:r>
                      <a:rPr lang="en-IN" sz="2400" i="1">
                        <a:solidFill>
                          <a:srgbClr val="78350F"/>
                        </a:solidFill>
                        <a:latin typeface="Cambria Math" panose="02040503050406030204" pitchFamily="18" charset="0"/>
                      </a:rPr>
                      <m:t>5</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strings, and strings starting with </a:t>
                </a:r>
                <a14:m>
                  <m:oMath xmlns:m="http://schemas.openxmlformats.org/officeDocument/2006/math">
                    <m:r>
                      <a:rPr lang="en-IN" sz="2400" i="1">
                        <a:solidFill>
                          <a:srgbClr val="78350F"/>
                        </a:solidFill>
                        <a:latin typeface="Cambria Math" panose="02040503050406030204" pitchFamily="18" charset="0"/>
                      </a:rPr>
                      <m:t>0</m:t>
                    </m:r>
                  </m:oMath>
                </a14:m>
                <a:r>
                  <a:rPr sz="2400" b="0">
                    <a:solidFill>
                      <a:srgbClr val="78350F"/>
                    </a:solidFill>
                    <a:latin typeface="Arial"/>
                  </a:rPr>
                  <a:t> are removed afterwards.</a:t>
                </a:r>
                <a:endParaRPr sz="2400">
                  <a:solidFill>
                    <a:srgbClr val="78350F"/>
                  </a:solidFill>
                </a:endParaRPr>
              </a:p>
            </p:txBody>
          </p:sp>
        </mc:Choice>
        <mc:Fallback>
          <p:sp>
            <p:nvSpPr>
              <p:cNvPr id="5" name="Rounded Rectangle 4"/>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Allow a leading zero first, then subtract: every valid digit set gives </a:t>
                </a:r>
                <a:r>
                  <a:rPr lang="en-IN" sz="2400">
                    <a:solidFill>
                      <a:srgbClr val="78350F"/>
                    </a:solidFill>
                    <a:latin typeface="Cambria Math" panose="02040503050406030204" pitchFamily="18" charset="0"/>
                  </a:rPr>
                  <a:t>$5!$</a:t>
                </a:r>
                <a:r>
                  <a:rPr sz="2400" b="0">
                    <a:solidFill>
                      <a:srgbClr val="78350F"/>
                    </a:solidFill>
                    <a:latin typeface="Arial"/>
                  </a:rPr>
                  <a:t> strings, and strings starting with </a:t>
                </a:r>
                <a:r>
                  <a:rPr lang="en-IN" sz="2400">
                    <a:solidFill>
                      <a:srgbClr val="78350F"/>
                    </a:solidFill>
                    <a:latin typeface="Cambria Math" panose="02040503050406030204" pitchFamily="18" charset="0"/>
                  </a:rPr>
                  <a:t>$0$</a:t>
                </a:r>
                <a:r>
                  <a:rPr sz="2400" b="0">
                    <a:solidFill>
                      <a:srgbClr val="78350F"/>
                    </a:solidFill>
                    <a:latin typeface="Arial"/>
                  </a:rPr>
                  <a:t> are removed afterwards.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left-out pair must have sum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Residues: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Pairs with residues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pairs; pairs with residues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only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there are </a:t>
                </a:r>
                <a14:m>
                  <m:oMath xmlns:m="http://schemas.openxmlformats.org/officeDocument/2006/math">
                    <m:r>
                      <a:rPr lang="en-IN" sz="2400" i="1">
                        <a:solidFill>
                          <a:srgbClr val="111827"/>
                        </a:solidFill>
                        <a:latin typeface="Cambria Math" panose="02040503050406030204" pitchFamily="18" charset="0"/>
                      </a:rPr>
                      <m:t>7</m:t>
                    </m:r>
                  </m:oMath>
                </a14:m>
                <a:r>
                  <a:rPr sz="2400" b="0">
                    <a:solidFill>
                      <a:srgbClr val="111827"/>
                    </a:solidFill>
                    <a:latin typeface="Arial"/>
                  </a:rPr>
                  <a:t> valid digit sets.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Treating a leading zero as allowed, each set gives </a:t>
                </a:r>
                <a14:m>
                  <m:oMath xmlns:m="http://schemas.openxmlformats.org/officeDocument/2006/math">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120</m:t>
                    </m:r>
                  </m:oMath>
                </a14:m>
                <a:r>
                  <a:rPr sz="2400" b="0">
                    <a:solidFill>
                      <a:srgbClr val="111827"/>
                    </a:solidFill>
                    <a:latin typeface="Arial"/>
                  </a:rPr>
                  <a:t> strings: </a:t>
                </a:r>
                <a14:m>
                  <m:oMath xmlns:m="http://schemas.openxmlformats.org/officeDocument/2006/math">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840</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left-out pair must have sum </a:t>
                </a:r>
                <a:r>
                  <a:rPr lang="en-IN" sz="2400">
                    <a:solidFill>
                      <a:srgbClr val="111827"/>
                    </a:solidFill>
                    <a:latin typeface="Cambria Math" panose="02040503050406030204" pitchFamily="18" charset="0"/>
                  </a:rPr>
                  <a:t>$\equiv1\pmod3$</a:t>
                </a:r>
                <a:r>
                  <a:rPr sz="2400" b="0">
                    <a:solidFill>
                      <a:srgbClr val="111827"/>
                    </a:solidFill>
                    <a:latin typeface="Arial"/>
                  </a:rPr>
                  <a:t>. Residues: </a:t>
                </a:r>
                <a:r>
                  <a:rPr lang="en-IN" sz="2400">
                    <a:solidFill>
                      <a:srgbClr val="111827"/>
                    </a:solidFill>
                    <a:latin typeface="Cambria Math" panose="02040503050406030204" pitchFamily="18" charset="0"/>
                  </a:rPr>
                  <a:t>$\{0,3\}\to0$</a:t>
                </a:r>
                <a:r>
                  <a:rPr sz="2400" b="0">
                    <a:solidFill>
                      <a:srgbClr val="111827"/>
                    </a:solidFill>
                    <a:latin typeface="Arial"/>
                  </a:rPr>
                  <a:t>, </a:t>
                </a:r>
                <a:r>
                  <a:rPr lang="en-IN" sz="2400">
                    <a:solidFill>
                      <a:srgbClr val="111827"/>
                    </a:solidFill>
                    <a:latin typeface="Cambria Math" panose="02040503050406030204" pitchFamily="18" charset="0"/>
                  </a:rPr>
                  <a:t>$\{1,4,7\}\to1$</a:t>
                </a:r>
                <a:r>
                  <a:rPr sz="2400" b="0">
                    <a:solidFill>
                      <a:srgbClr val="111827"/>
                    </a:solidFill>
                    <a:latin typeface="Arial"/>
                  </a:rPr>
                  <a:t>, </a:t>
                </a:r>
                <a:r>
                  <a:rPr lang="en-IN" sz="2400">
                    <a:solidFill>
                      <a:srgbClr val="111827"/>
                    </a:solidFill>
                    <a:latin typeface="Cambria Math" panose="02040503050406030204" pitchFamily="18" charset="0"/>
                  </a:rPr>
                  <a:t>$\{2,8\}\to2$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Pairs with residues </a:t>
                </a:r>
                <a:r>
                  <a:rPr lang="en-IN" sz="2400">
                    <a:solidFill>
                      <a:srgbClr val="111827"/>
                    </a:solidFill>
                    <a:latin typeface="Cambria Math" panose="02040503050406030204" pitchFamily="18" charset="0"/>
                  </a:rPr>
                  <a:t>$(0,1)$</a:t>
                </a:r>
                <a:r>
                  <a:rPr sz="2400" b="0">
                    <a:solidFill>
                      <a:srgbClr val="111827"/>
                    </a:solidFill>
                    <a:latin typeface="Arial"/>
                  </a:rPr>
                  <a:t>: </a:t>
                </a:r>
                <a:r>
                  <a:rPr lang="en-IN" sz="2400">
                    <a:solidFill>
                      <a:srgbClr val="111827"/>
                    </a:solidFill>
                    <a:latin typeface="Cambria Math" panose="02040503050406030204" pitchFamily="18" charset="0"/>
                  </a:rPr>
                  <a:t>$2\times3=6$</a:t>
                </a:r>
                <a:r>
                  <a:rPr sz="2400" b="0">
                    <a:solidFill>
                      <a:srgbClr val="111827"/>
                    </a:solidFill>
                    <a:latin typeface="Arial"/>
                  </a:rPr>
                  <a:t> pairs; pairs with residues </a:t>
                </a:r>
                <a:r>
                  <a:rPr lang="en-IN" sz="2400">
                    <a:solidFill>
                      <a:srgbClr val="111827"/>
                    </a:solidFill>
                    <a:latin typeface="Cambria Math" panose="02040503050406030204" pitchFamily="18" charset="0"/>
                  </a:rPr>
                  <a:t>$(2,2)$</a:t>
                </a:r>
                <a:r>
                  <a:rPr sz="2400" b="0">
                    <a:solidFill>
                      <a:srgbClr val="111827"/>
                    </a:solidFill>
                    <a:latin typeface="Arial"/>
                  </a:rPr>
                  <a:t>: only </a:t>
                </a:r>
                <a:r>
                  <a:rPr lang="en-IN" sz="2400">
                    <a:solidFill>
                      <a:srgbClr val="111827"/>
                    </a:solidFill>
                    <a:latin typeface="Cambria Math" panose="02040503050406030204" pitchFamily="18" charset="0"/>
                  </a:rPr>
                  <a:t>$\{2,8\}$</a:t>
                </a:r>
                <a:r>
                  <a:rPr sz="2400" b="0">
                    <a:solidFill>
                      <a:srgbClr val="111827"/>
                    </a:solidFill>
                    <a:latin typeface="Arial"/>
                  </a:rPr>
                  <a:t>. So there are </a:t>
                </a:r>
                <a:r>
                  <a:rPr lang="en-IN" sz="2400">
                    <a:solidFill>
                      <a:srgbClr val="111827"/>
                    </a:solidFill>
                    <a:latin typeface="Cambria Math" panose="02040503050406030204" pitchFamily="18" charset="0"/>
                  </a:rPr>
                  <a:t>$7$</a:t>
                </a:r>
                <a:r>
                  <a:rPr sz="2400" b="0">
                    <a:solidFill>
                      <a:srgbClr val="111827"/>
                    </a:solidFill>
                    <a:latin typeface="Arial"/>
                  </a:rPr>
                  <a:t> valid digit sets.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Treating a leading zero as allowed, each set gives </a:t>
                </a:r>
                <a:r>
                  <a:rPr lang="en-IN" sz="2400">
                    <a:solidFill>
                      <a:srgbClr val="111827"/>
                    </a:solidFill>
                    <a:latin typeface="Cambria Math" panose="02040503050406030204" pitchFamily="18" charset="0"/>
                  </a:rPr>
                  <a:t>$5!=120$</a:t>
                </a:r>
                <a:r>
                  <a:rPr sz="2400" b="0">
                    <a:solidFill>
                      <a:srgbClr val="111827"/>
                    </a:solidFill>
                    <a:latin typeface="Arial"/>
                  </a:rPr>
                  <a:t> strings: </a:t>
                </a:r>
                <a:r>
                  <a:rPr lang="en-IN" sz="2400">
                    <a:solidFill>
                      <a:srgbClr val="111827"/>
                    </a:solidFill>
                    <a:latin typeface="Cambria Math" panose="02040503050406030204" pitchFamily="18" charset="0"/>
                  </a:rPr>
                  <a:t>$7\times120=840$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Sets containing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are those where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is not left out: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of the </a:t>
                </a:r>
                <a14:m>
                  <m:oMath xmlns:m="http://schemas.openxmlformats.org/officeDocument/2006/math">
                    <m:r>
                      <a:rPr lang="en-IN" sz="2400" i="1">
                        <a:solidFill>
                          <a:srgbClr val="111827"/>
                        </a:solidFill>
                        <a:latin typeface="Cambria Math" panose="02040503050406030204" pitchFamily="18" charset="0"/>
                      </a:rPr>
                      <m:t>7</m:t>
                    </m:r>
                  </m:oMath>
                </a14:m>
                <a:r>
                  <a:rPr sz="2400" b="0">
                    <a:solidFill>
                      <a:srgbClr val="111827"/>
                    </a:solidFill>
                    <a:latin typeface="Arial"/>
                  </a:rPr>
                  <a:t> sets (left out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 such a set, strings that start with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number </a:t>
                </a:r>
                <a14:m>
                  <m:oMath xmlns:m="http://schemas.openxmlformats.org/officeDocument/2006/math">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oMath>
                </a14:m>
                <a:r>
                  <a:rPr sz="2400" b="0">
                    <a:solidFill>
                      <a:srgbClr val="111827"/>
                    </a:solidFill>
                    <a:latin typeface="Arial"/>
                  </a:rPr>
                  <a:t>. Remove them: </a:t>
                </a:r>
                <a14:m>
                  <m:oMath xmlns:m="http://schemas.openxmlformats.org/officeDocument/2006/math">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 of five digit numbers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840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744</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Sets containing </a:t>
                </a:r>
                <a:r>
                  <a:rPr lang="en-IN" sz="2400">
                    <a:solidFill>
                      <a:srgbClr val="111827"/>
                    </a:solidFill>
                    <a:latin typeface="Cambria Math" panose="02040503050406030204" pitchFamily="18" charset="0"/>
                  </a:rPr>
                  <a:t>$0$</a:t>
                </a:r>
                <a:r>
                  <a:rPr sz="2400" b="0">
                    <a:solidFill>
                      <a:srgbClr val="111827"/>
                    </a:solidFill>
                    <a:latin typeface="Arial"/>
                  </a:rPr>
                  <a:t> are those where </a:t>
                </a:r>
                <a:r>
                  <a:rPr lang="en-IN" sz="2400">
                    <a:solidFill>
                      <a:srgbClr val="111827"/>
                    </a:solidFill>
                    <a:latin typeface="Cambria Math" panose="02040503050406030204" pitchFamily="18" charset="0"/>
                  </a:rPr>
                  <a:t>$0$</a:t>
                </a:r>
                <a:r>
                  <a:rPr sz="2400" b="0">
                    <a:solidFill>
                      <a:srgbClr val="111827"/>
                    </a:solidFill>
                    <a:latin typeface="Arial"/>
                  </a:rPr>
                  <a:t> is not left out: </a:t>
                </a:r>
                <a:r>
                  <a:rPr lang="en-IN" sz="2400">
                    <a:solidFill>
                      <a:srgbClr val="111827"/>
                    </a:solidFill>
                    <a:latin typeface="Cambria Math" panose="02040503050406030204" pitchFamily="18" charset="0"/>
                  </a:rPr>
                  <a:t>$4$</a:t>
                </a:r>
                <a:r>
                  <a:rPr sz="2400" b="0">
                    <a:solidFill>
                      <a:srgbClr val="111827"/>
                    </a:solidFill>
                    <a:latin typeface="Arial"/>
                  </a:rPr>
                  <a:t> of the </a:t>
                </a:r>
                <a:r>
                  <a:rPr lang="en-IN" sz="2400">
                    <a:solidFill>
                      <a:srgbClr val="111827"/>
                    </a:solidFill>
                    <a:latin typeface="Cambria Math" panose="02040503050406030204" pitchFamily="18" charset="0"/>
                  </a:rPr>
                  <a:t>$7$</a:t>
                </a:r>
                <a:r>
                  <a:rPr sz="2400" b="0">
                    <a:solidFill>
                      <a:srgbClr val="111827"/>
                    </a:solidFill>
                    <a:latin typeface="Arial"/>
                  </a:rPr>
                  <a:t> sets (left out </a:t>
                </a:r>
                <a:r>
                  <a:rPr lang="en-IN" sz="2400">
                    <a:solidFill>
                      <a:srgbClr val="111827"/>
                    </a:solidFill>
                    <a:latin typeface="Cambria Math" panose="02040503050406030204" pitchFamily="18" charset="0"/>
                  </a:rPr>
                  <a:t>$\{3,1\},\{3,4\},\{3,7\},\{2,8\}$</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 such a set, strings that start with </a:t>
                </a:r>
                <a:r>
                  <a:rPr lang="en-IN" sz="2400">
                    <a:solidFill>
                      <a:srgbClr val="111827"/>
                    </a:solidFill>
                    <a:latin typeface="Cambria Math" panose="02040503050406030204" pitchFamily="18" charset="0"/>
                  </a:rPr>
                  <a:t>$0$</a:t>
                </a:r>
                <a:r>
                  <a:rPr sz="2400" b="0">
                    <a:solidFill>
                      <a:srgbClr val="111827"/>
                    </a:solidFill>
                    <a:latin typeface="Arial"/>
                  </a:rPr>
                  <a:t> number </a:t>
                </a:r>
                <a:r>
                  <a:rPr lang="en-IN" sz="2400">
                    <a:solidFill>
                      <a:srgbClr val="111827"/>
                    </a:solidFill>
                    <a:latin typeface="Cambria Math" panose="02040503050406030204" pitchFamily="18" charset="0"/>
                  </a:rPr>
                  <a:t>$4!=24$</a:t>
                </a:r>
                <a:r>
                  <a:rPr sz="2400" b="0">
                    <a:solidFill>
                      <a:srgbClr val="111827"/>
                    </a:solidFill>
                    <a:latin typeface="Arial"/>
                  </a:rPr>
                  <a:t>. Remove them: </a:t>
                </a:r>
                <a:r>
                  <a:rPr lang="en-IN" sz="2400">
                    <a:solidFill>
                      <a:srgbClr val="111827"/>
                    </a:solidFill>
                    <a:latin typeface="Cambria Math" panose="02040503050406030204" pitchFamily="18" charset="0"/>
                  </a:rPr>
                  <a:t>$4\times24=96$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 of five digit numbers </a:t>
                </a:r>
                <a:r>
                  <a:rPr lang="en-IN" sz="2400">
                    <a:solidFill>
                      <a:srgbClr val="111827"/>
                    </a:solidFill>
                    <a:latin typeface="Cambria Math" panose="02040503050406030204" pitchFamily="18" charset="0"/>
                  </a:rPr>
                  <a:t>$=840-96=744$</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744</a:t>
            </a:r>
            <a:endParaRPr sz="2800">
              <a:solidFill>
                <a:srgbClr val="15803D"/>
              </a:solidFill>
            </a:endParaRP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number is divisible by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exactly when its digit sum is; so choose the *left-out* digits by residue mod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instead of listing digit sets.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Leading-zero rule: count all strings, then subtract the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-type strings starting with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 often shorter than treating the zero as a special case.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sets with a zero give </a:t>
                </a:r>
                <a14:m>
                  <m:oMath xmlns:m="http://schemas.openxmlformats.org/officeDocument/2006/math">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96</m:t>
                    </m:r>
                  </m:oMath>
                </a14:m>
                <a:r>
                  <a:rPr sz="2400" b="0">
                    <a:solidFill>
                      <a:srgbClr val="111827"/>
                    </a:solidFill>
                    <a:latin typeface="Arial"/>
                  </a:rPr>
                  <a:t> numbers, sets without a zero give </a:t>
                </a:r>
                <a14:m>
                  <m:oMath xmlns:m="http://schemas.openxmlformats.org/officeDocument/2006/math">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120</m:t>
                    </m:r>
                  </m:oMath>
                </a14:m>
                <a:r>
                  <a:rPr sz="2400" b="0">
                    <a:solidFill>
                      <a:srgbClr val="111827"/>
                    </a:solidFill>
                    <a:latin typeface="Arial"/>
                  </a:rPr>
                  <a:t> numbers (here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744</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number is divisible by </a:t>
                </a:r>
                <a:r>
                  <a:rPr lang="en-IN" sz="2400">
                    <a:solidFill>
                      <a:srgbClr val="111827"/>
                    </a:solidFill>
                    <a:latin typeface="Cambria Math" panose="02040503050406030204" pitchFamily="18" charset="0"/>
                  </a:rPr>
                  <a:t>$3$</a:t>
                </a:r>
                <a:r>
                  <a:rPr sz="2400" b="0">
                    <a:solidFill>
                      <a:srgbClr val="111827"/>
                    </a:solidFill>
                    <a:latin typeface="Arial"/>
                  </a:rPr>
                  <a:t> exactly when its digit sum is; so choose the *left-out* digits by residue mod </a:t>
                </a:r>
                <a:r>
                  <a:rPr lang="en-IN" sz="2400">
                    <a:solidFill>
                      <a:srgbClr val="111827"/>
                    </a:solidFill>
                    <a:latin typeface="Cambria Math" panose="02040503050406030204" pitchFamily="18" charset="0"/>
                  </a:rPr>
                  <a:t>$3$</a:t>
                </a:r>
                <a:r>
                  <a:rPr sz="2400" b="0">
                    <a:solidFill>
                      <a:srgbClr val="111827"/>
                    </a:solidFill>
                    <a:latin typeface="Arial"/>
                  </a:rPr>
                  <a:t> instead of listing digit sets.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Leading-zero rule: count all strings, then subtract the </a:t>
                </a:r>
                <a:r>
                  <a:rPr lang="en-IN" sz="2400">
                    <a:solidFill>
                      <a:srgbClr val="111827"/>
                    </a:solidFill>
                    <a:latin typeface="Cambria Math" panose="02040503050406030204" pitchFamily="18" charset="0"/>
                  </a:rPr>
                  <a:t>$(k-1)!$</a:t>
                </a:r>
                <a:r>
                  <a:rPr sz="2400" b="0">
                    <a:solidFill>
                      <a:srgbClr val="111827"/>
                    </a:solidFill>
                    <a:latin typeface="Arial"/>
                  </a:rPr>
                  <a:t>-type strings starting with </a:t>
                </a:r>
                <a:r>
                  <a:rPr lang="en-IN" sz="2400">
                    <a:solidFill>
                      <a:srgbClr val="111827"/>
                    </a:solidFill>
                    <a:latin typeface="Cambria Math" panose="02040503050406030204" pitchFamily="18" charset="0"/>
                  </a:rPr>
                  <a:t>$0$</a:t>
                </a:r>
                <a:r>
                  <a:rPr sz="2400" b="0">
                    <a:solidFill>
                      <a:srgbClr val="111827"/>
                    </a:solidFill>
                    <a:latin typeface="Arial"/>
                  </a:rPr>
                  <a:t> - often shorter than treating the zero as a special case.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sets with a zero give </a:t>
                </a:r>
                <a:r>
                  <a:rPr lang="en-IN" sz="2400">
                    <a:solidFill>
                      <a:srgbClr val="111827"/>
                    </a:solidFill>
                    <a:latin typeface="Cambria Math" panose="02040503050406030204" pitchFamily="18" charset="0"/>
                  </a:rPr>
                  <a:t>$4\cdot4!=96$</a:t>
                </a:r>
                <a:r>
                  <a:rPr sz="2400" b="0">
                    <a:solidFill>
                      <a:srgbClr val="111827"/>
                    </a:solidFill>
                    <a:latin typeface="Arial"/>
                  </a:rPr>
                  <a:t> numbers, sets without a zero give </a:t>
                </a:r>
                <a:r>
                  <a:rPr lang="en-IN" sz="2400">
                    <a:solidFill>
                      <a:srgbClr val="111827"/>
                    </a:solidFill>
                    <a:latin typeface="Cambria Math" panose="02040503050406030204" pitchFamily="18" charset="0"/>
                  </a:rPr>
                  <a:t>$5!=120$</a:t>
                </a:r>
                <a:r>
                  <a:rPr sz="2400" b="0">
                    <a:solidFill>
                      <a:srgbClr val="111827"/>
                    </a:solidFill>
                    <a:latin typeface="Arial"/>
                  </a:rPr>
                  <a:t> numbers (here </a:t>
                </a:r>
                <a:r>
                  <a:rPr lang="en-IN" sz="2400">
                    <a:solidFill>
                      <a:srgbClr val="111827"/>
                    </a:solidFill>
                    <a:latin typeface="Cambria Math" panose="02040503050406030204" pitchFamily="18" charset="0"/>
                  </a:rPr>
                  <a:t>$3\times120+4\times96=744$</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How many positive integers of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digits exist such that each digit is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How many of these contain all three of the digits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at least once?</a:t>
                </a:r>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How many positive integers of </a:t>
                </a:r>
                <a:r>
                  <a:rPr lang="en-IN" sz="2400">
                    <a:solidFill>
                      <a:srgbClr val="111827"/>
                    </a:solidFill>
                    <a:latin typeface="Cambria Math" panose="02040503050406030204" pitchFamily="18" charset="0"/>
                  </a:rPr>
                  <a:t>$n$</a:t>
                </a:r>
                <a:r>
                  <a:rPr sz="2400" b="0">
                    <a:solidFill>
                      <a:srgbClr val="111827"/>
                    </a:solidFill>
                    <a:latin typeface="Arial"/>
                  </a:rPr>
                  <a:t> digits exist such that each digit is </a:t>
                </a:r>
                <a:r>
                  <a:rPr lang="en-IN" sz="2400">
                    <a:solidFill>
                      <a:srgbClr val="111827"/>
                    </a:solidFill>
                    <a:latin typeface="Cambria Math" panose="02040503050406030204" pitchFamily="18" charset="0"/>
                  </a:rPr>
                  <a:t>$1$</a:t>
                </a:r>
                <a:r>
                  <a:rPr sz="2400" b="0">
                    <a:solidFill>
                      <a:srgbClr val="111827"/>
                    </a:solidFill>
                    <a:latin typeface="Arial"/>
                  </a:rPr>
                  <a:t>, </a:t>
                </a:r>
                <a:r>
                  <a:rPr lang="en-IN" sz="2400">
                    <a:solidFill>
                      <a:srgbClr val="111827"/>
                    </a:solidFill>
                    <a:latin typeface="Cambria Math" panose="02040503050406030204" pitchFamily="18" charset="0"/>
                  </a:rPr>
                  <a:t>$2$</a:t>
                </a:r>
                <a:r>
                  <a:rPr sz="2400" b="0">
                    <a:solidFill>
                      <a:srgbClr val="111827"/>
                    </a:solidFill>
                    <a:latin typeface="Arial"/>
                  </a:rPr>
                  <a:t> or </a:t>
                </a:r>
                <a:r>
                  <a:rPr lang="en-IN" sz="2400">
                    <a:solidFill>
                      <a:srgbClr val="111827"/>
                    </a:solidFill>
                    <a:latin typeface="Cambria Math" panose="02040503050406030204" pitchFamily="18" charset="0"/>
                  </a:rPr>
                  <a:t>$3$</a:t>
                </a:r>
                <a:r>
                  <a:rPr sz="2400" b="0">
                    <a:solidFill>
                      <a:srgbClr val="111827"/>
                    </a:solidFill>
                    <a:latin typeface="Arial"/>
                  </a:rPr>
                  <a:t>? How many of these contain all three of the digits </a:t>
                </a:r>
                <a:r>
                  <a:rPr lang="en-IN" sz="2400">
                    <a:solidFill>
                      <a:srgbClr val="111827"/>
                    </a:solidFill>
                    <a:latin typeface="Cambria Math" panose="02040503050406030204" pitchFamily="18" charset="0"/>
                  </a:rPr>
                  <a:t>$1,2$</a:t>
                </a:r>
                <a:r>
                  <a:rPr sz="2400" b="0">
                    <a:solidFill>
                      <a:srgbClr val="111827"/>
                    </a:solidFill>
                    <a:latin typeface="Arial"/>
                  </a:rPr>
                  <a:t> and </a:t>
                </a:r>
                <a:r>
                  <a:rPr lang="en-IN" sz="2400">
                    <a:solidFill>
                      <a:srgbClr val="111827"/>
                    </a:solidFill>
                    <a:latin typeface="Cambria Math" panose="02040503050406030204" pitchFamily="18" charset="0"/>
                  </a:rPr>
                  <a:t>$3$</a:t>
                </a:r>
                <a:r>
                  <a:rPr sz="2400" b="0">
                    <a:solidFill>
                      <a:srgbClr val="111827"/>
                    </a:solidFill>
                    <a:latin typeface="Arial"/>
                  </a:rPr>
                  <a:t> at least once?</a:t>
                </a:r>
                <a:endParaRPr sz="2400">
                  <a:solidFill>
                    <a:srgbClr val="111827"/>
                  </a:solidFill>
                </a:endParaRPr>
              </a:p>
            </p:txBody>
          </p:sp>
        </mc:Fallback>
      </mc:AlternateContent>
      <p:sp>
        <p:nvSpPr>
          <p:cNvPr id="5" name="Rectangle 4"/>
          <p:cNvSpPr/>
          <p:nvPr/>
        </p:nvSpPr>
        <p:spPr>
          <a:xfrm>
            <a:off x="731520" y="3246120"/>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Counting strings and surjective digit patterns (inclusion-exclusion)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Subtract the numbers that miss at least one digit, and count each such number only once (inclusion-exclusion).</a:t>
            </a:r>
            <a:endParaRPr sz="24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Each of the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places can be filled in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ways, so there are </a:t>
                </a:r>
                <a14:m>
                  <m:oMath xmlns:m="http://schemas.openxmlformats.org/officeDocument/2006/math">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 such numbers.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 Required count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total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(numbers in which at least one of the digits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is missing).</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Numbers using only a chosen pair of digits: </a:t>
                </a:r>
                <a14:m>
                  <m:oMath xmlns:m="http://schemas.openxmlformats.org/officeDocument/2006/math">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 for each of the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pairs, so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 in all.</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Each of the </a:t>
                </a:r>
                <a:r>
                  <a:rPr lang="en-IN" sz="2400">
                    <a:solidFill>
                      <a:srgbClr val="111827"/>
                    </a:solidFill>
                    <a:latin typeface="Cambria Math" panose="02040503050406030204" pitchFamily="18" charset="0"/>
                  </a:rPr>
                  <a:t>$n$</a:t>
                </a:r>
                <a:r>
                  <a:rPr sz="2400" b="0">
                    <a:solidFill>
                      <a:srgbClr val="111827"/>
                    </a:solidFill>
                    <a:latin typeface="Arial"/>
                  </a:rPr>
                  <a:t> places can be filled in </a:t>
                </a:r>
                <a:r>
                  <a:rPr lang="en-IN" sz="2400">
                    <a:solidFill>
                      <a:srgbClr val="111827"/>
                    </a:solidFill>
                    <a:latin typeface="Cambria Math" panose="02040503050406030204" pitchFamily="18" charset="0"/>
                  </a:rPr>
                  <a:t>$3$</a:t>
                </a:r>
                <a:r>
                  <a:rPr sz="2400" b="0">
                    <a:solidFill>
                      <a:srgbClr val="111827"/>
                    </a:solidFill>
                    <a:latin typeface="Arial"/>
                  </a:rPr>
                  <a:t> ways, so there are </a:t>
                </a:r>
                <a:r>
                  <a:rPr lang="en-IN" sz="2400">
                    <a:solidFill>
                      <a:srgbClr val="111827"/>
                    </a:solidFill>
                    <a:latin typeface="Cambria Math" panose="02040503050406030204" pitchFamily="18" charset="0"/>
                  </a:rPr>
                  <a:t>$3^n$</a:t>
                </a:r>
                <a:r>
                  <a:rPr sz="2400" b="0">
                    <a:solidFill>
                      <a:srgbClr val="111827"/>
                    </a:solidFill>
                    <a:latin typeface="Arial"/>
                  </a:rPr>
                  <a:t> such numbers.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 Required count </a:t>
                </a:r>
                <a:r>
                  <a:rPr lang="en-IN" sz="2400">
                    <a:solidFill>
                      <a:srgbClr val="111827"/>
                    </a:solidFill>
                    <a:latin typeface="Cambria Math" panose="02040503050406030204" pitchFamily="18" charset="0"/>
                  </a:rPr>
                  <a:t>$=$</a:t>
                </a:r>
                <a:r>
                  <a:rPr sz="2400" b="0">
                    <a:solidFill>
                      <a:srgbClr val="111827"/>
                    </a:solidFill>
                    <a:latin typeface="Arial"/>
                  </a:rPr>
                  <a:t> total </a:t>
                </a:r>
                <a:r>
                  <a:rPr lang="en-IN" sz="2400">
                    <a:solidFill>
                      <a:srgbClr val="111827"/>
                    </a:solidFill>
                    <a:latin typeface="Cambria Math" panose="02040503050406030204" pitchFamily="18" charset="0"/>
                  </a:rPr>
                  <a:t>$-$</a:t>
                </a:r>
                <a:r>
                  <a:rPr sz="2400" b="0">
                    <a:solidFill>
                      <a:srgbClr val="111827"/>
                    </a:solidFill>
                    <a:latin typeface="Arial"/>
                  </a:rPr>
                  <a:t> (numbers in which at least one of the digits </a:t>
                </a:r>
                <a:r>
                  <a:rPr lang="en-IN" sz="2400">
                    <a:solidFill>
                      <a:srgbClr val="111827"/>
                    </a:solidFill>
                    <a:latin typeface="Cambria Math" panose="02040503050406030204" pitchFamily="18" charset="0"/>
                  </a:rPr>
                  <a:t>$1,2,3$</a:t>
                </a:r>
                <a:r>
                  <a:rPr sz="2400" b="0">
                    <a:solidFill>
                      <a:srgbClr val="111827"/>
                    </a:solidFill>
                    <a:latin typeface="Arial"/>
                  </a:rPr>
                  <a:t> is missing).</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Numbers using only a chosen pair of digits: </a:t>
                </a:r>
                <a:r>
                  <a:rPr lang="en-IN" sz="2400">
                    <a:solidFill>
                      <a:srgbClr val="111827"/>
                    </a:solidFill>
                    <a:latin typeface="Cambria Math" panose="02040503050406030204" pitchFamily="18" charset="0"/>
                  </a:rPr>
                  <a:t>$2^n$</a:t>
                </a:r>
                <a:r>
                  <a:rPr sz="2400" b="0">
                    <a:solidFill>
                      <a:srgbClr val="111827"/>
                    </a:solidFill>
                    <a:latin typeface="Arial"/>
                  </a:rPr>
                  <a:t> for each of the </a:t>
                </a:r>
                <a:r>
                  <a:rPr lang="en-IN" sz="2400">
                    <a:solidFill>
                      <a:srgbClr val="111827"/>
                    </a:solidFill>
                    <a:latin typeface="Cambria Math" panose="02040503050406030204" pitchFamily="18" charset="0"/>
                  </a:rPr>
                  <a:t>$\binom{3}{2}=3$</a:t>
                </a:r>
                <a:r>
                  <a:rPr sz="2400" b="0">
                    <a:solidFill>
                      <a:srgbClr val="111827"/>
                    </a:solidFill>
                    <a:latin typeface="Arial"/>
                  </a:rPr>
                  <a:t> pairs, so </a:t>
                </a:r>
                <a:r>
                  <a:rPr lang="en-IN" sz="2400">
                    <a:solidFill>
                      <a:srgbClr val="111827"/>
                    </a:solidFill>
                    <a:latin typeface="Cambria Math" panose="02040503050406030204" pitchFamily="18" charset="0"/>
                  </a:rPr>
                  <a:t>$3\cdot2^n$</a:t>
                </a:r>
                <a:r>
                  <a:rPr sz="2400" b="0">
                    <a:solidFill>
                      <a:srgbClr val="111827"/>
                    </a:solidFill>
                    <a:latin typeface="Arial"/>
                  </a:rPr>
                  <a:t> in all.</a:t>
                </a:r>
                <a:endParaRPr sz="2400">
                  <a:solidFill>
                    <a:srgbClr val="111827"/>
                  </a:solidFill>
                </a:endParaRPr>
              </a:p>
            </p:txBody>
          </p:sp>
        </mc:Fallback>
      </mc:AlternateContent>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number using only one digit (there are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of them) is contained in two of the three pair-counts, so it was counted twice; subtract one copy each.</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Numbers missing at least one digit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Numbers containing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at least once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number using only one digit (there are </a:t>
                </a:r>
                <a:r>
                  <a:rPr lang="en-IN" sz="2400">
                    <a:solidFill>
                      <a:srgbClr val="111827"/>
                    </a:solidFill>
                    <a:latin typeface="Cambria Math" panose="02040503050406030204" pitchFamily="18" charset="0"/>
                  </a:rPr>
                  <a:t>$3$</a:t>
                </a:r>
                <a:r>
                  <a:rPr sz="2400" b="0">
                    <a:solidFill>
                      <a:srgbClr val="111827"/>
                    </a:solidFill>
                    <a:latin typeface="Arial"/>
                  </a:rPr>
                  <a:t> of them) is contained in two of the three pair-counts, so it was counted twice; subtract one copy each.</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Numbers missing at least one digit </a:t>
                </a:r>
                <a:r>
                  <a:rPr lang="en-IN" sz="2400">
                    <a:solidFill>
                      <a:srgbClr val="111827"/>
                    </a:solidFill>
                    <a:latin typeface="Cambria Math" panose="02040503050406030204" pitchFamily="18" charset="0"/>
                  </a:rPr>
                  <a:t>$=3\cdot2^n-3$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Numbers containing </a:t>
                </a:r>
                <a:r>
                  <a:rPr lang="en-IN" sz="2400">
                    <a:solidFill>
                      <a:srgbClr val="111827"/>
                    </a:solidFill>
                    <a:latin typeface="Cambria Math" panose="02040503050406030204" pitchFamily="18" charset="0"/>
                  </a:rPr>
                  <a:t>$1,2,3$</a:t>
                </a:r>
                <a:r>
                  <a:rPr sz="2400" b="0">
                    <a:solidFill>
                      <a:srgbClr val="111827"/>
                    </a:solidFill>
                    <a:latin typeface="Arial"/>
                  </a:rPr>
                  <a:t> at least once </a:t>
                </a:r>
                <a:r>
                  <a:rPr lang="en-IN" sz="2400">
                    <a:solidFill>
                      <a:srgbClr val="111827"/>
                    </a:solidFill>
                    <a:latin typeface="Cambria Math" panose="02040503050406030204" pitchFamily="18" charset="0"/>
                  </a:rPr>
                  <a:t>$=3^n-(3\cdot2^n-3)=3^n-3\cdot2^n+3$</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14:m>
                  <m:oMath xmlns:m="http://schemas.openxmlformats.org/officeDocument/2006/math">
                    <m:sSup>
                      <m:e>
                        <m:r>
                          <a:rPr lang="en-IN" sz="2800" i="1">
                            <a:solidFill>
                              <a:srgbClr val="15803D"/>
                            </a:solidFill>
                            <a:latin typeface="Cambria Math" panose="02040503050406030204" pitchFamily="18" charset="0"/>
                          </a:rPr>
                          <m:t>3</m:t>
                        </m:r>
                      </m:e>
                      <m:sup>
                        <m:r>
                          <a:rPr lang="en-IN" sz="2800" i="1">
                            <a:solidFill>
                              <a:srgbClr val="15803D"/>
                            </a:solidFill>
                            <a:latin typeface="Cambria Math" panose="02040503050406030204" pitchFamily="18" charset="0"/>
                          </a:rPr>
                          <m:t>𝑛</m:t>
                        </m:r>
                      </m:sup>
                    </m:sSup>
                  </m:oMath>
                </a14:m>
                <a:r>
                  <a:rPr sz="2800" b="1">
                    <a:solidFill>
                      <a:srgbClr val="15803D"/>
                    </a:solidFill>
                    <a:latin typeface="Arial"/>
                  </a:rPr>
                  <a:t> ;  </a:t>
                </a:r>
                <a14:m>
                  <m:oMath xmlns:m="http://schemas.openxmlformats.org/officeDocument/2006/math">
                    <m:sSup>
                      <m:e>
                        <m:r>
                          <a:rPr lang="en-IN" sz="2800" i="1">
                            <a:solidFill>
                              <a:srgbClr val="15803D"/>
                            </a:solidFill>
                            <a:latin typeface="Cambria Math" panose="02040503050406030204" pitchFamily="18" charset="0"/>
                          </a:rPr>
                          <m:t>3</m:t>
                        </m:r>
                      </m:e>
                      <m:sup>
                        <m:r>
                          <a:rPr lang="en-IN" sz="2800" i="1">
                            <a:solidFill>
                              <a:srgbClr val="15803D"/>
                            </a:solidFill>
                            <a:latin typeface="Cambria Math" panose="02040503050406030204" pitchFamily="18" charset="0"/>
                          </a:rPr>
                          <m:t>𝑛</m:t>
                        </m:r>
                      </m:sup>
                    </m:sSup>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3</m:t>
                    </m:r>
                    <m:r>
                      <m:rPr>
                        <m:sty m:val="p"/>
                      </m:rPr>
                      <a:rPr lang="en-IN" sz="2800">
                        <a:solidFill>
                          <a:srgbClr val="15803D"/>
                        </a:solidFill>
                        <a:latin typeface="Cambria Math" panose="02040503050406030204" pitchFamily="18" charset="0"/>
                      </a:rPr>
                      <m:t>⋅</m:t>
                    </m:r>
                    <m:sSup>
                      <m:e>
                        <m:r>
                          <a:rPr lang="en-IN" sz="2800" i="1">
                            <a:solidFill>
                              <a:srgbClr val="15803D"/>
                            </a:solidFill>
                            <a:latin typeface="Cambria Math" panose="02040503050406030204" pitchFamily="18" charset="0"/>
                          </a:rPr>
                          <m:t>2</m:t>
                        </m:r>
                      </m:e>
                      <m:sup>
                        <m:r>
                          <a:rPr lang="en-IN" sz="2800" i="1">
                            <a:solidFill>
                              <a:srgbClr val="15803D"/>
                            </a:solidFill>
                            <a:latin typeface="Cambria Math" panose="02040503050406030204" pitchFamily="18" charset="0"/>
                          </a:rPr>
                          <m:t>𝑛</m:t>
                        </m:r>
                      </m:sup>
                    </m:sSup>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3</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r>
                  <a:rPr lang="en-IN" sz="2800">
                    <a:solidFill>
                      <a:srgbClr val="15803D"/>
                    </a:solidFill>
                    <a:latin typeface="Cambria Math" panose="02040503050406030204" pitchFamily="18" charset="0"/>
                  </a:rPr>
                  <a:t>$3^n$</a:t>
                </a:r>
                <a:r>
                  <a:rPr sz="2800" b="1">
                    <a:solidFill>
                      <a:srgbClr val="15803D"/>
                    </a:solidFill>
                    <a:latin typeface="Arial"/>
                  </a:rPr>
                  <a:t> ;  </a:t>
                </a:r>
                <a:r>
                  <a:rPr lang="en-IN" sz="2800">
                    <a:solidFill>
                      <a:srgbClr val="15803D"/>
                    </a:solidFill>
                    <a:latin typeface="Cambria Math" panose="02040503050406030204" pitchFamily="18" charset="0"/>
                  </a:rPr>
                  <a:t>$3^n-3\cdot2^n+3$</a:t>
                </a:r>
                <a:endParaRPr sz="2800">
                  <a:solidFill>
                    <a:srgbClr val="15803D"/>
                  </a:solidFill>
                </a:endParaRPr>
              </a:p>
            </p:txBody>
          </p:sp>
        </mc:Fallback>
      </mc:AlternateContent>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Split by the position </a:t>
                </a:r>
                <a14:m>
                  <m:oMath xmlns:m="http://schemas.openxmlformats.org/officeDocument/2006/math">
                    <m:r>
                      <a:rPr lang="en-IN" sz="2400" i="1">
                        <a:solidFill>
                          <a:srgbClr val="78350F"/>
                        </a:solidFill>
                        <a:latin typeface="Cambria Math" panose="02040503050406030204" pitchFamily="18" charset="0"/>
                      </a:rPr>
                      <m:t>𝑘</m:t>
                    </m:r>
                  </m:oMath>
                </a14:m>
                <a:r>
                  <a:rPr sz="2400" b="0">
                    <a:solidFill>
                      <a:srgbClr val="78350F"/>
                    </a:solidFill>
                    <a:latin typeface="Arial"/>
                  </a:rPr>
                  <a:t> at which the third distinct digit first appears.</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Split by the position </a:t>
                </a:r>
                <a:r>
                  <a:rPr lang="en-IN" sz="2400">
                    <a:solidFill>
                      <a:srgbClr val="78350F"/>
                    </a:solidFill>
                    <a:latin typeface="Cambria Math" panose="02040503050406030204" pitchFamily="18" charset="0"/>
                  </a:rPr>
                  <a:t>$k$</a:t>
                </a:r>
                <a:r>
                  <a:rPr sz="2400" b="0">
                    <a:solidFill>
                      <a:srgbClr val="78350F"/>
                    </a:solidFill>
                    <a:latin typeface="Arial"/>
                  </a:rPr>
                  <a:t> at which the third distinct digit first appears.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the third new digit first appear at position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 first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places use exactly two digits, both present: </a:t>
                </a:r>
                <a14:m>
                  <m:oMath xmlns:m="http://schemas.openxmlformats.org/officeDocument/2006/math">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ways for a chosen pair, and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choices of the pair (the third digit is then fixed).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Position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 is that third digit; the remaining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oMath>
                </a14:m>
                <a:r>
                  <a:rPr sz="2400" b="0">
                    <a:solidFill>
                      <a:srgbClr val="111827"/>
                    </a:solidFill>
                    <a:latin typeface="Arial"/>
                  </a:rPr>
                  <a:t> places are free: </a:t>
                </a:r>
                <a14:m>
                  <m:oMath xmlns:m="http://schemas.openxmlformats.org/officeDocument/2006/math">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sup>
                    </m:sSup>
                  </m:oMath>
                </a14:m>
                <a:r>
                  <a:rPr sz="2400" b="0">
                    <a:solidFill>
                      <a:srgbClr val="111827"/>
                    </a:solidFill>
                    <a:latin typeface="Arial"/>
                  </a:rPr>
                  <a:t> ways.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Count </a:t>
                </a:r>
                <a14:m>
                  <m:oMath xmlns:m="http://schemas.openxmlformats.org/officeDocument/2006/math">
                    <m:r>
                      <m:rPr>
                        <m:sty m:val="p"/>
                      </m:rPr>
                      <a:rPr lang="en-IN" sz="2400">
                        <a:solidFill>
                          <a:srgbClr val="111827"/>
                        </a:solidFill>
                        <a:latin typeface="Cambria Math" panose="02040503050406030204" pitchFamily="18" charset="0"/>
                      </a:rPr>
                      <m:t>=</m:t>
                    </m:r>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ub>
                      <m:sup>
                        <m:r>
                          <a:rPr lang="en-IN" sz="2400" i="1">
                            <a:solidFill>
                              <a:srgbClr val="111827"/>
                            </a:solidFill>
                            <a:latin typeface="Cambria Math" panose="02040503050406030204" pitchFamily="18" charset="0"/>
                          </a:rPr>
                          <m:t>𝑛</m:t>
                        </m:r>
                      </m:sup>
                      <m:e>
                        <m:r>
                          <a:rPr lang="en-IN" sz="2400" i="1">
                            <a:solidFill>
                              <a:srgbClr val="111827"/>
                            </a:solidFill>
                            <a:latin typeface="Cambria Math" panose="02040503050406030204" pitchFamily="18" charset="0"/>
                          </a:rPr>
                          <m:t>3</m:t>
                        </m:r>
                      </m:e>
                    </m:nary>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sup>
                    </m:sSup>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the third new digit first appear at position </a:t>
                </a:r>
                <a:r>
                  <a:rPr lang="en-IN" sz="2400">
                    <a:solidFill>
                      <a:srgbClr val="111827"/>
                    </a:solidFill>
                    <a:latin typeface="Cambria Math" panose="02040503050406030204" pitchFamily="18" charset="0"/>
                  </a:rPr>
                  <a:t>$k$</a:t>
                </a:r>
                <a:r>
                  <a:rPr sz="2400" b="0">
                    <a:solidFill>
                      <a:srgbClr val="111827"/>
                    </a:solidFill>
                    <a:latin typeface="Arial"/>
                  </a:rPr>
                  <a:t> </a:t>
                </a:r>
                <a:r>
                  <a:rPr lang="en-IN" sz="2400">
                    <a:solidFill>
                      <a:srgbClr val="111827"/>
                    </a:solidFill>
                    <a:latin typeface="Cambria Math" panose="02040503050406030204" pitchFamily="18" charset="0"/>
                  </a:rPr>
                  <a:t>$(3\le k\le n)$</a:t>
                </a:r>
                <a:r>
                  <a:rPr sz="2400" b="0">
                    <a:solidFill>
                      <a:srgbClr val="111827"/>
                    </a:solidFill>
                    <a:latin typeface="Arial"/>
                  </a:rPr>
                  <a:t>. The first </a:t>
                </a:r>
                <a:r>
                  <a:rPr lang="en-IN" sz="2400">
                    <a:solidFill>
                      <a:srgbClr val="111827"/>
                    </a:solidFill>
                    <a:latin typeface="Cambria Math" panose="02040503050406030204" pitchFamily="18" charset="0"/>
                  </a:rPr>
                  <a:t>$k-1$</a:t>
                </a:r>
                <a:r>
                  <a:rPr sz="2400" b="0">
                    <a:solidFill>
                      <a:srgbClr val="111827"/>
                    </a:solidFill>
                    <a:latin typeface="Arial"/>
                  </a:rPr>
                  <a:t> places use exactly two digits, both present: </a:t>
                </a:r>
                <a:r>
                  <a:rPr lang="en-IN" sz="2400">
                    <a:solidFill>
                      <a:srgbClr val="111827"/>
                    </a:solidFill>
                    <a:latin typeface="Cambria Math" panose="02040503050406030204" pitchFamily="18" charset="0"/>
                  </a:rPr>
                  <a:t>$2^{k-1}-2$</a:t>
                </a:r>
                <a:r>
                  <a:rPr sz="2400" b="0">
                    <a:solidFill>
                      <a:srgbClr val="111827"/>
                    </a:solidFill>
                    <a:latin typeface="Arial"/>
                  </a:rPr>
                  <a:t> ways for a chosen pair, and </a:t>
                </a:r>
                <a:r>
                  <a:rPr lang="en-IN" sz="2400">
                    <a:solidFill>
                      <a:srgbClr val="111827"/>
                    </a:solidFill>
                    <a:latin typeface="Cambria Math" panose="02040503050406030204" pitchFamily="18" charset="0"/>
                  </a:rPr>
                  <a:t>$3$</a:t>
                </a:r>
                <a:r>
                  <a:rPr sz="2400" b="0">
                    <a:solidFill>
                      <a:srgbClr val="111827"/>
                    </a:solidFill>
                    <a:latin typeface="Arial"/>
                  </a:rPr>
                  <a:t> choices of the pair (the third digit is then fixed).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Position </a:t>
                </a:r>
                <a:r>
                  <a:rPr lang="en-IN" sz="2400">
                    <a:solidFill>
                      <a:srgbClr val="111827"/>
                    </a:solidFill>
                    <a:latin typeface="Cambria Math" panose="02040503050406030204" pitchFamily="18" charset="0"/>
                  </a:rPr>
                  <a:t>$k$</a:t>
                </a:r>
                <a:r>
                  <a:rPr sz="2400" b="0">
                    <a:solidFill>
                      <a:srgbClr val="111827"/>
                    </a:solidFill>
                    <a:latin typeface="Arial"/>
                  </a:rPr>
                  <a:t> is that third digit; the remaining </a:t>
                </a:r>
                <a:r>
                  <a:rPr lang="en-IN" sz="2400">
                    <a:solidFill>
                      <a:srgbClr val="111827"/>
                    </a:solidFill>
                    <a:latin typeface="Cambria Math" panose="02040503050406030204" pitchFamily="18" charset="0"/>
                  </a:rPr>
                  <a:t>$n-k$</a:t>
                </a:r>
                <a:r>
                  <a:rPr sz="2400" b="0">
                    <a:solidFill>
                      <a:srgbClr val="111827"/>
                    </a:solidFill>
                    <a:latin typeface="Arial"/>
                  </a:rPr>
                  <a:t> places are free: </a:t>
                </a:r>
                <a:r>
                  <a:rPr lang="en-IN" sz="2400">
                    <a:solidFill>
                      <a:srgbClr val="111827"/>
                    </a:solidFill>
                    <a:latin typeface="Cambria Math" panose="02040503050406030204" pitchFamily="18" charset="0"/>
                  </a:rPr>
                  <a:t>$3^{n-k}$</a:t>
                </a:r>
                <a:r>
                  <a:rPr sz="2400" b="0">
                    <a:solidFill>
                      <a:srgbClr val="111827"/>
                    </a:solidFill>
                    <a:latin typeface="Arial"/>
                  </a:rPr>
                  <a:t> ways.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Count </a:t>
                </a:r>
                <a:r>
                  <a:rPr lang="en-IN" sz="2400">
                    <a:solidFill>
                      <a:srgbClr val="111827"/>
                    </a:solidFill>
                    <a:latin typeface="Cambria Math" panose="02040503050406030204" pitchFamily="18" charset="0"/>
                  </a:rPr>
                  <a:t>$=\sum_{k=3}^{n}3\,(2^{k-1}-2)\,3^{n-k}$</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Check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Check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m:t>
                    </m:r>
                  </m:oMath>
                </a14:m>
                <a:r>
                  <a:rPr sz="2400" b="0">
                    <a:solidFill>
                      <a:srgbClr val="111827"/>
                    </a:solidFill>
                    <a:latin typeface="Arial"/>
                  </a:rPr>
                  <a:t>; total </a:t>
                </a:r>
                <a14:m>
                  <m:oMath xmlns:m="http://schemas.openxmlformats.org/officeDocument/2006/math">
                    <m:r>
                      <a:rPr lang="en-IN" sz="2400" i="1">
                        <a:solidFill>
                          <a:srgbClr val="111827"/>
                        </a:solidFill>
                        <a:latin typeface="Cambria Math" panose="02040503050406030204" pitchFamily="18" charset="0"/>
                      </a:rPr>
                      <m:t>36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Summing the two geometric series gives </a:t>
                </a:r>
                <a14:m>
                  <m:oMath xmlns:m="http://schemas.openxmlformats.org/officeDocument/2006/math">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for every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(verified for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Check </a:t>
                </a:r>
                <a:r>
                  <a:rPr lang="en-IN" sz="2400">
                    <a:solidFill>
                      <a:srgbClr val="111827"/>
                    </a:solidFill>
                    <a:latin typeface="Cambria Math" panose="02040503050406030204" pitchFamily="18" charset="0"/>
                  </a:rPr>
                  <a:t>$n=3$</a:t>
                </a:r>
                <a:r>
                  <a:rPr sz="2400" b="0">
                    <a:solidFill>
                      <a:srgbClr val="111827"/>
                    </a:solidFill>
                    <a:latin typeface="Arial"/>
                  </a:rPr>
                  <a:t>: </a:t>
                </a:r>
                <a:r>
                  <a:rPr lang="en-IN" sz="2400">
                    <a:solidFill>
                      <a:srgbClr val="111827"/>
                    </a:solidFill>
                    <a:latin typeface="Cambria Math" panose="02040503050406030204" pitchFamily="18" charset="0"/>
                  </a:rPr>
                  <a:t>$3(4-2)=6=3!$</a:t>
                </a:r>
                <a:r>
                  <a:rPr sz="2400" b="0">
                    <a:solidFill>
                      <a:srgbClr val="111827"/>
                    </a:solidFill>
                    <a:latin typeface="Arial"/>
                  </a:rPr>
                  <a:t>. Check </a:t>
                </a:r>
                <a:r>
                  <a:rPr lang="en-IN" sz="2400">
                    <a:solidFill>
                      <a:srgbClr val="111827"/>
                    </a:solidFill>
                    <a:latin typeface="Cambria Math" panose="02040503050406030204" pitchFamily="18" charset="0"/>
                  </a:rPr>
                  <a:t>$n=4$</a:t>
                </a:r>
                <a:r>
                  <a:rPr sz="2400" b="0">
                    <a:solidFill>
                      <a:srgbClr val="111827"/>
                    </a:solidFill>
                    <a:latin typeface="Arial"/>
                  </a:rPr>
                  <a:t>: </a:t>
                </a:r>
                <a:r>
                  <a:rPr lang="en-IN" sz="2400">
                    <a:solidFill>
                      <a:srgbClr val="111827"/>
                    </a:solidFill>
                    <a:latin typeface="Cambria Math" panose="02040503050406030204" pitchFamily="18" charset="0"/>
                  </a:rPr>
                  <a:t>$k=3$</a:t>
                </a:r>
                <a:r>
                  <a:rPr sz="2400" b="0">
                    <a:solidFill>
                      <a:srgbClr val="111827"/>
                    </a:solidFill>
                    <a:latin typeface="Arial"/>
                  </a:rPr>
                  <a:t> gives </a:t>
                </a:r>
                <a:r>
                  <a:rPr lang="en-IN" sz="2400">
                    <a:solidFill>
                      <a:srgbClr val="111827"/>
                    </a:solidFill>
                    <a:latin typeface="Cambria Math" panose="02040503050406030204" pitchFamily="18" charset="0"/>
                  </a:rPr>
                  <a:t>$3\cdot2\cdot3=18$</a:t>
                </a:r>
                <a:r>
                  <a:rPr sz="2400" b="0">
                    <a:solidFill>
                      <a:srgbClr val="111827"/>
                    </a:solidFill>
                    <a:latin typeface="Arial"/>
                  </a:rPr>
                  <a:t>, </a:t>
                </a:r>
                <a:r>
                  <a:rPr lang="en-IN" sz="2400">
                    <a:solidFill>
                      <a:srgbClr val="111827"/>
                    </a:solidFill>
                    <a:latin typeface="Cambria Math" panose="02040503050406030204" pitchFamily="18" charset="0"/>
                  </a:rPr>
                  <a:t>$k=4$</a:t>
                </a:r>
                <a:r>
                  <a:rPr sz="2400" b="0">
                    <a:solidFill>
                      <a:srgbClr val="111827"/>
                    </a:solidFill>
                    <a:latin typeface="Arial"/>
                  </a:rPr>
                  <a:t> gives </a:t>
                </a:r>
                <a:r>
                  <a:rPr lang="en-IN" sz="2400">
                    <a:solidFill>
                      <a:srgbClr val="111827"/>
                    </a:solidFill>
                    <a:latin typeface="Cambria Math" panose="02040503050406030204" pitchFamily="18" charset="0"/>
                  </a:rPr>
                  <a:t>$3\cdot6=18$</a:t>
                </a:r>
                <a:r>
                  <a:rPr sz="2400" b="0">
                    <a:solidFill>
                      <a:srgbClr val="111827"/>
                    </a:solidFill>
                    <a:latin typeface="Arial"/>
                  </a:rPr>
                  <a:t>; total </a:t>
                </a:r>
                <a:r>
                  <a:rPr lang="en-IN" sz="2400">
                    <a:solidFill>
                      <a:srgbClr val="111827"/>
                    </a:solidFill>
                    <a:latin typeface="Cambria Math" panose="02040503050406030204" pitchFamily="18" charset="0"/>
                  </a:rPr>
                  <a:t>$36=81-48+3$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Summing the two geometric series gives </a:t>
                </a:r>
                <a:r>
                  <a:rPr lang="en-IN" sz="2400">
                    <a:solidFill>
                      <a:srgbClr val="111827"/>
                    </a:solidFill>
                    <a:latin typeface="Cambria Math" panose="02040503050406030204" pitchFamily="18" charset="0"/>
                  </a:rPr>
                  <a:t>$3^n-3\cdot2^n+3$</a:t>
                </a:r>
                <a:r>
                  <a:rPr sz="2400" b="0">
                    <a:solidFill>
                      <a:srgbClr val="111827"/>
                    </a:solidFill>
                    <a:latin typeface="Arial"/>
                  </a:rPr>
                  <a:t> for every </a:t>
                </a:r>
                <a:r>
                  <a:rPr lang="en-IN" sz="2400">
                    <a:solidFill>
                      <a:srgbClr val="111827"/>
                    </a:solidFill>
                    <a:latin typeface="Cambria Math" panose="02040503050406030204" pitchFamily="18" charset="0"/>
                  </a:rPr>
                  <a:t>$n\ge3$</a:t>
                </a:r>
                <a:r>
                  <a:rPr sz="2400" b="0">
                    <a:solidFill>
                      <a:srgbClr val="111827"/>
                    </a:solidFill>
                    <a:latin typeface="Arial"/>
                  </a:rPr>
                  <a:t> (verified for </a:t>
                </a:r>
                <a:r>
                  <a:rPr lang="en-IN" sz="2400">
                    <a:solidFill>
                      <a:srgbClr val="111827"/>
                    </a:solidFill>
                    <a:latin typeface="Cambria Math" panose="02040503050406030204" pitchFamily="18" charset="0"/>
                  </a:rPr>
                  <a:t>$n=3,\dots,10$</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14:m>
                  <m:oMath xmlns:m="http://schemas.openxmlformats.org/officeDocument/2006/math">
                    <m:sSup>
                      <m:e>
                        <m:r>
                          <a:rPr lang="en-IN" sz="2800" i="1">
                            <a:solidFill>
                              <a:srgbClr val="15803D"/>
                            </a:solidFill>
                            <a:latin typeface="Cambria Math" panose="02040503050406030204" pitchFamily="18" charset="0"/>
                          </a:rPr>
                          <m:t>3</m:t>
                        </m:r>
                      </m:e>
                      <m:sup>
                        <m:r>
                          <a:rPr lang="en-IN" sz="2800" i="1">
                            <a:solidFill>
                              <a:srgbClr val="15803D"/>
                            </a:solidFill>
                            <a:latin typeface="Cambria Math" panose="02040503050406030204" pitchFamily="18" charset="0"/>
                          </a:rPr>
                          <m:t>𝑛</m:t>
                        </m:r>
                      </m:sup>
                    </m:sSup>
                  </m:oMath>
                </a14:m>
                <a:r>
                  <a:rPr sz="2800" b="1">
                    <a:solidFill>
                      <a:srgbClr val="15803D"/>
                    </a:solidFill>
                    <a:latin typeface="Arial"/>
                  </a:rPr>
                  <a:t> ;  </a:t>
                </a:r>
                <a14:m>
                  <m:oMath xmlns:m="http://schemas.openxmlformats.org/officeDocument/2006/math">
                    <m:sSup>
                      <m:e>
                        <m:r>
                          <a:rPr lang="en-IN" sz="2800" i="1">
                            <a:solidFill>
                              <a:srgbClr val="15803D"/>
                            </a:solidFill>
                            <a:latin typeface="Cambria Math" panose="02040503050406030204" pitchFamily="18" charset="0"/>
                          </a:rPr>
                          <m:t>3</m:t>
                        </m:r>
                      </m:e>
                      <m:sup>
                        <m:r>
                          <a:rPr lang="en-IN" sz="2800" i="1">
                            <a:solidFill>
                              <a:srgbClr val="15803D"/>
                            </a:solidFill>
                            <a:latin typeface="Cambria Math" panose="02040503050406030204" pitchFamily="18" charset="0"/>
                          </a:rPr>
                          <m:t>𝑛</m:t>
                        </m:r>
                      </m:sup>
                    </m:sSup>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3</m:t>
                    </m:r>
                    <m:r>
                      <m:rPr>
                        <m:sty m:val="p"/>
                      </m:rPr>
                      <a:rPr lang="en-IN" sz="2800">
                        <a:solidFill>
                          <a:srgbClr val="15803D"/>
                        </a:solidFill>
                        <a:latin typeface="Cambria Math" panose="02040503050406030204" pitchFamily="18" charset="0"/>
                      </a:rPr>
                      <m:t>⋅</m:t>
                    </m:r>
                    <m:sSup>
                      <m:e>
                        <m:r>
                          <a:rPr lang="en-IN" sz="2800" i="1">
                            <a:solidFill>
                              <a:srgbClr val="15803D"/>
                            </a:solidFill>
                            <a:latin typeface="Cambria Math" panose="02040503050406030204" pitchFamily="18" charset="0"/>
                          </a:rPr>
                          <m:t>2</m:t>
                        </m:r>
                      </m:e>
                      <m:sup>
                        <m:r>
                          <a:rPr lang="en-IN" sz="2800" i="1">
                            <a:solidFill>
                              <a:srgbClr val="15803D"/>
                            </a:solidFill>
                            <a:latin typeface="Cambria Math" panose="02040503050406030204" pitchFamily="18" charset="0"/>
                          </a:rPr>
                          <m:t>𝑛</m:t>
                        </m:r>
                      </m:sup>
                    </m:sSup>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3</m:t>
                    </m:r>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r>
                  <a:rPr lang="en-IN" sz="2800">
                    <a:solidFill>
                      <a:srgbClr val="15803D"/>
                    </a:solidFill>
                    <a:latin typeface="Cambria Math" panose="02040503050406030204" pitchFamily="18" charset="0"/>
                  </a:rPr>
                  <a:t>$3^n$</a:t>
                </a:r>
                <a:r>
                  <a:rPr sz="2800" b="1">
                    <a:solidFill>
                      <a:srgbClr val="15803D"/>
                    </a:solidFill>
                    <a:latin typeface="Arial"/>
                  </a:rPr>
                  <a:t> ;  </a:t>
                </a:r>
                <a:r>
                  <a:rPr lang="en-IN" sz="2800">
                    <a:solidFill>
                      <a:srgbClr val="15803D"/>
                    </a:solidFill>
                    <a:latin typeface="Cambria Math" panose="02040503050406030204" pitchFamily="18" charset="0"/>
                  </a:rPr>
                  <a:t>$3^n-3\cdot2^n+3$</a:t>
                </a:r>
                <a:endParaRPr sz="2800">
                  <a:solidFill>
                    <a:srgbClr val="15803D"/>
                  </a:solidFill>
                </a:endParaRPr>
              </a:p>
            </p:txBody>
          </p:sp>
        </mc:Fallback>
      </mc:AlternateContent>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Number of onto maps from an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-set to a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-set: </a:t>
                </a:r>
                <a14:m>
                  <m:oMath xmlns:m="http://schemas.openxmlformats.org/officeDocument/2006/math">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(inclusion-exclusion); in general </a:t>
                </a:r>
                <a14:m>
                  <m:oMath xmlns:m="http://schemas.openxmlformats.org/officeDocument/2006/math">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𝑗</m:t>
                        </m:r>
                      </m:sub>
                      <m:sup>
                        <m:r>
                          <a:rPr lang="en-IN" sz="2400" i="1">
                            <a:solidFill>
                              <a:srgbClr val="111827"/>
                            </a:solidFill>
                            <a:latin typeface="Cambria Math" panose="02040503050406030204" pitchFamily="18" charset="0"/>
                          </a:rPr>
                          <m:t>​</m:t>
                        </m:r>
                      </m:sup>
                      <m:e>
                        <m:r>
                          <m:rPr>
                            <m:sty m:val="p"/>
                          </m:rPr>
                          <a:rPr lang="en-IN" sz="2400">
                            <a:solidFill>
                              <a:srgbClr val="111827"/>
                            </a:solidFill>
                            <a:latin typeface="Cambria Math" panose="02040503050406030204" pitchFamily="18" charset="0"/>
                          </a:rPr>
                          <m:t>(</m:t>
                        </m:r>
                      </m:e>
                    </m:nary>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𝑗</m:t>
                        </m:r>
                      </m:sup>
                    </m:sSup>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𝑘</m:t>
                            </m:r>
                          </m:num>
                          <m:den>
                            <m:r>
                              <a:rPr lang="en-IN" sz="2400" i="1">
                                <a:solidFill>
                                  <a:srgbClr val="111827"/>
                                </a:solidFill>
                                <a:latin typeface="Cambria Math" panose="02040503050406030204" pitchFamily="18" charset="0"/>
                              </a:rPr>
                              <m:t>𝑗</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𝑗</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 boxes.</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equals the number of surjections; here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Cue: 'all digits/colours appear at least once'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complement + inclusion-exclusion; never add the overlap back as a new term.</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Number of onto maps from an </a:t>
                </a:r>
                <a:r>
                  <a:rPr lang="en-IN" sz="2400">
                    <a:solidFill>
                      <a:srgbClr val="111827"/>
                    </a:solidFill>
                    <a:latin typeface="Cambria Math" panose="02040503050406030204" pitchFamily="18" charset="0"/>
                  </a:rPr>
                  <a:t>$n$</a:t>
                </a:r>
                <a:r>
                  <a:rPr sz="2400" b="0">
                    <a:solidFill>
                      <a:srgbClr val="111827"/>
                    </a:solidFill>
                    <a:latin typeface="Arial"/>
                  </a:rPr>
                  <a:t>-set to a </a:t>
                </a:r>
                <a:r>
                  <a:rPr lang="en-IN" sz="2400">
                    <a:solidFill>
                      <a:srgbClr val="111827"/>
                    </a:solidFill>
                    <a:latin typeface="Cambria Math" panose="02040503050406030204" pitchFamily="18" charset="0"/>
                  </a:rPr>
                  <a:t>$3$</a:t>
                </a:r>
                <a:r>
                  <a:rPr sz="2400" b="0">
                    <a:solidFill>
                      <a:srgbClr val="111827"/>
                    </a:solidFill>
                    <a:latin typeface="Arial"/>
                  </a:rPr>
                  <a:t>-set: </a:t>
                </a:r>
                <a:r>
                  <a:rPr lang="en-IN" sz="2400">
                    <a:solidFill>
                      <a:srgbClr val="111827"/>
                    </a:solidFill>
                    <a:latin typeface="Cambria Math" panose="02040503050406030204" pitchFamily="18" charset="0"/>
                  </a:rPr>
                  <a:t>$3^n-3\cdot2^n+3$</a:t>
                </a:r>
                <a:r>
                  <a:rPr sz="2400" b="0">
                    <a:solidFill>
                      <a:srgbClr val="111827"/>
                    </a:solidFill>
                    <a:latin typeface="Arial"/>
                  </a:rPr>
                  <a:t> (inclusion-exclusion); in general </a:t>
                </a:r>
                <a:r>
                  <a:rPr lang="en-IN" sz="2400">
                    <a:solidFill>
                      <a:srgbClr val="111827"/>
                    </a:solidFill>
                    <a:latin typeface="Cambria Math" panose="02040503050406030204" pitchFamily="18" charset="0"/>
                  </a:rPr>
                  <a:t>$\sum_{j}(-1)^j\binom{k}{j}(k-j)^n$</a:t>
                </a:r>
                <a:r>
                  <a:rPr sz="2400" b="0">
                    <a:solidFill>
                      <a:srgbClr val="111827"/>
                    </a:solidFill>
                    <a:latin typeface="Arial"/>
                  </a:rPr>
                  <a:t> for </a:t>
                </a:r>
                <a:r>
                  <a:rPr lang="en-IN" sz="2400">
                    <a:solidFill>
                      <a:srgbClr val="111827"/>
                    </a:solidFill>
                    <a:latin typeface="Cambria Math" panose="02040503050406030204" pitchFamily="18" charset="0"/>
                  </a:rPr>
                  <a:t>$k$</a:t>
                </a:r>
                <a:r>
                  <a:rPr sz="2400" b="0">
                    <a:solidFill>
                      <a:srgbClr val="111827"/>
                    </a:solidFill>
                    <a:latin typeface="Arial"/>
                  </a:rPr>
                  <a:t> boxes.</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$k!\,S(n,k)$</a:t>
                </a:r>
                <a:r>
                  <a:rPr sz="2400" b="0">
                    <a:solidFill>
                      <a:srgbClr val="111827"/>
                    </a:solidFill>
                    <a:latin typeface="Arial"/>
                  </a:rPr>
                  <a:t> equals the number of surjections; here </a:t>
                </a:r>
                <a:r>
                  <a:rPr lang="en-IN" sz="2400">
                    <a:solidFill>
                      <a:srgbClr val="111827"/>
                    </a:solidFill>
                    <a:latin typeface="Cambria Math" panose="02040503050406030204" pitchFamily="18" charset="0"/>
                  </a:rPr>
                  <a:t>$3!\,S(n,3)=3^n-3\cdot2^n+3$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Cue: 'all digits/colours appear at least once' </a:t>
                </a:r>
                <a:r>
                  <a:rPr lang="en-IN" sz="2400">
                    <a:solidFill>
                      <a:srgbClr val="111827"/>
                    </a:solidFill>
                    <a:latin typeface="Cambria Math" panose="02040503050406030204" pitchFamily="18" charset="0"/>
                  </a:rPr>
                  <a:t>$\Rightarrow$</a:t>
                </a:r>
                <a:r>
                  <a:rPr sz="2400" b="0">
                    <a:solidFill>
                      <a:srgbClr val="111827"/>
                    </a:solidFill>
                    <a:latin typeface="Arial"/>
                  </a:rPr>
                  <a:t> complement + inclusion-exclusion; never add the overlap back as a new term.</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r>
                  <a:rPr lang="en-IN" sz="2400">
                    <a:solidFill>
                      <a:srgbClr val="111827"/>
                    </a:solidFill>
                    <a:latin typeface="Cambria Math" panose="02040503050406030204" pitchFamily="18" charset="0"/>
                  </a:rPr>
                  <a:t>$n=3\Rightarrow 6$</a:t>
                </a:r>
                <a:r>
                  <a:rPr sz="2400" b="0">
                    <a:solidFill>
                      <a:srgbClr val="111827"/>
                    </a:solidFill>
                    <a:latin typeface="Arial"/>
                  </a:rPr>
                  <a:t>, </a:t>
                </a:r>
                <a:r>
                  <a:rPr lang="en-IN" sz="2400">
                    <a:solidFill>
                      <a:srgbClr val="111827"/>
                    </a:solidFill>
                    <a:latin typeface="Cambria Math" panose="02040503050406030204" pitchFamily="18" charset="0"/>
                  </a:rPr>
                  <a:t>$n=4\Rightarrow36$</a:t>
                </a:r>
                <a:r>
                  <a:rPr sz="2400" b="0">
                    <a:solidFill>
                      <a:srgbClr val="111827"/>
                    </a:solidFill>
                    <a:latin typeface="Arial"/>
                  </a:rPr>
                  <a:t>, </a:t>
                </a:r>
                <a:r>
                  <a:rPr lang="en-IN" sz="2400">
                    <a:solidFill>
                      <a:srgbClr val="111827"/>
                    </a:solidFill>
                    <a:latin typeface="Cambria Math" panose="02040503050406030204" pitchFamily="18" charset="0"/>
                  </a:rPr>
                  <a:t>$n=5\Rightarrow150$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Find the number of three element sets of positive integers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such that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2310</m:t>
                    </m:r>
                  </m:oMath>
                </a14:m>
                <a:r>
                  <a:rPr sz="2400" b="0">
                    <a:solidFill>
                      <a:srgbClr val="111827"/>
                    </a:solidFill>
                    <a:latin typeface="Arial"/>
                  </a:rPr>
                  <a:t>.</a:t>
                </a:r>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Find the number of three element sets of positive integers </a:t>
                </a:r>
                <a:r>
                  <a:rPr lang="en-IN" sz="2400">
                    <a:solidFill>
                      <a:srgbClr val="111827"/>
                    </a:solidFill>
                    <a:latin typeface="Cambria Math" panose="02040503050406030204" pitchFamily="18" charset="0"/>
                  </a:rPr>
                  <a:t>$\{a,b,c\}$</a:t>
                </a:r>
                <a:r>
                  <a:rPr sz="2400" b="0">
                    <a:solidFill>
                      <a:srgbClr val="111827"/>
                    </a:solidFill>
                    <a:latin typeface="Arial"/>
                  </a:rPr>
                  <a:t> such that </a:t>
                </a:r>
                <a:r>
                  <a:rPr lang="en-IN" sz="2400">
                    <a:solidFill>
                      <a:srgbClr val="111827"/>
                    </a:solidFill>
                    <a:latin typeface="Cambria Math" panose="02040503050406030204" pitchFamily="18" charset="0"/>
                  </a:rPr>
                  <a:t>$a\times b\times c=2310$</a:t>
                </a:r>
                <a:r>
                  <a:rPr sz="2400" b="0">
                    <a:solidFill>
                      <a:srgbClr val="111827"/>
                    </a:solidFill>
                    <a:latin typeface="Arial"/>
                  </a:rPr>
                  <a:t>.</a:t>
                </a:r>
                <a:endParaRPr sz="2400">
                  <a:solidFill>
                    <a:srgbClr val="111827"/>
                  </a:solidFill>
                </a:endParaRPr>
              </a:p>
            </p:txBody>
          </p:sp>
        </mc:Fallback>
      </mc:AlternateContent>
      <p:sp>
        <p:nvSpPr>
          <p:cNvPr id="5" name="Rectangle 4"/>
          <p:cNvSpPr/>
          <p:nvPr/>
        </p:nvSpPr>
        <p:spPr>
          <a:xfrm>
            <a:off x="731520" y="3246120"/>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Number of ways to factorise into unordered factors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r>
                      <a:rPr lang="en-IN" sz="2400" i="1">
                        <a:solidFill>
                          <a:srgbClr val="78350F"/>
                        </a:solidFill>
                        <a:latin typeface="Cambria Math" panose="02040503050406030204" pitchFamily="18" charset="0"/>
                      </a:rPr>
                      <m:t>2310</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5</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7</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11</m:t>
                    </m:r>
                  </m:oMath>
                </a14:m>
                <a:r>
                  <a:rPr sz="2400" b="0">
                    <a:solidFill>
                      <a:srgbClr val="78350F"/>
                    </a:solidFill>
                    <a:latin typeface="Arial"/>
                  </a:rPr>
                  <a:t> has five distinct primes, so a factorisation is a distribution of the primes into three groups, one possibly empty (factor </a:t>
                </a:r>
                <a14:m>
                  <m:oMath xmlns:m="http://schemas.openxmlformats.org/officeDocument/2006/math">
                    <m:r>
                      <a:rPr lang="en-IN" sz="2400" i="1">
                        <a:solidFill>
                          <a:srgbClr val="78350F"/>
                        </a:solidFill>
                        <a:latin typeface="Cambria Math" panose="02040503050406030204" pitchFamily="18" charset="0"/>
                      </a:rPr>
                      <m:t>1</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$2310=2\cdot3\cdot5\cdot7\cdot11$</a:t>
                </a:r>
                <a:r>
                  <a:rPr sz="2400" b="0">
                    <a:solidFill>
                      <a:srgbClr val="78350F"/>
                    </a:solidFill>
                    <a:latin typeface="Arial"/>
                  </a:rPr>
                  <a:t> has five distinct primes, so a factorisation is a distribution of the primes into three groups, one possibly empty (factor </a:t>
                </a:r>
                <a:r>
                  <a:rPr lang="en-IN" sz="2400">
                    <a:solidFill>
                      <a:srgbClr val="78350F"/>
                    </a:solidFill>
                    <a:latin typeface="Cambria Math" panose="02040503050406030204" pitchFamily="18" charset="0"/>
                  </a:rPr>
                  <a:t>$1$</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2310</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5</m:t>
                        </m:r>
                      </m:e>
                      <m:sup>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7</m:t>
                        </m:r>
                      </m:e>
                      <m:sup>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11</m:t>
                        </m:r>
                      </m:e>
                      <m:sup>
                        <m:r>
                          <a:rPr lang="en-IN" sz="2400" i="1">
                            <a:solidFill>
                              <a:srgbClr val="111827"/>
                            </a:solidFill>
                            <a:latin typeface="Cambria Math" panose="02040503050406030204" pitchFamily="18" charset="0"/>
                          </a:rPr>
                          <m:t>1</m:t>
                        </m:r>
                      </m:sup>
                    </m:sSup>
                  </m:oMath>
                </a14:m>
                <a:r>
                  <a:rPr sz="2400" b="0">
                    <a:solidFill>
                      <a:srgbClr val="111827"/>
                    </a:solidFill>
                    <a:latin typeface="Arial"/>
                  </a:rPr>
                  <a:t>: five distinct primes to be shared among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Case 1: prime-counts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5</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1</m:t>
                            </m:r>
                          </m:sub>
                        </m:sSub>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4</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1</m:t>
                            </m:r>
                          </m:sub>
                        </m:sSub>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3</m:t>
                            </m:r>
                          </m:sub>
                        </m:sSub>
                      </m:num>
                      <m:den>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Case 2: prime-counts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5</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1</m:t>
                            </m:r>
                          </m:sub>
                        </m:sSub>
                      </m:num>
                      <m:den>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$2310=2^1\cdot3^1\cdot5^1\cdot7^1\cdot11^1$</a:t>
                </a:r>
                <a:r>
                  <a:rPr sz="2400" b="0">
                    <a:solidFill>
                      <a:srgbClr val="111827"/>
                    </a:solidFill>
                    <a:latin typeface="Arial"/>
                  </a:rPr>
                  <a:t>: five distinct primes to be shared among </a:t>
                </a:r>
                <a:r>
                  <a:rPr lang="en-IN" sz="2400">
                    <a:solidFill>
                      <a:srgbClr val="111827"/>
                    </a:solidFill>
                    <a:latin typeface="Cambria Math" panose="02040503050406030204" pitchFamily="18" charset="0"/>
                  </a:rPr>
                  <a:t>$a,b,c$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Case 1: prime-counts </a:t>
                </a:r>
                <a:r>
                  <a:rPr lang="en-IN" sz="2400">
                    <a:solidFill>
                      <a:srgbClr val="111827"/>
                    </a:solidFill>
                    <a:latin typeface="Cambria Math" panose="02040503050406030204" pitchFamily="18" charset="0"/>
                  </a:rPr>
                  <a:t>$(1,1,3)$</a:t>
                </a:r>
                <a:r>
                  <a:rPr sz="2400" b="0">
                    <a:solidFill>
                      <a:srgbClr val="111827"/>
                    </a:solidFill>
                    <a:latin typeface="Arial"/>
                  </a:rPr>
                  <a:t>: </a:t>
                </a:r>
                <a:r>
                  <a:rPr lang="en-IN" sz="2400">
                    <a:solidFill>
                      <a:srgbClr val="111827"/>
                    </a:solidFill>
                    <a:latin typeface="Cambria Math" panose="02040503050406030204" pitchFamily="18" charset="0"/>
                  </a:rPr>
                  <a:t>$\dfrac{{}^5C_1\,{}^4C_1\,{}^3C_3}{2!}=\dfrac{5\times4}{2}=10$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Case 2: prime-counts </a:t>
                </a:r>
                <a:r>
                  <a:rPr lang="en-IN" sz="2400">
                    <a:solidFill>
                      <a:srgbClr val="111827"/>
                    </a:solidFill>
                    <a:latin typeface="Cambria Math" panose="02040503050406030204" pitchFamily="18" charset="0"/>
                  </a:rPr>
                  <a:t>$(2,2,1)$</a:t>
                </a:r>
                <a:r>
                  <a:rPr sz="2400" b="0">
                    <a:solidFill>
                      <a:srgbClr val="111827"/>
                    </a:solidFill>
                    <a:latin typeface="Arial"/>
                  </a:rPr>
                  <a:t>: </a:t>
                </a:r>
                <a:r>
                  <a:rPr lang="en-IN" sz="2400">
                    <a:solidFill>
                      <a:srgbClr val="111827"/>
                    </a:solidFill>
                    <a:latin typeface="Cambria Math" panose="02040503050406030204" pitchFamily="18" charset="0"/>
                  </a:rPr>
                  <a:t>$\dfrac{{}^5C_2\,{}^3C_2\,{}^1C_1}{2!}=\dfrac{10\times3}{2}=15$</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Case 3: prime-counts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i.e. one factor is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5</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Case 4: prime-counts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one factor is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5</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4</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Case 5: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gives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2310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which is not a three-element set, so it is rejected.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40</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Case 3: prime-counts </a:t>
                </a:r>
                <a:r>
                  <a:rPr lang="en-IN" sz="2400">
                    <a:solidFill>
                      <a:srgbClr val="111827"/>
                    </a:solidFill>
                    <a:latin typeface="Cambria Math" panose="02040503050406030204" pitchFamily="18" charset="0"/>
                  </a:rPr>
                  <a:t>$(3,2,0)$</a:t>
                </a:r>
                <a:r>
                  <a:rPr sz="2400" b="0">
                    <a:solidFill>
                      <a:srgbClr val="111827"/>
                    </a:solidFill>
                    <a:latin typeface="Arial"/>
                  </a:rPr>
                  <a:t>, i.e. one factor is </a:t>
                </a:r>
                <a:r>
                  <a:rPr lang="en-IN" sz="2400">
                    <a:solidFill>
                      <a:srgbClr val="111827"/>
                    </a:solidFill>
                    <a:latin typeface="Cambria Math" panose="02040503050406030204" pitchFamily="18" charset="0"/>
                  </a:rPr>
                  <a:t>$1$</a:t>
                </a:r>
                <a:r>
                  <a:rPr sz="2400" b="0">
                    <a:solidFill>
                      <a:srgbClr val="111827"/>
                    </a:solidFill>
                    <a:latin typeface="Arial"/>
                  </a:rPr>
                  <a:t>: </a:t>
                </a:r>
                <a:r>
                  <a:rPr lang="en-IN" sz="2400">
                    <a:solidFill>
                      <a:srgbClr val="111827"/>
                    </a:solidFill>
                    <a:latin typeface="Cambria Math" panose="02040503050406030204" pitchFamily="18" charset="0"/>
                  </a:rPr>
                  <a:t>${}^5C_3\times{}^2C_2=10$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Case 4: prime-counts </a:t>
                </a:r>
                <a:r>
                  <a:rPr lang="en-IN" sz="2400">
                    <a:solidFill>
                      <a:srgbClr val="111827"/>
                    </a:solidFill>
                    <a:latin typeface="Cambria Math" panose="02040503050406030204" pitchFamily="18" charset="0"/>
                  </a:rPr>
                  <a:t>$(4,1,0)$</a:t>
                </a:r>
                <a:r>
                  <a:rPr sz="2400" b="0">
                    <a:solidFill>
                      <a:srgbClr val="111827"/>
                    </a:solidFill>
                    <a:latin typeface="Arial"/>
                  </a:rPr>
                  <a:t>, one factor is </a:t>
                </a:r>
                <a:r>
                  <a:rPr lang="en-IN" sz="2400">
                    <a:solidFill>
                      <a:srgbClr val="111827"/>
                    </a:solidFill>
                    <a:latin typeface="Cambria Math" panose="02040503050406030204" pitchFamily="18" charset="0"/>
                  </a:rPr>
                  <a:t>$1$</a:t>
                </a:r>
                <a:r>
                  <a:rPr sz="2400" b="0">
                    <a:solidFill>
                      <a:srgbClr val="111827"/>
                    </a:solidFill>
                    <a:latin typeface="Arial"/>
                  </a:rPr>
                  <a:t>: </a:t>
                </a:r>
                <a:r>
                  <a:rPr lang="en-IN" sz="2400">
                    <a:solidFill>
                      <a:srgbClr val="111827"/>
                    </a:solidFill>
                    <a:latin typeface="Cambria Math" panose="02040503050406030204" pitchFamily="18" charset="0"/>
                  </a:rPr>
                  <a:t>${}^5C_4\times{}^1C_1=5$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Case 5: </a:t>
                </a:r>
                <a:r>
                  <a:rPr lang="en-IN" sz="2400">
                    <a:solidFill>
                      <a:srgbClr val="111827"/>
                    </a:solidFill>
                    <a:latin typeface="Cambria Math" panose="02040503050406030204" pitchFamily="18" charset="0"/>
                  </a:rPr>
                  <a:t>$(5,0,0)$</a:t>
                </a:r>
                <a:r>
                  <a:rPr sz="2400" b="0">
                    <a:solidFill>
                      <a:srgbClr val="111827"/>
                    </a:solidFill>
                    <a:latin typeface="Arial"/>
                  </a:rPr>
                  <a:t> gives </a:t>
                </a:r>
                <a:r>
                  <a:rPr lang="en-IN" sz="2400">
                    <a:solidFill>
                      <a:srgbClr val="111827"/>
                    </a:solidFill>
                    <a:latin typeface="Cambria Math" panose="02040503050406030204" pitchFamily="18" charset="0"/>
                  </a:rPr>
                  <a:t>$\{2310,1,1\}$</a:t>
                </a:r>
                <a:r>
                  <a:rPr sz="2400" b="0">
                    <a:solidFill>
                      <a:srgbClr val="111827"/>
                    </a:solidFill>
                    <a:latin typeface="Arial"/>
                  </a:rPr>
                  <a:t>, which is not a three-element set, so it is rejected.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r>
                  <a:rPr lang="en-IN" sz="2400">
                    <a:solidFill>
                      <a:srgbClr val="111827"/>
                    </a:solidFill>
                    <a:latin typeface="Cambria Math" panose="02040503050406030204" pitchFamily="18" charset="0"/>
                  </a:rPr>
                  <a:t>$=10+15+10+5=40$</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40</a:t>
            </a:r>
            <a:endParaRPr sz="2800">
              <a:solidFill>
                <a:srgbClr val="15803D"/>
              </a:solidFill>
            </a:endParaRP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Count ordered triples first (each prime has </a:t>
                </a:r>
                <a14:m>
                  <m:oMath xmlns:m="http://schemas.openxmlformats.org/officeDocument/2006/math">
                    <m:r>
                      <a:rPr lang="en-IN" sz="2400" i="1">
                        <a:solidFill>
                          <a:srgbClr val="78350F"/>
                        </a:solidFill>
                        <a:latin typeface="Cambria Math" panose="02040503050406030204" pitchFamily="18" charset="0"/>
                      </a:rPr>
                      <m:t>3</m:t>
                    </m:r>
                  </m:oMath>
                </a14:m>
                <a:r>
                  <a:rPr sz="2400" b="0">
                    <a:solidFill>
                      <a:srgbClr val="78350F"/>
                    </a:solidFill>
                    <a:latin typeface="Arial"/>
                  </a:rPr>
                  <a:t> choices of owner), then remove repeats and divide by </a:t>
                </a:r>
                <a14:m>
                  <m:oMath xmlns:m="http://schemas.openxmlformats.org/officeDocument/2006/math">
                    <m:r>
                      <a:rPr lang="en-IN" sz="2400" i="1">
                        <a:solidFill>
                          <a:srgbClr val="78350F"/>
                        </a:solidFill>
                        <a:latin typeface="Cambria Math" panose="02040503050406030204" pitchFamily="18" charset="0"/>
                      </a:rPr>
                      <m:t>3</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Count ordered triples first (each prime has </a:t>
                </a:r>
                <a:r>
                  <a:rPr lang="en-IN" sz="2400">
                    <a:solidFill>
                      <a:srgbClr val="78350F"/>
                    </a:solidFill>
                    <a:latin typeface="Cambria Math" panose="02040503050406030204" pitchFamily="18" charset="0"/>
                  </a:rPr>
                  <a:t>$3$</a:t>
                </a:r>
                <a:r>
                  <a:rPr sz="2400" b="0">
                    <a:solidFill>
                      <a:srgbClr val="78350F"/>
                    </a:solidFill>
                    <a:latin typeface="Arial"/>
                  </a:rPr>
                  <a:t> choices of owner), then remove repeats and divide by </a:t>
                </a:r>
                <a:r>
                  <a:rPr lang="en-IN" sz="2400">
                    <a:solidFill>
                      <a:srgbClr val="78350F"/>
                    </a:solidFill>
                    <a:latin typeface="Cambria Math" panose="02040503050406030204" pitchFamily="18" charset="0"/>
                  </a:rPr>
                  <a:t>$3!$</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Each of the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primes goes to one of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 independently, so the number of ordered triples is </a:t>
                </a:r>
                <a14:m>
                  <m:oMath xmlns:m="http://schemas.openxmlformats.org/officeDocument/2006/math">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5</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Two factors can be equal only if the square of that factor divides </a:t>
                </a:r>
                <a14:m>
                  <m:oMath xmlns:m="http://schemas.openxmlformats.org/officeDocument/2006/math">
                    <m:r>
                      <a:rPr lang="en-IN" sz="2400" i="1">
                        <a:solidFill>
                          <a:srgbClr val="111827"/>
                        </a:solidFill>
                        <a:latin typeface="Cambria Math" panose="02040503050406030204" pitchFamily="18" charset="0"/>
                      </a:rPr>
                      <m:t>2310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2310</m:t>
                    </m:r>
                  </m:oMath>
                </a14:m>
                <a:r>
                  <a:rPr sz="2400" b="0">
                    <a:solidFill>
                      <a:srgbClr val="111827"/>
                    </a:solidFill>
                    <a:latin typeface="Arial"/>
                  </a:rPr>
                  <a:t> is square-free, so only the factor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can repeat: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2310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its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arrangements.</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Each of the </a:t>
                </a:r>
                <a:r>
                  <a:rPr lang="en-IN" sz="2400">
                    <a:solidFill>
                      <a:srgbClr val="111827"/>
                    </a:solidFill>
                    <a:latin typeface="Cambria Math" panose="02040503050406030204" pitchFamily="18" charset="0"/>
                  </a:rPr>
                  <a:t>$5$</a:t>
                </a:r>
                <a:r>
                  <a:rPr sz="2400" b="0">
                    <a:solidFill>
                      <a:srgbClr val="111827"/>
                    </a:solidFill>
                    <a:latin typeface="Arial"/>
                  </a:rPr>
                  <a:t> primes goes to one of </a:t>
                </a:r>
                <a:r>
                  <a:rPr lang="en-IN" sz="2400">
                    <a:solidFill>
                      <a:srgbClr val="111827"/>
                    </a:solidFill>
                    <a:latin typeface="Cambria Math" panose="02040503050406030204" pitchFamily="18" charset="0"/>
                  </a:rPr>
                  <a:t>$a,b,c$</a:t>
                </a:r>
                <a:r>
                  <a:rPr sz="2400" b="0">
                    <a:solidFill>
                      <a:srgbClr val="111827"/>
                    </a:solidFill>
                    <a:latin typeface="Arial"/>
                  </a:rPr>
                  <a:t> independently, so the number of ordered triples is </a:t>
                </a:r>
                <a:r>
                  <a:rPr lang="en-IN" sz="2400">
                    <a:solidFill>
                      <a:srgbClr val="111827"/>
                    </a:solidFill>
                    <a:latin typeface="Cambria Math" panose="02040503050406030204" pitchFamily="18" charset="0"/>
                  </a:rPr>
                  <a:t>$3^5=243$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Two factors can be equal only if the square of that factor divides </a:t>
                </a:r>
                <a:r>
                  <a:rPr lang="en-IN" sz="2400">
                    <a:solidFill>
                      <a:srgbClr val="111827"/>
                    </a:solidFill>
                    <a:latin typeface="Cambria Math" panose="02040503050406030204" pitchFamily="18" charset="0"/>
                  </a:rPr>
                  <a:t>$2310$</a:t>
                </a:r>
                <a:r>
                  <a:rPr sz="2400" b="0">
                    <a:solidFill>
                      <a:srgbClr val="111827"/>
                    </a:solidFill>
                    <a:latin typeface="Arial"/>
                  </a:rPr>
                  <a:t>; </a:t>
                </a:r>
                <a:r>
                  <a:rPr lang="en-IN" sz="2400">
                    <a:solidFill>
                      <a:srgbClr val="111827"/>
                    </a:solidFill>
                    <a:latin typeface="Cambria Math" panose="02040503050406030204" pitchFamily="18" charset="0"/>
                  </a:rPr>
                  <a:t>$2310$</a:t>
                </a:r>
                <a:r>
                  <a:rPr sz="2400" b="0">
                    <a:solidFill>
                      <a:srgbClr val="111827"/>
                    </a:solidFill>
                    <a:latin typeface="Arial"/>
                  </a:rPr>
                  <a:t> is square-free, so only the factor </a:t>
                </a:r>
                <a:r>
                  <a:rPr lang="en-IN" sz="2400">
                    <a:solidFill>
                      <a:srgbClr val="111827"/>
                    </a:solidFill>
                    <a:latin typeface="Cambria Math" panose="02040503050406030204" pitchFamily="18" charset="0"/>
                  </a:rPr>
                  <a:t>$1$</a:t>
                </a:r>
                <a:r>
                  <a:rPr sz="2400" b="0">
                    <a:solidFill>
                      <a:srgbClr val="111827"/>
                    </a:solidFill>
                    <a:latin typeface="Arial"/>
                  </a:rPr>
                  <a:t> can repeat: </a:t>
                </a:r>
                <a:r>
                  <a:rPr lang="en-IN" sz="2400">
                    <a:solidFill>
                      <a:srgbClr val="111827"/>
                    </a:solidFill>
                    <a:latin typeface="Cambria Math" panose="02040503050406030204" pitchFamily="18" charset="0"/>
                  </a:rPr>
                  <a:t>$(1,1,2310)$</a:t>
                </a:r>
                <a:r>
                  <a:rPr sz="2400" b="0">
                    <a:solidFill>
                      <a:srgbClr val="111827"/>
                    </a:solidFill>
                    <a:latin typeface="Arial"/>
                  </a:rPr>
                  <a:t> and its </a:t>
                </a:r>
                <a:r>
                  <a:rPr lang="en-IN" sz="2400">
                    <a:solidFill>
                      <a:srgbClr val="111827"/>
                    </a:solidFill>
                    <a:latin typeface="Cambria Math" panose="02040503050406030204" pitchFamily="18" charset="0"/>
                  </a:rPr>
                  <a:t>$3$</a:t>
                </a:r>
                <a:r>
                  <a:rPr sz="2400" b="0">
                    <a:solidFill>
                      <a:srgbClr val="111827"/>
                    </a:solidFill>
                    <a:latin typeface="Arial"/>
                  </a:rPr>
                  <a:t> arrangements.</a:t>
                </a:r>
                <a:endParaRPr sz="2400">
                  <a:solidFill>
                    <a:srgbClr val="111827"/>
                  </a:solidFill>
                </a:endParaRPr>
              </a:p>
            </p:txBody>
          </p:sp>
        </mc:Fallback>
      </mc:AlternateContent>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Ordered triples with all three distinct: </a:t>
                </a:r>
                <a14:m>
                  <m:oMath xmlns:m="http://schemas.openxmlformats.org/officeDocument/2006/math">
                    <m:r>
                      <a:rPr lang="en-IN" sz="2400" i="1">
                        <a:solidFill>
                          <a:srgbClr val="111827"/>
                        </a:solidFill>
                        <a:latin typeface="Cambria Math" panose="02040503050406030204" pitchFamily="18" charset="0"/>
                      </a:rPr>
                      <m:t>243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Each set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corresponds to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ordered triples, so the number of sets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240</m:t>
                        </m:r>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Ordered triples with all three distinct: </a:t>
                </a:r>
                <a:r>
                  <a:rPr lang="en-IN" sz="2400">
                    <a:solidFill>
                      <a:srgbClr val="111827"/>
                    </a:solidFill>
                    <a:latin typeface="Cambria Math" panose="02040503050406030204" pitchFamily="18" charset="0"/>
                  </a:rPr>
                  <a:t>$243-3=240$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Each set </a:t>
                </a:r>
                <a:r>
                  <a:rPr lang="en-IN" sz="2400">
                    <a:solidFill>
                      <a:srgbClr val="111827"/>
                    </a:solidFill>
                    <a:latin typeface="Cambria Math" panose="02040503050406030204" pitchFamily="18" charset="0"/>
                  </a:rPr>
                  <a:t>$\{a,b,c\}$</a:t>
                </a:r>
                <a:r>
                  <a:rPr sz="2400" b="0">
                    <a:solidFill>
                      <a:srgbClr val="111827"/>
                    </a:solidFill>
                    <a:latin typeface="Arial"/>
                  </a:rPr>
                  <a:t> corresponds to </a:t>
                </a:r>
                <a:r>
                  <a:rPr lang="en-IN" sz="2400">
                    <a:solidFill>
                      <a:srgbClr val="111827"/>
                    </a:solidFill>
                    <a:latin typeface="Cambria Math" panose="02040503050406030204" pitchFamily="18" charset="0"/>
                  </a:rPr>
                  <a:t>$3!=6$</a:t>
                </a:r>
                <a:r>
                  <a:rPr sz="2400" b="0">
                    <a:solidFill>
                      <a:srgbClr val="111827"/>
                    </a:solidFill>
                    <a:latin typeface="Arial"/>
                  </a:rPr>
                  <a:t> ordered triples, so the number of sets is </a:t>
                </a:r>
                <a:r>
                  <a:rPr lang="en-IN" sz="2400">
                    <a:solidFill>
                      <a:srgbClr val="111827"/>
                    </a:solidFill>
                    <a:latin typeface="Cambria Math" panose="02040503050406030204" pitchFamily="18" charset="0"/>
                  </a:rPr>
                  <a:t>$\dfrac{240}{6}=40$</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40</a:t>
            </a:r>
            <a:endParaRPr sz="2800">
              <a:solidFill>
                <a:srgbClr val="15803D"/>
              </a:solidFill>
            </a:endParaRP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a:t>
                </a:r>
                <a14:m>
                  <m:oMath xmlns:m="http://schemas.openxmlformats.org/officeDocument/2006/math">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𝑝</m:t>
                        </m:r>
                      </m:e>
                      <m:sub>
                        <m:r>
                          <a:rPr lang="en-IN" sz="2400" i="1">
                            <a:solidFill>
                              <a:srgbClr val="111827"/>
                            </a:solidFill>
                            <a:latin typeface="Cambria Math" panose="02040503050406030204" pitchFamily="18" charset="0"/>
                          </a:rPr>
                          <m:t>1</m:t>
                        </m:r>
                      </m:sub>
                    </m:sSub>
                    <m:sSub>
                      <m:e>
                        <m:r>
                          <a:rPr lang="en-IN" sz="2400" i="1">
                            <a:solidFill>
                              <a:srgbClr val="111827"/>
                            </a:solidFill>
                            <a:latin typeface="Cambria Math" panose="02040503050406030204" pitchFamily="18" charset="0"/>
                          </a:rPr>
                          <m:t>𝑝</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𝑝</m:t>
                        </m:r>
                      </m:e>
                      <m:sub>
                        <m:r>
                          <a:rPr lang="en-IN" sz="2400" i="1">
                            <a:solidFill>
                              <a:srgbClr val="111827"/>
                            </a:solidFill>
                            <a:latin typeface="Cambria Math" panose="02040503050406030204" pitchFamily="18" charset="0"/>
                          </a:rPr>
                          <m:t>𝑘</m:t>
                        </m:r>
                      </m:sub>
                    </m:sSub>
                  </m:oMath>
                </a14:m>
                <a:r>
                  <a:rPr sz="2400" b="0">
                    <a:solidFill>
                      <a:srgbClr val="111827"/>
                    </a:solidFill>
                    <a:latin typeface="Arial"/>
                  </a:rPr>
                  <a:t> is square-free, the number of ordered factorisations into </a:t>
                </a:r>
                <a14:m>
                  <m:oMath xmlns:m="http://schemas.openxmlformats.org/officeDocument/2006/math">
                    <m:r>
                      <a:rPr lang="en-IN" sz="2400" i="1">
                        <a:solidFill>
                          <a:srgbClr val="111827"/>
                        </a:solidFill>
                        <a:latin typeface="Cambria Math" panose="02040503050406030204" pitchFamily="18" charset="0"/>
                      </a:rPr>
                      <m:t>𝑟</m:t>
                    </m:r>
                  </m:oMath>
                </a14:m>
                <a:r>
                  <a:rPr sz="2400" b="0">
                    <a:solidFill>
                      <a:srgbClr val="111827"/>
                    </a:solidFill>
                    <a:latin typeface="Arial"/>
                  </a:rPr>
                  <a:t> factors is </a:t>
                </a:r>
                <a14:m>
                  <m:oMath xmlns:m="http://schemas.openxmlformats.org/officeDocument/2006/math">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𝑘</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Unordered factorisations into </a:t>
                </a:r>
                <a14:m>
                  <m:oMath xmlns:m="http://schemas.openxmlformats.org/officeDocument/2006/math">
                    <m:r>
                      <a:rPr lang="en-IN" sz="2400" i="1">
                        <a:solidFill>
                          <a:srgbClr val="111827"/>
                        </a:solidFill>
                        <a:latin typeface="Cambria Math" panose="02040503050406030204" pitchFamily="18" charset="0"/>
                      </a:rPr>
                      <m:t>𝑟</m:t>
                    </m:r>
                  </m:oMath>
                </a14:m>
                <a:r>
                  <a:rPr sz="2400" b="0">
                    <a:solidFill>
                      <a:srgbClr val="111827"/>
                    </a:solidFill>
                    <a:latin typeface="Arial"/>
                  </a:rPr>
                  <a:t> factors correspond to set partitions of the primes into at most </a:t>
                </a:r>
                <a14:m>
                  <m:oMath xmlns:m="http://schemas.openxmlformats.org/officeDocument/2006/math">
                    <m:r>
                      <a:rPr lang="en-IN" sz="2400" i="1">
                        <a:solidFill>
                          <a:srgbClr val="111827"/>
                        </a:solidFill>
                        <a:latin typeface="Cambria Math" panose="02040503050406030204" pitchFamily="18" charset="0"/>
                      </a:rPr>
                      <m:t>𝑟</m:t>
                    </m:r>
                  </m:oMath>
                </a14:m>
                <a:r>
                  <a:rPr sz="2400" b="0">
                    <a:solidFill>
                      <a:srgbClr val="111827"/>
                    </a:solidFill>
                    <a:latin typeface="Arial"/>
                  </a:rPr>
                  <a:t> blocks (Stirling numbers): here </a:t>
                </a: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41</m:t>
                    </m:r>
                  </m:oMath>
                </a14:m>
                <a:r>
                  <a:rPr sz="2400" b="0">
                    <a:solidFill>
                      <a:srgbClr val="111827"/>
                    </a:solidFill>
                    <a:latin typeface="Arial"/>
                  </a:rPr>
                  <a:t>, and removing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2310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leaves </a:t>
                </a:r>
                <a14:m>
                  <m:oMath xmlns:m="http://schemas.openxmlformats.org/officeDocument/2006/math">
                    <m:r>
                      <a:rPr lang="en-IN" sz="2400" i="1">
                        <a:solidFill>
                          <a:srgbClr val="111827"/>
                        </a:solidFill>
                        <a:latin typeface="Cambria Math" panose="02040503050406030204" pitchFamily="18" charset="0"/>
                      </a:rPr>
                      <m:t>40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Equal factors are possible only when their square divides </a:t>
                </a:r>
                <a14:m>
                  <m:oMath xmlns:m="http://schemas.openxmlformats.org/officeDocument/2006/math">
                    <m:r>
                      <a:rPr lang="en-IN" sz="2400" i="1">
                        <a:solidFill>
                          <a:srgbClr val="111827"/>
                        </a:solidFill>
                        <a:latin typeface="Cambria Math" panose="02040503050406030204" pitchFamily="18" charset="0"/>
                      </a:rPr>
                      <m:t>𝑁</m:t>
                    </m:r>
                  </m:oMath>
                </a14:m>
                <a:r>
                  <a:rPr sz="2400" b="0">
                    <a:solidFill>
                      <a:srgbClr val="111827"/>
                    </a:solidFill>
                    <a:latin typeface="Arial"/>
                  </a:rPr>
                  <a:t> - check this before dividing by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$N=p_1p_2\cdots p_k$</a:t>
                </a:r>
                <a:r>
                  <a:rPr sz="2400" b="0">
                    <a:solidFill>
                      <a:srgbClr val="111827"/>
                    </a:solidFill>
                    <a:latin typeface="Arial"/>
                  </a:rPr>
                  <a:t> is square-free, the number of ordered factorisations into </a:t>
                </a:r>
                <a:r>
                  <a:rPr lang="en-IN" sz="2400">
                    <a:solidFill>
                      <a:srgbClr val="111827"/>
                    </a:solidFill>
                    <a:latin typeface="Cambria Math" panose="02040503050406030204" pitchFamily="18" charset="0"/>
                  </a:rPr>
                  <a:t>$r$</a:t>
                </a:r>
                <a:r>
                  <a:rPr sz="2400" b="0">
                    <a:solidFill>
                      <a:srgbClr val="111827"/>
                    </a:solidFill>
                    <a:latin typeface="Arial"/>
                  </a:rPr>
                  <a:t> factors is </a:t>
                </a:r>
                <a:r>
                  <a:rPr lang="en-IN" sz="2400">
                    <a:solidFill>
                      <a:srgbClr val="111827"/>
                    </a:solidFill>
                    <a:latin typeface="Cambria Math" panose="02040503050406030204" pitchFamily="18" charset="0"/>
                  </a:rPr>
                  <a:t>$r^k$</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Unordered factorisations into </a:t>
                </a:r>
                <a:r>
                  <a:rPr lang="en-IN" sz="2400">
                    <a:solidFill>
                      <a:srgbClr val="111827"/>
                    </a:solidFill>
                    <a:latin typeface="Cambria Math" panose="02040503050406030204" pitchFamily="18" charset="0"/>
                  </a:rPr>
                  <a:t>$r$</a:t>
                </a:r>
                <a:r>
                  <a:rPr sz="2400" b="0">
                    <a:solidFill>
                      <a:srgbClr val="111827"/>
                    </a:solidFill>
                    <a:latin typeface="Arial"/>
                  </a:rPr>
                  <a:t> factors correspond to set partitions of the primes into at most </a:t>
                </a:r>
                <a:r>
                  <a:rPr lang="en-IN" sz="2400">
                    <a:solidFill>
                      <a:srgbClr val="111827"/>
                    </a:solidFill>
                    <a:latin typeface="Cambria Math" panose="02040503050406030204" pitchFamily="18" charset="0"/>
                  </a:rPr>
                  <a:t>$r$</a:t>
                </a:r>
                <a:r>
                  <a:rPr sz="2400" b="0">
                    <a:solidFill>
                      <a:srgbClr val="111827"/>
                    </a:solidFill>
                    <a:latin typeface="Arial"/>
                  </a:rPr>
                  <a:t> blocks (Stirling numbers): here </a:t>
                </a:r>
                <a:r>
                  <a:rPr lang="en-IN" sz="2400">
                    <a:solidFill>
                      <a:srgbClr val="111827"/>
                    </a:solidFill>
                    <a:latin typeface="Cambria Math" panose="02040503050406030204" pitchFamily="18" charset="0"/>
                  </a:rPr>
                  <a:t>$S(5,1)+S(5,2)+S(5,3)=1+15+25=41$</a:t>
                </a:r>
                <a:r>
                  <a:rPr sz="2400" b="0">
                    <a:solidFill>
                      <a:srgbClr val="111827"/>
                    </a:solidFill>
                    <a:latin typeface="Arial"/>
                  </a:rPr>
                  <a:t>, and removing </a:t>
                </a:r>
                <a:r>
                  <a:rPr lang="en-IN" sz="2400">
                    <a:solidFill>
                      <a:srgbClr val="111827"/>
                    </a:solidFill>
                    <a:latin typeface="Cambria Math" panose="02040503050406030204" pitchFamily="18" charset="0"/>
                  </a:rPr>
                  <a:t>$\{2310,1,1\}$</a:t>
                </a:r>
                <a:r>
                  <a:rPr sz="2400" b="0">
                    <a:solidFill>
                      <a:srgbClr val="111827"/>
                    </a:solidFill>
                    <a:latin typeface="Arial"/>
                  </a:rPr>
                  <a:t> leaves </a:t>
                </a:r>
                <a:r>
                  <a:rPr lang="en-IN" sz="2400">
                    <a:solidFill>
                      <a:srgbClr val="111827"/>
                    </a:solidFill>
                    <a:latin typeface="Cambria Math" panose="02040503050406030204" pitchFamily="18" charset="0"/>
                  </a:rPr>
                  <a:t>$40$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Equal factors are possible only when their square divides </a:t>
                </a:r>
                <a:r>
                  <a:rPr lang="en-IN" sz="2400">
                    <a:solidFill>
                      <a:srgbClr val="111827"/>
                    </a:solidFill>
                    <a:latin typeface="Cambria Math" panose="02040503050406030204" pitchFamily="18" charset="0"/>
                  </a:rPr>
                  <a:t>$N$</a:t>
                </a:r>
                <a:r>
                  <a:rPr sz="2400" b="0">
                    <a:solidFill>
                      <a:srgbClr val="111827"/>
                    </a:solidFill>
                    <a:latin typeface="Arial"/>
                  </a:rPr>
                  <a:t> - check this before dividing by </a:t>
                </a:r>
                <a:r>
                  <a:rPr lang="en-IN" sz="2400">
                    <a:solidFill>
                      <a:srgbClr val="111827"/>
                    </a:solidFill>
                    <a:latin typeface="Cambria Math" panose="02040503050406030204" pitchFamily="18" charset="0"/>
                  </a:rPr>
                  <a:t>$r!$</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Find the largest integer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for which </a:t>
                </a:r>
                <a14:m>
                  <m:oMath xmlns:m="http://schemas.openxmlformats.org/officeDocument/2006/math">
                    <m:r>
                      <a:rPr lang="en-IN" sz="2400" i="1">
                        <a:solidFill>
                          <a:srgbClr val="111827"/>
                        </a:solidFill>
                        <a:latin typeface="Cambria Math" panose="02040503050406030204" pitchFamily="18" charset="0"/>
                      </a:rPr>
                      <m:t>35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divisible by </a:t>
                </a:r>
                <a14:m>
                  <m:oMath xmlns:m="http://schemas.openxmlformats.org/officeDocument/2006/math">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a:t>
                </a:r>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Find the largest integer </a:t>
                </a:r>
                <a:r>
                  <a:rPr lang="en-IN" sz="2400">
                    <a:solidFill>
                      <a:srgbClr val="111827"/>
                    </a:solidFill>
                    <a:latin typeface="Cambria Math" panose="02040503050406030204" pitchFamily="18" charset="0"/>
                  </a:rPr>
                  <a:t>$n$</a:t>
                </a:r>
                <a:r>
                  <a:rPr sz="2400" b="0">
                    <a:solidFill>
                      <a:srgbClr val="111827"/>
                    </a:solidFill>
                    <a:latin typeface="Arial"/>
                  </a:rPr>
                  <a:t> for which </a:t>
                </a:r>
                <a:r>
                  <a:rPr lang="en-IN" sz="2400">
                    <a:solidFill>
                      <a:srgbClr val="111827"/>
                    </a:solidFill>
                    <a:latin typeface="Cambria Math" panose="02040503050406030204" pitchFamily="18" charset="0"/>
                  </a:rPr>
                  <a:t>$35!$</a:t>
                </a:r>
                <a:r>
                  <a:rPr sz="2400" b="0">
                    <a:solidFill>
                      <a:srgbClr val="111827"/>
                    </a:solidFill>
                    <a:latin typeface="Arial"/>
                  </a:rPr>
                  <a:t> is divisible by </a:t>
                </a:r>
                <a:r>
                  <a:rPr lang="en-IN" sz="2400">
                    <a:solidFill>
                      <a:srgbClr val="111827"/>
                    </a:solidFill>
                    <a:latin typeface="Cambria Math" panose="02040503050406030204" pitchFamily="18" charset="0"/>
                  </a:rPr>
                  <a:t>$3^n$</a:t>
                </a:r>
                <a:r>
                  <a:rPr sz="2400" b="0">
                    <a:solidFill>
                      <a:srgbClr val="111827"/>
                    </a:solidFill>
                    <a:latin typeface="Arial"/>
                  </a:rPr>
                  <a:t>.</a:t>
                </a:r>
                <a:endParaRPr sz="2400">
                  <a:solidFill>
                    <a:srgbClr val="111827"/>
                  </a:solidFill>
                </a:endParaRPr>
              </a:p>
            </p:txBody>
          </p:sp>
        </mc:Fallback>
      </mc:AlternateContent>
      <p:sp>
        <p:nvSpPr>
          <p:cNvPr id="5" name="Rectangle 4"/>
          <p:cNvSpPr/>
          <p:nvPr/>
        </p:nvSpPr>
        <p:spPr>
          <a:xfrm>
            <a:off x="731520" y="324612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Highest power of a prime in a factorial (Legendre's formula)</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exponent of </a:t>
                </a:r>
                <a14:m>
                  <m:oMath xmlns:m="http://schemas.openxmlformats.org/officeDocument/2006/math">
                    <m:r>
                      <a:rPr lang="en-IN" sz="2400" i="1">
                        <a:solidFill>
                          <a:srgbClr val="78350F"/>
                        </a:solidFill>
                        <a:latin typeface="Cambria Math" panose="02040503050406030204" pitchFamily="18" charset="0"/>
                      </a:rPr>
                      <m:t>3</m:t>
                    </m:r>
                  </m:oMath>
                </a14:m>
                <a:r>
                  <a:rPr sz="2400" b="0">
                    <a:solidFill>
                      <a:srgbClr val="78350F"/>
                    </a:solidFill>
                    <a:latin typeface="Arial"/>
                  </a:rPr>
                  <a:t> in </a:t>
                </a:r>
                <a14:m>
                  <m:oMath xmlns:m="http://schemas.openxmlformats.org/officeDocument/2006/math">
                    <m:r>
                      <a:rPr lang="en-IN" sz="2400" i="1">
                        <a:solidFill>
                          <a:srgbClr val="78350F"/>
                        </a:solidFill>
                        <a:latin typeface="Cambria Math" panose="02040503050406030204" pitchFamily="18" charset="0"/>
                      </a:rPr>
                      <m:t>35</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is </a:t>
                </a:r>
                <a14:m>
                  <m:oMath xmlns:m="http://schemas.openxmlformats.org/officeDocument/2006/math">
                    <m:d>
                      <m:dPr>
                        <m:begChr m:val="⌊"/>
                        <m:sepChr m:val=""/>
                        <m:endChr m:val="⌋"/>
                        <m:grow/>
                        <m:ctrlPr>
                          <a:rPr lang="en-IN" sz="2400" i="1">
                            <a:solidFill>
                              <a:srgbClr val="78350F"/>
                            </a:solidFill>
                            <a:latin typeface="Cambria Math" panose="02040503050406030204" pitchFamily="18" charset="0"/>
                          </a:rPr>
                        </m:ctrlPr>
                      </m:dPr>
                      <m:e>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35</m:t>
                            </m:r>
                          </m:num>
                          <m:den>
                            <m:r>
                              <a:rPr lang="en-IN" sz="2400" i="1">
                                <a:solidFill>
                                  <a:srgbClr val="78350F"/>
                                </a:solidFill>
                                <a:latin typeface="Cambria Math" panose="02040503050406030204" pitchFamily="18" charset="0"/>
                              </a:rPr>
                              <m:t>3</m:t>
                            </m:r>
                          </m:den>
                        </m:f>
                      </m:e>
                    </m:d>
                    <m:r>
                      <m:rPr>
                        <m:sty m:val="p"/>
                      </m:rPr>
                      <a:rPr lang="en-IN" sz="2400">
                        <a:solidFill>
                          <a:srgbClr val="78350F"/>
                        </a:solidFill>
                        <a:latin typeface="Cambria Math" panose="02040503050406030204" pitchFamily="18" charset="0"/>
                      </a:rPr>
                      <m:t>+</m:t>
                    </m:r>
                    <m:d>
                      <m:dPr>
                        <m:begChr m:val="⌊"/>
                        <m:sepChr m:val=""/>
                        <m:endChr m:val="⌋"/>
                        <m:grow/>
                        <m:ctrlPr>
                          <a:rPr lang="en-IN" sz="2400" i="1">
                            <a:solidFill>
                              <a:srgbClr val="78350F"/>
                            </a:solidFill>
                            <a:latin typeface="Cambria Math" panose="02040503050406030204" pitchFamily="18" charset="0"/>
                          </a:rPr>
                        </m:ctrlPr>
                      </m:dPr>
                      <m:e>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35</m:t>
                            </m:r>
                          </m:num>
                          <m:den>
                            <m:r>
                              <a:rPr lang="en-IN" sz="2400" i="1">
                                <a:solidFill>
                                  <a:srgbClr val="78350F"/>
                                </a:solidFill>
                                <a:latin typeface="Cambria Math" panose="02040503050406030204" pitchFamily="18" charset="0"/>
                              </a:rPr>
                              <m:t>9</m:t>
                            </m:r>
                          </m:den>
                        </m:f>
                      </m:e>
                    </m:d>
                    <m:r>
                      <m:rPr>
                        <m:sty m:val="p"/>
                      </m:rPr>
                      <a:rPr lang="en-IN" sz="2400">
                        <a:solidFill>
                          <a:srgbClr val="78350F"/>
                        </a:solidFill>
                        <a:latin typeface="Cambria Math" panose="02040503050406030204" pitchFamily="18" charset="0"/>
                      </a:rPr>
                      <m:t>+</m:t>
                    </m:r>
                    <m:d>
                      <m:dPr>
                        <m:begChr m:val="⌊"/>
                        <m:sepChr m:val=""/>
                        <m:endChr m:val="⌋"/>
                        <m:grow/>
                        <m:ctrlPr>
                          <a:rPr lang="en-IN" sz="2400" i="1">
                            <a:solidFill>
                              <a:srgbClr val="78350F"/>
                            </a:solidFill>
                            <a:latin typeface="Cambria Math" panose="02040503050406030204" pitchFamily="18" charset="0"/>
                          </a:rPr>
                        </m:ctrlPr>
                      </m:dPr>
                      <m:e>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35</m:t>
                            </m:r>
                          </m:num>
                          <m:den>
                            <m:r>
                              <a:rPr lang="en-IN" sz="2400" i="1">
                                <a:solidFill>
                                  <a:srgbClr val="78350F"/>
                                </a:solidFill>
                                <a:latin typeface="Cambria Math" panose="02040503050406030204" pitchFamily="18" charset="0"/>
                              </a:rPr>
                              <m:t>27</m:t>
                            </m:r>
                          </m:den>
                        </m:f>
                      </m:e>
                    </m:d>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exponent of </a:t>
                </a:r>
                <a:r>
                  <a:rPr lang="en-IN" sz="2400">
                    <a:solidFill>
                      <a:srgbClr val="78350F"/>
                    </a:solidFill>
                    <a:latin typeface="Cambria Math" panose="02040503050406030204" pitchFamily="18" charset="0"/>
                  </a:rPr>
                  <a:t>$3$</a:t>
                </a:r>
                <a:r>
                  <a:rPr sz="2400" b="0">
                    <a:solidFill>
                      <a:srgbClr val="78350F"/>
                    </a:solidFill>
                    <a:latin typeface="Arial"/>
                  </a:rPr>
                  <a:t> in </a:t>
                </a:r>
                <a:r>
                  <a:rPr lang="en-IN" sz="2400">
                    <a:solidFill>
                      <a:srgbClr val="78350F"/>
                    </a:solidFill>
                    <a:latin typeface="Cambria Math" panose="02040503050406030204" pitchFamily="18" charset="0"/>
                  </a:rPr>
                  <a:t>$35!$</a:t>
                </a:r>
                <a:r>
                  <a:rPr sz="2400" b="0">
                    <a:solidFill>
                      <a:srgbClr val="78350F"/>
                    </a:solidFill>
                    <a:latin typeface="Arial"/>
                  </a:rPr>
                  <a:t> is </a:t>
                </a:r>
                <a:r>
                  <a:rPr lang="en-IN" sz="2400">
                    <a:solidFill>
                      <a:srgbClr val="78350F"/>
                    </a:solidFill>
                    <a:latin typeface="Cambria Math" panose="02040503050406030204" pitchFamily="18" charset="0"/>
                  </a:rPr>
                  <a:t>$\left\lfloor\frac{35}{3}\right\rfloor+\left\lfloor\frac{35}{9}\right\rfloor+\left\lfloor\frac{35}{27}\right\rfloor$</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746248"/>
                <a:ext cx="10725912" cy="304190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largest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equals the exponent of the prime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in </a:t>
                </a:r>
                <a14:m>
                  <m:oMath xmlns:m="http://schemas.openxmlformats.org/officeDocument/2006/math">
                    <m:r>
                      <a:rPr lang="en-IN" sz="2400" i="1">
                        <a:solidFill>
                          <a:srgbClr val="111827"/>
                        </a:solidFill>
                        <a:latin typeface="Cambria Math" panose="02040503050406030204" pitchFamily="18" charset="0"/>
                      </a:rPr>
                      <m:t>35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Multiples of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up to </a:t>
                </a:r>
                <a14:m>
                  <m:oMath xmlns:m="http://schemas.openxmlformats.org/officeDocument/2006/math">
                    <m:r>
                      <a:rPr lang="en-IN" sz="2400" i="1">
                        <a:solidFill>
                          <a:srgbClr val="111827"/>
                        </a:solidFill>
                        <a:latin typeface="Cambria Math" panose="02040503050406030204" pitchFamily="18" charset="0"/>
                      </a:rPr>
                      <m:t>35</m:t>
                    </m:r>
                  </m:oMath>
                </a14:m>
                <a:r>
                  <a:rPr sz="2400" b="0">
                    <a:solidFill>
                      <a:srgbClr val="111827"/>
                    </a:solidFill>
                    <a:latin typeface="Arial"/>
                  </a:rPr>
                  <a:t>: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35</m:t>
                            </m:r>
                          </m:num>
                          <m:den>
                            <m:r>
                              <a:rPr lang="en-IN" sz="2400" i="1">
                                <a:solidFill>
                                  <a:srgbClr val="111827"/>
                                </a:solidFill>
                                <a:latin typeface="Cambria Math" panose="02040503050406030204" pitchFamily="18" charset="0"/>
                              </a:rPr>
                              <m:t>3</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oMath>
                </a14:m>
                <a:r>
                  <a:rPr sz="2400" b="0">
                    <a:solidFill>
                      <a:srgbClr val="111827"/>
                    </a:solidFill>
                    <a:latin typeface="Arial"/>
                  </a:rPr>
                  <a:t>; multiples of </a:t>
                </a:r>
                <a14:m>
                  <m:oMath xmlns:m="http://schemas.openxmlformats.org/officeDocument/2006/math">
                    <m:r>
                      <a:rPr lang="en-IN" sz="2400" i="1">
                        <a:solidFill>
                          <a:srgbClr val="111827"/>
                        </a:solidFill>
                        <a:latin typeface="Cambria Math" panose="02040503050406030204" pitchFamily="18" charset="0"/>
                      </a:rPr>
                      <m:t>9</m:t>
                    </m:r>
                  </m:oMath>
                </a14:m>
                <a:r>
                  <a:rPr sz="2400" b="0">
                    <a:solidFill>
                      <a:srgbClr val="111827"/>
                    </a:solidFill>
                    <a:latin typeface="Arial"/>
                  </a:rPr>
                  <a:t>: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35</m:t>
                            </m:r>
                          </m:num>
                          <m:den>
                            <m:r>
                              <a:rPr lang="en-IN" sz="2400" i="1">
                                <a:solidFill>
                                  <a:srgbClr val="111827"/>
                                </a:solidFill>
                                <a:latin typeface="Cambria Math" panose="02040503050406030204" pitchFamily="18" charset="0"/>
                              </a:rPr>
                              <m:t>9</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multiples of </a:t>
                </a:r>
                <a14:m>
                  <m:oMath xmlns:m="http://schemas.openxmlformats.org/officeDocument/2006/math">
                    <m:r>
                      <a:rPr lang="en-IN" sz="2400" i="1">
                        <a:solidFill>
                          <a:srgbClr val="111827"/>
                        </a:solidFill>
                        <a:latin typeface="Cambria Math" panose="02040503050406030204" pitchFamily="18" charset="0"/>
                      </a:rPr>
                      <m:t>27</m:t>
                    </m:r>
                  </m:oMath>
                </a14:m>
                <a:r>
                  <a:rPr sz="2400" b="0">
                    <a:solidFill>
                      <a:srgbClr val="111827"/>
                    </a:solidFill>
                    <a:latin typeface="Arial"/>
                  </a:rPr>
                  <a:t>: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35</m:t>
                            </m:r>
                          </m:num>
                          <m:den>
                            <m:r>
                              <a:rPr lang="en-IN" sz="2400" i="1">
                                <a:solidFill>
                                  <a:srgbClr val="111827"/>
                                </a:solidFill>
                                <a:latin typeface="Cambria Math" panose="02040503050406030204" pitchFamily="18" charset="0"/>
                              </a:rPr>
                              <m:t>27</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746248"/>
                <a:ext cx="10725912" cy="304190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largest </a:t>
                </a:r>
                <a:r>
                  <a:rPr lang="en-IN" sz="2400">
                    <a:solidFill>
                      <a:srgbClr val="111827"/>
                    </a:solidFill>
                    <a:latin typeface="Cambria Math" panose="02040503050406030204" pitchFamily="18" charset="0"/>
                  </a:rPr>
                  <a:t>$n$</a:t>
                </a:r>
                <a:r>
                  <a:rPr sz="2400" b="0">
                    <a:solidFill>
                      <a:srgbClr val="111827"/>
                    </a:solidFill>
                    <a:latin typeface="Arial"/>
                  </a:rPr>
                  <a:t> equals the exponent of the prime </a:t>
                </a:r>
                <a:r>
                  <a:rPr lang="en-IN" sz="2400">
                    <a:solidFill>
                      <a:srgbClr val="111827"/>
                    </a:solidFill>
                    <a:latin typeface="Cambria Math" panose="02040503050406030204" pitchFamily="18" charset="0"/>
                  </a:rPr>
                  <a:t>$3$</a:t>
                </a:r>
                <a:r>
                  <a:rPr sz="2400" b="0">
                    <a:solidFill>
                      <a:srgbClr val="111827"/>
                    </a:solidFill>
                    <a:latin typeface="Arial"/>
                  </a:rPr>
                  <a:t> in </a:t>
                </a:r>
                <a:r>
                  <a:rPr lang="en-IN" sz="2400">
                    <a:solidFill>
                      <a:srgbClr val="111827"/>
                    </a:solidFill>
                    <a:latin typeface="Cambria Math" panose="02040503050406030204" pitchFamily="18" charset="0"/>
                  </a:rPr>
                  <a:t>$35!$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Multiples of </a:t>
                </a:r>
                <a:r>
                  <a:rPr lang="en-IN" sz="2400">
                    <a:solidFill>
                      <a:srgbClr val="111827"/>
                    </a:solidFill>
                    <a:latin typeface="Cambria Math" panose="02040503050406030204" pitchFamily="18" charset="0"/>
                  </a:rPr>
                  <a:t>$3$</a:t>
                </a:r>
                <a:r>
                  <a:rPr sz="2400" b="0">
                    <a:solidFill>
                      <a:srgbClr val="111827"/>
                    </a:solidFill>
                    <a:latin typeface="Arial"/>
                  </a:rPr>
                  <a:t> up to </a:t>
                </a:r>
                <a:r>
                  <a:rPr lang="en-IN" sz="2400">
                    <a:solidFill>
                      <a:srgbClr val="111827"/>
                    </a:solidFill>
                    <a:latin typeface="Cambria Math" panose="02040503050406030204" pitchFamily="18" charset="0"/>
                  </a:rPr>
                  <a:t>$35$</a:t>
                </a:r>
                <a:r>
                  <a:rPr sz="2400" b="0">
                    <a:solidFill>
                      <a:srgbClr val="111827"/>
                    </a:solidFill>
                    <a:latin typeface="Arial"/>
                  </a:rPr>
                  <a:t>: </a:t>
                </a:r>
                <a:r>
                  <a:rPr lang="en-IN" sz="2400">
                    <a:solidFill>
                      <a:srgbClr val="111827"/>
                    </a:solidFill>
                    <a:latin typeface="Cambria Math" panose="02040503050406030204" pitchFamily="18" charset="0"/>
                  </a:rPr>
                  <a:t>$\left\lfloor\dfrac{35}{3}\right\rfloor=11$</a:t>
                </a:r>
                <a:r>
                  <a:rPr sz="2400" b="0">
                    <a:solidFill>
                      <a:srgbClr val="111827"/>
                    </a:solidFill>
                    <a:latin typeface="Arial"/>
                  </a:rPr>
                  <a:t>; multiples of </a:t>
                </a:r>
                <a:r>
                  <a:rPr lang="en-IN" sz="2400">
                    <a:solidFill>
                      <a:srgbClr val="111827"/>
                    </a:solidFill>
                    <a:latin typeface="Cambria Math" panose="02040503050406030204" pitchFamily="18" charset="0"/>
                  </a:rPr>
                  <a:t>$9$</a:t>
                </a:r>
                <a:r>
                  <a:rPr sz="2400" b="0">
                    <a:solidFill>
                      <a:srgbClr val="111827"/>
                    </a:solidFill>
                    <a:latin typeface="Arial"/>
                  </a:rPr>
                  <a:t>: </a:t>
                </a:r>
                <a:r>
                  <a:rPr lang="en-IN" sz="2400">
                    <a:solidFill>
                      <a:srgbClr val="111827"/>
                    </a:solidFill>
                    <a:latin typeface="Cambria Math" panose="02040503050406030204" pitchFamily="18" charset="0"/>
                  </a:rPr>
                  <a:t>$\left\lfloor\dfrac{35}{9}\right\rfloor=3$</a:t>
                </a:r>
                <a:r>
                  <a:rPr sz="2400" b="0">
                    <a:solidFill>
                      <a:srgbClr val="111827"/>
                    </a:solidFill>
                    <a:latin typeface="Arial"/>
                  </a:rPr>
                  <a:t>; multiples of </a:t>
                </a:r>
                <a:r>
                  <a:rPr lang="en-IN" sz="2400">
                    <a:solidFill>
                      <a:srgbClr val="111827"/>
                    </a:solidFill>
                    <a:latin typeface="Cambria Math" panose="02040503050406030204" pitchFamily="18" charset="0"/>
                  </a:rPr>
                  <a:t>$27$</a:t>
                </a:r>
                <a:r>
                  <a:rPr sz="2400" b="0">
                    <a:solidFill>
                      <a:srgbClr val="111827"/>
                    </a:solidFill>
                    <a:latin typeface="Arial"/>
                  </a:rPr>
                  <a:t>: </a:t>
                </a:r>
                <a:r>
                  <a:rPr lang="en-IN" sz="2400">
                    <a:solidFill>
                      <a:srgbClr val="111827"/>
                    </a:solidFill>
                    <a:latin typeface="Cambria Math" panose="02040503050406030204" pitchFamily="18" charset="0"/>
                  </a:rPr>
                  <a:t>$\left\lfloor\dfrac{35}{27}\right\rfloor=1$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$n=11+3+1=15$</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15</a:t>
            </a:r>
            <a:endParaRPr sz="2800">
              <a:solidFill>
                <a:srgbClr val="15803D"/>
              </a:solidFill>
            </a:endParaRP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the digit-sum form of Legendre's formula: </a:t>
                </a:r>
                <a14:m>
                  <m:oMath xmlns:m="http://schemas.openxmlformats.org/officeDocument/2006/math">
                    <m:sSub>
                      <m:e>
                        <m:r>
                          <a:rPr lang="en-IN" sz="2400" i="1">
                            <a:solidFill>
                              <a:srgbClr val="78350F"/>
                            </a:solidFill>
                            <a:latin typeface="Cambria Math" panose="02040503050406030204" pitchFamily="18" charset="0"/>
                          </a:rPr>
                          <m:t>𝑣</m:t>
                        </m:r>
                      </m:e>
                      <m:sub>
                        <m:r>
                          <a:rPr lang="en-IN" sz="2400" i="1">
                            <a:solidFill>
                              <a:srgbClr val="78350F"/>
                            </a:solidFill>
                            <a:latin typeface="Cambria Math" panose="02040503050406030204" pitchFamily="18" charset="0"/>
                          </a:rPr>
                          <m:t>𝑝</m:t>
                        </m:r>
                      </m:sub>
                    </m:sSub>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𝑁</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𝑁</m:t>
                        </m:r>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𝑠</m:t>
                            </m:r>
                          </m:e>
                          <m:sub>
                            <m:r>
                              <a:rPr lang="en-IN" sz="2400" i="1">
                                <a:solidFill>
                                  <a:srgbClr val="78350F"/>
                                </a:solidFill>
                                <a:latin typeface="Cambria Math" panose="02040503050406030204" pitchFamily="18" charset="0"/>
                              </a:rPr>
                              <m:t>𝑝</m:t>
                            </m:r>
                          </m:sub>
                        </m:sSub>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𝑁</m:t>
                        </m:r>
                        <m:r>
                          <m:rPr>
                            <m:sty m:val="p"/>
                          </m:rPr>
                          <a:rPr lang="en-IN" sz="2400">
                            <a:solidFill>
                              <a:srgbClr val="78350F"/>
                            </a:solidFill>
                            <a:latin typeface="Cambria Math" panose="02040503050406030204" pitchFamily="18" charset="0"/>
                          </a:rPr>
                          <m:t>)</m:t>
                        </m:r>
                      </m:num>
                      <m:den>
                        <m:r>
                          <a:rPr lang="en-IN" sz="2400" i="1">
                            <a:solidFill>
                              <a:srgbClr val="78350F"/>
                            </a:solidFill>
                            <a:latin typeface="Cambria Math" panose="02040503050406030204" pitchFamily="18" charset="0"/>
                          </a:rPr>
                          <m:t>𝑝</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den>
                    </m:f>
                  </m:oMath>
                </a14:m>
                <a:r>
                  <a:rPr sz="2400" b="0">
                    <a:solidFill>
                      <a:srgbClr val="78350F"/>
                    </a:solidFill>
                    <a:latin typeface="Arial"/>
                  </a:rPr>
                  <a:t>, where </a:t>
                </a:r>
                <a14:m>
                  <m:oMath xmlns:m="http://schemas.openxmlformats.org/officeDocument/2006/math">
                    <m:sSub>
                      <m:e>
                        <m:r>
                          <a:rPr lang="en-IN" sz="2400" i="1">
                            <a:solidFill>
                              <a:srgbClr val="78350F"/>
                            </a:solidFill>
                            <a:latin typeface="Cambria Math" panose="02040503050406030204" pitchFamily="18" charset="0"/>
                          </a:rPr>
                          <m:t>𝑠</m:t>
                        </m:r>
                      </m:e>
                      <m:sub>
                        <m:r>
                          <a:rPr lang="en-IN" sz="2400" i="1">
                            <a:solidFill>
                              <a:srgbClr val="78350F"/>
                            </a:solidFill>
                            <a:latin typeface="Cambria Math" panose="02040503050406030204" pitchFamily="18" charset="0"/>
                          </a:rPr>
                          <m:t>𝑝</m:t>
                        </m:r>
                      </m:sub>
                    </m:sSub>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𝑁</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is the digit sum of </a:t>
                </a:r>
                <a14:m>
                  <m:oMath xmlns:m="http://schemas.openxmlformats.org/officeDocument/2006/math">
                    <m:r>
                      <a:rPr lang="en-IN" sz="2400" i="1">
                        <a:solidFill>
                          <a:srgbClr val="78350F"/>
                        </a:solidFill>
                        <a:latin typeface="Cambria Math" panose="02040503050406030204" pitchFamily="18" charset="0"/>
                      </a:rPr>
                      <m:t>𝑁</m:t>
                    </m:r>
                  </m:oMath>
                </a14:m>
                <a:r>
                  <a:rPr sz="2400" b="0">
                    <a:solidFill>
                      <a:srgbClr val="78350F"/>
                    </a:solidFill>
                    <a:latin typeface="Arial"/>
                  </a:rPr>
                  <a:t> in base </a:t>
                </a:r>
                <a14:m>
                  <m:oMath xmlns:m="http://schemas.openxmlformats.org/officeDocument/2006/math">
                    <m:r>
                      <a:rPr lang="en-IN" sz="2400" i="1">
                        <a:solidFill>
                          <a:srgbClr val="78350F"/>
                        </a:solidFill>
                        <a:latin typeface="Cambria Math" panose="02040503050406030204" pitchFamily="18" charset="0"/>
                      </a:rPr>
                      <m:t>𝑝</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the digit-sum form of Legendre's formula: </a:t>
                </a:r>
                <a:r>
                  <a:rPr lang="en-IN" sz="2400">
                    <a:solidFill>
                      <a:srgbClr val="78350F"/>
                    </a:solidFill>
                    <a:latin typeface="Cambria Math" panose="02040503050406030204" pitchFamily="18" charset="0"/>
                  </a:rPr>
                  <a:t>$v_p(N!)=\dfrac{N-s_p(N)}{p-1}$</a:t>
                </a:r>
                <a:r>
                  <a:rPr sz="2400" b="0">
                    <a:solidFill>
                      <a:srgbClr val="78350F"/>
                    </a:solidFill>
                    <a:latin typeface="Arial"/>
                  </a:rPr>
                  <a:t>, where </a:t>
                </a:r>
                <a:r>
                  <a:rPr lang="en-IN" sz="2400">
                    <a:solidFill>
                      <a:srgbClr val="78350F"/>
                    </a:solidFill>
                    <a:latin typeface="Cambria Math" panose="02040503050406030204" pitchFamily="18" charset="0"/>
                  </a:rPr>
                  <a:t>$s_p(N)$</a:t>
                </a:r>
                <a:r>
                  <a:rPr sz="2400" b="0">
                    <a:solidFill>
                      <a:srgbClr val="78350F"/>
                    </a:solidFill>
                    <a:latin typeface="Arial"/>
                  </a:rPr>
                  <a:t> is the digit sum of </a:t>
                </a:r>
                <a:r>
                  <a:rPr lang="en-IN" sz="2400">
                    <a:solidFill>
                      <a:srgbClr val="78350F"/>
                    </a:solidFill>
                    <a:latin typeface="Cambria Math" panose="02040503050406030204" pitchFamily="18" charset="0"/>
                  </a:rPr>
                  <a:t>$N$</a:t>
                </a:r>
                <a:r>
                  <a:rPr sz="2400" b="0">
                    <a:solidFill>
                      <a:srgbClr val="78350F"/>
                    </a:solidFill>
                    <a:latin typeface="Arial"/>
                  </a:rPr>
                  <a:t> in base </a:t>
                </a:r>
                <a:r>
                  <a:rPr lang="en-IN" sz="2400">
                    <a:solidFill>
                      <a:srgbClr val="78350F"/>
                    </a:solidFill>
                    <a:latin typeface="Cambria Math" panose="02040503050406030204" pitchFamily="18" charset="0"/>
                  </a:rPr>
                  <a:t>$p$</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636520"/>
                <a:ext cx="10725912" cy="315163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Write </a:t>
                </a:r>
                <a14:m>
                  <m:oMath xmlns:m="http://schemas.openxmlformats.org/officeDocument/2006/math">
                    <m:r>
                      <a:rPr lang="en-IN" sz="2400" i="1">
                        <a:solidFill>
                          <a:srgbClr val="111827"/>
                        </a:solidFill>
                        <a:latin typeface="Cambria Math" panose="02040503050406030204" pitchFamily="18" charset="0"/>
                      </a:rPr>
                      <m:t>35</m:t>
                    </m:r>
                  </m:oMath>
                </a14:m>
                <a:r>
                  <a:rPr sz="2400" b="0">
                    <a:solidFill>
                      <a:srgbClr val="111827"/>
                    </a:solidFill>
                    <a:latin typeface="Arial"/>
                  </a:rPr>
                  <a:t> in base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35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i.e. </a:t>
                </a:r>
                <a14:m>
                  <m:oMath xmlns:m="http://schemas.openxmlformats.org/officeDocument/2006/math">
                    <m:sSub>
                      <m:e>
                        <m:r>
                          <a:rPr lang="en-IN" sz="2400" i="1">
                            <a:solidFill>
                              <a:srgbClr val="111827"/>
                            </a:solidFill>
                            <a:latin typeface="Cambria Math" panose="02040503050406030204" pitchFamily="18" charset="0"/>
                          </a:rPr>
                          <m:t>1022</m:t>
                        </m:r>
                      </m:e>
                      <m:sub>
                        <m:r>
                          <a:rPr lang="en-IN" sz="2400" i="1">
                            <a:solidFill>
                              <a:srgbClr val="111827"/>
                            </a:solidFill>
                            <a:latin typeface="Cambria Math" panose="02040503050406030204" pitchFamily="18" charset="0"/>
                          </a:rPr>
                          <m:t>3</m:t>
                        </m:r>
                      </m:sub>
                    </m:sSub>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Digit sum </a:t>
                </a:r>
                <a14:m>
                  <m:oMath xmlns:m="http://schemas.openxmlformats.org/officeDocument/2006/math">
                    <m:sSub>
                      <m:e>
                        <m:r>
                          <a:rPr lang="en-IN" sz="2400" i="1">
                            <a:solidFill>
                              <a:srgbClr val="111827"/>
                            </a:solidFill>
                            <a:latin typeface="Cambria Math" panose="02040503050406030204" pitchFamily="18" charset="0"/>
                          </a:rPr>
                          <m:t>𝑠</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𝑣</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636520"/>
                <a:ext cx="10725912" cy="315163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Write </a:t>
                </a:r>
                <a:r>
                  <a:rPr lang="en-IN" sz="2400">
                    <a:solidFill>
                      <a:srgbClr val="111827"/>
                    </a:solidFill>
                    <a:latin typeface="Cambria Math" panose="02040503050406030204" pitchFamily="18" charset="0"/>
                  </a:rPr>
                  <a:t>$35$</a:t>
                </a:r>
                <a:r>
                  <a:rPr sz="2400" b="0">
                    <a:solidFill>
                      <a:srgbClr val="111827"/>
                    </a:solidFill>
                    <a:latin typeface="Arial"/>
                  </a:rPr>
                  <a:t> in base </a:t>
                </a:r>
                <a:r>
                  <a:rPr lang="en-IN" sz="2400">
                    <a:solidFill>
                      <a:srgbClr val="111827"/>
                    </a:solidFill>
                    <a:latin typeface="Cambria Math" panose="02040503050406030204" pitchFamily="18" charset="0"/>
                  </a:rPr>
                  <a:t>$3$</a:t>
                </a:r>
                <a:r>
                  <a:rPr sz="2400" b="0">
                    <a:solidFill>
                      <a:srgbClr val="111827"/>
                    </a:solidFill>
                    <a:latin typeface="Arial"/>
                  </a:rPr>
                  <a:t>: </a:t>
                </a:r>
                <a:r>
                  <a:rPr lang="en-IN" sz="2400">
                    <a:solidFill>
                      <a:srgbClr val="111827"/>
                    </a:solidFill>
                    <a:latin typeface="Cambria Math" panose="02040503050406030204" pitchFamily="18" charset="0"/>
                  </a:rPr>
                  <a:t>$35=1\cdot27+0\cdot9+2\cdot3+2$</a:t>
                </a:r>
                <a:r>
                  <a:rPr sz="2400" b="0">
                    <a:solidFill>
                      <a:srgbClr val="111827"/>
                    </a:solidFill>
                    <a:latin typeface="Arial"/>
                  </a:rPr>
                  <a:t>, i.e. </a:t>
                </a:r>
                <a:r>
                  <a:rPr lang="en-IN" sz="2400">
                    <a:solidFill>
                      <a:srgbClr val="111827"/>
                    </a:solidFill>
                    <a:latin typeface="Cambria Math" panose="02040503050406030204" pitchFamily="18" charset="0"/>
                  </a:rPr>
                  <a:t>$1022_3$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Digit sum </a:t>
                </a:r>
                <a:r>
                  <a:rPr lang="en-IN" sz="2400">
                    <a:solidFill>
                      <a:srgbClr val="111827"/>
                    </a:solidFill>
                    <a:latin typeface="Cambria Math" panose="02040503050406030204" pitchFamily="18" charset="0"/>
                  </a:rPr>
                  <a:t>$s_3(35)=1+0+2+2=5$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$v_3(35!)=\dfrac{35-5}{3-1}=15$</a:t>
                </a:r>
                <a:r>
                  <a:rPr sz="2400" b="0">
                    <a:solidFill>
                      <a:srgbClr val="111827"/>
                    </a:solidFill>
                    <a:latin typeface="Arial"/>
                  </a:rPr>
                  <a:t>.</a:t>
                </a:r>
                <a:endParaRPr sz="2400">
                  <a:solidFill>
                    <a:srgbClr val="111827"/>
                  </a:solidFill>
                </a:endParaRPr>
              </a:p>
            </p:txBody>
          </p:sp>
        </mc:Fallback>
      </mc:AlternateContent>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15</a:t>
            </a:r>
            <a:endParaRPr sz="2800">
              <a:solidFill>
                <a:srgbClr val="15803D"/>
              </a:solidFill>
            </a:endParaRP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Legendre: </a:t>
                </a:r>
                <a14:m>
                  <m:oMath xmlns:m="http://schemas.openxmlformats.org/officeDocument/2006/math">
                    <m:sSub>
                      <m:e>
                        <m:r>
                          <a:rPr lang="en-IN" sz="2400" i="1">
                            <a:solidFill>
                              <a:srgbClr val="111827"/>
                            </a:solidFill>
                            <a:latin typeface="Cambria Math" panose="02040503050406030204" pitchFamily="18" charset="0"/>
                          </a:rPr>
                          <m:t>𝑣</m:t>
                        </m:r>
                      </m:e>
                      <m:sub>
                        <m:r>
                          <a:rPr lang="en-IN" sz="2400" i="1">
                            <a:solidFill>
                              <a:srgbClr val="111827"/>
                            </a:solidFill>
                            <a:latin typeface="Cambria Math" panose="02040503050406030204" pitchFamily="18" charset="0"/>
                          </a:rPr>
                          <m:t>𝑝</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m:t>
                        </m:r>
                      </m:sup>
                      <m:e>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𝑝</m:t>
                                </m:r>
                              </m:e>
                              <m:sup>
                                <m:r>
                                  <a:rPr lang="en-IN" sz="2400" i="1">
                                    <a:solidFill>
                                      <a:srgbClr val="111827"/>
                                    </a:solidFill>
                                    <a:latin typeface="Cambria Math" panose="02040503050406030204" pitchFamily="18" charset="0"/>
                                  </a:rPr>
                                  <m:t>𝑘</m:t>
                                </m:r>
                              </m:sup>
                            </m:sSup>
                          </m:e>
                        </m:d>
                      </m:e>
                    </m:nary>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𝑠</m:t>
                            </m:r>
                          </m:e>
                          <m:sub>
                            <m:r>
                              <a:rPr lang="en-IN" sz="2400" i="1">
                                <a:solidFill>
                                  <a:srgbClr val="111827"/>
                                </a:solidFill>
                                <a:latin typeface="Cambria Math" panose="02040503050406030204" pitchFamily="18" charset="0"/>
                              </a:rPr>
                              <m:t>𝑝</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Trailing zeros of </a:t>
                </a:r>
                <a14:m>
                  <m:oMath xmlns:m="http://schemas.openxmlformats.org/officeDocument/2006/math">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are </a:t>
                </a:r>
                <a14:m>
                  <m:oMath xmlns:m="http://schemas.openxmlformats.org/officeDocument/2006/math">
                    <m:sSub>
                      <m:e>
                        <m:r>
                          <a:rPr lang="en-IN" sz="2400" i="1">
                            <a:solidFill>
                              <a:srgbClr val="111827"/>
                            </a:solidFill>
                            <a:latin typeface="Cambria Math" panose="02040503050406030204" pitchFamily="18" charset="0"/>
                          </a:rPr>
                          <m:t>𝑣</m:t>
                        </m:r>
                      </m:e>
                      <m:sub>
                        <m:r>
                          <a:rPr lang="en-IN" sz="2400" i="1">
                            <a:solidFill>
                              <a:srgbClr val="111827"/>
                            </a:solidFill>
                            <a:latin typeface="Cambria Math" panose="02040503050406030204" pitchFamily="18" charset="0"/>
                          </a:rPr>
                          <m:t>5</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(since </a:t>
                </a:r>
                <a14:m>
                  <m:oMath xmlns:m="http://schemas.openxmlformats.org/officeDocument/2006/math">
                    <m:sSub>
                      <m:e>
                        <m:r>
                          <a:rPr lang="en-IN" sz="2400" i="1">
                            <a:solidFill>
                              <a:srgbClr val="111827"/>
                            </a:solidFill>
                            <a:latin typeface="Cambria Math" panose="02040503050406030204" pitchFamily="18" charset="0"/>
                          </a:rPr>
                          <m:t>𝑣</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𝑣</m:t>
                        </m:r>
                      </m:e>
                      <m:sub>
                        <m:r>
                          <a:rPr lang="en-IN" sz="2400" i="1">
                            <a:solidFill>
                              <a:srgbClr val="111827"/>
                            </a:solidFill>
                            <a:latin typeface="Cambria Math" panose="02040503050406030204" pitchFamily="18" charset="0"/>
                          </a:rPr>
                          <m:t>5</m:t>
                        </m:r>
                      </m:sub>
                    </m:sSub>
                  </m:oMath>
                </a14:m>
                <a:r>
                  <a:rPr sz="2400" b="0">
                    <a:solidFill>
                      <a:srgbClr val="111827"/>
                    </a:solidFill>
                    <a:latin typeface="Arial"/>
                  </a:rPr>
                  <a:t>); e.g. </a:t>
                </a:r>
                <a14:m>
                  <m:oMath xmlns:m="http://schemas.openxmlformats.org/officeDocument/2006/math">
                    <m:r>
                      <a:rPr lang="en-IN" sz="2400" i="1">
                        <a:solidFill>
                          <a:srgbClr val="111827"/>
                        </a:solidFill>
                        <a:latin typeface="Cambria Math" panose="02040503050406030204" pitchFamily="18" charset="0"/>
                      </a:rPr>
                      <m:t>100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has </a:t>
                </a:r>
                <a14:m>
                  <m:oMath xmlns:m="http://schemas.openxmlformats.org/officeDocument/2006/math">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oMath>
                </a14:m>
                <a:r>
                  <a:rPr sz="2400" b="0">
                    <a:solidFill>
                      <a:srgbClr val="111827"/>
                    </a:solidFill>
                    <a:latin typeface="Arial"/>
                  </a:rPr>
                  <a:t> zeros.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14:m>
                  <m:oMath xmlns:m="http://schemas.openxmlformats.org/officeDocument/2006/math">
                    <m:sSub>
                      <m:e>
                        <m:r>
                          <a:rPr lang="en-IN" sz="2400" i="1">
                            <a:solidFill>
                              <a:srgbClr val="111827"/>
                            </a:solidFill>
                            <a:latin typeface="Cambria Math" panose="02040503050406030204" pitchFamily="18" charset="0"/>
                          </a:rPr>
                          <m:t>𝑣</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1</m:t>
                        </m:r>
                      </m:den>
                    </m:f>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1010</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Legendre: </a:t>
                </a:r>
                <a:r>
                  <a:rPr lang="en-IN" sz="2400">
                    <a:solidFill>
                      <a:srgbClr val="111827"/>
                    </a:solidFill>
                    <a:latin typeface="Cambria Math" panose="02040503050406030204" pitchFamily="18" charset="0"/>
                  </a:rPr>
                  <a:t>$v_p(N!)=\sum_{k\ge1}\left\lfloor N/p^k\right\rfloor=\dfrac{N-s_p(N)}{p-1}$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Trailing zeros of </a:t>
                </a:r>
                <a:r>
                  <a:rPr lang="en-IN" sz="2400">
                    <a:solidFill>
                      <a:srgbClr val="111827"/>
                    </a:solidFill>
                    <a:latin typeface="Cambria Math" panose="02040503050406030204" pitchFamily="18" charset="0"/>
                  </a:rPr>
                  <a:t>$N!$</a:t>
                </a:r>
                <a:r>
                  <a:rPr sz="2400" b="0">
                    <a:solidFill>
                      <a:srgbClr val="111827"/>
                    </a:solidFill>
                    <a:latin typeface="Arial"/>
                  </a:rPr>
                  <a:t> are </a:t>
                </a:r>
                <a:r>
                  <a:rPr lang="en-IN" sz="2400">
                    <a:solidFill>
                      <a:srgbClr val="111827"/>
                    </a:solidFill>
                    <a:latin typeface="Cambria Math" panose="02040503050406030204" pitchFamily="18" charset="0"/>
                  </a:rPr>
                  <a:t>$v_5(N!)$</a:t>
                </a:r>
                <a:r>
                  <a:rPr sz="2400" b="0">
                    <a:solidFill>
                      <a:srgbClr val="111827"/>
                    </a:solidFill>
                    <a:latin typeface="Arial"/>
                  </a:rPr>
                  <a:t> (since </a:t>
                </a:r>
                <a:r>
                  <a:rPr lang="en-IN" sz="2400">
                    <a:solidFill>
                      <a:srgbClr val="111827"/>
                    </a:solidFill>
                    <a:latin typeface="Cambria Math" panose="02040503050406030204" pitchFamily="18" charset="0"/>
                  </a:rPr>
                  <a:t>$v_2\ge v_5$</a:t>
                </a:r>
                <a:r>
                  <a:rPr sz="2400" b="0">
                    <a:solidFill>
                      <a:srgbClr val="111827"/>
                    </a:solidFill>
                    <a:latin typeface="Arial"/>
                  </a:rPr>
                  <a:t>); e.g. </a:t>
                </a:r>
                <a:r>
                  <a:rPr lang="en-IN" sz="2400">
                    <a:solidFill>
                      <a:srgbClr val="111827"/>
                    </a:solidFill>
                    <a:latin typeface="Cambria Math" panose="02040503050406030204" pitchFamily="18" charset="0"/>
                  </a:rPr>
                  <a:t>$100!$</a:t>
                </a:r>
                <a:r>
                  <a:rPr sz="2400" b="0">
                    <a:solidFill>
                      <a:srgbClr val="111827"/>
                    </a:solidFill>
                    <a:latin typeface="Arial"/>
                  </a:rPr>
                  <a:t> has </a:t>
                </a:r>
                <a:r>
                  <a:rPr lang="en-IN" sz="2400">
                    <a:solidFill>
                      <a:srgbClr val="111827"/>
                    </a:solidFill>
                    <a:latin typeface="Cambria Math" panose="02040503050406030204" pitchFamily="18" charset="0"/>
                  </a:rPr>
                  <a:t>$20+4=24$</a:t>
                </a:r>
                <a:r>
                  <a:rPr sz="2400" b="0">
                    <a:solidFill>
                      <a:srgbClr val="111827"/>
                    </a:solidFill>
                    <a:latin typeface="Arial"/>
                  </a:rPr>
                  <a:t> zeros.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r>
                  <a:rPr lang="en-IN" sz="2400">
                    <a:solidFill>
                      <a:srgbClr val="111827"/>
                    </a:solidFill>
                    <a:latin typeface="Cambria Math" panose="02040503050406030204" pitchFamily="18" charset="0"/>
                  </a:rPr>
                  <a:t>$v_2(10!)=5+2+1=8=\dfrac{10-2}{1}$</a:t>
                </a:r>
                <a:r>
                  <a:rPr sz="2400" b="0">
                    <a:solidFill>
                      <a:srgbClr val="111827"/>
                    </a:solidFill>
                    <a:latin typeface="Arial"/>
                  </a:rPr>
                  <a:t> with </a:t>
                </a:r>
                <a:r>
                  <a:rPr lang="en-IN" sz="2400">
                    <a:solidFill>
                      <a:srgbClr val="111827"/>
                    </a:solidFill>
                    <a:latin typeface="Cambria Math" panose="02040503050406030204" pitchFamily="18" charset="0"/>
                  </a:rPr>
                  <a:t>$10=1010_2$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Find the number of positive integral solutions of (i)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352706</m:t>
                    </m:r>
                  </m:oMath>
                </a14:m>
                <a:r>
                  <a:rPr sz="2400" b="0">
                    <a:solidFill>
                      <a:srgbClr val="111827"/>
                    </a:solidFill>
                    <a:latin typeface="Arial"/>
                  </a:rPr>
                  <a:t> (ii) </a:t>
                </a:r>
                <a14:m>
                  <m:oMath xmlns:m="http://schemas.openxmlformats.org/officeDocument/2006/math">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𝑦</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21600</m:t>
                    </m:r>
                  </m:oMath>
                </a14:m>
                <a:r>
                  <a:rPr sz="2400" b="0">
                    <a:solidFill>
                      <a:srgbClr val="111827"/>
                    </a:solidFill>
                    <a:latin typeface="Arial"/>
                  </a:rPr>
                  <a:t>.</a:t>
                </a:r>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Find the number of positive integral solutions of (i) </a:t>
                </a:r>
                <a:r>
                  <a:rPr lang="en-IN" sz="2400">
                    <a:solidFill>
                      <a:srgbClr val="111827"/>
                    </a:solidFill>
                    <a:latin typeface="Cambria Math" panose="02040503050406030204" pitchFamily="18" charset="0"/>
                  </a:rPr>
                  <a:t>$x^2-y^2=352706$</a:t>
                </a:r>
                <a:r>
                  <a:rPr sz="2400" b="0">
                    <a:solidFill>
                      <a:srgbClr val="111827"/>
                    </a:solidFill>
                    <a:latin typeface="Arial"/>
                  </a:rPr>
                  <a:t> (ii) </a:t>
                </a:r>
                <a:r>
                  <a:rPr lang="en-IN" sz="2400">
                    <a:solidFill>
                      <a:srgbClr val="111827"/>
                    </a:solidFill>
                    <a:latin typeface="Cambria Math" panose="02040503050406030204" pitchFamily="18" charset="0"/>
                  </a:rPr>
                  <a:t>$xyz=21600$</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3246120"/>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Integral solutions of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oMath>
                </a14:m>
                <a:r>
                  <a:rPr sz="2400" b="0">
                    <a:solidFill>
                      <a:srgbClr val="111827"/>
                    </a:solidFill>
                    <a:latin typeface="Arial"/>
                  </a:rPr>
                  <a:t> (parity) and product equations (distribution of prime powers)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mc:Choice>
        <mc:Fallback>
          <p:sp>
            <p:nvSpPr>
              <p:cNvPr id="5" name="Rectangle 4"/>
              <p:cNvSpPr/>
              <p:nvPr/>
            </p:nvSpPr>
            <p:spPr>
              <a:xfrm>
                <a:off x="731520" y="3246120"/>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Integral solutions of </a:t>
                </a:r>
                <a:r>
                  <a:rPr lang="en-IN" sz="2400">
                    <a:solidFill>
                      <a:srgbClr val="111827"/>
                    </a:solidFill>
                    <a:latin typeface="Cambria Math" panose="02040503050406030204" pitchFamily="18" charset="0"/>
                  </a:rPr>
                  <a:t>$x^2-y^2=k$</a:t>
                </a:r>
                <a:r>
                  <a:rPr sz="2400" b="0">
                    <a:solidFill>
                      <a:srgbClr val="111827"/>
                    </a:solidFill>
                    <a:latin typeface="Arial"/>
                  </a:rPr>
                  <a:t> (parity) and product equations (distribution of prime powers)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mc:Fallback>
      </mc:AlternateContent>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(i) </a:t>
                </a:r>
                <a14:m>
                  <m:oMath xmlns:m="http://schemas.openxmlformats.org/officeDocument/2006/math">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𝑦</m:t>
                        </m:r>
                      </m:e>
                      <m:sup>
                        <m:r>
                          <a:rPr lang="en-IN" sz="2400" i="1">
                            <a:solidFill>
                              <a:srgbClr val="78350F"/>
                            </a:solidFill>
                            <a:latin typeface="Cambria Math" panose="02040503050406030204" pitchFamily="18" charset="0"/>
                          </a:rPr>
                          <m:t>2</m:t>
                        </m:r>
                      </m:sup>
                    </m:sSup>
                  </m:oMath>
                </a14:m>
                <a:r>
                  <a:rPr sz="2400" b="0">
                    <a:solidFill>
                      <a:srgbClr val="78350F"/>
                    </a:solidFill>
                    <a:latin typeface="Arial"/>
                  </a:rPr>
                  <a:t> is never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 </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mod</m:t>
                    </m:r>
                    <m:r>
                      <a:rPr lang="en-IN" sz="2400" i="1">
                        <a:solidFill>
                          <a:srgbClr val="78350F"/>
                        </a:solidFill>
                        <a:latin typeface="Cambria Math" panose="02040503050406030204" pitchFamily="18" charset="0"/>
                      </a:rPr>
                      <m:t> </m:t>
                    </m:r>
                    <m:r>
                      <a:rPr lang="en-IN" sz="2400" i="1">
                        <a:solidFill>
                          <a:srgbClr val="78350F"/>
                        </a:solidFill>
                        <a:latin typeface="Cambria Math" panose="02040503050406030204" pitchFamily="18" charset="0"/>
                      </a:rPr>
                      <m:t>4</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(ii) Distribute each prime power among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𝑧</m:t>
                    </m:r>
                  </m:oMath>
                </a14:m>
                <a:r>
                  <a:rPr sz="2400" b="0">
                    <a:solidFill>
                      <a:srgbClr val="78350F"/>
                    </a:solidFill>
                    <a:latin typeface="Arial"/>
                  </a:rPr>
                  <a:t> with stars and bars.</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(i) </a:t>
                </a:r>
                <a:r>
                  <a:rPr lang="en-IN" sz="2400">
                    <a:solidFill>
                      <a:srgbClr val="78350F"/>
                    </a:solidFill>
                    <a:latin typeface="Cambria Math" panose="02040503050406030204" pitchFamily="18" charset="0"/>
                  </a:rPr>
                  <a:t>$x^2-y^2$</a:t>
                </a:r>
                <a:r>
                  <a:rPr sz="2400" b="0">
                    <a:solidFill>
                      <a:srgbClr val="78350F"/>
                    </a:solidFill>
                    <a:latin typeface="Arial"/>
                  </a:rPr>
                  <a:t> is never </a:t>
                </a:r>
                <a:r>
                  <a:rPr lang="en-IN" sz="2400">
                    <a:solidFill>
                      <a:srgbClr val="78350F"/>
                    </a:solidFill>
                    <a:latin typeface="Cambria Math" panose="02040503050406030204" pitchFamily="18" charset="0"/>
                  </a:rPr>
                  <a:t>$\equiv2\pmod 4$</a:t>
                </a:r>
                <a:r>
                  <a:rPr sz="2400" b="0">
                    <a:solidFill>
                      <a:srgbClr val="78350F"/>
                    </a:solidFill>
                    <a:latin typeface="Arial"/>
                  </a:rPr>
                  <a:t>. (ii) Distribute each prime power among </a:t>
                </a:r>
                <a:r>
                  <a:rPr lang="en-IN" sz="2400">
                    <a:solidFill>
                      <a:srgbClr val="78350F"/>
                    </a:solidFill>
                    <a:latin typeface="Cambria Math" panose="02040503050406030204" pitchFamily="18" charset="0"/>
                  </a:rPr>
                  <a:t>$x,y,z$</a:t>
                </a:r>
                <a:r>
                  <a:rPr sz="2400" b="0">
                    <a:solidFill>
                      <a:srgbClr val="78350F"/>
                    </a:solidFill>
                    <a:latin typeface="Arial"/>
                  </a:rPr>
                  <a:t> with stars and bars.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 </a:t>
                </a:r>
                <a14:m>
                  <m:oMath xmlns:m="http://schemas.openxmlformats.org/officeDocument/2006/math">
                    <m:r>
                      <a:rPr lang="en-IN" sz="2400" i="1">
                        <a:solidFill>
                          <a:srgbClr val="111827"/>
                        </a:solidFill>
                        <a:latin typeface="Cambria Math" panose="02040503050406030204" pitchFamily="18" charset="0"/>
                      </a:rPr>
                      <m:t>352706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176353</m:t>
                    </m:r>
                  </m:oMath>
                </a14:m>
                <a:r>
                  <a:rPr sz="2400" b="0">
                    <a:solidFill>
                      <a:srgbClr val="111827"/>
                    </a:solidFill>
                    <a:latin typeface="Arial"/>
                  </a:rPr>
                  <a:t>, i.e. an even number that is not divisible by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176353</m:t>
                    </m:r>
                  </m:oMath>
                </a14:m>
                <a:r>
                  <a:rPr sz="2400" b="0">
                    <a:solidFill>
                      <a:srgbClr val="111827"/>
                    </a:solidFill>
                    <a:latin typeface="Arial"/>
                  </a:rPr>
                  <a:t> is odd).</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is even only if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oMath>
                </a14:m>
                <a:r>
                  <a:rPr sz="2400" b="0">
                    <a:solidFill>
                      <a:srgbClr val="111827"/>
                    </a:solidFill>
                    <a:latin typeface="Arial"/>
                  </a:rPr>
                  <a:t> have the same parity, so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oMath>
                </a14:m>
                <a:r>
                  <a:rPr sz="2400" b="0">
                    <a:solidFill>
                      <a:srgbClr val="111827"/>
                    </a:solidFill>
                    <a:latin typeface="Arial"/>
                  </a:rPr>
                  <a:t> are both even or both odd.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Both even,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𝑚</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Sup>
                      <m:e>
                        <m:r>
                          <a:rPr lang="en-IN" sz="2400" i="1">
                            <a:solidFill>
                              <a:srgbClr val="111827"/>
                            </a:solidFill>
                            <a:latin typeface="Cambria Math" panose="02040503050406030204" pitchFamily="18" charset="0"/>
                          </a:rPr>
                          <m:t>𝑚</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𝑚</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divisible by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so it cannot equal </a:t>
                </a:r>
                <a14:m>
                  <m:oMath xmlns:m="http://schemas.openxmlformats.org/officeDocument/2006/math">
                    <m:r>
                      <a:rPr lang="en-IN" sz="2400" i="1">
                        <a:solidFill>
                          <a:srgbClr val="111827"/>
                        </a:solidFill>
                        <a:latin typeface="Cambria Math" panose="02040503050406030204" pitchFamily="18" charset="0"/>
                      </a:rPr>
                      <m:t>352706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Both odd,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Sup>
                      <m:e>
                        <m:r>
                          <a:rPr lang="en-IN" sz="2400" i="1">
                            <a:solidFill>
                              <a:srgbClr val="111827"/>
                            </a:solidFill>
                            <a:latin typeface="Cambria Math" panose="02040503050406030204" pitchFamily="18" charset="0"/>
                          </a:rPr>
                          <m:t>𝑚</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𝑚</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again divisible by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Not possible.</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 </a:t>
                </a:r>
                <a:r>
                  <a:rPr lang="en-IN" sz="2400">
                    <a:solidFill>
                      <a:srgbClr val="111827"/>
                    </a:solidFill>
                    <a:latin typeface="Cambria Math" panose="02040503050406030204" pitchFamily="18" charset="0"/>
                  </a:rPr>
                  <a:t>$352706=2\times176353$</a:t>
                </a:r>
                <a:r>
                  <a:rPr sz="2400" b="0">
                    <a:solidFill>
                      <a:srgbClr val="111827"/>
                    </a:solidFill>
                    <a:latin typeface="Arial"/>
                  </a:rPr>
                  <a:t>, i.e. an even number that is not divisible by </a:t>
                </a:r>
                <a:r>
                  <a:rPr lang="en-IN" sz="2400">
                    <a:solidFill>
                      <a:srgbClr val="111827"/>
                    </a:solidFill>
                    <a:latin typeface="Cambria Math" panose="02040503050406030204" pitchFamily="18" charset="0"/>
                  </a:rPr>
                  <a:t>$4$</a:t>
                </a:r>
                <a:r>
                  <a:rPr sz="2400" b="0">
                    <a:solidFill>
                      <a:srgbClr val="111827"/>
                    </a:solidFill>
                    <a:latin typeface="Arial"/>
                  </a:rPr>
                  <a:t> (</a:t>
                </a:r>
                <a:r>
                  <a:rPr lang="en-IN" sz="2400">
                    <a:solidFill>
                      <a:srgbClr val="111827"/>
                    </a:solidFill>
                    <a:latin typeface="Cambria Math" panose="02040503050406030204" pitchFamily="18" charset="0"/>
                  </a:rPr>
                  <a:t>$176353$</a:t>
                </a:r>
                <a:r>
                  <a:rPr sz="2400" b="0">
                    <a:solidFill>
                      <a:srgbClr val="111827"/>
                    </a:solidFill>
                    <a:latin typeface="Arial"/>
                  </a:rPr>
                  <a:t> is odd).</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$x^2-y^2$</a:t>
                </a:r>
                <a:r>
                  <a:rPr sz="2400" b="0">
                    <a:solidFill>
                      <a:srgbClr val="111827"/>
                    </a:solidFill>
                    <a:latin typeface="Arial"/>
                  </a:rPr>
                  <a:t> is even only if </a:t>
                </a:r>
                <a:r>
                  <a:rPr lang="en-IN" sz="2400">
                    <a:solidFill>
                      <a:srgbClr val="111827"/>
                    </a:solidFill>
                    <a:latin typeface="Cambria Math" panose="02040503050406030204" pitchFamily="18" charset="0"/>
                  </a:rPr>
                  <a:t>$x,y$</a:t>
                </a:r>
                <a:r>
                  <a:rPr sz="2400" b="0">
                    <a:solidFill>
                      <a:srgbClr val="111827"/>
                    </a:solidFill>
                    <a:latin typeface="Arial"/>
                  </a:rPr>
                  <a:t> have the same parity, so </a:t>
                </a:r>
                <a:r>
                  <a:rPr lang="en-IN" sz="2400">
                    <a:solidFill>
                      <a:srgbClr val="111827"/>
                    </a:solidFill>
                    <a:latin typeface="Cambria Math" panose="02040503050406030204" pitchFamily="18" charset="0"/>
                  </a:rPr>
                  <a:t>$x,y$</a:t>
                </a:r>
                <a:r>
                  <a:rPr sz="2400" b="0">
                    <a:solidFill>
                      <a:srgbClr val="111827"/>
                    </a:solidFill>
                    <a:latin typeface="Arial"/>
                  </a:rPr>
                  <a:t> are both even or both odd.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Both even, </a:t>
                </a:r>
                <a:r>
                  <a:rPr lang="en-IN" sz="2400">
                    <a:solidFill>
                      <a:srgbClr val="111827"/>
                    </a:solidFill>
                    <a:latin typeface="Cambria Math" panose="02040503050406030204" pitchFamily="18" charset="0"/>
                  </a:rPr>
                  <a:t>$x=2m$</a:t>
                </a:r>
                <a:r>
                  <a:rPr sz="2400" b="0">
                    <a:solidFill>
                      <a:srgbClr val="111827"/>
                    </a:solidFill>
                    <a:latin typeface="Arial"/>
                  </a:rPr>
                  <a:t>, </a:t>
                </a:r>
                <a:r>
                  <a:rPr lang="en-IN" sz="2400">
                    <a:solidFill>
                      <a:srgbClr val="111827"/>
                    </a:solidFill>
                    <a:latin typeface="Cambria Math" panose="02040503050406030204" pitchFamily="18" charset="0"/>
                  </a:rPr>
                  <a:t>$y=2n$</a:t>
                </a:r>
                <a:r>
                  <a:rPr sz="2400" b="0">
                    <a:solidFill>
                      <a:srgbClr val="111827"/>
                    </a:solidFill>
                    <a:latin typeface="Arial"/>
                  </a:rPr>
                  <a:t>: </a:t>
                </a:r>
                <a:r>
                  <a:rPr lang="en-IN" sz="2400">
                    <a:solidFill>
                      <a:srgbClr val="111827"/>
                    </a:solidFill>
                    <a:latin typeface="Cambria Math" panose="02040503050406030204" pitchFamily="18" charset="0"/>
                  </a:rPr>
                  <a:t>$x^2-y^2=4m^2-4n^2=4(m^2-n^2)$</a:t>
                </a:r>
                <a:r>
                  <a:rPr sz="2400" b="0">
                    <a:solidFill>
                      <a:srgbClr val="111827"/>
                    </a:solidFill>
                    <a:latin typeface="Arial"/>
                  </a:rPr>
                  <a:t> is divisible by </a:t>
                </a:r>
                <a:r>
                  <a:rPr lang="en-IN" sz="2400">
                    <a:solidFill>
                      <a:srgbClr val="111827"/>
                    </a:solidFill>
                    <a:latin typeface="Cambria Math" panose="02040503050406030204" pitchFamily="18" charset="0"/>
                  </a:rPr>
                  <a:t>$4$</a:t>
                </a:r>
                <a:r>
                  <a:rPr sz="2400" b="0">
                    <a:solidFill>
                      <a:srgbClr val="111827"/>
                    </a:solidFill>
                    <a:latin typeface="Arial"/>
                  </a:rPr>
                  <a:t>, so it cannot equal </a:t>
                </a:r>
                <a:r>
                  <a:rPr lang="en-IN" sz="2400">
                    <a:solidFill>
                      <a:srgbClr val="111827"/>
                    </a:solidFill>
                    <a:latin typeface="Cambria Math" panose="02040503050406030204" pitchFamily="18" charset="0"/>
                  </a:rPr>
                  <a:t>$352706$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Both odd, </a:t>
                </a:r>
                <a:r>
                  <a:rPr lang="en-IN" sz="2400">
                    <a:solidFill>
                      <a:srgbClr val="111827"/>
                    </a:solidFill>
                    <a:latin typeface="Cambria Math" panose="02040503050406030204" pitchFamily="18" charset="0"/>
                  </a:rPr>
                  <a:t>$x=2m+1$</a:t>
                </a:r>
                <a:r>
                  <a:rPr sz="2400" b="0">
                    <a:solidFill>
                      <a:srgbClr val="111827"/>
                    </a:solidFill>
                    <a:latin typeface="Arial"/>
                  </a:rPr>
                  <a:t>, </a:t>
                </a:r>
                <a:r>
                  <a:rPr lang="en-IN" sz="2400">
                    <a:solidFill>
                      <a:srgbClr val="111827"/>
                    </a:solidFill>
                    <a:latin typeface="Cambria Math" panose="02040503050406030204" pitchFamily="18" charset="0"/>
                  </a:rPr>
                  <a:t>$y=2n+1$</a:t>
                </a:r>
                <a:r>
                  <a:rPr sz="2400" b="0">
                    <a:solidFill>
                      <a:srgbClr val="111827"/>
                    </a:solidFill>
                    <a:latin typeface="Arial"/>
                  </a:rPr>
                  <a:t>: </a:t>
                </a:r>
                <a:r>
                  <a:rPr lang="en-IN" sz="2400">
                    <a:solidFill>
                      <a:srgbClr val="111827"/>
                    </a:solidFill>
                    <a:latin typeface="Cambria Math" panose="02040503050406030204" pitchFamily="18" charset="0"/>
                  </a:rPr>
                  <a:t>$x^2-y^2=4m^2+4m-4n^2-4n=4[m^2-n^2+m-n]$</a:t>
                </a:r>
                <a:r>
                  <a:rPr sz="2400" b="0">
                    <a:solidFill>
                      <a:srgbClr val="111827"/>
                    </a:solidFill>
                    <a:latin typeface="Arial"/>
                  </a:rPr>
                  <a:t>, again divisible by </a:t>
                </a:r>
                <a:r>
                  <a:rPr lang="en-IN" sz="2400">
                    <a:solidFill>
                      <a:srgbClr val="111827"/>
                    </a:solidFill>
                    <a:latin typeface="Cambria Math" panose="02040503050406030204" pitchFamily="18" charset="0"/>
                  </a:rPr>
                  <a:t>$4$</a:t>
                </a:r>
                <a:r>
                  <a:rPr sz="2400" b="0">
                    <a:solidFill>
                      <a:srgbClr val="111827"/>
                    </a:solidFill>
                    <a:latin typeface="Arial"/>
                  </a:rPr>
                  <a:t>. Not possible.</a:t>
                </a:r>
                <a:endParaRPr sz="2400">
                  <a:solidFill>
                    <a:srgbClr val="111827"/>
                  </a:solidFill>
                </a:endParaRPr>
              </a:p>
            </p:txBody>
          </p:sp>
        </mc:Fallback>
      </mc:AlternateContent>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Hence there is no solution: the number of solutions is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(ii) </a:t>
                </a:r>
                <a14:m>
                  <m:oMath xmlns:m="http://schemas.openxmlformats.org/officeDocument/2006/math">
                    <m:r>
                      <a:rPr lang="en-IN" sz="2400" i="1">
                        <a:solidFill>
                          <a:srgbClr val="111827"/>
                        </a:solidFill>
                        <a:latin typeface="Cambria Math" panose="02040503050406030204" pitchFamily="18" charset="0"/>
                      </a:rPr>
                      <m:t>21600</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5</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5</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The exponent of each prime is shared among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oMath>
                </a14:m>
                <a:r>
                  <a:rPr sz="2400" b="0">
                    <a:solidFill>
                      <a:srgbClr val="111827"/>
                    </a:solidFill>
                    <a:latin typeface="Arial"/>
                  </a:rPr>
                  <a:t> (non-negative parts).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Ways: for </a:t>
                </a:r>
                <a14:m>
                  <m:oMath xmlns:m="http://schemas.openxmlformats.org/officeDocument/2006/math">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5</m:t>
                        </m:r>
                      </m:sup>
                    </m:sSup>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7</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oMath>
                </a14:m>
                <a:r>
                  <a:rPr sz="2400" b="0">
                    <a:solidFill>
                      <a:srgbClr val="111827"/>
                    </a:solidFill>
                    <a:latin typeface="Arial"/>
                  </a:rPr>
                  <a:t>; for </a:t>
                </a:r>
                <a14:m>
                  <m:oMath xmlns:m="http://schemas.openxmlformats.org/officeDocument/2006/math">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3</m:t>
                        </m:r>
                      </m:sup>
                    </m:sSup>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5</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for </a:t>
                </a:r>
                <a14:m>
                  <m:oMath xmlns:m="http://schemas.openxmlformats.org/officeDocument/2006/math">
                    <m:sSup>
                      <m:e>
                        <m:r>
                          <a:rPr lang="en-IN" sz="2400" i="1">
                            <a:solidFill>
                              <a:srgbClr val="111827"/>
                            </a:solidFill>
                            <a:latin typeface="Cambria Math" panose="02040503050406030204" pitchFamily="18" charset="0"/>
                          </a:rPr>
                          <m:t>5</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4</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 of solutions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1260</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Hence there is no solution: the number of solutions is </a:t>
                </a:r>
                <a:r>
                  <a:rPr lang="en-IN" sz="2400">
                    <a:solidFill>
                      <a:srgbClr val="111827"/>
                    </a:solidFill>
                    <a:latin typeface="Cambria Math" panose="02040503050406030204" pitchFamily="18" charset="0"/>
                  </a:rPr>
                  <a:t>$0$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(ii) </a:t>
                </a:r>
                <a:r>
                  <a:rPr lang="en-IN" sz="2400">
                    <a:solidFill>
                      <a:srgbClr val="111827"/>
                    </a:solidFill>
                    <a:latin typeface="Cambria Math" panose="02040503050406030204" pitchFamily="18" charset="0"/>
                  </a:rPr>
                  <a:t>$21600=2^5\cdot3^3\cdot5^2$</a:t>
                </a:r>
                <a:r>
                  <a:rPr sz="2400" b="0">
                    <a:solidFill>
                      <a:srgbClr val="111827"/>
                    </a:solidFill>
                    <a:latin typeface="Arial"/>
                  </a:rPr>
                  <a:t>. The exponent of each prime is shared among </a:t>
                </a:r>
                <a:r>
                  <a:rPr lang="en-IN" sz="2400">
                    <a:solidFill>
                      <a:srgbClr val="111827"/>
                    </a:solidFill>
                    <a:latin typeface="Cambria Math" panose="02040503050406030204" pitchFamily="18" charset="0"/>
                  </a:rPr>
                  <a:t>$x,y,z$</a:t>
                </a:r>
                <a:r>
                  <a:rPr sz="2400" b="0">
                    <a:solidFill>
                      <a:srgbClr val="111827"/>
                    </a:solidFill>
                    <a:latin typeface="Arial"/>
                  </a:rPr>
                  <a:t> (non-negative parts).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Ways: for </a:t>
                </a:r>
                <a:r>
                  <a:rPr lang="en-IN" sz="2400">
                    <a:solidFill>
                      <a:srgbClr val="111827"/>
                    </a:solidFill>
                    <a:latin typeface="Cambria Math" panose="02040503050406030204" pitchFamily="18" charset="0"/>
                  </a:rPr>
                  <a:t>$2^5$</a:t>
                </a:r>
                <a:r>
                  <a:rPr sz="2400" b="0">
                    <a:solidFill>
                      <a:srgbClr val="111827"/>
                    </a:solidFill>
                    <a:latin typeface="Arial"/>
                  </a:rPr>
                  <a:t>: </a:t>
                </a:r>
                <a:r>
                  <a:rPr lang="en-IN" sz="2400">
                    <a:solidFill>
                      <a:srgbClr val="111827"/>
                    </a:solidFill>
                    <a:latin typeface="Cambria Math" panose="02040503050406030204" pitchFamily="18" charset="0"/>
                  </a:rPr>
                  <a:t>${}^{7}C_2=21$</a:t>
                </a:r>
                <a:r>
                  <a:rPr sz="2400" b="0">
                    <a:solidFill>
                      <a:srgbClr val="111827"/>
                    </a:solidFill>
                    <a:latin typeface="Arial"/>
                  </a:rPr>
                  <a:t>; for </a:t>
                </a:r>
                <a:r>
                  <a:rPr lang="en-IN" sz="2400">
                    <a:solidFill>
                      <a:srgbClr val="111827"/>
                    </a:solidFill>
                    <a:latin typeface="Cambria Math" panose="02040503050406030204" pitchFamily="18" charset="0"/>
                  </a:rPr>
                  <a:t>$3^3$</a:t>
                </a:r>
                <a:r>
                  <a:rPr sz="2400" b="0">
                    <a:solidFill>
                      <a:srgbClr val="111827"/>
                    </a:solidFill>
                    <a:latin typeface="Arial"/>
                  </a:rPr>
                  <a:t>: </a:t>
                </a:r>
                <a:r>
                  <a:rPr lang="en-IN" sz="2400">
                    <a:solidFill>
                      <a:srgbClr val="111827"/>
                    </a:solidFill>
                    <a:latin typeface="Cambria Math" panose="02040503050406030204" pitchFamily="18" charset="0"/>
                  </a:rPr>
                  <a:t>${}^{5}C_2=10$</a:t>
                </a:r>
                <a:r>
                  <a:rPr sz="2400" b="0">
                    <a:solidFill>
                      <a:srgbClr val="111827"/>
                    </a:solidFill>
                    <a:latin typeface="Arial"/>
                  </a:rPr>
                  <a:t>; for </a:t>
                </a:r>
                <a:r>
                  <a:rPr lang="en-IN" sz="2400">
                    <a:solidFill>
                      <a:srgbClr val="111827"/>
                    </a:solidFill>
                    <a:latin typeface="Cambria Math" panose="02040503050406030204" pitchFamily="18" charset="0"/>
                  </a:rPr>
                  <a:t>$5^2$</a:t>
                </a:r>
                <a:r>
                  <a:rPr sz="2400" b="0">
                    <a:solidFill>
                      <a:srgbClr val="111827"/>
                    </a:solidFill>
                    <a:latin typeface="Arial"/>
                  </a:rPr>
                  <a:t>: </a:t>
                </a:r>
                <a:r>
                  <a:rPr lang="en-IN" sz="2400">
                    <a:solidFill>
                      <a:srgbClr val="111827"/>
                    </a:solidFill>
                    <a:latin typeface="Cambria Math" panose="02040503050406030204" pitchFamily="18" charset="0"/>
                  </a:rPr>
                  <a:t>${}^{4}C_2=6$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 of solutions </a:t>
                </a:r>
                <a:r>
                  <a:rPr lang="en-IN" sz="2400">
                    <a:solidFill>
                      <a:srgbClr val="111827"/>
                    </a:solidFill>
                    <a:latin typeface="Cambria Math" panose="02040503050406030204" pitchFamily="18" charset="0"/>
                  </a:rPr>
                  <a:t>$=21\times10\times6=1260$</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(i) Zero (ii) 1260</a:t>
            </a:r>
            <a:endParaRPr sz="2800">
              <a:solidFill>
                <a:srgbClr val="15803D"/>
              </a:solidFill>
            </a:endParaRP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For part (i), look at squares modulo </a:t>
                </a:r>
                <a14:m>
                  <m:oMath xmlns:m="http://schemas.openxmlformats.org/officeDocument/2006/math">
                    <m:r>
                      <a:rPr lang="en-IN" sz="2400" i="1">
                        <a:solidFill>
                          <a:srgbClr val="78350F"/>
                        </a:solidFill>
                        <a:latin typeface="Cambria Math" panose="02040503050406030204" pitchFamily="18" charset="0"/>
                      </a:rPr>
                      <m:t>4</m:t>
                    </m:r>
                  </m:oMath>
                </a14:m>
                <a:r>
                  <a:rPr sz="2400" b="0">
                    <a:solidFill>
                      <a:srgbClr val="78350F"/>
                    </a:solidFill>
                    <a:latin typeface="Arial"/>
                  </a:rPr>
                  <a:t> instead of splitting by parity.</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For part (i), look at squares modulo </a:t>
                </a:r>
                <a:r>
                  <a:rPr lang="en-IN" sz="2400">
                    <a:solidFill>
                      <a:srgbClr val="78350F"/>
                    </a:solidFill>
                    <a:latin typeface="Cambria Math" panose="02040503050406030204" pitchFamily="18" charset="0"/>
                  </a:rPr>
                  <a:t>$4$</a:t>
                </a:r>
                <a:r>
                  <a:rPr sz="2400" b="0">
                    <a:solidFill>
                      <a:srgbClr val="78350F"/>
                    </a:solidFill>
                    <a:latin typeface="Arial"/>
                  </a:rPr>
                  <a:t> instead of splitting by parity.</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Every square is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1</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it is never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352706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88176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no positive integers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oMath>
                </a14:m>
                <a:r>
                  <a:rPr sz="2400" b="0">
                    <a:solidFill>
                      <a:srgbClr val="111827"/>
                    </a:solidFill>
                    <a:latin typeface="Arial"/>
                  </a:rPr>
                  <a:t> satisfy the equation: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solutions.</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Every square is </a:t>
                </a:r>
                <a:r>
                  <a:rPr lang="en-IN" sz="2400">
                    <a:solidFill>
                      <a:srgbClr val="111827"/>
                    </a:solidFill>
                    <a:latin typeface="Cambria Math" panose="02040503050406030204" pitchFamily="18" charset="0"/>
                  </a:rPr>
                  <a:t>$\equiv0$</a:t>
                </a:r>
                <a:r>
                  <a:rPr sz="2400" b="0">
                    <a:solidFill>
                      <a:srgbClr val="111827"/>
                    </a:solidFill>
                    <a:latin typeface="Arial"/>
                  </a:rPr>
                  <a:t> or </a:t>
                </a:r>
                <a:r>
                  <a:rPr lang="en-IN" sz="2400">
                    <a:solidFill>
                      <a:srgbClr val="111827"/>
                    </a:solidFill>
                    <a:latin typeface="Cambria Math" panose="02040503050406030204" pitchFamily="18" charset="0"/>
                  </a:rPr>
                  <a:t>$1\pmod 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$x^2-y^2\equiv0-0,\ 1-1,\ 1-0,\ 0-1\equiv0,0,1,3\pmod4$</a:t>
                </a:r>
                <a:r>
                  <a:rPr sz="2400" b="0">
                    <a:solidFill>
                      <a:srgbClr val="111827"/>
                    </a:solidFill>
                    <a:latin typeface="Arial"/>
                  </a:rPr>
                  <a:t>; it is never </a:t>
                </a:r>
                <a:r>
                  <a:rPr lang="en-IN" sz="2400">
                    <a:solidFill>
                      <a:srgbClr val="111827"/>
                    </a:solidFill>
                    <a:latin typeface="Cambria Math" panose="02040503050406030204" pitchFamily="18" charset="0"/>
                  </a:rPr>
                  <a:t>$\equiv2\pmod4$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$352706=4\times88176+2\equiv2\pmod4$</a:t>
                </a:r>
                <a:r>
                  <a:rPr sz="2400" b="0">
                    <a:solidFill>
                      <a:srgbClr val="111827"/>
                    </a:solidFill>
                    <a:latin typeface="Arial"/>
                  </a:rPr>
                  <a:t>, so no positive integers </a:t>
                </a:r>
                <a:r>
                  <a:rPr lang="en-IN" sz="2400">
                    <a:solidFill>
                      <a:srgbClr val="111827"/>
                    </a:solidFill>
                    <a:latin typeface="Cambria Math" panose="02040503050406030204" pitchFamily="18" charset="0"/>
                  </a:rPr>
                  <a:t>$x,y$</a:t>
                </a:r>
                <a:r>
                  <a:rPr sz="2400" b="0">
                    <a:solidFill>
                      <a:srgbClr val="111827"/>
                    </a:solidFill>
                    <a:latin typeface="Arial"/>
                  </a:rPr>
                  <a:t> satisfy the equation: </a:t>
                </a:r>
                <a:r>
                  <a:rPr lang="en-IN" sz="2400">
                    <a:solidFill>
                      <a:srgbClr val="111827"/>
                    </a:solidFill>
                    <a:latin typeface="Cambria Math" panose="02040503050406030204" pitchFamily="18" charset="0"/>
                  </a:rPr>
                  <a:t>$0$</a:t>
                </a:r>
                <a:r>
                  <a:rPr sz="2400" b="0">
                    <a:solidFill>
                      <a:srgbClr val="111827"/>
                    </a:solidFill>
                    <a:latin typeface="Arial"/>
                  </a:rPr>
                  <a:t> solutions.</a:t>
                </a:r>
                <a:endParaRPr sz="2400">
                  <a:solidFill>
                    <a:srgbClr val="111827"/>
                  </a:solidFill>
                </a:endParaRPr>
              </a:p>
            </p:txBody>
          </p:sp>
        </mc:Fallback>
      </mc:AlternateContent>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(i) Zero (ii) 1260</a:t>
            </a:r>
            <a:endParaRPr sz="2800">
              <a:solidFill>
                <a:srgbClr val="15803D"/>
              </a:solidFill>
            </a:endParaRP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number </a:t>
                </a:r>
                <a14:m>
                  <m:oMath xmlns:m="http://schemas.openxmlformats.org/officeDocument/2006/math">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never a difference of two squares; </a:t>
                </a:r>
                <a14:m>
                  <m:oMath xmlns:m="http://schemas.openxmlformats.org/officeDocument/2006/math">
                    <m:r>
                      <a:rPr lang="en-IN" sz="2400" i="1">
                        <a:solidFill>
                          <a:srgbClr val="111827"/>
                        </a:solidFill>
                        <a:latin typeface="Cambria Math" panose="02040503050406030204" pitchFamily="18" charset="0"/>
                      </a:rPr>
                      <m:t>𝑁</m:t>
                    </m:r>
                  </m:oMath>
                </a14:m>
                <a:r>
                  <a:rPr sz="2400" b="0">
                    <a:solidFill>
                      <a:srgbClr val="111827"/>
                    </a:solidFill>
                    <a:latin typeface="Arial"/>
                  </a:rPr>
                  <a:t> is a difference of two squares iff </a:t>
                </a:r>
                <a14:m>
                  <m:oMath xmlns:m="http://schemas.openxmlformats.org/officeDocument/2006/math">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𝑁</m:t>
                    </m:r>
                  </m:oMath>
                </a14:m>
                <a:r>
                  <a:rPr sz="2400" b="0">
                    <a:solidFill>
                      <a:srgbClr val="111827"/>
                    </a:solidFill>
                    <a:latin typeface="Arial"/>
                  </a:rPr>
                  <a:t> odd, or divisible by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 of solutions of </a:t>
                </a:r>
                <a14:m>
                  <m:oMath xmlns:m="http://schemas.openxmlformats.org/officeDocument/2006/math">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𝑟</m:t>
                        </m:r>
                      </m:sub>
                    </m:sSub>
                    <m:r>
                      <m:rPr>
                        <m:sty m:val="p"/>
                      </m:rPr>
                      <a:rPr lang="en-IN" sz="2400">
                        <a:solidFill>
                          <a:srgbClr val="111827"/>
                        </a:solidFill>
                        <a:latin typeface="Cambria Math" panose="02040503050406030204" pitchFamily="18" charset="0"/>
                      </a:rPr>
                      <m:t>=</m:t>
                    </m:r>
                    <m:sSubSup>
                      <m:e>
                        <m:r>
                          <a:rPr lang="en-IN" sz="2400" i="1">
                            <a:solidFill>
                              <a:srgbClr val="111827"/>
                            </a:solidFill>
                            <a:latin typeface="Cambria Math" panose="02040503050406030204" pitchFamily="18" charset="0"/>
                          </a:rPr>
                          <m:t>𝑝</m:t>
                        </m:r>
                      </m:e>
                      <m:sub>
                        <m:r>
                          <a:rPr lang="en-IN" sz="2400" i="1">
                            <a:solidFill>
                              <a:srgbClr val="111827"/>
                            </a:solidFill>
                            <a:latin typeface="Cambria Math" panose="02040503050406030204" pitchFamily="18" charset="0"/>
                          </a:rPr>
                          <m:t>1</m:t>
                        </m:r>
                      </m:sub>
                      <m:sup>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m:t>
                            </m:r>
                          </m:sub>
                        </m:sSub>
                      </m:sup>
                    </m:sSubSup>
                    <m:r>
                      <m:rPr>
                        <m:sty m:val="p"/>
                      </m:rPr>
                      <a:rPr lang="en-IN" sz="2400">
                        <a:solidFill>
                          <a:srgbClr val="111827"/>
                        </a:solidFill>
                        <a:latin typeface="Cambria Math" panose="02040503050406030204" pitchFamily="18" charset="0"/>
                      </a:rPr>
                      <m:t>⋯</m:t>
                    </m:r>
                    <m:sSubSup>
                      <m:e>
                        <m:r>
                          <a:rPr lang="en-IN" sz="2400" i="1">
                            <a:solidFill>
                              <a:srgbClr val="111827"/>
                            </a:solidFill>
                            <a:latin typeface="Cambria Math" panose="02040503050406030204" pitchFamily="18" charset="0"/>
                          </a:rPr>
                          <m:t>𝑝</m:t>
                        </m:r>
                      </m:e>
                      <m:sub>
                        <m:r>
                          <a:rPr lang="en-IN" sz="2400" i="1">
                            <a:solidFill>
                              <a:srgbClr val="111827"/>
                            </a:solidFill>
                            <a:latin typeface="Cambria Math" panose="02040503050406030204" pitchFamily="18" charset="0"/>
                          </a:rPr>
                          <m:t>𝑘</m:t>
                        </m:r>
                      </m:sub>
                      <m:sup>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𝑘</m:t>
                            </m:r>
                          </m:sub>
                        </m:sSub>
                      </m:sup>
                    </m:sSubSup>
                  </m:oMath>
                </a14:m>
                <a:r>
                  <a:rPr sz="2400" b="0">
                    <a:solidFill>
                      <a:srgbClr val="111827"/>
                    </a:solidFill>
                    <a:latin typeface="Arial"/>
                  </a:rPr>
                  <a:t> in positive integers: </a:t>
                </a:r>
                <a14:m>
                  <m:oMath xmlns:m="http://schemas.openxmlformats.org/officeDocument/2006/math">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𝑖</m:t>
                        </m:r>
                      </m:sub>
                      <m:sup>
                        <m:r>
                          <a:rPr lang="en-IN" sz="2400" i="1">
                            <a:solidFill>
                              <a:srgbClr val="111827"/>
                            </a:solidFill>
                            <a:latin typeface="Cambria Math" panose="02040503050406030204" pitchFamily="18" charset="0"/>
                          </a:rPr>
                          <m:t>​</m:t>
                        </m:r>
                      </m:sup>
                      <m:e>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e>
                        </m:d>
                      </m:e>
                    </m:nary>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14:m>
                  <m:oMath xmlns:m="http://schemas.openxmlformats.org/officeDocument/2006/math">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𝑦</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gives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2</m:t>
                            </m:r>
                          </m:den>
                        </m:f>
                      </m:e>
                    </m:d>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1</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m:t>
                    </m:r>
                  </m:oMath>
                </a14:m>
                <a:r>
                  <a:rPr sz="2400" b="0">
                    <a:solidFill>
                      <a:srgbClr val="111827"/>
                    </a:solidFill>
                    <a:latin typeface="Arial"/>
                  </a:rPr>
                  <a:t> ordered triples.</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number </a:t>
                </a:r>
                <a:r>
                  <a:rPr lang="en-IN" sz="2400">
                    <a:solidFill>
                      <a:srgbClr val="111827"/>
                    </a:solidFill>
                    <a:latin typeface="Cambria Math" panose="02040503050406030204" pitchFamily="18" charset="0"/>
                  </a:rPr>
                  <a:t>$N\equiv2\pmod4$</a:t>
                </a:r>
                <a:r>
                  <a:rPr sz="2400" b="0">
                    <a:solidFill>
                      <a:srgbClr val="111827"/>
                    </a:solidFill>
                    <a:latin typeface="Arial"/>
                  </a:rPr>
                  <a:t> is never a difference of two squares; </a:t>
                </a:r>
                <a:r>
                  <a:rPr lang="en-IN" sz="2400">
                    <a:solidFill>
                      <a:srgbClr val="111827"/>
                    </a:solidFill>
                    <a:latin typeface="Cambria Math" panose="02040503050406030204" pitchFamily="18" charset="0"/>
                  </a:rPr>
                  <a:t>$N$</a:t>
                </a:r>
                <a:r>
                  <a:rPr sz="2400" b="0">
                    <a:solidFill>
                      <a:srgbClr val="111827"/>
                    </a:solidFill>
                    <a:latin typeface="Arial"/>
                  </a:rPr>
                  <a:t> is a difference of two squares iff </a:t>
                </a:r>
                <a:r>
                  <a:rPr lang="en-IN" sz="2400">
                    <a:solidFill>
                      <a:srgbClr val="111827"/>
                    </a:solidFill>
                    <a:latin typeface="Cambria Math" panose="02040503050406030204" pitchFamily="18" charset="0"/>
                  </a:rPr>
                  <a:t>$N\not\equiv2\pmod 4$</a:t>
                </a:r>
                <a:r>
                  <a:rPr sz="2400" b="0">
                    <a:solidFill>
                      <a:srgbClr val="111827"/>
                    </a:solidFill>
                    <a:latin typeface="Arial"/>
                  </a:rPr>
                  <a:t> (</a:t>
                </a:r>
                <a:r>
                  <a:rPr lang="en-IN" sz="2400">
                    <a:solidFill>
                      <a:srgbClr val="111827"/>
                    </a:solidFill>
                    <a:latin typeface="Cambria Math" panose="02040503050406030204" pitchFamily="18" charset="0"/>
                  </a:rPr>
                  <a:t>$N$</a:t>
                </a:r>
                <a:r>
                  <a:rPr sz="2400" b="0">
                    <a:solidFill>
                      <a:srgbClr val="111827"/>
                    </a:solidFill>
                    <a:latin typeface="Arial"/>
                  </a:rPr>
                  <a:t> odd, or divisible by </a:t>
                </a:r>
                <a:r>
                  <a:rPr lang="en-IN" sz="2400">
                    <a:solidFill>
                      <a:srgbClr val="111827"/>
                    </a:solidFill>
                    <a:latin typeface="Cambria Math" panose="02040503050406030204" pitchFamily="18" charset="0"/>
                  </a:rPr>
                  <a:t>$4$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 of solutions of </a:t>
                </a:r>
                <a:r>
                  <a:rPr lang="en-IN" sz="2400">
                    <a:solidFill>
                      <a:srgbClr val="111827"/>
                    </a:solidFill>
                    <a:latin typeface="Cambria Math" panose="02040503050406030204" pitchFamily="18" charset="0"/>
                  </a:rPr>
                  <a:t>$x_1x_2\cdots x_r=p_1^{a_1}\cdots p_k^{a_k}$</a:t>
                </a:r>
                <a:r>
                  <a:rPr sz="2400" b="0">
                    <a:solidFill>
                      <a:srgbClr val="111827"/>
                    </a:solidFill>
                    <a:latin typeface="Arial"/>
                  </a:rPr>
                  <a:t> in positive integers: </a:t>
                </a:r>
                <a:r>
                  <a:rPr lang="en-IN" sz="2400">
                    <a:solidFill>
                      <a:srgbClr val="111827"/>
                    </a:solidFill>
                    <a:latin typeface="Cambria Math" panose="02040503050406030204" pitchFamily="18" charset="0"/>
                  </a:rPr>
                  <a:t>$\prod_i\binom{a_i+r-1}{r-1}$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r>
                  <a:rPr lang="en-IN" sz="2400">
                    <a:solidFill>
                      <a:srgbClr val="111827"/>
                    </a:solidFill>
                    <a:latin typeface="Cambria Math" panose="02040503050406030204" pitchFamily="18" charset="0"/>
                  </a:rPr>
                  <a:t>$xyz=12=2^2\cdot3$</a:t>
                </a:r>
                <a:r>
                  <a:rPr sz="2400" b="0">
                    <a:solidFill>
                      <a:srgbClr val="111827"/>
                    </a:solidFill>
                    <a:latin typeface="Arial"/>
                  </a:rPr>
                  <a:t> gives </a:t>
                </a:r>
                <a:r>
                  <a:rPr lang="en-IN" sz="2400">
                    <a:solidFill>
                      <a:srgbClr val="111827"/>
                    </a:solidFill>
                    <a:latin typeface="Cambria Math" panose="02040503050406030204" pitchFamily="18" charset="0"/>
                  </a:rPr>
                  <a:t>$\binom42\binom31=18$</a:t>
                </a:r>
                <a:r>
                  <a:rPr sz="2400" b="0">
                    <a:solidFill>
                      <a:srgbClr val="111827"/>
                    </a:solidFill>
                    <a:latin typeface="Arial"/>
                  </a:rPr>
                  <a:t> ordered triples.</a:t>
                </a:r>
                <a:endParaRPr sz="2400">
                  <a:solidFill>
                    <a:srgbClr val="111827"/>
                  </a:solidFill>
                </a:endParaRPr>
              </a:p>
            </p:txBody>
          </p:sp>
        </mc:Fallback>
      </mc:AlternateContent>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Find the total number of ways of selecting five letters from the letters of the word INDEPENDENT.</a:t>
            </a:r>
            <a:endParaRPr sz="2400">
              <a:solidFill>
                <a:srgbClr val="111827"/>
              </a:solidFill>
            </a:endParaRPr>
          </a:p>
        </p:txBody>
      </p:sp>
      <p:sp>
        <p:nvSpPr>
          <p:cNvPr id="5" name="Rectangle 4"/>
          <p:cNvSpPr/>
          <p:nvPr/>
        </p:nvSpPr>
        <p:spPr>
          <a:xfrm>
            <a:off x="731520" y="324612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Selections from a group of alike and distinct letters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Classify selections by the pattern of repeats (e.g. </a:t>
                </a:r>
                <a14:m>
                  <m:oMath xmlns:m="http://schemas.openxmlformats.org/officeDocument/2006/math">
                    <m:r>
                      <a:rPr lang="en-IN" sz="2400" i="1">
                        <a:solidFill>
                          <a:srgbClr val="78350F"/>
                        </a:solidFill>
                        <a:latin typeface="Cambria Math" panose="02040503050406030204" pitchFamily="18" charset="0"/>
                      </a:rPr>
                      <m:t>3</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oMath>
                </a14:m>
                <a:r>
                  <a:rPr sz="2400" b="0">
                    <a:solidFill>
                      <a:srgbClr val="78350F"/>
                    </a:solidFill>
                    <a:latin typeface="Arial"/>
                  </a:rPr>
                  <a:t>, </a:t>
                </a:r>
                <a14:m>
                  <m:oMath xmlns:m="http://schemas.openxmlformats.org/officeDocument/2006/math">
                    <m:r>
                      <a:rPr lang="en-IN" sz="2400" i="1">
                        <a:solidFill>
                          <a:srgbClr val="78350F"/>
                        </a:solidFill>
                        <a:latin typeface="Cambria Math" panose="02040503050406030204" pitchFamily="18" charset="0"/>
                      </a:rPr>
                      <m:t>3</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 </a:t>
                </a:r>
                <a14:m>
                  <m:oMath xmlns:m="http://schemas.openxmlformats.org/officeDocument/2006/math">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 </a:t>
                </a:r>
                <a14:m>
                  <m:oMath xmlns:m="http://schemas.openxmlformats.org/officeDocument/2006/math">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 all distinct) and count each pattern separately.</a:t>
                </a:r>
                <a:endParaRPr sz="2400">
                  <a:solidFill>
                    <a:srgbClr val="78350F"/>
                  </a:solidFill>
                </a:endParaRPr>
              </a:p>
            </p:txBody>
          </p:sp>
        </mc:Choice>
        <mc:Fallback>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Classify selections by the pattern of repeats (e.g. </a:t>
                </a:r>
                <a:r>
                  <a:rPr lang="en-IN" sz="2400">
                    <a:solidFill>
                      <a:srgbClr val="78350F"/>
                    </a:solidFill>
                    <a:latin typeface="Cambria Math" panose="02040503050406030204" pitchFamily="18" charset="0"/>
                  </a:rPr>
                  <a:t>$3+2$</a:t>
                </a:r>
                <a:r>
                  <a:rPr sz="2400" b="0">
                    <a:solidFill>
                      <a:srgbClr val="78350F"/>
                    </a:solidFill>
                    <a:latin typeface="Arial"/>
                  </a:rPr>
                  <a:t>, </a:t>
                </a:r>
                <a:r>
                  <a:rPr lang="en-IN" sz="2400">
                    <a:solidFill>
                      <a:srgbClr val="78350F"/>
                    </a:solidFill>
                    <a:latin typeface="Cambria Math" panose="02040503050406030204" pitchFamily="18" charset="0"/>
                  </a:rPr>
                  <a:t>$3+1+1$</a:t>
                </a:r>
                <a:r>
                  <a:rPr sz="2400" b="0">
                    <a:solidFill>
                      <a:srgbClr val="78350F"/>
                    </a:solidFill>
                    <a:latin typeface="Arial"/>
                  </a:rPr>
                  <a:t>, </a:t>
                </a:r>
                <a:r>
                  <a:rPr lang="en-IN" sz="2400">
                    <a:solidFill>
                      <a:srgbClr val="78350F"/>
                    </a:solidFill>
                    <a:latin typeface="Cambria Math" panose="02040503050406030204" pitchFamily="18" charset="0"/>
                  </a:rPr>
                  <a:t>$2+2+1$</a:t>
                </a:r>
                <a:r>
                  <a:rPr sz="2400" b="0">
                    <a:solidFill>
                      <a:srgbClr val="78350F"/>
                    </a:solidFill>
                    <a:latin typeface="Arial"/>
                  </a:rPr>
                  <a:t>, </a:t>
                </a:r>
                <a:r>
                  <a:rPr lang="en-IN" sz="2400">
                    <a:solidFill>
                      <a:srgbClr val="78350F"/>
                    </a:solidFill>
                    <a:latin typeface="Cambria Math" panose="02040503050406030204" pitchFamily="18" charset="0"/>
                  </a:rPr>
                  <a:t>$2+1+1+1$</a:t>
                </a:r>
                <a:r>
                  <a:rPr sz="2400" b="0">
                    <a:solidFill>
                      <a:srgbClr val="78350F"/>
                    </a:solidFill>
                    <a:latin typeface="Arial"/>
                  </a:rPr>
                  <a:t>, all distinct) and count each pattern separately.</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Letters of INDEPENDENT: </a:t>
                </a:r>
                <a14:m>
                  <m:oMath xmlns:m="http://schemas.openxmlformats.org/officeDocument/2006/math">
                    <m:r>
                      <a:rPr lang="en-IN" sz="2400" i="1">
                        <a:solidFill>
                          <a:srgbClr val="111827"/>
                        </a:solidFill>
                        <a:latin typeface="Cambria Math" panose="02040503050406030204" pitchFamily="18" charset="0"/>
                      </a:rPr>
                      <m:t>𝐼</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𝑇</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 six distinct letters.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Case 1 (pattern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NNN with EE or EEE with NN: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(choose the triple among </a:t>
                </a:r>
                <a14:m>
                  <m:oMath xmlns:m="http://schemas.openxmlformats.org/officeDocument/2006/math">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𝐸</m:t>
                    </m:r>
                  </m:oMath>
                </a14:m>
                <a:r>
                  <a:rPr sz="2400" b="0">
                    <a:solidFill>
                      <a:srgbClr val="111827"/>
                    </a:solidFill>
                    <a:latin typeface="Arial"/>
                  </a:rPr>
                  <a:t>, then the pair from the other two letters that occur at least twice).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Case 2 (pattern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choose two of </a:t>
                </a:r>
                <a14:m>
                  <m:oMath xmlns:m="http://schemas.openxmlformats.org/officeDocument/2006/math">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𝐸</m:t>
                    </m:r>
                  </m:oMath>
                </a14:m>
                <a:r>
                  <a:rPr sz="2400" b="0">
                    <a:solidFill>
                      <a:srgbClr val="111827"/>
                    </a:solidFill>
                    <a:latin typeface="Arial"/>
                  </a:rPr>
                  <a:t> for the pairs and one of the other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letters: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4</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Letters of INDEPENDENT: </a:t>
                </a:r>
                <a:r>
                  <a:rPr lang="en-IN" sz="2400">
                    <a:solidFill>
                      <a:srgbClr val="111827"/>
                    </a:solidFill>
                    <a:latin typeface="Cambria Math" panose="02040503050406030204" pitchFamily="18" charset="0"/>
                  </a:rPr>
                  <a:t>$I\times1,\ N\times3,\ D\times2,\ E\times3,\ P\times1,\ T\times1$</a:t>
                </a:r>
                <a:r>
                  <a:rPr sz="2400" b="0">
                    <a:solidFill>
                      <a:srgbClr val="111827"/>
                    </a:solidFill>
                    <a:latin typeface="Arial"/>
                  </a:rPr>
                  <a:t> - six distinct letters.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Case 1 (pattern </a:t>
                </a:r>
                <a:r>
                  <a:rPr lang="en-IN" sz="2400">
                    <a:solidFill>
                      <a:srgbClr val="111827"/>
                    </a:solidFill>
                    <a:latin typeface="Cambria Math" panose="02040503050406030204" pitchFamily="18" charset="0"/>
                  </a:rPr>
                  <a:t>$3+2$</a:t>
                </a:r>
                <a:r>
                  <a:rPr sz="2400" b="0">
                    <a:solidFill>
                      <a:srgbClr val="111827"/>
                    </a:solidFill>
                    <a:latin typeface="Arial"/>
                  </a:rPr>
                  <a:t>): NNN with EE or EEE with NN: </a:t>
                </a:r>
                <a:r>
                  <a:rPr lang="en-IN" sz="2400">
                    <a:solidFill>
                      <a:srgbClr val="111827"/>
                    </a:solidFill>
                    <a:latin typeface="Cambria Math" panose="02040503050406030204" pitchFamily="18" charset="0"/>
                  </a:rPr>
                  <a:t>${}^2C_1\times{}^2C_1=4$</a:t>
                </a:r>
                <a:r>
                  <a:rPr sz="2400" b="0">
                    <a:solidFill>
                      <a:srgbClr val="111827"/>
                    </a:solidFill>
                    <a:latin typeface="Arial"/>
                  </a:rPr>
                  <a:t> (choose the triple among </a:t>
                </a:r>
                <a:r>
                  <a:rPr lang="en-IN" sz="2400">
                    <a:solidFill>
                      <a:srgbClr val="111827"/>
                    </a:solidFill>
                    <a:latin typeface="Cambria Math" panose="02040503050406030204" pitchFamily="18" charset="0"/>
                  </a:rPr>
                  <a:t>$N,E$</a:t>
                </a:r>
                <a:r>
                  <a:rPr sz="2400" b="0">
                    <a:solidFill>
                      <a:srgbClr val="111827"/>
                    </a:solidFill>
                    <a:latin typeface="Arial"/>
                  </a:rPr>
                  <a:t>, then the pair from the other two letters that occur at least twice).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Case 2 (pattern </a:t>
                </a:r>
                <a:r>
                  <a:rPr lang="en-IN" sz="2400">
                    <a:solidFill>
                      <a:srgbClr val="111827"/>
                    </a:solidFill>
                    <a:latin typeface="Cambria Math" panose="02040503050406030204" pitchFamily="18" charset="0"/>
                  </a:rPr>
                  <a:t>$2+2+1$</a:t>
                </a:r>
                <a:r>
                  <a:rPr sz="2400" b="0">
                    <a:solidFill>
                      <a:srgbClr val="111827"/>
                    </a:solidFill>
                    <a:latin typeface="Arial"/>
                  </a:rPr>
                  <a:t>): choose two of </a:t>
                </a:r>
                <a:r>
                  <a:rPr lang="en-IN" sz="2400">
                    <a:solidFill>
                      <a:srgbClr val="111827"/>
                    </a:solidFill>
                    <a:latin typeface="Cambria Math" panose="02040503050406030204" pitchFamily="18" charset="0"/>
                  </a:rPr>
                  <a:t>$N,D,E$</a:t>
                </a:r>
                <a:r>
                  <a:rPr sz="2400" b="0">
                    <a:solidFill>
                      <a:srgbClr val="111827"/>
                    </a:solidFill>
                    <a:latin typeface="Arial"/>
                  </a:rPr>
                  <a:t> for the pairs and one of the other </a:t>
                </a:r>
                <a:r>
                  <a:rPr lang="en-IN" sz="2400">
                    <a:solidFill>
                      <a:srgbClr val="111827"/>
                    </a:solidFill>
                    <a:latin typeface="Cambria Math" panose="02040503050406030204" pitchFamily="18" charset="0"/>
                  </a:rPr>
                  <a:t>$4$</a:t>
                </a:r>
                <a:r>
                  <a:rPr sz="2400" b="0">
                    <a:solidFill>
                      <a:srgbClr val="111827"/>
                    </a:solidFill>
                    <a:latin typeface="Arial"/>
                  </a:rPr>
                  <a:t> letters: </a:t>
                </a:r>
                <a:r>
                  <a:rPr lang="en-IN" sz="2400">
                    <a:solidFill>
                      <a:srgbClr val="111827"/>
                    </a:solidFill>
                    <a:latin typeface="Cambria Math" panose="02040503050406030204" pitchFamily="18" charset="0"/>
                  </a:rPr>
                  <a:t>${}^3C_2\times{}^4C_1=12$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Case 3 (pattern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the triple from </a:t>
                </a:r>
                <a14:m>
                  <m:oMath xmlns:m="http://schemas.openxmlformats.org/officeDocument/2006/math">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𝐸</m:t>
                    </m:r>
                  </m:oMath>
                </a14:m>
                <a:r>
                  <a:rPr sz="2400" b="0">
                    <a:solidFill>
                      <a:srgbClr val="111827"/>
                    </a:solidFill>
                    <a:latin typeface="Arial"/>
                  </a:rPr>
                  <a:t> and two singles from the other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distinct letters: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5</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Case 4 (pattern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the pair from </a:t>
                </a:r>
                <a14:m>
                  <m:oMath xmlns:m="http://schemas.openxmlformats.org/officeDocument/2006/math">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𝐸</m:t>
                    </m:r>
                  </m:oMath>
                </a14:m>
                <a:r>
                  <a:rPr sz="2400" b="0">
                    <a:solidFill>
                      <a:srgbClr val="111827"/>
                    </a:solidFill>
                    <a:latin typeface="Arial"/>
                  </a:rPr>
                  <a:t> and three singles from the other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5</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Case 5 (all five different):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6</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5</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72</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Case 3 (pattern </a:t>
                </a:r>
                <a:r>
                  <a:rPr lang="en-IN" sz="2400">
                    <a:solidFill>
                      <a:srgbClr val="111827"/>
                    </a:solidFill>
                    <a:latin typeface="Cambria Math" panose="02040503050406030204" pitchFamily="18" charset="0"/>
                  </a:rPr>
                  <a:t>$3+1+1$</a:t>
                </a:r>
                <a:r>
                  <a:rPr sz="2400" b="0">
                    <a:solidFill>
                      <a:srgbClr val="111827"/>
                    </a:solidFill>
                    <a:latin typeface="Arial"/>
                  </a:rPr>
                  <a:t>): the triple from </a:t>
                </a:r>
                <a:r>
                  <a:rPr lang="en-IN" sz="2400">
                    <a:solidFill>
                      <a:srgbClr val="111827"/>
                    </a:solidFill>
                    <a:latin typeface="Cambria Math" panose="02040503050406030204" pitchFamily="18" charset="0"/>
                  </a:rPr>
                  <a:t>$N,E$</a:t>
                </a:r>
                <a:r>
                  <a:rPr sz="2400" b="0">
                    <a:solidFill>
                      <a:srgbClr val="111827"/>
                    </a:solidFill>
                    <a:latin typeface="Arial"/>
                  </a:rPr>
                  <a:t> and two singles from the other </a:t>
                </a:r>
                <a:r>
                  <a:rPr lang="en-IN" sz="2400">
                    <a:solidFill>
                      <a:srgbClr val="111827"/>
                    </a:solidFill>
                    <a:latin typeface="Cambria Math" panose="02040503050406030204" pitchFamily="18" charset="0"/>
                  </a:rPr>
                  <a:t>$5$</a:t>
                </a:r>
                <a:r>
                  <a:rPr sz="2400" b="0">
                    <a:solidFill>
                      <a:srgbClr val="111827"/>
                    </a:solidFill>
                    <a:latin typeface="Arial"/>
                  </a:rPr>
                  <a:t> distinct letters: </a:t>
                </a:r>
                <a:r>
                  <a:rPr lang="en-IN" sz="2400">
                    <a:solidFill>
                      <a:srgbClr val="111827"/>
                    </a:solidFill>
                    <a:latin typeface="Cambria Math" panose="02040503050406030204" pitchFamily="18" charset="0"/>
                  </a:rPr>
                  <a:t>${}^2C_1\times{}^5C_2=20$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Case 4 (pattern </a:t>
                </a:r>
                <a:r>
                  <a:rPr lang="en-IN" sz="2400">
                    <a:solidFill>
                      <a:srgbClr val="111827"/>
                    </a:solidFill>
                    <a:latin typeface="Cambria Math" panose="02040503050406030204" pitchFamily="18" charset="0"/>
                  </a:rPr>
                  <a:t>$2+1+1+1$</a:t>
                </a:r>
                <a:r>
                  <a:rPr sz="2400" b="0">
                    <a:solidFill>
                      <a:srgbClr val="111827"/>
                    </a:solidFill>
                    <a:latin typeface="Arial"/>
                  </a:rPr>
                  <a:t>): the pair from </a:t>
                </a:r>
                <a:r>
                  <a:rPr lang="en-IN" sz="2400">
                    <a:solidFill>
                      <a:srgbClr val="111827"/>
                    </a:solidFill>
                    <a:latin typeface="Cambria Math" panose="02040503050406030204" pitchFamily="18" charset="0"/>
                  </a:rPr>
                  <a:t>$N,D,E$</a:t>
                </a:r>
                <a:r>
                  <a:rPr sz="2400" b="0">
                    <a:solidFill>
                      <a:srgbClr val="111827"/>
                    </a:solidFill>
                    <a:latin typeface="Arial"/>
                  </a:rPr>
                  <a:t> and three singles from the other </a:t>
                </a:r>
                <a:r>
                  <a:rPr lang="en-IN" sz="2400">
                    <a:solidFill>
                      <a:srgbClr val="111827"/>
                    </a:solidFill>
                    <a:latin typeface="Cambria Math" panose="02040503050406030204" pitchFamily="18" charset="0"/>
                  </a:rPr>
                  <a:t>$5$</a:t>
                </a:r>
                <a:r>
                  <a:rPr sz="2400" b="0">
                    <a:solidFill>
                      <a:srgbClr val="111827"/>
                    </a:solidFill>
                    <a:latin typeface="Arial"/>
                  </a:rPr>
                  <a:t>: </a:t>
                </a:r>
                <a:r>
                  <a:rPr lang="en-IN" sz="2400">
                    <a:solidFill>
                      <a:srgbClr val="111827"/>
                    </a:solidFill>
                    <a:latin typeface="Cambria Math" panose="02040503050406030204" pitchFamily="18" charset="0"/>
                  </a:rPr>
                  <a:t>${}^3C_1\times{}^5C_3=30$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Case 5 (all five different): </a:t>
                </a:r>
                <a:r>
                  <a:rPr lang="en-IN" sz="2400">
                    <a:solidFill>
                      <a:srgbClr val="111827"/>
                    </a:solidFill>
                    <a:latin typeface="Cambria Math" panose="02040503050406030204" pitchFamily="18" charset="0"/>
                  </a:rPr>
                  <a:t>${}^6C_5=6$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r>
                  <a:rPr lang="en-IN" sz="2400">
                    <a:solidFill>
                      <a:srgbClr val="111827"/>
                    </a:solidFill>
                    <a:latin typeface="Cambria Math" panose="02040503050406030204" pitchFamily="18" charset="0"/>
                  </a:rPr>
                  <a:t>$=4+12+20+30+6=72$</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72</a:t>
            </a:r>
            <a:endParaRPr sz="2800">
              <a:solidFill>
                <a:srgbClr val="15803D"/>
              </a:solidFill>
            </a:endParaRP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Generating function: each letter contributes a factor </a:t>
                </a:r>
                <a14:m>
                  <m:oMath xmlns:m="http://schemas.openxmlformats.org/officeDocument/2006/math">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𝑚</m:t>
                        </m:r>
                      </m:sup>
                    </m:sSup>
                  </m:oMath>
                </a14:m>
                <a:r>
                  <a:rPr sz="2400" b="0">
                    <a:solidFill>
                      <a:srgbClr val="78350F"/>
                    </a:solidFill>
                    <a:latin typeface="Arial"/>
                  </a:rPr>
                  <a:t> for its multiplicity </a:t>
                </a:r>
                <a14:m>
                  <m:oMath xmlns:m="http://schemas.openxmlformats.org/officeDocument/2006/math">
                    <m:r>
                      <a:rPr lang="en-IN" sz="2400" i="1">
                        <a:solidFill>
                          <a:srgbClr val="78350F"/>
                        </a:solidFill>
                        <a:latin typeface="Cambria Math" panose="02040503050406030204" pitchFamily="18" charset="0"/>
                      </a:rPr>
                      <m:t>𝑚</m:t>
                    </m:r>
                  </m:oMath>
                </a14:m>
                <a:r>
                  <a:rPr sz="2400" b="0">
                    <a:solidFill>
                      <a:srgbClr val="78350F"/>
                    </a:solidFill>
                    <a:latin typeface="Arial"/>
                  </a:rPr>
                  <a:t>; read off the coefficient of </a:t>
                </a:r>
                <a14:m>
                  <m:oMath xmlns:m="http://schemas.openxmlformats.org/officeDocument/2006/math">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5</m:t>
                        </m:r>
                      </m:sup>
                    </m:sSup>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Generating function: each letter contributes a factor </a:t>
                </a:r>
                <a:r>
                  <a:rPr lang="en-IN" sz="2400">
                    <a:solidFill>
                      <a:srgbClr val="78350F"/>
                    </a:solidFill>
                    <a:latin typeface="Cambria Math" panose="02040503050406030204" pitchFamily="18" charset="0"/>
                  </a:rPr>
                  <a:t>$1+x+\dots+x^{m}$</a:t>
                </a:r>
                <a:r>
                  <a:rPr sz="2400" b="0">
                    <a:solidFill>
                      <a:srgbClr val="78350F"/>
                    </a:solidFill>
                    <a:latin typeface="Arial"/>
                  </a:rPr>
                  <a:t> for its multiplicity </a:t>
                </a:r>
                <a:r>
                  <a:rPr lang="en-IN" sz="2400">
                    <a:solidFill>
                      <a:srgbClr val="78350F"/>
                    </a:solidFill>
                    <a:latin typeface="Cambria Math" panose="02040503050406030204" pitchFamily="18" charset="0"/>
                  </a:rPr>
                  <a:t>$m$</a:t>
                </a:r>
                <a:r>
                  <a:rPr sz="2400" b="0">
                    <a:solidFill>
                      <a:srgbClr val="78350F"/>
                    </a:solidFill>
                    <a:latin typeface="Arial"/>
                  </a:rPr>
                  <a:t>; read off the coefficient of </a:t>
                </a:r>
                <a:r>
                  <a:rPr lang="en-IN" sz="2400">
                    <a:solidFill>
                      <a:srgbClr val="78350F"/>
                    </a:solidFill>
                    <a:latin typeface="Cambria Math" panose="02040503050406030204" pitchFamily="18" charset="0"/>
                  </a:rPr>
                  <a:t>$x^5$</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 P, T (once each):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m:t>
                        </m:r>
                      </m:sup>
                    </m:sSup>
                  </m:oMath>
                </a14:m>
                <a:r>
                  <a:rPr sz="2400" b="0">
                    <a:solidFill>
                      <a:srgbClr val="111827"/>
                    </a:solidFill>
                    <a:latin typeface="Arial"/>
                  </a:rPr>
                  <a:t>; D (twice):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N and E (three times each):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number of selections of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letters is the coefficient of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5</m:t>
                        </m:r>
                      </m:sup>
                    </m:sSup>
                  </m:oMath>
                </a14:m>
                <a:r>
                  <a:rPr sz="2400" b="0">
                    <a:solidFill>
                      <a:srgbClr val="111827"/>
                    </a:solidFill>
                    <a:latin typeface="Arial"/>
                  </a:rPr>
                  <a:t> 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 P, T (once each): </a:t>
                </a:r>
                <a:r>
                  <a:rPr lang="en-IN" sz="2400">
                    <a:solidFill>
                      <a:srgbClr val="111827"/>
                    </a:solidFill>
                    <a:latin typeface="Cambria Math" panose="02040503050406030204" pitchFamily="18" charset="0"/>
                  </a:rPr>
                  <a:t>$(1+x)^3$</a:t>
                </a:r>
                <a:r>
                  <a:rPr sz="2400" b="0">
                    <a:solidFill>
                      <a:srgbClr val="111827"/>
                    </a:solidFill>
                    <a:latin typeface="Arial"/>
                  </a:rPr>
                  <a:t>; D (twice): </a:t>
                </a:r>
                <a:r>
                  <a:rPr lang="en-IN" sz="2400">
                    <a:solidFill>
                      <a:srgbClr val="111827"/>
                    </a:solidFill>
                    <a:latin typeface="Cambria Math" panose="02040503050406030204" pitchFamily="18" charset="0"/>
                  </a:rPr>
                  <a:t>$1+x+x^2$</a:t>
                </a:r>
                <a:r>
                  <a:rPr sz="2400" b="0">
                    <a:solidFill>
                      <a:srgbClr val="111827"/>
                    </a:solidFill>
                    <a:latin typeface="Arial"/>
                  </a:rPr>
                  <a:t>; N and E (three times each): </a:t>
                </a:r>
                <a:r>
                  <a:rPr lang="en-IN" sz="2400">
                    <a:solidFill>
                      <a:srgbClr val="111827"/>
                    </a:solidFill>
                    <a:latin typeface="Cambria Math" panose="02040503050406030204" pitchFamily="18" charset="0"/>
                  </a:rPr>
                  <a:t>$(1+x+x^2+x^3)^2$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number of selections of </a:t>
                </a:r>
                <a:r>
                  <a:rPr lang="en-IN" sz="2400">
                    <a:solidFill>
                      <a:srgbClr val="111827"/>
                    </a:solidFill>
                    <a:latin typeface="Cambria Math" panose="02040503050406030204" pitchFamily="18" charset="0"/>
                  </a:rPr>
                  <a:t>$5$</a:t>
                </a:r>
                <a:r>
                  <a:rPr sz="2400" b="0">
                    <a:solidFill>
                      <a:srgbClr val="111827"/>
                    </a:solidFill>
                    <a:latin typeface="Arial"/>
                  </a:rPr>
                  <a:t> letters is the coefficient of </a:t>
                </a:r>
                <a:r>
                  <a:rPr lang="en-IN" sz="2400">
                    <a:solidFill>
                      <a:srgbClr val="111827"/>
                    </a:solidFill>
                    <a:latin typeface="Cambria Math" panose="02040503050406030204" pitchFamily="18" charset="0"/>
                  </a:rPr>
                  <a:t>$x^5$</a:t>
                </a:r>
                <a:r>
                  <a:rPr sz="2400" b="0">
                    <a:solidFill>
                      <a:srgbClr val="111827"/>
                    </a:solidFill>
                    <a:latin typeface="Arial"/>
                  </a:rPr>
                  <a:t> in </a:t>
                </a:r>
                <a:r>
                  <a:rPr lang="en-IN" sz="2400">
                    <a:solidFill>
                      <a:srgbClr val="111827"/>
                    </a:solidFill>
                    <a:latin typeface="Cambria Math" panose="02040503050406030204" pitchFamily="18" charset="0"/>
                  </a:rPr>
                  <a:t>$(1+x)^3(1+x+x^2)(1+x+x^2+x^3)^2$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5</m:t>
                        </m:r>
                      </m:sup>
                    </m:sSup>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5</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6</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Coefficient of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5</m:t>
                        </m:r>
                      </m:sup>
                    </m:sSup>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72</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$(1+x)^3(1+x+x^2)=1+4x+7x^2+7x^3+4x^4+x^5$</a:t>
                </a:r>
                <a:r>
                  <a:rPr sz="2400" b="0">
                    <a:solidFill>
                      <a:srgbClr val="111827"/>
                    </a:solidFill>
                    <a:latin typeface="Arial"/>
                  </a:rPr>
                  <a:t> and </a:t>
                </a:r>
                <a:r>
                  <a:rPr lang="en-IN" sz="2400">
                    <a:solidFill>
                      <a:srgbClr val="111827"/>
                    </a:solidFill>
                    <a:latin typeface="Cambria Math" panose="02040503050406030204" pitchFamily="18" charset="0"/>
                  </a:rPr>
                  <a:t>$(1+x+x^2+x^3)^2=1+2x+3x^2+4x^3+3x^4+2x^5+x^6$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Coefficient of </a:t>
                </a:r>
                <a:r>
                  <a:rPr lang="en-IN" sz="2400">
                    <a:solidFill>
                      <a:srgbClr val="111827"/>
                    </a:solidFill>
                    <a:latin typeface="Cambria Math" panose="02040503050406030204" pitchFamily="18" charset="0"/>
                  </a:rPr>
                  <a:t>$x^5$</a:t>
                </a:r>
                <a:r>
                  <a:rPr sz="2400" b="0">
                    <a:solidFill>
                      <a:srgbClr val="111827"/>
                    </a:solidFill>
                    <a:latin typeface="Arial"/>
                  </a:rPr>
                  <a:t>: </a:t>
                </a:r>
                <a:r>
                  <a:rPr lang="en-IN" sz="2400">
                    <a:solidFill>
                      <a:srgbClr val="111827"/>
                    </a:solidFill>
                    <a:latin typeface="Cambria Math" panose="02040503050406030204" pitchFamily="18" charset="0"/>
                  </a:rPr>
                  <a:t>$1\cdot2+4\cdot3+7\cdot4+7\cdot3+4\cdot2+1\cdot1=2+12+28+21+8+1=72$</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72</a:t>
            </a:r>
            <a:endParaRPr sz="2800">
              <a:solidFill>
                <a:srgbClr val="15803D"/>
              </a:solidFill>
            </a:endParaRP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Selections from alike objects: coefficient of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𝑟</m:t>
                        </m:r>
                      </m:sup>
                    </m:sSup>
                  </m:oMath>
                </a14:m>
                <a:r>
                  <a:rPr sz="2400" b="0">
                    <a:solidFill>
                      <a:srgbClr val="111827"/>
                    </a:solidFill>
                    <a:latin typeface="Arial"/>
                  </a:rPr>
                  <a:t> in </a:t>
                </a:r>
                <a14:m>
                  <m:oMath xmlns:m="http://schemas.openxmlformats.org/officeDocument/2006/math">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𝑖</m:t>
                        </m:r>
                      </m:sub>
                      <m:sup>
                        <m:r>
                          <a:rPr lang="en-IN" sz="2400" i="1">
                            <a:solidFill>
                              <a:srgbClr val="111827"/>
                            </a:solidFill>
                            <a:latin typeface="Cambria Math" panose="02040503050406030204" pitchFamily="18" charset="0"/>
                          </a:rPr>
                          <m:t>​</m:t>
                        </m:r>
                      </m:sup>
                      <m:e>
                        <m:r>
                          <m:rPr>
                            <m:sty m:val="p"/>
                          </m:rPr>
                          <a:rPr lang="en-IN" sz="2400">
                            <a:solidFill>
                              <a:srgbClr val="111827"/>
                            </a:solidFill>
                            <a:latin typeface="Cambria Math" panose="02040503050406030204" pitchFamily="18" charset="0"/>
                          </a:rPr>
                          <m:t>(</m:t>
                        </m:r>
                      </m:e>
                    </m:nary>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sSub>
                          <m:e>
                            <m:r>
                              <a:rPr lang="en-IN" sz="2400" i="1">
                                <a:solidFill>
                                  <a:srgbClr val="111827"/>
                                </a:solidFill>
                                <a:latin typeface="Cambria Math" panose="02040503050406030204" pitchFamily="18" charset="0"/>
                              </a:rPr>
                              <m:t>𝑚</m:t>
                            </m:r>
                          </m:e>
                          <m:sub>
                            <m:r>
                              <a:rPr lang="en-IN" sz="2400" i="1">
                                <a:solidFill>
                                  <a:srgbClr val="111827"/>
                                </a:solidFill>
                                <a:latin typeface="Cambria Math" panose="02040503050406030204" pitchFamily="18" charset="0"/>
                              </a:rPr>
                              <m:t>𝑖</m:t>
                            </m:r>
                          </m:sub>
                        </m:sSub>
                      </m:sup>
                    </m:sSup>
                    <m:r>
                      <m:rPr>
                        <m:sty m:val="p"/>
                      </m:rPr>
                      <a:rPr lang="en-IN" sz="2400">
                        <a:solidFill>
                          <a:srgbClr val="111827"/>
                        </a:solidFill>
                        <a:latin typeface="Cambria Math" panose="02040503050406030204" pitchFamily="18" charset="0"/>
                      </a:rPr>
                      <m:t>)</m:t>
                    </m:r>
                  </m:oMath>
                </a14:m>
                <a:r>
                  <a:rPr sz="2400" b="0">
                    <a:solidFill>
                      <a:srgbClr val="111827"/>
                    </a:solidFill>
                    <a:latin typeface="Arial"/>
                  </a:rPr>
                  <a:t>, where </a:t>
                </a:r>
                <a14:m>
                  <m:oMath xmlns:m="http://schemas.openxmlformats.org/officeDocument/2006/math">
                    <m:sSub>
                      <m:e>
                        <m:r>
                          <a:rPr lang="en-IN" sz="2400" i="1">
                            <a:solidFill>
                              <a:srgbClr val="111827"/>
                            </a:solidFill>
                            <a:latin typeface="Cambria Math" panose="02040503050406030204" pitchFamily="18" charset="0"/>
                          </a:rPr>
                          <m:t>𝑚</m:t>
                        </m:r>
                      </m:e>
                      <m:sub>
                        <m:r>
                          <a:rPr lang="en-IN" sz="2400" i="1">
                            <a:solidFill>
                              <a:srgbClr val="111827"/>
                            </a:solidFill>
                            <a:latin typeface="Cambria Math" panose="02040503050406030204" pitchFamily="18" charset="0"/>
                          </a:rPr>
                          <m:t>𝑖</m:t>
                        </m:r>
                      </m:sub>
                    </m:sSub>
                  </m:oMath>
                </a14:m>
                <a:r>
                  <a:rPr sz="2400" b="0">
                    <a:solidFill>
                      <a:srgbClr val="111827"/>
                    </a:solidFill>
                    <a:latin typeface="Arial"/>
                  </a:rPr>
                  <a:t> is the number of copies of the </a:t>
                </a:r>
                <a14:m>
                  <m:oMath xmlns:m="http://schemas.openxmlformats.org/officeDocument/2006/math">
                    <m:r>
                      <a:rPr lang="en-IN" sz="2400" i="1">
                        <a:solidFill>
                          <a:srgbClr val="111827"/>
                        </a:solidFill>
                        <a:latin typeface="Cambria Math" panose="02040503050406030204" pitchFamily="18" charset="0"/>
                      </a:rPr>
                      <m:t>𝑖</m:t>
                    </m:r>
                  </m:oMath>
                </a14:m>
                <a:r>
                  <a:rPr sz="2400" b="0">
                    <a:solidFill>
                      <a:srgbClr val="111827"/>
                    </a:solidFill>
                    <a:latin typeface="Arial"/>
                  </a:rPr>
                  <a:t>-th kind.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alike objects of each of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 kinds with no upper limit, the coefficient of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𝑟</m:t>
                        </m:r>
                      </m:sup>
                    </m:sSup>
                  </m:oMath>
                </a14:m>
                <a:r>
                  <a:rPr sz="2400" b="0">
                    <a:solidFill>
                      <a:srgbClr val="111827"/>
                    </a:solidFill>
                    <a:latin typeface="Arial"/>
                  </a:rPr>
                  <a:t> 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sup>
                    </m:sSup>
                  </m:oMath>
                </a14:m>
                <a:r>
                  <a:rPr sz="2400" b="0">
                    <a:solidFill>
                      <a:srgbClr val="111827"/>
                    </a:solidFill>
                    <a:latin typeface="Arial"/>
                  </a:rPr>
                  <a:t> is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Cue: 'selecting' (not arranging) from a word with repeated letters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pattern casework or generating function; the number of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-letter arrangements would need extra </a:t>
                </a:r>
                <a14:m>
                  <m:oMath xmlns:m="http://schemas.openxmlformats.org/officeDocument/2006/math">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factors.</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Selections from alike objects: coefficient of </a:t>
                </a:r>
                <a:r>
                  <a:rPr lang="en-IN" sz="2400">
                    <a:solidFill>
                      <a:srgbClr val="111827"/>
                    </a:solidFill>
                    <a:latin typeface="Cambria Math" panose="02040503050406030204" pitchFamily="18" charset="0"/>
                  </a:rPr>
                  <a:t>$x^r$</a:t>
                </a:r>
                <a:r>
                  <a:rPr sz="2400" b="0">
                    <a:solidFill>
                      <a:srgbClr val="111827"/>
                    </a:solidFill>
                    <a:latin typeface="Arial"/>
                  </a:rPr>
                  <a:t> in </a:t>
                </a:r>
                <a:r>
                  <a:rPr lang="en-IN" sz="2400">
                    <a:solidFill>
                      <a:srgbClr val="111827"/>
                    </a:solidFill>
                    <a:latin typeface="Cambria Math" panose="02040503050406030204" pitchFamily="18" charset="0"/>
                  </a:rPr>
                  <a:t>$\prod_i(1+x+\dots+x^{m_i})$</a:t>
                </a:r>
                <a:r>
                  <a:rPr sz="2400" b="0">
                    <a:solidFill>
                      <a:srgbClr val="111827"/>
                    </a:solidFill>
                    <a:latin typeface="Arial"/>
                  </a:rPr>
                  <a:t>, where </a:t>
                </a:r>
                <a:r>
                  <a:rPr lang="en-IN" sz="2400">
                    <a:solidFill>
                      <a:srgbClr val="111827"/>
                    </a:solidFill>
                    <a:latin typeface="Cambria Math" panose="02040503050406030204" pitchFamily="18" charset="0"/>
                  </a:rPr>
                  <a:t>$m_i$</a:t>
                </a:r>
                <a:r>
                  <a:rPr sz="2400" b="0">
                    <a:solidFill>
                      <a:srgbClr val="111827"/>
                    </a:solidFill>
                    <a:latin typeface="Arial"/>
                  </a:rPr>
                  <a:t> is the number of copies of the </a:t>
                </a:r>
                <a:r>
                  <a:rPr lang="en-IN" sz="2400">
                    <a:solidFill>
                      <a:srgbClr val="111827"/>
                    </a:solidFill>
                    <a:latin typeface="Cambria Math" panose="02040503050406030204" pitchFamily="18" charset="0"/>
                  </a:rPr>
                  <a:t>$i$</a:t>
                </a:r>
                <a:r>
                  <a:rPr sz="2400" b="0">
                    <a:solidFill>
                      <a:srgbClr val="111827"/>
                    </a:solidFill>
                    <a:latin typeface="Arial"/>
                  </a:rPr>
                  <a:t>-th kind.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$n$</a:t>
                </a:r>
                <a:r>
                  <a:rPr sz="2400" b="0">
                    <a:solidFill>
                      <a:srgbClr val="111827"/>
                    </a:solidFill>
                    <a:latin typeface="Arial"/>
                  </a:rPr>
                  <a:t> alike objects of each of </a:t>
                </a:r>
                <a:r>
                  <a:rPr lang="en-IN" sz="2400">
                    <a:solidFill>
                      <a:srgbClr val="111827"/>
                    </a:solidFill>
                    <a:latin typeface="Cambria Math" panose="02040503050406030204" pitchFamily="18" charset="0"/>
                  </a:rPr>
                  <a:t>$k$</a:t>
                </a:r>
                <a:r>
                  <a:rPr sz="2400" b="0">
                    <a:solidFill>
                      <a:srgbClr val="111827"/>
                    </a:solidFill>
                    <a:latin typeface="Arial"/>
                  </a:rPr>
                  <a:t> kinds with no upper limit, the coefficient of </a:t>
                </a:r>
                <a:r>
                  <a:rPr lang="en-IN" sz="2400">
                    <a:solidFill>
                      <a:srgbClr val="111827"/>
                    </a:solidFill>
                    <a:latin typeface="Cambria Math" panose="02040503050406030204" pitchFamily="18" charset="0"/>
                  </a:rPr>
                  <a:t>$x^r$</a:t>
                </a:r>
                <a:r>
                  <a:rPr sz="2400" b="0">
                    <a:solidFill>
                      <a:srgbClr val="111827"/>
                    </a:solidFill>
                    <a:latin typeface="Arial"/>
                  </a:rPr>
                  <a:t> in </a:t>
                </a:r>
                <a:r>
                  <a:rPr lang="en-IN" sz="2400">
                    <a:solidFill>
                      <a:srgbClr val="111827"/>
                    </a:solidFill>
                    <a:latin typeface="Cambria Math" panose="02040503050406030204" pitchFamily="18" charset="0"/>
                  </a:rPr>
                  <a:t>$(1-x)^{-k}$</a:t>
                </a:r>
                <a:r>
                  <a:rPr sz="2400" b="0">
                    <a:solidFill>
                      <a:srgbClr val="111827"/>
                    </a:solidFill>
                    <a:latin typeface="Arial"/>
                  </a:rPr>
                  <a:t> is </a:t>
                </a:r>
                <a:r>
                  <a:rPr lang="en-IN" sz="2400">
                    <a:solidFill>
                      <a:srgbClr val="111827"/>
                    </a:solidFill>
                    <a:latin typeface="Cambria Math" panose="02040503050406030204" pitchFamily="18" charset="0"/>
                  </a:rPr>
                  <a:t>$\binom{r+k-1}{k-1}$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Cue: 'selecting' (not arranging) from a word with repeated letters </a:t>
                </a:r>
                <a:r>
                  <a:rPr lang="en-IN" sz="2400">
                    <a:solidFill>
                      <a:srgbClr val="111827"/>
                    </a:solidFill>
                    <a:latin typeface="Cambria Math" panose="02040503050406030204" pitchFamily="18" charset="0"/>
                  </a:rPr>
                  <a:t>$\Rightarrow$</a:t>
                </a:r>
                <a:r>
                  <a:rPr sz="2400" b="0">
                    <a:solidFill>
                      <a:srgbClr val="111827"/>
                    </a:solidFill>
                    <a:latin typeface="Arial"/>
                  </a:rPr>
                  <a:t> pattern casework or generating function; the number of </a:t>
                </a:r>
                <a:r>
                  <a:rPr lang="en-IN" sz="2400">
                    <a:solidFill>
                      <a:srgbClr val="111827"/>
                    </a:solidFill>
                    <a:latin typeface="Cambria Math" panose="02040503050406030204" pitchFamily="18" charset="0"/>
                  </a:rPr>
                  <a:t>$5$</a:t>
                </a:r>
                <a:r>
                  <a:rPr sz="2400" b="0">
                    <a:solidFill>
                      <a:srgbClr val="111827"/>
                    </a:solidFill>
                    <a:latin typeface="Arial"/>
                  </a:rPr>
                  <a:t>-letter arrangements would need extra </a:t>
                </a:r>
                <a:r>
                  <a:rPr lang="en-IN" sz="2400">
                    <a:solidFill>
                      <a:srgbClr val="111827"/>
                    </a:solidFill>
                    <a:latin typeface="Cambria Math" panose="02040503050406030204" pitchFamily="18" charset="0"/>
                  </a:rPr>
                  <a:t>$5!/(\dots)$</a:t>
                </a:r>
                <a:r>
                  <a:rPr sz="2400" b="0">
                    <a:solidFill>
                      <a:srgbClr val="111827"/>
                    </a:solidFill>
                    <a:latin typeface="Arial"/>
                  </a:rPr>
                  <a:t> factors.</a:t>
                </a:r>
                <a:endParaRPr sz="2400">
                  <a:solidFill>
                    <a:srgbClr val="111827"/>
                  </a:solidFill>
                </a:endParaRPr>
              </a:p>
            </p:txBody>
          </p:sp>
        </mc:Fallback>
      </mc:AlternateContent>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00812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A committee of </a:t>
                </a:r>
                <a14:m>
                  <m:oMath xmlns:m="http://schemas.openxmlformats.org/officeDocument/2006/math">
                    <m:r>
                      <a:rPr lang="en-IN" sz="2400" i="1">
                        <a:solidFill>
                          <a:srgbClr val="111827"/>
                        </a:solidFill>
                        <a:latin typeface="Cambria Math" panose="02040503050406030204" pitchFamily="18" charset="0"/>
                      </a:rPr>
                      <m:t>12</m:t>
                    </m:r>
                  </m:oMath>
                </a14:m>
                <a:r>
                  <a:rPr sz="2400" b="0">
                    <a:solidFill>
                      <a:srgbClr val="111827"/>
                    </a:solidFill>
                    <a:latin typeface="Arial"/>
                  </a:rPr>
                  <a:t> is to be formed from </a:t>
                </a:r>
                <a14:m>
                  <m:oMath xmlns:m="http://schemas.openxmlformats.org/officeDocument/2006/math">
                    <m:r>
                      <a:rPr lang="en-IN" sz="2400" i="1">
                        <a:solidFill>
                          <a:srgbClr val="111827"/>
                        </a:solidFill>
                        <a:latin typeface="Cambria Math" panose="02040503050406030204" pitchFamily="18" charset="0"/>
                      </a:rPr>
                      <m:t>9</m:t>
                    </m:r>
                  </m:oMath>
                </a14:m>
                <a:r>
                  <a:rPr sz="2400" b="0">
                    <a:solidFill>
                      <a:srgbClr val="111827"/>
                    </a:solidFill>
                    <a:latin typeface="Arial"/>
                  </a:rPr>
                  <a:t> women and </a:t>
                </a:r>
                <a14:m>
                  <m:oMath xmlns:m="http://schemas.openxmlformats.org/officeDocument/2006/math">
                    <m:r>
                      <a:rPr lang="en-IN" sz="2400" i="1">
                        <a:solidFill>
                          <a:srgbClr val="111827"/>
                        </a:solidFill>
                        <a:latin typeface="Cambria Math" panose="02040503050406030204" pitchFamily="18" charset="0"/>
                      </a:rPr>
                      <m:t>8</m:t>
                    </m:r>
                  </m:oMath>
                </a14:m>
                <a:r>
                  <a:rPr sz="2400" b="0">
                    <a:solidFill>
                      <a:srgbClr val="111827"/>
                    </a:solidFill>
                    <a:latin typeface="Arial"/>
                  </a:rPr>
                  <a:t> men. In how many ways can this be done if at least five women have to be included in a committee? In how many of these committees (a) the women are in majority? (b) the men are in majority?</a:t>
                </a:r>
                <a:endParaRPr sz="2400">
                  <a:solidFill>
                    <a:srgbClr val="111827"/>
                  </a:solidFill>
                </a:endParaRPr>
              </a:p>
            </p:txBody>
          </p:sp>
        </mc:Choice>
        <mc:Fallback>
          <p:sp>
            <p:nvSpPr>
              <p:cNvPr id="4" name="Rounded Rectangle 3"/>
              <p:cNvSpPr/>
              <p:nvPr/>
            </p:nvSpPr>
            <p:spPr>
              <a:xfrm>
                <a:off x="731520" y="1280160"/>
                <a:ext cx="10725912" cy="200812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A committee of </a:t>
                </a:r>
                <a:r>
                  <a:rPr lang="en-IN" sz="2400">
                    <a:solidFill>
                      <a:srgbClr val="111827"/>
                    </a:solidFill>
                    <a:latin typeface="Cambria Math" panose="02040503050406030204" pitchFamily="18" charset="0"/>
                  </a:rPr>
                  <a:t>$12$</a:t>
                </a:r>
                <a:r>
                  <a:rPr sz="2400" b="0">
                    <a:solidFill>
                      <a:srgbClr val="111827"/>
                    </a:solidFill>
                    <a:latin typeface="Arial"/>
                  </a:rPr>
                  <a:t> is to be formed from </a:t>
                </a:r>
                <a:r>
                  <a:rPr lang="en-IN" sz="2400">
                    <a:solidFill>
                      <a:srgbClr val="111827"/>
                    </a:solidFill>
                    <a:latin typeface="Cambria Math" panose="02040503050406030204" pitchFamily="18" charset="0"/>
                  </a:rPr>
                  <a:t>$9$</a:t>
                </a:r>
                <a:r>
                  <a:rPr sz="2400" b="0">
                    <a:solidFill>
                      <a:srgbClr val="111827"/>
                    </a:solidFill>
                    <a:latin typeface="Arial"/>
                  </a:rPr>
                  <a:t> women and </a:t>
                </a:r>
                <a:r>
                  <a:rPr lang="en-IN" sz="2400">
                    <a:solidFill>
                      <a:srgbClr val="111827"/>
                    </a:solidFill>
                    <a:latin typeface="Cambria Math" panose="02040503050406030204" pitchFamily="18" charset="0"/>
                  </a:rPr>
                  <a:t>$8$</a:t>
                </a:r>
                <a:r>
                  <a:rPr sz="2400" b="0">
                    <a:solidFill>
                      <a:srgbClr val="111827"/>
                    </a:solidFill>
                    <a:latin typeface="Arial"/>
                  </a:rPr>
                  <a:t> men. In how many ways can this be done if at least five women have to be included in a committee? In how many of these committees (a) the women are in majority? (b) the men are in majority?</a:t>
                </a:r>
                <a:endParaRPr sz="2400">
                  <a:solidFill>
                    <a:srgbClr val="111827"/>
                  </a:solidFill>
                </a:endParaRPr>
              </a:p>
            </p:txBody>
          </p:sp>
        </mc:Fallback>
      </mc:AlternateContent>
      <p:sp>
        <p:nvSpPr>
          <p:cNvPr id="5" name="Rectangle 4"/>
          <p:cNvSpPr/>
          <p:nvPr/>
        </p:nvSpPr>
        <p:spPr>
          <a:xfrm>
            <a:off x="731520" y="3516884"/>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Selection with conditions (at least / majority)</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At least </a:t>
                </a:r>
                <a14:m>
                  <m:oMath xmlns:m="http://schemas.openxmlformats.org/officeDocument/2006/math">
                    <m:r>
                      <a:rPr lang="en-IN" sz="2400" i="1">
                        <a:solidFill>
                          <a:srgbClr val="78350F"/>
                        </a:solidFill>
                        <a:latin typeface="Cambria Math" panose="02040503050406030204" pitchFamily="18" charset="0"/>
                      </a:rPr>
                      <m:t>5</m:t>
                    </m:r>
                  </m:oMath>
                </a14:m>
                <a:r>
                  <a:rPr sz="2400" b="0">
                    <a:solidFill>
                      <a:srgbClr val="78350F"/>
                    </a:solidFill>
                    <a:latin typeface="Arial"/>
                  </a:rPr>
                  <a:t> women is the complement of '</a:t>
                </a:r>
                <a14:m>
                  <m:oMath xmlns:m="http://schemas.openxmlformats.org/officeDocument/2006/math">
                    <m:r>
                      <a:rPr lang="en-IN" sz="2400" i="1">
                        <a:solidFill>
                          <a:srgbClr val="78350F"/>
                        </a:solidFill>
                        <a:latin typeface="Cambria Math" panose="02040503050406030204" pitchFamily="18" charset="0"/>
                      </a:rPr>
                      <m:t>4</m:t>
                    </m:r>
                  </m:oMath>
                </a14:m>
                <a:r>
                  <a:rPr sz="2400" b="0">
                    <a:solidFill>
                      <a:srgbClr val="78350F"/>
                    </a:solidFill>
                    <a:latin typeface="Arial"/>
                  </a:rPr>
                  <a:t> women and </a:t>
                </a:r>
                <a14:m>
                  <m:oMath xmlns:m="http://schemas.openxmlformats.org/officeDocument/2006/math">
                    <m:r>
                      <a:rPr lang="en-IN" sz="2400" i="1">
                        <a:solidFill>
                          <a:srgbClr val="78350F"/>
                        </a:solidFill>
                        <a:latin typeface="Cambria Math" panose="02040503050406030204" pitchFamily="18" charset="0"/>
                      </a:rPr>
                      <m:t>8</m:t>
                    </m:r>
                  </m:oMath>
                </a14:m>
                <a:r>
                  <a:rPr sz="2400" b="0">
                    <a:solidFill>
                      <a:srgbClr val="78350F"/>
                    </a:solidFill>
                    <a:latin typeface="Arial"/>
                  </a:rPr>
                  <a:t> men' (the only way to have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4</m:t>
                    </m:r>
                  </m:oMath>
                </a14:m>
                <a:r>
                  <a:rPr sz="2400" b="0">
                    <a:solidFill>
                      <a:srgbClr val="78350F"/>
                    </a:solidFill>
                    <a:latin typeface="Arial"/>
                  </a:rPr>
                  <a:t> women); majority means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7</m:t>
                    </m:r>
                  </m:oMath>
                </a14:m>
                <a:r>
                  <a:rPr sz="2400" b="0">
                    <a:solidFill>
                      <a:srgbClr val="78350F"/>
                    </a:solidFill>
                    <a:latin typeface="Arial"/>
                  </a:rPr>
                  <a:t> women or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5</m:t>
                    </m:r>
                  </m:oMath>
                </a14:m>
                <a:r>
                  <a:rPr sz="2400" b="0">
                    <a:solidFill>
                      <a:srgbClr val="78350F"/>
                    </a:solidFill>
                    <a:latin typeface="Arial"/>
                  </a:rPr>
                  <a:t> women.</a:t>
                </a:r>
                <a:endParaRPr sz="2400">
                  <a:solidFill>
                    <a:srgbClr val="78350F"/>
                  </a:solidFill>
                </a:endParaRPr>
              </a:p>
            </p:txBody>
          </p:sp>
        </mc:Choice>
        <mc:Fallback>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At least </a:t>
                </a:r>
                <a:r>
                  <a:rPr lang="en-IN" sz="2400">
                    <a:solidFill>
                      <a:srgbClr val="78350F"/>
                    </a:solidFill>
                    <a:latin typeface="Cambria Math" panose="02040503050406030204" pitchFamily="18" charset="0"/>
                  </a:rPr>
                  <a:t>$5$</a:t>
                </a:r>
                <a:r>
                  <a:rPr sz="2400" b="0">
                    <a:solidFill>
                      <a:srgbClr val="78350F"/>
                    </a:solidFill>
                    <a:latin typeface="Arial"/>
                  </a:rPr>
                  <a:t> women is the complement of '</a:t>
                </a:r>
                <a:r>
                  <a:rPr lang="en-IN" sz="2400">
                    <a:solidFill>
                      <a:srgbClr val="78350F"/>
                    </a:solidFill>
                    <a:latin typeface="Cambria Math" panose="02040503050406030204" pitchFamily="18" charset="0"/>
                  </a:rPr>
                  <a:t>$4$</a:t>
                </a:r>
                <a:r>
                  <a:rPr sz="2400" b="0">
                    <a:solidFill>
                      <a:srgbClr val="78350F"/>
                    </a:solidFill>
                    <a:latin typeface="Arial"/>
                  </a:rPr>
                  <a:t> women and </a:t>
                </a:r>
                <a:r>
                  <a:rPr lang="en-IN" sz="2400">
                    <a:solidFill>
                      <a:srgbClr val="78350F"/>
                    </a:solidFill>
                    <a:latin typeface="Cambria Math" panose="02040503050406030204" pitchFamily="18" charset="0"/>
                  </a:rPr>
                  <a:t>$8$</a:t>
                </a:r>
                <a:r>
                  <a:rPr sz="2400" b="0">
                    <a:solidFill>
                      <a:srgbClr val="78350F"/>
                    </a:solidFill>
                    <a:latin typeface="Arial"/>
                  </a:rPr>
                  <a:t> men' (the only way to have </a:t>
                </a:r>
                <a:r>
                  <a:rPr lang="en-IN" sz="2400">
                    <a:solidFill>
                      <a:srgbClr val="78350F"/>
                    </a:solidFill>
                    <a:latin typeface="Cambria Math" panose="02040503050406030204" pitchFamily="18" charset="0"/>
                  </a:rPr>
                  <a:t>$\le4$</a:t>
                </a:r>
                <a:r>
                  <a:rPr sz="2400" b="0">
                    <a:solidFill>
                      <a:srgbClr val="78350F"/>
                    </a:solidFill>
                    <a:latin typeface="Arial"/>
                  </a:rPr>
                  <a:t> women); majority means </a:t>
                </a:r>
                <a:r>
                  <a:rPr lang="en-IN" sz="2400">
                    <a:solidFill>
                      <a:srgbClr val="78350F"/>
                    </a:solidFill>
                    <a:latin typeface="Cambria Math" panose="02040503050406030204" pitchFamily="18" charset="0"/>
                  </a:rPr>
                  <a:t>$\ge7$</a:t>
                </a:r>
                <a:r>
                  <a:rPr sz="2400" b="0">
                    <a:solidFill>
                      <a:srgbClr val="78350F"/>
                    </a:solidFill>
                    <a:latin typeface="Arial"/>
                  </a:rPr>
                  <a:t> women or </a:t>
                </a:r>
                <a:r>
                  <a:rPr lang="en-IN" sz="2400">
                    <a:solidFill>
                      <a:srgbClr val="78350F"/>
                    </a:solidFill>
                    <a:latin typeface="Cambria Math" panose="02040503050406030204" pitchFamily="18" charset="0"/>
                  </a:rPr>
                  <a:t>$\le5$</a:t>
                </a:r>
                <a:r>
                  <a:rPr sz="2400" b="0">
                    <a:solidFill>
                      <a:srgbClr val="78350F"/>
                    </a:solidFill>
                    <a:latin typeface="Arial"/>
                  </a:rPr>
                  <a:t> women.</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There are </a:t>
                </a:r>
                <a14:m>
                  <m:oMath xmlns:m="http://schemas.openxmlformats.org/officeDocument/2006/math">
                    <m:r>
                      <a:rPr lang="en-IN" sz="2400" i="1">
                        <a:solidFill>
                          <a:srgbClr val="111827"/>
                        </a:solidFill>
                        <a:latin typeface="Cambria Math" panose="02040503050406030204" pitchFamily="18" charset="0"/>
                      </a:rPr>
                      <m:t>9</m:t>
                    </m:r>
                  </m:oMath>
                </a14:m>
                <a:r>
                  <a:rPr sz="2400" b="0">
                    <a:solidFill>
                      <a:srgbClr val="111827"/>
                    </a:solidFill>
                    <a:latin typeface="Arial"/>
                  </a:rPr>
                  <a:t> women and </a:t>
                </a:r>
                <a14:m>
                  <m:oMath xmlns:m="http://schemas.openxmlformats.org/officeDocument/2006/math">
                    <m:r>
                      <a:rPr lang="en-IN" sz="2400" i="1">
                        <a:solidFill>
                          <a:srgbClr val="111827"/>
                        </a:solidFill>
                        <a:latin typeface="Cambria Math" panose="02040503050406030204" pitchFamily="18" charset="0"/>
                      </a:rPr>
                      <m:t>8</m:t>
                    </m:r>
                  </m:oMath>
                </a14:m>
                <a:r>
                  <a:rPr sz="2400" b="0">
                    <a:solidFill>
                      <a:srgbClr val="111827"/>
                    </a:solidFill>
                    <a:latin typeface="Arial"/>
                  </a:rPr>
                  <a:t> men; a committee of </a:t>
                </a:r>
                <a14:m>
                  <m:oMath xmlns:m="http://schemas.openxmlformats.org/officeDocument/2006/math">
                    <m:r>
                      <a:rPr lang="en-IN" sz="2400" i="1">
                        <a:solidFill>
                          <a:srgbClr val="111827"/>
                        </a:solidFill>
                        <a:latin typeface="Cambria Math" panose="02040503050406030204" pitchFamily="18" charset="0"/>
                      </a:rPr>
                      <m:t>12</m:t>
                    </m:r>
                  </m:oMath>
                </a14:m>
                <a:r>
                  <a:rPr sz="2400" b="0">
                    <a:solidFill>
                      <a:srgbClr val="111827"/>
                    </a:solidFill>
                    <a:latin typeface="Arial"/>
                  </a:rPr>
                  <a:t> must have at least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women.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Direct cases: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𝑊</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a:rPr lang="en-IN" sz="2400" i="1">
                        <a:solidFill>
                          <a:srgbClr val="111827"/>
                        </a:solidFill>
                        <a:latin typeface="Cambria Math" panose="02040503050406030204" pitchFamily="18" charset="0"/>
                      </a:rPr>
                      <m:t>𝑀</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𝑊</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𝑀</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a:rPr lang="en-IN" sz="2400" i="1">
                        <a:solidFill>
                          <a:srgbClr val="111827"/>
                        </a:solidFill>
                        <a:latin typeface="Cambria Math" panose="02040503050406030204" pitchFamily="18" charset="0"/>
                      </a:rPr>
                      <m:t>𝑊</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𝑀</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a:rPr lang="en-IN" sz="2400" i="1">
                        <a:solidFill>
                          <a:srgbClr val="111827"/>
                        </a:solidFill>
                        <a:latin typeface="Cambria Math" panose="02040503050406030204" pitchFamily="18" charset="0"/>
                      </a:rPr>
                      <m:t>𝑊</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𝑀</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𝑊</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𝑀</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add them. Or use the complement: total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𝑊</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a:rPr lang="en-IN" sz="2400" i="1">
                        <a:solidFill>
                          <a:srgbClr val="111827"/>
                        </a:solidFill>
                        <a:latin typeface="Cambria Math" panose="02040503050406030204" pitchFamily="18" charset="0"/>
                      </a:rPr>
                      <m:t>𝑀</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14:m>
                  <m:oMath xmlns:m="http://schemas.openxmlformats.org/officeDocument/2006/math">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17</m:t>
                            </m:r>
                          </m:num>
                          <m:den>
                            <m:r>
                              <a:rPr lang="en-IN" sz="2400" i="1">
                                <a:solidFill>
                                  <a:srgbClr val="111827"/>
                                </a:solidFill>
                                <a:latin typeface="Cambria Math" panose="02040503050406030204" pitchFamily="18" charset="0"/>
                              </a:rPr>
                              <m:t>12</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8</m:t>
                            </m:r>
                          </m:den>
                        </m:f>
                      </m:e>
                    </m:d>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4</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6188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6062</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There are </a:t>
                </a:r>
                <a:r>
                  <a:rPr lang="en-IN" sz="2400">
                    <a:solidFill>
                      <a:srgbClr val="111827"/>
                    </a:solidFill>
                    <a:latin typeface="Cambria Math" panose="02040503050406030204" pitchFamily="18" charset="0"/>
                  </a:rPr>
                  <a:t>$9$</a:t>
                </a:r>
                <a:r>
                  <a:rPr sz="2400" b="0">
                    <a:solidFill>
                      <a:srgbClr val="111827"/>
                    </a:solidFill>
                    <a:latin typeface="Arial"/>
                  </a:rPr>
                  <a:t> women and </a:t>
                </a:r>
                <a:r>
                  <a:rPr lang="en-IN" sz="2400">
                    <a:solidFill>
                      <a:srgbClr val="111827"/>
                    </a:solidFill>
                    <a:latin typeface="Cambria Math" panose="02040503050406030204" pitchFamily="18" charset="0"/>
                  </a:rPr>
                  <a:t>$8$</a:t>
                </a:r>
                <a:r>
                  <a:rPr sz="2400" b="0">
                    <a:solidFill>
                      <a:srgbClr val="111827"/>
                    </a:solidFill>
                    <a:latin typeface="Arial"/>
                  </a:rPr>
                  <a:t> men; a committee of </a:t>
                </a:r>
                <a:r>
                  <a:rPr lang="en-IN" sz="2400">
                    <a:solidFill>
                      <a:srgbClr val="111827"/>
                    </a:solidFill>
                    <a:latin typeface="Cambria Math" panose="02040503050406030204" pitchFamily="18" charset="0"/>
                  </a:rPr>
                  <a:t>$12$</a:t>
                </a:r>
                <a:r>
                  <a:rPr sz="2400" b="0">
                    <a:solidFill>
                      <a:srgbClr val="111827"/>
                    </a:solidFill>
                    <a:latin typeface="Arial"/>
                  </a:rPr>
                  <a:t> must have at least </a:t>
                </a:r>
                <a:r>
                  <a:rPr lang="en-IN" sz="2400">
                    <a:solidFill>
                      <a:srgbClr val="111827"/>
                    </a:solidFill>
                    <a:latin typeface="Cambria Math" panose="02040503050406030204" pitchFamily="18" charset="0"/>
                  </a:rPr>
                  <a:t>$5$</a:t>
                </a:r>
                <a:r>
                  <a:rPr sz="2400" b="0">
                    <a:solidFill>
                      <a:srgbClr val="111827"/>
                    </a:solidFill>
                    <a:latin typeface="Arial"/>
                  </a:rPr>
                  <a:t> women.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Direct cases: </a:t>
                </a:r>
                <a:r>
                  <a:rPr lang="en-IN" sz="2400">
                    <a:solidFill>
                      <a:srgbClr val="111827"/>
                    </a:solidFill>
                    <a:latin typeface="Cambria Math" panose="02040503050406030204" pitchFamily="18" charset="0"/>
                  </a:rPr>
                  <a:t>$(5W,7M),(6W,6M),(7W,5M),(8W,4M),(9W,3M)$</a:t>
                </a:r>
                <a:r>
                  <a:rPr sz="2400" b="0">
                    <a:solidFill>
                      <a:srgbClr val="111827"/>
                    </a:solidFill>
                    <a:latin typeface="Arial"/>
                  </a:rPr>
                  <a:t>; add them. Or use the complement: total </a:t>
                </a:r>
                <a:r>
                  <a:rPr lang="en-IN" sz="2400">
                    <a:solidFill>
                      <a:srgbClr val="111827"/>
                    </a:solidFill>
                    <a:latin typeface="Cambria Math" panose="02040503050406030204" pitchFamily="18" charset="0"/>
                  </a:rPr>
                  <a:t>$-\{4W,8M\}$</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r>
                  <a:rPr lang="en-IN" sz="2400">
                    <a:solidFill>
                      <a:srgbClr val="111827"/>
                    </a:solidFill>
                    <a:latin typeface="Cambria Math" panose="02040503050406030204" pitchFamily="18" charset="0"/>
                  </a:rPr>
                  <a:t>$=\binom{17}{12}-\binom88\binom94=6188-126=6062$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Women in majority means </a:t>
                </a:r>
                <a14:m>
                  <m:oMath xmlns:m="http://schemas.openxmlformats.org/officeDocument/2006/math">
                    <m:r>
                      <a:rPr lang="en-IN" sz="2400" i="1">
                        <a:solidFill>
                          <a:srgbClr val="111827"/>
                        </a:solidFill>
                        <a:latin typeface="Cambria Math" panose="02040503050406030204" pitchFamily="18" charset="0"/>
                      </a:rPr>
                      <m:t>7</m:t>
                    </m:r>
                    <m:r>
                      <a:rPr lang="en-IN" sz="2400" i="1">
                        <a:solidFill>
                          <a:srgbClr val="111827"/>
                        </a:solidFill>
                        <a:latin typeface="Cambria Math" panose="02040503050406030204" pitchFamily="18" charset="0"/>
                      </a:rPr>
                      <m:t>𝑊</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𝑀</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8</m:t>
                    </m:r>
                    <m:r>
                      <a:rPr lang="en-IN" sz="2400" i="1">
                        <a:solidFill>
                          <a:srgbClr val="111827"/>
                        </a:solidFill>
                        <a:latin typeface="Cambria Math" panose="02040503050406030204" pitchFamily="18" charset="0"/>
                      </a:rPr>
                      <m:t>𝑊</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𝑀</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𝑊</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𝑀</m:t>
                    </m:r>
                  </m:oMath>
                </a14:m>
                <a:r>
                  <a:rPr sz="2400" b="0">
                    <a:solidFill>
                      <a:srgbClr val="111827"/>
                    </a:solidFill>
                    <a:latin typeface="Arial"/>
                  </a:rPr>
                  <a:t>: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7</m:t>
                            </m:r>
                          </m:den>
                        </m:f>
                      </m:e>
                    </m:d>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5</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8</m:t>
                            </m:r>
                          </m:den>
                        </m:f>
                      </m:e>
                    </m:d>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4</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9</m:t>
                            </m:r>
                          </m:den>
                        </m:f>
                      </m:e>
                    </m:d>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3</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2702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 Men in majority: only </a:t>
                </a:r>
                <a14:m>
                  <m:oMath xmlns:m="http://schemas.openxmlformats.org/officeDocument/2006/math">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𝑊</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a:rPr lang="en-IN" sz="2400" i="1">
                        <a:solidFill>
                          <a:srgbClr val="111827"/>
                        </a:solidFill>
                        <a:latin typeface="Cambria Math" panose="02040503050406030204" pitchFamily="18" charset="0"/>
                      </a:rPr>
                      <m:t>𝑀</m:t>
                    </m:r>
                  </m:oMath>
                </a14:m>
                <a:r>
                  <a:rPr sz="2400" b="0">
                    <a:solidFill>
                      <a:srgbClr val="111827"/>
                    </a:solidFill>
                    <a:latin typeface="Arial"/>
                  </a:rPr>
                  <a:t> (since </a:t>
                </a:r>
                <a14:m>
                  <m:oMath xmlns:m="http://schemas.openxmlformats.org/officeDocument/2006/math">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𝑊</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𝑀</m:t>
                    </m:r>
                  </m:oMath>
                </a14:m>
                <a:r>
                  <a:rPr sz="2400" b="0">
                    <a:solidFill>
                      <a:srgbClr val="111827"/>
                    </a:solidFill>
                    <a:latin typeface="Arial"/>
                  </a:rPr>
                  <a:t> is a tie):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5</m:t>
                            </m:r>
                          </m:den>
                        </m:f>
                      </m:e>
                    </m:d>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7</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1008</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Women in majority means </a:t>
                </a:r>
                <a:r>
                  <a:rPr lang="en-IN" sz="2400">
                    <a:solidFill>
                      <a:srgbClr val="111827"/>
                    </a:solidFill>
                    <a:latin typeface="Cambria Math" panose="02040503050406030204" pitchFamily="18" charset="0"/>
                  </a:rPr>
                  <a:t>$7W5M$</a:t>
                </a:r>
                <a:r>
                  <a:rPr sz="2400" b="0">
                    <a:solidFill>
                      <a:srgbClr val="111827"/>
                    </a:solidFill>
                    <a:latin typeface="Arial"/>
                  </a:rPr>
                  <a:t>, </a:t>
                </a:r>
                <a:r>
                  <a:rPr lang="en-IN" sz="2400">
                    <a:solidFill>
                      <a:srgbClr val="111827"/>
                    </a:solidFill>
                    <a:latin typeface="Cambria Math" panose="02040503050406030204" pitchFamily="18" charset="0"/>
                  </a:rPr>
                  <a:t>$8W4M$</a:t>
                </a:r>
                <a:r>
                  <a:rPr sz="2400" b="0">
                    <a:solidFill>
                      <a:srgbClr val="111827"/>
                    </a:solidFill>
                    <a:latin typeface="Arial"/>
                  </a:rPr>
                  <a:t> or </a:t>
                </a:r>
                <a:r>
                  <a:rPr lang="en-IN" sz="2400">
                    <a:solidFill>
                      <a:srgbClr val="111827"/>
                    </a:solidFill>
                    <a:latin typeface="Cambria Math" panose="02040503050406030204" pitchFamily="18" charset="0"/>
                  </a:rPr>
                  <a:t>$9W3M$</a:t>
                </a:r>
                <a:r>
                  <a:rPr sz="2400" b="0">
                    <a:solidFill>
                      <a:srgbClr val="111827"/>
                    </a:solidFill>
                    <a:latin typeface="Arial"/>
                  </a:rPr>
                  <a:t>: </a:t>
                </a:r>
                <a:r>
                  <a:rPr lang="en-IN" sz="2400">
                    <a:solidFill>
                      <a:srgbClr val="111827"/>
                    </a:solidFill>
                    <a:latin typeface="Cambria Math" panose="02040503050406030204" pitchFamily="18" charset="0"/>
                  </a:rPr>
                  <a:t>$\binom97\binom85+\binom98\binom84+\binom99\binom83=36\cdot56+9\cdot70+56=2702$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 Men in majority: only </a:t>
                </a:r>
                <a:r>
                  <a:rPr lang="en-IN" sz="2400">
                    <a:solidFill>
                      <a:srgbClr val="111827"/>
                    </a:solidFill>
                    <a:latin typeface="Cambria Math" panose="02040503050406030204" pitchFamily="18" charset="0"/>
                  </a:rPr>
                  <a:t>$5W,7M$</a:t>
                </a:r>
                <a:r>
                  <a:rPr sz="2400" b="0">
                    <a:solidFill>
                      <a:srgbClr val="111827"/>
                    </a:solidFill>
                    <a:latin typeface="Arial"/>
                  </a:rPr>
                  <a:t> (since </a:t>
                </a:r>
                <a:r>
                  <a:rPr lang="en-IN" sz="2400">
                    <a:solidFill>
                      <a:srgbClr val="111827"/>
                    </a:solidFill>
                    <a:latin typeface="Cambria Math" panose="02040503050406030204" pitchFamily="18" charset="0"/>
                  </a:rPr>
                  <a:t>$6W6M$</a:t>
                </a:r>
                <a:r>
                  <a:rPr sz="2400" b="0">
                    <a:solidFill>
                      <a:srgbClr val="111827"/>
                    </a:solidFill>
                    <a:latin typeface="Arial"/>
                  </a:rPr>
                  <a:t> is a tie): </a:t>
                </a:r>
                <a:r>
                  <a:rPr lang="en-IN" sz="2400">
                    <a:solidFill>
                      <a:srgbClr val="111827"/>
                    </a:solidFill>
                    <a:latin typeface="Cambria Math" panose="02040503050406030204" pitchFamily="18" charset="0"/>
                  </a:rPr>
                  <a:t>$\binom95\binom87=126\times8=1008$</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Total </a:t>
                </a:r>
                <a14:m>
                  <m:oMath xmlns:m="http://schemas.openxmlformats.org/officeDocument/2006/math">
                    <m:r>
                      <m:rPr>
                        <m:sty m:val="p"/>
                      </m:rPr>
                      <a:rPr lang="en-IN" sz="2800">
                        <a:solidFill>
                          <a:srgbClr val="15803D"/>
                        </a:solidFill>
                        <a:latin typeface="Cambria Math" panose="02040503050406030204" pitchFamily="18" charset="0"/>
                      </a:rPr>
                      <m:t>=</m:t>
                    </m:r>
                    <m:d>
                      <m:dPr>
                        <m:begChr m:val="("/>
                        <m:sepChr m:val=""/>
                        <m:endChr m:val=")"/>
                        <m:grow/>
                        <m:ctrlPr>
                          <a:rPr lang="en-IN" sz="2800" i="1">
                            <a:solidFill>
                              <a:srgbClr val="15803D"/>
                            </a:solidFill>
                            <a:latin typeface="Cambria Math" panose="02040503050406030204" pitchFamily="18" charset="0"/>
                          </a:rPr>
                        </m:ctrlPr>
                      </m:dPr>
                      <m:e>
                        <m:f>
                          <m:fPr>
                            <m:type m:val="no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17</m:t>
                            </m:r>
                          </m:num>
                          <m:den>
                            <m:r>
                              <a:rPr lang="en-IN" sz="2800" i="1">
                                <a:solidFill>
                                  <a:srgbClr val="15803D"/>
                                </a:solidFill>
                                <a:latin typeface="Cambria Math" panose="02040503050406030204" pitchFamily="18" charset="0"/>
                              </a:rPr>
                              <m:t>12</m:t>
                            </m:r>
                          </m:den>
                        </m:f>
                      </m:e>
                    </m:d>
                    <m:r>
                      <m:rPr>
                        <m:sty m:val="p"/>
                      </m:rPr>
                      <a:rPr lang="en-IN" sz="2800">
                        <a:solidFill>
                          <a:srgbClr val="15803D"/>
                        </a:solidFill>
                        <a:latin typeface="Cambria Math" panose="02040503050406030204" pitchFamily="18" charset="0"/>
                      </a:rPr>
                      <m:t>−</m:t>
                    </m:r>
                    <m:d>
                      <m:dPr>
                        <m:begChr m:val="("/>
                        <m:sepChr m:val=""/>
                        <m:endChr m:val=")"/>
                        <m:grow/>
                        <m:ctrlPr>
                          <a:rPr lang="en-IN" sz="2800" i="1">
                            <a:solidFill>
                              <a:srgbClr val="15803D"/>
                            </a:solidFill>
                            <a:latin typeface="Cambria Math" panose="02040503050406030204" pitchFamily="18" charset="0"/>
                          </a:rPr>
                        </m:ctrlPr>
                      </m:dPr>
                      <m:e>
                        <m:f>
                          <m:fPr>
                            <m:type m:val="no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8</m:t>
                            </m:r>
                          </m:num>
                          <m:den>
                            <m:r>
                              <a:rPr lang="en-IN" sz="2800" i="1">
                                <a:solidFill>
                                  <a:srgbClr val="15803D"/>
                                </a:solidFill>
                                <a:latin typeface="Cambria Math" panose="02040503050406030204" pitchFamily="18" charset="0"/>
                              </a:rPr>
                              <m:t>8</m:t>
                            </m:r>
                          </m:den>
                        </m:f>
                      </m:e>
                    </m:d>
                    <m:d>
                      <m:dPr>
                        <m:begChr m:val="("/>
                        <m:sepChr m:val=""/>
                        <m:endChr m:val=")"/>
                        <m:grow/>
                        <m:ctrlPr>
                          <a:rPr lang="en-IN" sz="2800" i="1">
                            <a:solidFill>
                              <a:srgbClr val="15803D"/>
                            </a:solidFill>
                            <a:latin typeface="Cambria Math" panose="02040503050406030204" pitchFamily="18" charset="0"/>
                          </a:rPr>
                        </m:ctrlPr>
                      </m:dPr>
                      <m:e>
                        <m:f>
                          <m:fPr>
                            <m:type m:val="no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9</m:t>
                            </m:r>
                          </m:num>
                          <m:den>
                            <m:r>
                              <a:rPr lang="en-IN" sz="2800" i="1">
                                <a:solidFill>
                                  <a:srgbClr val="15803D"/>
                                </a:solidFill>
                                <a:latin typeface="Cambria Math" panose="02040503050406030204" pitchFamily="18" charset="0"/>
                              </a:rPr>
                              <m:t>4</m:t>
                            </m:r>
                          </m:den>
                        </m:f>
                      </m:e>
                    </m:d>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6062</m:t>
                    </m:r>
                  </m:oMath>
                </a14:m>
                <a:r>
                  <a:rPr sz="2800" b="1">
                    <a:solidFill>
                      <a:srgbClr val="15803D"/>
                    </a:solidFill>
                    <a:latin typeface="Arial"/>
                  </a:rPr>
                  <a:t> ; (a) </a:t>
                </a:r>
                <a14:m>
                  <m:oMath xmlns:m="http://schemas.openxmlformats.org/officeDocument/2006/math">
                    <m:r>
                      <a:rPr lang="en-IN" sz="2800" i="1">
                        <a:solidFill>
                          <a:srgbClr val="15803D"/>
                        </a:solidFill>
                        <a:latin typeface="Cambria Math" panose="02040503050406030204" pitchFamily="18" charset="0"/>
                      </a:rPr>
                      <m:t>2702</m:t>
                    </m:r>
                  </m:oMath>
                </a14:m>
                <a:r>
                  <a:rPr sz="2800" b="1">
                    <a:solidFill>
                      <a:srgbClr val="15803D"/>
                    </a:solidFill>
                    <a:latin typeface="Arial"/>
                  </a:rPr>
                  <a:t> ; (b) </a:t>
                </a:r>
                <a14:m>
                  <m:oMath xmlns:m="http://schemas.openxmlformats.org/officeDocument/2006/math">
                    <m:r>
                      <a:rPr lang="en-IN" sz="2800" i="1">
                        <a:solidFill>
                          <a:srgbClr val="15803D"/>
                        </a:solidFill>
                        <a:latin typeface="Cambria Math" panose="02040503050406030204" pitchFamily="18" charset="0"/>
                      </a:rPr>
                      <m:t>1008</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Total </a:t>
                </a:r>
                <a:r>
                  <a:rPr lang="en-IN" sz="2800">
                    <a:solidFill>
                      <a:srgbClr val="15803D"/>
                    </a:solidFill>
                    <a:latin typeface="Cambria Math" panose="02040503050406030204" pitchFamily="18" charset="0"/>
                  </a:rPr>
                  <a:t>$=\binom{17}{12}-\binom88\binom94=6062$</a:t>
                </a:r>
                <a:r>
                  <a:rPr sz="2800" b="1">
                    <a:solidFill>
                      <a:srgbClr val="15803D"/>
                    </a:solidFill>
                    <a:latin typeface="Arial"/>
                  </a:rPr>
                  <a:t> ; (a) </a:t>
                </a:r>
                <a:r>
                  <a:rPr lang="en-IN" sz="2800">
                    <a:solidFill>
                      <a:srgbClr val="15803D"/>
                    </a:solidFill>
                    <a:latin typeface="Cambria Math" panose="02040503050406030204" pitchFamily="18" charset="0"/>
                  </a:rPr>
                  <a:t>$2702$</a:t>
                </a:r>
                <a:r>
                  <a:rPr sz="2800" b="1">
                    <a:solidFill>
                      <a:srgbClr val="15803D"/>
                    </a:solidFill>
                    <a:latin typeface="Arial"/>
                  </a:rPr>
                  <a:t> ; (b) </a:t>
                </a:r>
                <a:r>
                  <a:rPr lang="en-IN" sz="2800">
                    <a:solidFill>
                      <a:srgbClr val="15803D"/>
                    </a:solidFill>
                    <a:latin typeface="Cambria Math" panose="02040503050406030204" pitchFamily="18" charset="0"/>
                  </a:rPr>
                  <a:t>$1008$</a:t>
                </a:r>
                <a:endParaRPr sz="2800">
                  <a:solidFill>
                    <a:srgbClr val="15803D"/>
                  </a:solidFill>
                </a:endParaRPr>
              </a:p>
            </p:txBody>
          </p:sp>
        </mc:Fallback>
      </mc:AlternateContent>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73761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Count the </a:t>
                </a:r>
                <a14:m>
                  <m:oMath xmlns:m="http://schemas.openxmlformats.org/officeDocument/2006/math">
                    <m:r>
                      <a:rPr lang="en-IN" sz="2400" i="1">
                        <a:solidFill>
                          <a:srgbClr val="78350F"/>
                        </a:solidFill>
                        <a:latin typeface="Cambria Math" panose="02040503050406030204" pitchFamily="18" charset="0"/>
                      </a:rPr>
                      <m:t>5</m:t>
                    </m:r>
                  </m:oMath>
                </a14:m>
                <a:r>
                  <a:rPr sz="2400" b="0">
                    <a:solidFill>
                      <a:srgbClr val="78350F"/>
                    </a:solidFill>
                    <a:latin typeface="Arial"/>
                  </a:rPr>
                  <a:t> people left out instead of the </a:t>
                </a:r>
                <a14:m>
                  <m:oMath xmlns:m="http://schemas.openxmlformats.org/officeDocument/2006/math">
                    <m:r>
                      <a:rPr lang="en-IN" sz="2400" i="1">
                        <a:solidFill>
                          <a:srgbClr val="78350F"/>
                        </a:solidFill>
                        <a:latin typeface="Cambria Math" panose="02040503050406030204" pitchFamily="18" charset="0"/>
                      </a:rPr>
                      <m:t>12</m:t>
                    </m:r>
                  </m:oMath>
                </a14:m>
                <a:r>
                  <a:rPr sz="2400" b="0">
                    <a:solidFill>
                      <a:srgbClr val="78350F"/>
                    </a:solidFill>
                    <a:latin typeface="Arial"/>
                  </a:rPr>
                  <a:t> chosen.</a:t>
                </a:r>
                <a:endParaRPr sz="2400">
                  <a:solidFill>
                    <a:srgbClr val="78350F"/>
                  </a:solidFill>
                </a:endParaRPr>
              </a:p>
            </p:txBody>
          </p:sp>
        </mc:Choice>
        <mc:Fallback>
          <p:sp>
            <p:nvSpPr>
              <p:cNvPr id="5" name="Rounded Rectangle 4"/>
              <p:cNvSpPr/>
              <p:nvPr/>
            </p:nvSpPr>
            <p:spPr>
              <a:xfrm>
                <a:off x="731520" y="1280160"/>
                <a:ext cx="10725912" cy="73761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Count the </a:t>
                </a:r>
                <a:r>
                  <a:rPr lang="en-IN" sz="2400">
                    <a:solidFill>
                      <a:srgbClr val="78350F"/>
                    </a:solidFill>
                    <a:latin typeface="Cambria Math" panose="02040503050406030204" pitchFamily="18" charset="0"/>
                  </a:rPr>
                  <a:t>$5$</a:t>
                </a:r>
                <a:r>
                  <a:rPr sz="2400" b="0">
                    <a:solidFill>
                      <a:srgbClr val="78350F"/>
                    </a:solidFill>
                    <a:latin typeface="Arial"/>
                  </a:rPr>
                  <a:t> people left out instead of the </a:t>
                </a:r>
                <a:r>
                  <a:rPr lang="en-IN" sz="2400">
                    <a:solidFill>
                      <a:srgbClr val="78350F"/>
                    </a:solidFill>
                    <a:latin typeface="Cambria Math" panose="02040503050406030204" pitchFamily="18" charset="0"/>
                  </a:rPr>
                  <a:t>$12$</a:t>
                </a:r>
                <a:r>
                  <a:rPr sz="2400" b="0">
                    <a:solidFill>
                      <a:srgbClr val="78350F"/>
                    </a:solidFill>
                    <a:latin typeface="Arial"/>
                  </a:rPr>
                  <a:t> chosen.</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154936"/>
                <a:ext cx="10725912" cy="452018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Choosing </a:t>
                </a:r>
                <a14:m>
                  <m:oMath xmlns:m="http://schemas.openxmlformats.org/officeDocument/2006/math">
                    <m:r>
                      <a:rPr lang="en-IN" sz="2400" i="1">
                        <a:solidFill>
                          <a:srgbClr val="111827"/>
                        </a:solidFill>
                        <a:latin typeface="Cambria Math" panose="02040503050406030204" pitchFamily="18" charset="0"/>
                      </a:rPr>
                      <m:t>12</m:t>
                    </m:r>
                  </m:oMath>
                </a14:m>
                <a:r>
                  <a:rPr sz="2400" b="0">
                    <a:solidFill>
                      <a:srgbClr val="111827"/>
                    </a:solidFill>
                    <a:latin typeface="Arial"/>
                  </a:rPr>
                  <a:t> of the </a:t>
                </a:r>
                <a14:m>
                  <m:oMath xmlns:m="http://schemas.openxmlformats.org/officeDocument/2006/math">
                    <m:r>
                      <a:rPr lang="en-IN" sz="2400" i="1">
                        <a:solidFill>
                          <a:srgbClr val="111827"/>
                        </a:solidFill>
                        <a:latin typeface="Cambria Math" panose="02040503050406030204" pitchFamily="18" charset="0"/>
                      </a:rPr>
                      <m:t>17</m:t>
                    </m:r>
                  </m:oMath>
                </a14:m>
                <a:r>
                  <a:rPr sz="2400" b="0">
                    <a:solidFill>
                      <a:srgbClr val="111827"/>
                    </a:solidFill>
                    <a:latin typeface="Arial"/>
                  </a:rPr>
                  <a:t> is the same as choosing the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people to leave out: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17</m:t>
                            </m:r>
                          </m:num>
                          <m:den>
                            <m:r>
                              <a:rPr lang="en-IN" sz="2400" i="1">
                                <a:solidFill>
                                  <a:srgbClr val="111827"/>
                                </a:solidFill>
                                <a:latin typeface="Cambria Math" panose="02040503050406030204" pitchFamily="18" charset="0"/>
                              </a:rPr>
                              <m:t>5</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6188</m:t>
                    </m:r>
                  </m:oMath>
                </a14:m>
                <a:r>
                  <a:rPr sz="2400" b="0">
                    <a:solidFill>
                      <a:srgbClr val="111827"/>
                    </a:solidFill>
                    <a:latin typeface="Arial"/>
                  </a:rPr>
                  <a:t> ways.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committee with at least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women has at most </a:t>
                </a:r>
                <a14:m>
                  <m:oMath xmlns:m="http://schemas.openxmlformats.org/officeDocument/2006/math">
                    <m:r>
                      <a:rPr lang="en-IN" sz="2400" i="1">
                        <a:solidFill>
                          <a:srgbClr val="111827"/>
                        </a:solidFill>
                        <a:latin typeface="Cambria Math" panose="02040503050406030204" pitchFamily="18" charset="0"/>
                      </a:rPr>
                      <m:t>7</m:t>
                    </m:r>
                  </m:oMath>
                </a14:m>
                <a:r>
                  <a:rPr sz="2400" b="0">
                    <a:solidFill>
                      <a:srgbClr val="111827"/>
                    </a:solidFill>
                    <a:latin typeface="Arial"/>
                  </a:rPr>
                  <a:t> men, i.e. at least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of the </a:t>
                </a:r>
                <a14:m>
                  <m:oMath xmlns:m="http://schemas.openxmlformats.org/officeDocument/2006/math">
                    <m:r>
                      <a:rPr lang="en-IN" sz="2400" i="1">
                        <a:solidFill>
                          <a:srgbClr val="111827"/>
                        </a:solidFill>
                        <a:latin typeface="Cambria Math" panose="02040503050406030204" pitchFamily="18" charset="0"/>
                      </a:rPr>
                      <m:t>8</m:t>
                    </m:r>
                  </m:oMath>
                </a14:m>
                <a:r>
                  <a:rPr sz="2400" b="0">
                    <a:solidFill>
                      <a:srgbClr val="111827"/>
                    </a:solidFill>
                    <a:latin typeface="Arial"/>
                  </a:rPr>
                  <a:t> men is left out. The only bad case is no man left out: all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left-out people are women,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5</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126</m:t>
                    </m:r>
                  </m:oMath>
                </a14:m>
                <a:r>
                  <a:rPr sz="2400" b="0">
                    <a:solidFill>
                      <a:srgbClr val="111827"/>
                    </a:solidFill>
                    <a:latin typeface="Arial"/>
                  </a:rPr>
                  <a:t> ways.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6188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6062</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154936"/>
                <a:ext cx="10725912" cy="452018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Choosing </a:t>
                </a:r>
                <a:r>
                  <a:rPr lang="en-IN" sz="2400">
                    <a:solidFill>
                      <a:srgbClr val="111827"/>
                    </a:solidFill>
                    <a:latin typeface="Cambria Math" panose="02040503050406030204" pitchFamily="18" charset="0"/>
                  </a:rPr>
                  <a:t>$12$</a:t>
                </a:r>
                <a:r>
                  <a:rPr sz="2400" b="0">
                    <a:solidFill>
                      <a:srgbClr val="111827"/>
                    </a:solidFill>
                    <a:latin typeface="Arial"/>
                  </a:rPr>
                  <a:t> of the </a:t>
                </a:r>
                <a:r>
                  <a:rPr lang="en-IN" sz="2400">
                    <a:solidFill>
                      <a:srgbClr val="111827"/>
                    </a:solidFill>
                    <a:latin typeface="Cambria Math" panose="02040503050406030204" pitchFamily="18" charset="0"/>
                  </a:rPr>
                  <a:t>$17$</a:t>
                </a:r>
                <a:r>
                  <a:rPr sz="2400" b="0">
                    <a:solidFill>
                      <a:srgbClr val="111827"/>
                    </a:solidFill>
                    <a:latin typeface="Arial"/>
                  </a:rPr>
                  <a:t> is the same as choosing the </a:t>
                </a:r>
                <a:r>
                  <a:rPr lang="en-IN" sz="2400">
                    <a:solidFill>
                      <a:srgbClr val="111827"/>
                    </a:solidFill>
                    <a:latin typeface="Cambria Math" panose="02040503050406030204" pitchFamily="18" charset="0"/>
                  </a:rPr>
                  <a:t>$5$</a:t>
                </a:r>
                <a:r>
                  <a:rPr sz="2400" b="0">
                    <a:solidFill>
                      <a:srgbClr val="111827"/>
                    </a:solidFill>
                    <a:latin typeface="Arial"/>
                  </a:rPr>
                  <a:t> people to leave out: </a:t>
                </a:r>
                <a:r>
                  <a:rPr lang="en-IN" sz="2400">
                    <a:solidFill>
                      <a:srgbClr val="111827"/>
                    </a:solidFill>
                    <a:latin typeface="Cambria Math" panose="02040503050406030204" pitchFamily="18" charset="0"/>
                  </a:rPr>
                  <a:t>$\binom{17}{5}=6188$</a:t>
                </a:r>
                <a:r>
                  <a:rPr sz="2400" b="0">
                    <a:solidFill>
                      <a:srgbClr val="111827"/>
                    </a:solidFill>
                    <a:latin typeface="Arial"/>
                  </a:rPr>
                  <a:t> ways.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committee with at least </a:t>
                </a:r>
                <a:r>
                  <a:rPr lang="en-IN" sz="2400">
                    <a:solidFill>
                      <a:srgbClr val="111827"/>
                    </a:solidFill>
                    <a:latin typeface="Cambria Math" panose="02040503050406030204" pitchFamily="18" charset="0"/>
                  </a:rPr>
                  <a:t>$5$</a:t>
                </a:r>
                <a:r>
                  <a:rPr sz="2400" b="0">
                    <a:solidFill>
                      <a:srgbClr val="111827"/>
                    </a:solidFill>
                    <a:latin typeface="Arial"/>
                  </a:rPr>
                  <a:t> women has at most </a:t>
                </a:r>
                <a:r>
                  <a:rPr lang="en-IN" sz="2400">
                    <a:solidFill>
                      <a:srgbClr val="111827"/>
                    </a:solidFill>
                    <a:latin typeface="Cambria Math" panose="02040503050406030204" pitchFamily="18" charset="0"/>
                  </a:rPr>
                  <a:t>$7$</a:t>
                </a:r>
                <a:r>
                  <a:rPr sz="2400" b="0">
                    <a:solidFill>
                      <a:srgbClr val="111827"/>
                    </a:solidFill>
                    <a:latin typeface="Arial"/>
                  </a:rPr>
                  <a:t> men, i.e. at least </a:t>
                </a:r>
                <a:r>
                  <a:rPr lang="en-IN" sz="2400">
                    <a:solidFill>
                      <a:srgbClr val="111827"/>
                    </a:solidFill>
                    <a:latin typeface="Cambria Math" panose="02040503050406030204" pitchFamily="18" charset="0"/>
                  </a:rPr>
                  <a:t>$1$</a:t>
                </a:r>
                <a:r>
                  <a:rPr sz="2400" b="0">
                    <a:solidFill>
                      <a:srgbClr val="111827"/>
                    </a:solidFill>
                    <a:latin typeface="Arial"/>
                  </a:rPr>
                  <a:t> of the </a:t>
                </a:r>
                <a:r>
                  <a:rPr lang="en-IN" sz="2400">
                    <a:solidFill>
                      <a:srgbClr val="111827"/>
                    </a:solidFill>
                    <a:latin typeface="Cambria Math" panose="02040503050406030204" pitchFamily="18" charset="0"/>
                  </a:rPr>
                  <a:t>$8$</a:t>
                </a:r>
                <a:r>
                  <a:rPr sz="2400" b="0">
                    <a:solidFill>
                      <a:srgbClr val="111827"/>
                    </a:solidFill>
                    <a:latin typeface="Arial"/>
                  </a:rPr>
                  <a:t> men is left out. The only bad case is no man left out: all </a:t>
                </a:r>
                <a:r>
                  <a:rPr lang="en-IN" sz="2400">
                    <a:solidFill>
                      <a:srgbClr val="111827"/>
                    </a:solidFill>
                    <a:latin typeface="Cambria Math" panose="02040503050406030204" pitchFamily="18" charset="0"/>
                  </a:rPr>
                  <a:t>$5$</a:t>
                </a:r>
                <a:r>
                  <a:rPr sz="2400" b="0">
                    <a:solidFill>
                      <a:srgbClr val="111827"/>
                    </a:solidFill>
                    <a:latin typeface="Arial"/>
                  </a:rPr>
                  <a:t> left-out people are women, </a:t>
                </a:r>
                <a:r>
                  <a:rPr lang="en-IN" sz="2400">
                    <a:solidFill>
                      <a:srgbClr val="111827"/>
                    </a:solidFill>
                    <a:latin typeface="Cambria Math" panose="02040503050406030204" pitchFamily="18" charset="0"/>
                  </a:rPr>
                  <a:t>$\binom95=126$</a:t>
                </a:r>
                <a:r>
                  <a:rPr sz="2400" b="0">
                    <a:solidFill>
                      <a:srgbClr val="111827"/>
                    </a:solidFill>
                    <a:latin typeface="Arial"/>
                  </a:rPr>
                  <a:t> ways.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r>
                  <a:rPr lang="en-IN" sz="2400">
                    <a:solidFill>
                      <a:srgbClr val="111827"/>
                    </a:solidFill>
                    <a:latin typeface="Cambria Math" panose="02040503050406030204" pitchFamily="18" charset="0"/>
                  </a:rPr>
                  <a:t>$=6188-126=6062$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Women in majority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committee has at most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men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least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men are left out: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3</m:t>
                            </m:r>
                          </m:den>
                        </m:f>
                      </m:e>
                    </m:d>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4</m:t>
                            </m:r>
                          </m:den>
                        </m:f>
                      </m:e>
                    </m:d>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1</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5</m:t>
                            </m:r>
                          </m:den>
                        </m:f>
                      </m:e>
                    </m:d>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0</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2702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 Men in majority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committee has </a:t>
                </a:r>
                <a14:m>
                  <m:oMath xmlns:m="http://schemas.openxmlformats.org/officeDocument/2006/math">
                    <m:r>
                      <a:rPr lang="en-IN" sz="2400" i="1">
                        <a:solidFill>
                          <a:srgbClr val="111827"/>
                        </a:solidFill>
                        <a:latin typeface="Cambria Math" panose="02040503050406030204" pitchFamily="18" charset="0"/>
                      </a:rPr>
                      <m:t>7</m:t>
                    </m:r>
                  </m:oMath>
                </a14:m>
                <a:r>
                  <a:rPr sz="2400" b="0">
                    <a:solidFill>
                      <a:srgbClr val="111827"/>
                    </a:solidFill>
                    <a:latin typeface="Arial"/>
                  </a:rPr>
                  <a:t> men and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women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exactly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man and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women are left out: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1</m:t>
                            </m:r>
                          </m:den>
                        </m:f>
                      </m:e>
                    </m:d>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4</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1008</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Women in majority </a:t>
                </a:r>
                <a:r>
                  <a:rPr lang="en-IN" sz="2400">
                    <a:solidFill>
                      <a:srgbClr val="111827"/>
                    </a:solidFill>
                    <a:latin typeface="Cambria Math" panose="02040503050406030204" pitchFamily="18" charset="0"/>
                  </a:rPr>
                  <a:t>$\iff$</a:t>
                </a:r>
                <a:r>
                  <a:rPr sz="2400" b="0">
                    <a:solidFill>
                      <a:srgbClr val="111827"/>
                    </a:solidFill>
                    <a:latin typeface="Arial"/>
                  </a:rPr>
                  <a:t> committee has at most </a:t>
                </a:r>
                <a:r>
                  <a:rPr lang="en-IN" sz="2400">
                    <a:solidFill>
                      <a:srgbClr val="111827"/>
                    </a:solidFill>
                    <a:latin typeface="Cambria Math" panose="02040503050406030204" pitchFamily="18" charset="0"/>
                  </a:rPr>
                  <a:t>$5$</a:t>
                </a:r>
                <a:r>
                  <a:rPr sz="2400" b="0">
                    <a:solidFill>
                      <a:srgbClr val="111827"/>
                    </a:solidFill>
                    <a:latin typeface="Arial"/>
                  </a:rPr>
                  <a:t> men </a:t>
                </a:r>
                <a:r>
                  <a:rPr lang="en-IN" sz="2400">
                    <a:solidFill>
                      <a:srgbClr val="111827"/>
                    </a:solidFill>
                    <a:latin typeface="Cambria Math" panose="02040503050406030204" pitchFamily="18" charset="0"/>
                  </a:rPr>
                  <a:t>$\iff$</a:t>
                </a:r>
                <a:r>
                  <a:rPr sz="2400" b="0">
                    <a:solidFill>
                      <a:srgbClr val="111827"/>
                    </a:solidFill>
                    <a:latin typeface="Arial"/>
                  </a:rPr>
                  <a:t> at least </a:t>
                </a:r>
                <a:r>
                  <a:rPr lang="en-IN" sz="2400">
                    <a:solidFill>
                      <a:srgbClr val="111827"/>
                    </a:solidFill>
                    <a:latin typeface="Cambria Math" panose="02040503050406030204" pitchFamily="18" charset="0"/>
                  </a:rPr>
                  <a:t>$3$</a:t>
                </a:r>
                <a:r>
                  <a:rPr sz="2400" b="0">
                    <a:solidFill>
                      <a:srgbClr val="111827"/>
                    </a:solidFill>
                    <a:latin typeface="Arial"/>
                  </a:rPr>
                  <a:t> men are left out: </a:t>
                </a:r>
                <a:r>
                  <a:rPr lang="en-IN" sz="2400">
                    <a:solidFill>
                      <a:srgbClr val="111827"/>
                    </a:solidFill>
                    <a:latin typeface="Cambria Math" panose="02040503050406030204" pitchFamily="18" charset="0"/>
                  </a:rPr>
                  <a:t>$\binom83\binom92+\binom84\binom91+\binom85\binom90=56\cdot36+70\cdot9+56=2702$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 Men in majority </a:t>
                </a:r>
                <a:r>
                  <a:rPr lang="en-IN" sz="2400">
                    <a:solidFill>
                      <a:srgbClr val="111827"/>
                    </a:solidFill>
                    <a:latin typeface="Cambria Math" panose="02040503050406030204" pitchFamily="18" charset="0"/>
                  </a:rPr>
                  <a:t>$\iff$</a:t>
                </a:r>
                <a:r>
                  <a:rPr sz="2400" b="0">
                    <a:solidFill>
                      <a:srgbClr val="111827"/>
                    </a:solidFill>
                    <a:latin typeface="Arial"/>
                  </a:rPr>
                  <a:t> committee has </a:t>
                </a:r>
                <a:r>
                  <a:rPr lang="en-IN" sz="2400">
                    <a:solidFill>
                      <a:srgbClr val="111827"/>
                    </a:solidFill>
                    <a:latin typeface="Cambria Math" panose="02040503050406030204" pitchFamily="18" charset="0"/>
                  </a:rPr>
                  <a:t>$7$</a:t>
                </a:r>
                <a:r>
                  <a:rPr sz="2400" b="0">
                    <a:solidFill>
                      <a:srgbClr val="111827"/>
                    </a:solidFill>
                    <a:latin typeface="Arial"/>
                  </a:rPr>
                  <a:t> men and </a:t>
                </a:r>
                <a:r>
                  <a:rPr lang="en-IN" sz="2400">
                    <a:solidFill>
                      <a:srgbClr val="111827"/>
                    </a:solidFill>
                    <a:latin typeface="Cambria Math" panose="02040503050406030204" pitchFamily="18" charset="0"/>
                  </a:rPr>
                  <a:t>$5$</a:t>
                </a:r>
                <a:r>
                  <a:rPr sz="2400" b="0">
                    <a:solidFill>
                      <a:srgbClr val="111827"/>
                    </a:solidFill>
                    <a:latin typeface="Arial"/>
                  </a:rPr>
                  <a:t> women </a:t>
                </a:r>
                <a:r>
                  <a:rPr lang="en-IN" sz="2400">
                    <a:solidFill>
                      <a:srgbClr val="111827"/>
                    </a:solidFill>
                    <a:latin typeface="Cambria Math" panose="02040503050406030204" pitchFamily="18" charset="0"/>
                  </a:rPr>
                  <a:t>$\iff$</a:t>
                </a:r>
                <a:r>
                  <a:rPr sz="2400" b="0">
                    <a:solidFill>
                      <a:srgbClr val="111827"/>
                    </a:solidFill>
                    <a:latin typeface="Arial"/>
                  </a:rPr>
                  <a:t> exactly </a:t>
                </a:r>
                <a:r>
                  <a:rPr lang="en-IN" sz="2400">
                    <a:solidFill>
                      <a:srgbClr val="111827"/>
                    </a:solidFill>
                    <a:latin typeface="Cambria Math" panose="02040503050406030204" pitchFamily="18" charset="0"/>
                  </a:rPr>
                  <a:t>$1$</a:t>
                </a:r>
                <a:r>
                  <a:rPr sz="2400" b="0">
                    <a:solidFill>
                      <a:srgbClr val="111827"/>
                    </a:solidFill>
                    <a:latin typeface="Arial"/>
                  </a:rPr>
                  <a:t> man and </a:t>
                </a:r>
                <a:r>
                  <a:rPr lang="en-IN" sz="2400">
                    <a:solidFill>
                      <a:srgbClr val="111827"/>
                    </a:solidFill>
                    <a:latin typeface="Cambria Math" panose="02040503050406030204" pitchFamily="18" charset="0"/>
                  </a:rPr>
                  <a:t>$4$</a:t>
                </a:r>
                <a:r>
                  <a:rPr sz="2400" b="0">
                    <a:solidFill>
                      <a:srgbClr val="111827"/>
                    </a:solidFill>
                    <a:latin typeface="Arial"/>
                  </a:rPr>
                  <a:t> women are left out: </a:t>
                </a:r>
                <a:r>
                  <a:rPr lang="en-IN" sz="2400">
                    <a:solidFill>
                      <a:srgbClr val="111827"/>
                    </a:solidFill>
                    <a:latin typeface="Cambria Math" panose="02040503050406030204" pitchFamily="18" charset="0"/>
                  </a:rPr>
                  <a:t>$\binom81\binom94=8\times126=1008$</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Total </a:t>
                </a:r>
                <a14:m>
                  <m:oMath xmlns:m="http://schemas.openxmlformats.org/officeDocument/2006/math">
                    <m:r>
                      <m:rPr>
                        <m:sty m:val="p"/>
                      </m:rPr>
                      <a:rPr lang="en-IN" sz="2800">
                        <a:solidFill>
                          <a:srgbClr val="15803D"/>
                        </a:solidFill>
                        <a:latin typeface="Cambria Math" panose="02040503050406030204" pitchFamily="18" charset="0"/>
                      </a:rPr>
                      <m:t>=</m:t>
                    </m:r>
                    <m:d>
                      <m:dPr>
                        <m:begChr m:val="("/>
                        <m:sepChr m:val=""/>
                        <m:endChr m:val=")"/>
                        <m:grow/>
                        <m:ctrlPr>
                          <a:rPr lang="en-IN" sz="2800" i="1">
                            <a:solidFill>
                              <a:srgbClr val="15803D"/>
                            </a:solidFill>
                            <a:latin typeface="Cambria Math" panose="02040503050406030204" pitchFamily="18" charset="0"/>
                          </a:rPr>
                        </m:ctrlPr>
                      </m:dPr>
                      <m:e>
                        <m:f>
                          <m:fPr>
                            <m:type m:val="no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17</m:t>
                            </m:r>
                          </m:num>
                          <m:den>
                            <m:r>
                              <a:rPr lang="en-IN" sz="2800" i="1">
                                <a:solidFill>
                                  <a:srgbClr val="15803D"/>
                                </a:solidFill>
                                <a:latin typeface="Cambria Math" panose="02040503050406030204" pitchFamily="18" charset="0"/>
                              </a:rPr>
                              <m:t>12</m:t>
                            </m:r>
                          </m:den>
                        </m:f>
                      </m:e>
                    </m:d>
                    <m:r>
                      <m:rPr>
                        <m:sty m:val="p"/>
                      </m:rPr>
                      <a:rPr lang="en-IN" sz="2800">
                        <a:solidFill>
                          <a:srgbClr val="15803D"/>
                        </a:solidFill>
                        <a:latin typeface="Cambria Math" panose="02040503050406030204" pitchFamily="18" charset="0"/>
                      </a:rPr>
                      <m:t>−</m:t>
                    </m:r>
                    <m:d>
                      <m:dPr>
                        <m:begChr m:val="("/>
                        <m:sepChr m:val=""/>
                        <m:endChr m:val=")"/>
                        <m:grow/>
                        <m:ctrlPr>
                          <a:rPr lang="en-IN" sz="2800" i="1">
                            <a:solidFill>
                              <a:srgbClr val="15803D"/>
                            </a:solidFill>
                            <a:latin typeface="Cambria Math" panose="02040503050406030204" pitchFamily="18" charset="0"/>
                          </a:rPr>
                        </m:ctrlPr>
                      </m:dPr>
                      <m:e>
                        <m:f>
                          <m:fPr>
                            <m:type m:val="no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8</m:t>
                            </m:r>
                          </m:num>
                          <m:den>
                            <m:r>
                              <a:rPr lang="en-IN" sz="2800" i="1">
                                <a:solidFill>
                                  <a:srgbClr val="15803D"/>
                                </a:solidFill>
                                <a:latin typeface="Cambria Math" panose="02040503050406030204" pitchFamily="18" charset="0"/>
                              </a:rPr>
                              <m:t>8</m:t>
                            </m:r>
                          </m:den>
                        </m:f>
                      </m:e>
                    </m:d>
                    <m:d>
                      <m:dPr>
                        <m:begChr m:val="("/>
                        <m:sepChr m:val=""/>
                        <m:endChr m:val=")"/>
                        <m:grow/>
                        <m:ctrlPr>
                          <a:rPr lang="en-IN" sz="2800" i="1">
                            <a:solidFill>
                              <a:srgbClr val="15803D"/>
                            </a:solidFill>
                            <a:latin typeface="Cambria Math" panose="02040503050406030204" pitchFamily="18" charset="0"/>
                          </a:rPr>
                        </m:ctrlPr>
                      </m:dPr>
                      <m:e>
                        <m:f>
                          <m:fPr>
                            <m:type m:val="no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9</m:t>
                            </m:r>
                          </m:num>
                          <m:den>
                            <m:r>
                              <a:rPr lang="en-IN" sz="2800" i="1">
                                <a:solidFill>
                                  <a:srgbClr val="15803D"/>
                                </a:solidFill>
                                <a:latin typeface="Cambria Math" panose="02040503050406030204" pitchFamily="18" charset="0"/>
                              </a:rPr>
                              <m:t>4</m:t>
                            </m:r>
                          </m:den>
                        </m:f>
                      </m:e>
                    </m:d>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6062</m:t>
                    </m:r>
                  </m:oMath>
                </a14:m>
                <a:r>
                  <a:rPr sz="2800" b="1">
                    <a:solidFill>
                      <a:srgbClr val="15803D"/>
                    </a:solidFill>
                    <a:latin typeface="Arial"/>
                  </a:rPr>
                  <a:t> ; (a) </a:t>
                </a:r>
                <a14:m>
                  <m:oMath xmlns:m="http://schemas.openxmlformats.org/officeDocument/2006/math">
                    <m:r>
                      <a:rPr lang="en-IN" sz="2800" i="1">
                        <a:solidFill>
                          <a:srgbClr val="15803D"/>
                        </a:solidFill>
                        <a:latin typeface="Cambria Math" panose="02040503050406030204" pitchFamily="18" charset="0"/>
                      </a:rPr>
                      <m:t>2702</m:t>
                    </m:r>
                  </m:oMath>
                </a14:m>
                <a:r>
                  <a:rPr sz="2800" b="1">
                    <a:solidFill>
                      <a:srgbClr val="15803D"/>
                    </a:solidFill>
                    <a:latin typeface="Arial"/>
                  </a:rPr>
                  <a:t> ; (b) </a:t>
                </a:r>
                <a14:m>
                  <m:oMath xmlns:m="http://schemas.openxmlformats.org/officeDocument/2006/math">
                    <m:r>
                      <a:rPr lang="en-IN" sz="2800" i="1">
                        <a:solidFill>
                          <a:srgbClr val="15803D"/>
                        </a:solidFill>
                        <a:latin typeface="Cambria Math" panose="02040503050406030204" pitchFamily="18" charset="0"/>
                      </a:rPr>
                      <m:t>1008</m:t>
                    </m:r>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Total </a:t>
                </a:r>
                <a:r>
                  <a:rPr lang="en-IN" sz="2800">
                    <a:solidFill>
                      <a:srgbClr val="15803D"/>
                    </a:solidFill>
                    <a:latin typeface="Cambria Math" panose="02040503050406030204" pitchFamily="18" charset="0"/>
                  </a:rPr>
                  <a:t>$=\binom{17}{12}-\binom88\binom94=6062$</a:t>
                </a:r>
                <a:r>
                  <a:rPr sz="2800" b="1">
                    <a:solidFill>
                      <a:srgbClr val="15803D"/>
                    </a:solidFill>
                    <a:latin typeface="Arial"/>
                  </a:rPr>
                  <a:t> ; (a) </a:t>
                </a:r>
                <a:r>
                  <a:rPr lang="en-IN" sz="2800">
                    <a:solidFill>
                      <a:srgbClr val="15803D"/>
                    </a:solidFill>
                    <a:latin typeface="Cambria Math" panose="02040503050406030204" pitchFamily="18" charset="0"/>
                  </a:rPr>
                  <a:t>$2702$</a:t>
                </a:r>
                <a:r>
                  <a:rPr sz="2800" b="1">
                    <a:solidFill>
                      <a:srgbClr val="15803D"/>
                    </a:solidFill>
                    <a:latin typeface="Arial"/>
                  </a:rPr>
                  <a:t> ; (b) </a:t>
                </a:r>
                <a:r>
                  <a:rPr lang="en-IN" sz="2800">
                    <a:solidFill>
                      <a:srgbClr val="15803D"/>
                    </a:solidFill>
                    <a:latin typeface="Cambria Math" panose="02040503050406030204" pitchFamily="18" charset="0"/>
                  </a:rPr>
                  <a:t>$1008$</a:t>
                </a:r>
                <a:endParaRPr sz="2800">
                  <a:solidFill>
                    <a:srgbClr val="15803D"/>
                  </a:solidFill>
                </a:endParaRPr>
              </a:p>
            </p:txBody>
          </p:sp>
        </mc:Fallback>
      </mc:AlternateContent>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Choosing </a:t>
                </a:r>
                <a14:m>
                  <m:oMath xmlns:m="http://schemas.openxmlformats.org/officeDocument/2006/math">
                    <m:r>
                      <a:rPr lang="en-IN" sz="2400" i="1">
                        <a:solidFill>
                          <a:srgbClr val="111827"/>
                        </a:solidFill>
                        <a:latin typeface="Cambria Math" panose="02040503050406030204" pitchFamily="18" charset="0"/>
                      </a:rPr>
                      <m:t>𝑟</m:t>
                    </m:r>
                  </m:oMath>
                </a14:m>
                <a:r>
                  <a:rPr sz="2400" b="0">
                    <a:solidFill>
                      <a:srgbClr val="111827"/>
                    </a:solidFill>
                    <a:latin typeface="Arial"/>
                  </a:rPr>
                  <a:t> from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is the same as choosing the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oMath>
                </a14:m>
                <a:r>
                  <a:rPr sz="2400" b="0">
                    <a:solidFill>
                      <a:srgbClr val="111827"/>
                    </a:solidFill>
                    <a:latin typeface="Arial"/>
                  </a:rPr>
                  <a:t> to leave out; use whichever side makes the condition simpler.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 committee of size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 women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men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14:m>
                  <m:oMath xmlns:m="http://schemas.openxmlformats.org/officeDocument/2006/math">
                    <m:r>
                      <a:rPr lang="en-IN" sz="2400" i="1">
                        <a:solidFill>
                          <a:srgbClr val="111827"/>
                        </a:solidFill>
                        <a:latin typeface="Cambria Math" panose="02040503050406030204" pitchFamily="18" charset="0"/>
                      </a:rPr>
                      <m:t>1008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2352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2702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6062</m:t>
                    </m:r>
                  </m:oMath>
                </a14:m>
                <a:r>
                  <a:rPr sz="2400" b="0">
                    <a:solidFill>
                      <a:srgbClr val="111827"/>
                    </a:solidFill>
                    <a:latin typeface="Arial"/>
                  </a:rPr>
                  <a:t> (the tie </a:t>
                </a:r>
                <a14:m>
                  <m:oMath xmlns:m="http://schemas.openxmlformats.org/officeDocument/2006/math">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𝑊</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𝑀</m:t>
                    </m:r>
                  </m:oMath>
                </a14:m>
                <a:r>
                  <a:rPr sz="2400" b="0">
                    <a:solidFill>
                      <a:srgbClr val="111827"/>
                    </a:solidFill>
                    <a:latin typeface="Arial"/>
                  </a:rPr>
                  <a:t> contributes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6</m:t>
                            </m:r>
                          </m:den>
                        </m:f>
                      </m:e>
                    </m:d>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6</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2352</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Choosing </a:t>
                </a:r>
                <a:r>
                  <a:rPr lang="en-IN" sz="2400">
                    <a:solidFill>
                      <a:srgbClr val="111827"/>
                    </a:solidFill>
                    <a:latin typeface="Cambria Math" panose="02040503050406030204" pitchFamily="18" charset="0"/>
                  </a:rPr>
                  <a:t>$r$</a:t>
                </a:r>
                <a:r>
                  <a:rPr sz="2400" b="0">
                    <a:solidFill>
                      <a:srgbClr val="111827"/>
                    </a:solidFill>
                    <a:latin typeface="Arial"/>
                  </a:rPr>
                  <a:t> from </a:t>
                </a:r>
                <a:r>
                  <a:rPr lang="en-IN" sz="2400">
                    <a:solidFill>
                      <a:srgbClr val="111827"/>
                    </a:solidFill>
                    <a:latin typeface="Cambria Math" panose="02040503050406030204" pitchFamily="18" charset="0"/>
                  </a:rPr>
                  <a:t>$n$</a:t>
                </a:r>
                <a:r>
                  <a:rPr sz="2400" b="0">
                    <a:solidFill>
                      <a:srgbClr val="111827"/>
                    </a:solidFill>
                    <a:latin typeface="Arial"/>
                  </a:rPr>
                  <a:t> is the same as choosing the </a:t>
                </a:r>
                <a:r>
                  <a:rPr lang="en-IN" sz="2400">
                    <a:solidFill>
                      <a:srgbClr val="111827"/>
                    </a:solidFill>
                    <a:latin typeface="Cambria Math" panose="02040503050406030204" pitchFamily="18" charset="0"/>
                  </a:rPr>
                  <a:t>$n-r$</a:t>
                </a:r>
                <a:r>
                  <a:rPr sz="2400" b="0">
                    <a:solidFill>
                      <a:srgbClr val="111827"/>
                    </a:solidFill>
                    <a:latin typeface="Arial"/>
                  </a:rPr>
                  <a:t> to leave out; use whichever side makes the condition simpler.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 committee of size </a:t>
                </a:r>
                <a:r>
                  <a:rPr lang="en-IN" sz="2400">
                    <a:solidFill>
                      <a:srgbClr val="111827"/>
                    </a:solidFill>
                    <a:latin typeface="Cambria Math" panose="02040503050406030204" pitchFamily="18" charset="0"/>
                  </a:rPr>
                  <a:t>$k$</a:t>
                </a:r>
                <a:r>
                  <a:rPr sz="2400" b="0">
                    <a:solidFill>
                      <a:srgbClr val="111827"/>
                    </a:solidFill>
                    <a:latin typeface="Arial"/>
                  </a:rPr>
                  <a:t>: women </a:t>
                </a:r>
                <a:r>
                  <a:rPr lang="en-IN" sz="2400">
                    <a:solidFill>
                      <a:srgbClr val="111827"/>
                    </a:solidFill>
                    <a:latin typeface="Cambria Math" panose="02040503050406030204" pitchFamily="18" charset="0"/>
                  </a:rPr>
                  <a:t>$\ge a\iff$</a:t>
                </a:r>
                <a:r>
                  <a:rPr sz="2400" b="0">
                    <a:solidFill>
                      <a:srgbClr val="111827"/>
                    </a:solidFill>
                    <a:latin typeface="Arial"/>
                  </a:rPr>
                  <a:t> men </a:t>
                </a:r>
                <a:r>
                  <a:rPr lang="en-IN" sz="2400">
                    <a:solidFill>
                      <a:srgbClr val="111827"/>
                    </a:solidFill>
                    <a:latin typeface="Cambria Math" panose="02040503050406030204" pitchFamily="18" charset="0"/>
                  </a:rPr>
                  <a:t>$\le k-a$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r>
                  <a:rPr lang="en-IN" sz="2400">
                    <a:solidFill>
                      <a:srgbClr val="111827"/>
                    </a:solidFill>
                    <a:latin typeface="Cambria Math" panose="02040503050406030204" pitchFamily="18" charset="0"/>
                  </a:rPr>
                  <a:t>$1008+2352+2702=6062$</a:t>
                </a:r>
                <a:r>
                  <a:rPr sz="2400" b="0">
                    <a:solidFill>
                      <a:srgbClr val="111827"/>
                    </a:solidFill>
                    <a:latin typeface="Arial"/>
                  </a:rPr>
                  <a:t> (the tie </a:t>
                </a:r>
                <a:r>
                  <a:rPr lang="en-IN" sz="2400">
                    <a:solidFill>
                      <a:srgbClr val="111827"/>
                    </a:solidFill>
                    <a:latin typeface="Cambria Math" panose="02040503050406030204" pitchFamily="18" charset="0"/>
                  </a:rPr>
                  <a:t>$6W6M$</a:t>
                </a:r>
                <a:r>
                  <a:rPr sz="2400" b="0">
                    <a:solidFill>
                      <a:srgbClr val="111827"/>
                    </a:solidFill>
                    <a:latin typeface="Arial"/>
                  </a:rPr>
                  <a:t> contributes </a:t>
                </a:r>
                <a:r>
                  <a:rPr lang="en-IN" sz="2400">
                    <a:solidFill>
                      <a:srgbClr val="111827"/>
                    </a:solidFill>
                    <a:latin typeface="Cambria Math" panose="02040503050406030204" pitchFamily="18" charset="0"/>
                  </a:rPr>
                  <a:t>$\binom96\binom86=84\cdot28=2352$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00812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Find the number of five digit numbers that can be formed using the digits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in which one digit appears once and two digits appear twice (e.g. </a:t>
                </a:r>
                <a14:m>
                  <m:oMath xmlns:m="http://schemas.openxmlformats.org/officeDocument/2006/math">
                    <m:r>
                      <a:rPr lang="en-IN" sz="2400" i="1">
                        <a:solidFill>
                          <a:srgbClr val="111827"/>
                        </a:solidFill>
                        <a:latin typeface="Cambria Math" panose="02040503050406030204" pitchFamily="18" charset="0"/>
                      </a:rPr>
                      <m:t>41174</m:t>
                    </m:r>
                  </m:oMath>
                </a14:m>
                <a:r>
                  <a:rPr sz="2400" b="0">
                    <a:solidFill>
                      <a:srgbClr val="111827"/>
                    </a:solidFill>
                    <a:latin typeface="Arial"/>
                  </a:rPr>
                  <a:t> is one such number but </a:t>
                </a:r>
                <a14:m>
                  <m:oMath xmlns:m="http://schemas.openxmlformats.org/officeDocument/2006/math">
                    <m:r>
                      <a:rPr lang="en-IN" sz="2400" i="1">
                        <a:solidFill>
                          <a:srgbClr val="111827"/>
                        </a:solidFill>
                        <a:latin typeface="Cambria Math" panose="02040503050406030204" pitchFamily="18" charset="0"/>
                      </a:rPr>
                      <m:t>75355</m:t>
                    </m:r>
                  </m:oMath>
                </a14:m>
                <a:r>
                  <a:rPr sz="2400" b="0">
                    <a:solidFill>
                      <a:srgbClr val="111827"/>
                    </a:solidFill>
                    <a:latin typeface="Arial"/>
                  </a:rPr>
                  <a:t> is not).</a:t>
                </a:r>
                <a:endParaRPr sz="2400">
                  <a:solidFill>
                    <a:srgbClr val="111827"/>
                  </a:solidFill>
                </a:endParaRPr>
              </a:p>
            </p:txBody>
          </p:sp>
        </mc:Choice>
        <mc:Fallback>
          <p:sp>
            <p:nvSpPr>
              <p:cNvPr id="4" name="Rounded Rectangle 3"/>
              <p:cNvSpPr/>
              <p:nvPr/>
            </p:nvSpPr>
            <p:spPr>
              <a:xfrm>
                <a:off x="731520" y="1280160"/>
                <a:ext cx="10725912" cy="200812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Find the number of five digit numbers that can be formed using the digits </a:t>
                </a:r>
                <a:r>
                  <a:rPr lang="en-IN" sz="2400">
                    <a:solidFill>
                      <a:srgbClr val="111827"/>
                    </a:solidFill>
                    <a:latin typeface="Cambria Math" panose="02040503050406030204" pitchFamily="18" charset="0"/>
                  </a:rPr>
                  <a:t>$1,2,3,4,5,6,7,8,9$</a:t>
                </a:r>
                <a:r>
                  <a:rPr sz="2400" b="0">
                    <a:solidFill>
                      <a:srgbClr val="111827"/>
                    </a:solidFill>
                    <a:latin typeface="Arial"/>
                  </a:rPr>
                  <a:t> in which one digit appears once and two digits appear twice (e.g. </a:t>
                </a:r>
                <a:r>
                  <a:rPr lang="en-IN" sz="2400">
                    <a:solidFill>
                      <a:srgbClr val="111827"/>
                    </a:solidFill>
                    <a:latin typeface="Cambria Math" panose="02040503050406030204" pitchFamily="18" charset="0"/>
                  </a:rPr>
                  <a:t>$41174$</a:t>
                </a:r>
                <a:r>
                  <a:rPr sz="2400" b="0">
                    <a:solidFill>
                      <a:srgbClr val="111827"/>
                    </a:solidFill>
                    <a:latin typeface="Arial"/>
                  </a:rPr>
                  <a:t> is one such number but </a:t>
                </a:r>
                <a:r>
                  <a:rPr lang="en-IN" sz="2400">
                    <a:solidFill>
                      <a:srgbClr val="111827"/>
                    </a:solidFill>
                    <a:latin typeface="Cambria Math" panose="02040503050406030204" pitchFamily="18" charset="0"/>
                  </a:rPr>
                  <a:t>$75355$</a:t>
                </a:r>
                <a:r>
                  <a:rPr sz="2400" b="0">
                    <a:solidFill>
                      <a:srgbClr val="111827"/>
                    </a:solidFill>
                    <a:latin typeface="Arial"/>
                  </a:rPr>
                  <a:t> is not).</a:t>
                </a:r>
                <a:endParaRPr sz="2400">
                  <a:solidFill>
                    <a:srgbClr val="111827"/>
                  </a:solidFill>
                </a:endParaRPr>
              </a:p>
            </p:txBody>
          </p:sp>
        </mc:Fallback>
      </mc:AlternateContent>
      <p:sp>
        <p:nvSpPr>
          <p:cNvPr id="5" name="Rectangle 4"/>
          <p:cNvSpPr/>
          <p:nvPr/>
        </p:nvSpPr>
        <p:spPr>
          <a:xfrm>
            <a:off x="731520" y="3516884"/>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Arrangements with repeated digits (pattern counting)</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Choose the digits first (two to repeat, one single), then arrange the multiset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𝑏</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𝑏</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𝑐</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in </a:t>
                </a:r>
                <a14:m>
                  <m:oMath xmlns:m="http://schemas.openxmlformats.org/officeDocument/2006/math">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5</m:t>
                        </m:r>
                        <m:r>
                          <m:rPr>
                            <m:sty m:val="p"/>
                          </m:rPr>
                          <a:rPr lang="en-IN" sz="2400">
                            <a:solidFill>
                              <a:srgbClr val="78350F"/>
                            </a:solidFill>
                            <a:latin typeface="Cambria Math" panose="02040503050406030204" pitchFamily="18" charset="0"/>
                          </a:rPr>
                          <m:t>!</m:t>
                        </m:r>
                      </m:num>
                      <m:den>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den>
                    </m:f>
                  </m:oMath>
                </a14:m>
                <a:r>
                  <a:rPr sz="2400" b="0">
                    <a:solidFill>
                      <a:srgbClr val="78350F"/>
                    </a:solidFill>
                    <a:latin typeface="Arial"/>
                  </a:rPr>
                  <a:t> ways.</a:t>
                </a:r>
                <a:endParaRPr sz="2400">
                  <a:solidFill>
                    <a:srgbClr val="78350F"/>
                  </a:solidFill>
                </a:endParaRPr>
              </a:p>
            </p:txBody>
          </p:sp>
        </mc:Choice>
        <mc:Fallback>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Choose the digits first (two to repeat, one single), then arrange the multiset </a:t>
                </a:r>
                <a:r>
                  <a:rPr lang="en-IN" sz="2400">
                    <a:solidFill>
                      <a:srgbClr val="78350F"/>
                    </a:solidFill>
                    <a:latin typeface="Cambria Math" panose="02040503050406030204" pitchFamily="18" charset="0"/>
                  </a:rPr>
                  <a:t>$\{a,a,b,b,c\}$</a:t>
                </a:r>
                <a:r>
                  <a:rPr sz="2400" b="0">
                    <a:solidFill>
                      <a:srgbClr val="78350F"/>
                    </a:solidFill>
                    <a:latin typeface="Arial"/>
                  </a:rPr>
                  <a:t> in </a:t>
                </a:r>
                <a:r>
                  <a:rPr lang="en-IN" sz="2400">
                    <a:solidFill>
                      <a:srgbClr val="78350F"/>
                    </a:solidFill>
                    <a:latin typeface="Cambria Math" panose="02040503050406030204" pitchFamily="18" charset="0"/>
                  </a:rPr>
                  <a:t>$\frac{5!}{2!2!}$</a:t>
                </a:r>
                <a:r>
                  <a:rPr sz="2400" b="0">
                    <a:solidFill>
                      <a:srgbClr val="78350F"/>
                    </a:solidFill>
                    <a:latin typeface="Arial"/>
                  </a:rPr>
                  <a:t> ways.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636520"/>
                <a:ext cx="10725912" cy="315163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Choose the two digits that appear twice: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9</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m:t>
                    </m:r>
                  </m:oMath>
                </a14:m>
                <a:r>
                  <a:rPr sz="2400" b="0">
                    <a:solidFill>
                      <a:srgbClr val="111827"/>
                    </a:solidFill>
                    <a:latin typeface="Arial"/>
                  </a:rPr>
                  <a:t> ways.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Choose the digit that appears once from the remaining </a:t>
                </a:r>
                <a14:m>
                  <m:oMath xmlns:m="http://schemas.openxmlformats.org/officeDocument/2006/math">
                    <m:r>
                      <a:rPr lang="en-IN" sz="2400" i="1">
                        <a:solidFill>
                          <a:srgbClr val="111827"/>
                        </a:solidFill>
                        <a:latin typeface="Cambria Math" panose="02040503050406030204" pitchFamily="18" charset="0"/>
                      </a:rPr>
                      <m:t>7</m:t>
                    </m:r>
                  </m:oMath>
                </a14:m>
                <a:r>
                  <a:rPr sz="2400" b="0">
                    <a:solidFill>
                      <a:srgbClr val="111827"/>
                    </a:solidFill>
                    <a:latin typeface="Arial"/>
                  </a:rPr>
                  <a:t> digits: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7</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 ways.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Arrange the five selected digits (two repeated twice):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9</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7</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7560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636520"/>
                <a:ext cx="10725912" cy="315163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Choose the two digits that appear twice: </a:t>
                </a:r>
                <a:r>
                  <a:rPr lang="en-IN" sz="2400">
                    <a:solidFill>
                      <a:srgbClr val="111827"/>
                    </a:solidFill>
                    <a:latin typeface="Cambria Math" panose="02040503050406030204" pitchFamily="18" charset="0"/>
                  </a:rPr>
                  <a:t>${}^9C_2=36$</a:t>
                </a:r>
                <a:r>
                  <a:rPr sz="2400" b="0">
                    <a:solidFill>
                      <a:srgbClr val="111827"/>
                    </a:solidFill>
                    <a:latin typeface="Arial"/>
                  </a:rPr>
                  <a:t> ways.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Choose the digit that appears once from the remaining </a:t>
                </a:r>
                <a:r>
                  <a:rPr lang="en-IN" sz="2400">
                    <a:solidFill>
                      <a:srgbClr val="111827"/>
                    </a:solidFill>
                    <a:latin typeface="Cambria Math" panose="02040503050406030204" pitchFamily="18" charset="0"/>
                  </a:rPr>
                  <a:t>$7$</a:t>
                </a:r>
                <a:r>
                  <a:rPr sz="2400" b="0">
                    <a:solidFill>
                      <a:srgbClr val="111827"/>
                    </a:solidFill>
                    <a:latin typeface="Arial"/>
                  </a:rPr>
                  <a:t> digits: </a:t>
                </a:r>
                <a:r>
                  <a:rPr lang="en-IN" sz="2400">
                    <a:solidFill>
                      <a:srgbClr val="111827"/>
                    </a:solidFill>
                    <a:latin typeface="Cambria Math" panose="02040503050406030204" pitchFamily="18" charset="0"/>
                  </a:rPr>
                  <a:t>${}^7C_1=7$</a:t>
                </a:r>
                <a:r>
                  <a:rPr sz="2400" b="0">
                    <a:solidFill>
                      <a:srgbClr val="111827"/>
                    </a:solidFill>
                    <a:latin typeface="Arial"/>
                  </a:rPr>
                  <a:t> ways.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Arrange the five selected digits (two repeated twice): </a:t>
                </a:r>
                <a:r>
                  <a:rPr lang="en-IN" sz="2400">
                    <a:solidFill>
                      <a:srgbClr val="111827"/>
                    </a:solidFill>
                    <a:latin typeface="Cambria Math" panose="02040503050406030204" pitchFamily="18" charset="0"/>
                  </a:rPr>
                  <a:t>$\dfrac{5!}{2!\,2!}=30$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r>
                  <a:rPr lang="en-IN" sz="2400">
                    <a:solidFill>
                      <a:srgbClr val="111827"/>
                    </a:solidFill>
                    <a:latin typeface="Cambria Math" panose="02040503050406030204" pitchFamily="18" charset="0"/>
                  </a:rPr>
                  <a:t>$={}^9C_2\times{}^7C_1\times\dfrac{5!}{2!2!}=36\times7\times30=7560$</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7560</a:t>
            </a:r>
            <a:endParaRPr sz="2800">
              <a:solidFill>
                <a:srgbClr val="15803D"/>
              </a:solidFill>
            </a:endParaRP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Fix the positions first, then assign digits to the position-groups.</a:t>
            </a:r>
            <a:endParaRPr sz="2400">
              <a:solidFill>
                <a:srgbClr val="78350F"/>
              </a:solidFill>
            </a:endParaRPr>
          </a:p>
        </p:txBody>
      </p:sp>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Choose the position of the single digit: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ways.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Split the remaining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positions into two pairs of positions: </a:t>
                </a:r>
                <a14:m>
                  <m:oMath xmlns:m="http://schemas.openxmlformats.org/officeDocument/2006/math">
                    <m:f>
                      <m:fPr>
                        <m:type m:val="bar"/>
                        <m:ctrlPr>
                          <a:rPr lang="en-IN" sz="2400" i="1">
                            <a:solidFill>
                              <a:srgbClr val="111827"/>
                            </a:solidFill>
                            <a:latin typeface="Cambria Math" panose="02040503050406030204" pitchFamily="18" charset="0"/>
                          </a:rPr>
                        </m:ctrlPr>
                      </m:fPr>
                      <m:num>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2</m:t>
                                </m:r>
                              </m:den>
                            </m:f>
                          </m:e>
                        </m:d>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ways.</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Choose the position of the single digit: </a:t>
                </a:r>
                <a:r>
                  <a:rPr lang="en-IN" sz="2400">
                    <a:solidFill>
                      <a:srgbClr val="111827"/>
                    </a:solidFill>
                    <a:latin typeface="Cambria Math" panose="02040503050406030204" pitchFamily="18" charset="0"/>
                  </a:rPr>
                  <a:t>$5$</a:t>
                </a:r>
                <a:r>
                  <a:rPr sz="2400" b="0">
                    <a:solidFill>
                      <a:srgbClr val="111827"/>
                    </a:solidFill>
                    <a:latin typeface="Arial"/>
                  </a:rPr>
                  <a:t> ways.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Split the remaining </a:t>
                </a:r>
                <a:r>
                  <a:rPr lang="en-IN" sz="2400">
                    <a:solidFill>
                      <a:srgbClr val="111827"/>
                    </a:solidFill>
                    <a:latin typeface="Cambria Math" panose="02040503050406030204" pitchFamily="18" charset="0"/>
                  </a:rPr>
                  <a:t>$4$</a:t>
                </a:r>
                <a:r>
                  <a:rPr sz="2400" b="0">
                    <a:solidFill>
                      <a:srgbClr val="111827"/>
                    </a:solidFill>
                    <a:latin typeface="Arial"/>
                  </a:rPr>
                  <a:t> positions into two pairs of positions: </a:t>
                </a:r>
                <a:r>
                  <a:rPr lang="en-IN" sz="2400">
                    <a:solidFill>
                      <a:srgbClr val="111827"/>
                    </a:solidFill>
                    <a:latin typeface="Cambria Math" panose="02040503050406030204" pitchFamily="18" charset="0"/>
                  </a:rPr>
                  <a:t>$\dfrac{\binom42}{2}=3$</a:t>
                </a:r>
                <a:r>
                  <a:rPr sz="2400" b="0">
                    <a:solidFill>
                      <a:srgbClr val="111827"/>
                    </a:solidFill>
                    <a:latin typeface="Arial"/>
                  </a:rPr>
                  <a:t> ways.</a:t>
                </a:r>
                <a:endParaRPr sz="2400">
                  <a:solidFill>
                    <a:srgbClr val="111827"/>
                  </a:solidFill>
                </a:endParaRPr>
              </a:p>
            </p:txBody>
          </p:sp>
        </mc:Fallback>
      </mc:AlternateContent>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two position-pairs and the single position are now distinguishable by where they are, so assign them three different digits in order: </a:t>
                </a:r>
                <a14:m>
                  <m:oMath xmlns:m="http://schemas.openxmlformats.org/officeDocument/2006/math">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504</m:t>
                    </m:r>
                  </m:oMath>
                </a14:m>
                <a:r>
                  <a:rPr sz="2400" b="0">
                    <a:solidFill>
                      <a:srgbClr val="111827"/>
                    </a:solidFill>
                    <a:latin typeface="Arial"/>
                  </a:rPr>
                  <a:t> ways.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7560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two position-pairs and the single position are now distinguishable by where they are, so assign them three different digits in order: </a:t>
                </a:r>
                <a:r>
                  <a:rPr lang="en-IN" sz="2400">
                    <a:solidFill>
                      <a:srgbClr val="111827"/>
                    </a:solidFill>
                    <a:latin typeface="Cambria Math" panose="02040503050406030204" pitchFamily="18" charset="0"/>
                  </a:rPr>
                  <a:t>$9\times8\times7=504$</a:t>
                </a:r>
                <a:r>
                  <a:rPr sz="2400" b="0">
                    <a:solidFill>
                      <a:srgbClr val="111827"/>
                    </a:solidFill>
                    <a:latin typeface="Arial"/>
                  </a:rPr>
                  <a:t> ways.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r>
                  <a:rPr lang="en-IN" sz="2400">
                    <a:solidFill>
                      <a:srgbClr val="111827"/>
                    </a:solidFill>
                    <a:latin typeface="Cambria Math" panose="02040503050406030204" pitchFamily="18" charset="0"/>
                  </a:rPr>
                  <a:t>$=5\times3\times504=7560$</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7560</a:t>
            </a:r>
            <a:endParaRPr sz="2800">
              <a:solidFill>
                <a:srgbClr val="15803D"/>
              </a:solidFill>
            </a:endParaRP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Number of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-digit strings with a given repetition pattern: choose which digits occupy each multiplicity, then multiply by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num>
                      <m:den>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𝑚</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two digit-groups have equal multiplicity, choose them as a set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2</m:t>
                            </m:r>
                          </m:den>
                        </m:f>
                      </m:e>
                    </m:d>
                  </m:oMath>
                </a14:m>
                <a:r>
                  <a:rPr sz="2400" b="0">
                    <a:solidFill>
                      <a:srgbClr val="111827"/>
                    </a:solidFill>
                    <a:latin typeface="Arial"/>
                  </a:rPr>
                  <a:t>) or divide the ordered choice by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 never both.</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on a small case: strings of length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from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with pattern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Number of </a:t>
                </a:r>
                <a:r>
                  <a:rPr lang="en-IN" sz="2400">
                    <a:solidFill>
                      <a:srgbClr val="111827"/>
                    </a:solidFill>
                    <a:latin typeface="Cambria Math" panose="02040503050406030204" pitchFamily="18" charset="0"/>
                  </a:rPr>
                  <a:t>$n$</a:t>
                </a:r>
                <a:r>
                  <a:rPr sz="2400" b="0">
                    <a:solidFill>
                      <a:srgbClr val="111827"/>
                    </a:solidFill>
                    <a:latin typeface="Arial"/>
                  </a:rPr>
                  <a:t>-digit strings with a given repetition pattern: choose which digits occupy each multiplicity, then multiply by </a:t>
                </a:r>
                <a:r>
                  <a:rPr lang="en-IN" sz="2400">
                    <a:solidFill>
                      <a:srgbClr val="111827"/>
                    </a:solidFill>
                    <a:latin typeface="Cambria Math" panose="02040503050406030204" pitchFamily="18" charset="0"/>
                  </a:rPr>
                  <a:t>$\dfrac{n!}{\prod m_i!}$</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two digit-groups have equal multiplicity, choose them as a set (</a:t>
                </a:r>
                <a:r>
                  <a:rPr lang="en-IN" sz="2400">
                    <a:solidFill>
                      <a:srgbClr val="111827"/>
                    </a:solidFill>
                    <a:latin typeface="Cambria Math" panose="02040503050406030204" pitchFamily="18" charset="0"/>
                  </a:rPr>
                  <a:t>$\binom92$</a:t>
                </a:r>
                <a:r>
                  <a:rPr sz="2400" b="0">
                    <a:solidFill>
                      <a:srgbClr val="111827"/>
                    </a:solidFill>
                    <a:latin typeface="Arial"/>
                  </a:rPr>
                  <a:t>) or divide the ordered choice by </a:t>
                </a:r>
                <a:r>
                  <a:rPr lang="en-IN" sz="2400">
                    <a:solidFill>
                      <a:srgbClr val="111827"/>
                    </a:solidFill>
                    <a:latin typeface="Cambria Math" panose="02040503050406030204" pitchFamily="18" charset="0"/>
                  </a:rPr>
                  <a:t>$2!$</a:t>
                </a:r>
                <a:r>
                  <a:rPr sz="2400" b="0">
                    <a:solidFill>
                      <a:srgbClr val="111827"/>
                    </a:solidFill>
                    <a:latin typeface="Arial"/>
                  </a:rPr>
                  <a:t> - never both.</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on a small case: strings of length </a:t>
                </a:r>
                <a:r>
                  <a:rPr lang="en-IN" sz="2400">
                    <a:solidFill>
                      <a:srgbClr val="111827"/>
                    </a:solidFill>
                    <a:latin typeface="Cambria Math" panose="02040503050406030204" pitchFamily="18" charset="0"/>
                  </a:rPr>
                  <a:t>$3$</a:t>
                </a:r>
                <a:r>
                  <a:rPr sz="2400" b="0">
                    <a:solidFill>
                      <a:srgbClr val="111827"/>
                    </a:solidFill>
                    <a:latin typeface="Arial"/>
                  </a:rPr>
                  <a:t> from </a:t>
                </a:r>
                <a:r>
                  <a:rPr lang="en-IN" sz="2400">
                    <a:solidFill>
                      <a:srgbClr val="111827"/>
                    </a:solidFill>
                    <a:latin typeface="Cambria Math" panose="02040503050406030204" pitchFamily="18" charset="0"/>
                  </a:rPr>
                  <a:t>$\{1,2,3\}$</a:t>
                </a:r>
                <a:r>
                  <a:rPr sz="2400" b="0">
                    <a:solidFill>
                      <a:srgbClr val="111827"/>
                    </a:solidFill>
                    <a:latin typeface="Arial"/>
                  </a:rPr>
                  <a:t> with pattern </a:t>
                </a:r>
                <a:r>
                  <a:rPr lang="en-IN" sz="2400">
                    <a:solidFill>
                      <a:srgbClr val="111827"/>
                    </a:solidFill>
                    <a:latin typeface="Cambria Math" panose="02040503050406030204" pitchFamily="18" charset="0"/>
                  </a:rPr>
                  <a:t>$(2,1)$</a:t>
                </a:r>
                <a:r>
                  <a:rPr sz="2400" b="0">
                    <a:solidFill>
                      <a:srgbClr val="111827"/>
                    </a:solidFill>
                    <a:latin typeface="Arial"/>
                  </a:rPr>
                  <a:t>: </a:t>
                </a:r>
                <a:r>
                  <a:rPr lang="en-IN" sz="2400">
                    <a:solidFill>
                      <a:srgbClr val="111827"/>
                    </a:solidFill>
                    <a:latin typeface="Cambria Math" panose="02040503050406030204" pitchFamily="18" charset="0"/>
                  </a:rPr>
                  <a:t>$3\cdot2\cdot\frac{3!}{2!}=18=27-3-6$</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Find the number of ways in which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distinct numbers can be selected from the set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100</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101</m:t>
                        </m:r>
                      </m:sup>
                    </m:sSup>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that they form a G.P.</a:t>
                </a:r>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Find the number of ways in which </a:t>
                </a:r>
                <a:r>
                  <a:rPr lang="en-IN" sz="2400">
                    <a:solidFill>
                      <a:srgbClr val="111827"/>
                    </a:solidFill>
                    <a:latin typeface="Cambria Math" panose="02040503050406030204" pitchFamily="18" charset="0"/>
                  </a:rPr>
                  <a:t>$3$</a:t>
                </a:r>
                <a:r>
                  <a:rPr sz="2400" b="0">
                    <a:solidFill>
                      <a:srgbClr val="111827"/>
                    </a:solidFill>
                    <a:latin typeface="Arial"/>
                  </a:rPr>
                  <a:t> distinct numbers can be selected from the set </a:t>
                </a:r>
                <a:r>
                  <a:rPr lang="en-IN" sz="2400">
                    <a:solidFill>
                      <a:srgbClr val="111827"/>
                    </a:solidFill>
                    <a:latin typeface="Cambria Math" panose="02040503050406030204" pitchFamily="18" charset="0"/>
                  </a:rPr>
                  <a:t>$\{3^1,3^2,3^3,\dots,3^{100},3^{101}\}$</a:t>
                </a:r>
                <a:r>
                  <a:rPr sz="2400" b="0">
                    <a:solidFill>
                      <a:srgbClr val="111827"/>
                    </a:solidFill>
                    <a:latin typeface="Arial"/>
                  </a:rPr>
                  <a:t> so that they form a G.P.</a:t>
                </a:r>
                <a:endParaRPr sz="2400">
                  <a:solidFill>
                    <a:srgbClr val="111827"/>
                  </a:solidFill>
                </a:endParaRPr>
              </a:p>
            </p:txBody>
          </p:sp>
        </mc:Fallback>
      </mc:AlternateContent>
      <p:sp>
        <p:nvSpPr>
          <p:cNvPr id="5" name="Rectangle 4"/>
          <p:cNvSpPr/>
          <p:nvPr/>
        </p:nvSpPr>
        <p:spPr>
          <a:xfrm>
            <a:off x="731520" y="3246120"/>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Selecting terms of a geometric progression from a set of powers (reduction to A.P. of exponents)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sSup>
                      <m:e>
                        <m:r>
                          <a:rPr lang="en-IN" sz="2400" i="1">
                            <a:solidFill>
                              <a:srgbClr val="78350F"/>
                            </a:solidFill>
                            <a:latin typeface="Cambria Math" panose="02040503050406030204" pitchFamily="18" charset="0"/>
                          </a:rPr>
                          <m:t>3</m:t>
                        </m:r>
                      </m:e>
                      <m:sup>
                        <m:r>
                          <a:rPr lang="en-IN" sz="2400" i="1">
                            <a:solidFill>
                              <a:srgbClr val="78350F"/>
                            </a:solidFill>
                            <a:latin typeface="Cambria Math" panose="02040503050406030204" pitchFamily="18" charset="0"/>
                          </a:rPr>
                          <m:t>𝑎</m:t>
                        </m:r>
                      </m:sup>
                    </m:sSup>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3</m:t>
                        </m:r>
                      </m:e>
                      <m:sup>
                        <m:r>
                          <a:rPr lang="en-IN" sz="2400" i="1">
                            <a:solidFill>
                              <a:srgbClr val="78350F"/>
                            </a:solidFill>
                            <a:latin typeface="Cambria Math" panose="02040503050406030204" pitchFamily="18" charset="0"/>
                          </a:rPr>
                          <m:t>𝑏</m:t>
                        </m:r>
                      </m:sup>
                    </m:sSup>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3</m:t>
                        </m:r>
                      </m:e>
                      <m:sup>
                        <m:r>
                          <a:rPr lang="en-IN" sz="2400" i="1">
                            <a:solidFill>
                              <a:srgbClr val="78350F"/>
                            </a:solidFill>
                            <a:latin typeface="Cambria Math" panose="02040503050406030204" pitchFamily="18" charset="0"/>
                          </a:rPr>
                          <m:t>𝑐</m:t>
                        </m:r>
                      </m:sup>
                    </m:sSup>
                  </m:oMath>
                </a14:m>
                <a:r>
                  <a:rPr sz="2400" b="0">
                    <a:solidFill>
                      <a:srgbClr val="78350F"/>
                    </a:solidFill>
                    <a:latin typeface="Arial"/>
                  </a:rPr>
                  <a:t> are in G.P. iff </a:t>
                </a:r>
                <a14:m>
                  <m:oMath xmlns:m="http://schemas.openxmlformats.org/officeDocument/2006/math">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𝑏</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𝑐</m:t>
                    </m:r>
                  </m:oMath>
                </a14:m>
                <a:r>
                  <a:rPr sz="2400" b="0">
                    <a:solidFill>
                      <a:srgbClr val="78350F"/>
                    </a:solidFill>
                    <a:latin typeface="Arial"/>
                  </a:rPr>
                  <a:t> are in A.P., and an A.P. of integers </a:t>
                </a:r>
                <a14:m>
                  <m:oMath xmlns:m="http://schemas.openxmlformats.org/officeDocument/2006/math">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&lt;</m:t>
                    </m:r>
                    <m:r>
                      <a:rPr lang="en-IN" sz="2400" i="1">
                        <a:solidFill>
                          <a:srgbClr val="78350F"/>
                        </a:solidFill>
                        <a:latin typeface="Cambria Math" panose="02040503050406030204" pitchFamily="18" charset="0"/>
                      </a:rPr>
                      <m:t>𝑏</m:t>
                    </m:r>
                    <m:r>
                      <m:rPr>
                        <m:sty m:val="p"/>
                      </m:rPr>
                      <a:rPr lang="en-IN" sz="2400">
                        <a:solidFill>
                          <a:srgbClr val="78350F"/>
                        </a:solidFill>
                        <a:latin typeface="Cambria Math" panose="02040503050406030204" pitchFamily="18" charset="0"/>
                      </a:rPr>
                      <m:t>&lt;</m:t>
                    </m:r>
                    <m:r>
                      <a:rPr lang="en-IN" sz="2400" i="1">
                        <a:solidFill>
                          <a:srgbClr val="78350F"/>
                        </a:solidFill>
                        <a:latin typeface="Cambria Math" panose="02040503050406030204" pitchFamily="18" charset="0"/>
                      </a:rPr>
                      <m:t>𝑐</m:t>
                    </m:r>
                  </m:oMath>
                </a14:m>
                <a:r>
                  <a:rPr sz="2400" b="0">
                    <a:solidFill>
                      <a:srgbClr val="78350F"/>
                    </a:solidFill>
                    <a:latin typeface="Arial"/>
                  </a:rPr>
                  <a:t> has </a:t>
                </a:r>
                <a14:m>
                  <m:oMath xmlns:m="http://schemas.openxmlformats.org/officeDocument/2006/math">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𝑐</m:t>
                    </m:r>
                  </m:oMath>
                </a14:m>
                <a:r>
                  <a:rPr sz="2400" b="0">
                    <a:solidFill>
                      <a:srgbClr val="78350F"/>
                    </a:solidFill>
                    <a:latin typeface="Arial"/>
                  </a:rPr>
                  <a:t> of the same parity.</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$3^a,3^b,3^c$</a:t>
                </a:r>
                <a:r>
                  <a:rPr sz="2400" b="0">
                    <a:solidFill>
                      <a:srgbClr val="78350F"/>
                    </a:solidFill>
                    <a:latin typeface="Arial"/>
                  </a:rPr>
                  <a:t> are in G.P. iff </a:t>
                </a:r>
                <a:r>
                  <a:rPr lang="en-IN" sz="2400">
                    <a:solidFill>
                      <a:srgbClr val="78350F"/>
                    </a:solidFill>
                    <a:latin typeface="Cambria Math" panose="02040503050406030204" pitchFamily="18" charset="0"/>
                  </a:rPr>
                  <a:t>$a,b,c$</a:t>
                </a:r>
                <a:r>
                  <a:rPr sz="2400" b="0">
                    <a:solidFill>
                      <a:srgbClr val="78350F"/>
                    </a:solidFill>
                    <a:latin typeface="Arial"/>
                  </a:rPr>
                  <a:t> are in A.P., and an A.P. of integers </a:t>
                </a:r>
                <a:r>
                  <a:rPr lang="en-IN" sz="2400">
                    <a:solidFill>
                      <a:srgbClr val="78350F"/>
                    </a:solidFill>
                    <a:latin typeface="Cambria Math" panose="02040503050406030204" pitchFamily="18" charset="0"/>
                  </a:rPr>
                  <a:t>$a&lt;b&lt;c$</a:t>
                </a:r>
                <a:r>
                  <a:rPr sz="2400" b="0">
                    <a:solidFill>
                      <a:srgbClr val="78350F"/>
                    </a:solidFill>
                    <a:latin typeface="Arial"/>
                  </a:rPr>
                  <a:t> has </a:t>
                </a:r>
                <a:r>
                  <a:rPr lang="en-IN" sz="2400">
                    <a:solidFill>
                      <a:srgbClr val="78350F"/>
                    </a:solidFill>
                    <a:latin typeface="Cambria Math" panose="02040503050406030204" pitchFamily="18" charset="0"/>
                  </a:rPr>
                  <a:t>$a,c$</a:t>
                </a:r>
                <a:r>
                  <a:rPr sz="2400" b="0">
                    <a:solidFill>
                      <a:srgbClr val="78350F"/>
                    </a:solidFill>
                    <a:latin typeface="Arial"/>
                  </a:rPr>
                  <a:t> of the same parity.</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the chosen numbers be </a:t>
                </a:r>
                <a14:m>
                  <m:oMath xmlns:m="http://schemas.openxmlformats.org/officeDocument/2006/math">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𝑎</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𝑏</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𝑐</m:t>
                        </m:r>
                      </m:sup>
                    </m:sSup>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𝑐</m:t>
                    </m:r>
                  </m:oMath>
                </a14:m>
                <a:r>
                  <a:rPr sz="2400" b="0">
                    <a:solidFill>
                      <a:srgbClr val="111827"/>
                    </a:solidFill>
                    <a:latin typeface="Arial"/>
                  </a:rPr>
                  <a:t> 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They are in G.P. iff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𝑏</m:t>
                        </m:r>
                      </m:sup>
                    </m:sSup>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𝑎</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𝑐</m:t>
                        </m:r>
                      </m:sup>
                    </m:sSup>
                  </m:oMath>
                </a14:m>
                <a:r>
                  <a:rPr sz="2400" b="0">
                    <a:solidFill>
                      <a:srgbClr val="111827"/>
                    </a:solidFill>
                    <a:latin typeface="Arial"/>
                  </a:rPr>
                  <a:t>, i.e. </a:t>
                </a:r>
                <a14:m>
                  <m:oMath xmlns:m="http://schemas.openxmlformats.org/officeDocument/2006/math">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𝑏</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sup>
                    </m:sSup>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we need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numbers from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forming an A.P. Equivalently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 is even, so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 are both even or both odd; then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is determined.</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the chosen numbers be </a:t>
                </a:r>
                <a:r>
                  <a:rPr lang="en-IN" sz="2400">
                    <a:solidFill>
                      <a:srgbClr val="111827"/>
                    </a:solidFill>
                    <a:latin typeface="Cambria Math" panose="02040503050406030204" pitchFamily="18" charset="0"/>
                  </a:rPr>
                  <a:t>$3^a,3^b,3^c$</a:t>
                </a:r>
                <a:r>
                  <a:rPr sz="2400" b="0">
                    <a:solidFill>
                      <a:srgbClr val="111827"/>
                    </a:solidFill>
                    <a:latin typeface="Arial"/>
                  </a:rPr>
                  <a:t> with </a:t>
                </a:r>
                <a:r>
                  <a:rPr lang="en-IN" sz="2400">
                    <a:solidFill>
                      <a:srgbClr val="111827"/>
                    </a:solidFill>
                    <a:latin typeface="Cambria Math" panose="02040503050406030204" pitchFamily="18" charset="0"/>
                  </a:rPr>
                  <a:t>$a&lt;b&lt;c$</a:t>
                </a:r>
                <a:r>
                  <a:rPr sz="2400" b="0">
                    <a:solidFill>
                      <a:srgbClr val="111827"/>
                    </a:solidFill>
                    <a:latin typeface="Arial"/>
                  </a:rPr>
                  <a:t> in </a:t>
                </a:r>
                <a:r>
                  <a:rPr lang="en-IN" sz="2400">
                    <a:solidFill>
                      <a:srgbClr val="111827"/>
                    </a:solidFill>
                    <a:latin typeface="Cambria Math" panose="02040503050406030204" pitchFamily="18" charset="0"/>
                  </a:rPr>
                  <a:t>$\{1,2,\dots,101\}$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They are in G.P. iff </a:t>
                </a:r>
                <a:r>
                  <a:rPr lang="en-IN" sz="2400">
                    <a:solidFill>
                      <a:srgbClr val="111827"/>
                    </a:solidFill>
                    <a:latin typeface="Cambria Math" panose="02040503050406030204" pitchFamily="18" charset="0"/>
                  </a:rPr>
                  <a:t>$(3^b)^2=3^a\cdot3^c$</a:t>
                </a:r>
                <a:r>
                  <a:rPr sz="2400" b="0">
                    <a:solidFill>
                      <a:srgbClr val="111827"/>
                    </a:solidFill>
                    <a:latin typeface="Arial"/>
                  </a:rPr>
                  <a:t>, i.e. </a:t>
                </a:r>
                <a:r>
                  <a:rPr lang="en-IN" sz="2400">
                    <a:solidFill>
                      <a:srgbClr val="111827"/>
                    </a:solidFill>
                    <a:latin typeface="Cambria Math" panose="02040503050406030204" pitchFamily="18" charset="0"/>
                  </a:rPr>
                  <a:t>$3^{2b}=3^{a+c}$</a:t>
                </a:r>
                <a:r>
                  <a:rPr sz="2400" b="0">
                    <a:solidFill>
                      <a:srgbClr val="111827"/>
                    </a:solidFill>
                    <a:latin typeface="Arial"/>
                  </a:rPr>
                  <a:t>, i.e. </a:t>
                </a:r>
                <a:r>
                  <a:rPr lang="en-IN" sz="2400">
                    <a:solidFill>
                      <a:srgbClr val="111827"/>
                    </a:solidFill>
                    <a:latin typeface="Cambria Math" panose="02040503050406030204" pitchFamily="18" charset="0"/>
                  </a:rPr>
                  <a:t>$2b=a+c$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we need </a:t>
                </a:r>
                <a:r>
                  <a:rPr lang="en-IN" sz="2400">
                    <a:solidFill>
                      <a:srgbClr val="111827"/>
                    </a:solidFill>
                    <a:latin typeface="Cambria Math" panose="02040503050406030204" pitchFamily="18" charset="0"/>
                  </a:rPr>
                  <a:t>$3$</a:t>
                </a:r>
                <a:r>
                  <a:rPr sz="2400" b="0">
                    <a:solidFill>
                      <a:srgbClr val="111827"/>
                    </a:solidFill>
                    <a:latin typeface="Arial"/>
                  </a:rPr>
                  <a:t> numbers from </a:t>
                </a:r>
                <a:r>
                  <a:rPr lang="en-IN" sz="2400">
                    <a:solidFill>
                      <a:srgbClr val="111827"/>
                    </a:solidFill>
                    <a:latin typeface="Cambria Math" panose="02040503050406030204" pitchFamily="18" charset="0"/>
                  </a:rPr>
                  <a:t>$\{1,2,\dots,101\}$</a:t>
                </a:r>
                <a:r>
                  <a:rPr sz="2400" b="0">
                    <a:solidFill>
                      <a:srgbClr val="111827"/>
                    </a:solidFill>
                    <a:latin typeface="Arial"/>
                  </a:rPr>
                  <a:t> forming an A.P. Equivalently </a:t>
                </a:r>
                <a:r>
                  <a:rPr lang="en-IN" sz="2400">
                    <a:solidFill>
                      <a:srgbClr val="111827"/>
                    </a:solidFill>
                    <a:latin typeface="Cambria Math" panose="02040503050406030204" pitchFamily="18" charset="0"/>
                  </a:rPr>
                  <a:t>$a+c$</a:t>
                </a:r>
                <a:r>
                  <a:rPr sz="2400" b="0">
                    <a:solidFill>
                      <a:srgbClr val="111827"/>
                    </a:solidFill>
                    <a:latin typeface="Arial"/>
                  </a:rPr>
                  <a:t> is even, so </a:t>
                </a:r>
                <a:r>
                  <a:rPr lang="en-IN" sz="2400">
                    <a:solidFill>
                      <a:srgbClr val="111827"/>
                    </a:solidFill>
                    <a:latin typeface="Cambria Math" panose="02040503050406030204" pitchFamily="18" charset="0"/>
                  </a:rPr>
                  <a:t>$a,c$</a:t>
                </a:r>
                <a:r>
                  <a:rPr sz="2400" b="0">
                    <a:solidFill>
                      <a:srgbClr val="111827"/>
                    </a:solidFill>
                    <a:latin typeface="Arial"/>
                  </a:rPr>
                  <a:t> are both even or both odd; then </a:t>
                </a:r>
                <a:r>
                  <a:rPr lang="en-IN" sz="2400">
                    <a:solidFill>
                      <a:srgbClr val="111827"/>
                    </a:solidFill>
                    <a:latin typeface="Cambria Math" panose="02040503050406030204" pitchFamily="18" charset="0"/>
                  </a:rPr>
                  <a:t>$b=\frac{a+c}{2}$</a:t>
                </a:r>
                <a:r>
                  <a:rPr sz="2400" b="0">
                    <a:solidFill>
                      <a:srgbClr val="111827"/>
                    </a:solidFill>
                    <a:latin typeface="Arial"/>
                  </a:rPr>
                  <a:t> is determined.</a:t>
                </a:r>
                <a:endParaRPr sz="2400">
                  <a:solidFill>
                    <a:srgbClr val="111827"/>
                  </a:solidFill>
                </a:endParaRPr>
              </a:p>
            </p:txBody>
          </p:sp>
        </mc:Fallback>
      </mc:AlternateContent>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set has </a:t>
                </a:r>
                <a14:m>
                  <m:oMath xmlns:m="http://schemas.openxmlformats.org/officeDocument/2006/math">
                    <m:r>
                      <a:rPr lang="en-IN" sz="2400" i="1">
                        <a:solidFill>
                          <a:srgbClr val="111827"/>
                        </a:solidFill>
                        <a:latin typeface="Cambria Math" panose="02040503050406030204" pitchFamily="18" charset="0"/>
                      </a:rPr>
                      <m:t>51</m:t>
                    </m:r>
                  </m:oMath>
                </a14:m>
                <a:r>
                  <a:rPr sz="2400" b="0">
                    <a:solidFill>
                      <a:srgbClr val="111827"/>
                    </a:solidFill>
                    <a:latin typeface="Arial"/>
                  </a:rPr>
                  <a:t> odd and </a:t>
                </a:r>
                <a14:m>
                  <m:oMath xmlns:m="http://schemas.openxmlformats.org/officeDocument/2006/math">
                    <m:r>
                      <a:rPr lang="en-IN" sz="2400" i="1">
                        <a:solidFill>
                          <a:srgbClr val="111827"/>
                        </a:solidFill>
                        <a:latin typeface="Cambria Math" panose="02040503050406030204" pitchFamily="18" charset="0"/>
                      </a:rPr>
                      <m:t>50</m:t>
                    </m:r>
                  </m:oMath>
                </a14:m>
                <a:r>
                  <a:rPr sz="2400" b="0">
                    <a:solidFill>
                      <a:srgbClr val="111827"/>
                    </a:solidFill>
                    <a:latin typeface="Arial"/>
                  </a:rPr>
                  <a:t> even numbers.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 of ways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51</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50</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1275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2500</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set has </a:t>
                </a:r>
                <a:r>
                  <a:rPr lang="en-IN" sz="2400">
                    <a:solidFill>
                      <a:srgbClr val="111827"/>
                    </a:solidFill>
                    <a:latin typeface="Cambria Math" panose="02040503050406030204" pitchFamily="18" charset="0"/>
                  </a:rPr>
                  <a:t>$51$</a:t>
                </a:r>
                <a:r>
                  <a:rPr sz="2400" b="0">
                    <a:solidFill>
                      <a:srgbClr val="111827"/>
                    </a:solidFill>
                    <a:latin typeface="Arial"/>
                  </a:rPr>
                  <a:t> odd and </a:t>
                </a:r>
                <a:r>
                  <a:rPr lang="en-IN" sz="2400">
                    <a:solidFill>
                      <a:srgbClr val="111827"/>
                    </a:solidFill>
                    <a:latin typeface="Cambria Math" panose="02040503050406030204" pitchFamily="18" charset="0"/>
                  </a:rPr>
                  <a:t>$50$</a:t>
                </a:r>
                <a:r>
                  <a:rPr sz="2400" b="0">
                    <a:solidFill>
                      <a:srgbClr val="111827"/>
                    </a:solidFill>
                    <a:latin typeface="Arial"/>
                  </a:rPr>
                  <a:t> even numbers.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 of ways </a:t>
                </a:r>
                <a:r>
                  <a:rPr lang="en-IN" sz="2400">
                    <a:solidFill>
                      <a:srgbClr val="111827"/>
                    </a:solidFill>
                    <a:latin typeface="Cambria Math" panose="02040503050406030204" pitchFamily="18" charset="0"/>
                  </a:rPr>
                  <a:t>$={}^{51}C_2+{}^{50}C_2=1275+1225=2500$</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2500</a:t>
            </a:r>
            <a:endParaRPr sz="2800">
              <a:solidFill>
                <a:srgbClr val="15803D"/>
              </a:solidFill>
            </a:endParaRP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Fix the common ratio </a:t>
                </a:r>
                <a14:m>
                  <m:oMath xmlns:m="http://schemas.openxmlformats.org/officeDocument/2006/math">
                    <m:sSup>
                      <m:e>
                        <m:r>
                          <a:rPr lang="en-IN" sz="2400" i="1">
                            <a:solidFill>
                              <a:srgbClr val="78350F"/>
                            </a:solidFill>
                            <a:latin typeface="Cambria Math" panose="02040503050406030204" pitchFamily="18" charset="0"/>
                          </a:rPr>
                          <m:t>3</m:t>
                        </m:r>
                      </m:e>
                      <m:sup>
                        <m:r>
                          <a:rPr lang="en-IN" sz="2400" i="1">
                            <a:solidFill>
                              <a:srgbClr val="78350F"/>
                            </a:solidFill>
                            <a:latin typeface="Cambria Math" panose="02040503050406030204" pitchFamily="18" charset="0"/>
                          </a:rPr>
                          <m:t>𝑑</m:t>
                        </m:r>
                      </m:sup>
                    </m:sSup>
                  </m:oMath>
                </a14:m>
                <a:r>
                  <a:rPr sz="2400" b="0">
                    <a:solidFill>
                      <a:srgbClr val="78350F"/>
                    </a:solidFill>
                    <a:latin typeface="Arial"/>
                  </a:rPr>
                  <a:t> and count the possible first terms.</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Fix the common ratio </a:t>
                </a:r>
                <a:r>
                  <a:rPr lang="en-IN" sz="2400">
                    <a:solidFill>
                      <a:srgbClr val="78350F"/>
                    </a:solidFill>
                    <a:latin typeface="Cambria Math" panose="02040503050406030204" pitchFamily="18" charset="0"/>
                  </a:rPr>
                  <a:t>$3^d$</a:t>
                </a:r>
                <a:r>
                  <a:rPr sz="2400" b="0">
                    <a:solidFill>
                      <a:srgbClr val="78350F"/>
                    </a:solidFill>
                    <a:latin typeface="Arial"/>
                  </a:rPr>
                  <a:t> and count the possible first terms.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G.P. </a:t>
                </a:r>
                <a14:m>
                  <m:oMath xmlns:m="http://schemas.openxmlformats.org/officeDocument/2006/math">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𝑎</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𝑑</m:t>
                        </m:r>
                      </m:sup>
                    </m:sSup>
                  </m:oMath>
                </a14:m>
                <a:r>
                  <a:rPr sz="2400" b="0">
                    <a:solidFill>
                      <a:srgbClr val="111827"/>
                    </a:solidFill>
                    <a:latin typeface="Arial"/>
                  </a:rPr>
                  <a:t> has common ratio </a:t>
                </a:r>
                <a14:m>
                  <m:oMath xmlns:m="http://schemas.openxmlformats.org/officeDocument/2006/math">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𝑑</m:t>
                        </m:r>
                      </m:sup>
                    </m:sSup>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(the numbers are increasing and distinct).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exponents must fit 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101</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𝑎</m:t>
                    </m:r>
                  </m:oMath>
                </a14:m>
                <a:r>
                  <a:rPr sz="2400" b="0">
                    <a:solidFill>
                      <a:srgbClr val="111827"/>
                    </a:solidFill>
                    <a:latin typeface="Arial"/>
                  </a:rPr>
                  <a:t> has </a:t>
                </a:r>
                <a14:m>
                  <m:oMath xmlns:m="http://schemas.openxmlformats.org/officeDocument/2006/math">
                    <m:r>
                      <a:rPr lang="en-IN" sz="2400" i="1">
                        <a:solidFill>
                          <a:srgbClr val="111827"/>
                        </a:solidFill>
                        <a:latin typeface="Cambria Math" panose="02040503050406030204" pitchFamily="18" charset="0"/>
                      </a:rPr>
                      <m:t>101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𝑑</m:t>
                    </m:r>
                  </m:oMath>
                </a14:m>
                <a:r>
                  <a:rPr sz="2400" b="0">
                    <a:solidFill>
                      <a:srgbClr val="111827"/>
                    </a:solidFill>
                    <a:latin typeface="Arial"/>
                  </a:rPr>
                  <a:t> choices, for </a:t>
                </a:r>
                <a14:m>
                  <m:oMath xmlns:m="http://schemas.openxmlformats.org/officeDocument/2006/math">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14:m>
                  <m:oMath xmlns:m="http://schemas.openxmlformats.org/officeDocument/2006/math">
                    <m:r>
                      <m:rPr>
                        <m:sty m:val="p"/>
                      </m:rPr>
                      <a:rPr lang="en-IN" sz="2400">
                        <a:solidFill>
                          <a:srgbClr val="111827"/>
                        </a:solidFill>
                        <a:latin typeface="Cambria Math" panose="02040503050406030204" pitchFamily="18" charset="0"/>
                      </a:rPr>
                      <m:t>=</m:t>
                    </m:r>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50</m:t>
                        </m:r>
                      </m:sup>
                      <m:e>
                        <m:r>
                          <m:rPr>
                            <m:sty m:val="p"/>
                          </m:rPr>
                          <a:rPr lang="en-IN" sz="2400">
                            <a:solidFill>
                              <a:srgbClr val="111827"/>
                            </a:solidFill>
                            <a:latin typeface="Cambria Math" panose="02040503050406030204" pitchFamily="18" charset="0"/>
                          </a:rPr>
                          <m:t>(</m:t>
                        </m:r>
                      </m:e>
                    </m:nary>
                    <m:r>
                      <a:rPr lang="en-IN" sz="2400" i="1">
                        <a:solidFill>
                          <a:srgbClr val="111827"/>
                        </a:solidFill>
                        <a:latin typeface="Cambria Math" panose="02040503050406030204" pitchFamily="18" charset="0"/>
                      </a:rPr>
                      <m:t>101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5050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2550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2500</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G.P. </a:t>
                </a:r>
                <a:r>
                  <a:rPr lang="en-IN" sz="2400">
                    <a:solidFill>
                      <a:srgbClr val="111827"/>
                    </a:solidFill>
                    <a:latin typeface="Cambria Math" panose="02040503050406030204" pitchFamily="18" charset="0"/>
                  </a:rPr>
                  <a:t>$3^a,3^{a+d},3^{a+2d}$</a:t>
                </a:r>
                <a:r>
                  <a:rPr sz="2400" b="0">
                    <a:solidFill>
                      <a:srgbClr val="111827"/>
                    </a:solidFill>
                    <a:latin typeface="Arial"/>
                  </a:rPr>
                  <a:t> has common ratio </a:t>
                </a:r>
                <a:r>
                  <a:rPr lang="en-IN" sz="2400">
                    <a:solidFill>
                      <a:srgbClr val="111827"/>
                    </a:solidFill>
                    <a:latin typeface="Cambria Math" panose="02040503050406030204" pitchFamily="18" charset="0"/>
                  </a:rPr>
                  <a:t>$3^d$</a:t>
                </a:r>
                <a:r>
                  <a:rPr sz="2400" b="0">
                    <a:solidFill>
                      <a:srgbClr val="111827"/>
                    </a:solidFill>
                    <a:latin typeface="Arial"/>
                  </a:rPr>
                  <a:t> with </a:t>
                </a:r>
                <a:r>
                  <a:rPr lang="en-IN" sz="2400">
                    <a:solidFill>
                      <a:srgbClr val="111827"/>
                    </a:solidFill>
                    <a:latin typeface="Cambria Math" panose="02040503050406030204" pitchFamily="18" charset="0"/>
                  </a:rPr>
                  <a:t>$d\ge1$</a:t>
                </a:r>
                <a:r>
                  <a:rPr sz="2400" b="0">
                    <a:solidFill>
                      <a:srgbClr val="111827"/>
                    </a:solidFill>
                    <a:latin typeface="Arial"/>
                  </a:rPr>
                  <a:t> (the numbers are increasing and distinct).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exponents must fit in </a:t>
                </a:r>
                <a:r>
                  <a:rPr lang="en-IN" sz="2400">
                    <a:solidFill>
                      <a:srgbClr val="111827"/>
                    </a:solidFill>
                    <a:latin typeface="Cambria Math" panose="02040503050406030204" pitchFamily="18" charset="0"/>
                  </a:rPr>
                  <a:t>$\{1,\dots,101\}$</a:t>
                </a:r>
                <a:r>
                  <a:rPr sz="2400" b="0">
                    <a:solidFill>
                      <a:srgbClr val="111827"/>
                    </a:solidFill>
                    <a:latin typeface="Arial"/>
                  </a:rPr>
                  <a:t>: </a:t>
                </a:r>
                <a:r>
                  <a:rPr lang="en-IN" sz="2400">
                    <a:solidFill>
                      <a:srgbClr val="111827"/>
                    </a:solidFill>
                    <a:latin typeface="Cambria Math" panose="02040503050406030204" pitchFamily="18" charset="0"/>
                  </a:rPr>
                  <a:t>$1\le a$</a:t>
                </a:r>
                <a:r>
                  <a:rPr sz="2400" b="0">
                    <a:solidFill>
                      <a:srgbClr val="111827"/>
                    </a:solidFill>
                    <a:latin typeface="Arial"/>
                  </a:rPr>
                  <a:t> and </a:t>
                </a:r>
                <a:r>
                  <a:rPr lang="en-IN" sz="2400">
                    <a:solidFill>
                      <a:srgbClr val="111827"/>
                    </a:solidFill>
                    <a:latin typeface="Cambria Math" panose="02040503050406030204" pitchFamily="18" charset="0"/>
                  </a:rPr>
                  <a:t>$a+2d\le101$</a:t>
                </a:r>
                <a:r>
                  <a:rPr sz="2400" b="0">
                    <a:solidFill>
                      <a:srgbClr val="111827"/>
                    </a:solidFill>
                    <a:latin typeface="Arial"/>
                  </a:rPr>
                  <a:t>, so </a:t>
                </a:r>
                <a:r>
                  <a:rPr lang="en-IN" sz="2400">
                    <a:solidFill>
                      <a:srgbClr val="111827"/>
                    </a:solidFill>
                    <a:latin typeface="Cambria Math" panose="02040503050406030204" pitchFamily="18" charset="0"/>
                  </a:rPr>
                  <a:t>$a$</a:t>
                </a:r>
                <a:r>
                  <a:rPr sz="2400" b="0">
                    <a:solidFill>
                      <a:srgbClr val="111827"/>
                    </a:solidFill>
                    <a:latin typeface="Arial"/>
                  </a:rPr>
                  <a:t> has </a:t>
                </a:r>
                <a:r>
                  <a:rPr lang="en-IN" sz="2400">
                    <a:solidFill>
                      <a:srgbClr val="111827"/>
                    </a:solidFill>
                    <a:latin typeface="Cambria Math" panose="02040503050406030204" pitchFamily="18" charset="0"/>
                  </a:rPr>
                  <a:t>$101-2d$</a:t>
                </a:r>
                <a:r>
                  <a:rPr sz="2400" b="0">
                    <a:solidFill>
                      <a:srgbClr val="111827"/>
                    </a:solidFill>
                    <a:latin typeface="Arial"/>
                  </a:rPr>
                  <a:t> choices, for </a:t>
                </a:r>
                <a:r>
                  <a:rPr lang="en-IN" sz="2400">
                    <a:solidFill>
                      <a:srgbClr val="111827"/>
                    </a:solidFill>
                    <a:latin typeface="Cambria Math" panose="02040503050406030204" pitchFamily="18" charset="0"/>
                  </a:rPr>
                  <a:t>$d=1,2,\dots,50$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r>
                  <a:rPr lang="en-IN" sz="2400">
                    <a:solidFill>
                      <a:srgbClr val="111827"/>
                    </a:solidFill>
                    <a:latin typeface="Cambria Math" panose="02040503050406030204" pitchFamily="18" charset="0"/>
                  </a:rPr>
                  <a:t>$=\sum_{d=1}^{50}(101-2d)=50\cdot101-2\cdot\dfrac{50\cdot51}{2}=5050-2550=2500$</a:t>
                </a:r>
                <a:r>
                  <a:rPr sz="2400" b="0">
                    <a:solidFill>
                      <a:srgbClr val="111827"/>
                    </a:solidFill>
                    <a:latin typeface="Arial"/>
                  </a:rPr>
                  <a:t>.</a:t>
                </a:r>
                <a:endParaRPr sz="2400">
                  <a:solidFill>
                    <a:srgbClr val="111827"/>
                  </a:solidFill>
                </a:endParaRPr>
              </a:p>
            </p:txBody>
          </p:sp>
        </mc:Fallback>
      </mc:AlternateContent>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2500</a:t>
            </a:r>
            <a:endParaRPr sz="2800">
              <a:solidFill>
                <a:srgbClr val="15803D"/>
              </a:solidFill>
            </a:endParaRP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Powers </a:t>
                </a:r>
                <a14:m>
                  <m:oMath xmlns:m="http://schemas.openxmlformats.org/officeDocument/2006/math">
                    <m:sSup>
                      <m:e>
                        <m:r>
                          <a:rPr lang="en-IN" sz="2400" i="1">
                            <a:solidFill>
                              <a:srgbClr val="111827"/>
                            </a:solidFill>
                            <a:latin typeface="Cambria Math" panose="02040503050406030204" pitchFamily="18" charset="0"/>
                          </a:rPr>
                          <m:t>𝑝</m:t>
                        </m:r>
                      </m:e>
                      <m:sup>
                        <m:r>
                          <a:rPr lang="en-IN" sz="2400" i="1">
                            <a:solidFill>
                              <a:srgbClr val="111827"/>
                            </a:solidFill>
                            <a:latin typeface="Cambria Math" panose="02040503050406030204" pitchFamily="18" charset="0"/>
                          </a:rPr>
                          <m:t>𝑎</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𝑝</m:t>
                        </m:r>
                      </m:e>
                      <m:sup>
                        <m:r>
                          <a:rPr lang="en-IN" sz="2400" i="1">
                            <a:solidFill>
                              <a:srgbClr val="111827"/>
                            </a:solidFill>
                            <a:latin typeface="Cambria Math" panose="02040503050406030204" pitchFamily="18" charset="0"/>
                          </a:rPr>
                          <m:t>𝑏</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𝑝</m:t>
                        </m:r>
                      </m:e>
                      <m:sup>
                        <m:r>
                          <a:rPr lang="en-IN" sz="2400" i="1">
                            <a:solidFill>
                              <a:srgbClr val="111827"/>
                            </a:solidFill>
                            <a:latin typeface="Cambria Math" panose="02040503050406030204" pitchFamily="18" charset="0"/>
                          </a:rPr>
                          <m:t>𝑐</m:t>
                        </m:r>
                      </m:sup>
                    </m:sSup>
                  </m:oMath>
                </a14:m>
                <a:r>
                  <a:rPr sz="2400" b="0">
                    <a:solidFill>
                      <a:srgbClr val="111827"/>
                    </a:solidFill>
                    <a:latin typeface="Arial"/>
                  </a:rPr>
                  <a:t> are in G.P. iff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 are in A.P.: logarithms turn a G.P. into an A.P.</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 of A.P. triples 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den>
                        </m:f>
                      </m:e>
                    </m:d>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101</m:t>
                    </m:r>
                  </m:oMath>
                </a14:m>
                <a:r>
                  <a:rPr sz="2400" b="0">
                    <a:solidFill>
                      <a:srgbClr val="111827"/>
                    </a:solidFill>
                    <a:latin typeface="Arial"/>
                  </a:rPr>
                  <a:t> this is </a:t>
                </a:r>
                <a14:m>
                  <m:oMath xmlns:m="http://schemas.openxmlformats.org/officeDocument/2006/math">
                    <m:r>
                      <a:rPr lang="en-IN" sz="2400" i="1">
                        <a:solidFill>
                          <a:srgbClr val="111827"/>
                        </a:solidFill>
                        <a:latin typeface="Cambria Math" panose="02040503050406030204" pitchFamily="18" charset="0"/>
                      </a:rPr>
                      <m:t>2500</m:t>
                    </m:r>
                  </m:oMath>
                </a14:m>
                <a:r>
                  <a:rPr sz="2400" b="0">
                    <a:solidFill>
                      <a:srgbClr val="111827"/>
                    </a:solidFill>
                    <a:latin typeface="Arial"/>
                  </a:rPr>
                  <a:t>, and in general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4</m:t>
                            </m:r>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14:m>
                  <m:oMath xmlns:m="http://schemas.openxmlformats.org/officeDocument/2006/math">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triples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give </a:t>
                </a:r>
                <a14:m>
                  <m:oMath xmlns:m="http://schemas.openxmlformats.org/officeDocument/2006/math">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Powers </a:t>
                </a:r>
                <a:r>
                  <a:rPr lang="en-IN" sz="2400">
                    <a:solidFill>
                      <a:srgbClr val="111827"/>
                    </a:solidFill>
                    <a:latin typeface="Cambria Math" panose="02040503050406030204" pitchFamily="18" charset="0"/>
                  </a:rPr>
                  <a:t>$p^{a},p^{b},p^{c}$</a:t>
                </a:r>
                <a:r>
                  <a:rPr sz="2400" b="0">
                    <a:solidFill>
                      <a:srgbClr val="111827"/>
                    </a:solidFill>
                    <a:latin typeface="Arial"/>
                  </a:rPr>
                  <a:t> are in G.P. iff </a:t>
                </a:r>
                <a:r>
                  <a:rPr lang="en-IN" sz="2400">
                    <a:solidFill>
                      <a:srgbClr val="111827"/>
                    </a:solidFill>
                    <a:latin typeface="Cambria Math" panose="02040503050406030204" pitchFamily="18" charset="0"/>
                  </a:rPr>
                  <a:t>$a,b,c$</a:t>
                </a:r>
                <a:r>
                  <a:rPr sz="2400" b="0">
                    <a:solidFill>
                      <a:srgbClr val="111827"/>
                    </a:solidFill>
                    <a:latin typeface="Arial"/>
                  </a:rPr>
                  <a:t> are in A.P.: logarithms turn a G.P. into an A.P.</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 of A.P. triples in </a:t>
                </a:r>
                <a:r>
                  <a:rPr lang="en-IN" sz="2400">
                    <a:solidFill>
                      <a:srgbClr val="111827"/>
                    </a:solidFill>
                    <a:latin typeface="Cambria Math" panose="02040503050406030204" pitchFamily="18" charset="0"/>
                  </a:rPr>
                  <a:t>$\{1,\dots,N\}$</a:t>
                </a:r>
                <a:r>
                  <a:rPr sz="2400" b="0">
                    <a:solidFill>
                      <a:srgbClr val="111827"/>
                    </a:solidFill>
                    <a:latin typeface="Arial"/>
                  </a:rPr>
                  <a:t>: </a:t>
                </a:r>
                <a:r>
                  <a:rPr lang="en-IN" sz="2400">
                    <a:solidFill>
                      <a:srgbClr val="111827"/>
                    </a:solidFill>
                    <a:latin typeface="Cambria Math" panose="02040503050406030204" pitchFamily="18" charset="0"/>
                  </a:rPr>
                  <a:t>$\binom{\lceil N/2\rceil}{2}+\binom{\lfloor N/2\rfloor}{2}$</a:t>
                </a:r>
                <a:r>
                  <a:rPr sz="2400" b="0">
                    <a:solidFill>
                      <a:srgbClr val="111827"/>
                    </a:solidFill>
                    <a:latin typeface="Arial"/>
                  </a:rPr>
                  <a:t>; for </a:t>
                </a:r>
                <a:r>
                  <a:rPr lang="en-IN" sz="2400">
                    <a:solidFill>
                      <a:srgbClr val="111827"/>
                    </a:solidFill>
                    <a:latin typeface="Cambria Math" panose="02040503050406030204" pitchFamily="18" charset="0"/>
                  </a:rPr>
                  <a:t>$N=101$</a:t>
                </a:r>
                <a:r>
                  <a:rPr sz="2400" b="0">
                    <a:solidFill>
                      <a:srgbClr val="111827"/>
                    </a:solidFill>
                    <a:latin typeface="Arial"/>
                  </a:rPr>
                  <a:t> this is </a:t>
                </a:r>
                <a:r>
                  <a:rPr lang="en-IN" sz="2400">
                    <a:solidFill>
                      <a:srgbClr val="111827"/>
                    </a:solidFill>
                    <a:latin typeface="Cambria Math" panose="02040503050406030204" pitchFamily="18" charset="0"/>
                  </a:rPr>
                  <a:t>$2500$</a:t>
                </a:r>
                <a:r>
                  <a:rPr sz="2400" b="0">
                    <a:solidFill>
                      <a:srgbClr val="111827"/>
                    </a:solidFill>
                    <a:latin typeface="Arial"/>
                  </a:rPr>
                  <a:t>, and in general </a:t>
                </a:r>
                <a:r>
                  <a:rPr lang="en-IN" sz="2400">
                    <a:solidFill>
                      <a:srgbClr val="111827"/>
                    </a:solidFill>
                    <a:latin typeface="Cambria Math" panose="02040503050406030204" pitchFamily="18" charset="0"/>
                  </a:rPr>
                  <a:t>$\left\lfloor\frac{(N-1)^2}{4}\right\rfloor$</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r>
                  <a:rPr lang="en-IN" sz="2400">
                    <a:solidFill>
                      <a:srgbClr val="111827"/>
                    </a:solidFill>
                    <a:latin typeface="Cambria Math" panose="02040503050406030204" pitchFamily="18" charset="0"/>
                  </a:rPr>
                  <a:t>$N=5$</a:t>
                </a:r>
                <a:r>
                  <a:rPr sz="2400" b="0">
                    <a:solidFill>
                      <a:srgbClr val="111827"/>
                    </a:solidFill>
                    <a:latin typeface="Arial"/>
                  </a:rPr>
                  <a:t>: triples </a:t>
                </a:r>
                <a:r>
                  <a:rPr lang="en-IN" sz="2400">
                    <a:solidFill>
                      <a:srgbClr val="111827"/>
                    </a:solidFill>
                    <a:latin typeface="Cambria Math" panose="02040503050406030204" pitchFamily="18" charset="0"/>
                  </a:rPr>
                  <a:t>$(1,2,3),(2,3,4),(3,4,5),(1,3,5)$</a:t>
                </a:r>
                <a:r>
                  <a:rPr sz="2400" b="0">
                    <a:solidFill>
                      <a:srgbClr val="111827"/>
                    </a:solidFill>
                    <a:latin typeface="Arial"/>
                  </a:rPr>
                  <a:t> give </a:t>
                </a:r>
                <a:r>
                  <a:rPr lang="en-IN" sz="2400">
                    <a:solidFill>
                      <a:srgbClr val="111827"/>
                    </a:solidFill>
                    <a:latin typeface="Cambria Math" panose="02040503050406030204" pitchFamily="18" charset="0"/>
                  </a:rPr>
                  <a:t>$4=\lfloor16/4\rfloor$</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37997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For each positive integer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 let </a:t>
                </a:r>
                <a14:m>
                  <m:oMath xmlns:m="http://schemas.openxmlformats.org/officeDocument/2006/math">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𝑘</m:t>
                        </m:r>
                      </m:sub>
                    </m:sSub>
                  </m:oMath>
                </a14:m>
                <a:r>
                  <a:rPr sz="2400" b="0">
                    <a:solidFill>
                      <a:srgbClr val="111827"/>
                    </a:solidFill>
                    <a:latin typeface="Arial"/>
                  </a:rPr>
                  <a:t> denote the increasing arithmetic sequence of integers whose first term is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and whose common difference is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 (for example </a:t>
                </a:r>
                <a14:m>
                  <m:oMath xmlns:m="http://schemas.openxmlformats.org/officeDocument/2006/math">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3</m:t>
                        </m:r>
                      </m:sub>
                    </m:sSub>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Find the number of values of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 for which </a:t>
                </a:r>
                <a14:m>
                  <m:oMath xmlns:m="http://schemas.openxmlformats.org/officeDocument/2006/math">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𝑘</m:t>
                        </m:r>
                      </m:sub>
                    </m:sSub>
                  </m:oMath>
                </a14:m>
                <a:r>
                  <a:rPr sz="2400" b="0">
                    <a:solidFill>
                      <a:srgbClr val="111827"/>
                    </a:solidFill>
                    <a:latin typeface="Arial"/>
                  </a:rPr>
                  <a:t> contains the term </a:t>
                </a:r>
                <a14:m>
                  <m:oMath xmlns:m="http://schemas.openxmlformats.org/officeDocument/2006/math">
                    <m:r>
                      <a:rPr lang="en-IN" sz="2400" i="1">
                        <a:solidFill>
                          <a:srgbClr val="111827"/>
                        </a:solidFill>
                        <a:latin typeface="Cambria Math" panose="02040503050406030204" pitchFamily="18" charset="0"/>
                      </a:rPr>
                      <m:t>361</m:t>
                    </m:r>
                  </m:oMath>
                </a14:m>
                <a:r>
                  <a:rPr sz="2400" b="0">
                    <a:solidFill>
                      <a:srgbClr val="111827"/>
                    </a:solidFill>
                    <a:latin typeface="Arial"/>
                  </a:rPr>
                  <a:t>.</a:t>
                </a:r>
                <a:endParaRPr sz="2400">
                  <a:solidFill>
                    <a:srgbClr val="111827"/>
                  </a:solidFill>
                </a:endParaRPr>
              </a:p>
            </p:txBody>
          </p:sp>
        </mc:Choice>
        <mc:Fallback>
          <p:sp>
            <p:nvSpPr>
              <p:cNvPr id="4" name="Rounded Rectangle 3"/>
              <p:cNvSpPr/>
              <p:nvPr/>
            </p:nvSpPr>
            <p:spPr>
              <a:xfrm>
                <a:off x="731520" y="1280160"/>
                <a:ext cx="10725912" cy="237997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For each positive integer </a:t>
                </a:r>
                <a:r>
                  <a:rPr lang="en-IN" sz="2400">
                    <a:solidFill>
                      <a:srgbClr val="111827"/>
                    </a:solidFill>
                    <a:latin typeface="Cambria Math" panose="02040503050406030204" pitchFamily="18" charset="0"/>
                  </a:rPr>
                  <a:t>$k$</a:t>
                </a:r>
                <a:r>
                  <a:rPr sz="2400" b="0">
                    <a:solidFill>
                      <a:srgbClr val="111827"/>
                    </a:solidFill>
                    <a:latin typeface="Arial"/>
                  </a:rPr>
                  <a:t>, let </a:t>
                </a:r>
                <a:r>
                  <a:rPr lang="en-IN" sz="2400">
                    <a:solidFill>
                      <a:srgbClr val="111827"/>
                    </a:solidFill>
                    <a:latin typeface="Cambria Math" panose="02040503050406030204" pitchFamily="18" charset="0"/>
                  </a:rPr>
                  <a:t>$S_k$</a:t>
                </a:r>
                <a:r>
                  <a:rPr sz="2400" b="0">
                    <a:solidFill>
                      <a:srgbClr val="111827"/>
                    </a:solidFill>
                    <a:latin typeface="Arial"/>
                  </a:rPr>
                  <a:t> denote the increasing arithmetic sequence of integers whose first term is </a:t>
                </a:r>
                <a:r>
                  <a:rPr lang="en-IN" sz="2400">
                    <a:solidFill>
                      <a:srgbClr val="111827"/>
                    </a:solidFill>
                    <a:latin typeface="Cambria Math" panose="02040503050406030204" pitchFamily="18" charset="0"/>
                  </a:rPr>
                  <a:t>$1$</a:t>
                </a:r>
                <a:r>
                  <a:rPr sz="2400" b="0">
                    <a:solidFill>
                      <a:srgbClr val="111827"/>
                    </a:solidFill>
                    <a:latin typeface="Arial"/>
                  </a:rPr>
                  <a:t> and whose common difference is </a:t>
                </a:r>
                <a:r>
                  <a:rPr lang="en-IN" sz="2400">
                    <a:solidFill>
                      <a:srgbClr val="111827"/>
                    </a:solidFill>
                    <a:latin typeface="Cambria Math" panose="02040503050406030204" pitchFamily="18" charset="0"/>
                  </a:rPr>
                  <a:t>$k$</a:t>
                </a:r>
                <a:r>
                  <a:rPr sz="2400" b="0">
                    <a:solidFill>
                      <a:srgbClr val="111827"/>
                    </a:solidFill>
                    <a:latin typeface="Arial"/>
                  </a:rPr>
                  <a:t> (for example </a:t>
                </a:r>
                <a:r>
                  <a:rPr lang="en-IN" sz="2400">
                    <a:solidFill>
                      <a:srgbClr val="111827"/>
                    </a:solidFill>
                    <a:latin typeface="Cambria Math" panose="02040503050406030204" pitchFamily="18" charset="0"/>
                  </a:rPr>
                  <a:t>$S_3$</a:t>
                </a:r>
                <a:r>
                  <a:rPr sz="2400" b="0">
                    <a:solidFill>
                      <a:srgbClr val="111827"/>
                    </a:solidFill>
                    <a:latin typeface="Arial"/>
                  </a:rPr>
                  <a:t> is </a:t>
                </a:r>
                <a:r>
                  <a:rPr lang="en-IN" sz="2400">
                    <a:solidFill>
                      <a:srgbClr val="111827"/>
                    </a:solidFill>
                    <a:latin typeface="Cambria Math" panose="02040503050406030204" pitchFamily="18" charset="0"/>
                  </a:rPr>
                  <a:t>$1,4,7,10,\dots$</a:t>
                </a:r>
                <a:r>
                  <a:rPr sz="2400" b="0">
                    <a:solidFill>
                      <a:srgbClr val="111827"/>
                    </a:solidFill>
                    <a:latin typeface="Arial"/>
                  </a:rPr>
                  <a:t>). Find the number of values of </a:t>
                </a:r>
                <a:r>
                  <a:rPr lang="en-IN" sz="2400">
                    <a:solidFill>
                      <a:srgbClr val="111827"/>
                    </a:solidFill>
                    <a:latin typeface="Cambria Math" panose="02040503050406030204" pitchFamily="18" charset="0"/>
                  </a:rPr>
                  <a:t>$k$</a:t>
                </a:r>
                <a:r>
                  <a:rPr sz="2400" b="0">
                    <a:solidFill>
                      <a:srgbClr val="111827"/>
                    </a:solidFill>
                    <a:latin typeface="Arial"/>
                  </a:rPr>
                  <a:t> for which </a:t>
                </a:r>
                <a:r>
                  <a:rPr lang="en-IN" sz="2400">
                    <a:solidFill>
                      <a:srgbClr val="111827"/>
                    </a:solidFill>
                    <a:latin typeface="Cambria Math" panose="02040503050406030204" pitchFamily="18" charset="0"/>
                  </a:rPr>
                  <a:t>$S_k$</a:t>
                </a:r>
                <a:r>
                  <a:rPr sz="2400" b="0">
                    <a:solidFill>
                      <a:srgbClr val="111827"/>
                    </a:solidFill>
                    <a:latin typeface="Arial"/>
                  </a:rPr>
                  <a:t> contains the term </a:t>
                </a:r>
                <a:r>
                  <a:rPr lang="en-IN" sz="2400">
                    <a:solidFill>
                      <a:srgbClr val="111827"/>
                    </a:solidFill>
                    <a:latin typeface="Cambria Math" panose="02040503050406030204" pitchFamily="18" charset="0"/>
                  </a:rPr>
                  <a:t>$361$</a:t>
                </a:r>
                <a:r>
                  <a:rPr sz="2400" b="0">
                    <a:solidFill>
                      <a:srgbClr val="111827"/>
                    </a:solidFill>
                    <a:latin typeface="Arial"/>
                  </a:rPr>
                  <a:t>.</a:t>
                </a:r>
                <a:endParaRPr sz="2400">
                  <a:solidFill>
                    <a:srgbClr val="111827"/>
                  </a:solidFill>
                </a:endParaRPr>
              </a:p>
            </p:txBody>
          </p:sp>
        </mc:Fallback>
      </mc:AlternateContent>
      <p:sp>
        <p:nvSpPr>
          <p:cNvPr id="5" name="Rectangle 4"/>
          <p:cNvSpPr/>
          <p:nvPr/>
        </p:nvSpPr>
        <p:spPr>
          <a:xfrm>
            <a:off x="731520" y="3888739"/>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Counting divisors and arithmetic progression terms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r>
                      <a:rPr lang="en-IN" sz="2400" i="1">
                        <a:solidFill>
                          <a:srgbClr val="78350F"/>
                        </a:solidFill>
                        <a:latin typeface="Cambria Math" panose="02040503050406030204" pitchFamily="18" charset="0"/>
                      </a:rPr>
                      <m:t>361</m:t>
                    </m:r>
                  </m:oMath>
                </a14:m>
                <a:r>
                  <a:rPr sz="2400" b="0">
                    <a:solidFill>
                      <a:srgbClr val="78350F"/>
                    </a:solidFill>
                    <a:latin typeface="Arial"/>
                  </a:rPr>
                  <a:t> is a term iff </a:t>
                </a:r>
                <a14:m>
                  <m:oMath xmlns:m="http://schemas.openxmlformats.org/officeDocument/2006/math">
                    <m:r>
                      <a:rPr lang="en-IN" sz="2400" i="1">
                        <a:solidFill>
                          <a:srgbClr val="78350F"/>
                        </a:solidFill>
                        <a:latin typeface="Cambria Math" panose="02040503050406030204" pitchFamily="18" charset="0"/>
                      </a:rPr>
                      <m:t>𝑘</m:t>
                    </m:r>
                  </m:oMath>
                </a14:m>
                <a:r>
                  <a:rPr sz="2400" b="0">
                    <a:solidFill>
                      <a:srgbClr val="78350F"/>
                    </a:solidFill>
                    <a:latin typeface="Arial"/>
                  </a:rPr>
                  <a:t> divides </a:t>
                </a:r>
                <a14:m>
                  <m:oMath xmlns:m="http://schemas.openxmlformats.org/officeDocument/2006/math">
                    <m:r>
                      <a:rPr lang="en-IN" sz="2400" i="1">
                        <a:solidFill>
                          <a:srgbClr val="78350F"/>
                        </a:solidFill>
                        <a:latin typeface="Cambria Math" panose="02040503050406030204" pitchFamily="18" charset="0"/>
                      </a:rPr>
                      <m:t>360</m:t>
                    </m:r>
                  </m:oMath>
                </a14:m>
                <a:r>
                  <a:rPr sz="2400" b="0">
                    <a:solidFill>
                      <a:srgbClr val="78350F"/>
                    </a:solidFill>
                    <a:latin typeface="Arial"/>
                  </a:rPr>
                  <a:t>, so count the positive divisors of </a:t>
                </a:r>
                <a14:m>
                  <m:oMath xmlns:m="http://schemas.openxmlformats.org/officeDocument/2006/math">
                    <m:r>
                      <a:rPr lang="en-IN" sz="2400" i="1">
                        <a:solidFill>
                          <a:srgbClr val="78350F"/>
                        </a:solidFill>
                        <a:latin typeface="Cambria Math" panose="02040503050406030204" pitchFamily="18" charset="0"/>
                      </a:rPr>
                      <m:t>360</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$361$</a:t>
                </a:r>
                <a:r>
                  <a:rPr sz="2400" b="0">
                    <a:solidFill>
                      <a:srgbClr val="78350F"/>
                    </a:solidFill>
                    <a:latin typeface="Arial"/>
                  </a:rPr>
                  <a:t> is a term iff </a:t>
                </a:r>
                <a:r>
                  <a:rPr lang="en-IN" sz="2400">
                    <a:solidFill>
                      <a:srgbClr val="78350F"/>
                    </a:solidFill>
                    <a:latin typeface="Cambria Math" panose="02040503050406030204" pitchFamily="18" charset="0"/>
                  </a:rPr>
                  <a:t>$k$</a:t>
                </a:r>
                <a:r>
                  <a:rPr sz="2400" b="0">
                    <a:solidFill>
                      <a:srgbClr val="78350F"/>
                    </a:solidFill>
                    <a:latin typeface="Arial"/>
                  </a:rPr>
                  <a:t> divides </a:t>
                </a:r>
                <a:r>
                  <a:rPr lang="en-IN" sz="2400">
                    <a:solidFill>
                      <a:srgbClr val="78350F"/>
                    </a:solidFill>
                    <a:latin typeface="Cambria Math" panose="02040503050406030204" pitchFamily="18" charset="0"/>
                  </a:rPr>
                  <a:t>$360$</a:t>
                </a:r>
                <a:r>
                  <a:rPr sz="2400" b="0">
                    <a:solidFill>
                      <a:srgbClr val="78350F"/>
                    </a:solidFill>
                    <a:latin typeface="Arial"/>
                  </a:rPr>
                  <a:t>, so count the positive divisors of </a:t>
                </a:r>
                <a:r>
                  <a:rPr lang="en-IN" sz="2400">
                    <a:solidFill>
                      <a:srgbClr val="78350F"/>
                    </a:solidFill>
                    <a:latin typeface="Cambria Math" panose="02040503050406030204" pitchFamily="18" charset="0"/>
                  </a:rPr>
                  <a:t>$360$</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-th term is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361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360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 must be a positive divisor of </a:t>
                </a:r>
                <a14:m>
                  <m:oMath xmlns:m="http://schemas.openxmlformats.org/officeDocument/2006/math">
                    <m:r>
                      <a:rPr lang="en-IN" sz="2400" i="1">
                        <a:solidFill>
                          <a:srgbClr val="111827"/>
                        </a:solidFill>
                        <a:latin typeface="Cambria Math" panose="02040503050406030204" pitchFamily="18" charset="0"/>
                      </a:rPr>
                      <m:t>360</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Distribute the three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's between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4</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ways.</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a:t>
                </a:r>
                <a:r>
                  <a:rPr lang="en-IN" sz="2400">
                    <a:solidFill>
                      <a:srgbClr val="111827"/>
                    </a:solidFill>
                    <a:latin typeface="Cambria Math" panose="02040503050406030204" pitchFamily="18" charset="0"/>
                  </a:rPr>
                  <a:t>$n$</a:t>
                </a:r>
                <a:r>
                  <a:rPr sz="2400" b="0">
                    <a:solidFill>
                      <a:srgbClr val="111827"/>
                    </a:solidFill>
                    <a:latin typeface="Arial"/>
                  </a:rPr>
                  <a:t>-th term is </a:t>
                </a:r>
                <a:r>
                  <a:rPr lang="en-IN" sz="2400">
                    <a:solidFill>
                      <a:srgbClr val="111827"/>
                    </a:solidFill>
                    <a:latin typeface="Cambria Math" panose="02040503050406030204" pitchFamily="18" charset="0"/>
                  </a:rPr>
                  <a:t>$a+(n-1)d$</a:t>
                </a:r>
                <a:r>
                  <a:rPr sz="2400" b="0">
                    <a:solidFill>
                      <a:srgbClr val="111827"/>
                    </a:solidFill>
                    <a:latin typeface="Arial"/>
                  </a:rPr>
                  <a:t>; </a:t>
                </a:r>
                <a:r>
                  <a:rPr lang="en-IN" sz="2400">
                    <a:solidFill>
                      <a:srgbClr val="111827"/>
                    </a:solidFill>
                    <a:latin typeface="Cambria Math" panose="02040503050406030204" pitchFamily="18" charset="0"/>
                  </a:rPr>
                  <a:t>$361=1+(n-1)k$</a:t>
                </a:r>
                <a:r>
                  <a:rPr sz="2400" b="0">
                    <a:solidFill>
                      <a:srgbClr val="111827"/>
                    </a:solidFill>
                    <a:latin typeface="Arial"/>
                  </a:rPr>
                  <a:t>, so </a:t>
                </a:r>
                <a:r>
                  <a:rPr lang="en-IN" sz="2400">
                    <a:solidFill>
                      <a:srgbClr val="111827"/>
                    </a:solidFill>
                    <a:latin typeface="Cambria Math" panose="02040503050406030204" pitchFamily="18" charset="0"/>
                  </a:rPr>
                  <a:t>$360=(n-1)k$</a:t>
                </a:r>
                <a:r>
                  <a:rPr sz="2400" b="0">
                    <a:solidFill>
                      <a:srgbClr val="111827"/>
                    </a:solidFill>
                    <a:latin typeface="Arial"/>
                  </a:rPr>
                  <a:t> with </a:t>
                </a:r>
                <a:r>
                  <a:rPr lang="en-IN" sz="2400">
                    <a:solidFill>
                      <a:srgbClr val="111827"/>
                    </a:solidFill>
                    <a:latin typeface="Cambria Math" panose="02040503050406030204" pitchFamily="18" charset="0"/>
                  </a:rPr>
                  <a:t>$n-1\ge1$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$k$</a:t>
                </a:r>
                <a:r>
                  <a:rPr sz="2400" b="0">
                    <a:solidFill>
                      <a:srgbClr val="111827"/>
                    </a:solidFill>
                    <a:latin typeface="Arial"/>
                  </a:rPr>
                  <a:t> must be a positive divisor of </a:t>
                </a:r>
                <a:r>
                  <a:rPr lang="en-IN" sz="2400">
                    <a:solidFill>
                      <a:srgbClr val="111827"/>
                    </a:solidFill>
                    <a:latin typeface="Cambria Math" panose="02040503050406030204" pitchFamily="18" charset="0"/>
                  </a:rPr>
                  <a:t>$360=2^3\cdot3^2\cdot5$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Distribute the three </a:t>
                </a:r>
                <a:r>
                  <a:rPr lang="en-IN" sz="2400">
                    <a:solidFill>
                      <a:srgbClr val="111827"/>
                    </a:solidFill>
                    <a:latin typeface="Cambria Math" panose="02040503050406030204" pitchFamily="18" charset="0"/>
                  </a:rPr>
                  <a:t>$2$</a:t>
                </a:r>
                <a:r>
                  <a:rPr sz="2400" b="0">
                    <a:solidFill>
                      <a:srgbClr val="111827"/>
                    </a:solidFill>
                    <a:latin typeface="Arial"/>
                  </a:rPr>
                  <a:t>'s between </a:t>
                </a:r>
                <a:r>
                  <a:rPr lang="en-IN" sz="2400">
                    <a:solidFill>
                      <a:srgbClr val="111827"/>
                    </a:solidFill>
                    <a:latin typeface="Cambria Math" panose="02040503050406030204" pitchFamily="18" charset="0"/>
                  </a:rPr>
                  <a:t>$(n-1)$</a:t>
                </a:r>
                <a:r>
                  <a:rPr sz="2400" b="0">
                    <a:solidFill>
                      <a:srgbClr val="111827"/>
                    </a:solidFill>
                    <a:latin typeface="Arial"/>
                  </a:rPr>
                  <a:t> and </a:t>
                </a:r>
                <a:r>
                  <a:rPr lang="en-IN" sz="2400">
                    <a:solidFill>
                      <a:srgbClr val="111827"/>
                    </a:solidFill>
                    <a:latin typeface="Cambria Math" panose="02040503050406030204" pitchFamily="18" charset="0"/>
                  </a:rPr>
                  <a:t>$k$</a:t>
                </a:r>
                <a:r>
                  <a:rPr sz="2400" b="0">
                    <a:solidFill>
                      <a:srgbClr val="111827"/>
                    </a:solidFill>
                    <a:latin typeface="Arial"/>
                  </a:rPr>
                  <a:t>: </a:t>
                </a:r>
                <a:r>
                  <a:rPr lang="en-IN" sz="2400">
                    <a:solidFill>
                      <a:srgbClr val="111827"/>
                    </a:solidFill>
                    <a:latin typeface="Cambria Math" panose="02040503050406030204" pitchFamily="18" charset="0"/>
                  </a:rPr>
                  <a:t>${}^{3+2-1}C_{2-1}={}^4C_1=4$</a:t>
                </a:r>
                <a:r>
                  <a:rPr sz="2400" b="0">
                    <a:solidFill>
                      <a:srgbClr val="111827"/>
                    </a:solidFill>
                    <a:latin typeface="Arial"/>
                  </a:rPr>
                  <a:t> ways.</a:t>
                </a:r>
                <a:endParaRPr sz="2400">
                  <a:solidFill>
                    <a:srgbClr val="111827"/>
                  </a:solidFill>
                </a:endParaRPr>
              </a:p>
            </p:txBody>
          </p:sp>
        </mc:Fallback>
      </mc:AlternateContent>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Similarly for the two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's: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ways; for the single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ways.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ways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oMath>
                </a14:m>
                <a:r>
                  <a:rPr sz="2400" b="0">
                    <a:solidFill>
                      <a:srgbClr val="111827"/>
                    </a:solidFill>
                    <a:latin typeface="Arial"/>
                  </a:rPr>
                  <a:t>, so there are </a:t>
                </a:r>
                <a14:m>
                  <m:oMath xmlns:m="http://schemas.openxmlformats.org/officeDocument/2006/math">
                    <m:r>
                      <a:rPr lang="en-IN" sz="2400" i="1">
                        <a:solidFill>
                          <a:srgbClr val="111827"/>
                        </a:solidFill>
                        <a:latin typeface="Cambria Math" panose="02040503050406030204" pitchFamily="18" charset="0"/>
                      </a:rPr>
                      <m:t>24</m:t>
                    </m:r>
                  </m:oMath>
                </a14:m>
                <a:r>
                  <a:rPr sz="2400" b="0">
                    <a:solidFill>
                      <a:srgbClr val="111827"/>
                    </a:solidFill>
                    <a:latin typeface="Arial"/>
                  </a:rPr>
                  <a:t> values of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Similarly for the two </a:t>
                </a:r>
                <a:r>
                  <a:rPr lang="en-IN" sz="2400">
                    <a:solidFill>
                      <a:srgbClr val="111827"/>
                    </a:solidFill>
                    <a:latin typeface="Cambria Math" panose="02040503050406030204" pitchFamily="18" charset="0"/>
                  </a:rPr>
                  <a:t>$3$</a:t>
                </a:r>
                <a:r>
                  <a:rPr sz="2400" b="0">
                    <a:solidFill>
                      <a:srgbClr val="111827"/>
                    </a:solidFill>
                    <a:latin typeface="Arial"/>
                  </a:rPr>
                  <a:t>'s: </a:t>
                </a:r>
                <a:r>
                  <a:rPr lang="en-IN" sz="2400">
                    <a:solidFill>
                      <a:srgbClr val="111827"/>
                    </a:solidFill>
                    <a:latin typeface="Cambria Math" panose="02040503050406030204" pitchFamily="18" charset="0"/>
                  </a:rPr>
                  <a:t>${}^{2+2-1}C_{2-1}={}^3C_1=3$</a:t>
                </a:r>
                <a:r>
                  <a:rPr sz="2400" b="0">
                    <a:solidFill>
                      <a:srgbClr val="111827"/>
                    </a:solidFill>
                    <a:latin typeface="Arial"/>
                  </a:rPr>
                  <a:t> ways; for the single </a:t>
                </a:r>
                <a:r>
                  <a:rPr lang="en-IN" sz="2400">
                    <a:solidFill>
                      <a:srgbClr val="111827"/>
                    </a:solidFill>
                    <a:latin typeface="Cambria Math" panose="02040503050406030204" pitchFamily="18" charset="0"/>
                  </a:rPr>
                  <a:t>$5$</a:t>
                </a:r>
                <a:r>
                  <a:rPr sz="2400" b="0">
                    <a:solidFill>
                      <a:srgbClr val="111827"/>
                    </a:solidFill>
                    <a:latin typeface="Arial"/>
                  </a:rPr>
                  <a:t>: </a:t>
                </a:r>
                <a:r>
                  <a:rPr lang="en-IN" sz="2400">
                    <a:solidFill>
                      <a:srgbClr val="111827"/>
                    </a:solidFill>
                    <a:latin typeface="Cambria Math" panose="02040503050406030204" pitchFamily="18" charset="0"/>
                  </a:rPr>
                  <a:t>${}^{1+2-1}C_{2-1}={}^2C_1=2$</a:t>
                </a:r>
                <a:r>
                  <a:rPr sz="2400" b="0">
                    <a:solidFill>
                      <a:srgbClr val="111827"/>
                    </a:solidFill>
                    <a:latin typeface="Arial"/>
                  </a:rPr>
                  <a:t> ways.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ways </a:t>
                </a:r>
                <a:r>
                  <a:rPr lang="en-IN" sz="2400">
                    <a:solidFill>
                      <a:srgbClr val="111827"/>
                    </a:solidFill>
                    <a:latin typeface="Cambria Math" panose="02040503050406030204" pitchFamily="18" charset="0"/>
                  </a:rPr>
                  <a:t>$=4\times3\times2=24$</a:t>
                </a:r>
                <a:r>
                  <a:rPr sz="2400" b="0">
                    <a:solidFill>
                      <a:srgbClr val="111827"/>
                    </a:solidFill>
                    <a:latin typeface="Arial"/>
                  </a:rPr>
                  <a:t>, so there are </a:t>
                </a:r>
                <a:r>
                  <a:rPr lang="en-IN" sz="2400">
                    <a:solidFill>
                      <a:srgbClr val="111827"/>
                    </a:solidFill>
                    <a:latin typeface="Cambria Math" panose="02040503050406030204" pitchFamily="18" charset="0"/>
                  </a:rPr>
                  <a:t>$24$</a:t>
                </a:r>
                <a:r>
                  <a:rPr sz="2400" b="0">
                    <a:solidFill>
                      <a:srgbClr val="111827"/>
                    </a:solidFill>
                    <a:latin typeface="Arial"/>
                  </a:rPr>
                  <a:t> values of </a:t>
                </a:r>
                <a:r>
                  <a:rPr lang="en-IN" sz="2400">
                    <a:solidFill>
                      <a:srgbClr val="111827"/>
                    </a:solidFill>
                    <a:latin typeface="Cambria Math" panose="02040503050406030204" pitchFamily="18" charset="0"/>
                  </a:rPr>
                  <a:t>$k$</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24</a:t>
            </a:r>
            <a:endParaRPr sz="2800">
              <a:solidFill>
                <a:srgbClr val="15803D"/>
              </a:solidFill>
            </a:endParaRP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Number of divisors of </a:t>
                </a:r>
                <a14:m>
                  <m:oMath xmlns:m="http://schemas.openxmlformats.org/officeDocument/2006/math">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Sup>
                      <m:e>
                        <m:r>
                          <a:rPr lang="en-IN" sz="2400" i="1">
                            <a:solidFill>
                              <a:srgbClr val="111827"/>
                            </a:solidFill>
                            <a:latin typeface="Cambria Math" panose="02040503050406030204" pitchFamily="18" charset="0"/>
                          </a:rPr>
                          <m:t>𝑝</m:t>
                        </m:r>
                      </m:e>
                      <m:sub>
                        <m:r>
                          <a:rPr lang="en-IN" sz="2400" i="1">
                            <a:solidFill>
                              <a:srgbClr val="111827"/>
                            </a:solidFill>
                            <a:latin typeface="Cambria Math" panose="02040503050406030204" pitchFamily="18" charset="0"/>
                          </a:rPr>
                          <m:t>𝑖</m:t>
                        </m:r>
                      </m:sub>
                      <m:sup>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𝑖</m:t>
                            </m:r>
                          </m:sub>
                        </m:sSub>
                      </m:sup>
                    </m:sSubSup>
                  </m:oMath>
                </a14:m>
                <a:r>
                  <a:rPr sz="2400" b="0">
                    <a:solidFill>
                      <a:srgbClr val="111827"/>
                    </a:solidFill>
                    <a:latin typeface="Arial"/>
                  </a:rPr>
                  <a:t> is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τ</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𝑚</m:t>
                    </m:r>
                  </m:oMath>
                </a14:m>
                <a:r>
                  <a:rPr sz="2400" b="0">
                    <a:solidFill>
                      <a:srgbClr val="111827"/>
                    </a:solidFill>
                    <a:latin typeface="Arial"/>
                  </a:rPr>
                  <a:t> is a term of the A.P.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iff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1</m:t>
                    </m:r>
                  </m:oMath>
                </a14:m>
                <a:r>
                  <a:rPr sz="2400" b="0">
                    <a:solidFill>
                      <a:srgbClr val="111827"/>
                    </a:solidFill>
                    <a:latin typeface="Arial"/>
                  </a:rPr>
                  <a:t>); the number of such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τ</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of divisors: </a:t>
                </a:r>
                <a14:m>
                  <m:oMath xmlns:m="http://schemas.openxmlformats.org/officeDocument/2006/math">
                    <m:r>
                      <a:rPr lang="en-IN" sz="2400" i="1">
                        <a:solidFill>
                          <a:srgbClr val="111827"/>
                        </a:solidFill>
                        <a:latin typeface="Cambria Math" panose="02040503050406030204" pitchFamily="18" charset="0"/>
                      </a:rPr>
                      <m:t>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bSup>
                          <m:e>
                            <m:r>
                              <a:rPr lang="en-IN" sz="2400" i="1">
                                <a:solidFill>
                                  <a:srgbClr val="111827"/>
                                </a:solidFill>
                                <a:latin typeface="Cambria Math" panose="02040503050406030204" pitchFamily="18" charset="0"/>
                              </a:rPr>
                              <m:t>𝑝</m:t>
                            </m:r>
                          </m:e>
                          <m:sub>
                            <m:r>
                              <a:rPr lang="en-IN" sz="2400" i="1">
                                <a:solidFill>
                                  <a:srgbClr val="111827"/>
                                </a:solidFill>
                                <a:latin typeface="Cambria Math" panose="02040503050406030204" pitchFamily="18" charset="0"/>
                              </a:rPr>
                              <m:t>𝑖</m:t>
                            </m:r>
                          </m:sub>
                          <m:sup>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b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sSub>
                          <m:e>
                            <m:r>
                              <a:rPr lang="en-IN" sz="2400" i="1">
                                <a:solidFill>
                                  <a:srgbClr val="111827"/>
                                </a:solidFill>
                                <a:latin typeface="Cambria Math" panose="02040503050406030204" pitchFamily="18" charset="0"/>
                              </a:rPr>
                              <m:t>𝑝</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oMath>
                </a14:m>
                <a:r>
                  <a:rPr sz="2400" b="0">
                    <a:solidFill>
                      <a:srgbClr val="111827"/>
                    </a:solidFill>
                    <a:latin typeface="Arial"/>
                  </a:rPr>
                  <a:t>; e.g. </a:t>
                </a:r>
                <a14:m>
                  <m:oMath xmlns:m="http://schemas.openxmlformats.org/officeDocument/2006/math">
                    <m:r>
                      <a:rPr lang="en-IN" sz="2400" i="1">
                        <a:solidFill>
                          <a:srgbClr val="111827"/>
                        </a:solidFill>
                        <a:latin typeface="Cambria Math" panose="02040503050406030204" pitchFamily="18" charset="0"/>
                      </a:rPr>
                      <m:t>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1170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Number of divisors of </a:t>
                </a:r>
                <a:r>
                  <a:rPr lang="en-IN" sz="2400">
                    <a:solidFill>
                      <a:srgbClr val="111827"/>
                    </a:solidFill>
                    <a:latin typeface="Cambria Math" panose="02040503050406030204" pitchFamily="18" charset="0"/>
                  </a:rPr>
                  <a:t>$N=\prod p_i^{a_i}$</a:t>
                </a:r>
                <a:r>
                  <a:rPr sz="2400" b="0">
                    <a:solidFill>
                      <a:srgbClr val="111827"/>
                    </a:solidFill>
                    <a:latin typeface="Arial"/>
                  </a:rPr>
                  <a:t> is </a:t>
                </a:r>
                <a:r>
                  <a:rPr lang="en-IN" sz="2400">
                    <a:solidFill>
                      <a:srgbClr val="111827"/>
                    </a:solidFill>
                    <a:latin typeface="Cambria Math" panose="02040503050406030204" pitchFamily="18" charset="0"/>
                  </a:rPr>
                  <a:t>$\prod(a_i+1)$</a:t>
                </a:r>
                <a:r>
                  <a:rPr sz="2400" b="0">
                    <a:solidFill>
                      <a:srgbClr val="111827"/>
                    </a:solidFill>
                    <a:latin typeface="Arial"/>
                  </a:rPr>
                  <a:t>: </a:t>
                </a:r>
                <a:r>
                  <a:rPr lang="en-IN" sz="2400">
                    <a:solidFill>
                      <a:srgbClr val="111827"/>
                    </a:solidFill>
                    <a:latin typeface="Cambria Math" panose="02040503050406030204" pitchFamily="18" charset="0"/>
                  </a:rPr>
                  <a:t>$\tau(360)=4\cdot3\cdot2=24$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$m$</a:t>
                </a:r>
                <a:r>
                  <a:rPr sz="2400" b="0">
                    <a:solidFill>
                      <a:srgbClr val="111827"/>
                    </a:solidFill>
                    <a:latin typeface="Arial"/>
                  </a:rPr>
                  <a:t> is a term of the A.P. </a:t>
                </a:r>
                <a:r>
                  <a:rPr lang="en-IN" sz="2400">
                    <a:solidFill>
                      <a:srgbClr val="111827"/>
                    </a:solidFill>
                    <a:latin typeface="Cambria Math" panose="02040503050406030204" pitchFamily="18" charset="0"/>
                  </a:rPr>
                  <a:t>$1,\,1+k,\,1+2k,\dots$</a:t>
                </a:r>
                <a:r>
                  <a:rPr sz="2400" b="0">
                    <a:solidFill>
                      <a:srgbClr val="111827"/>
                    </a:solidFill>
                    <a:latin typeface="Arial"/>
                  </a:rPr>
                  <a:t> iff </a:t>
                </a:r>
                <a:r>
                  <a:rPr lang="en-IN" sz="2400">
                    <a:solidFill>
                      <a:srgbClr val="111827"/>
                    </a:solidFill>
                    <a:latin typeface="Cambria Math" panose="02040503050406030204" pitchFamily="18" charset="0"/>
                  </a:rPr>
                  <a:t>$k\mid(m-1)$</a:t>
                </a:r>
                <a:r>
                  <a:rPr sz="2400" b="0">
                    <a:solidFill>
                      <a:srgbClr val="111827"/>
                    </a:solidFill>
                    <a:latin typeface="Arial"/>
                  </a:rPr>
                  <a:t> (for </a:t>
                </a:r>
                <a:r>
                  <a:rPr lang="en-IN" sz="2400">
                    <a:solidFill>
                      <a:srgbClr val="111827"/>
                    </a:solidFill>
                    <a:latin typeface="Cambria Math" panose="02040503050406030204" pitchFamily="18" charset="0"/>
                  </a:rPr>
                  <a:t>$m&gt;1$</a:t>
                </a:r>
                <a:r>
                  <a:rPr sz="2400" b="0">
                    <a:solidFill>
                      <a:srgbClr val="111827"/>
                    </a:solidFill>
                    <a:latin typeface="Arial"/>
                  </a:rPr>
                  <a:t>); the number of such </a:t>
                </a:r>
                <a:r>
                  <a:rPr lang="en-IN" sz="2400">
                    <a:solidFill>
                      <a:srgbClr val="111827"/>
                    </a:solidFill>
                    <a:latin typeface="Cambria Math" panose="02040503050406030204" pitchFamily="18" charset="0"/>
                  </a:rPr>
                  <a:t>$k$</a:t>
                </a:r>
                <a:r>
                  <a:rPr sz="2400" b="0">
                    <a:solidFill>
                      <a:srgbClr val="111827"/>
                    </a:solidFill>
                    <a:latin typeface="Arial"/>
                  </a:rPr>
                  <a:t> is </a:t>
                </a:r>
                <a:r>
                  <a:rPr lang="en-IN" sz="2400">
                    <a:solidFill>
                      <a:srgbClr val="111827"/>
                    </a:solidFill>
                    <a:latin typeface="Cambria Math" panose="02040503050406030204" pitchFamily="18" charset="0"/>
                  </a:rPr>
                  <a:t>$\tau(m-1)$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of divisors: </a:t>
                </a:r>
                <a:r>
                  <a:rPr lang="en-IN" sz="2400">
                    <a:solidFill>
                      <a:srgbClr val="111827"/>
                    </a:solidFill>
                    <a:latin typeface="Cambria Math" panose="02040503050406030204" pitchFamily="18" charset="0"/>
                  </a:rPr>
                  <a:t>$\sigma(N)=\prod\frac{p_i^{a_i+1}-1}{p_i-1}$</a:t>
                </a:r>
                <a:r>
                  <a:rPr sz="2400" b="0">
                    <a:solidFill>
                      <a:srgbClr val="111827"/>
                    </a:solidFill>
                    <a:latin typeface="Arial"/>
                  </a:rPr>
                  <a:t>; e.g. </a:t>
                </a:r>
                <a:r>
                  <a:rPr lang="en-IN" sz="2400">
                    <a:solidFill>
                      <a:srgbClr val="111827"/>
                    </a:solidFill>
                    <a:latin typeface="Cambria Math" panose="02040503050406030204" pitchFamily="18" charset="0"/>
                  </a:rPr>
                  <a:t>$\sigma(360)=15\cdot13\cdot6=1170$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37997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A shop sells </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 different flavours of ice-cream. In how many ways can a customer choose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ice-cream cones if (i) they are all of different flavours (ii) they are not necessarily of different flavours (iii) they contain only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different flavours (iv) they contain only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different flavours?</a:t>
                </a:r>
                <a:endParaRPr sz="2400">
                  <a:solidFill>
                    <a:srgbClr val="111827"/>
                  </a:solidFill>
                </a:endParaRPr>
              </a:p>
            </p:txBody>
          </p:sp>
        </mc:Choice>
        <mc:Fallback>
          <p:sp>
            <p:nvSpPr>
              <p:cNvPr id="4" name="Rounded Rectangle 3"/>
              <p:cNvSpPr/>
              <p:nvPr/>
            </p:nvSpPr>
            <p:spPr>
              <a:xfrm>
                <a:off x="731520" y="1280160"/>
                <a:ext cx="10725912" cy="237997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A shop sells </a:t>
                </a:r>
                <a:r>
                  <a:rPr lang="en-IN" sz="2400">
                    <a:solidFill>
                      <a:srgbClr val="111827"/>
                    </a:solidFill>
                    <a:latin typeface="Cambria Math" panose="02040503050406030204" pitchFamily="18" charset="0"/>
                  </a:rPr>
                  <a:t>$6$</a:t>
                </a:r>
                <a:r>
                  <a:rPr sz="2400" b="0">
                    <a:solidFill>
                      <a:srgbClr val="111827"/>
                    </a:solidFill>
                    <a:latin typeface="Arial"/>
                  </a:rPr>
                  <a:t> different flavours of ice-cream. In how many ways can a customer choose </a:t>
                </a:r>
                <a:r>
                  <a:rPr lang="en-IN" sz="2400">
                    <a:solidFill>
                      <a:srgbClr val="111827"/>
                    </a:solidFill>
                    <a:latin typeface="Cambria Math" panose="02040503050406030204" pitchFamily="18" charset="0"/>
                  </a:rPr>
                  <a:t>$4$</a:t>
                </a:r>
                <a:r>
                  <a:rPr sz="2400" b="0">
                    <a:solidFill>
                      <a:srgbClr val="111827"/>
                    </a:solidFill>
                    <a:latin typeface="Arial"/>
                  </a:rPr>
                  <a:t> ice-cream cones if (i) they are all of different flavours (ii) they are not necessarily of different flavours (iii) they contain only </a:t>
                </a:r>
                <a:r>
                  <a:rPr lang="en-IN" sz="2400">
                    <a:solidFill>
                      <a:srgbClr val="111827"/>
                    </a:solidFill>
                    <a:latin typeface="Cambria Math" panose="02040503050406030204" pitchFamily="18" charset="0"/>
                  </a:rPr>
                  <a:t>$3$</a:t>
                </a:r>
                <a:r>
                  <a:rPr sz="2400" b="0">
                    <a:solidFill>
                      <a:srgbClr val="111827"/>
                    </a:solidFill>
                    <a:latin typeface="Arial"/>
                  </a:rPr>
                  <a:t> different flavours (iv) they contain only </a:t>
                </a:r>
                <a:r>
                  <a:rPr lang="en-IN" sz="2400">
                    <a:solidFill>
                      <a:srgbClr val="111827"/>
                    </a:solidFill>
                    <a:latin typeface="Cambria Math" panose="02040503050406030204" pitchFamily="18" charset="0"/>
                  </a:rPr>
                  <a:t>$2$</a:t>
                </a:r>
                <a:r>
                  <a:rPr sz="2400" b="0">
                    <a:solidFill>
                      <a:srgbClr val="111827"/>
                    </a:solidFill>
                    <a:latin typeface="Arial"/>
                  </a:rPr>
                  <a:t> or </a:t>
                </a:r>
                <a:r>
                  <a:rPr lang="en-IN" sz="2400">
                    <a:solidFill>
                      <a:srgbClr val="111827"/>
                    </a:solidFill>
                    <a:latin typeface="Cambria Math" panose="02040503050406030204" pitchFamily="18" charset="0"/>
                  </a:rPr>
                  <a:t>$3$</a:t>
                </a:r>
                <a:r>
                  <a:rPr sz="2400" b="0">
                    <a:solidFill>
                      <a:srgbClr val="111827"/>
                    </a:solidFill>
                    <a:latin typeface="Arial"/>
                  </a:rPr>
                  <a:t> different flavours?</a:t>
                </a:r>
                <a:endParaRPr sz="2400">
                  <a:solidFill>
                    <a:srgbClr val="111827"/>
                  </a:solidFill>
                </a:endParaRPr>
              </a:p>
            </p:txBody>
          </p:sp>
        </mc:Fallback>
      </mc:AlternateContent>
      <p:sp>
        <p:nvSpPr>
          <p:cNvPr id="5" name="Rectangle 4"/>
          <p:cNvSpPr/>
          <p:nvPr/>
        </p:nvSpPr>
        <p:spPr>
          <a:xfrm>
            <a:off x="731520" y="3888739"/>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Selection with repetition (identical items, distinct flavours)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Cones of the same flavour are identical, so a choice is a multiset; classify by the number of distinct flavours used.</a:t>
            </a:r>
            <a:endParaRPr sz="24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 All different flavours: choose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of the </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 flavours: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6</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4</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(ii) Case by number of different flavours: all four different: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6</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4</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Exactly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different flavours: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𝐵</m:t>
                    </m:r>
                  </m:oMath>
                </a14:m>
                <a:r>
                  <a:rPr sz="2400" b="0">
                    <a:solidFill>
                      <a:srgbClr val="111827"/>
                    </a:solidFill>
                    <a:latin typeface="Arial"/>
                  </a:rPr>
                  <a:t> gives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6</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m:t>
                    </m:r>
                  </m:oMath>
                </a14:m>
                <a:r>
                  <a:rPr sz="2400" b="0">
                    <a:solidFill>
                      <a:srgbClr val="111827"/>
                    </a:solidFill>
                    <a:latin typeface="Arial"/>
                  </a:rPr>
                  <a:t>, total </a:t>
                </a:r>
                <a14:m>
                  <m:oMath xmlns:m="http://schemas.openxmlformats.org/officeDocument/2006/math">
                    <m:r>
                      <a:rPr lang="en-IN" sz="2400" i="1">
                        <a:solidFill>
                          <a:srgbClr val="111827"/>
                        </a:solidFill>
                        <a:latin typeface="Cambria Math" panose="02040503050406030204" pitchFamily="18" charset="0"/>
                      </a:rPr>
                      <m:t>45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Exactly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different flavours: </a:t>
                </a:r>
                <a14:m>
                  <m:oMath xmlns:m="http://schemas.openxmlformats.org/officeDocument/2006/math">
                    <m:r>
                      <a:rPr lang="en-IN" sz="2400" i="1">
                        <a:solidFill>
                          <a:srgbClr val="111827"/>
                        </a:solidFill>
                        <a:latin typeface="Cambria Math" panose="02040503050406030204" pitchFamily="18" charset="0"/>
                      </a:rPr>
                      <m:t>60</m:t>
                    </m:r>
                  </m:oMath>
                </a14:m>
                <a:r>
                  <a:rPr sz="2400" b="0">
                    <a:solidFill>
                      <a:srgbClr val="111827"/>
                    </a:solidFill>
                    <a:latin typeface="Arial"/>
                  </a:rPr>
                  <a:t> (see (iii)); exactly one flavour: </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 Total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126</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 All different flavours: choose </a:t>
                </a:r>
                <a:r>
                  <a:rPr lang="en-IN" sz="2400">
                    <a:solidFill>
                      <a:srgbClr val="111827"/>
                    </a:solidFill>
                    <a:latin typeface="Cambria Math" panose="02040503050406030204" pitchFamily="18" charset="0"/>
                  </a:rPr>
                  <a:t>$4$</a:t>
                </a:r>
                <a:r>
                  <a:rPr sz="2400" b="0">
                    <a:solidFill>
                      <a:srgbClr val="111827"/>
                    </a:solidFill>
                    <a:latin typeface="Arial"/>
                  </a:rPr>
                  <a:t> of the </a:t>
                </a:r>
                <a:r>
                  <a:rPr lang="en-IN" sz="2400">
                    <a:solidFill>
                      <a:srgbClr val="111827"/>
                    </a:solidFill>
                    <a:latin typeface="Cambria Math" panose="02040503050406030204" pitchFamily="18" charset="0"/>
                  </a:rPr>
                  <a:t>$6$</a:t>
                </a:r>
                <a:r>
                  <a:rPr sz="2400" b="0">
                    <a:solidFill>
                      <a:srgbClr val="111827"/>
                    </a:solidFill>
                    <a:latin typeface="Arial"/>
                  </a:rPr>
                  <a:t> flavours: </a:t>
                </a:r>
                <a:r>
                  <a:rPr lang="en-IN" sz="2400">
                    <a:solidFill>
                      <a:srgbClr val="111827"/>
                    </a:solidFill>
                    <a:latin typeface="Cambria Math" panose="02040503050406030204" pitchFamily="18" charset="0"/>
                  </a:rPr>
                  <a:t>${}^6C_4=15$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(ii) Case by number of different flavours: all four different: </a:t>
                </a:r>
                <a:r>
                  <a:rPr lang="en-IN" sz="2400">
                    <a:solidFill>
                      <a:srgbClr val="111827"/>
                    </a:solidFill>
                    <a:latin typeface="Cambria Math" panose="02040503050406030204" pitchFamily="18" charset="0"/>
                  </a:rPr>
                  <a:t>${}^6C_4=15$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Exactly </a:t>
                </a:r>
                <a:r>
                  <a:rPr lang="en-IN" sz="2400">
                    <a:solidFill>
                      <a:srgbClr val="111827"/>
                    </a:solidFill>
                    <a:latin typeface="Cambria Math" panose="02040503050406030204" pitchFamily="18" charset="0"/>
                  </a:rPr>
                  <a:t>$2$</a:t>
                </a:r>
                <a:r>
                  <a:rPr sz="2400" b="0">
                    <a:solidFill>
                      <a:srgbClr val="111827"/>
                    </a:solidFill>
                    <a:latin typeface="Arial"/>
                  </a:rPr>
                  <a:t> different flavours: </a:t>
                </a:r>
                <a:r>
                  <a:rPr lang="en-IN" sz="2400">
                    <a:solidFill>
                      <a:srgbClr val="111827"/>
                    </a:solidFill>
                    <a:latin typeface="Cambria Math" panose="02040503050406030204" pitchFamily="18" charset="0"/>
                  </a:rPr>
                  <a:t>$AABB$</a:t>
                </a:r>
                <a:r>
                  <a:rPr sz="2400" b="0">
                    <a:solidFill>
                      <a:srgbClr val="111827"/>
                    </a:solidFill>
                    <a:latin typeface="Arial"/>
                  </a:rPr>
                  <a:t> gives </a:t>
                </a:r>
                <a:r>
                  <a:rPr lang="en-IN" sz="2400">
                    <a:solidFill>
                      <a:srgbClr val="111827"/>
                    </a:solidFill>
                    <a:latin typeface="Cambria Math" panose="02040503050406030204" pitchFamily="18" charset="0"/>
                  </a:rPr>
                  <a:t>${}^6C_2=15$</a:t>
                </a:r>
                <a:r>
                  <a:rPr sz="2400" b="0">
                    <a:solidFill>
                      <a:srgbClr val="111827"/>
                    </a:solidFill>
                    <a:latin typeface="Arial"/>
                  </a:rPr>
                  <a:t> and </a:t>
                </a:r>
                <a:r>
                  <a:rPr lang="en-IN" sz="2400">
                    <a:solidFill>
                      <a:srgbClr val="111827"/>
                    </a:solidFill>
                    <a:latin typeface="Cambria Math" panose="02040503050406030204" pitchFamily="18" charset="0"/>
                  </a:rPr>
                  <a:t>$AAAB$</a:t>
                </a:r>
                <a:r>
                  <a:rPr sz="2400" b="0">
                    <a:solidFill>
                      <a:srgbClr val="111827"/>
                    </a:solidFill>
                    <a:latin typeface="Arial"/>
                  </a:rPr>
                  <a:t> gives </a:t>
                </a:r>
                <a:r>
                  <a:rPr lang="en-IN" sz="2400">
                    <a:solidFill>
                      <a:srgbClr val="111827"/>
                    </a:solidFill>
                    <a:latin typeface="Cambria Math" panose="02040503050406030204" pitchFamily="18" charset="0"/>
                  </a:rPr>
                  <a:t>$6\times5=30$</a:t>
                </a:r>
                <a:r>
                  <a:rPr sz="2400" b="0">
                    <a:solidFill>
                      <a:srgbClr val="111827"/>
                    </a:solidFill>
                    <a:latin typeface="Arial"/>
                  </a:rPr>
                  <a:t>, total </a:t>
                </a:r>
                <a:r>
                  <a:rPr lang="en-IN" sz="2400">
                    <a:solidFill>
                      <a:srgbClr val="111827"/>
                    </a:solidFill>
                    <a:latin typeface="Cambria Math" panose="02040503050406030204" pitchFamily="18" charset="0"/>
                  </a:rPr>
                  <a:t>$45$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Exactly </a:t>
                </a:r>
                <a:r>
                  <a:rPr lang="en-IN" sz="2400">
                    <a:solidFill>
                      <a:srgbClr val="111827"/>
                    </a:solidFill>
                    <a:latin typeface="Cambria Math" panose="02040503050406030204" pitchFamily="18" charset="0"/>
                  </a:rPr>
                  <a:t>$3$</a:t>
                </a:r>
                <a:r>
                  <a:rPr sz="2400" b="0">
                    <a:solidFill>
                      <a:srgbClr val="111827"/>
                    </a:solidFill>
                    <a:latin typeface="Arial"/>
                  </a:rPr>
                  <a:t> different flavours: </a:t>
                </a:r>
                <a:r>
                  <a:rPr lang="en-IN" sz="2400">
                    <a:solidFill>
                      <a:srgbClr val="111827"/>
                    </a:solidFill>
                    <a:latin typeface="Cambria Math" panose="02040503050406030204" pitchFamily="18" charset="0"/>
                  </a:rPr>
                  <a:t>$60$</a:t>
                </a:r>
                <a:r>
                  <a:rPr sz="2400" b="0">
                    <a:solidFill>
                      <a:srgbClr val="111827"/>
                    </a:solidFill>
                    <a:latin typeface="Arial"/>
                  </a:rPr>
                  <a:t> (see (iii)); exactly one flavour: </a:t>
                </a:r>
                <a:r>
                  <a:rPr lang="en-IN" sz="2400">
                    <a:solidFill>
                      <a:srgbClr val="111827"/>
                    </a:solidFill>
                    <a:latin typeface="Cambria Math" panose="02040503050406030204" pitchFamily="18" charset="0"/>
                  </a:rPr>
                  <a:t>$6$</a:t>
                </a:r>
                <a:r>
                  <a:rPr sz="2400" b="0">
                    <a:solidFill>
                      <a:srgbClr val="111827"/>
                    </a:solidFill>
                    <a:latin typeface="Arial"/>
                  </a:rPr>
                  <a:t>. Total </a:t>
                </a:r>
                <a:r>
                  <a:rPr lang="en-IN" sz="2400">
                    <a:solidFill>
                      <a:srgbClr val="111827"/>
                    </a:solidFill>
                    <a:latin typeface="Cambria Math" panose="02040503050406030204" pitchFamily="18" charset="0"/>
                  </a:rPr>
                  <a:t>$=15+45+60+6=126$</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(iii) Choose the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flavours: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6</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oMath>
                </a14:m>
                <a:r>
                  <a:rPr sz="2400" b="0">
                    <a:solidFill>
                      <a:srgbClr val="111827"/>
                    </a:solidFill>
                    <a:latin typeface="Arial"/>
                  </a:rPr>
                  <a:t>, then choose which of them is repeated: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Total </a:t>
                </a:r>
                <a14:m>
                  <m:oMath xmlns:m="http://schemas.openxmlformats.org/officeDocument/2006/math">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m:t>
                    </m:r>
                  </m:oMath>
                </a14:m>
                <a:r>
                  <a:rPr sz="2400" b="0">
                    <a:solidFill>
                      <a:srgbClr val="111827"/>
                    </a:solidFill>
                    <a:latin typeface="Arial"/>
                  </a:rPr>
                  <a:t> (no arrangement needed, cones of a flavour are alike).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(iv) Exactly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flavours: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𝐵</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6</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𝐵</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6</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45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Exactly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flavours: </a:t>
                </a:r>
                <a14:m>
                  <m:oMath xmlns:m="http://schemas.openxmlformats.org/officeDocument/2006/math">
                    <m:r>
                      <a:rPr lang="en-IN" sz="2400" i="1">
                        <a:solidFill>
                          <a:srgbClr val="111827"/>
                        </a:solidFill>
                        <a:latin typeface="Cambria Math" panose="02040503050406030204" pitchFamily="18" charset="0"/>
                      </a:rPr>
                      <m:t>60</m:t>
                    </m:r>
                  </m:oMath>
                </a14:m>
                <a:r>
                  <a:rPr sz="2400" b="0">
                    <a:solidFill>
                      <a:srgbClr val="111827"/>
                    </a:solidFill>
                    <a:latin typeface="Arial"/>
                  </a:rPr>
                  <a:t> (from part (iii)).</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for (iv)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105</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(iii) Choose the </a:t>
                </a:r>
                <a:r>
                  <a:rPr lang="en-IN" sz="2400">
                    <a:solidFill>
                      <a:srgbClr val="111827"/>
                    </a:solidFill>
                    <a:latin typeface="Cambria Math" panose="02040503050406030204" pitchFamily="18" charset="0"/>
                  </a:rPr>
                  <a:t>$3$</a:t>
                </a:r>
                <a:r>
                  <a:rPr sz="2400" b="0">
                    <a:solidFill>
                      <a:srgbClr val="111827"/>
                    </a:solidFill>
                    <a:latin typeface="Arial"/>
                  </a:rPr>
                  <a:t> flavours: </a:t>
                </a:r>
                <a:r>
                  <a:rPr lang="en-IN" sz="2400">
                    <a:solidFill>
                      <a:srgbClr val="111827"/>
                    </a:solidFill>
                    <a:latin typeface="Cambria Math" panose="02040503050406030204" pitchFamily="18" charset="0"/>
                  </a:rPr>
                  <a:t>${}^6C_3=20$</a:t>
                </a:r>
                <a:r>
                  <a:rPr sz="2400" b="0">
                    <a:solidFill>
                      <a:srgbClr val="111827"/>
                    </a:solidFill>
                    <a:latin typeface="Arial"/>
                  </a:rPr>
                  <a:t>, then choose which of them is repeated: </a:t>
                </a:r>
                <a:r>
                  <a:rPr lang="en-IN" sz="2400">
                    <a:solidFill>
                      <a:srgbClr val="111827"/>
                    </a:solidFill>
                    <a:latin typeface="Cambria Math" panose="02040503050406030204" pitchFamily="18" charset="0"/>
                  </a:rPr>
                  <a:t>${}^3C_1=3$</a:t>
                </a:r>
                <a:r>
                  <a:rPr sz="2400" b="0">
                    <a:solidFill>
                      <a:srgbClr val="111827"/>
                    </a:solidFill>
                    <a:latin typeface="Arial"/>
                  </a:rPr>
                  <a:t>. Total </a:t>
                </a:r>
                <a:r>
                  <a:rPr lang="en-IN" sz="2400">
                    <a:solidFill>
                      <a:srgbClr val="111827"/>
                    </a:solidFill>
                    <a:latin typeface="Cambria Math" panose="02040503050406030204" pitchFamily="18" charset="0"/>
                  </a:rPr>
                  <a:t>$20\times3=60$</a:t>
                </a:r>
                <a:r>
                  <a:rPr sz="2400" b="0">
                    <a:solidFill>
                      <a:srgbClr val="111827"/>
                    </a:solidFill>
                    <a:latin typeface="Arial"/>
                  </a:rPr>
                  <a:t> (no arrangement needed, cones of a flavour are alike).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(iv) Exactly </a:t>
                </a:r>
                <a:r>
                  <a:rPr lang="en-IN" sz="2400">
                    <a:solidFill>
                      <a:srgbClr val="111827"/>
                    </a:solidFill>
                    <a:latin typeface="Cambria Math" panose="02040503050406030204" pitchFamily="18" charset="0"/>
                  </a:rPr>
                  <a:t>$2$</a:t>
                </a:r>
                <a:r>
                  <a:rPr sz="2400" b="0">
                    <a:solidFill>
                      <a:srgbClr val="111827"/>
                    </a:solidFill>
                    <a:latin typeface="Arial"/>
                  </a:rPr>
                  <a:t> flavours: </a:t>
                </a:r>
                <a:r>
                  <a:rPr lang="en-IN" sz="2400">
                    <a:solidFill>
                      <a:srgbClr val="111827"/>
                    </a:solidFill>
                    <a:latin typeface="Cambria Math" panose="02040503050406030204" pitchFamily="18" charset="0"/>
                  </a:rPr>
                  <a:t>$AABB$</a:t>
                </a:r>
                <a:r>
                  <a:rPr sz="2400" b="0">
                    <a:solidFill>
                      <a:srgbClr val="111827"/>
                    </a:solidFill>
                    <a:latin typeface="Arial"/>
                  </a:rPr>
                  <a:t>: </a:t>
                </a:r>
                <a:r>
                  <a:rPr lang="en-IN" sz="2400">
                    <a:solidFill>
                      <a:srgbClr val="111827"/>
                    </a:solidFill>
                    <a:latin typeface="Cambria Math" panose="02040503050406030204" pitchFamily="18" charset="0"/>
                  </a:rPr>
                  <a:t>${}^6C_2=15$</a:t>
                </a:r>
                <a:r>
                  <a:rPr sz="2400" b="0">
                    <a:solidFill>
                      <a:srgbClr val="111827"/>
                    </a:solidFill>
                    <a:latin typeface="Arial"/>
                  </a:rPr>
                  <a:t>, and </a:t>
                </a:r>
                <a:r>
                  <a:rPr lang="en-IN" sz="2400">
                    <a:solidFill>
                      <a:srgbClr val="111827"/>
                    </a:solidFill>
                    <a:latin typeface="Cambria Math" panose="02040503050406030204" pitchFamily="18" charset="0"/>
                  </a:rPr>
                  <a:t>$ABBB$</a:t>
                </a:r>
                <a:r>
                  <a:rPr sz="2400" b="0">
                    <a:solidFill>
                      <a:srgbClr val="111827"/>
                    </a:solidFill>
                    <a:latin typeface="Arial"/>
                  </a:rPr>
                  <a:t> (and </a:t>
                </a:r>
                <a:r>
                  <a:rPr lang="en-IN" sz="2400">
                    <a:solidFill>
                      <a:srgbClr val="111827"/>
                    </a:solidFill>
                    <a:latin typeface="Cambria Math" panose="02040503050406030204" pitchFamily="18" charset="0"/>
                  </a:rPr>
                  <a:t>$AAAB$</a:t>
                </a:r>
                <a:r>
                  <a:rPr sz="2400" b="0">
                    <a:solidFill>
                      <a:srgbClr val="111827"/>
                    </a:solidFill>
                    <a:latin typeface="Arial"/>
                  </a:rPr>
                  <a:t>): </a:t>
                </a:r>
                <a:r>
                  <a:rPr lang="en-IN" sz="2400">
                    <a:solidFill>
                      <a:srgbClr val="111827"/>
                    </a:solidFill>
                    <a:latin typeface="Cambria Math" panose="02040503050406030204" pitchFamily="18" charset="0"/>
                  </a:rPr>
                  <a:t>${}^6C_2\times{}^2C_1=30$</a:t>
                </a:r>
                <a:r>
                  <a:rPr sz="2400" b="0">
                    <a:solidFill>
                      <a:srgbClr val="111827"/>
                    </a:solidFill>
                    <a:latin typeface="Arial"/>
                  </a:rPr>
                  <a:t>, so </a:t>
                </a:r>
                <a:r>
                  <a:rPr lang="en-IN" sz="2400">
                    <a:solidFill>
                      <a:srgbClr val="111827"/>
                    </a:solidFill>
                    <a:latin typeface="Cambria Math" panose="02040503050406030204" pitchFamily="18" charset="0"/>
                  </a:rPr>
                  <a:t>$45$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Exactly </a:t>
                </a:r>
                <a:r>
                  <a:rPr lang="en-IN" sz="2400">
                    <a:solidFill>
                      <a:srgbClr val="111827"/>
                    </a:solidFill>
                    <a:latin typeface="Cambria Math" panose="02040503050406030204" pitchFamily="18" charset="0"/>
                  </a:rPr>
                  <a:t>$3$</a:t>
                </a:r>
                <a:r>
                  <a:rPr sz="2400" b="0">
                    <a:solidFill>
                      <a:srgbClr val="111827"/>
                    </a:solidFill>
                    <a:latin typeface="Arial"/>
                  </a:rPr>
                  <a:t> flavours: </a:t>
                </a:r>
                <a:r>
                  <a:rPr lang="en-IN" sz="2400">
                    <a:solidFill>
                      <a:srgbClr val="111827"/>
                    </a:solidFill>
                    <a:latin typeface="Cambria Math" panose="02040503050406030204" pitchFamily="18" charset="0"/>
                  </a:rPr>
                  <a:t>$60$</a:t>
                </a:r>
                <a:r>
                  <a:rPr sz="2400" b="0">
                    <a:solidFill>
                      <a:srgbClr val="111827"/>
                    </a:solidFill>
                    <a:latin typeface="Arial"/>
                  </a:rPr>
                  <a:t> (from part (iii)).</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for (iv) </a:t>
                </a:r>
                <a:r>
                  <a:rPr lang="en-IN" sz="2400">
                    <a:solidFill>
                      <a:srgbClr val="111827"/>
                    </a:solidFill>
                    <a:latin typeface="Cambria Math" panose="02040503050406030204" pitchFamily="18" charset="0"/>
                  </a:rPr>
                  <a:t>$=60+30+15=105$</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(i) </a:t>
                </a:r>
                <a14:m>
                  <m:oMath xmlns:m="http://schemas.openxmlformats.org/officeDocument/2006/math">
                    <m:r>
                      <a:rPr lang="en-IN" sz="2800" i="1">
                        <a:solidFill>
                          <a:srgbClr val="15803D"/>
                        </a:solidFill>
                        <a:latin typeface="Cambria Math" panose="02040503050406030204" pitchFamily="18" charset="0"/>
                      </a:rPr>
                      <m:t>15</m:t>
                    </m:r>
                  </m:oMath>
                </a14:m>
                <a:r>
                  <a:rPr sz="2800" b="1">
                    <a:solidFill>
                      <a:srgbClr val="15803D"/>
                    </a:solidFill>
                    <a:latin typeface="Arial"/>
                  </a:rPr>
                  <a:t> (ii) </a:t>
                </a:r>
                <a14:m>
                  <m:oMath xmlns:m="http://schemas.openxmlformats.org/officeDocument/2006/math">
                    <m:r>
                      <a:rPr lang="en-IN" sz="2800" i="1">
                        <a:solidFill>
                          <a:srgbClr val="15803D"/>
                        </a:solidFill>
                        <a:latin typeface="Cambria Math" panose="02040503050406030204" pitchFamily="18" charset="0"/>
                      </a:rPr>
                      <m:t>126</m:t>
                    </m:r>
                  </m:oMath>
                </a14:m>
                <a:r>
                  <a:rPr sz="2800" b="1">
                    <a:solidFill>
                      <a:srgbClr val="15803D"/>
                    </a:solidFill>
                    <a:latin typeface="Arial"/>
                  </a:rPr>
                  <a:t> (iii) </a:t>
                </a:r>
                <a14:m>
                  <m:oMath xmlns:m="http://schemas.openxmlformats.org/officeDocument/2006/math">
                    <m:r>
                      <a:rPr lang="en-IN" sz="2800" i="1">
                        <a:solidFill>
                          <a:srgbClr val="15803D"/>
                        </a:solidFill>
                        <a:latin typeface="Cambria Math" panose="02040503050406030204" pitchFamily="18" charset="0"/>
                      </a:rPr>
                      <m:t>60</m:t>
                    </m:r>
                  </m:oMath>
                </a14:m>
                <a:r>
                  <a:rPr sz="2800" b="1">
                    <a:solidFill>
                      <a:srgbClr val="15803D"/>
                    </a:solidFill>
                    <a:latin typeface="Arial"/>
                  </a:rPr>
                  <a:t> (iv) </a:t>
                </a:r>
                <a14:m>
                  <m:oMath xmlns:m="http://schemas.openxmlformats.org/officeDocument/2006/math">
                    <m:r>
                      <a:rPr lang="en-IN" sz="2800" i="1">
                        <a:solidFill>
                          <a:srgbClr val="15803D"/>
                        </a:solidFill>
                        <a:latin typeface="Cambria Math" panose="02040503050406030204" pitchFamily="18" charset="0"/>
                      </a:rPr>
                      <m:t>105</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(i) </a:t>
                </a:r>
                <a:r>
                  <a:rPr lang="en-IN" sz="2800">
                    <a:solidFill>
                      <a:srgbClr val="15803D"/>
                    </a:solidFill>
                    <a:latin typeface="Cambria Math" panose="02040503050406030204" pitchFamily="18" charset="0"/>
                  </a:rPr>
                  <a:t>$15$</a:t>
                </a:r>
                <a:r>
                  <a:rPr sz="2800" b="1">
                    <a:solidFill>
                      <a:srgbClr val="15803D"/>
                    </a:solidFill>
                    <a:latin typeface="Arial"/>
                  </a:rPr>
                  <a:t> (ii) </a:t>
                </a:r>
                <a:r>
                  <a:rPr lang="en-IN" sz="2800">
                    <a:solidFill>
                      <a:srgbClr val="15803D"/>
                    </a:solidFill>
                    <a:latin typeface="Cambria Math" panose="02040503050406030204" pitchFamily="18" charset="0"/>
                  </a:rPr>
                  <a:t>$126$</a:t>
                </a:r>
                <a:r>
                  <a:rPr sz="2800" b="1">
                    <a:solidFill>
                      <a:srgbClr val="15803D"/>
                    </a:solidFill>
                    <a:latin typeface="Arial"/>
                  </a:rPr>
                  <a:t> (iii) </a:t>
                </a:r>
                <a:r>
                  <a:rPr lang="en-IN" sz="2800">
                    <a:solidFill>
                      <a:srgbClr val="15803D"/>
                    </a:solidFill>
                    <a:latin typeface="Cambria Math" panose="02040503050406030204" pitchFamily="18" charset="0"/>
                  </a:rPr>
                  <a:t>$60$</a:t>
                </a:r>
                <a:r>
                  <a:rPr sz="2800" b="1">
                    <a:solidFill>
                      <a:srgbClr val="15803D"/>
                    </a:solidFill>
                    <a:latin typeface="Arial"/>
                  </a:rPr>
                  <a:t> (iv) </a:t>
                </a:r>
                <a:r>
                  <a:rPr lang="en-IN" sz="2800">
                    <a:solidFill>
                      <a:srgbClr val="15803D"/>
                    </a:solidFill>
                    <a:latin typeface="Cambria Math" panose="02040503050406030204" pitchFamily="18" charset="0"/>
                  </a:rPr>
                  <a:t>$105$</a:t>
                </a:r>
                <a:endParaRPr sz="2800">
                  <a:solidFill>
                    <a:srgbClr val="15803D"/>
                  </a:solidFill>
                </a:endParaRPr>
              </a:p>
            </p:txBody>
          </p:sp>
        </mc:Fallback>
      </mc:AlternateContent>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Stars and bars for (ii), and complement from (ii) for (iv).</a:t>
            </a:r>
            <a:endParaRPr sz="2400">
              <a:solidFill>
                <a:srgbClr val="78350F"/>
              </a:solidFill>
            </a:endParaRPr>
          </a:p>
        </p:txBody>
      </p:sp>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(ii) A choice is a solution of </a:t>
                </a:r>
                <a14:m>
                  <m:oMath xmlns:m="http://schemas.openxmlformats.org/officeDocument/2006/math">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6</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in non-negative integers (</a:t>
                </a:r>
                <a14:m>
                  <m:oMath xmlns:m="http://schemas.openxmlformats.org/officeDocument/2006/math">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Sub>
                  </m:oMath>
                </a14:m>
                <a:r>
                  <a:rPr sz="2400" b="0">
                    <a:solidFill>
                      <a:srgbClr val="111827"/>
                    </a:solidFill>
                    <a:latin typeface="Arial"/>
                  </a:rPr>
                  <a:t> = cones of flavour </a:t>
                </a:r>
                <a14:m>
                  <m:oMath xmlns:m="http://schemas.openxmlformats.org/officeDocument/2006/math">
                    <m:r>
                      <a:rPr lang="en-IN" sz="2400" i="1">
                        <a:solidFill>
                          <a:srgbClr val="111827"/>
                        </a:solidFill>
                        <a:latin typeface="Cambria Math" panose="02040503050406030204" pitchFamily="18" charset="0"/>
                      </a:rPr>
                      <m:t>𝑖</m:t>
                    </m:r>
                  </m:oMath>
                </a14:m>
                <a:r>
                  <a:rPr sz="2400" b="0">
                    <a:solidFill>
                      <a:srgbClr val="111827"/>
                    </a:solidFill>
                    <a:latin typeface="Arial"/>
                  </a:rPr>
                  <a:t>):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4</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(iv) Choices with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flavours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all choices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(exactly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flavour)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(exactly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flavours).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Exactly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flavour: </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 Exactly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flavours (all different):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num>
                          <m:den>
                            <m:r>
                              <a:rPr lang="en-IN" sz="2400" i="1">
                                <a:solidFill>
                                  <a:srgbClr val="111827"/>
                                </a:solidFill>
                                <a:latin typeface="Cambria Math" panose="02040503050406030204" pitchFamily="18" charset="0"/>
                              </a:rPr>
                              <m:t>4</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(iv)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105</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(ii) A choice is a solution of </a:t>
                </a:r>
                <a:r>
                  <a:rPr lang="en-IN" sz="2400">
                    <a:solidFill>
                      <a:srgbClr val="111827"/>
                    </a:solidFill>
                    <a:latin typeface="Cambria Math" panose="02040503050406030204" pitchFamily="18" charset="0"/>
                  </a:rPr>
                  <a:t>$x_1+x_2+\dots+x_6=4$</a:t>
                </a:r>
                <a:r>
                  <a:rPr sz="2400" b="0">
                    <a:solidFill>
                      <a:srgbClr val="111827"/>
                    </a:solidFill>
                    <a:latin typeface="Arial"/>
                  </a:rPr>
                  <a:t> in non-negative integers (</a:t>
                </a:r>
                <a:r>
                  <a:rPr lang="en-IN" sz="2400">
                    <a:solidFill>
                      <a:srgbClr val="111827"/>
                    </a:solidFill>
                    <a:latin typeface="Cambria Math" panose="02040503050406030204" pitchFamily="18" charset="0"/>
                  </a:rPr>
                  <a:t>$x_i$</a:t>
                </a:r>
                <a:r>
                  <a:rPr sz="2400" b="0">
                    <a:solidFill>
                      <a:srgbClr val="111827"/>
                    </a:solidFill>
                    <a:latin typeface="Arial"/>
                  </a:rPr>
                  <a:t> = cones of flavour </a:t>
                </a:r>
                <a:r>
                  <a:rPr lang="en-IN" sz="2400">
                    <a:solidFill>
                      <a:srgbClr val="111827"/>
                    </a:solidFill>
                    <a:latin typeface="Cambria Math" panose="02040503050406030204" pitchFamily="18" charset="0"/>
                  </a:rPr>
                  <a:t>$i$</a:t>
                </a:r>
                <a:r>
                  <a:rPr sz="2400" b="0">
                    <a:solidFill>
                      <a:srgbClr val="111827"/>
                    </a:solidFill>
                    <a:latin typeface="Arial"/>
                  </a:rPr>
                  <a:t>): </a:t>
                </a:r>
                <a:r>
                  <a:rPr lang="en-IN" sz="2400">
                    <a:solidFill>
                      <a:srgbClr val="111827"/>
                    </a:solidFill>
                    <a:latin typeface="Cambria Math" panose="02040503050406030204" pitchFamily="18" charset="0"/>
                  </a:rPr>
                  <a:t>$\binom{4+6-1}{6-1}=\binom94=126$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(iv) Choices with </a:t>
                </a:r>
                <a:r>
                  <a:rPr lang="en-IN" sz="2400">
                    <a:solidFill>
                      <a:srgbClr val="111827"/>
                    </a:solidFill>
                    <a:latin typeface="Cambria Math" panose="02040503050406030204" pitchFamily="18" charset="0"/>
                  </a:rPr>
                  <a:t>$2$</a:t>
                </a:r>
                <a:r>
                  <a:rPr sz="2400" b="0">
                    <a:solidFill>
                      <a:srgbClr val="111827"/>
                    </a:solidFill>
                    <a:latin typeface="Arial"/>
                  </a:rPr>
                  <a:t> or </a:t>
                </a:r>
                <a:r>
                  <a:rPr lang="en-IN" sz="2400">
                    <a:solidFill>
                      <a:srgbClr val="111827"/>
                    </a:solidFill>
                    <a:latin typeface="Cambria Math" panose="02040503050406030204" pitchFamily="18" charset="0"/>
                  </a:rPr>
                  <a:t>$3$</a:t>
                </a:r>
                <a:r>
                  <a:rPr sz="2400" b="0">
                    <a:solidFill>
                      <a:srgbClr val="111827"/>
                    </a:solidFill>
                    <a:latin typeface="Arial"/>
                  </a:rPr>
                  <a:t> flavours </a:t>
                </a:r>
                <a:r>
                  <a:rPr lang="en-IN" sz="2400">
                    <a:solidFill>
                      <a:srgbClr val="111827"/>
                    </a:solidFill>
                    <a:latin typeface="Cambria Math" panose="02040503050406030204" pitchFamily="18" charset="0"/>
                  </a:rPr>
                  <a:t>$=$</a:t>
                </a:r>
                <a:r>
                  <a:rPr sz="2400" b="0">
                    <a:solidFill>
                      <a:srgbClr val="111827"/>
                    </a:solidFill>
                    <a:latin typeface="Arial"/>
                  </a:rPr>
                  <a:t> all choices </a:t>
                </a:r>
                <a:r>
                  <a:rPr lang="en-IN" sz="2400">
                    <a:solidFill>
                      <a:srgbClr val="111827"/>
                    </a:solidFill>
                    <a:latin typeface="Cambria Math" panose="02040503050406030204" pitchFamily="18" charset="0"/>
                  </a:rPr>
                  <a:t>$-$</a:t>
                </a:r>
                <a:r>
                  <a:rPr sz="2400" b="0">
                    <a:solidFill>
                      <a:srgbClr val="111827"/>
                    </a:solidFill>
                    <a:latin typeface="Arial"/>
                  </a:rPr>
                  <a:t> (exactly </a:t>
                </a:r>
                <a:r>
                  <a:rPr lang="en-IN" sz="2400">
                    <a:solidFill>
                      <a:srgbClr val="111827"/>
                    </a:solidFill>
                    <a:latin typeface="Cambria Math" panose="02040503050406030204" pitchFamily="18" charset="0"/>
                  </a:rPr>
                  <a:t>$1$</a:t>
                </a:r>
                <a:r>
                  <a:rPr sz="2400" b="0">
                    <a:solidFill>
                      <a:srgbClr val="111827"/>
                    </a:solidFill>
                    <a:latin typeface="Arial"/>
                  </a:rPr>
                  <a:t> flavour) </a:t>
                </a:r>
                <a:r>
                  <a:rPr lang="en-IN" sz="2400">
                    <a:solidFill>
                      <a:srgbClr val="111827"/>
                    </a:solidFill>
                    <a:latin typeface="Cambria Math" panose="02040503050406030204" pitchFamily="18" charset="0"/>
                  </a:rPr>
                  <a:t>$-$</a:t>
                </a:r>
                <a:r>
                  <a:rPr sz="2400" b="0">
                    <a:solidFill>
                      <a:srgbClr val="111827"/>
                    </a:solidFill>
                    <a:latin typeface="Arial"/>
                  </a:rPr>
                  <a:t> (exactly </a:t>
                </a:r>
                <a:r>
                  <a:rPr lang="en-IN" sz="2400">
                    <a:solidFill>
                      <a:srgbClr val="111827"/>
                    </a:solidFill>
                    <a:latin typeface="Cambria Math" panose="02040503050406030204" pitchFamily="18" charset="0"/>
                  </a:rPr>
                  <a:t>$4$</a:t>
                </a:r>
                <a:r>
                  <a:rPr sz="2400" b="0">
                    <a:solidFill>
                      <a:srgbClr val="111827"/>
                    </a:solidFill>
                    <a:latin typeface="Arial"/>
                  </a:rPr>
                  <a:t> flavours).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Exactly </a:t>
                </a:r>
                <a:r>
                  <a:rPr lang="en-IN" sz="2400">
                    <a:solidFill>
                      <a:srgbClr val="111827"/>
                    </a:solidFill>
                    <a:latin typeface="Cambria Math" panose="02040503050406030204" pitchFamily="18" charset="0"/>
                  </a:rPr>
                  <a:t>$1$</a:t>
                </a:r>
                <a:r>
                  <a:rPr sz="2400" b="0">
                    <a:solidFill>
                      <a:srgbClr val="111827"/>
                    </a:solidFill>
                    <a:latin typeface="Arial"/>
                  </a:rPr>
                  <a:t> flavour: </a:t>
                </a:r>
                <a:r>
                  <a:rPr lang="en-IN" sz="2400">
                    <a:solidFill>
                      <a:srgbClr val="111827"/>
                    </a:solidFill>
                    <a:latin typeface="Cambria Math" panose="02040503050406030204" pitchFamily="18" charset="0"/>
                  </a:rPr>
                  <a:t>$6$</a:t>
                </a:r>
                <a:r>
                  <a:rPr sz="2400" b="0">
                    <a:solidFill>
                      <a:srgbClr val="111827"/>
                    </a:solidFill>
                    <a:latin typeface="Arial"/>
                  </a:rPr>
                  <a:t>. Exactly </a:t>
                </a:r>
                <a:r>
                  <a:rPr lang="en-IN" sz="2400">
                    <a:solidFill>
                      <a:srgbClr val="111827"/>
                    </a:solidFill>
                    <a:latin typeface="Cambria Math" panose="02040503050406030204" pitchFamily="18" charset="0"/>
                  </a:rPr>
                  <a:t>$4$</a:t>
                </a:r>
                <a:r>
                  <a:rPr sz="2400" b="0">
                    <a:solidFill>
                      <a:srgbClr val="111827"/>
                    </a:solidFill>
                    <a:latin typeface="Arial"/>
                  </a:rPr>
                  <a:t> flavours (all different): </a:t>
                </a:r>
                <a:r>
                  <a:rPr lang="en-IN" sz="2400">
                    <a:solidFill>
                      <a:srgbClr val="111827"/>
                    </a:solidFill>
                    <a:latin typeface="Cambria Math" panose="02040503050406030204" pitchFamily="18" charset="0"/>
                  </a:rPr>
                  <a:t>$\binom64=15$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(iv) </a:t>
                </a:r>
                <a:r>
                  <a:rPr lang="en-IN" sz="2400">
                    <a:solidFill>
                      <a:srgbClr val="111827"/>
                    </a:solidFill>
                    <a:latin typeface="Cambria Math" panose="02040503050406030204" pitchFamily="18" charset="0"/>
                  </a:rPr>
                  <a:t>$=126-6-15=105$</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(i) </a:t>
                </a:r>
                <a14:m>
                  <m:oMath xmlns:m="http://schemas.openxmlformats.org/officeDocument/2006/math">
                    <m:r>
                      <a:rPr lang="en-IN" sz="2800" i="1">
                        <a:solidFill>
                          <a:srgbClr val="15803D"/>
                        </a:solidFill>
                        <a:latin typeface="Cambria Math" panose="02040503050406030204" pitchFamily="18" charset="0"/>
                      </a:rPr>
                      <m:t>15</m:t>
                    </m:r>
                  </m:oMath>
                </a14:m>
                <a:r>
                  <a:rPr sz="2800" b="1">
                    <a:solidFill>
                      <a:srgbClr val="15803D"/>
                    </a:solidFill>
                    <a:latin typeface="Arial"/>
                  </a:rPr>
                  <a:t> (ii) </a:t>
                </a:r>
                <a14:m>
                  <m:oMath xmlns:m="http://schemas.openxmlformats.org/officeDocument/2006/math">
                    <m:r>
                      <a:rPr lang="en-IN" sz="2800" i="1">
                        <a:solidFill>
                          <a:srgbClr val="15803D"/>
                        </a:solidFill>
                        <a:latin typeface="Cambria Math" panose="02040503050406030204" pitchFamily="18" charset="0"/>
                      </a:rPr>
                      <m:t>126</m:t>
                    </m:r>
                  </m:oMath>
                </a14:m>
                <a:r>
                  <a:rPr sz="2800" b="1">
                    <a:solidFill>
                      <a:srgbClr val="15803D"/>
                    </a:solidFill>
                    <a:latin typeface="Arial"/>
                  </a:rPr>
                  <a:t> (iii) </a:t>
                </a:r>
                <a14:m>
                  <m:oMath xmlns:m="http://schemas.openxmlformats.org/officeDocument/2006/math">
                    <m:r>
                      <a:rPr lang="en-IN" sz="2800" i="1">
                        <a:solidFill>
                          <a:srgbClr val="15803D"/>
                        </a:solidFill>
                        <a:latin typeface="Cambria Math" panose="02040503050406030204" pitchFamily="18" charset="0"/>
                      </a:rPr>
                      <m:t>60</m:t>
                    </m:r>
                  </m:oMath>
                </a14:m>
                <a:r>
                  <a:rPr sz="2800" b="1">
                    <a:solidFill>
                      <a:srgbClr val="15803D"/>
                    </a:solidFill>
                    <a:latin typeface="Arial"/>
                  </a:rPr>
                  <a:t> (iv) </a:t>
                </a:r>
                <a14:m>
                  <m:oMath xmlns:m="http://schemas.openxmlformats.org/officeDocument/2006/math">
                    <m:r>
                      <a:rPr lang="en-IN" sz="2800" i="1">
                        <a:solidFill>
                          <a:srgbClr val="15803D"/>
                        </a:solidFill>
                        <a:latin typeface="Cambria Math" panose="02040503050406030204" pitchFamily="18" charset="0"/>
                      </a:rPr>
                      <m:t>105</m:t>
                    </m:r>
                  </m:oMath>
                </a14:m>
                <a:endParaRPr sz="2800">
                  <a:solidFill>
                    <a:srgbClr val="15803D"/>
                  </a:solidFill>
                </a:endParaRPr>
              </a:p>
            </p:txBody>
          </p:sp>
        </mc:Choice>
        <mc:Fallback>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(i) </a:t>
                </a:r>
                <a:r>
                  <a:rPr lang="en-IN" sz="2800">
                    <a:solidFill>
                      <a:srgbClr val="15803D"/>
                    </a:solidFill>
                    <a:latin typeface="Cambria Math" panose="02040503050406030204" pitchFamily="18" charset="0"/>
                  </a:rPr>
                  <a:t>$15$</a:t>
                </a:r>
                <a:r>
                  <a:rPr sz="2800" b="1">
                    <a:solidFill>
                      <a:srgbClr val="15803D"/>
                    </a:solidFill>
                    <a:latin typeface="Arial"/>
                  </a:rPr>
                  <a:t> (ii) </a:t>
                </a:r>
                <a:r>
                  <a:rPr lang="en-IN" sz="2800">
                    <a:solidFill>
                      <a:srgbClr val="15803D"/>
                    </a:solidFill>
                    <a:latin typeface="Cambria Math" panose="02040503050406030204" pitchFamily="18" charset="0"/>
                  </a:rPr>
                  <a:t>$126$</a:t>
                </a:r>
                <a:r>
                  <a:rPr sz="2800" b="1">
                    <a:solidFill>
                      <a:srgbClr val="15803D"/>
                    </a:solidFill>
                    <a:latin typeface="Arial"/>
                  </a:rPr>
                  <a:t> (iii) </a:t>
                </a:r>
                <a:r>
                  <a:rPr lang="en-IN" sz="2800">
                    <a:solidFill>
                      <a:srgbClr val="15803D"/>
                    </a:solidFill>
                    <a:latin typeface="Cambria Math" panose="02040503050406030204" pitchFamily="18" charset="0"/>
                  </a:rPr>
                  <a:t>$60$</a:t>
                </a:r>
                <a:r>
                  <a:rPr sz="2800" b="1">
                    <a:solidFill>
                      <a:srgbClr val="15803D"/>
                    </a:solidFill>
                    <a:latin typeface="Arial"/>
                  </a:rPr>
                  <a:t> (iv) </a:t>
                </a:r>
                <a:r>
                  <a:rPr lang="en-IN" sz="2800">
                    <a:solidFill>
                      <a:srgbClr val="15803D"/>
                    </a:solidFill>
                    <a:latin typeface="Cambria Math" panose="02040503050406030204" pitchFamily="18" charset="0"/>
                  </a:rPr>
                  <a:t>$105$</a:t>
                </a:r>
                <a:endParaRPr sz="2800">
                  <a:solidFill>
                    <a:srgbClr val="15803D"/>
                  </a:solidFill>
                </a:endParaRPr>
              </a:p>
            </p:txBody>
          </p:sp>
        </mc:Fallback>
      </mc:AlternateContent>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Number of multisets of size </a:t>
                </a:r>
                <a14:m>
                  <m:oMath xmlns:m="http://schemas.openxmlformats.org/officeDocument/2006/math">
                    <m:r>
                      <a:rPr lang="en-IN" sz="2400" i="1">
                        <a:solidFill>
                          <a:srgbClr val="111827"/>
                        </a:solidFill>
                        <a:latin typeface="Cambria Math" panose="02040503050406030204" pitchFamily="18" charset="0"/>
                      </a:rPr>
                      <m:t>𝑟</m:t>
                    </m:r>
                  </m:oMath>
                </a14:m>
                <a:r>
                  <a:rPr sz="2400" b="0">
                    <a:solidFill>
                      <a:srgbClr val="111827"/>
                    </a:solidFill>
                    <a:latin typeface="Arial"/>
                  </a:rPr>
                  <a:t> from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kinds: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𝑟</m:t>
                            </m:r>
                          </m:den>
                        </m:f>
                      </m:e>
                    </m:d>
                  </m:oMath>
                </a14:m>
                <a:r>
                  <a:rPr sz="2400" b="0">
                    <a:solidFill>
                      <a:srgbClr val="111827"/>
                    </a:solidFill>
                    <a:latin typeface="Arial"/>
                  </a:rPr>
                  <a:t> (non-negative solutions of </a:t>
                </a:r>
                <a14:m>
                  <m:oMath xmlns:m="http://schemas.openxmlformats.org/officeDocument/2006/math">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𝑛</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Exactly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 kinds used: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𝑘</m:t>
                            </m:r>
                          </m:den>
                        </m:f>
                      </m:e>
                    </m:d>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e>
                    </m:d>
                  </m:oMath>
                </a14:m>
                <a:r>
                  <a:rPr sz="2400" b="0">
                    <a:solidFill>
                      <a:srgbClr val="111827"/>
                    </a:solidFill>
                    <a:latin typeface="Arial"/>
                  </a:rPr>
                  <a:t> (positive solutions of </a:t>
                </a:r>
                <a14:m>
                  <m:oMath xmlns:m="http://schemas.openxmlformats.org/officeDocument/2006/math">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𝑘</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oMath>
                </a14:m>
                <a:r>
                  <a:rPr sz="2400" b="0">
                    <a:solidFill>
                      <a:srgbClr val="111827"/>
                    </a:solidFill>
                    <a:latin typeface="Arial"/>
                  </a:rPr>
                  <a:t>); here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m:t>
                    </m:r>
                  </m:oMath>
                </a14:m>
                <a:r>
                  <a:rPr sz="2400" b="0">
                    <a:solidFill>
                      <a:srgbClr val="111827"/>
                    </a:solidFill>
                    <a:latin typeface="Arial"/>
                  </a:rPr>
                  <a:t> ✓.</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14:m>
                  <m:oMath xmlns:m="http://schemas.openxmlformats.org/officeDocument/2006/math">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𝑘</m:t>
                        </m:r>
                      </m:sub>
                      <m:sup>
                        <m:r>
                          <a:rPr lang="en-IN" sz="2400" i="1">
                            <a:solidFill>
                              <a:srgbClr val="111827"/>
                            </a:solidFill>
                            <a:latin typeface="Cambria Math" panose="02040503050406030204" pitchFamily="18" charset="0"/>
                          </a:rPr>
                          <m:t>​</m:t>
                        </m:r>
                      </m:sup>
                      <m:e>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num>
                              <m:den>
                                <m:r>
                                  <a:rPr lang="en-IN" sz="2400" i="1">
                                    <a:solidFill>
                                      <a:srgbClr val="111827"/>
                                    </a:solidFill>
                                    <a:latin typeface="Cambria Math" panose="02040503050406030204" pitchFamily="18" charset="0"/>
                                  </a:rPr>
                                  <m:t>𝑘</m:t>
                                </m:r>
                              </m:den>
                            </m:f>
                          </m:e>
                        </m:d>
                      </m:e>
                    </m:nary>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126</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Number of multisets of size </a:t>
                </a:r>
                <a:r>
                  <a:rPr lang="en-IN" sz="2400">
                    <a:solidFill>
                      <a:srgbClr val="111827"/>
                    </a:solidFill>
                    <a:latin typeface="Cambria Math" panose="02040503050406030204" pitchFamily="18" charset="0"/>
                  </a:rPr>
                  <a:t>$r$</a:t>
                </a:r>
                <a:r>
                  <a:rPr sz="2400" b="0">
                    <a:solidFill>
                      <a:srgbClr val="111827"/>
                    </a:solidFill>
                    <a:latin typeface="Arial"/>
                  </a:rPr>
                  <a:t> from </a:t>
                </a:r>
                <a:r>
                  <a:rPr lang="en-IN" sz="2400">
                    <a:solidFill>
                      <a:srgbClr val="111827"/>
                    </a:solidFill>
                    <a:latin typeface="Cambria Math" panose="02040503050406030204" pitchFamily="18" charset="0"/>
                  </a:rPr>
                  <a:t>$n$</a:t>
                </a:r>
                <a:r>
                  <a:rPr sz="2400" b="0">
                    <a:solidFill>
                      <a:srgbClr val="111827"/>
                    </a:solidFill>
                    <a:latin typeface="Arial"/>
                  </a:rPr>
                  <a:t> kinds: </a:t>
                </a:r>
                <a:r>
                  <a:rPr lang="en-IN" sz="2400">
                    <a:solidFill>
                      <a:srgbClr val="111827"/>
                    </a:solidFill>
                    <a:latin typeface="Cambria Math" panose="02040503050406030204" pitchFamily="18" charset="0"/>
                  </a:rPr>
                  <a:t>$\binom{n+r-1}{r}$</a:t>
                </a:r>
                <a:r>
                  <a:rPr sz="2400" b="0">
                    <a:solidFill>
                      <a:srgbClr val="111827"/>
                    </a:solidFill>
                    <a:latin typeface="Arial"/>
                  </a:rPr>
                  <a:t> (non-negative solutions of </a:t>
                </a:r>
                <a:r>
                  <a:rPr lang="en-IN" sz="2400">
                    <a:solidFill>
                      <a:srgbClr val="111827"/>
                    </a:solidFill>
                    <a:latin typeface="Cambria Math" panose="02040503050406030204" pitchFamily="18" charset="0"/>
                  </a:rPr>
                  <a:t>$x_1+\dots+x_n=r$</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Exactly </a:t>
                </a:r>
                <a:r>
                  <a:rPr lang="en-IN" sz="2400">
                    <a:solidFill>
                      <a:srgbClr val="111827"/>
                    </a:solidFill>
                    <a:latin typeface="Cambria Math" panose="02040503050406030204" pitchFamily="18" charset="0"/>
                  </a:rPr>
                  <a:t>$k$</a:t>
                </a:r>
                <a:r>
                  <a:rPr sz="2400" b="0">
                    <a:solidFill>
                      <a:srgbClr val="111827"/>
                    </a:solidFill>
                    <a:latin typeface="Arial"/>
                  </a:rPr>
                  <a:t> kinds used: </a:t>
                </a:r>
                <a:r>
                  <a:rPr lang="en-IN" sz="2400">
                    <a:solidFill>
                      <a:srgbClr val="111827"/>
                    </a:solidFill>
                    <a:latin typeface="Cambria Math" panose="02040503050406030204" pitchFamily="18" charset="0"/>
                  </a:rPr>
                  <a:t>$\binom nk\binom{r-1}{k-1}$</a:t>
                </a:r>
                <a:r>
                  <a:rPr sz="2400" b="0">
                    <a:solidFill>
                      <a:srgbClr val="111827"/>
                    </a:solidFill>
                    <a:latin typeface="Arial"/>
                  </a:rPr>
                  <a:t> (positive solutions of </a:t>
                </a:r>
                <a:r>
                  <a:rPr lang="en-IN" sz="2400">
                    <a:solidFill>
                      <a:srgbClr val="111827"/>
                    </a:solidFill>
                    <a:latin typeface="Cambria Math" panose="02040503050406030204" pitchFamily="18" charset="0"/>
                  </a:rPr>
                  <a:t>$y_1+\dots+y_k=r$</a:t>
                </a:r>
                <a:r>
                  <a:rPr sz="2400" b="0">
                    <a:solidFill>
                      <a:srgbClr val="111827"/>
                    </a:solidFill>
                    <a:latin typeface="Arial"/>
                  </a:rPr>
                  <a:t>); here </a:t>
                </a:r>
                <a:r>
                  <a:rPr lang="en-IN" sz="2400">
                    <a:solidFill>
                      <a:srgbClr val="111827"/>
                    </a:solidFill>
                    <a:latin typeface="Cambria Math" panose="02040503050406030204" pitchFamily="18" charset="0"/>
                  </a:rPr>
                  <a:t>$k=3,r=4$</a:t>
                </a:r>
                <a:r>
                  <a:rPr sz="2400" b="0">
                    <a:solidFill>
                      <a:srgbClr val="111827"/>
                    </a:solidFill>
                    <a:latin typeface="Arial"/>
                  </a:rPr>
                  <a:t>: </a:t>
                </a:r>
                <a:r>
                  <a:rPr lang="en-IN" sz="2400">
                    <a:solidFill>
                      <a:srgbClr val="111827"/>
                    </a:solidFill>
                    <a:latin typeface="Cambria Math" panose="02040503050406030204" pitchFamily="18" charset="0"/>
                  </a:rPr>
                  <a:t>$20\cdot3=60$</a:t>
                </a:r>
                <a:r>
                  <a:rPr sz="2400" b="0">
                    <a:solidFill>
                      <a:srgbClr val="111827"/>
                    </a:solidFill>
                    <a:latin typeface="Arial"/>
                  </a:rPr>
                  <a:t> ✓.</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r>
                  <a:rPr lang="en-IN" sz="2400">
                    <a:solidFill>
                      <a:srgbClr val="111827"/>
                    </a:solidFill>
                    <a:latin typeface="Cambria Math" panose="02040503050406030204" pitchFamily="18" charset="0"/>
                  </a:rPr>
                  <a:t>$\sum_k\binom6k\binom3{k-1}=6+45+60+15=126$</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number of three digit numbers of the form </a:t>
                </a:r>
                <a14:m>
                  <m:oMath xmlns:m="http://schemas.openxmlformats.org/officeDocument/2006/math">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𝑦</m:t>
                    </m:r>
                    <m:r>
                      <a:rPr lang="en-IN" sz="2400" i="1">
                        <a:solidFill>
                          <a:srgbClr val="111827"/>
                        </a:solidFill>
                        <a:latin typeface="Cambria Math" panose="02040503050406030204" pitchFamily="18" charset="0"/>
                      </a:rPr>
                      <m:t>𝑧</m:t>
                    </m:r>
                  </m:oMath>
                </a14:m>
                <a:r>
                  <a:rPr sz="2400" b="0">
                    <a:solidFill>
                      <a:srgbClr val="111827"/>
                    </a:solidFill>
                    <a:latin typeface="Arial"/>
                  </a:rPr>
                  <a:t> such that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𝑦</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oMath>
                </a14:m>
                <a:r>
                  <a:rPr sz="2400" b="0">
                    <a:solidFill>
                      <a:srgbClr val="111827"/>
                    </a:solidFill>
                    <a:latin typeface="Arial"/>
                  </a:rPr>
                  <a:t> is ____.</a:t>
                </a:r>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number of three digit numbers of the form </a:t>
                </a:r>
                <a:r>
                  <a:rPr lang="en-IN" sz="2400">
                    <a:solidFill>
                      <a:srgbClr val="111827"/>
                    </a:solidFill>
                    <a:latin typeface="Cambria Math" panose="02040503050406030204" pitchFamily="18" charset="0"/>
                  </a:rPr>
                  <a:t>$xyz$</a:t>
                </a:r>
                <a:r>
                  <a:rPr sz="2400" b="0">
                    <a:solidFill>
                      <a:srgbClr val="111827"/>
                    </a:solidFill>
                    <a:latin typeface="Arial"/>
                  </a:rPr>
                  <a:t> such that </a:t>
                </a:r>
                <a:r>
                  <a:rPr lang="en-IN" sz="2400">
                    <a:solidFill>
                      <a:srgbClr val="111827"/>
                    </a:solidFill>
                    <a:latin typeface="Cambria Math" panose="02040503050406030204" pitchFamily="18" charset="0"/>
                  </a:rPr>
                  <a:t>$x&lt;y$</a:t>
                </a:r>
                <a:r>
                  <a:rPr sz="2400" b="0">
                    <a:solidFill>
                      <a:srgbClr val="111827"/>
                    </a:solidFill>
                    <a:latin typeface="Arial"/>
                  </a:rPr>
                  <a:t> and </a:t>
                </a:r>
                <a:r>
                  <a:rPr lang="en-IN" sz="2400">
                    <a:solidFill>
                      <a:srgbClr val="111827"/>
                    </a:solidFill>
                    <a:latin typeface="Cambria Math" panose="02040503050406030204" pitchFamily="18" charset="0"/>
                  </a:rPr>
                  <a:t>$z\le y$</a:t>
                </a:r>
                <a:r>
                  <a:rPr sz="2400" b="0">
                    <a:solidFill>
                      <a:srgbClr val="111827"/>
                    </a:solidFill>
                    <a:latin typeface="Arial"/>
                  </a:rPr>
                  <a:t> is ____.</a:t>
                </a:r>
                <a:endParaRPr sz="2400">
                  <a:solidFill>
                    <a:srgbClr val="111827"/>
                  </a:solidFill>
                </a:endParaRPr>
              </a:p>
            </p:txBody>
          </p:sp>
        </mc:Fallback>
      </mc:AlternateContent>
      <p:sp>
        <p:nvSpPr>
          <p:cNvPr id="5" name="Rectangle 4"/>
          <p:cNvSpPr/>
          <p:nvPr/>
        </p:nvSpPr>
        <p:spPr>
          <a:xfrm>
            <a:off x="731520" y="3246120"/>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Counting numbers under digit inequalities (casework on the middle digit)</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Fix the middle digit </a:t>
                </a:r>
                <a14:m>
                  <m:oMath xmlns:m="http://schemas.openxmlformats.org/officeDocument/2006/math">
                    <m:r>
                      <a:rPr lang="en-IN" sz="2400" i="1">
                        <a:solidFill>
                          <a:srgbClr val="78350F"/>
                        </a:solidFill>
                        <a:latin typeface="Cambria Math" panose="02040503050406030204" pitchFamily="18" charset="0"/>
                      </a:rPr>
                      <m:t>𝑦</m:t>
                    </m:r>
                  </m:oMath>
                </a14:m>
                <a:r>
                  <a:rPr sz="2400" b="0">
                    <a:solidFill>
                      <a:srgbClr val="78350F"/>
                    </a:solidFill>
                    <a:latin typeface="Arial"/>
                  </a:rPr>
                  <a:t>: then </a:t>
                </a:r>
                <a14:m>
                  <m:oMath xmlns:m="http://schemas.openxmlformats.org/officeDocument/2006/math">
                    <m:r>
                      <a:rPr lang="en-IN" sz="2400" i="1">
                        <a:solidFill>
                          <a:srgbClr val="78350F"/>
                        </a:solidFill>
                        <a:latin typeface="Cambria Math" panose="02040503050406030204" pitchFamily="18" charset="0"/>
                      </a:rPr>
                      <m:t>𝑥</m:t>
                    </m:r>
                  </m:oMath>
                </a14:m>
                <a:r>
                  <a:rPr sz="2400" b="0">
                    <a:solidFill>
                      <a:srgbClr val="78350F"/>
                    </a:solidFill>
                    <a:latin typeface="Arial"/>
                  </a:rPr>
                  <a:t> has </a:t>
                </a:r>
                <a14:m>
                  <m:oMath xmlns:m="http://schemas.openxmlformats.org/officeDocument/2006/math">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 choices (</a:t>
                </a:r>
                <a14:m>
                  <m:oMath xmlns:m="http://schemas.openxmlformats.org/officeDocument/2006/math">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&lt;</m:t>
                    </m:r>
                    <m:r>
                      <a:rPr lang="en-IN" sz="2400" i="1">
                        <a:solidFill>
                          <a:srgbClr val="78350F"/>
                        </a:solidFill>
                        <a:latin typeface="Cambria Math" panose="02040503050406030204" pitchFamily="18" charset="0"/>
                      </a:rPr>
                      <m:t>𝑦</m:t>
                    </m:r>
                  </m:oMath>
                </a14:m>
                <a:r>
                  <a:rPr sz="2400" b="0">
                    <a:solidFill>
                      <a:srgbClr val="78350F"/>
                    </a:solidFill>
                    <a:latin typeface="Arial"/>
                  </a:rPr>
                  <a:t>) and </a:t>
                </a:r>
                <a14:m>
                  <m:oMath xmlns:m="http://schemas.openxmlformats.org/officeDocument/2006/math">
                    <m:r>
                      <a:rPr lang="en-IN" sz="2400" i="1">
                        <a:solidFill>
                          <a:srgbClr val="78350F"/>
                        </a:solidFill>
                        <a:latin typeface="Cambria Math" panose="02040503050406030204" pitchFamily="18" charset="0"/>
                      </a:rPr>
                      <m:t>𝑧</m:t>
                    </m:r>
                  </m:oMath>
                </a14:m>
                <a:r>
                  <a:rPr sz="2400" b="0">
                    <a:solidFill>
                      <a:srgbClr val="78350F"/>
                    </a:solidFill>
                    <a:latin typeface="Arial"/>
                  </a:rPr>
                  <a:t> has </a:t>
                </a:r>
                <a14:m>
                  <m:oMath xmlns:m="http://schemas.openxmlformats.org/officeDocument/2006/math">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 choices (</a:t>
                </a:r>
                <a14:m>
                  <m:oMath xmlns:m="http://schemas.openxmlformats.org/officeDocument/2006/math">
                    <m:r>
                      <a:rPr lang="en-IN" sz="2400" i="1">
                        <a:solidFill>
                          <a:srgbClr val="78350F"/>
                        </a:solidFill>
                        <a:latin typeface="Cambria Math" panose="02040503050406030204" pitchFamily="18" charset="0"/>
                      </a:rPr>
                      <m:t>0</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𝑧</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𝑦</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Fix the middle digit </a:t>
                </a:r>
                <a:r>
                  <a:rPr lang="en-IN" sz="2400">
                    <a:solidFill>
                      <a:srgbClr val="78350F"/>
                    </a:solidFill>
                    <a:latin typeface="Cambria Math" panose="02040503050406030204" pitchFamily="18" charset="0"/>
                  </a:rPr>
                  <a:t>$y$</a:t>
                </a:r>
                <a:r>
                  <a:rPr sz="2400" b="0">
                    <a:solidFill>
                      <a:srgbClr val="78350F"/>
                    </a:solidFill>
                    <a:latin typeface="Arial"/>
                  </a:rPr>
                  <a:t>: then </a:t>
                </a:r>
                <a:r>
                  <a:rPr lang="en-IN" sz="2400">
                    <a:solidFill>
                      <a:srgbClr val="78350F"/>
                    </a:solidFill>
                    <a:latin typeface="Cambria Math" panose="02040503050406030204" pitchFamily="18" charset="0"/>
                  </a:rPr>
                  <a:t>$x$</a:t>
                </a:r>
                <a:r>
                  <a:rPr sz="2400" b="0">
                    <a:solidFill>
                      <a:srgbClr val="78350F"/>
                    </a:solidFill>
                    <a:latin typeface="Arial"/>
                  </a:rPr>
                  <a:t> has </a:t>
                </a:r>
                <a:r>
                  <a:rPr lang="en-IN" sz="2400">
                    <a:solidFill>
                      <a:srgbClr val="78350F"/>
                    </a:solidFill>
                    <a:latin typeface="Cambria Math" panose="02040503050406030204" pitchFamily="18" charset="0"/>
                  </a:rPr>
                  <a:t>$y-1$</a:t>
                </a:r>
                <a:r>
                  <a:rPr sz="2400" b="0">
                    <a:solidFill>
                      <a:srgbClr val="78350F"/>
                    </a:solidFill>
                    <a:latin typeface="Arial"/>
                  </a:rPr>
                  <a:t> choices (</a:t>
                </a:r>
                <a:r>
                  <a:rPr lang="en-IN" sz="2400">
                    <a:solidFill>
                      <a:srgbClr val="78350F"/>
                    </a:solidFill>
                    <a:latin typeface="Cambria Math" panose="02040503050406030204" pitchFamily="18" charset="0"/>
                  </a:rPr>
                  <a:t>$1\le x&lt;y$</a:t>
                </a:r>
                <a:r>
                  <a:rPr sz="2400" b="0">
                    <a:solidFill>
                      <a:srgbClr val="78350F"/>
                    </a:solidFill>
                    <a:latin typeface="Arial"/>
                  </a:rPr>
                  <a:t>) and </a:t>
                </a:r>
                <a:r>
                  <a:rPr lang="en-IN" sz="2400">
                    <a:solidFill>
                      <a:srgbClr val="78350F"/>
                    </a:solidFill>
                    <a:latin typeface="Cambria Math" panose="02040503050406030204" pitchFamily="18" charset="0"/>
                  </a:rPr>
                  <a:t>$z$</a:t>
                </a:r>
                <a:r>
                  <a:rPr sz="2400" b="0">
                    <a:solidFill>
                      <a:srgbClr val="78350F"/>
                    </a:solidFill>
                    <a:latin typeface="Arial"/>
                  </a:rPr>
                  <a:t> has </a:t>
                </a:r>
                <a:r>
                  <a:rPr lang="en-IN" sz="2400">
                    <a:solidFill>
                      <a:srgbClr val="78350F"/>
                    </a:solidFill>
                    <a:latin typeface="Cambria Math" panose="02040503050406030204" pitchFamily="18" charset="0"/>
                  </a:rPr>
                  <a:t>$y+1$</a:t>
                </a:r>
                <a:r>
                  <a:rPr sz="2400" b="0">
                    <a:solidFill>
                      <a:srgbClr val="78350F"/>
                    </a:solidFill>
                    <a:latin typeface="Arial"/>
                  </a:rPr>
                  <a:t> choices (</a:t>
                </a:r>
                <a:r>
                  <a:rPr lang="en-IN" sz="2400">
                    <a:solidFill>
                      <a:srgbClr val="78350F"/>
                    </a:solidFill>
                    <a:latin typeface="Cambria Math" panose="02040503050406030204" pitchFamily="18" charset="0"/>
                  </a:rPr>
                  <a:t>$0\le z\le y$</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first digit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𝑦</m:t>
                    </m:r>
                  </m:oMath>
                </a14:m>
                <a:r>
                  <a:rPr sz="2400" b="0">
                    <a:solidFill>
                      <a:srgbClr val="111827"/>
                    </a:solidFill>
                    <a:latin typeface="Arial"/>
                  </a:rPr>
                  <a:t>; the last digit satisfies </a:t>
                </a:r>
                <a14:m>
                  <m:oMath xmlns:m="http://schemas.openxmlformats.org/officeDocument/2006/math">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numbers.</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35</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48</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63</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276</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first digit </a:t>
                </a:r>
                <a:r>
                  <a:rPr lang="en-IN" sz="2400">
                    <a:solidFill>
                      <a:srgbClr val="111827"/>
                    </a:solidFill>
                    <a:latin typeface="Cambria Math" panose="02040503050406030204" pitchFamily="18" charset="0"/>
                  </a:rPr>
                  <a:t>$x\ge1$</a:t>
                </a:r>
                <a:r>
                  <a:rPr sz="2400" b="0">
                    <a:solidFill>
                      <a:srgbClr val="111827"/>
                    </a:solidFill>
                    <a:latin typeface="Arial"/>
                  </a:rPr>
                  <a:t>, with </a:t>
                </a:r>
                <a:r>
                  <a:rPr lang="en-IN" sz="2400">
                    <a:solidFill>
                      <a:srgbClr val="111827"/>
                    </a:solidFill>
                    <a:latin typeface="Cambria Math" panose="02040503050406030204" pitchFamily="18" charset="0"/>
                  </a:rPr>
                  <a:t>$x&lt;y$</a:t>
                </a:r>
                <a:r>
                  <a:rPr sz="2400" b="0">
                    <a:solidFill>
                      <a:srgbClr val="111827"/>
                    </a:solidFill>
                    <a:latin typeface="Arial"/>
                  </a:rPr>
                  <a:t>; the last digit satisfies </a:t>
                </a:r>
                <a:r>
                  <a:rPr lang="en-IN" sz="2400">
                    <a:solidFill>
                      <a:srgbClr val="111827"/>
                    </a:solidFill>
                    <a:latin typeface="Cambria Math" panose="02040503050406030204" pitchFamily="18" charset="0"/>
                  </a:rPr>
                  <a:t>$z\le y$</a:t>
                </a:r>
                <a:r>
                  <a:rPr sz="2400" b="0">
                    <a:solidFill>
                      <a:srgbClr val="111827"/>
                    </a:solidFill>
                    <a:latin typeface="Arial"/>
                  </a:rPr>
                  <a:t>, </a:t>
                </a:r>
                <a:r>
                  <a:rPr lang="en-IN" sz="2400">
                    <a:solidFill>
                      <a:srgbClr val="111827"/>
                    </a:solidFill>
                    <a:latin typeface="Cambria Math" panose="02040503050406030204" pitchFamily="18" charset="0"/>
                  </a:rPr>
                  <a:t>$z\ge0$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$y=2$</a:t>
                </a:r>
                <a:r>
                  <a:rPr sz="2400" b="0">
                    <a:solidFill>
                      <a:srgbClr val="111827"/>
                    </a:solidFill>
                    <a:latin typeface="Arial"/>
                  </a:rPr>
                  <a:t>: </a:t>
                </a:r>
                <a:r>
                  <a:rPr lang="en-IN" sz="2400">
                    <a:solidFill>
                      <a:srgbClr val="111827"/>
                    </a:solidFill>
                    <a:latin typeface="Cambria Math" panose="02040503050406030204" pitchFamily="18" charset="0"/>
                  </a:rPr>
                  <a:t>$x\in\{1\}$</a:t>
                </a:r>
                <a:r>
                  <a:rPr sz="2400" b="0">
                    <a:solidFill>
                      <a:srgbClr val="111827"/>
                    </a:solidFill>
                    <a:latin typeface="Arial"/>
                  </a:rPr>
                  <a:t> and </a:t>
                </a:r>
                <a:r>
                  <a:rPr lang="en-IN" sz="2400">
                    <a:solidFill>
                      <a:srgbClr val="111827"/>
                    </a:solidFill>
                    <a:latin typeface="Cambria Math" panose="02040503050406030204" pitchFamily="18" charset="0"/>
                  </a:rPr>
                  <a:t>$z\in\{0,1,2\}$</a:t>
                </a:r>
                <a:r>
                  <a:rPr sz="2400" b="0">
                    <a:solidFill>
                      <a:srgbClr val="111827"/>
                    </a:solidFill>
                    <a:latin typeface="Arial"/>
                  </a:rPr>
                  <a:t>, so </a:t>
                </a:r>
                <a:r>
                  <a:rPr lang="en-IN" sz="2400">
                    <a:solidFill>
                      <a:srgbClr val="111827"/>
                    </a:solidFill>
                    <a:latin typeface="Cambria Math" panose="02040503050406030204" pitchFamily="18" charset="0"/>
                  </a:rPr>
                  <a:t>$1\times3=3$</a:t>
                </a:r>
                <a:r>
                  <a:rPr sz="2400" b="0">
                    <a:solidFill>
                      <a:srgbClr val="111827"/>
                    </a:solidFill>
                    <a:latin typeface="Arial"/>
                  </a:rPr>
                  <a:t> numbers.</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$y=3$</a:t>
                </a:r>
                <a:r>
                  <a:rPr sz="2400" b="0">
                    <a:solidFill>
                      <a:srgbClr val="111827"/>
                    </a:solidFill>
                    <a:latin typeface="Arial"/>
                  </a:rPr>
                  <a:t>: </a:t>
                </a:r>
                <a:r>
                  <a:rPr lang="en-IN" sz="2400">
                    <a:solidFill>
                      <a:srgbClr val="111827"/>
                    </a:solidFill>
                    <a:latin typeface="Cambria Math" panose="02040503050406030204" pitchFamily="18" charset="0"/>
                  </a:rPr>
                  <a:t>$2\times4=8$</a:t>
                </a:r>
                <a:r>
                  <a:rPr sz="2400" b="0">
                    <a:solidFill>
                      <a:srgbClr val="111827"/>
                    </a:solidFill>
                    <a:latin typeface="Arial"/>
                  </a:rPr>
                  <a:t>; </a:t>
                </a:r>
                <a:r>
                  <a:rPr lang="en-IN" sz="2400">
                    <a:solidFill>
                      <a:srgbClr val="111827"/>
                    </a:solidFill>
                    <a:latin typeface="Cambria Math" panose="02040503050406030204" pitchFamily="18" charset="0"/>
                  </a:rPr>
                  <a:t>$y=4$</a:t>
                </a:r>
                <a:r>
                  <a:rPr sz="2400" b="0">
                    <a:solidFill>
                      <a:srgbClr val="111827"/>
                    </a:solidFill>
                    <a:latin typeface="Arial"/>
                  </a:rPr>
                  <a:t>: </a:t>
                </a:r>
                <a:r>
                  <a:rPr lang="en-IN" sz="2400">
                    <a:solidFill>
                      <a:srgbClr val="111827"/>
                    </a:solidFill>
                    <a:latin typeface="Cambria Math" panose="02040503050406030204" pitchFamily="18" charset="0"/>
                  </a:rPr>
                  <a:t>$3\times5=15$</a:t>
                </a:r>
                <a:r>
                  <a:rPr sz="2400" b="0">
                    <a:solidFill>
                      <a:srgbClr val="111827"/>
                    </a:solidFill>
                    <a:latin typeface="Arial"/>
                  </a:rPr>
                  <a:t>; </a:t>
                </a:r>
                <a:r>
                  <a:rPr lang="en-IN" sz="2400">
                    <a:solidFill>
                      <a:srgbClr val="111827"/>
                    </a:solidFill>
                    <a:latin typeface="Cambria Math" panose="02040503050406030204" pitchFamily="18" charset="0"/>
                  </a:rPr>
                  <a:t>$y=5$</a:t>
                </a:r>
                <a:r>
                  <a:rPr sz="2400" b="0">
                    <a:solidFill>
                      <a:srgbClr val="111827"/>
                    </a:solidFill>
                    <a:latin typeface="Arial"/>
                  </a:rPr>
                  <a:t>: </a:t>
                </a:r>
                <a:r>
                  <a:rPr lang="en-IN" sz="2400">
                    <a:solidFill>
                      <a:srgbClr val="111827"/>
                    </a:solidFill>
                    <a:latin typeface="Cambria Math" panose="02040503050406030204" pitchFamily="18" charset="0"/>
                  </a:rPr>
                  <a:t>$4\times6=24$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$y=6$</a:t>
                </a:r>
                <a:r>
                  <a:rPr sz="2400" b="0">
                    <a:solidFill>
                      <a:srgbClr val="111827"/>
                    </a:solidFill>
                    <a:latin typeface="Arial"/>
                  </a:rPr>
                  <a:t>: </a:t>
                </a:r>
                <a:r>
                  <a:rPr lang="en-IN" sz="2400">
                    <a:solidFill>
                      <a:srgbClr val="111827"/>
                    </a:solidFill>
                    <a:latin typeface="Cambria Math" panose="02040503050406030204" pitchFamily="18" charset="0"/>
                  </a:rPr>
                  <a:t>$5\times7=35$</a:t>
                </a:r>
                <a:r>
                  <a:rPr sz="2400" b="0">
                    <a:solidFill>
                      <a:srgbClr val="111827"/>
                    </a:solidFill>
                    <a:latin typeface="Arial"/>
                  </a:rPr>
                  <a:t>; </a:t>
                </a:r>
                <a:r>
                  <a:rPr lang="en-IN" sz="2400">
                    <a:solidFill>
                      <a:srgbClr val="111827"/>
                    </a:solidFill>
                    <a:latin typeface="Cambria Math" panose="02040503050406030204" pitchFamily="18" charset="0"/>
                  </a:rPr>
                  <a:t>$y=7$</a:t>
                </a:r>
                <a:r>
                  <a:rPr sz="2400" b="0">
                    <a:solidFill>
                      <a:srgbClr val="111827"/>
                    </a:solidFill>
                    <a:latin typeface="Arial"/>
                  </a:rPr>
                  <a:t>: </a:t>
                </a:r>
                <a:r>
                  <a:rPr lang="en-IN" sz="2400">
                    <a:solidFill>
                      <a:srgbClr val="111827"/>
                    </a:solidFill>
                    <a:latin typeface="Cambria Math" panose="02040503050406030204" pitchFamily="18" charset="0"/>
                  </a:rPr>
                  <a:t>$6\times8=48$</a:t>
                </a:r>
                <a:r>
                  <a:rPr sz="2400" b="0">
                    <a:solidFill>
                      <a:srgbClr val="111827"/>
                    </a:solidFill>
                    <a:latin typeface="Arial"/>
                  </a:rPr>
                  <a:t>; </a:t>
                </a:r>
                <a:r>
                  <a:rPr lang="en-IN" sz="2400">
                    <a:solidFill>
                      <a:srgbClr val="111827"/>
                    </a:solidFill>
                    <a:latin typeface="Cambria Math" panose="02040503050406030204" pitchFamily="18" charset="0"/>
                  </a:rPr>
                  <a:t>$y=8$</a:t>
                </a:r>
                <a:r>
                  <a:rPr sz="2400" b="0">
                    <a:solidFill>
                      <a:srgbClr val="111827"/>
                    </a:solidFill>
                    <a:latin typeface="Arial"/>
                  </a:rPr>
                  <a:t>: </a:t>
                </a:r>
                <a:r>
                  <a:rPr lang="en-IN" sz="2400">
                    <a:solidFill>
                      <a:srgbClr val="111827"/>
                    </a:solidFill>
                    <a:latin typeface="Cambria Math" panose="02040503050406030204" pitchFamily="18" charset="0"/>
                  </a:rPr>
                  <a:t>$7\times9=63$</a:t>
                </a:r>
                <a:r>
                  <a:rPr sz="2400" b="0">
                    <a:solidFill>
                      <a:srgbClr val="111827"/>
                    </a:solidFill>
                    <a:latin typeface="Arial"/>
                  </a:rPr>
                  <a:t>; </a:t>
                </a:r>
                <a:r>
                  <a:rPr lang="en-IN" sz="2400">
                    <a:solidFill>
                      <a:srgbClr val="111827"/>
                    </a:solidFill>
                    <a:latin typeface="Cambria Math" panose="02040503050406030204" pitchFamily="18" charset="0"/>
                  </a:rPr>
                  <a:t>$y=9$</a:t>
                </a:r>
                <a:r>
                  <a:rPr sz="2400" b="0">
                    <a:solidFill>
                      <a:srgbClr val="111827"/>
                    </a:solidFill>
                    <a:latin typeface="Arial"/>
                  </a:rPr>
                  <a:t>: </a:t>
                </a:r>
                <a:r>
                  <a:rPr lang="en-IN" sz="2400">
                    <a:solidFill>
                      <a:srgbClr val="111827"/>
                    </a:solidFill>
                    <a:latin typeface="Cambria Math" panose="02040503050406030204" pitchFamily="18" charset="0"/>
                  </a:rPr>
                  <a:t>$8\times10=80$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r>
                  <a:rPr lang="en-IN" sz="2400">
                    <a:solidFill>
                      <a:srgbClr val="111827"/>
                    </a:solidFill>
                    <a:latin typeface="Cambria Math" panose="02040503050406030204" pitchFamily="18" charset="0"/>
                  </a:rPr>
                  <a:t>$=3+8+15+24+35+48+63+80=276$</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276</a:t>
            </a:r>
            <a:endParaRPr sz="2800">
              <a:solidFill>
                <a:srgbClr val="15803D"/>
              </a:solidFill>
            </a:endParaRP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 middle digit </a:t>
                </a:r>
                <a14:m>
                  <m:oMath xmlns:m="http://schemas.openxmlformats.org/officeDocument/2006/math">
                    <m:r>
                      <a:rPr lang="en-IN" sz="2400" i="1">
                        <a:solidFill>
                          <a:srgbClr val="111827"/>
                        </a:solidFill>
                        <a:latin typeface="Cambria Math" panose="02040503050406030204" pitchFamily="18" charset="0"/>
                      </a:rPr>
                      <m:t>𝑦</m:t>
                    </m:r>
                  </m:oMath>
                </a14:m>
                <a:r>
                  <a:rPr sz="2400" b="0">
                    <a:solidFill>
                      <a:srgbClr val="111827"/>
                    </a:solidFill>
                    <a:latin typeface="Arial"/>
                  </a:rPr>
                  <a:t>: choices of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are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of </a:t>
                </a:r>
                <a14:m>
                  <m:oMath xmlns:m="http://schemas.openxmlformats.org/officeDocument/2006/math">
                    <m:r>
                      <a:rPr lang="en-IN" sz="2400" i="1">
                        <a:solidFill>
                          <a:srgbClr val="111827"/>
                        </a:solidFill>
                        <a:latin typeface="Cambria Math" panose="02040503050406030204" pitchFamily="18" charset="0"/>
                      </a:rPr>
                      <m:t>𝑧</m:t>
                    </m:r>
                  </m:oMath>
                </a14:m>
                <a:r>
                  <a:rPr sz="2400" b="0">
                    <a:solidFill>
                      <a:srgbClr val="111827"/>
                    </a:solidFill>
                    <a:latin typeface="Arial"/>
                  </a:rPr>
                  <a:t> are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so the count for each </a:t>
                </a:r>
                <a14:m>
                  <m:oMath xmlns:m="http://schemas.openxmlformats.org/officeDocument/2006/math">
                    <m:r>
                      <a:rPr lang="en-IN" sz="2400" i="1">
                        <a:solidFill>
                          <a:srgbClr val="111827"/>
                        </a:solidFill>
                        <a:latin typeface="Cambria Math" panose="02040503050406030204" pitchFamily="18" charset="0"/>
                      </a:rPr>
                      <m:t>𝑦</m:t>
                    </m:r>
                  </m:oMath>
                </a14:m>
                <a:r>
                  <a:rPr sz="2400" b="0">
                    <a:solidFill>
                      <a:srgbClr val="111827"/>
                    </a:solidFill>
                    <a:latin typeface="Arial"/>
                  </a:rPr>
                  <a:t> is </a:t>
                </a:r>
                <a14:m>
                  <m:oMath xmlns:m="http://schemas.openxmlformats.org/officeDocument/2006/math">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the total is </a:t>
                </a:r>
                <a14:m>
                  <m:oMath xmlns:m="http://schemas.openxmlformats.org/officeDocument/2006/math">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9</m:t>
                        </m:r>
                      </m:sup>
                      <m:e>
                        <m:r>
                          <m:rPr>
                            <m:sty m:val="p"/>
                          </m:rPr>
                          <a:rPr lang="en-IN" sz="2400">
                            <a:solidFill>
                              <a:srgbClr val="111827"/>
                            </a:solidFill>
                            <a:latin typeface="Cambria Math" panose="02040503050406030204" pitchFamily="18" charset="0"/>
                          </a:rPr>
                          <m:t>(</m:t>
                        </m:r>
                      </m:e>
                    </m:nary>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285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276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𝑛</m:t>
                        </m:r>
                      </m:sup>
                      <m:e>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e>
                    </m:nary>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6</m:t>
                        </m:r>
                      </m:den>
                    </m:f>
                  </m:oMath>
                </a14:m>
                <a:r>
                  <a:rPr sz="2400" b="0">
                    <a:solidFill>
                      <a:srgbClr val="111827"/>
                    </a:solidFill>
                    <a:latin typeface="Arial"/>
                  </a:rPr>
                  <a:t>, so such sums need no term-by-term addition.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Cue: inequality conditions through a *common* digit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fix that digit and multiply the independent choices on either side.</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 middle digit </a:t>
                </a:r>
                <a:r>
                  <a:rPr lang="en-IN" sz="2400">
                    <a:solidFill>
                      <a:srgbClr val="111827"/>
                    </a:solidFill>
                    <a:latin typeface="Cambria Math" panose="02040503050406030204" pitchFamily="18" charset="0"/>
                  </a:rPr>
                  <a:t>$y$</a:t>
                </a:r>
                <a:r>
                  <a:rPr sz="2400" b="0">
                    <a:solidFill>
                      <a:srgbClr val="111827"/>
                    </a:solidFill>
                    <a:latin typeface="Arial"/>
                  </a:rPr>
                  <a:t>: choices of </a:t>
                </a:r>
                <a:r>
                  <a:rPr lang="en-IN" sz="2400">
                    <a:solidFill>
                      <a:srgbClr val="111827"/>
                    </a:solidFill>
                    <a:latin typeface="Cambria Math" panose="02040503050406030204" pitchFamily="18" charset="0"/>
                  </a:rPr>
                  <a:t>$x$</a:t>
                </a:r>
                <a:r>
                  <a:rPr sz="2400" b="0">
                    <a:solidFill>
                      <a:srgbClr val="111827"/>
                    </a:solidFill>
                    <a:latin typeface="Arial"/>
                  </a:rPr>
                  <a:t> are </a:t>
                </a:r>
                <a:r>
                  <a:rPr lang="en-IN" sz="2400">
                    <a:solidFill>
                      <a:srgbClr val="111827"/>
                    </a:solidFill>
                    <a:latin typeface="Cambria Math" panose="02040503050406030204" pitchFamily="18" charset="0"/>
                  </a:rPr>
                  <a:t>$y-1$</a:t>
                </a:r>
                <a:r>
                  <a:rPr sz="2400" b="0">
                    <a:solidFill>
                      <a:srgbClr val="111827"/>
                    </a:solidFill>
                    <a:latin typeface="Arial"/>
                  </a:rPr>
                  <a:t> and of </a:t>
                </a:r>
                <a:r>
                  <a:rPr lang="en-IN" sz="2400">
                    <a:solidFill>
                      <a:srgbClr val="111827"/>
                    </a:solidFill>
                    <a:latin typeface="Cambria Math" panose="02040503050406030204" pitchFamily="18" charset="0"/>
                  </a:rPr>
                  <a:t>$z$</a:t>
                </a:r>
                <a:r>
                  <a:rPr sz="2400" b="0">
                    <a:solidFill>
                      <a:srgbClr val="111827"/>
                    </a:solidFill>
                    <a:latin typeface="Arial"/>
                  </a:rPr>
                  <a:t> are </a:t>
                </a:r>
                <a:r>
                  <a:rPr lang="en-IN" sz="2400">
                    <a:solidFill>
                      <a:srgbClr val="111827"/>
                    </a:solidFill>
                    <a:latin typeface="Cambria Math" panose="02040503050406030204" pitchFamily="18" charset="0"/>
                  </a:rPr>
                  <a:t>$y+1$</a:t>
                </a:r>
                <a:r>
                  <a:rPr sz="2400" b="0">
                    <a:solidFill>
                      <a:srgbClr val="111827"/>
                    </a:solidFill>
                    <a:latin typeface="Arial"/>
                  </a:rPr>
                  <a:t>, so the count for each </a:t>
                </a:r>
                <a:r>
                  <a:rPr lang="en-IN" sz="2400">
                    <a:solidFill>
                      <a:srgbClr val="111827"/>
                    </a:solidFill>
                    <a:latin typeface="Cambria Math" panose="02040503050406030204" pitchFamily="18" charset="0"/>
                  </a:rPr>
                  <a:t>$y$</a:t>
                </a:r>
                <a:r>
                  <a:rPr sz="2400" b="0">
                    <a:solidFill>
                      <a:srgbClr val="111827"/>
                    </a:solidFill>
                    <a:latin typeface="Arial"/>
                  </a:rPr>
                  <a:t> is </a:t>
                </a:r>
                <a:r>
                  <a:rPr lang="en-IN" sz="2400">
                    <a:solidFill>
                      <a:srgbClr val="111827"/>
                    </a:solidFill>
                    <a:latin typeface="Cambria Math" panose="02040503050406030204" pitchFamily="18" charset="0"/>
                  </a:rPr>
                  <a:t>$y^2-1$</a:t>
                </a:r>
                <a:r>
                  <a:rPr sz="2400" b="0">
                    <a:solidFill>
                      <a:srgbClr val="111827"/>
                    </a:solidFill>
                    <a:latin typeface="Arial"/>
                  </a:rPr>
                  <a:t> and the total is </a:t>
                </a:r>
                <a:r>
                  <a:rPr lang="en-IN" sz="2400">
                    <a:solidFill>
                      <a:srgbClr val="111827"/>
                    </a:solidFill>
                    <a:latin typeface="Cambria Math" panose="02040503050406030204" pitchFamily="18" charset="0"/>
                  </a:rPr>
                  <a:t>$\sum_{y=1}^{9}(y^2-1)=285-9=276$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$\sum_{y=1}^{n}y^2=\frac{n(n+1)(2n+1)}{6}$</a:t>
                </a:r>
                <a:r>
                  <a:rPr sz="2400" b="0">
                    <a:solidFill>
                      <a:srgbClr val="111827"/>
                    </a:solidFill>
                    <a:latin typeface="Arial"/>
                  </a:rPr>
                  <a:t>, so such sums need no term-by-term addition.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Cue: inequality conditions through a *common* digit </a:t>
                </a:r>
                <a:r>
                  <a:rPr lang="en-IN" sz="2400">
                    <a:solidFill>
                      <a:srgbClr val="111827"/>
                    </a:solidFill>
                    <a:latin typeface="Cambria Math" panose="02040503050406030204" pitchFamily="18" charset="0"/>
                  </a:rPr>
                  <a:t>$\Rightarrow$</a:t>
                </a:r>
                <a:r>
                  <a:rPr sz="2400" b="0">
                    <a:solidFill>
                      <a:srgbClr val="111827"/>
                    </a:solidFill>
                    <a:latin typeface="Arial"/>
                  </a:rPr>
                  <a:t> fix that digit and multiply the independent choices on either side.</a:t>
                </a:r>
                <a:endParaRPr sz="2400">
                  <a:solidFill>
                    <a:srgbClr val="111827"/>
                  </a:solidFill>
                </a:endParaRPr>
              </a:p>
            </p:txBody>
          </p:sp>
        </mc:Fallback>
      </mc:AlternateContent>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A telegraph has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arms and each arm is capable of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distinct positions, including the position of rest. The total number of signals that can be made is ______ .</a:t>
                </a:r>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A telegraph has </a:t>
                </a:r>
                <a:r>
                  <a:rPr lang="en-IN" sz="2400">
                    <a:solidFill>
                      <a:srgbClr val="111827"/>
                    </a:solidFill>
                    <a:latin typeface="Cambria Math" panose="02040503050406030204" pitchFamily="18" charset="0"/>
                  </a:rPr>
                  <a:t>$x$</a:t>
                </a:r>
                <a:r>
                  <a:rPr sz="2400" b="0">
                    <a:solidFill>
                      <a:srgbClr val="111827"/>
                    </a:solidFill>
                    <a:latin typeface="Arial"/>
                  </a:rPr>
                  <a:t> arms and each arm is capable of </a:t>
                </a:r>
                <a:r>
                  <a:rPr lang="en-IN" sz="2400">
                    <a:solidFill>
                      <a:srgbClr val="111827"/>
                    </a:solidFill>
                    <a:latin typeface="Cambria Math" panose="02040503050406030204" pitchFamily="18" charset="0"/>
                  </a:rPr>
                  <a:t>$(x-1)$</a:t>
                </a:r>
                <a:r>
                  <a:rPr sz="2400" b="0">
                    <a:solidFill>
                      <a:srgbClr val="111827"/>
                    </a:solidFill>
                    <a:latin typeface="Arial"/>
                  </a:rPr>
                  <a:t> distinct positions, including the position of rest. The total number of signals that can be made is ______ .</a:t>
                </a:r>
                <a:endParaRPr sz="2400">
                  <a:solidFill>
                    <a:srgbClr val="111827"/>
                  </a:solidFill>
                </a:endParaRPr>
              </a:p>
            </p:txBody>
          </p:sp>
        </mc:Fallback>
      </mc:AlternateContent>
      <p:sp>
        <p:nvSpPr>
          <p:cNvPr id="5" name="Rectangle 4"/>
          <p:cNvSpPr/>
          <p:nvPr/>
        </p:nvSpPr>
        <p:spPr>
          <a:xfrm>
            <a:off x="731520" y="3246120"/>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Counting configurations (multiplication principle)</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Each arm independently takes one of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 positions; the single configuration with all arms at rest gives no signal.</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Each arm independently takes one of </a:t>
                </a:r>
                <a:r>
                  <a:rPr lang="en-IN" sz="2400">
                    <a:solidFill>
                      <a:srgbClr val="78350F"/>
                    </a:solidFill>
                    <a:latin typeface="Cambria Math" panose="02040503050406030204" pitchFamily="18" charset="0"/>
                  </a:rPr>
                  <a:t>$x-1$</a:t>
                </a:r>
                <a:r>
                  <a:rPr sz="2400" b="0">
                    <a:solidFill>
                      <a:srgbClr val="78350F"/>
                    </a:solidFill>
                    <a:latin typeface="Arial"/>
                  </a:rPr>
                  <a:t> positions; the single configuration with all arms at rest gives no signal.</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Each of the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arms can be in any of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positions (one of which is rest).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configurations of the arms: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times)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𝑥</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configuration in which all arms are at rest is not a signal; remove it.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 of signals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Each of the </a:t>
                </a:r>
                <a:r>
                  <a:rPr lang="en-IN" sz="2400">
                    <a:solidFill>
                      <a:srgbClr val="111827"/>
                    </a:solidFill>
                    <a:latin typeface="Cambria Math" panose="02040503050406030204" pitchFamily="18" charset="0"/>
                  </a:rPr>
                  <a:t>$x$</a:t>
                </a:r>
                <a:r>
                  <a:rPr sz="2400" b="0">
                    <a:solidFill>
                      <a:srgbClr val="111827"/>
                    </a:solidFill>
                    <a:latin typeface="Arial"/>
                  </a:rPr>
                  <a:t> arms can be in any of </a:t>
                </a:r>
                <a:r>
                  <a:rPr lang="en-IN" sz="2400">
                    <a:solidFill>
                      <a:srgbClr val="111827"/>
                    </a:solidFill>
                    <a:latin typeface="Cambria Math" panose="02040503050406030204" pitchFamily="18" charset="0"/>
                  </a:rPr>
                  <a:t>$(x-1)$</a:t>
                </a:r>
                <a:r>
                  <a:rPr sz="2400" b="0">
                    <a:solidFill>
                      <a:srgbClr val="111827"/>
                    </a:solidFill>
                    <a:latin typeface="Arial"/>
                  </a:rPr>
                  <a:t> positions (one of which is rest).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configurations of the arms: </a:t>
                </a:r>
                <a:r>
                  <a:rPr lang="en-IN" sz="2400">
                    <a:solidFill>
                      <a:srgbClr val="111827"/>
                    </a:solidFill>
                    <a:latin typeface="Cambria Math" panose="02040503050406030204" pitchFamily="18" charset="0"/>
                  </a:rPr>
                  <a:t>$(x-1)\times(x-1)\times\dots\times(x-1)$</a:t>
                </a:r>
                <a:r>
                  <a:rPr sz="2400" b="0">
                    <a:solidFill>
                      <a:srgbClr val="111827"/>
                    </a:solidFill>
                    <a:latin typeface="Arial"/>
                  </a:rPr>
                  <a:t> (</a:t>
                </a:r>
                <a:r>
                  <a:rPr lang="en-IN" sz="2400">
                    <a:solidFill>
                      <a:srgbClr val="111827"/>
                    </a:solidFill>
                    <a:latin typeface="Cambria Math" panose="02040503050406030204" pitchFamily="18" charset="0"/>
                  </a:rPr>
                  <a:t>$x$</a:t>
                </a:r>
                <a:r>
                  <a:rPr sz="2400" b="0">
                    <a:solidFill>
                      <a:srgbClr val="111827"/>
                    </a:solidFill>
                    <a:latin typeface="Arial"/>
                  </a:rPr>
                  <a:t> times) </a:t>
                </a:r>
                <a:r>
                  <a:rPr lang="en-IN" sz="2400">
                    <a:solidFill>
                      <a:srgbClr val="111827"/>
                    </a:solidFill>
                    <a:latin typeface="Cambria Math" panose="02040503050406030204" pitchFamily="18" charset="0"/>
                  </a:rPr>
                  <a:t>$=(x-1)^x$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configuration in which all arms are at rest is not a signal; remove it.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 of signals </a:t>
                </a:r>
                <a:r>
                  <a:rPr lang="en-IN" sz="2400">
                    <a:solidFill>
                      <a:srgbClr val="111827"/>
                    </a:solidFill>
                    <a:latin typeface="Cambria Math" panose="02040503050406030204" pitchFamily="18" charset="0"/>
                  </a:rPr>
                  <a:t>$=(x-1)^x-1$</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14:m>
                  <m:oMath xmlns:m="http://schemas.openxmlformats.org/officeDocument/2006/math">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𝑥</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1</m:t>
                    </m:r>
                    <m:sSup>
                      <m:e>
                        <m:r>
                          <m:rPr>
                            <m:sty m:val="p"/>
                          </m:rPr>
                          <a:rPr lang="en-IN" sz="2800">
                            <a:solidFill>
                              <a:srgbClr val="15803D"/>
                            </a:solidFill>
                            <a:latin typeface="Cambria Math" panose="02040503050406030204" pitchFamily="18" charset="0"/>
                          </a:rPr>
                          <m:t>)</m:t>
                        </m:r>
                      </m:e>
                      <m:sup>
                        <m:r>
                          <a:rPr lang="en-IN" sz="2800" i="1">
                            <a:solidFill>
                              <a:srgbClr val="15803D"/>
                            </a:solidFill>
                            <a:latin typeface="Cambria Math" panose="02040503050406030204" pitchFamily="18" charset="0"/>
                          </a:rPr>
                          <m:t>𝑥</m:t>
                        </m:r>
                      </m:sup>
                    </m:sSup>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1</m:t>
                    </m:r>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r>
                  <a:rPr lang="en-IN" sz="2800">
                    <a:solidFill>
                      <a:srgbClr val="15803D"/>
                    </a:solidFill>
                    <a:latin typeface="Cambria Math" panose="02040503050406030204" pitchFamily="18" charset="0"/>
                  </a:rPr>
                  <a:t>$(x-1)^x-1$</a:t>
                </a:r>
                <a:endParaRPr sz="2800">
                  <a:solidFill>
                    <a:srgbClr val="15803D"/>
                  </a:solidFill>
                </a:endParaRPr>
              </a:p>
            </p:txBody>
          </p:sp>
        </mc:Fallback>
      </mc:AlternateContent>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Each of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independent parts having </a:t>
                </a:r>
                <a14:m>
                  <m:oMath xmlns:m="http://schemas.openxmlformats.org/officeDocument/2006/math">
                    <m:r>
                      <a:rPr lang="en-IN" sz="2400" i="1">
                        <a:solidFill>
                          <a:srgbClr val="111827"/>
                        </a:solidFill>
                        <a:latin typeface="Cambria Math" panose="02040503050406030204" pitchFamily="18" charset="0"/>
                      </a:rPr>
                      <m:t>𝑚</m:t>
                    </m:r>
                  </m:oMath>
                </a14:m>
                <a:r>
                  <a:rPr sz="2400" b="0">
                    <a:solidFill>
                      <a:srgbClr val="111827"/>
                    </a:solidFill>
                    <a:latin typeface="Arial"/>
                  </a:rPr>
                  <a:t> states gives </a:t>
                </a:r>
                <a14:m>
                  <m:oMath xmlns:m="http://schemas.openxmlformats.org/officeDocument/2006/math">
                    <m:sSup>
                      <m:e>
                        <m:r>
                          <a:rPr lang="en-IN" sz="2400" i="1">
                            <a:solidFill>
                              <a:srgbClr val="111827"/>
                            </a:solidFill>
                            <a:latin typeface="Cambria Math" panose="02040503050406030204" pitchFamily="18" charset="0"/>
                          </a:rPr>
                          <m:t>𝑚</m:t>
                        </m:r>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 states; subtract forbidden states (here the single all-rest state) at the end.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Cue: 'including the position of rest' - the zero state is counted in </a:t>
                </a:r>
                <a14:m>
                  <m:oMath xmlns:m="http://schemas.openxmlformats.org/officeDocument/2006/math">
                    <m:r>
                      <a:rPr lang="en-IN" sz="2400" i="1">
                        <a:solidFill>
                          <a:srgbClr val="111827"/>
                        </a:solidFill>
                        <a:latin typeface="Cambria Math" panose="02040503050406030204" pitchFamily="18" charset="0"/>
                      </a:rPr>
                      <m:t>𝑚</m:t>
                    </m:r>
                  </m:oMath>
                </a14:m>
                <a:r>
                  <a:rPr sz="2400" b="0">
                    <a:solidFill>
                      <a:srgbClr val="111827"/>
                    </a:solidFill>
                    <a:latin typeface="Arial"/>
                  </a:rPr>
                  <a:t> and then removed from the final total.</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arms with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positions each: </a:t>
                </a:r>
                <a14:m>
                  <m:oMath xmlns:m="http://schemas.openxmlformats.org/officeDocument/2006/math">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 signals.</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Each of </a:t>
                </a:r>
                <a:r>
                  <a:rPr lang="en-IN" sz="2400">
                    <a:solidFill>
                      <a:srgbClr val="111827"/>
                    </a:solidFill>
                    <a:latin typeface="Cambria Math" panose="02040503050406030204" pitchFamily="18" charset="0"/>
                  </a:rPr>
                  <a:t>$n$</a:t>
                </a:r>
                <a:r>
                  <a:rPr sz="2400" b="0">
                    <a:solidFill>
                      <a:srgbClr val="111827"/>
                    </a:solidFill>
                    <a:latin typeface="Arial"/>
                  </a:rPr>
                  <a:t> independent parts having </a:t>
                </a:r>
                <a:r>
                  <a:rPr lang="en-IN" sz="2400">
                    <a:solidFill>
                      <a:srgbClr val="111827"/>
                    </a:solidFill>
                    <a:latin typeface="Cambria Math" panose="02040503050406030204" pitchFamily="18" charset="0"/>
                  </a:rPr>
                  <a:t>$m$</a:t>
                </a:r>
                <a:r>
                  <a:rPr sz="2400" b="0">
                    <a:solidFill>
                      <a:srgbClr val="111827"/>
                    </a:solidFill>
                    <a:latin typeface="Arial"/>
                  </a:rPr>
                  <a:t> states gives </a:t>
                </a:r>
                <a:r>
                  <a:rPr lang="en-IN" sz="2400">
                    <a:solidFill>
                      <a:srgbClr val="111827"/>
                    </a:solidFill>
                    <a:latin typeface="Cambria Math" panose="02040503050406030204" pitchFamily="18" charset="0"/>
                  </a:rPr>
                  <a:t>$m^n$</a:t>
                </a:r>
                <a:r>
                  <a:rPr sz="2400" b="0">
                    <a:solidFill>
                      <a:srgbClr val="111827"/>
                    </a:solidFill>
                    <a:latin typeface="Arial"/>
                  </a:rPr>
                  <a:t> states; subtract forbidden states (here the single all-rest state) at the end.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Cue: 'including the position of rest' - the zero state is counted in </a:t>
                </a:r>
                <a:r>
                  <a:rPr lang="en-IN" sz="2400">
                    <a:solidFill>
                      <a:srgbClr val="111827"/>
                    </a:solidFill>
                    <a:latin typeface="Cambria Math" panose="02040503050406030204" pitchFamily="18" charset="0"/>
                  </a:rPr>
                  <a:t>$m$</a:t>
                </a:r>
                <a:r>
                  <a:rPr sz="2400" b="0">
                    <a:solidFill>
                      <a:srgbClr val="111827"/>
                    </a:solidFill>
                    <a:latin typeface="Arial"/>
                  </a:rPr>
                  <a:t> and then removed from the final total.</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r>
                  <a:rPr lang="en-IN" sz="2400">
                    <a:solidFill>
                      <a:srgbClr val="111827"/>
                    </a:solidFill>
                    <a:latin typeface="Cambria Math" panose="02040503050406030204" pitchFamily="18" charset="0"/>
                  </a:rPr>
                  <a:t>$x=3$</a:t>
                </a:r>
                <a:r>
                  <a:rPr sz="2400" b="0">
                    <a:solidFill>
                      <a:srgbClr val="111827"/>
                    </a:solidFill>
                    <a:latin typeface="Arial"/>
                  </a:rPr>
                  <a:t> arms with </a:t>
                </a:r>
                <a:r>
                  <a:rPr lang="en-IN" sz="2400">
                    <a:solidFill>
                      <a:srgbClr val="111827"/>
                    </a:solidFill>
                    <a:latin typeface="Cambria Math" panose="02040503050406030204" pitchFamily="18" charset="0"/>
                  </a:rPr>
                  <a:t>$2$</a:t>
                </a:r>
                <a:r>
                  <a:rPr sz="2400" b="0">
                    <a:solidFill>
                      <a:srgbClr val="111827"/>
                    </a:solidFill>
                    <a:latin typeface="Arial"/>
                  </a:rPr>
                  <a:t> positions each: </a:t>
                </a:r>
                <a:r>
                  <a:rPr lang="en-IN" sz="2400">
                    <a:solidFill>
                      <a:srgbClr val="111827"/>
                    </a:solidFill>
                    <a:latin typeface="Cambria Math" panose="02040503050406030204" pitchFamily="18" charset="0"/>
                  </a:rPr>
                  <a:t>$2^3-1=7$</a:t>
                </a:r>
                <a:r>
                  <a:rPr sz="2400" b="0">
                    <a:solidFill>
                      <a:srgbClr val="111827"/>
                    </a:solidFill>
                    <a:latin typeface="Arial"/>
                  </a:rPr>
                  <a:t> signals.</a:t>
                </a:r>
                <a:endParaRPr sz="2400">
                  <a:solidFill>
                    <a:srgbClr val="111827"/>
                  </a:solidFill>
                </a:endParaRPr>
              </a:p>
            </p:txBody>
          </p:sp>
        </mc:Fallback>
      </mc:AlternateContent>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Find the number of ways in which two squares can be selected from an </a:t>
                </a:r>
                <a14:m>
                  <m:oMath xmlns:m="http://schemas.openxmlformats.org/officeDocument/2006/math">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 chess board of size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so that they are not in the same row and not in the same column.</a:t>
                </a:r>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Find the number of ways in which two squares can be selected from an </a:t>
                </a:r>
                <a:r>
                  <a:rPr lang="en-IN" sz="2400">
                    <a:solidFill>
                      <a:srgbClr val="111827"/>
                    </a:solidFill>
                    <a:latin typeface="Cambria Math" panose="02040503050406030204" pitchFamily="18" charset="0"/>
                  </a:rPr>
                  <a:t>$8\times8$</a:t>
                </a:r>
                <a:r>
                  <a:rPr sz="2400" b="0">
                    <a:solidFill>
                      <a:srgbClr val="111827"/>
                    </a:solidFill>
                    <a:latin typeface="Arial"/>
                  </a:rPr>
                  <a:t> chess board of size </a:t>
                </a:r>
                <a:r>
                  <a:rPr lang="en-IN" sz="2400">
                    <a:solidFill>
                      <a:srgbClr val="111827"/>
                    </a:solidFill>
                    <a:latin typeface="Cambria Math" panose="02040503050406030204" pitchFamily="18" charset="0"/>
                  </a:rPr>
                  <a:t>$1\times1$</a:t>
                </a:r>
                <a:r>
                  <a:rPr sz="2400" b="0">
                    <a:solidFill>
                      <a:srgbClr val="111827"/>
                    </a:solidFill>
                    <a:latin typeface="Arial"/>
                  </a:rPr>
                  <a:t> so that they are not in the same row and not in the same column.</a:t>
                </a:r>
                <a:endParaRPr sz="2400">
                  <a:solidFill>
                    <a:srgbClr val="111827"/>
                  </a:solidFill>
                </a:endParaRPr>
              </a:p>
            </p:txBody>
          </p:sp>
        </mc:Fallback>
      </mc:AlternateContent>
      <p:sp>
        <p:nvSpPr>
          <p:cNvPr id="5" name="Rectangle 4"/>
          <p:cNvSpPr/>
          <p:nvPr/>
        </p:nvSpPr>
        <p:spPr>
          <a:xfrm>
            <a:off x="731520" y="324612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Selection from a grid (no two in the same row or column)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Pick the first square freely (</a:t>
                </a:r>
                <a14:m>
                  <m:oMath xmlns:m="http://schemas.openxmlformats.org/officeDocument/2006/math">
                    <m:r>
                      <a:rPr lang="en-IN" sz="2400" i="1">
                        <a:solidFill>
                          <a:srgbClr val="78350F"/>
                        </a:solidFill>
                        <a:latin typeface="Cambria Math" panose="02040503050406030204" pitchFamily="18" charset="0"/>
                      </a:rPr>
                      <m:t>64</m:t>
                    </m:r>
                  </m:oMath>
                </a14:m>
                <a:r>
                  <a:rPr sz="2400" b="0">
                    <a:solidFill>
                      <a:srgbClr val="78350F"/>
                    </a:solidFill>
                    <a:latin typeface="Arial"/>
                  </a:rPr>
                  <a:t>) and the second outside its row and column (</a:t>
                </a:r>
                <a14:m>
                  <m:oMath xmlns:m="http://schemas.openxmlformats.org/officeDocument/2006/math">
                    <m:r>
                      <a:rPr lang="en-IN" sz="2400" i="1">
                        <a:solidFill>
                          <a:srgbClr val="78350F"/>
                        </a:solidFill>
                        <a:latin typeface="Cambria Math" panose="02040503050406030204" pitchFamily="18" charset="0"/>
                      </a:rPr>
                      <m:t>49</m:t>
                    </m:r>
                  </m:oMath>
                </a14:m>
                <a:r>
                  <a:rPr sz="2400" b="0">
                    <a:solidFill>
                      <a:srgbClr val="78350F"/>
                    </a:solidFill>
                    <a:latin typeface="Arial"/>
                  </a:rPr>
                  <a:t>); the pair is unordered, so divide by </a:t>
                </a:r>
                <a14:m>
                  <m:oMath xmlns:m="http://schemas.openxmlformats.org/officeDocument/2006/math">
                    <m:r>
                      <a:rPr lang="en-IN" sz="2400" i="1">
                        <a:solidFill>
                          <a:srgbClr val="78350F"/>
                        </a:solidFill>
                        <a:latin typeface="Cambria Math" panose="02040503050406030204" pitchFamily="18" charset="0"/>
                      </a:rPr>
                      <m:t>2</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Pick the first square freely (</a:t>
                </a:r>
                <a:r>
                  <a:rPr lang="en-IN" sz="2400">
                    <a:solidFill>
                      <a:srgbClr val="78350F"/>
                    </a:solidFill>
                    <a:latin typeface="Cambria Math" panose="02040503050406030204" pitchFamily="18" charset="0"/>
                  </a:rPr>
                  <a:t>$64$</a:t>
                </a:r>
                <a:r>
                  <a:rPr sz="2400" b="0">
                    <a:solidFill>
                      <a:srgbClr val="78350F"/>
                    </a:solidFill>
                    <a:latin typeface="Arial"/>
                  </a:rPr>
                  <a:t>) and the second outside its row and column (</a:t>
                </a:r>
                <a:r>
                  <a:rPr lang="en-IN" sz="2400">
                    <a:solidFill>
                      <a:srgbClr val="78350F"/>
                    </a:solidFill>
                    <a:latin typeface="Cambria Math" panose="02040503050406030204" pitchFamily="18" charset="0"/>
                  </a:rPr>
                  <a:t>$49$</a:t>
                </a:r>
                <a:r>
                  <a:rPr sz="2400" b="0">
                    <a:solidFill>
                      <a:srgbClr val="78350F"/>
                    </a:solidFill>
                    <a:latin typeface="Arial"/>
                  </a:rPr>
                  <a:t>); the pair is unordered, so divide by </a:t>
                </a:r>
                <a:r>
                  <a:rPr lang="en-IN" sz="2400">
                    <a:solidFill>
                      <a:srgbClr val="78350F"/>
                    </a:solidFill>
                    <a:latin typeface="Cambria Math" panose="02040503050406030204" pitchFamily="18" charset="0"/>
                  </a:rPr>
                  <a:t>$2$</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first square can be chosen in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64</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64</m:t>
                    </m:r>
                  </m:oMath>
                </a14:m>
                <a:r>
                  <a:rPr sz="2400" b="0">
                    <a:solidFill>
                      <a:srgbClr val="111827"/>
                    </a:solidFill>
                    <a:latin typeface="Arial"/>
                  </a:rPr>
                  <a:t> ways.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It removes its row and its column (</a:t>
                </a:r>
                <a14:m>
                  <m:oMath xmlns:m="http://schemas.openxmlformats.org/officeDocument/2006/math">
                    <m:r>
                      <a:rPr lang="en-IN" sz="2400" i="1">
                        <a:solidFill>
                          <a:srgbClr val="111827"/>
                        </a:solidFill>
                        <a:latin typeface="Cambria Math" panose="02040503050406030204" pitchFamily="18" charset="0"/>
                      </a:rPr>
                      <m:t>15</m:t>
                    </m:r>
                  </m:oMath>
                </a14:m>
                <a:r>
                  <a:rPr sz="2400" b="0">
                    <a:solidFill>
                      <a:srgbClr val="111827"/>
                    </a:solidFill>
                    <a:latin typeface="Arial"/>
                  </a:rPr>
                  <a:t> squares including itself), leaving </a:t>
                </a:r>
                <a14:m>
                  <m:oMath xmlns:m="http://schemas.openxmlformats.org/officeDocument/2006/math">
                    <m:r>
                      <a:rPr lang="en-IN" sz="2400" i="1">
                        <a:solidFill>
                          <a:srgbClr val="111827"/>
                        </a:solidFill>
                        <a:latin typeface="Cambria Math" panose="02040503050406030204" pitchFamily="18" charset="0"/>
                      </a:rPr>
                      <m:t>64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49</m:t>
                    </m:r>
                  </m:oMath>
                </a14:m>
                <a:r>
                  <a:rPr sz="2400" b="0">
                    <a:solidFill>
                      <a:srgbClr val="111827"/>
                    </a:solidFill>
                    <a:latin typeface="Arial"/>
                  </a:rPr>
                  <a:t> squares for the second: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49</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49</m:t>
                    </m:r>
                  </m:oMath>
                </a14:m>
                <a:r>
                  <a:rPr sz="2400" b="0">
                    <a:solidFill>
                      <a:srgbClr val="111827"/>
                    </a:solidFill>
                    <a:latin typeface="Arial"/>
                  </a:rPr>
                  <a:t> ways.</a:t>
                </a:r>
                <a:endParaRPr sz="2400">
                  <a:solidFill>
                    <a:srgbClr val="111827"/>
                  </a:solidFill>
                </a:endParaRPr>
              </a:p>
            </p:txBody>
          </p:sp>
        </mc:Choice>
        <mc:Fallback>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first square can be chosen in </a:t>
                </a:r>
                <a:r>
                  <a:rPr lang="en-IN" sz="2400">
                    <a:solidFill>
                      <a:srgbClr val="111827"/>
                    </a:solidFill>
                    <a:latin typeface="Cambria Math" panose="02040503050406030204" pitchFamily="18" charset="0"/>
                  </a:rPr>
                  <a:t>${}^{64}C_1=64$</a:t>
                </a:r>
                <a:r>
                  <a:rPr sz="2400" b="0">
                    <a:solidFill>
                      <a:srgbClr val="111827"/>
                    </a:solidFill>
                    <a:latin typeface="Arial"/>
                  </a:rPr>
                  <a:t> ways.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It removes its row and its column (</a:t>
                </a:r>
                <a:r>
                  <a:rPr lang="en-IN" sz="2400">
                    <a:solidFill>
                      <a:srgbClr val="111827"/>
                    </a:solidFill>
                    <a:latin typeface="Cambria Math" panose="02040503050406030204" pitchFamily="18" charset="0"/>
                  </a:rPr>
                  <a:t>$15$</a:t>
                </a:r>
                <a:r>
                  <a:rPr sz="2400" b="0">
                    <a:solidFill>
                      <a:srgbClr val="111827"/>
                    </a:solidFill>
                    <a:latin typeface="Arial"/>
                  </a:rPr>
                  <a:t> squares including itself), leaving </a:t>
                </a:r>
                <a:r>
                  <a:rPr lang="en-IN" sz="2400">
                    <a:solidFill>
                      <a:srgbClr val="111827"/>
                    </a:solidFill>
                    <a:latin typeface="Cambria Math" panose="02040503050406030204" pitchFamily="18" charset="0"/>
                  </a:rPr>
                  <a:t>$64-15=49$</a:t>
                </a:r>
                <a:r>
                  <a:rPr sz="2400" b="0">
                    <a:solidFill>
                      <a:srgbClr val="111827"/>
                    </a:solidFill>
                    <a:latin typeface="Arial"/>
                  </a:rPr>
                  <a:t> squares for the second: </a:t>
                </a:r>
                <a:r>
                  <a:rPr lang="en-IN" sz="2400">
                    <a:solidFill>
                      <a:srgbClr val="111827"/>
                    </a:solidFill>
                    <a:latin typeface="Cambria Math" panose="02040503050406030204" pitchFamily="18" charset="0"/>
                  </a:rPr>
                  <a:t>${}^{49}C_1=49$</a:t>
                </a:r>
                <a:r>
                  <a:rPr sz="2400" b="0">
                    <a:solidFill>
                      <a:srgbClr val="111827"/>
                    </a:solidFill>
                    <a:latin typeface="Arial"/>
                  </a:rPr>
                  <a:t> ways.</a:t>
                </a:r>
                <a:endParaRPr sz="2400">
                  <a:solidFill>
                    <a:srgbClr val="111827"/>
                  </a:solidFill>
                </a:endParaRPr>
              </a:p>
            </p:txBody>
          </p:sp>
        </mc:Fallback>
      </mc:AlternateContent>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two squares are chosen as an unordered pair, so each pair is counted twice.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 of ways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49</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1568</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two squares are chosen as an unordered pair, so each pair is counted twice.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 of ways </a:t>
                </a:r>
                <a:r>
                  <a:rPr lang="en-IN" sz="2400">
                    <a:solidFill>
                      <a:srgbClr val="111827"/>
                    </a:solidFill>
                    <a:latin typeface="Cambria Math" panose="02040503050406030204" pitchFamily="18" charset="0"/>
                  </a:rPr>
                  <a:t>$=\dfrac{64\times49}{2}=1568$</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1568</a:t>
            </a:r>
            <a:endParaRPr sz="2800">
              <a:solidFill>
                <a:srgbClr val="15803D"/>
              </a:solidFill>
            </a:endParaRP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Choose two rows and two columns first; each choice of rows and columns gives exactly </a:t>
                </a:r>
                <a14:m>
                  <m:oMath xmlns:m="http://schemas.openxmlformats.org/officeDocument/2006/math">
                    <m:r>
                      <a:rPr lang="en-IN" sz="2400" i="1">
                        <a:solidFill>
                          <a:srgbClr val="78350F"/>
                        </a:solidFill>
                        <a:latin typeface="Cambria Math" panose="02040503050406030204" pitchFamily="18" charset="0"/>
                      </a:rPr>
                      <m:t>2</m:t>
                    </m:r>
                  </m:oMath>
                </a14:m>
                <a:r>
                  <a:rPr sz="2400" b="0">
                    <a:solidFill>
                      <a:srgbClr val="78350F"/>
                    </a:solidFill>
                    <a:latin typeface="Arial"/>
                  </a:rPr>
                  <a:t> placements.</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Choose two rows and two columns first; each choice of rows and columns gives exactly </a:t>
                </a:r>
                <a:r>
                  <a:rPr lang="en-IN" sz="2400">
                    <a:solidFill>
                      <a:srgbClr val="78350F"/>
                    </a:solidFill>
                    <a:latin typeface="Cambria Math" panose="02040503050406030204" pitchFamily="18" charset="0"/>
                  </a:rPr>
                  <a:t>$2$</a:t>
                </a:r>
                <a:r>
                  <a:rPr sz="2400" b="0">
                    <a:solidFill>
                      <a:srgbClr val="78350F"/>
                    </a:solidFill>
                    <a:latin typeface="Arial"/>
                  </a:rPr>
                  <a:t> placements.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Choose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different rows: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28</m:t>
                    </m:r>
                  </m:oMath>
                </a14:m>
                <a:r>
                  <a:rPr sz="2400" b="0">
                    <a:solidFill>
                      <a:srgbClr val="111827"/>
                    </a:solidFill>
                    <a:latin typeface="Arial"/>
                  </a:rPr>
                  <a:t> ways; choose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different columns: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28</m:t>
                    </m:r>
                  </m:oMath>
                </a14:m>
                <a:r>
                  <a:rPr sz="2400" b="0">
                    <a:solidFill>
                      <a:srgbClr val="111827"/>
                    </a:solidFill>
                    <a:latin typeface="Arial"/>
                  </a:rPr>
                  <a:t> ways.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four crossing squares form a rectangle; the two selected squares must be opposite corners: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diagonals.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1568</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Choose </a:t>
                </a:r>
                <a:r>
                  <a:rPr lang="en-IN" sz="2400">
                    <a:solidFill>
                      <a:srgbClr val="111827"/>
                    </a:solidFill>
                    <a:latin typeface="Cambria Math" panose="02040503050406030204" pitchFamily="18" charset="0"/>
                  </a:rPr>
                  <a:t>$2$</a:t>
                </a:r>
                <a:r>
                  <a:rPr sz="2400" b="0">
                    <a:solidFill>
                      <a:srgbClr val="111827"/>
                    </a:solidFill>
                    <a:latin typeface="Arial"/>
                  </a:rPr>
                  <a:t> different rows: </a:t>
                </a:r>
                <a:r>
                  <a:rPr lang="en-IN" sz="2400">
                    <a:solidFill>
                      <a:srgbClr val="111827"/>
                    </a:solidFill>
                    <a:latin typeface="Cambria Math" panose="02040503050406030204" pitchFamily="18" charset="0"/>
                  </a:rPr>
                  <a:t>$\binom82=28$</a:t>
                </a:r>
                <a:r>
                  <a:rPr sz="2400" b="0">
                    <a:solidFill>
                      <a:srgbClr val="111827"/>
                    </a:solidFill>
                    <a:latin typeface="Arial"/>
                  </a:rPr>
                  <a:t> ways; choose </a:t>
                </a:r>
                <a:r>
                  <a:rPr lang="en-IN" sz="2400">
                    <a:solidFill>
                      <a:srgbClr val="111827"/>
                    </a:solidFill>
                    <a:latin typeface="Cambria Math" panose="02040503050406030204" pitchFamily="18" charset="0"/>
                  </a:rPr>
                  <a:t>$2$</a:t>
                </a:r>
                <a:r>
                  <a:rPr sz="2400" b="0">
                    <a:solidFill>
                      <a:srgbClr val="111827"/>
                    </a:solidFill>
                    <a:latin typeface="Arial"/>
                  </a:rPr>
                  <a:t> different columns: </a:t>
                </a:r>
                <a:r>
                  <a:rPr lang="en-IN" sz="2400">
                    <a:solidFill>
                      <a:srgbClr val="111827"/>
                    </a:solidFill>
                    <a:latin typeface="Cambria Math" panose="02040503050406030204" pitchFamily="18" charset="0"/>
                  </a:rPr>
                  <a:t>$\binom82=28$</a:t>
                </a:r>
                <a:r>
                  <a:rPr sz="2400" b="0">
                    <a:solidFill>
                      <a:srgbClr val="111827"/>
                    </a:solidFill>
                    <a:latin typeface="Arial"/>
                  </a:rPr>
                  <a:t> ways.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four crossing squares form a rectangle; the two selected squares must be opposite corners: </a:t>
                </a:r>
                <a:r>
                  <a:rPr lang="en-IN" sz="2400">
                    <a:solidFill>
                      <a:srgbClr val="111827"/>
                    </a:solidFill>
                    <a:latin typeface="Cambria Math" panose="02040503050406030204" pitchFamily="18" charset="0"/>
                  </a:rPr>
                  <a:t>$2$</a:t>
                </a:r>
                <a:r>
                  <a:rPr sz="2400" b="0">
                    <a:solidFill>
                      <a:srgbClr val="111827"/>
                    </a:solidFill>
                    <a:latin typeface="Arial"/>
                  </a:rPr>
                  <a:t> diagonals.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r>
                  <a:rPr lang="en-IN" sz="2400">
                    <a:solidFill>
                      <a:srgbClr val="111827"/>
                    </a:solidFill>
                    <a:latin typeface="Cambria Math" panose="02040503050406030204" pitchFamily="18" charset="0"/>
                  </a:rPr>
                  <a:t>$=28\times28\times2=1568$</a:t>
                </a:r>
                <a:r>
                  <a:rPr sz="2400" b="0">
                    <a:solidFill>
                      <a:srgbClr val="111827"/>
                    </a:solidFill>
                    <a:latin typeface="Arial"/>
                  </a:rPr>
                  <a:t>.</a:t>
                </a:r>
                <a:endParaRPr sz="2400">
                  <a:solidFill>
                    <a:srgbClr val="111827"/>
                  </a:solidFill>
                </a:endParaRPr>
              </a:p>
            </p:txBody>
          </p:sp>
        </mc:Fallback>
      </mc:AlternateContent>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1568</a:t>
            </a:r>
            <a:endParaRPr sz="2800">
              <a:solidFill>
                <a:srgbClr val="15803D"/>
              </a:solidFill>
            </a:endParaRP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Number of pairs of non-attacking rooks on an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oMath>
                </a14:m>
                <a:r>
                  <a:rPr sz="2400" b="0">
                    <a:solidFill>
                      <a:srgbClr val="111827"/>
                    </a:solidFill>
                    <a:latin typeface="Arial"/>
                  </a:rPr>
                  <a:t> board: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49</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 rooks it is </a:t>
                </a: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𝑘</m:t>
                                </m:r>
                              </m:den>
                            </m:f>
                          </m:e>
                        </m:d>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Complement check: all pairs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64</m:t>
                            </m:r>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2016</m:t>
                    </m:r>
                  </m:oMath>
                </a14:m>
                <a:r>
                  <a:rPr sz="2400" b="0">
                    <a:solidFill>
                      <a:srgbClr val="111827"/>
                    </a:solidFill>
                    <a:latin typeface="Arial"/>
                  </a:rPr>
                  <a:t>, same row </a:t>
                </a:r>
                <a14:m>
                  <m:oMath xmlns:m="http://schemas.openxmlformats.org/officeDocument/2006/math">
                    <m:r>
                      <a:rPr lang="en-IN" sz="2400" i="1">
                        <a:solidFill>
                          <a:srgbClr val="111827"/>
                        </a:solidFill>
                        <a:latin typeface="Cambria Math" panose="02040503050406030204" pitchFamily="18" charset="0"/>
                      </a:rPr>
                      <m:t>8</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224</m:t>
                    </m:r>
                  </m:oMath>
                </a14:m>
                <a:r>
                  <a:rPr sz="2400" b="0">
                    <a:solidFill>
                      <a:srgbClr val="111827"/>
                    </a:solidFill>
                    <a:latin typeface="Arial"/>
                  </a:rPr>
                  <a:t>, same column </a:t>
                </a:r>
                <a14:m>
                  <m:oMath xmlns:m="http://schemas.openxmlformats.org/officeDocument/2006/math">
                    <m:r>
                      <a:rPr lang="en-IN" sz="2400" i="1">
                        <a:solidFill>
                          <a:srgbClr val="111827"/>
                        </a:solidFill>
                        <a:latin typeface="Cambria Math" panose="02040503050406030204" pitchFamily="18" charset="0"/>
                      </a:rPr>
                      <m:t>224</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2016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448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1568</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Cue: 'not in the same row/column'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choose rows and columns, then match them (a permutation count).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Number of pairs of non-attacking rooks on an </a:t>
                </a:r>
                <a:r>
                  <a:rPr lang="en-IN" sz="2400">
                    <a:solidFill>
                      <a:srgbClr val="111827"/>
                    </a:solidFill>
                    <a:latin typeface="Cambria Math" panose="02040503050406030204" pitchFamily="18" charset="0"/>
                  </a:rPr>
                  <a:t>$n\times n$</a:t>
                </a:r>
                <a:r>
                  <a:rPr sz="2400" b="0">
                    <a:solidFill>
                      <a:srgbClr val="111827"/>
                    </a:solidFill>
                    <a:latin typeface="Arial"/>
                  </a:rPr>
                  <a:t> board: </a:t>
                </a:r>
                <a:r>
                  <a:rPr lang="en-IN" sz="2400">
                    <a:solidFill>
                      <a:srgbClr val="111827"/>
                    </a:solidFill>
                    <a:latin typeface="Cambria Math" panose="02040503050406030204" pitchFamily="18" charset="0"/>
                  </a:rPr>
                  <a:t>$\dfrac{n^2(n-1)^2}{2}=\dfrac{64\cdot49}{2}$</a:t>
                </a:r>
                <a:r>
                  <a:rPr sz="2400" b="0">
                    <a:solidFill>
                      <a:srgbClr val="111827"/>
                    </a:solidFill>
                    <a:latin typeface="Arial"/>
                  </a:rPr>
                  <a:t> for </a:t>
                </a:r>
                <a:r>
                  <a:rPr lang="en-IN" sz="2400">
                    <a:solidFill>
                      <a:srgbClr val="111827"/>
                    </a:solidFill>
                    <a:latin typeface="Cambria Math" panose="02040503050406030204" pitchFamily="18" charset="0"/>
                  </a:rPr>
                  <a:t>$n=8$</a:t>
                </a:r>
                <a:r>
                  <a:rPr sz="2400" b="0">
                    <a:solidFill>
                      <a:srgbClr val="111827"/>
                    </a:solidFill>
                    <a:latin typeface="Arial"/>
                  </a:rPr>
                  <a:t>; for </a:t>
                </a:r>
                <a:r>
                  <a:rPr lang="en-IN" sz="2400">
                    <a:solidFill>
                      <a:srgbClr val="111827"/>
                    </a:solidFill>
                    <a:latin typeface="Cambria Math" panose="02040503050406030204" pitchFamily="18" charset="0"/>
                  </a:rPr>
                  <a:t>$k$</a:t>
                </a:r>
                <a:r>
                  <a:rPr sz="2400" b="0">
                    <a:solidFill>
                      <a:srgbClr val="111827"/>
                    </a:solidFill>
                    <a:latin typeface="Arial"/>
                  </a:rPr>
                  <a:t> rooks it is </a:t>
                </a:r>
                <a:r>
                  <a:rPr lang="en-IN" sz="2400">
                    <a:solidFill>
                      <a:srgbClr val="111827"/>
                    </a:solidFill>
                    <a:latin typeface="Cambria Math" panose="02040503050406030204" pitchFamily="18" charset="0"/>
                  </a:rPr>
                  <a:t>$\binom nk^2k!$</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Complement check: all pairs </a:t>
                </a:r>
                <a:r>
                  <a:rPr lang="en-IN" sz="2400">
                    <a:solidFill>
                      <a:srgbClr val="111827"/>
                    </a:solidFill>
                    <a:latin typeface="Cambria Math" panose="02040503050406030204" pitchFamily="18" charset="0"/>
                  </a:rPr>
                  <a:t>$\binom{64}{2}=2016$</a:t>
                </a:r>
                <a:r>
                  <a:rPr sz="2400" b="0">
                    <a:solidFill>
                      <a:srgbClr val="111827"/>
                    </a:solidFill>
                    <a:latin typeface="Arial"/>
                  </a:rPr>
                  <a:t>, same row </a:t>
                </a:r>
                <a:r>
                  <a:rPr lang="en-IN" sz="2400">
                    <a:solidFill>
                      <a:srgbClr val="111827"/>
                    </a:solidFill>
                    <a:latin typeface="Cambria Math" panose="02040503050406030204" pitchFamily="18" charset="0"/>
                  </a:rPr>
                  <a:t>$8\binom82=224$</a:t>
                </a:r>
                <a:r>
                  <a:rPr sz="2400" b="0">
                    <a:solidFill>
                      <a:srgbClr val="111827"/>
                    </a:solidFill>
                    <a:latin typeface="Arial"/>
                  </a:rPr>
                  <a:t>, same column </a:t>
                </a:r>
                <a:r>
                  <a:rPr lang="en-IN" sz="2400">
                    <a:solidFill>
                      <a:srgbClr val="111827"/>
                    </a:solidFill>
                    <a:latin typeface="Cambria Math" panose="02040503050406030204" pitchFamily="18" charset="0"/>
                  </a:rPr>
                  <a:t>$224$</a:t>
                </a:r>
                <a:r>
                  <a:rPr sz="2400" b="0">
                    <a:solidFill>
                      <a:srgbClr val="111827"/>
                    </a:solidFill>
                    <a:latin typeface="Arial"/>
                  </a:rPr>
                  <a:t>; </a:t>
                </a:r>
                <a:r>
                  <a:rPr lang="en-IN" sz="2400">
                    <a:solidFill>
                      <a:srgbClr val="111827"/>
                    </a:solidFill>
                    <a:latin typeface="Cambria Math" panose="02040503050406030204" pitchFamily="18" charset="0"/>
                  </a:rPr>
                  <a:t>$2016-448=1568$</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Cue: 'not in the same row/column' </a:t>
                </a:r>
                <a:r>
                  <a:rPr lang="en-IN" sz="2400">
                    <a:solidFill>
                      <a:srgbClr val="111827"/>
                    </a:solidFill>
                    <a:latin typeface="Cambria Math" panose="02040503050406030204" pitchFamily="18" charset="0"/>
                  </a:rPr>
                  <a:t>$\Rightarrow$</a:t>
                </a:r>
                <a:r>
                  <a:rPr sz="2400" b="0">
                    <a:solidFill>
                      <a:srgbClr val="111827"/>
                    </a:solidFill>
                    <a:latin typeface="Arial"/>
                  </a:rPr>
                  <a:t> choose rows and columns, then match them (a permutation count).</a:t>
                </a:r>
                <a:endParaRPr sz="2400">
                  <a:solidFill>
                    <a:srgbClr val="111827"/>
                  </a:solidFill>
                </a:endParaRPr>
              </a:p>
            </p:txBody>
          </p:sp>
        </mc:Fallback>
      </mc:AlternateContent>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37997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A forecast is to be made of the results of five cricket matches, each of which can be a win, a draw or a loss for the Indian team. Find (i) the number of different possible forecasts (ii) the number of forecasts containing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errors respectively.</a:t>
                </a:r>
                <a:endParaRPr sz="2400">
                  <a:solidFill>
                    <a:srgbClr val="111827"/>
                  </a:solidFill>
                </a:endParaRPr>
              </a:p>
            </p:txBody>
          </p:sp>
        </mc:Choice>
        <mc:Fallback>
          <p:sp>
            <p:nvSpPr>
              <p:cNvPr id="4" name="Rounded Rectangle 3"/>
              <p:cNvSpPr/>
              <p:nvPr/>
            </p:nvSpPr>
            <p:spPr>
              <a:xfrm>
                <a:off x="731520" y="1280160"/>
                <a:ext cx="10725912" cy="237997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A forecast is to be made of the results of five cricket matches, each of which can be a win, a draw or a loss for the Indian team. Find (i) the number of different possible forecasts (ii) the number of forecasts containing </a:t>
                </a:r>
                <a:r>
                  <a:rPr lang="en-IN" sz="2400">
                    <a:solidFill>
                      <a:srgbClr val="111827"/>
                    </a:solidFill>
                    <a:latin typeface="Cambria Math" panose="02040503050406030204" pitchFamily="18" charset="0"/>
                  </a:rPr>
                  <a:t>$0,1,2,3,4$</a:t>
                </a:r>
                <a:r>
                  <a:rPr sz="2400" b="0">
                    <a:solidFill>
                      <a:srgbClr val="111827"/>
                    </a:solidFill>
                    <a:latin typeface="Arial"/>
                  </a:rPr>
                  <a:t> and </a:t>
                </a:r>
                <a:r>
                  <a:rPr lang="en-IN" sz="2400">
                    <a:solidFill>
                      <a:srgbClr val="111827"/>
                    </a:solidFill>
                    <a:latin typeface="Cambria Math" panose="02040503050406030204" pitchFamily="18" charset="0"/>
                  </a:rPr>
                  <a:t>$5$</a:t>
                </a:r>
                <a:r>
                  <a:rPr sz="2400" b="0">
                    <a:solidFill>
                      <a:srgbClr val="111827"/>
                    </a:solidFill>
                    <a:latin typeface="Arial"/>
                  </a:rPr>
                  <a:t> errors respectively.</a:t>
                </a:r>
                <a:endParaRPr sz="2400">
                  <a:solidFill>
                    <a:srgbClr val="111827"/>
                  </a:solidFill>
                </a:endParaRPr>
              </a:p>
            </p:txBody>
          </p:sp>
        </mc:Fallback>
      </mc:AlternateContent>
      <p:sp>
        <p:nvSpPr>
          <p:cNvPr id="5" name="Rectangle 4"/>
          <p:cNvSpPr/>
          <p:nvPr/>
        </p:nvSpPr>
        <p:spPr>
          <a:xfrm>
            <a:off x="731520" y="3888739"/>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Counting outcomes with a given number of errors (binomial counting)</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For each match, exactly one of three forecasts is right and two are wrong; choose which matches are wrong.</a:t>
            </a:r>
            <a:endParaRPr sz="24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 Each of the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matches has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possible forecasts, so the number of forecasts is </a:t>
                </a:r>
                <a14:m>
                  <m:oMath xmlns:m="http://schemas.openxmlformats.org/officeDocument/2006/math">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5</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(ii) For each match: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forecast is true and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are wrong.</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errors: all true,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error: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5</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errors: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5</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 Each of the </a:t>
                </a:r>
                <a:r>
                  <a:rPr lang="en-IN" sz="2400">
                    <a:solidFill>
                      <a:srgbClr val="111827"/>
                    </a:solidFill>
                    <a:latin typeface="Cambria Math" panose="02040503050406030204" pitchFamily="18" charset="0"/>
                  </a:rPr>
                  <a:t>$5$</a:t>
                </a:r>
                <a:r>
                  <a:rPr sz="2400" b="0">
                    <a:solidFill>
                      <a:srgbClr val="111827"/>
                    </a:solidFill>
                    <a:latin typeface="Arial"/>
                  </a:rPr>
                  <a:t> matches has </a:t>
                </a:r>
                <a:r>
                  <a:rPr lang="en-IN" sz="2400">
                    <a:solidFill>
                      <a:srgbClr val="111827"/>
                    </a:solidFill>
                    <a:latin typeface="Cambria Math" panose="02040503050406030204" pitchFamily="18" charset="0"/>
                  </a:rPr>
                  <a:t>$3$</a:t>
                </a:r>
                <a:r>
                  <a:rPr sz="2400" b="0">
                    <a:solidFill>
                      <a:srgbClr val="111827"/>
                    </a:solidFill>
                    <a:latin typeface="Arial"/>
                  </a:rPr>
                  <a:t> possible forecasts, so the number of forecasts is </a:t>
                </a:r>
                <a:r>
                  <a:rPr lang="en-IN" sz="2400">
                    <a:solidFill>
                      <a:srgbClr val="111827"/>
                    </a:solidFill>
                    <a:latin typeface="Cambria Math" panose="02040503050406030204" pitchFamily="18" charset="0"/>
                  </a:rPr>
                  <a:t>$3^5=243$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(ii) For each match: </a:t>
                </a:r>
                <a:r>
                  <a:rPr lang="en-IN" sz="2400">
                    <a:solidFill>
                      <a:srgbClr val="111827"/>
                    </a:solidFill>
                    <a:latin typeface="Cambria Math" panose="02040503050406030204" pitchFamily="18" charset="0"/>
                  </a:rPr>
                  <a:t>$1$</a:t>
                </a:r>
                <a:r>
                  <a:rPr sz="2400" b="0">
                    <a:solidFill>
                      <a:srgbClr val="111827"/>
                    </a:solidFill>
                    <a:latin typeface="Arial"/>
                  </a:rPr>
                  <a:t> forecast is true and </a:t>
                </a:r>
                <a:r>
                  <a:rPr lang="en-IN" sz="2400">
                    <a:solidFill>
                      <a:srgbClr val="111827"/>
                    </a:solidFill>
                    <a:latin typeface="Cambria Math" panose="02040503050406030204" pitchFamily="18" charset="0"/>
                  </a:rPr>
                  <a:t>$2$</a:t>
                </a:r>
                <a:r>
                  <a:rPr sz="2400" b="0">
                    <a:solidFill>
                      <a:srgbClr val="111827"/>
                    </a:solidFill>
                    <a:latin typeface="Arial"/>
                  </a:rPr>
                  <a:t> are wrong.</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$0$</a:t>
                </a:r>
                <a:r>
                  <a:rPr sz="2400" b="0">
                    <a:solidFill>
                      <a:srgbClr val="111827"/>
                    </a:solidFill>
                    <a:latin typeface="Arial"/>
                  </a:rPr>
                  <a:t> errors: all true, </a:t>
                </a:r>
                <a:r>
                  <a:rPr lang="en-IN" sz="2400">
                    <a:solidFill>
                      <a:srgbClr val="111827"/>
                    </a:solidFill>
                    <a:latin typeface="Cambria Math" panose="02040503050406030204" pitchFamily="18" charset="0"/>
                  </a:rPr>
                  <a:t>$1\times1\times1\times1\times1=1$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$1$</a:t>
                </a:r>
                <a:r>
                  <a:rPr sz="2400" b="0">
                    <a:solidFill>
                      <a:srgbClr val="111827"/>
                    </a:solidFill>
                    <a:latin typeface="Arial"/>
                  </a:rPr>
                  <a:t> error: </a:t>
                </a:r>
                <a:r>
                  <a:rPr lang="en-IN" sz="2400">
                    <a:solidFill>
                      <a:srgbClr val="111827"/>
                    </a:solidFill>
                    <a:latin typeface="Cambria Math" panose="02040503050406030204" pitchFamily="18" charset="0"/>
                  </a:rPr>
                  <a:t>${}^5C_1\times2=10$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$2$</a:t>
                </a:r>
                <a:r>
                  <a:rPr sz="2400" b="0">
                    <a:solidFill>
                      <a:srgbClr val="111827"/>
                    </a:solidFill>
                    <a:latin typeface="Arial"/>
                  </a:rPr>
                  <a:t> errors: </a:t>
                </a:r>
                <a:r>
                  <a:rPr lang="en-IN" sz="2400">
                    <a:solidFill>
                      <a:srgbClr val="111827"/>
                    </a:solidFill>
                    <a:latin typeface="Cambria Math" panose="02040503050406030204" pitchFamily="18" charset="0"/>
                  </a:rPr>
                  <a:t>${}^5C_2\times2\times2=40$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errors: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5</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errors: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5</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4</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errors: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5</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5</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5</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243</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5</m:t>
                        </m:r>
                      </m:sup>
                    </m:sSup>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$3$</a:t>
                </a:r>
                <a:r>
                  <a:rPr sz="2400" b="0">
                    <a:solidFill>
                      <a:srgbClr val="111827"/>
                    </a:solidFill>
                    <a:latin typeface="Arial"/>
                  </a:rPr>
                  <a:t> errors: </a:t>
                </a:r>
                <a:r>
                  <a:rPr lang="en-IN" sz="2400">
                    <a:solidFill>
                      <a:srgbClr val="111827"/>
                    </a:solidFill>
                    <a:latin typeface="Cambria Math" panose="02040503050406030204" pitchFamily="18" charset="0"/>
                  </a:rPr>
                  <a:t>${}^5C_3\times2^3=80$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$4$</a:t>
                </a:r>
                <a:r>
                  <a:rPr sz="2400" b="0">
                    <a:solidFill>
                      <a:srgbClr val="111827"/>
                    </a:solidFill>
                    <a:latin typeface="Arial"/>
                  </a:rPr>
                  <a:t> errors: </a:t>
                </a:r>
                <a:r>
                  <a:rPr lang="en-IN" sz="2400">
                    <a:solidFill>
                      <a:srgbClr val="111827"/>
                    </a:solidFill>
                    <a:latin typeface="Cambria Math" panose="02040503050406030204" pitchFamily="18" charset="0"/>
                  </a:rPr>
                  <a:t>${}^5C_4\times2^4=80$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$5$</a:t>
                </a:r>
                <a:r>
                  <a:rPr sz="2400" b="0">
                    <a:solidFill>
                      <a:srgbClr val="111827"/>
                    </a:solidFill>
                    <a:latin typeface="Arial"/>
                  </a:rPr>
                  <a:t> errors: </a:t>
                </a:r>
                <a:r>
                  <a:rPr lang="en-IN" sz="2400">
                    <a:solidFill>
                      <a:srgbClr val="111827"/>
                    </a:solidFill>
                    <a:latin typeface="Cambria Math" panose="02040503050406030204" pitchFamily="18" charset="0"/>
                  </a:rPr>
                  <a:t>${}^5C_5\times2^5=32$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r>
                  <a:rPr lang="en-IN" sz="2400">
                    <a:solidFill>
                      <a:srgbClr val="111827"/>
                    </a:solidFill>
                    <a:latin typeface="Cambria Math" panose="02040503050406030204" pitchFamily="18" charset="0"/>
                  </a:rPr>
                  <a:t>$1+10+40+80+80+32=243=3^5$</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(i) </a:t>
                </a:r>
                <a14:m>
                  <m:oMath xmlns:m="http://schemas.openxmlformats.org/officeDocument/2006/math">
                    <m:r>
                      <a:rPr lang="en-IN" sz="2800" i="1">
                        <a:solidFill>
                          <a:srgbClr val="15803D"/>
                        </a:solidFill>
                        <a:latin typeface="Cambria Math" panose="02040503050406030204" pitchFamily="18" charset="0"/>
                      </a:rPr>
                      <m:t>243</m:t>
                    </m:r>
                  </m:oMath>
                </a14:m>
                <a:r>
                  <a:rPr sz="2800" b="1">
                    <a:solidFill>
                      <a:srgbClr val="15803D"/>
                    </a:solidFill>
                    <a:latin typeface="Arial"/>
                  </a:rPr>
                  <a:t> ; (ii) </a:t>
                </a:r>
                <a14:m>
                  <m:oMath xmlns:m="http://schemas.openxmlformats.org/officeDocument/2006/math">
                    <m:r>
                      <a:rPr lang="en-IN" sz="2800" i="1">
                        <a:solidFill>
                          <a:srgbClr val="15803D"/>
                        </a:solidFill>
                        <a:latin typeface="Cambria Math" panose="02040503050406030204" pitchFamily="18" charset="0"/>
                      </a:rPr>
                      <m:t>1</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 </m:t>
                    </m:r>
                    <m:r>
                      <a:rPr lang="en-IN" sz="2800" i="1">
                        <a:solidFill>
                          <a:srgbClr val="15803D"/>
                        </a:solidFill>
                        <a:latin typeface="Cambria Math" panose="02040503050406030204" pitchFamily="18" charset="0"/>
                      </a:rPr>
                      <m:t>10</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 </m:t>
                    </m:r>
                    <m:r>
                      <a:rPr lang="en-IN" sz="2800" i="1">
                        <a:solidFill>
                          <a:srgbClr val="15803D"/>
                        </a:solidFill>
                        <a:latin typeface="Cambria Math" panose="02040503050406030204" pitchFamily="18" charset="0"/>
                      </a:rPr>
                      <m:t>40</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 </m:t>
                    </m:r>
                    <m:r>
                      <a:rPr lang="en-IN" sz="2800" i="1">
                        <a:solidFill>
                          <a:srgbClr val="15803D"/>
                        </a:solidFill>
                        <a:latin typeface="Cambria Math" panose="02040503050406030204" pitchFamily="18" charset="0"/>
                      </a:rPr>
                      <m:t>80</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 </m:t>
                    </m:r>
                    <m:r>
                      <a:rPr lang="en-IN" sz="2800" i="1">
                        <a:solidFill>
                          <a:srgbClr val="15803D"/>
                        </a:solidFill>
                        <a:latin typeface="Cambria Math" panose="02040503050406030204" pitchFamily="18" charset="0"/>
                      </a:rPr>
                      <m:t>80</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 </m:t>
                    </m:r>
                    <m:r>
                      <a:rPr lang="en-IN" sz="2800" i="1">
                        <a:solidFill>
                          <a:srgbClr val="15803D"/>
                        </a:solidFill>
                        <a:latin typeface="Cambria Math" panose="02040503050406030204" pitchFamily="18" charset="0"/>
                      </a:rPr>
                      <m:t>32</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(i) </a:t>
                </a:r>
                <a:r>
                  <a:rPr lang="en-IN" sz="2800">
                    <a:solidFill>
                      <a:srgbClr val="15803D"/>
                    </a:solidFill>
                    <a:latin typeface="Cambria Math" panose="02040503050406030204" pitchFamily="18" charset="0"/>
                  </a:rPr>
                  <a:t>$243$</a:t>
                </a:r>
                <a:r>
                  <a:rPr sz="2800" b="1">
                    <a:solidFill>
                      <a:srgbClr val="15803D"/>
                    </a:solidFill>
                    <a:latin typeface="Arial"/>
                  </a:rPr>
                  <a:t> ; (ii) </a:t>
                </a:r>
                <a:r>
                  <a:rPr lang="en-IN" sz="2800">
                    <a:solidFill>
                      <a:srgbClr val="15803D"/>
                    </a:solidFill>
                    <a:latin typeface="Cambria Math" panose="02040503050406030204" pitchFamily="18" charset="0"/>
                  </a:rPr>
                  <a:t>$1,\ 10,\ 40,\ 80,\ 80,\ 32$</a:t>
                </a:r>
                <a:endParaRPr sz="2800">
                  <a:solidFill>
                    <a:srgbClr val="15803D"/>
                  </a:solidFill>
                </a:endParaRPr>
              </a:p>
            </p:txBody>
          </p:sp>
        </mc:Fallback>
      </mc:AlternateContent>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Generating function: each match contributes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with </a:t>
                </a:r>
                <a14:m>
                  <m:oMath xmlns:m="http://schemas.openxmlformats.org/officeDocument/2006/math">
                    <m:r>
                      <a:rPr lang="en-IN" sz="2400" i="1">
                        <a:solidFill>
                          <a:srgbClr val="78350F"/>
                        </a:solidFill>
                        <a:latin typeface="Cambria Math" panose="02040503050406030204" pitchFamily="18" charset="0"/>
                      </a:rPr>
                      <m:t>𝑥</m:t>
                    </m:r>
                  </m:oMath>
                </a14:m>
                <a:r>
                  <a:rPr sz="2400" b="0">
                    <a:solidFill>
                      <a:srgbClr val="78350F"/>
                    </a:solidFill>
                    <a:latin typeface="Arial"/>
                  </a:rPr>
                  <a:t> marking an error.</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Generating function: each match contributes </a:t>
                </a:r>
                <a:r>
                  <a:rPr lang="en-IN" sz="2400">
                    <a:solidFill>
                      <a:srgbClr val="78350F"/>
                    </a:solidFill>
                    <a:latin typeface="Cambria Math" panose="02040503050406030204" pitchFamily="18" charset="0"/>
                  </a:rPr>
                  <a:t>$(1+2x)$</a:t>
                </a:r>
                <a:r>
                  <a:rPr sz="2400" b="0">
                    <a:solidFill>
                      <a:srgbClr val="78350F"/>
                    </a:solidFill>
                    <a:latin typeface="Arial"/>
                  </a:rPr>
                  <a:t>, with </a:t>
                </a:r>
                <a:r>
                  <a:rPr lang="en-IN" sz="2400">
                    <a:solidFill>
                      <a:srgbClr val="78350F"/>
                    </a:solidFill>
                    <a:latin typeface="Cambria Math" panose="02040503050406030204" pitchFamily="18" charset="0"/>
                  </a:rPr>
                  <a:t>$x$</a:t>
                </a:r>
                <a:r>
                  <a:rPr sz="2400" b="0">
                    <a:solidFill>
                      <a:srgbClr val="78350F"/>
                    </a:solidFill>
                    <a:latin typeface="Arial"/>
                  </a:rPr>
                  <a:t> marking an error.</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correct forecast for a match contributes the factor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a wrong one has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possibilities, contributing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oMath>
                </a14:m>
                <a:r>
                  <a:rPr sz="2400" b="0">
                    <a:solidFill>
                      <a:srgbClr val="111827"/>
                    </a:solidFill>
                    <a:latin typeface="Arial"/>
                  </a:rPr>
                  <a:t>. So one match gives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All five matches give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5</m:t>
                        </m:r>
                      </m:sup>
                    </m:sSup>
                    <m:r>
                      <m:rPr>
                        <m:sty m:val="p"/>
                      </m:rPr>
                      <a:rPr lang="en-IN" sz="2400">
                        <a:solidFill>
                          <a:srgbClr val="111827"/>
                        </a:solidFill>
                        <a:latin typeface="Cambria Math" panose="02040503050406030204" pitchFamily="18" charset="0"/>
                      </a:rPr>
                      <m:t>=</m:t>
                    </m:r>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𝑘</m:t>
                        </m:r>
                      </m:sub>
                      <m:sup>
                        <m:r>
                          <a:rPr lang="en-IN" sz="2400" i="1">
                            <a:solidFill>
                              <a:srgbClr val="111827"/>
                            </a:solidFill>
                            <a:latin typeface="Cambria Math" panose="02040503050406030204" pitchFamily="18" charset="0"/>
                          </a:rPr>
                          <m:t>​</m:t>
                        </m:r>
                      </m:sup>
                      <m:e>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𝑘</m:t>
                                </m:r>
                              </m:den>
                            </m:f>
                          </m:e>
                        </m:d>
                      </m:e>
                    </m:nary>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𝑘</m:t>
                        </m:r>
                      </m:sup>
                    </m:sSup>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𝑘</m:t>
                        </m:r>
                      </m:sup>
                    </m:sSup>
                  </m:oMath>
                </a14:m>
                <a:r>
                  <a:rPr sz="2400" b="0">
                    <a:solidFill>
                      <a:srgbClr val="111827"/>
                    </a:solidFill>
                    <a:latin typeface="Arial"/>
                  </a:rPr>
                  <a:t>; the coefficient of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𝑘</m:t>
                        </m:r>
                      </m:sup>
                    </m:sSup>
                  </m:oMath>
                </a14:m>
                <a:r>
                  <a:rPr sz="2400" b="0">
                    <a:solidFill>
                      <a:srgbClr val="111827"/>
                    </a:solidFill>
                    <a:latin typeface="Arial"/>
                  </a:rPr>
                  <a:t> is the number of forecasts with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 errors.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Coefficients: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40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80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80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32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Putting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5</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243</m:t>
                    </m:r>
                  </m:oMath>
                </a14:m>
                <a:r>
                  <a:rPr sz="2400" b="0">
                    <a:solidFill>
                      <a:srgbClr val="111827"/>
                    </a:solidFill>
                    <a:latin typeface="Arial"/>
                  </a:rPr>
                  <a:t>, the total number of forecasts.</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correct forecast for a match contributes the factor </a:t>
                </a:r>
                <a:r>
                  <a:rPr lang="en-IN" sz="2400">
                    <a:solidFill>
                      <a:srgbClr val="111827"/>
                    </a:solidFill>
                    <a:latin typeface="Cambria Math" panose="02040503050406030204" pitchFamily="18" charset="0"/>
                  </a:rPr>
                  <a:t>$1$</a:t>
                </a:r>
                <a:r>
                  <a:rPr sz="2400" b="0">
                    <a:solidFill>
                      <a:srgbClr val="111827"/>
                    </a:solidFill>
                    <a:latin typeface="Arial"/>
                  </a:rPr>
                  <a:t>; a wrong one has </a:t>
                </a:r>
                <a:r>
                  <a:rPr lang="en-IN" sz="2400">
                    <a:solidFill>
                      <a:srgbClr val="111827"/>
                    </a:solidFill>
                    <a:latin typeface="Cambria Math" panose="02040503050406030204" pitchFamily="18" charset="0"/>
                  </a:rPr>
                  <a:t>$2$</a:t>
                </a:r>
                <a:r>
                  <a:rPr sz="2400" b="0">
                    <a:solidFill>
                      <a:srgbClr val="111827"/>
                    </a:solidFill>
                    <a:latin typeface="Arial"/>
                  </a:rPr>
                  <a:t> possibilities, contributing </a:t>
                </a:r>
                <a:r>
                  <a:rPr lang="en-IN" sz="2400">
                    <a:solidFill>
                      <a:srgbClr val="111827"/>
                    </a:solidFill>
                    <a:latin typeface="Cambria Math" panose="02040503050406030204" pitchFamily="18" charset="0"/>
                  </a:rPr>
                  <a:t>$2x$</a:t>
                </a:r>
                <a:r>
                  <a:rPr sz="2400" b="0">
                    <a:solidFill>
                      <a:srgbClr val="111827"/>
                    </a:solidFill>
                    <a:latin typeface="Arial"/>
                  </a:rPr>
                  <a:t>. So one match gives </a:t>
                </a:r>
                <a:r>
                  <a:rPr lang="en-IN" sz="2400">
                    <a:solidFill>
                      <a:srgbClr val="111827"/>
                    </a:solidFill>
                    <a:latin typeface="Cambria Math" panose="02040503050406030204" pitchFamily="18" charset="0"/>
                  </a:rPr>
                  <a:t>$1+2x$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All five matches give </a:t>
                </a:r>
                <a:r>
                  <a:rPr lang="en-IN" sz="2400">
                    <a:solidFill>
                      <a:srgbClr val="111827"/>
                    </a:solidFill>
                    <a:latin typeface="Cambria Math" panose="02040503050406030204" pitchFamily="18" charset="0"/>
                  </a:rPr>
                  <a:t>$(1+2x)^5=\sum_k\binom5k2^kx^k$</a:t>
                </a:r>
                <a:r>
                  <a:rPr sz="2400" b="0">
                    <a:solidFill>
                      <a:srgbClr val="111827"/>
                    </a:solidFill>
                    <a:latin typeface="Arial"/>
                  </a:rPr>
                  <a:t>; the coefficient of </a:t>
                </a:r>
                <a:r>
                  <a:rPr lang="en-IN" sz="2400">
                    <a:solidFill>
                      <a:srgbClr val="111827"/>
                    </a:solidFill>
                    <a:latin typeface="Cambria Math" panose="02040503050406030204" pitchFamily="18" charset="0"/>
                  </a:rPr>
                  <a:t>$x^k$</a:t>
                </a:r>
                <a:r>
                  <a:rPr sz="2400" b="0">
                    <a:solidFill>
                      <a:srgbClr val="111827"/>
                    </a:solidFill>
                    <a:latin typeface="Arial"/>
                  </a:rPr>
                  <a:t> is the number of forecasts with </a:t>
                </a:r>
                <a:r>
                  <a:rPr lang="en-IN" sz="2400">
                    <a:solidFill>
                      <a:srgbClr val="111827"/>
                    </a:solidFill>
                    <a:latin typeface="Cambria Math" panose="02040503050406030204" pitchFamily="18" charset="0"/>
                  </a:rPr>
                  <a:t>$k$</a:t>
                </a:r>
                <a:r>
                  <a:rPr sz="2400" b="0">
                    <a:solidFill>
                      <a:srgbClr val="111827"/>
                    </a:solidFill>
                    <a:latin typeface="Arial"/>
                  </a:rPr>
                  <a:t> errors.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Coefficients: </a:t>
                </a:r>
                <a:r>
                  <a:rPr lang="en-IN" sz="2400">
                    <a:solidFill>
                      <a:srgbClr val="111827"/>
                    </a:solidFill>
                    <a:latin typeface="Cambria Math" panose="02040503050406030204" pitchFamily="18" charset="0"/>
                  </a:rPr>
                  <a:t>$1,\ 10,\ 40,\ 80,\ 80,\ 32$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Putting </a:t>
                </a:r>
                <a:r>
                  <a:rPr lang="en-IN" sz="2400">
                    <a:solidFill>
                      <a:srgbClr val="111827"/>
                    </a:solidFill>
                    <a:latin typeface="Cambria Math" panose="02040503050406030204" pitchFamily="18" charset="0"/>
                  </a:rPr>
                  <a:t>$x=1$</a:t>
                </a:r>
                <a:r>
                  <a:rPr sz="2400" b="0">
                    <a:solidFill>
                      <a:srgbClr val="111827"/>
                    </a:solidFill>
                    <a:latin typeface="Arial"/>
                  </a:rPr>
                  <a:t>: </a:t>
                </a:r>
                <a:r>
                  <a:rPr lang="en-IN" sz="2400">
                    <a:solidFill>
                      <a:srgbClr val="111827"/>
                    </a:solidFill>
                    <a:latin typeface="Cambria Math" panose="02040503050406030204" pitchFamily="18" charset="0"/>
                  </a:rPr>
                  <a:t>$(1+2)^5=243$</a:t>
                </a:r>
                <a:r>
                  <a:rPr sz="2400" b="0">
                    <a:solidFill>
                      <a:srgbClr val="111827"/>
                    </a:solidFill>
                    <a:latin typeface="Arial"/>
                  </a:rPr>
                  <a:t>, the total number of forecasts.</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(i) </a:t>
                </a:r>
                <a14:m>
                  <m:oMath xmlns:m="http://schemas.openxmlformats.org/officeDocument/2006/math">
                    <m:r>
                      <a:rPr lang="en-IN" sz="2800" i="1">
                        <a:solidFill>
                          <a:srgbClr val="15803D"/>
                        </a:solidFill>
                        <a:latin typeface="Cambria Math" panose="02040503050406030204" pitchFamily="18" charset="0"/>
                      </a:rPr>
                      <m:t>243</m:t>
                    </m:r>
                  </m:oMath>
                </a14:m>
                <a:r>
                  <a:rPr sz="2800" b="1">
                    <a:solidFill>
                      <a:srgbClr val="15803D"/>
                    </a:solidFill>
                    <a:latin typeface="Arial"/>
                  </a:rPr>
                  <a:t> ; (ii) </a:t>
                </a:r>
                <a14:m>
                  <m:oMath xmlns:m="http://schemas.openxmlformats.org/officeDocument/2006/math">
                    <m:r>
                      <a:rPr lang="en-IN" sz="2800" i="1">
                        <a:solidFill>
                          <a:srgbClr val="15803D"/>
                        </a:solidFill>
                        <a:latin typeface="Cambria Math" panose="02040503050406030204" pitchFamily="18" charset="0"/>
                      </a:rPr>
                      <m:t>1</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 </m:t>
                    </m:r>
                    <m:r>
                      <a:rPr lang="en-IN" sz="2800" i="1">
                        <a:solidFill>
                          <a:srgbClr val="15803D"/>
                        </a:solidFill>
                        <a:latin typeface="Cambria Math" panose="02040503050406030204" pitchFamily="18" charset="0"/>
                      </a:rPr>
                      <m:t>10</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 </m:t>
                    </m:r>
                    <m:r>
                      <a:rPr lang="en-IN" sz="2800" i="1">
                        <a:solidFill>
                          <a:srgbClr val="15803D"/>
                        </a:solidFill>
                        <a:latin typeface="Cambria Math" panose="02040503050406030204" pitchFamily="18" charset="0"/>
                      </a:rPr>
                      <m:t>40</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 </m:t>
                    </m:r>
                    <m:r>
                      <a:rPr lang="en-IN" sz="2800" i="1">
                        <a:solidFill>
                          <a:srgbClr val="15803D"/>
                        </a:solidFill>
                        <a:latin typeface="Cambria Math" panose="02040503050406030204" pitchFamily="18" charset="0"/>
                      </a:rPr>
                      <m:t>80</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 </m:t>
                    </m:r>
                    <m:r>
                      <a:rPr lang="en-IN" sz="2800" i="1">
                        <a:solidFill>
                          <a:srgbClr val="15803D"/>
                        </a:solidFill>
                        <a:latin typeface="Cambria Math" panose="02040503050406030204" pitchFamily="18" charset="0"/>
                      </a:rPr>
                      <m:t>80</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 </m:t>
                    </m:r>
                    <m:r>
                      <a:rPr lang="en-IN" sz="2800" i="1">
                        <a:solidFill>
                          <a:srgbClr val="15803D"/>
                        </a:solidFill>
                        <a:latin typeface="Cambria Math" panose="02040503050406030204" pitchFamily="18" charset="0"/>
                      </a:rPr>
                      <m:t>32</m:t>
                    </m:r>
                  </m:oMath>
                </a14:m>
                <a:endParaRPr sz="2800">
                  <a:solidFill>
                    <a:srgbClr val="15803D"/>
                  </a:solidFill>
                </a:endParaRPr>
              </a:p>
            </p:txBody>
          </p:sp>
        </mc:Choice>
        <mc:Fallback>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(i) </a:t>
                </a:r>
                <a:r>
                  <a:rPr lang="en-IN" sz="2800">
                    <a:solidFill>
                      <a:srgbClr val="15803D"/>
                    </a:solidFill>
                    <a:latin typeface="Cambria Math" panose="02040503050406030204" pitchFamily="18" charset="0"/>
                  </a:rPr>
                  <a:t>$243$</a:t>
                </a:r>
                <a:r>
                  <a:rPr sz="2800" b="1">
                    <a:solidFill>
                      <a:srgbClr val="15803D"/>
                    </a:solidFill>
                    <a:latin typeface="Arial"/>
                  </a:rPr>
                  <a:t> ; (ii) </a:t>
                </a:r>
                <a:r>
                  <a:rPr lang="en-IN" sz="2800">
                    <a:solidFill>
                      <a:srgbClr val="15803D"/>
                    </a:solidFill>
                    <a:latin typeface="Cambria Math" panose="02040503050406030204" pitchFamily="18" charset="0"/>
                  </a:rPr>
                  <a:t>$1,\ 10,\ 40,\ 80,\ 80,\ 32$</a:t>
                </a:r>
                <a:endParaRPr sz="2800">
                  <a:solidFill>
                    <a:srgbClr val="15803D"/>
                  </a:solidFill>
                </a:endParaRPr>
              </a:p>
            </p:txBody>
          </p:sp>
        </mc:Fallback>
      </mc:AlternateContent>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each trial has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'good' and </a:t>
                </a:r>
                <a14:m>
                  <m:oMath xmlns:m="http://schemas.openxmlformats.org/officeDocument/2006/math">
                    <m:r>
                      <a:rPr lang="en-IN" sz="2400" i="1">
                        <a:solidFill>
                          <a:srgbClr val="111827"/>
                        </a:solidFill>
                        <a:latin typeface="Cambria Math" panose="02040503050406030204" pitchFamily="18" charset="0"/>
                      </a:rPr>
                      <m:t>𝑚</m:t>
                    </m:r>
                  </m:oMath>
                </a14:m>
                <a:r>
                  <a:rPr sz="2400" b="0">
                    <a:solidFill>
                      <a:srgbClr val="111827"/>
                    </a:solidFill>
                    <a:latin typeface="Arial"/>
                  </a:rPr>
                  <a:t> 'bad' outcomes, the number of outcomes with exactly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 bad ones in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trials is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𝑘</m:t>
                            </m:r>
                          </m:den>
                        </m:f>
                      </m:e>
                    </m:d>
                    <m:sSup>
                      <m:e>
                        <m:r>
                          <a:rPr lang="en-IN" sz="2400" i="1">
                            <a:solidFill>
                              <a:srgbClr val="111827"/>
                            </a:solidFill>
                            <a:latin typeface="Cambria Math" panose="02040503050406030204" pitchFamily="18" charset="0"/>
                          </a:rPr>
                          <m:t>𝑚</m:t>
                        </m:r>
                      </m:e>
                      <m:sup>
                        <m:r>
                          <a:rPr lang="en-IN" sz="2400" i="1">
                            <a:solidFill>
                              <a:srgbClr val="111827"/>
                            </a:solidFill>
                            <a:latin typeface="Cambria Math" panose="02040503050406030204" pitchFamily="18" charset="0"/>
                          </a:rPr>
                          <m:t>𝑘</m:t>
                        </m:r>
                      </m:sup>
                    </m:sSup>
                  </m:oMath>
                </a14:m>
                <a:r>
                  <a:rPr sz="2400" b="0">
                    <a:solidFill>
                      <a:srgbClr val="111827"/>
                    </a:solidFill>
                    <a:latin typeface="Arial"/>
                  </a:rPr>
                  <a:t>, and </a:t>
                </a:r>
                <a14:m>
                  <m:oMath xmlns:m="http://schemas.openxmlformats.org/officeDocument/2006/math">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𝑘</m:t>
                        </m:r>
                      </m:sub>
                      <m:sup>
                        <m:r>
                          <a:rPr lang="en-IN" sz="2400" i="1">
                            <a:solidFill>
                              <a:srgbClr val="111827"/>
                            </a:solidFill>
                            <a:latin typeface="Cambria Math" panose="02040503050406030204" pitchFamily="18" charset="0"/>
                          </a:rPr>
                          <m:t>​</m:t>
                        </m:r>
                      </m:sup>
                      <m:e>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𝑘</m:t>
                                </m:r>
                              </m:den>
                            </m:f>
                          </m:e>
                        </m:d>
                      </m:e>
                    </m:nary>
                    <m:sSup>
                      <m:e>
                        <m:r>
                          <a:rPr lang="en-IN" sz="2400" i="1">
                            <a:solidFill>
                              <a:srgbClr val="111827"/>
                            </a:solidFill>
                            <a:latin typeface="Cambria Math" panose="02040503050406030204" pitchFamily="18" charset="0"/>
                          </a:rPr>
                          <m:t>𝑚</m:t>
                        </m:r>
                      </m:e>
                      <m:sup>
                        <m:r>
                          <a:rPr lang="en-IN" sz="2400" i="1">
                            <a:solidFill>
                              <a:srgbClr val="111827"/>
                            </a:solidFill>
                            <a:latin typeface="Cambria Math" panose="02040503050406030204" pitchFamily="18" charset="0"/>
                          </a:rPr>
                          <m:t>𝑘</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Putting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in a generating function gives the total count - a one-line check on a table of counts.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Probability link: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nor/>
                      </m:rPr>
                      <a:rPr lang="en-IN" sz="2400" i="1">
                        <a:solidFill>
                          <a:srgbClr val="111827"/>
                        </a:solidFill>
                        <a:latin typeface="Cambria Math" panose="02040503050406030204" pitchFamily="18" charset="0"/>
                      </a:rPr>
                      <m:t> 𝑒𝑟𝑟𝑜𝑟𝑠</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𝑘</m:t>
                            </m:r>
                          </m:den>
                        </m:f>
                      </m:e>
                    </m:d>
                    <m:r>
                      <m:rPr>
                        <m:sty m:val="p"/>
                      </m:rPr>
                      <a:rPr lang="en-IN" sz="2400">
                        <a:solidFill>
                          <a:srgbClr val="111827"/>
                        </a:solidFill>
                        <a:latin typeface="Cambria Math" panose="02040503050406030204" pitchFamily="18" charset="0"/>
                      </a:rPr>
                      <m:t>(</m:t>
                    </m:r>
                    <m:f>
                      <m:fPr>
                        <m:type m:val="lin"/>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sup>
                    </m:sSup>
                    <m:r>
                      <m:rPr>
                        <m:sty m:val="p"/>
                      </m:rPr>
                      <a:rPr lang="en-IN" sz="2400">
                        <a:solidFill>
                          <a:srgbClr val="111827"/>
                        </a:solidFill>
                        <a:latin typeface="Cambria Math" panose="02040503050406030204" pitchFamily="18" charset="0"/>
                      </a:rPr>
                      <m:t>(</m:t>
                    </m:r>
                    <m:f>
                      <m:fPr>
                        <m:type m:val="lin"/>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𝑘</m:t>
                        </m:r>
                      </m:sup>
                    </m:sSup>
                  </m:oMath>
                </a14:m>
                <a:r>
                  <a:rPr sz="2400" b="0">
                    <a:solidFill>
                      <a:srgbClr val="111827"/>
                    </a:solidFill>
                    <a:latin typeface="Arial"/>
                  </a:rPr>
                  <a:t> for a random forecast against a random result.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each trial has </a:t>
                </a:r>
                <a:r>
                  <a:rPr lang="en-IN" sz="2400">
                    <a:solidFill>
                      <a:srgbClr val="111827"/>
                    </a:solidFill>
                    <a:latin typeface="Cambria Math" panose="02040503050406030204" pitchFamily="18" charset="0"/>
                  </a:rPr>
                  <a:t>$1$</a:t>
                </a:r>
                <a:r>
                  <a:rPr sz="2400" b="0">
                    <a:solidFill>
                      <a:srgbClr val="111827"/>
                    </a:solidFill>
                    <a:latin typeface="Arial"/>
                  </a:rPr>
                  <a:t> 'good' and </a:t>
                </a:r>
                <a:r>
                  <a:rPr lang="en-IN" sz="2400">
                    <a:solidFill>
                      <a:srgbClr val="111827"/>
                    </a:solidFill>
                    <a:latin typeface="Cambria Math" panose="02040503050406030204" pitchFamily="18" charset="0"/>
                  </a:rPr>
                  <a:t>$m$</a:t>
                </a:r>
                <a:r>
                  <a:rPr sz="2400" b="0">
                    <a:solidFill>
                      <a:srgbClr val="111827"/>
                    </a:solidFill>
                    <a:latin typeface="Arial"/>
                  </a:rPr>
                  <a:t> 'bad' outcomes, the number of outcomes with exactly </a:t>
                </a:r>
                <a:r>
                  <a:rPr lang="en-IN" sz="2400">
                    <a:solidFill>
                      <a:srgbClr val="111827"/>
                    </a:solidFill>
                    <a:latin typeface="Cambria Math" panose="02040503050406030204" pitchFamily="18" charset="0"/>
                  </a:rPr>
                  <a:t>$k$</a:t>
                </a:r>
                <a:r>
                  <a:rPr sz="2400" b="0">
                    <a:solidFill>
                      <a:srgbClr val="111827"/>
                    </a:solidFill>
                    <a:latin typeface="Arial"/>
                  </a:rPr>
                  <a:t> bad ones in </a:t>
                </a:r>
                <a:r>
                  <a:rPr lang="en-IN" sz="2400">
                    <a:solidFill>
                      <a:srgbClr val="111827"/>
                    </a:solidFill>
                    <a:latin typeface="Cambria Math" panose="02040503050406030204" pitchFamily="18" charset="0"/>
                  </a:rPr>
                  <a:t>$n$</a:t>
                </a:r>
                <a:r>
                  <a:rPr sz="2400" b="0">
                    <a:solidFill>
                      <a:srgbClr val="111827"/>
                    </a:solidFill>
                    <a:latin typeface="Arial"/>
                  </a:rPr>
                  <a:t> trials is </a:t>
                </a:r>
                <a:r>
                  <a:rPr lang="en-IN" sz="2400">
                    <a:solidFill>
                      <a:srgbClr val="111827"/>
                    </a:solidFill>
                    <a:latin typeface="Cambria Math" panose="02040503050406030204" pitchFamily="18" charset="0"/>
                  </a:rPr>
                  <a:t>$\binom nk m^k$</a:t>
                </a:r>
                <a:r>
                  <a:rPr sz="2400" b="0">
                    <a:solidFill>
                      <a:srgbClr val="111827"/>
                    </a:solidFill>
                    <a:latin typeface="Arial"/>
                  </a:rPr>
                  <a:t>, and </a:t>
                </a:r>
                <a:r>
                  <a:rPr lang="en-IN" sz="2400">
                    <a:solidFill>
                      <a:srgbClr val="111827"/>
                    </a:solidFill>
                    <a:latin typeface="Cambria Math" panose="02040503050406030204" pitchFamily="18" charset="0"/>
                  </a:rPr>
                  <a:t>$\sum_k\binom nkm^k=(1+m)^n$</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Putting </a:t>
                </a:r>
                <a:r>
                  <a:rPr lang="en-IN" sz="2400">
                    <a:solidFill>
                      <a:srgbClr val="111827"/>
                    </a:solidFill>
                    <a:latin typeface="Cambria Math" panose="02040503050406030204" pitchFamily="18" charset="0"/>
                  </a:rPr>
                  <a:t>$x=1$</a:t>
                </a:r>
                <a:r>
                  <a:rPr sz="2400" b="0">
                    <a:solidFill>
                      <a:srgbClr val="111827"/>
                    </a:solidFill>
                    <a:latin typeface="Arial"/>
                  </a:rPr>
                  <a:t> in a generating function gives the total count - a one-line check on a table of counts.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Probability link: </a:t>
                </a:r>
                <a:r>
                  <a:rPr lang="en-IN" sz="2400">
                    <a:solidFill>
                      <a:srgbClr val="111827"/>
                    </a:solidFill>
                    <a:latin typeface="Cambria Math" panose="02040503050406030204" pitchFamily="18" charset="0"/>
                  </a:rPr>
                  <a:t>$P(k\text{ errors})=\binom nk(\tfrac13)^{n-k}(\tfrac23)^k$</a:t>
                </a:r>
                <a:r>
                  <a:rPr sz="2400" b="0">
                    <a:solidFill>
                      <a:srgbClr val="111827"/>
                    </a:solidFill>
                    <a:latin typeface="Arial"/>
                  </a:rPr>
                  <a:t> for a random forecast against a random result.</a:t>
                </a:r>
                <a:endParaRPr sz="2400">
                  <a:solidFill>
                    <a:srgbClr val="111827"/>
                  </a:solidFill>
                </a:endParaRPr>
              </a:p>
            </p:txBody>
          </p:sp>
        </mc:Fallback>
      </mc:AlternateContent>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3123692"/>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In a certain college at the B.Sc. examination,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candidates obtained first class honours in each of the following subjects: Physics, Chemistry and Maths, no candidate obtaining honours in more than one subject. The number of ways in which </a:t>
                </a:r>
                <a14:m>
                  <m:oMath xmlns:m="http://schemas.openxmlformats.org/officeDocument/2006/math">
                    <m:r>
                      <a:rPr lang="en-IN" sz="2400" i="1">
                        <a:solidFill>
                          <a:srgbClr val="111827"/>
                        </a:solidFill>
                        <a:latin typeface="Cambria Math" panose="02040503050406030204" pitchFamily="18" charset="0"/>
                      </a:rPr>
                      <m:t>9</m:t>
                    </m:r>
                  </m:oMath>
                </a14:m>
                <a:r>
                  <a:rPr sz="2400" b="0">
                    <a:solidFill>
                      <a:srgbClr val="111827"/>
                    </a:solidFill>
                    <a:latin typeface="Arial"/>
                  </a:rPr>
                  <a:t> scholarships of different value can be awarded to the </a:t>
                </a:r>
                <a14:m>
                  <m:oMath xmlns:m="http://schemas.openxmlformats.org/officeDocument/2006/math">
                    <m:r>
                      <a:rPr lang="en-IN" sz="2400" i="1">
                        <a:solidFill>
                          <a:srgbClr val="111827"/>
                        </a:solidFill>
                        <a:latin typeface="Cambria Math" panose="02040503050406030204" pitchFamily="18" charset="0"/>
                      </a:rPr>
                      <m:t>9</m:t>
                    </m:r>
                  </m:oMath>
                </a14:m>
                <a:r>
                  <a:rPr sz="2400" b="0">
                    <a:solidFill>
                      <a:srgbClr val="111827"/>
                    </a:solidFill>
                    <a:latin typeface="Arial"/>
                  </a:rPr>
                  <a:t> candidates, if due regard is to be paid only to the places obtained by candidates in any one subject, is ______ .</a:t>
                </a:r>
                <a:endParaRPr sz="2400">
                  <a:solidFill>
                    <a:srgbClr val="111827"/>
                  </a:solidFill>
                </a:endParaRPr>
              </a:p>
            </p:txBody>
          </p:sp>
        </mc:Choice>
        <mc:Fallback>
          <p:sp>
            <p:nvSpPr>
              <p:cNvPr id="4" name="Rounded Rectangle 3"/>
              <p:cNvSpPr/>
              <p:nvPr/>
            </p:nvSpPr>
            <p:spPr>
              <a:xfrm>
                <a:off x="731520" y="1280160"/>
                <a:ext cx="10725912" cy="3123692"/>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In a certain college at the B.Sc. examination, </a:t>
                </a:r>
                <a:r>
                  <a:rPr lang="en-IN" sz="2400">
                    <a:solidFill>
                      <a:srgbClr val="111827"/>
                    </a:solidFill>
                    <a:latin typeface="Cambria Math" panose="02040503050406030204" pitchFamily="18" charset="0"/>
                  </a:rPr>
                  <a:t>$3$</a:t>
                </a:r>
                <a:r>
                  <a:rPr sz="2400" b="0">
                    <a:solidFill>
                      <a:srgbClr val="111827"/>
                    </a:solidFill>
                    <a:latin typeface="Arial"/>
                  </a:rPr>
                  <a:t> candidates obtained first class honours in each of the following subjects: Physics, Chemistry and Maths, no candidate obtaining honours in more than one subject. The number of ways in which </a:t>
                </a:r>
                <a:r>
                  <a:rPr lang="en-IN" sz="2400">
                    <a:solidFill>
                      <a:srgbClr val="111827"/>
                    </a:solidFill>
                    <a:latin typeface="Cambria Math" panose="02040503050406030204" pitchFamily="18" charset="0"/>
                  </a:rPr>
                  <a:t>$9$</a:t>
                </a:r>
                <a:r>
                  <a:rPr sz="2400" b="0">
                    <a:solidFill>
                      <a:srgbClr val="111827"/>
                    </a:solidFill>
                    <a:latin typeface="Arial"/>
                  </a:rPr>
                  <a:t> scholarships of different value can be awarded to the </a:t>
                </a:r>
                <a:r>
                  <a:rPr lang="en-IN" sz="2400">
                    <a:solidFill>
                      <a:srgbClr val="111827"/>
                    </a:solidFill>
                    <a:latin typeface="Cambria Math" panose="02040503050406030204" pitchFamily="18" charset="0"/>
                  </a:rPr>
                  <a:t>$9$</a:t>
                </a:r>
                <a:r>
                  <a:rPr sz="2400" b="0">
                    <a:solidFill>
                      <a:srgbClr val="111827"/>
                    </a:solidFill>
                    <a:latin typeface="Arial"/>
                  </a:rPr>
                  <a:t> candidates, if due regard is to be paid only to the places obtained by candidates in any one subject, is ______ .</a:t>
                </a:r>
                <a:endParaRPr sz="2400">
                  <a:solidFill>
                    <a:srgbClr val="111827"/>
                  </a:solidFill>
                </a:endParaRPr>
              </a:p>
            </p:txBody>
          </p:sp>
        </mc:Fallback>
      </mc:AlternateContent>
      <p:sp>
        <p:nvSpPr>
          <p:cNvPr id="5" name="Rectangle 4"/>
          <p:cNvSpPr/>
          <p:nvPr/>
        </p:nvSpPr>
        <p:spPr>
          <a:xfrm>
            <a:off x="731520" y="4632452"/>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Distribution of distinct objects into groups with order fixed inside each group (multinomial)</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Within a subject the places fix who gets which scholarship, so only the *set* of </a:t>
                </a:r>
                <a14:m>
                  <m:oMath xmlns:m="http://schemas.openxmlformats.org/officeDocument/2006/math">
                    <m:r>
                      <a:rPr lang="en-IN" sz="2400" i="1">
                        <a:solidFill>
                          <a:srgbClr val="78350F"/>
                        </a:solidFill>
                        <a:latin typeface="Cambria Math" panose="02040503050406030204" pitchFamily="18" charset="0"/>
                      </a:rPr>
                      <m:t>3</m:t>
                    </m:r>
                  </m:oMath>
                </a14:m>
                <a:r>
                  <a:rPr sz="2400" b="0">
                    <a:solidFill>
                      <a:srgbClr val="78350F"/>
                    </a:solidFill>
                    <a:latin typeface="Arial"/>
                  </a:rPr>
                  <a:t> scholarships for each subject matters.</a:t>
                </a:r>
                <a:endParaRPr sz="2400">
                  <a:solidFill>
                    <a:srgbClr val="78350F"/>
                  </a:solidFill>
                </a:endParaRPr>
              </a:p>
            </p:txBody>
          </p:sp>
        </mc:Choice>
        <mc:Fallback>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Within a subject the places fix who gets which scholarship, so only the *set* of </a:t>
                </a:r>
                <a:r>
                  <a:rPr lang="en-IN" sz="2400">
                    <a:solidFill>
                      <a:srgbClr val="78350F"/>
                    </a:solidFill>
                    <a:latin typeface="Cambria Math" panose="02040503050406030204" pitchFamily="18" charset="0"/>
                  </a:rPr>
                  <a:t>$3$</a:t>
                </a:r>
                <a:r>
                  <a:rPr sz="2400" b="0">
                    <a:solidFill>
                      <a:srgbClr val="78350F"/>
                    </a:solidFill>
                    <a:latin typeface="Arial"/>
                  </a:rPr>
                  <a:t> scholarships for each subject matters.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There are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candidates in each of Physics (P), Chemistry (C) and Maths (M), and </a:t>
                </a:r>
                <a14:m>
                  <m:oMath xmlns:m="http://schemas.openxmlformats.org/officeDocument/2006/math">
                    <m:r>
                      <a:rPr lang="en-IN" sz="2400" i="1">
                        <a:solidFill>
                          <a:srgbClr val="111827"/>
                        </a:solidFill>
                        <a:latin typeface="Cambria Math" panose="02040503050406030204" pitchFamily="18" charset="0"/>
                      </a:rPr>
                      <m:t>9</m:t>
                    </m:r>
                  </m:oMath>
                </a14:m>
                <a:r>
                  <a:rPr sz="2400" b="0">
                    <a:solidFill>
                      <a:srgbClr val="111827"/>
                    </a:solidFill>
                    <a:latin typeface="Arial"/>
                  </a:rPr>
                  <a:t> scholarships of different values.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Within one subject, the candidate in first place gets the highest of that subject's three scholarships, and so on; the places fix the order, so only the three scholarships assigned to the subject matter.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we must split the </a:t>
                </a:r>
                <a14:m>
                  <m:oMath xmlns:m="http://schemas.openxmlformats.org/officeDocument/2006/math">
                    <m:r>
                      <a:rPr lang="en-IN" sz="2400" i="1">
                        <a:solidFill>
                          <a:srgbClr val="111827"/>
                        </a:solidFill>
                        <a:latin typeface="Cambria Math" panose="02040503050406030204" pitchFamily="18" charset="0"/>
                      </a:rPr>
                      <m:t>9</m:t>
                    </m:r>
                  </m:oMath>
                </a14:m>
                <a:r>
                  <a:rPr sz="2400" b="0">
                    <a:solidFill>
                      <a:srgbClr val="111827"/>
                    </a:solidFill>
                    <a:latin typeface="Arial"/>
                  </a:rPr>
                  <a:t> different scholarships into three labelled groups of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(for M, P, C).</a:t>
                </a:r>
                <a:endParaRPr sz="2400">
                  <a:solidFill>
                    <a:srgbClr val="111827"/>
                  </a:solidFill>
                </a:endParaRPr>
              </a:p>
            </p:txBody>
          </p:sp>
        </mc:Choice>
        <mc:Fallback>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There are </a:t>
                </a:r>
                <a:r>
                  <a:rPr lang="en-IN" sz="2400">
                    <a:solidFill>
                      <a:srgbClr val="111827"/>
                    </a:solidFill>
                    <a:latin typeface="Cambria Math" panose="02040503050406030204" pitchFamily="18" charset="0"/>
                  </a:rPr>
                  <a:t>$3$</a:t>
                </a:r>
                <a:r>
                  <a:rPr sz="2400" b="0">
                    <a:solidFill>
                      <a:srgbClr val="111827"/>
                    </a:solidFill>
                    <a:latin typeface="Arial"/>
                  </a:rPr>
                  <a:t> candidates in each of Physics (P), Chemistry (C) and Maths (M), and </a:t>
                </a:r>
                <a:r>
                  <a:rPr lang="en-IN" sz="2400">
                    <a:solidFill>
                      <a:srgbClr val="111827"/>
                    </a:solidFill>
                    <a:latin typeface="Cambria Math" panose="02040503050406030204" pitchFamily="18" charset="0"/>
                  </a:rPr>
                  <a:t>$9$</a:t>
                </a:r>
                <a:r>
                  <a:rPr sz="2400" b="0">
                    <a:solidFill>
                      <a:srgbClr val="111827"/>
                    </a:solidFill>
                    <a:latin typeface="Arial"/>
                  </a:rPr>
                  <a:t> scholarships of different values.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Within one subject, the candidate in first place gets the highest of that subject's three scholarships, and so on; the places fix the order, so only the three scholarships assigned to the subject matter.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we must split the </a:t>
                </a:r>
                <a:r>
                  <a:rPr lang="en-IN" sz="2400">
                    <a:solidFill>
                      <a:srgbClr val="111827"/>
                    </a:solidFill>
                    <a:latin typeface="Cambria Math" panose="02040503050406030204" pitchFamily="18" charset="0"/>
                  </a:rPr>
                  <a:t>$9$</a:t>
                </a:r>
                <a:r>
                  <a:rPr sz="2400" b="0">
                    <a:solidFill>
                      <a:srgbClr val="111827"/>
                    </a:solidFill>
                    <a:latin typeface="Arial"/>
                  </a:rPr>
                  <a:t> different scholarships into three labelled groups of </a:t>
                </a:r>
                <a:r>
                  <a:rPr lang="en-IN" sz="2400">
                    <a:solidFill>
                      <a:srgbClr val="111827"/>
                    </a:solidFill>
                    <a:latin typeface="Cambria Math" panose="02040503050406030204" pitchFamily="18" charset="0"/>
                  </a:rPr>
                  <a:t>$3$</a:t>
                </a:r>
                <a:r>
                  <a:rPr sz="2400" b="0">
                    <a:solidFill>
                      <a:srgbClr val="111827"/>
                    </a:solidFill>
                    <a:latin typeface="Arial"/>
                  </a:rPr>
                  <a:t> (for M, P, C).</a:t>
                </a:r>
                <a:endParaRPr sz="2400">
                  <a:solidFill>
                    <a:srgbClr val="111827"/>
                  </a:solidFill>
                </a:endParaRPr>
              </a:p>
            </p:txBody>
          </p:sp>
        </mc:Fallback>
      </mc:AlternateContent>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Number of ways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362880</m:t>
                        </m:r>
                      </m:num>
                      <m:den>
                        <m:r>
                          <a:rPr lang="en-IN" sz="2400" i="1">
                            <a:solidFill>
                              <a:srgbClr val="111827"/>
                            </a:solidFill>
                            <a:latin typeface="Cambria Math" panose="02040503050406030204" pitchFamily="18" charset="0"/>
                          </a:rPr>
                          <m:t>216</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1680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It is the same as the number of arrangements of the word MMMPPPCCC.</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Number of ways </a:t>
                </a:r>
                <a:r>
                  <a:rPr lang="en-IN" sz="2400">
                    <a:solidFill>
                      <a:srgbClr val="111827"/>
                    </a:solidFill>
                    <a:latin typeface="Cambria Math" panose="02040503050406030204" pitchFamily="18" charset="0"/>
                  </a:rPr>
                  <a:t>$=\dfrac{9!}{3!\,3!\,3!}=\dfrac{362880}{216}=1680$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It is the same as the number of arrangements of the word MMMPPPCCC.</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1680</a:t>
            </a:r>
            <a:endParaRPr sz="2800">
              <a:solidFill>
                <a:srgbClr val="15803D"/>
              </a:solidFill>
            </a:endParaRP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Choose the scholarships for each subject one subject at a time.</a:t>
            </a:r>
            <a:endParaRPr sz="2400">
              <a:solidFill>
                <a:srgbClr val="78350F"/>
              </a:solidFill>
            </a:endParaRPr>
          </a:p>
        </p:txBody>
      </p:sp>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Choose the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scholarship values for Maths: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3</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From the remaining </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 choose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for Physics: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num>
                          <m:den>
                            <m:r>
                              <a:rPr lang="en-IN" sz="2400" i="1">
                                <a:solidFill>
                                  <a:srgbClr val="111827"/>
                                </a:solidFill>
                                <a:latin typeface="Cambria Math" panose="02040503050406030204" pitchFamily="18" charset="0"/>
                              </a:rPr>
                              <m:t>3</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last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go to Chemistry: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3</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1680</m:t>
                    </m:r>
                  </m:oMath>
                </a14:m>
                <a:r>
                  <a:rPr sz="2400" b="0">
                    <a:solidFill>
                      <a:srgbClr val="111827"/>
                    </a:solidFill>
                    <a:latin typeface="Arial"/>
                  </a:rPr>
                  <a:t>; each subject's three values are then given to its candidates in order of their places.</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Choose the </a:t>
                </a:r>
                <a:r>
                  <a:rPr lang="en-IN" sz="2400">
                    <a:solidFill>
                      <a:srgbClr val="111827"/>
                    </a:solidFill>
                    <a:latin typeface="Cambria Math" panose="02040503050406030204" pitchFamily="18" charset="0"/>
                  </a:rPr>
                  <a:t>$3$</a:t>
                </a:r>
                <a:r>
                  <a:rPr sz="2400" b="0">
                    <a:solidFill>
                      <a:srgbClr val="111827"/>
                    </a:solidFill>
                    <a:latin typeface="Arial"/>
                  </a:rPr>
                  <a:t> scholarship values for Maths: </a:t>
                </a:r>
                <a:r>
                  <a:rPr lang="en-IN" sz="2400">
                    <a:solidFill>
                      <a:srgbClr val="111827"/>
                    </a:solidFill>
                    <a:latin typeface="Cambria Math" panose="02040503050406030204" pitchFamily="18" charset="0"/>
                  </a:rPr>
                  <a:t>$\binom93=84$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From the remaining </a:t>
                </a:r>
                <a:r>
                  <a:rPr lang="en-IN" sz="2400">
                    <a:solidFill>
                      <a:srgbClr val="111827"/>
                    </a:solidFill>
                    <a:latin typeface="Cambria Math" panose="02040503050406030204" pitchFamily="18" charset="0"/>
                  </a:rPr>
                  <a:t>$6$</a:t>
                </a:r>
                <a:r>
                  <a:rPr sz="2400" b="0">
                    <a:solidFill>
                      <a:srgbClr val="111827"/>
                    </a:solidFill>
                    <a:latin typeface="Arial"/>
                  </a:rPr>
                  <a:t>, choose </a:t>
                </a:r>
                <a:r>
                  <a:rPr lang="en-IN" sz="2400">
                    <a:solidFill>
                      <a:srgbClr val="111827"/>
                    </a:solidFill>
                    <a:latin typeface="Cambria Math" panose="02040503050406030204" pitchFamily="18" charset="0"/>
                  </a:rPr>
                  <a:t>$3$</a:t>
                </a:r>
                <a:r>
                  <a:rPr sz="2400" b="0">
                    <a:solidFill>
                      <a:srgbClr val="111827"/>
                    </a:solidFill>
                    <a:latin typeface="Arial"/>
                  </a:rPr>
                  <a:t> for Physics: </a:t>
                </a:r>
                <a:r>
                  <a:rPr lang="en-IN" sz="2400">
                    <a:solidFill>
                      <a:srgbClr val="111827"/>
                    </a:solidFill>
                    <a:latin typeface="Cambria Math" panose="02040503050406030204" pitchFamily="18" charset="0"/>
                  </a:rPr>
                  <a:t>$\binom63=20$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last </a:t>
                </a:r>
                <a:r>
                  <a:rPr lang="en-IN" sz="2400">
                    <a:solidFill>
                      <a:srgbClr val="111827"/>
                    </a:solidFill>
                    <a:latin typeface="Cambria Math" panose="02040503050406030204" pitchFamily="18" charset="0"/>
                  </a:rPr>
                  <a:t>$3$</a:t>
                </a:r>
                <a:r>
                  <a:rPr sz="2400" b="0">
                    <a:solidFill>
                      <a:srgbClr val="111827"/>
                    </a:solidFill>
                    <a:latin typeface="Arial"/>
                  </a:rPr>
                  <a:t> go to Chemistry: </a:t>
                </a:r>
                <a:r>
                  <a:rPr lang="en-IN" sz="2400">
                    <a:solidFill>
                      <a:srgbClr val="111827"/>
                    </a:solidFill>
                    <a:latin typeface="Cambria Math" panose="02040503050406030204" pitchFamily="18" charset="0"/>
                  </a:rPr>
                  <a:t>$\binom33=1$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r>
                  <a:rPr lang="en-IN" sz="2400">
                    <a:solidFill>
                      <a:srgbClr val="111827"/>
                    </a:solidFill>
                    <a:latin typeface="Cambria Math" panose="02040503050406030204" pitchFamily="18" charset="0"/>
                  </a:rPr>
                  <a:t>$=84\times20\times1=1680$</a:t>
                </a:r>
                <a:r>
                  <a:rPr sz="2400" b="0">
                    <a:solidFill>
                      <a:srgbClr val="111827"/>
                    </a:solidFill>
                    <a:latin typeface="Arial"/>
                  </a:rPr>
                  <a:t>; each subject's three values are then given to its candidates in order of their places.</a:t>
                </a:r>
                <a:endParaRPr sz="2400">
                  <a:solidFill>
                    <a:srgbClr val="111827"/>
                  </a:solidFill>
                </a:endParaRPr>
              </a:p>
            </p:txBody>
          </p:sp>
        </mc:Fallback>
      </mc:AlternateContent>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1680</a:t>
            </a:r>
            <a:endParaRPr sz="2800">
              <a:solidFill>
                <a:srgbClr val="15803D"/>
              </a:solidFill>
            </a:endParaRP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Dividing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distinct objects into labelled groups of sizes </a:t>
                </a:r>
                <a14:m>
                  <m:oMath xmlns:m="http://schemas.openxmlformats.org/officeDocument/2006/math">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𝑘</m:t>
                        </m:r>
                      </m:sub>
                    </m:sSub>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num>
                      <m:den>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𝑘</m:t>
                            </m:r>
                          </m:sub>
                        </m:sSub>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When the order *inside* a group is already determined (by rank, height, value), the number of ways is the multinomial without any extra factorials.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14:m>
                  <m:oMath xmlns:m="http://schemas.openxmlformats.org/officeDocument/2006/math">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1680</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3</m:t>
                            </m:r>
                          </m:den>
                        </m:f>
                      </m:e>
                    </m:d>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num>
                          <m:den>
                            <m:r>
                              <a:rPr lang="en-IN" sz="2400" i="1">
                                <a:solidFill>
                                  <a:srgbClr val="111827"/>
                                </a:solidFill>
                                <a:latin typeface="Cambria Math" panose="02040503050406030204" pitchFamily="18" charset="0"/>
                              </a:rPr>
                              <m:t>3</m:t>
                            </m:r>
                          </m:den>
                        </m:f>
                      </m:e>
                    </m:d>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3</m:t>
                            </m:r>
                          </m:den>
                        </m:f>
                      </m:e>
                    </m:d>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Dividing </a:t>
                </a:r>
                <a:r>
                  <a:rPr lang="en-IN" sz="2400">
                    <a:solidFill>
                      <a:srgbClr val="111827"/>
                    </a:solidFill>
                    <a:latin typeface="Cambria Math" panose="02040503050406030204" pitchFamily="18" charset="0"/>
                  </a:rPr>
                  <a:t>$n$</a:t>
                </a:r>
                <a:r>
                  <a:rPr sz="2400" b="0">
                    <a:solidFill>
                      <a:srgbClr val="111827"/>
                    </a:solidFill>
                    <a:latin typeface="Arial"/>
                  </a:rPr>
                  <a:t> distinct objects into labelled groups of sizes </a:t>
                </a:r>
                <a:r>
                  <a:rPr lang="en-IN" sz="2400">
                    <a:solidFill>
                      <a:srgbClr val="111827"/>
                    </a:solidFill>
                    <a:latin typeface="Cambria Math" panose="02040503050406030204" pitchFamily="18" charset="0"/>
                  </a:rPr>
                  <a:t>$n_1,\dots,n_k$</a:t>
                </a:r>
                <a:r>
                  <a:rPr sz="2400" b="0">
                    <a:solidFill>
                      <a:srgbClr val="111827"/>
                    </a:solidFill>
                    <a:latin typeface="Arial"/>
                  </a:rPr>
                  <a:t>: </a:t>
                </a:r>
                <a:r>
                  <a:rPr lang="en-IN" sz="2400">
                    <a:solidFill>
                      <a:srgbClr val="111827"/>
                    </a:solidFill>
                    <a:latin typeface="Cambria Math" panose="02040503050406030204" pitchFamily="18" charset="0"/>
                  </a:rPr>
                  <a:t>$\dfrac{n!}{n_1!\cdots n_k!}$</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When the order *inside* a group is already determined (by rank, height, value), the number of ways is the multinomial without any extra factorials.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r>
                  <a:rPr lang="en-IN" sz="2400">
                    <a:solidFill>
                      <a:srgbClr val="111827"/>
                    </a:solidFill>
                    <a:latin typeface="Cambria Math" panose="02040503050406030204" pitchFamily="18" charset="0"/>
                  </a:rPr>
                  <a:t>$9!/(3!)^3=1680=\binom93\binom63\binom33$</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00812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Consider a determinant of order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all of whose entries are either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Five of these entries are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and four of them are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Also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𝑖</m:t>
                        </m:r>
                        <m:r>
                          <a:rPr lang="en-IN" sz="2400" i="1">
                            <a:solidFill>
                              <a:srgbClr val="111827"/>
                            </a:solidFill>
                            <a:latin typeface="Cambria Math" panose="02040503050406030204" pitchFamily="18" charset="0"/>
                          </a:rPr>
                          <m:t>𝑗</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𝑗</m:t>
                        </m:r>
                        <m:r>
                          <a:rPr lang="en-IN" sz="2400" i="1">
                            <a:solidFill>
                              <a:srgbClr val="111827"/>
                            </a:solidFill>
                            <a:latin typeface="Cambria Math" panose="02040503050406030204" pitchFamily="18" charset="0"/>
                          </a:rPr>
                          <m:t>𝑖</m:t>
                        </m:r>
                      </m:sub>
                    </m:sSub>
                  </m:oMath>
                </a14:m>
                <a:r>
                  <a:rPr sz="2400" b="0">
                    <a:solidFill>
                      <a:srgbClr val="111827"/>
                    </a:solidFill>
                    <a:latin typeface="Arial"/>
                  </a:rPr>
                  <a:t> for all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𝑗</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Find the number of such determinants.</a:t>
                </a:r>
                <a:endParaRPr sz="2400">
                  <a:solidFill>
                    <a:srgbClr val="111827"/>
                  </a:solidFill>
                </a:endParaRPr>
              </a:p>
            </p:txBody>
          </p:sp>
        </mc:Choice>
        <mc:Fallback>
          <p:sp>
            <p:nvSpPr>
              <p:cNvPr id="4" name="Rounded Rectangle 3"/>
              <p:cNvSpPr/>
              <p:nvPr/>
            </p:nvSpPr>
            <p:spPr>
              <a:xfrm>
                <a:off x="731520" y="1280160"/>
                <a:ext cx="10725912" cy="200812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Consider a determinant of order </a:t>
                </a:r>
                <a:r>
                  <a:rPr lang="en-IN" sz="2400">
                    <a:solidFill>
                      <a:srgbClr val="111827"/>
                    </a:solidFill>
                    <a:latin typeface="Cambria Math" panose="02040503050406030204" pitchFamily="18" charset="0"/>
                  </a:rPr>
                  <a:t>$3$</a:t>
                </a:r>
                <a:r>
                  <a:rPr sz="2400" b="0">
                    <a:solidFill>
                      <a:srgbClr val="111827"/>
                    </a:solidFill>
                    <a:latin typeface="Arial"/>
                  </a:rPr>
                  <a:t> all of whose entries are either </a:t>
                </a:r>
                <a:r>
                  <a:rPr lang="en-IN" sz="2400">
                    <a:solidFill>
                      <a:srgbClr val="111827"/>
                    </a:solidFill>
                    <a:latin typeface="Cambria Math" panose="02040503050406030204" pitchFamily="18" charset="0"/>
                  </a:rPr>
                  <a:t>$0$</a:t>
                </a:r>
                <a:r>
                  <a:rPr sz="2400" b="0">
                    <a:solidFill>
                      <a:srgbClr val="111827"/>
                    </a:solidFill>
                    <a:latin typeface="Arial"/>
                  </a:rPr>
                  <a:t> or </a:t>
                </a:r>
                <a:r>
                  <a:rPr lang="en-IN" sz="2400">
                    <a:solidFill>
                      <a:srgbClr val="111827"/>
                    </a:solidFill>
                    <a:latin typeface="Cambria Math" panose="02040503050406030204" pitchFamily="18" charset="0"/>
                  </a:rPr>
                  <a:t>$1$</a:t>
                </a:r>
                <a:r>
                  <a:rPr sz="2400" b="0">
                    <a:solidFill>
                      <a:srgbClr val="111827"/>
                    </a:solidFill>
                    <a:latin typeface="Arial"/>
                  </a:rPr>
                  <a:t>. Five of these entries are </a:t>
                </a:r>
                <a:r>
                  <a:rPr lang="en-IN" sz="2400">
                    <a:solidFill>
                      <a:srgbClr val="111827"/>
                    </a:solidFill>
                    <a:latin typeface="Cambria Math" panose="02040503050406030204" pitchFamily="18" charset="0"/>
                  </a:rPr>
                  <a:t>$1$</a:t>
                </a:r>
                <a:r>
                  <a:rPr sz="2400" b="0">
                    <a:solidFill>
                      <a:srgbClr val="111827"/>
                    </a:solidFill>
                    <a:latin typeface="Arial"/>
                  </a:rPr>
                  <a:t> and four of them are </a:t>
                </a:r>
                <a:r>
                  <a:rPr lang="en-IN" sz="2400">
                    <a:solidFill>
                      <a:srgbClr val="111827"/>
                    </a:solidFill>
                    <a:latin typeface="Cambria Math" panose="02040503050406030204" pitchFamily="18" charset="0"/>
                  </a:rPr>
                  <a:t>$0$</a:t>
                </a:r>
                <a:r>
                  <a:rPr sz="2400" b="0">
                    <a:solidFill>
                      <a:srgbClr val="111827"/>
                    </a:solidFill>
                    <a:latin typeface="Arial"/>
                  </a:rPr>
                  <a:t>. Also </a:t>
                </a:r>
                <a:r>
                  <a:rPr lang="en-IN" sz="2400">
                    <a:solidFill>
                      <a:srgbClr val="111827"/>
                    </a:solidFill>
                    <a:latin typeface="Cambria Math" panose="02040503050406030204" pitchFamily="18" charset="0"/>
                  </a:rPr>
                  <a:t>$a_{ij}=a_{ji}$</a:t>
                </a:r>
                <a:r>
                  <a:rPr sz="2400" b="0">
                    <a:solidFill>
                      <a:srgbClr val="111827"/>
                    </a:solidFill>
                    <a:latin typeface="Arial"/>
                  </a:rPr>
                  <a:t> for all </a:t>
                </a:r>
                <a:r>
                  <a:rPr lang="en-IN" sz="2400">
                    <a:solidFill>
                      <a:srgbClr val="111827"/>
                    </a:solidFill>
                    <a:latin typeface="Cambria Math" panose="02040503050406030204" pitchFamily="18" charset="0"/>
                  </a:rPr>
                  <a:t>$1\le i,j\le3$</a:t>
                </a:r>
                <a:r>
                  <a:rPr sz="2400" b="0">
                    <a:solidFill>
                      <a:srgbClr val="111827"/>
                    </a:solidFill>
                    <a:latin typeface="Arial"/>
                  </a:rPr>
                  <a:t>. Find the number of such determinants.</a:t>
                </a:r>
                <a:endParaRPr sz="2400">
                  <a:solidFill>
                    <a:srgbClr val="111827"/>
                  </a:solidFill>
                </a:endParaRPr>
              </a:p>
            </p:txBody>
          </p:sp>
        </mc:Fallback>
      </mc:AlternateContent>
      <p:sp>
        <p:nvSpPr>
          <p:cNvPr id="5" name="Rectangle 4"/>
          <p:cNvSpPr/>
          <p:nvPr/>
        </p:nvSpPr>
        <p:spPr>
          <a:xfrm>
            <a:off x="731520" y="3516884"/>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Symmetric 0-1 determinants (counting matrices with symmetry)</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A symmetric matrix has </a:t>
                </a:r>
                <a14:m>
                  <m:oMath xmlns:m="http://schemas.openxmlformats.org/officeDocument/2006/math">
                    <m:r>
                      <a:rPr lang="en-IN" sz="2400" i="1">
                        <a:solidFill>
                          <a:srgbClr val="78350F"/>
                        </a:solidFill>
                        <a:latin typeface="Cambria Math" panose="02040503050406030204" pitchFamily="18" charset="0"/>
                      </a:rPr>
                      <m:t>3</m:t>
                    </m:r>
                  </m:oMath>
                </a14:m>
                <a:r>
                  <a:rPr sz="2400" b="0">
                    <a:solidFill>
                      <a:srgbClr val="78350F"/>
                    </a:solidFill>
                    <a:latin typeface="Arial"/>
                  </a:rPr>
                  <a:t> diagonal and </a:t>
                </a:r>
                <a14:m>
                  <m:oMath xmlns:m="http://schemas.openxmlformats.org/officeDocument/2006/math">
                    <m:r>
                      <a:rPr lang="en-IN" sz="2400" i="1">
                        <a:solidFill>
                          <a:srgbClr val="78350F"/>
                        </a:solidFill>
                        <a:latin typeface="Cambria Math" panose="02040503050406030204" pitchFamily="18" charset="0"/>
                      </a:rPr>
                      <m:t>3</m:t>
                    </m:r>
                  </m:oMath>
                </a14:m>
                <a:r>
                  <a:rPr sz="2400" b="0">
                    <a:solidFill>
                      <a:srgbClr val="78350F"/>
                    </a:solidFill>
                    <a:latin typeface="Arial"/>
                  </a:rPr>
                  <a:t> off-diagonal pairs; each off-diagonal </a:t>
                </a:r>
                <a14:m>
                  <m:oMath xmlns:m="http://schemas.openxmlformats.org/officeDocument/2006/math">
                    <m:r>
                      <a:rPr lang="en-IN" sz="2400" i="1">
                        <a:solidFill>
                          <a:srgbClr val="78350F"/>
                        </a:solidFill>
                        <a:latin typeface="Cambria Math" panose="02040503050406030204" pitchFamily="18" charset="0"/>
                      </a:rPr>
                      <m:t>1</m:t>
                    </m:r>
                  </m:oMath>
                </a14:m>
                <a:r>
                  <a:rPr sz="2400" b="0">
                    <a:solidFill>
                      <a:srgbClr val="78350F"/>
                    </a:solidFill>
                    <a:latin typeface="Arial"/>
                  </a:rPr>
                  <a:t> uses two entries, so the number of diagonal ones must be odd.</a:t>
                </a:r>
                <a:endParaRPr sz="2400">
                  <a:solidFill>
                    <a:srgbClr val="78350F"/>
                  </a:solidFill>
                </a:endParaRPr>
              </a:p>
            </p:txBody>
          </p:sp>
        </mc:Choice>
        <mc:Fallback>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A symmetric matrix has </a:t>
                </a:r>
                <a:r>
                  <a:rPr lang="en-IN" sz="2400">
                    <a:solidFill>
                      <a:srgbClr val="78350F"/>
                    </a:solidFill>
                    <a:latin typeface="Cambria Math" panose="02040503050406030204" pitchFamily="18" charset="0"/>
                  </a:rPr>
                  <a:t>$3$</a:t>
                </a:r>
                <a:r>
                  <a:rPr sz="2400" b="0">
                    <a:solidFill>
                      <a:srgbClr val="78350F"/>
                    </a:solidFill>
                    <a:latin typeface="Arial"/>
                  </a:rPr>
                  <a:t> diagonal and </a:t>
                </a:r>
                <a:r>
                  <a:rPr lang="en-IN" sz="2400">
                    <a:solidFill>
                      <a:srgbClr val="78350F"/>
                    </a:solidFill>
                    <a:latin typeface="Cambria Math" panose="02040503050406030204" pitchFamily="18" charset="0"/>
                  </a:rPr>
                  <a:t>$3$</a:t>
                </a:r>
                <a:r>
                  <a:rPr sz="2400" b="0">
                    <a:solidFill>
                      <a:srgbClr val="78350F"/>
                    </a:solidFill>
                    <a:latin typeface="Arial"/>
                  </a:rPr>
                  <a:t> off-diagonal pairs; each off-diagonal </a:t>
                </a:r>
                <a:r>
                  <a:rPr lang="en-IN" sz="2400">
                    <a:solidFill>
                      <a:srgbClr val="78350F"/>
                    </a:solidFill>
                    <a:latin typeface="Cambria Math" panose="02040503050406030204" pitchFamily="18" charset="0"/>
                  </a:rPr>
                  <a:t>$1$</a:t>
                </a:r>
                <a:r>
                  <a:rPr sz="2400" b="0">
                    <a:solidFill>
                      <a:srgbClr val="78350F"/>
                    </a:solidFill>
                    <a:latin typeface="Arial"/>
                  </a:rPr>
                  <a:t> uses two entries, so the number of diagonal ones must be odd.</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symmetric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matrix is fixed by its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diagonal entries and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independent off-diagonal pairs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13</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23</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diagonal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uses one entry; an off-diagonal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uses two entries (its mirror image). Total ones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the number of diagonal ones is odd: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(it cannot be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symmetric </a:t>
                </a:r>
                <a:r>
                  <a:rPr lang="en-IN" sz="2400">
                    <a:solidFill>
                      <a:srgbClr val="111827"/>
                    </a:solidFill>
                    <a:latin typeface="Cambria Math" panose="02040503050406030204" pitchFamily="18" charset="0"/>
                  </a:rPr>
                  <a:t>$3\times3$</a:t>
                </a:r>
                <a:r>
                  <a:rPr sz="2400" b="0">
                    <a:solidFill>
                      <a:srgbClr val="111827"/>
                    </a:solidFill>
                    <a:latin typeface="Arial"/>
                  </a:rPr>
                  <a:t> matrix is fixed by its </a:t>
                </a:r>
                <a:r>
                  <a:rPr lang="en-IN" sz="2400">
                    <a:solidFill>
                      <a:srgbClr val="111827"/>
                    </a:solidFill>
                    <a:latin typeface="Cambria Math" panose="02040503050406030204" pitchFamily="18" charset="0"/>
                  </a:rPr>
                  <a:t>$3$</a:t>
                </a:r>
                <a:r>
                  <a:rPr sz="2400" b="0">
                    <a:solidFill>
                      <a:srgbClr val="111827"/>
                    </a:solidFill>
                    <a:latin typeface="Arial"/>
                  </a:rPr>
                  <a:t> diagonal entries and </a:t>
                </a:r>
                <a:r>
                  <a:rPr lang="en-IN" sz="2400">
                    <a:solidFill>
                      <a:srgbClr val="111827"/>
                    </a:solidFill>
                    <a:latin typeface="Cambria Math" panose="02040503050406030204" pitchFamily="18" charset="0"/>
                  </a:rPr>
                  <a:t>$3$</a:t>
                </a:r>
                <a:r>
                  <a:rPr sz="2400" b="0">
                    <a:solidFill>
                      <a:srgbClr val="111827"/>
                    </a:solidFill>
                    <a:latin typeface="Arial"/>
                  </a:rPr>
                  <a:t> independent off-diagonal pairs </a:t>
                </a:r>
                <a:r>
                  <a:rPr lang="en-IN" sz="2400">
                    <a:solidFill>
                      <a:srgbClr val="111827"/>
                    </a:solidFill>
                    <a:latin typeface="Cambria Math" panose="02040503050406030204" pitchFamily="18" charset="0"/>
                  </a:rPr>
                  <a:t>$(a_{12},a_{13},a_{23})$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diagonal </a:t>
                </a:r>
                <a:r>
                  <a:rPr lang="en-IN" sz="2400">
                    <a:solidFill>
                      <a:srgbClr val="111827"/>
                    </a:solidFill>
                    <a:latin typeface="Cambria Math" panose="02040503050406030204" pitchFamily="18" charset="0"/>
                  </a:rPr>
                  <a:t>$1$</a:t>
                </a:r>
                <a:r>
                  <a:rPr sz="2400" b="0">
                    <a:solidFill>
                      <a:srgbClr val="111827"/>
                    </a:solidFill>
                    <a:latin typeface="Arial"/>
                  </a:rPr>
                  <a:t> uses one entry; an off-diagonal </a:t>
                </a:r>
                <a:r>
                  <a:rPr lang="en-IN" sz="2400">
                    <a:solidFill>
                      <a:srgbClr val="111827"/>
                    </a:solidFill>
                    <a:latin typeface="Cambria Math" panose="02040503050406030204" pitchFamily="18" charset="0"/>
                  </a:rPr>
                  <a:t>$1$</a:t>
                </a:r>
                <a:r>
                  <a:rPr sz="2400" b="0">
                    <a:solidFill>
                      <a:srgbClr val="111827"/>
                    </a:solidFill>
                    <a:latin typeface="Arial"/>
                  </a:rPr>
                  <a:t> uses two entries (its mirror image). Total ones </a:t>
                </a:r>
                <a:r>
                  <a:rPr lang="en-IN" sz="2400">
                    <a:solidFill>
                      <a:srgbClr val="111827"/>
                    </a:solidFill>
                    <a:latin typeface="Cambria Math" panose="02040503050406030204" pitchFamily="18" charset="0"/>
                  </a:rPr>
                  <a:t>$=5$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the number of diagonal ones is odd: </a:t>
                </a:r>
                <a:r>
                  <a:rPr lang="en-IN" sz="2400">
                    <a:solidFill>
                      <a:srgbClr val="111827"/>
                    </a:solidFill>
                    <a:latin typeface="Cambria Math" panose="02040503050406030204" pitchFamily="18" charset="0"/>
                  </a:rPr>
                  <a:t>$1$</a:t>
                </a:r>
                <a:r>
                  <a:rPr sz="2400" b="0">
                    <a:solidFill>
                      <a:srgbClr val="111827"/>
                    </a:solidFill>
                    <a:latin typeface="Arial"/>
                  </a:rPr>
                  <a:t> or </a:t>
                </a:r>
                <a:r>
                  <a:rPr lang="en-IN" sz="2400">
                    <a:solidFill>
                      <a:srgbClr val="111827"/>
                    </a:solidFill>
                    <a:latin typeface="Cambria Math" panose="02040503050406030204" pitchFamily="18" charset="0"/>
                  </a:rPr>
                  <a:t>$3$</a:t>
                </a:r>
                <a:r>
                  <a:rPr sz="2400" b="0">
                    <a:solidFill>
                      <a:srgbClr val="111827"/>
                    </a:solidFill>
                    <a:latin typeface="Arial"/>
                  </a:rPr>
                  <a:t> (it cannot be </a:t>
                </a:r>
                <a:r>
                  <a:rPr lang="en-IN" sz="2400">
                    <a:solidFill>
                      <a:srgbClr val="111827"/>
                    </a:solidFill>
                    <a:latin typeface="Cambria Math" panose="02040503050406030204" pitchFamily="18" charset="0"/>
                  </a:rPr>
                  <a:t>$5$</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Case 1: all three diagonal entries are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Two more ones are needed: one off-diagonal pair, which can be placed in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ways. So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determinants.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Case 2: exactly one diagonal entry is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choices) and two off-diagonal pairs are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ones; choose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of the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pairs in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ways). So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determinants.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Case 1: all three diagonal entries are </a:t>
                </a:r>
                <a:r>
                  <a:rPr lang="en-IN" sz="2400">
                    <a:solidFill>
                      <a:srgbClr val="111827"/>
                    </a:solidFill>
                    <a:latin typeface="Cambria Math" panose="02040503050406030204" pitchFamily="18" charset="0"/>
                  </a:rPr>
                  <a:t>$1$</a:t>
                </a:r>
                <a:r>
                  <a:rPr sz="2400" b="0">
                    <a:solidFill>
                      <a:srgbClr val="111827"/>
                    </a:solidFill>
                    <a:latin typeface="Arial"/>
                  </a:rPr>
                  <a:t>. Two more ones are needed: one off-diagonal pair, which can be placed in </a:t>
                </a:r>
                <a:r>
                  <a:rPr lang="en-IN" sz="2400">
                    <a:solidFill>
                      <a:srgbClr val="111827"/>
                    </a:solidFill>
                    <a:latin typeface="Cambria Math" panose="02040503050406030204" pitchFamily="18" charset="0"/>
                  </a:rPr>
                  <a:t>$3$</a:t>
                </a:r>
                <a:r>
                  <a:rPr sz="2400" b="0">
                    <a:solidFill>
                      <a:srgbClr val="111827"/>
                    </a:solidFill>
                    <a:latin typeface="Arial"/>
                  </a:rPr>
                  <a:t> ways. So </a:t>
                </a:r>
                <a:r>
                  <a:rPr lang="en-IN" sz="2400">
                    <a:solidFill>
                      <a:srgbClr val="111827"/>
                    </a:solidFill>
                    <a:latin typeface="Cambria Math" panose="02040503050406030204" pitchFamily="18" charset="0"/>
                  </a:rPr>
                  <a:t>$3$</a:t>
                </a:r>
                <a:r>
                  <a:rPr sz="2400" b="0">
                    <a:solidFill>
                      <a:srgbClr val="111827"/>
                    </a:solidFill>
                    <a:latin typeface="Arial"/>
                  </a:rPr>
                  <a:t> determinants.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Case 2: exactly one diagonal entry is </a:t>
                </a:r>
                <a:r>
                  <a:rPr lang="en-IN" sz="2400">
                    <a:solidFill>
                      <a:srgbClr val="111827"/>
                    </a:solidFill>
                    <a:latin typeface="Cambria Math" panose="02040503050406030204" pitchFamily="18" charset="0"/>
                  </a:rPr>
                  <a:t>$1$</a:t>
                </a:r>
                <a:r>
                  <a:rPr sz="2400" b="0">
                    <a:solidFill>
                      <a:srgbClr val="111827"/>
                    </a:solidFill>
                    <a:latin typeface="Arial"/>
                  </a:rPr>
                  <a:t> (</a:t>
                </a:r>
                <a:r>
                  <a:rPr lang="en-IN" sz="2400">
                    <a:solidFill>
                      <a:srgbClr val="111827"/>
                    </a:solidFill>
                    <a:latin typeface="Cambria Math" panose="02040503050406030204" pitchFamily="18" charset="0"/>
                  </a:rPr>
                  <a:t>$3$</a:t>
                </a:r>
                <a:r>
                  <a:rPr sz="2400" b="0">
                    <a:solidFill>
                      <a:srgbClr val="111827"/>
                    </a:solidFill>
                    <a:latin typeface="Arial"/>
                  </a:rPr>
                  <a:t> choices) and two off-diagonal pairs are </a:t>
                </a:r>
                <a:r>
                  <a:rPr lang="en-IN" sz="2400">
                    <a:solidFill>
                      <a:srgbClr val="111827"/>
                    </a:solidFill>
                    <a:latin typeface="Cambria Math" panose="02040503050406030204" pitchFamily="18" charset="0"/>
                  </a:rPr>
                  <a:t>$1$</a:t>
                </a:r>
                <a:r>
                  <a:rPr sz="2400" b="0">
                    <a:solidFill>
                      <a:srgbClr val="111827"/>
                    </a:solidFill>
                    <a:latin typeface="Arial"/>
                  </a:rPr>
                  <a:t> (so </a:t>
                </a:r>
                <a:r>
                  <a:rPr lang="en-IN" sz="2400">
                    <a:solidFill>
                      <a:srgbClr val="111827"/>
                    </a:solidFill>
                    <a:latin typeface="Cambria Math" panose="02040503050406030204" pitchFamily="18" charset="0"/>
                  </a:rPr>
                  <a:t>$4$</a:t>
                </a:r>
                <a:r>
                  <a:rPr sz="2400" b="0">
                    <a:solidFill>
                      <a:srgbClr val="111827"/>
                    </a:solidFill>
                    <a:latin typeface="Arial"/>
                  </a:rPr>
                  <a:t> ones; choose </a:t>
                </a:r>
                <a:r>
                  <a:rPr lang="en-IN" sz="2400">
                    <a:solidFill>
                      <a:srgbClr val="111827"/>
                    </a:solidFill>
                    <a:latin typeface="Cambria Math" panose="02040503050406030204" pitchFamily="18" charset="0"/>
                  </a:rPr>
                  <a:t>$2$</a:t>
                </a:r>
                <a:r>
                  <a:rPr sz="2400" b="0">
                    <a:solidFill>
                      <a:srgbClr val="111827"/>
                    </a:solidFill>
                    <a:latin typeface="Arial"/>
                  </a:rPr>
                  <a:t> of the </a:t>
                </a:r>
                <a:r>
                  <a:rPr lang="en-IN" sz="2400">
                    <a:solidFill>
                      <a:srgbClr val="111827"/>
                    </a:solidFill>
                    <a:latin typeface="Cambria Math" panose="02040503050406030204" pitchFamily="18" charset="0"/>
                  </a:rPr>
                  <a:t>$3$</a:t>
                </a:r>
                <a:r>
                  <a:rPr sz="2400" b="0">
                    <a:solidFill>
                      <a:srgbClr val="111827"/>
                    </a:solidFill>
                    <a:latin typeface="Arial"/>
                  </a:rPr>
                  <a:t> pairs in </a:t>
                </a:r>
                <a:r>
                  <a:rPr lang="en-IN" sz="2400">
                    <a:solidFill>
                      <a:srgbClr val="111827"/>
                    </a:solidFill>
                    <a:latin typeface="Cambria Math" panose="02040503050406030204" pitchFamily="18" charset="0"/>
                  </a:rPr>
                  <a:t>$3$</a:t>
                </a:r>
                <a:r>
                  <a:rPr sz="2400" b="0">
                    <a:solidFill>
                      <a:srgbClr val="111827"/>
                    </a:solidFill>
                    <a:latin typeface="Arial"/>
                  </a:rPr>
                  <a:t> ways). So </a:t>
                </a:r>
                <a:r>
                  <a:rPr lang="en-IN" sz="2400">
                    <a:solidFill>
                      <a:srgbClr val="111827"/>
                    </a:solidFill>
                    <a:latin typeface="Cambria Math" panose="02040503050406030204" pitchFamily="18" charset="0"/>
                  </a:rPr>
                  <a:t>$3\times3=9$</a:t>
                </a:r>
                <a:r>
                  <a:rPr sz="2400" b="0">
                    <a:solidFill>
                      <a:srgbClr val="111827"/>
                    </a:solidFill>
                    <a:latin typeface="Arial"/>
                  </a:rPr>
                  <a:t> determinants.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r>
                  <a:rPr lang="en-IN" sz="2400">
                    <a:solidFill>
                      <a:srgbClr val="111827"/>
                    </a:solidFill>
                    <a:latin typeface="Cambria Math" panose="02040503050406030204" pitchFamily="18" charset="0"/>
                  </a:rPr>
                  <a:t>$=3+9=12$</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12</a:t>
            </a:r>
            <a:endParaRPr sz="2800">
              <a:solidFill>
                <a:srgbClr val="15803D"/>
              </a:solidFill>
            </a:endParaRP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Generating function in the number of ones: diagonal entries weigh </a:t>
                </a:r>
                <a14:m>
                  <m:oMath xmlns:m="http://schemas.openxmlformats.org/officeDocument/2006/math">
                    <m:r>
                      <a:rPr lang="en-IN" sz="2400" i="1">
                        <a:solidFill>
                          <a:srgbClr val="78350F"/>
                        </a:solidFill>
                        <a:latin typeface="Cambria Math" panose="02040503050406030204" pitchFamily="18" charset="0"/>
                      </a:rPr>
                      <m:t>𝑥</m:t>
                    </m:r>
                  </m:oMath>
                </a14:m>
                <a:r>
                  <a:rPr sz="2400" b="0">
                    <a:solidFill>
                      <a:srgbClr val="78350F"/>
                    </a:solidFill>
                    <a:latin typeface="Arial"/>
                  </a:rPr>
                  <a:t>, off-diagonal pairs weigh </a:t>
                </a:r>
                <a14:m>
                  <m:oMath xmlns:m="http://schemas.openxmlformats.org/officeDocument/2006/math">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2</m:t>
                        </m:r>
                      </m:sup>
                    </m:sSup>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Generating function in the number of ones: diagonal entries weigh </a:t>
                </a:r>
                <a:r>
                  <a:rPr lang="en-IN" sz="2400">
                    <a:solidFill>
                      <a:srgbClr val="78350F"/>
                    </a:solidFill>
                    <a:latin typeface="Cambria Math" panose="02040503050406030204" pitchFamily="18" charset="0"/>
                  </a:rPr>
                  <a:t>$x$</a:t>
                </a:r>
                <a:r>
                  <a:rPr sz="2400" b="0">
                    <a:solidFill>
                      <a:srgbClr val="78350F"/>
                    </a:solidFill>
                    <a:latin typeface="Arial"/>
                  </a:rPr>
                  <a:t>, off-diagonal pairs weigh </a:t>
                </a:r>
                <a:r>
                  <a:rPr lang="en-IN" sz="2400">
                    <a:solidFill>
                      <a:srgbClr val="78350F"/>
                    </a:solidFill>
                    <a:latin typeface="Cambria Math" panose="02040503050406030204" pitchFamily="18" charset="0"/>
                  </a:rPr>
                  <a:t>$x^2$</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Each of the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diagonal entries contributes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each of the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off-diagonal pairs contributes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number of symmetric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matrices with exactly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ones is the coefficient of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5</m:t>
                        </m:r>
                      </m:sup>
                    </m:sSup>
                  </m:oMath>
                </a14:m>
                <a:r>
                  <a:rPr sz="2400" b="0">
                    <a:solidFill>
                      <a:srgbClr val="111827"/>
                    </a:solidFill>
                    <a:latin typeface="Arial"/>
                  </a:rPr>
                  <a:t> 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6</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5</m:t>
                        </m:r>
                      </m:sup>
                    </m:sSup>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5</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5</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5</m:t>
                        </m:r>
                      </m:sup>
                    </m:sSup>
                  </m:oMath>
                </a14:m>
                <a:r>
                  <a:rPr sz="2400" b="0">
                    <a:solidFill>
                      <a:srgbClr val="111827"/>
                    </a:solidFill>
                    <a:latin typeface="Arial"/>
                  </a:rPr>
                  <a:t>. So the answer is </a:t>
                </a:r>
                <a14:m>
                  <m:oMath xmlns:m="http://schemas.openxmlformats.org/officeDocument/2006/math">
                    <m:r>
                      <a:rPr lang="en-IN" sz="2400" i="1">
                        <a:solidFill>
                          <a:srgbClr val="111827"/>
                        </a:solidFill>
                        <a:latin typeface="Cambria Math" panose="02040503050406030204" pitchFamily="18" charset="0"/>
                      </a:rPr>
                      <m:t>12</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Each of the </a:t>
                </a:r>
                <a:r>
                  <a:rPr lang="en-IN" sz="2400">
                    <a:solidFill>
                      <a:srgbClr val="111827"/>
                    </a:solidFill>
                    <a:latin typeface="Cambria Math" panose="02040503050406030204" pitchFamily="18" charset="0"/>
                  </a:rPr>
                  <a:t>$3$</a:t>
                </a:r>
                <a:r>
                  <a:rPr sz="2400" b="0">
                    <a:solidFill>
                      <a:srgbClr val="111827"/>
                    </a:solidFill>
                    <a:latin typeface="Arial"/>
                  </a:rPr>
                  <a:t> diagonal entries contributes </a:t>
                </a:r>
                <a:r>
                  <a:rPr lang="en-IN" sz="2400">
                    <a:solidFill>
                      <a:srgbClr val="111827"/>
                    </a:solidFill>
                    <a:latin typeface="Cambria Math" panose="02040503050406030204" pitchFamily="18" charset="0"/>
                  </a:rPr>
                  <a:t>$(1+x)$</a:t>
                </a:r>
                <a:r>
                  <a:rPr sz="2400" b="0">
                    <a:solidFill>
                      <a:srgbClr val="111827"/>
                    </a:solidFill>
                    <a:latin typeface="Arial"/>
                  </a:rPr>
                  <a:t> and each of the </a:t>
                </a:r>
                <a:r>
                  <a:rPr lang="en-IN" sz="2400">
                    <a:solidFill>
                      <a:srgbClr val="111827"/>
                    </a:solidFill>
                    <a:latin typeface="Cambria Math" panose="02040503050406030204" pitchFamily="18" charset="0"/>
                  </a:rPr>
                  <a:t>$3$</a:t>
                </a:r>
                <a:r>
                  <a:rPr sz="2400" b="0">
                    <a:solidFill>
                      <a:srgbClr val="111827"/>
                    </a:solidFill>
                    <a:latin typeface="Arial"/>
                  </a:rPr>
                  <a:t> off-diagonal pairs contributes </a:t>
                </a:r>
                <a:r>
                  <a:rPr lang="en-IN" sz="2400">
                    <a:solidFill>
                      <a:srgbClr val="111827"/>
                    </a:solidFill>
                    <a:latin typeface="Cambria Math" panose="02040503050406030204" pitchFamily="18" charset="0"/>
                  </a:rPr>
                  <a:t>$(1+x^2)$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number of symmetric </a:t>
                </a:r>
                <a:r>
                  <a:rPr lang="en-IN" sz="2400">
                    <a:solidFill>
                      <a:srgbClr val="111827"/>
                    </a:solidFill>
                    <a:latin typeface="Cambria Math" panose="02040503050406030204" pitchFamily="18" charset="0"/>
                  </a:rPr>
                  <a:t>$0$</a:t>
                </a:r>
                <a:r>
                  <a:rPr sz="2400" b="0">
                    <a:solidFill>
                      <a:srgbClr val="111827"/>
                    </a:solidFill>
                    <a:latin typeface="Arial"/>
                  </a:rPr>
                  <a:t>-</a:t>
                </a:r>
                <a:r>
                  <a:rPr lang="en-IN" sz="2400">
                    <a:solidFill>
                      <a:srgbClr val="111827"/>
                    </a:solidFill>
                    <a:latin typeface="Cambria Math" panose="02040503050406030204" pitchFamily="18" charset="0"/>
                  </a:rPr>
                  <a:t>$1$</a:t>
                </a:r>
                <a:r>
                  <a:rPr sz="2400" b="0">
                    <a:solidFill>
                      <a:srgbClr val="111827"/>
                    </a:solidFill>
                    <a:latin typeface="Arial"/>
                  </a:rPr>
                  <a:t> matrices with exactly </a:t>
                </a:r>
                <a:r>
                  <a:rPr lang="en-IN" sz="2400">
                    <a:solidFill>
                      <a:srgbClr val="111827"/>
                    </a:solidFill>
                    <a:latin typeface="Cambria Math" panose="02040503050406030204" pitchFamily="18" charset="0"/>
                  </a:rPr>
                  <a:t>$5$</a:t>
                </a:r>
                <a:r>
                  <a:rPr sz="2400" b="0">
                    <a:solidFill>
                      <a:srgbClr val="111827"/>
                    </a:solidFill>
                    <a:latin typeface="Arial"/>
                  </a:rPr>
                  <a:t> ones is the coefficient of </a:t>
                </a:r>
                <a:r>
                  <a:rPr lang="en-IN" sz="2400">
                    <a:solidFill>
                      <a:srgbClr val="111827"/>
                    </a:solidFill>
                    <a:latin typeface="Cambria Math" panose="02040503050406030204" pitchFamily="18" charset="0"/>
                  </a:rPr>
                  <a:t>$x^5$</a:t>
                </a:r>
                <a:r>
                  <a:rPr sz="2400" b="0">
                    <a:solidFill>
                      <a:srgbClr val="111827"/>
                    </a:solidFill>
                    <a:latin typeface="Arial"/>
                  </a:rPr>
                  <a:t> in </a:t>
                </a:r>
                <a:r>
                  <a:rPr lang="en-IN" sz="2400">
                    <a:solidFill>
                      <a:srgbClr val="111827"/>
                    </a:solidFill>
                    <a:latin typeface="Cambria Math" panose="02040503050406030204" pitchFamily="18" charset="0"/>
                  </a:rPr>
                  <a:t>$(1+x)^3(1+x^2)^3$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$(1+x)^3=1+3x+3x^2+x^3$</a:t>
                </a:r>
                <a:r>
                  <a:rPr sz="2400" b="0">
                    <a:solidFill>
                      <a:srgbClr val="111827"/>
                    </a:solidFill>
                    <a:latin typeface="Arial"/>
                  </a:rPr>
                  <a:t> and </a:t>
                </a:r>
                <a:r>
                  <a:rPr lang="en-IN" sz="2400">
                    <a:solidFill>
                      <a:srgbClr val="111827"/>
                    </a:solidFill>
                    <a:latin typeface="Cambria Math" panose="02040503050406030204" pitchFamily="18" charset="0"/>
                  </a:rPr>
                  <a:t>$(1+x^2)^3=1+3x^2+3x^4+x^6$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$x^5$</a:t>
                </a:r>
                <a:r>
                  <a:rPr sz="2400" b="0">
                    <a:solidFill>
                      <a:srgbClr val="111827"/>
                    </a:solidFill>
                    <a:latin typeface="Arial"/>
                  </a:rPr>
                  <a:t>: </a:t>
                </a:r>
                <a:r>
                  <a:rPr lang="en-IN" sz="2400">
                    <a:solidFill>
                      <a:srgbClr val="111827"/>
                    </a:solidFill>
                    <a:latin typeface="Cambria Math" panose="02040503050406030204" pitchFamily="18" charset="0"/>
                  </a:rPr>
                  <a:t>$3x\cdot3x^4+x^3\cdot3x^2=9x^5+3x^5=12x^5$</a:t>
                </a:r>
                <a:r>
                  <a:rPr sz="2400" b="0">
                    <a:solidFill>
                      <a:srgbClr val="111827"/>
                    </a:solidFill>
                    <a:latin typeface="Arial"/>
                  </a:rPr>
                  <a:t>. So the answer is </a:t>
                </a:r>
                <a:r>
                  <a:rPr lang="en-IN" sz="2400">
                    <a:solidFill>
                      <a:srgbClr val="111827"/>
                    </a:solidFill>
                    <a:latin typeface="Cambria Math" panose="02040503050406030204" pitchFamily="18" charset="0"/>
                  </a:rPr>
                  <a:t>$12$</a:t>
                </a:r>
                <a:r>
                  <a:rPr sz="2400" b="0">
                    <a:solidFill>
                      <a:srgbClr val="111827"/>
                    </a:solidFill>
                    <a:latin typeface="Arial"/>
                  </a:rPr>
                  <a:t>.</a:t>
                </a:r>
                <a:endParaRPr sz="2400">
                  <a:solidFill>
                    <a:srgbClr val="111827"/>
                  </a:solidFill>
                </a:endParaRPr>
              </a:p>
            </p:txBody>
          </p:sp>
        </mc:Fallback>
      </mc:AlternateContent>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12</a:t>
            </a:r>
            <a:endParaRPr sz="2800">
              <a:solidFill>
                <a:srgbClr val="15803D"/>
              </a:solidFill>
            </a:endParaRP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Number of symmetric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oMath>
                </a14:m>
                <a:r>
                  <a:rPr sz="2400" b="0">
                    <a:solidFill>
                      <a:srgbClr val="111827"/>
                    </a:solidFill>
                    <a:latin typeface="Arial"/>
                  </a:rPr>
                  <a:t> matrices with entries from a </a:t>
                </a:r>
                <a14:m>
                  <m:oMath xmlns:m="http://schemas.openxmlformats.org/officeDocument/2006/math">
                    <m:r>
                      <a:rPr lang="en-IN" sz="2400" i="1">
                        <a:solidFill>
                          <a:srgbClr val="111827"/>
                        </a:solidFill>
                        <a:latin typeface="Cambria Math" panose="02040503050406030204" pitchFamily="18" charset="0"/>
                      </a:rPr>
                      <m:t>𝑞</m:t>
                    </m:r>
                  </m:oMath>
                </a14:m>
                <a:r>
                  <a:rPr sz="2400" b="0">
                    <a:solidFill>
                      <a:srgbClr val="111827"/>
                    </a:solidFill>
                    <a:latin typeface="Arial"/>
                  </a:rPr>
                  <a:t>-element set: </a:t>
                </a:r>
                <a14:m>
                  <m:oMath xmlns:m="http://schemas.openxmlformats.org/officeDocument/2006/math">
                    <m:sSup>
                      <m:e>
                        <m:r>
                          <a:rPr lang="en-IN" sz="2400" i="1">
                            <a:solidFill>
                              <a:srgbClr val="111827"/>
                            </a:solidFill>
                            <a:latin typeface="Cambria Math" panose="02040503050406030204" pitchFamily="18" charset="0"/>
                          </a:rPr>
                          <m:t>𝑞</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p>
                    </m:sSup>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entries and a prescribed number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 of ones, use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number of ones in a symmetric matrix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(diagonal ones)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 </m:t>
                    </m:r>
                  </m:oMath>
                </a14:m>
                <a:r>
                  <a:rPr sz="2400" b="0">
                    <a:solidFill>
                      <a:srgbClr val="111827"/>
                    </a:solidFill>
                    <a:latin typeface="Arial"/>
                  </a:rPr>
                  <a:t>(off-diagonal pair ones), so its parity equals the parity of the diagonal ones.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all </a:t>
                </a:r>
                <a14:m>
                  <m:oMath xmlns:m="http://schemas.openxmlformats.org/officeDocument/2006/math">
                    <m:r>
                      <a:rPr lang="en-IN" sz="2400" i="1">
                        <a:solidFill>
                          <a:srgbClr val="111827"/>
                        </a:solidFill>
                        <a:latin typeface="Cambria Math" panose="02040503050406030204" pitchFamily="18" charset="0"/>
                      </a:rPr>
                      <m:t>64</m:t>
                    </m:r>
                  </m:oMath>
                </a14:m>
                <a:r>
                  <a:rPr sz="2400" b="0">
                    <a:solidFill>
                      <a:srgbClr val="111827"/>
                    </a:solidFill>
                    <a:latin typeface="Arial"/>
                  </a:rPr>
                  <a:t> symmetric matrices: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64</m:t>
                    </m:r>
                  </m:oMath>
                </a14:m>
                <a:r>
                  <a:rPr sz="2400" b="0">
                    <a:solidFill>
                      <a:srgbClr val="111827"/>
                    </a:solidFill>
                    <a:latin typeface="Arial"/>
                  </a:rPr>
                  <a:t> ✓.</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Number of symmetric </a:t>
                </a:r>
                <a:r>
                  <a:rPr lang="en-IN" sz="2400">
                    <a:solidFill>
                      <a:srgbClr val="111827"/>
                    </a:solidFill>
                    <a:latin typeface="Cambria Math" panose="02040503050406030204" pitchFamily="18" charset="0"/>
                  </a:rPr>
                  <a:t>$n\times n$</a:t>
                </a:r>
                <a:r>
                  <a:rPr sz="2400" b="0">
                    <a:solidFill>
                      <a:srgbClr val="111827"/>
                    </a:solidFill>
                    <a:latin typeface="Arial"/>
                  </a:rPr>
                  <a:t> matrices with entries from a </a:t>
                </a:r>
                <a:r>
                  <a:rPr lang="en-IN" sz="2400">
                    <a:solidFill>
                      <a:srgbClr val="111827"/>
                    </a:solidFill>
                    <a:latin typeface="Cambria Math" panose="02040503050406030204" pitchFamily="18" charset="0"/>
                  </a:rPr>
                  <a:t>$q$</a:t>
                </a:r>
                <a:r>
                  <a:rPr sz="2400" b="0">
                    <a:solidFill>
                      <a:srgbClr val="111827"/>
                    </a:solidFill>
                    <a:latin typeface="Arial"/>
                  </a:rPr>
                  <a:t>-element set: </a:t>
                </a:r>
                <a:r>
                  <a:rPr lang="en-IN" sz="2400">
                    <a:solidFill>
                      <a:srgbClr val="111827"/>
                    </a:solidFill>
                    <a:latin typeface="Cambria Math" panose="02040503050406030204" pitchFamily="18" charset="0"/>
                  </a:rPr>
                  <a:t>$q^{n(n+1)/2}$</a:t>
                </a:r>
                <a:r>
                  <a:rPr sz="2400" b="0">
                    <a:solidFill>
                      <a:srgbClr val="111827"/>
                    </a:solidFill>
                    <a:latin typeface="Arial"/>
                  </a:rPr>
                  <a:t>; with </a:t>
                </a:r>
                <a:r>
                  <a:rPr lang="en-IN" sz="2400">
                    <a:solidFill>
                      <a:srgbClr val="111827"/>
                    </a:solidFill>
                    <a:latin typeface="Cambria Math" panose="02040503050406030204" pitchFamily="18" charset="0"/>
                  </a:rPr>
                  <a:t>$0$</a:t>
                </a:r>
                <a:r>
                  <a:rPr sz="2400" b="0">
                    <a:solidFill>
                      <a:srgbClr val="111827"/>
                    </a:solidFill>
                    <a:latin typeface="Arial"/>
                  </a:rPr>
                  <a:t>-</a:t>
                </a:r>
                <a:r>
                  <a:rPr lang="en-IN" sz="2400">
                    <a:solidFill>
                      <a:srgbClr val="111827"/>
                    </a:solidFill>
                    <a:latin typeface="Cambria Math" panose="02040503050406030204" pitchFamily="18" charset="0"/>
                  </a:rPr>
                  <a:t>$1$</a:t>
                </a:r>
                <a:r>
                  <a:rPr sz="2400" b="0">
                    <a:solidFill>
                      <a:srgbClr val="111827"/>
                    </a:solidFill>
                    <a:latin typeface="Arial"/>
                  </a:rPr>
                  <a:t> entries and a prescribed number </a:t>
                </a:r>
                <a:r>
                  <a:rPr lang="en-IN" sz="2400">
                    <a:solidFill>
                      <a:srgbClr val="111827"/>
                    </a:solidFill>
                    <a:latin typeface="Cambria Math" panose="02040503050406030204" pitchFamily="18" charset="0"/>
                  </a:rPr>
                  <a:t>$k$</a:t>
                </a:r>
                <a:r>
                  <a:rPr sz="2400" b="0">
                    <a:solidFill>
                      <a:srgbClr val="111827"/>
                    </a:solidFill>
                    <a:latin typeface="Arial"/>
                  </a:rPr>
                  <a:t> of ones, use </a:t>
                </a:r>
                <a:r>
                  <a:rPr lang="en-IN" sz="2400">
                    <a:solidFill>
                      <a:srgbClr val="111827"/>
                    </a:solidFill>
                    <a:latin typeface="Cambria Math" panose="02040503050406030204" pitchFamily="18" charset="0"/>
                  </a:rPr>
                  <a:t>$\prod(1+x)^n(1+x^2)^{n(n-1)/2}$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number of ones in a symmetric matrix </a:t>
                </a:r>
                <a:r>
                  <a:rPr lang="en-IN" sz="2400">
                    <a:solidFill>
                      <a:srgbClr val="111827"/>
                    </a:solidFill>
                    <a:latin typeface="Cambria Math" panose="02040503050406030204" pitchFamily="18" charset="0"/>
                  </a:rPr>
                  <a:t>$=$</a:t>
                </a:r>
                <a:r>
                  <a:rPr sz="2400" b="0">
                    <a:solidFill>
                      <a:srgbClr val="111827"/>
                    </a:solidFill>
                    <a:latin typeface="Arial"/>
                  </a:rPr>
                  <a:t> (diagonal ones) </a:t>
                </a:r>
                <a:r>
                  <a:rPr lang="en-IN" sz="2400">
                    <a:solidFill>
                      <a:srgbClr val="111827"/>
                    </a:solidFill>
                    <a:latin typeface="Cambria Math" panose="02040503050406030204" pitchFamily="18" charset="0"/>
                  </a:rPr>
                  <a:t>$+\,2\,$</a:t>
                </a:r>
                <a:r>
                  <a:rPr sz="2400" b="0">
                    <a:solidFill>
                      <a:srgbClr val="111827"/>
                    </a:solidFill>
                    <a:latin typeface="Arial"/>
                  </a:rPr>
                  <a:t>(off-diagonal pair ones), so its parity equals the parity of the diagonal ones.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all </a:t>
                </a:r>
                <a:r>
                  <a:rPr lang="en-IN" sz="2400">
                    <a:solidFill>
                      <a:srgbClr val="111827"/>
                    </a:solidFill>
                    <a:latin typeface="Cambria Math" panose="02040503050406030204" pitchFamily="18" charset="0"/>
                  </a:rPr>
                  <a:t>$64$</a:t>
                </a:r>
                <a:r>
                  <a:rPr sz="2400" b="0">
                    <a:solidFill>
                      <a:srgbClr val="111827"/>
                    </a:solidFill>
                    <a:latin typeface="Arial"/>
                  </a:rPr>
                  <a:t> symmetric matrices: </a:t>
                </a:r>
                <a:r>
                  <a:rPr lang="en-IN" sz="2400">
                    <a:solidFill>
                      <a:srgbClr val="111827"/>
                    </a:solidFill>
                    <a:latin typeface="Cambria Math" panose="02040503050406030204" pitchFamily="18" charset="0"/>
                  </a:rPr>
                  <a:t>$(1+1)^3(1+1)^3=64$</a:t>
                </a:r>
                <a:r>
                  <a:rPr sz="2400" b="0">
                    <a:solidFill>
                      <a:srgbClr val="111827"/>
                    </a:solidFill>
                    <a:latin typeface="Arial"/>
                  </a:rPr>
                  <a:t> ✓.</a:t>
                </a:r>
                <a:endParaRPr sz="2400">
                  <a:solidFill>
                    <a:srgbClr val="111827"/>
                  </a:solidFill>
                </a:endParaRPr>
              </a:p>
            </p:txBody>
          </p:sp>
        </mc:Fallback>
      </mc:AlternateContent>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number of ways in which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distinct objects can be kept into two identical boxes so that no box remains empty is ______ .</a:t>
                </a:r>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number of ways in which </a:t>
                </a:r>
                <a:r>
                  <a:rPr lang="en-IN" sz="2400">
                    <a:solidFill>
                      <a:srgbClr val="111827"/>
                    </a:solidFill>
                    <a:latin typeface="Cambria Math" panose="02040503050406030204" pitchFamily="18" charset="0"/>
                  </a:rPr>
                  <a:t>$n$</a:t>
                </a:r>
                <a:r>
                  <a:rPr sz="2400" b="0">
                    <a:solidFill>
                      <a:srgbClr val="111827"/>
                    </a:solidFill>
                    <a:latin typeface="Arial"/>
                  </a:rPr>
                  <a:t> distinct objects can be kept into two identical boxes so that no box remains empty is ______ .</a:t>
                </a:r>
                <a:endParaRPr sz="2400">
                  <a:solidFill>
                    <a:srgbClr val="111827"/>
                  </a:solidFill>
                </a:endParaRPr>
              </a:p>
            </p:txBody>
          </p:sp>
        </mc:Fallback>
      </mc:AlternateContent>
      <p:sp>
        <p:nvSpPr>
          <p:cNvPr id="5" name="Rectangle 4"/>
          <p:cNvSpPr/>
          <p:nvPr/>
        </p:nvSpPr>
        <p:spPr>
          <a:xfrm>
            <a:off x="731520" y="324612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Distribution of distinct objects into identical boxes (no box empty)</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Count with labelled boxes, remove the two empty-box cases, then divide by </a:t>
                </a:r>
                <a14:m>
                  <m:oMath xmlns:m="http://schemas.openxmlformats.org/officeDocument/2006/math">
                    <m:r>
                      <a:rPr lang="en-IN" sz="2400" i="1">
                        <a:solidFill>
                          <a:srgbClr val="78350F"/>
                        </a:solidFill>
                        <a:latin typeface="Cambria Math" panose="02040503050406030204" pitchFamily="18" charset="0"/>
                      </a:rPr>
                      <m:t>2</m:t>
                    </m:r>
                  </m:oMath>
                </a14:m>
                <a:r>
                  <a:rPr sz="2400" b="0">
                    <a:solidFill>
                      <a:srgbClr val="78350F"/>
                    </a:solidFill>
                    <a:latin typeface="Arial"/>
                  </a:rPr>
                  <a:t> because the boxes are identical.</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Count with labelled boxes, remove the two empty-box cases, then divide by </a:t>
                </a:r>
                <a:r>
                  <a:rPr lang="en-IN" sz="2400">
                    <a:solidFill>
                      <a:srgbClr val="78350F"/>
                    </a:solidFill>
                    <a:latin typeface="Cambria Math" panose="02040503050406030204" pitchFamily="18" charset="0"/>
                  </a:rPr>
                  <a:t>$2$</a:t>
                </a:r>
                <a:r>
                  <a:rPr sz="2400" b="0">
                    <a:solidFill>
                      <a:srgbClr val="78350F"/>
                    </a:solidFill>
                    <a:latin typeface="Arial"/>
                  </a:rPr>
                  <a:t> because the boxes are identical.</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Suppose for a moment that the boxes are different, </a:t>
                </a:r>
                <a14:m>
                  <m:oMath xmlns:m="http://schemas.openxmlformats.org/officeDocument/2006/math">
                    <m:sSub>
                      <m:e>
                        <m:r>
                          <a:rPr lang="en-IN" sz="2400" i="1">
                            <a:solidFill>
                              <a:srgbClr val="111827"/>
                            </a:solidFill>
                            <a:latin typeface="Cambria Math" panose="02040503050406030204" pitchFamily="18" charset="0"/>
                          </a:rPr>
                          <m:t>𝐵</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𝐵</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Each object can go into either box in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ways.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ways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Suppose for a moment that the boxes are different, </a:t>
                </a:r>
                <a:r>
                  <a:rPr lang="en-IN" sz="2400">
                    <a:solidFill>
                      <a:srgbClr val="111827"/>
                    </a:solidFill>
                    <a:latin typeface="Cambria Math" panose="02040503050406030204" pitchFamily="18" charset="0"/>
                  </a:rPr>
                  <a:t>$B_1$</a:t>
                </a:r>
                <a:r>
                  <a:rPr sz="2400" b="0">
                    <a:solidFill>
                      <a:srgbClr val="111827"/>
                    </a:solidFill>
                    <a:latin typeface="Arial"/>
                  </a:rPr>
                  <a:t> and </a:t>
                </a:r>
                <a:r>
                  <a:rPr lang="en-IN" sz="2400">
                    <a:solidFill>
                      <a:srgbClr val="111827"/>
                    </a:solidFill>
                    <a:latin typeface="Cambria Math" panose="02040503050406030204" pitchFamily="18" charset="0"/>
                  </a:rPr>
                  <a:t>$B_2$</a:t>
                </a:r>
                <a:r>
                  <a:rPr sz="2400" b="0">
                    <a:solidFill>
                      <a:srgbClr val="111827"/>
                    </a:solidFill>
                    <a:latin typeface="Arial"/>
                  </a:rPr>
                  <a:t>. Each object can go into either box in </a:t>
                </a:r>
                <a:r>
                  <a:rPr lang="en-IN" sz="2400">
                    <a:solidFill>
                      <a:srgbClr val="111827"/>
                    </a:solidFill>
                    <a:latin typeface="Cambria Math" panose="02040503050406030204" pitchFamily="18" charset="0"/>
                  </a:rPr>
                  <a:t>$2$</a:t>
                </a:r>
                <a:r>
                  <a:rPr sz="2400" b="0">
                    <a:solidFill>
                      <a:srgbClr val="111827"/>
                    </a:solidFill>
                    <a:latin typeface="Arial"/>
                  </a:rPr>
                  <a:t> ways.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ways </a:t>
                </a:r>
                <a:r>
                  <a:rPr lang="en-IN" sz="2400">
                    <a:solidFill>
                      <a:srgbClr val="111827"/>
                    </a:solidFill>
                    <a:latin typeface="Cambria Math" panose="02040503050406030204" pitchFamily="18" charset="0"/>
                  </a:rPr>
                  <a:t>$=2^n$</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This includes the two cases in which all objects are in </a:t>
                </a:r>
                <a14:m>
                  <m:oMath xmlns:m="http://schemas.openxmlformats.org/officeDocument/2006/math">
                    <m:sSub>
                      <m:e>
                        <m:r>
                          <a:rPr lang="en-IN" sz="2400" i="1">
                            <a:solidFill>
                              <a:srgbClr val="111827"/>
                            </a:solidFill>
                            <a:latin typeface="Cambria Math" panose="02040503050406030204" pitchFamily="18" charset="0"/>
                          </a:rPr>
                          <m:t>𝐵</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or all in </a:t>
                </a:r>
                <a14:m>
                  <m:oMath xmlns:m="http://schemas.openxmlformats.org/officeDocument/2006/math">
                    <m:sSub>
                      <m:e>
                        <m:r>
                          <a:rPr lang="en-IN" sz="2400" i="1">
                            <a:solidFill>
                              <a:srgbClr val="111827"/>
                            </a:solidFill>
                            <a:latin typeface="Cambria Math" panose="02040503050406030204" pitchFamily="18" charset="0"/>
                          </a:rPr>
                          <m:t>𝐵</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(a box empty): so the number of ways with neither box empty is </a:t>
                </a:r>
                <a14:m>
                  <m:oMath xmlns:m="http://schemas.openxmlformats.org/officeDocument/2006/math">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Since the boxes are identical, each arrangement is counted twice: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This includes the two cases in which all objects are in </a:t>
                </a:r>
                <a:r>
                  <a:rPr lang="en-IN" sz="2400">
                    <a:solidFill>
                      <a:srgbClr val="111827"/>
                    </a:solidFill>
                    <a:latin typeface="Cambria Math" panose="02040503050406030204" pitchFamily="18" charset="0"/>
                  </a:rPr>
                  <a:t>$B_1$</a:t>
                </a:r>
                <a:r>
                  <a:rPr sz="2400" b="0">
                    <a:solidFill>
                      <a:srgbClr val="111827"/>
                    </a:solidFill>
                    <a:latin typeface="Arial"/>
                  </a:rPr>
                  <a:t> or all in </a:t>
                </a:r>
                <a:r>
                  <a:rPr lang="en-IN" sz="2400">
                    <a:solidFill>
                      <a:srgbClr val="111827"/>
                    </a:solidFill>
                    <a:latin typeface="Cambria Math" panose="02040503050406030204" pitchFamily="18" charset="0"/>
                  </a:rPr>
                  <a:t>$B_2$</a:t>
                </a:r>
                <a:r>
                  <a:rPr sz="2400" b="0">
                    <a:solidFill>
                      <a:srgbClr val="111827"/>
                    </a:solidFill>
                    <a:latin typeface="Arial"/>
                  </a:rPr>
                  <a:t> (a box empty): so the number of ways with neither box empty is </a:t>
                </a:r>
                <a:r>
                  <a:rPr lang="en-IN" sz="2400">
                    <a:solidFill>
                      <a:srgbClr val="111827"/>
                    </a:solidFill>
                    <a:latin typeface="Cambria Math" panose="02040503050406030204" pitchFamily="18" charset="0"/>
                  </a:rPr>
                  <a:t>$2^n-2$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Since the boxes are identical, each arrangement is counted twice: </a:t>
                </a:r>
                <a:r>
                  <a:rPr lang="en-IN" sz="2400">
                    <a:solidFill>
                      <a:srgbClr val="111827"/>
                    </a:solidFill>
                    <a:latin typeface="Cambria Math" panose="02040503050406030204" pitchFamily="18" charset="0"/>
                  </a:rPr>
                  <a:t>$\dfrac{2^n-2}{2}=2^{n-1}-1$</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14:m>
                  <m:oMath xmlns:m="http://schemas.openxmlformats.org/officeDocument/2006/math">
                    <m:sSup>
                      <m:e>
                        <m:r>
                          <a:rPr lang="en-IN" sz="2800" i="1">
                            <a:solidFill>
                              <a:srgbClr val="15803D"/>
                            </a:solidFill>
                            <a:latin typeface="Cambria Math" panose="02040503050406030204" pitchFamily="18" charset="0"/>
                          </a:rPr>
                          <m:t>2</m:t>
                        </m:r>
                      </m:e>
                      <m:sup>
                        <m:r>
                          <a:rPr lang="en-IN" sz="2800" i="1">
                            <a:solidFill>
                              <a:srgbClr val="15803D"/>
                            </a:solidFill>
                            <a:latin typeface="Cambria Math" panose="02040503050406030204" pitchFamily="18" charset="0"/>
                          </a:rPr>
                          <m:t>𝑛</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1</m:t>
                        </m:r>
                      </m:sup>
                    </m:sSup>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1</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r>
                  <a:rPr lang="en-IN" sz="2800">
                    <a:solidFill>
                      <a:srgbClr val="15803D"/>
                    </a:solidFill>
                    <a:latin typeface="Cambria Math" panose="02040503050406030204" pitchFamily="18" charset="0"/>
                  </a:rPr>
                  <a:t>$2^{n-1}-1$</a:t>
                </a:r>
                <a:endParaRPr sz="2800">
                  <a:solidFill>
                    <a:srgbClr val="15803D"/>
                  </a:solidFill>
                </a:endParaRPr>
              </a:p>
            </p:txBody>
          </p:sp>
        </mc:Fallback>
      </mc:AlternateContent>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p:sp>
        <p:nvSpPr>
          <p:cNvPr id="5" name="Rounded Rectangle 4"/>
          <p:cNvSpPr/>
          <p:nvPr/>
        </p:nvSpPr>
        <p:spPr>
          <a:xfrm>
            <a:off x="731520" y="1280160"/>
            <a:ext cx="10725912" cy="73761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Fix one object and decide which others share its box.</a:t>
            </a:r>
            <a:endParaRPr sz="2400">
              <a:solidFill>
                <a:srgbClr val="78350F"/>
              </a:solidFill>
            </a:endParaRPr>
          </a:p>
        </p:txBody>
      </p:sp>
      <mc:AlternateContent xmlns:mc="http://schemas.openxmlformats.org/markup-compatibility/2006" xmlns:a14="http://schemas.microsoft.com/office/drawing/2010/main">
        <mc:Choice Requires="a14">
          <p:sp>
            <p:nvSpPr>
              <p:cNvPr id="6" name="Rectangle 5"/>
              <p:cNvSpPr/>
              <p:nvPr/>
            </p:nvSpPr>
            <p:spPr>
              <a:xfrm>
                <a:off x="731520" y="2154936"/>
                <a:ext cx="10725912" cy="36332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the object </a:t>
                </a:r>
                <a14:m>
                  <m:oMath xmlns:m="http://schemas.openxmlformats.org/officeDocument/2006/math">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define the first box (identical boxes, so we need only say which other objects are with </a:t>
                </a:r>
                <a14:m>
                  <m:oMath xmlns:m="http://schemas.openxmlformats.org/officeDocument/2006/math">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Each of the other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objects either joins </a:t>
                </a:r>
                <a14:m>
                  <m:oMath xmlns:m="http://schemas.openxmlformats.org/officeDocument/2006/math">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or not: </a:t>
                </a:r>
                <a14:m>
                  <m:oMath xmlns:m="http://schemas.openxmlformats.org/officeDocument/2006/math">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oMath>
                </a14:m>
                <a:r>
                  <a:rPr sz="2400" b="0">
                    <a:solidFill>
                      <a:srgbClr val="111827"/>
                    </a:solidFill>
                    <a:latin typeface="Arial"/>
                  </a:rPr>
                  <a:t> ways.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Exclude the case in which all other objects join </a:t>
                </a:r>
                <a14:m>
                  <m:oMath xmlns:m="http://schemas.openxmlformats.org/officeDocument/2006/math">
                    <m:sSub>
                      <m:e>
                        <m:r>
                          <a:rPr lang="en-IN" sz="2400" i="1">
                            <a:solidFill>
                              <a:srgbClr val="111827"/>
                            </a:solidFill>
                            <a:latin typeface="Cambria Math" panose="02040503050406030204" pitchFamily="18" charset="0"/>
                          </a:rPr>
                          <m:t>𝑇</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because then the second box is empty: </a:t>
                </a:r>
                <a14:m>
                  <m:oMath xmlns:m="http://schemas.openxmlformats.org/officeDocument/2006/math">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154936"/>
                <a:ext cx="10725912" cy="36332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the object </a:t>
                </a:r>
                <a:r>
                  <a:rPr lang="en-IN" sz="2400">
                    <a:solidFill>
                      <a:srgbClr val="111827"/>
                    </a:solidFill>
                    <a:latin typeface="Cambria Math" panose="02040503050406030204" pitchFamily="18" charset="0"/>
                  </a:rPr>
                  <a:t>$T_1$</a:t>
                </a:r>
                <a:r>
                  <a:rPr sz="2400" b="0">
                    <a:solidFill>
                      <a:srgbClr val="111827"/>
                    </a:solidFill>
                    <a:latin typeface="Arial"/>
                  </a:rPr>
                  <a:t> define the first box (identical boxes, so we need only say which other objects are with </a:t>
                </a:r>
                <a:r>
                  <a:rPr lang="en-IN" sz="2400">
                    <a:solidFill>
                      <a:srgbClr val="111827"/>
                    </a:solidFill>
                    <a:latin typeface="Cambria Math" panose="02040503050406030204" pitchFamily="18" charset="0"/>
                  </a:rPr>
                  <a:t>$T_1$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Each of the other </a:t>
                </a:r>
                <a:r>
                  <a:rPr lang="en-IN" sz="2400">
                    <a:solidFill>
                      <a:srgbClr val="111827"/>
                    </a:solidFill>
                    <a:latin typeface="Cambria Math" panose="02040503050406030204" pitchFamily="18" charset="0"/>
                  </a:rPr>
                  <a:t>$n-1$</a:t>
                </a:r>
                <a:r>
                  <a:rPr sz="2400" b="0">
                    <a:solidFill>
                      <a:srgbClr val="111827"/>
                    </a:solidFill>
                    <a:latin typeface="Arial"/>
                  </a:rPr>
                  <a:t> objects either joins </a:t>
                </a:r>
                <a:r>
                  <a:rPr lang="en-IN" sz="2400">
                    <a:solidFill>
                      <a:srgbClr val="111827"/>
                    </a:solidFill>
                    <a:latin typeface="Cambria Math" panose="02040503050406030204" pitchFamily="18" charset="0"/>
                  </a:rPr>
                  <a:t>$T_1$</a:t>
                </a:r>
                <a:r>
                  <a:rPr sz="2400" b="0">
                    <a:solidFill>
                      <a:srgbClr val="111827"/>
                    </a:solidFill>
                    <a:latin typeface="Arial"/>
                  </a:rPr>
                  <a:t> or not: </a:t>
                </a:r>
                <a:r>
                  <a:rPr lang="en-IN" sz="2400">
                    <a:solidFill>
                      <a:srgbClr val="111827"/>
                    </a:solidFill>
                    <a:latin typeface="Cambria Math" panose="02040503050406030204" pitchFamily="18" charset="0"/>
                  </a:rPr>
                  <a:t>$2^{n-1}$</a:t>
                </a:r>
                <a:r>
                  <a:rPr sz="2400" b="0">
                    <a:solidFill>
                      <a:srgbClr val="111827"/>
                    </a:solidFill>
                    <a:latin typeface="Arial"/>
                  </a:rPr>
                  <a:t> ways.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Exclude the case in which all other objects join </a:t>
                </a:r>
                <a:r>
                  <a:rPr lang="en-IN" sz="2400">
                    <a:solidFill>
                      <a:srgbClr val="111827"/>
                    </a:solidFill>
                    <a:latin typeface="Cambria Math" panose="02040503050406030204" pitchFamily="18" charset="0"/>
                  </a:rPr>
                  <a:t>$T_1$</a:t>
                </a:r>
                <a:r>
                  <a:rPr sz="2400" b="0">
                    <a:solidFill>
                      <a:srgbClr val="111827"/>
                    </a:solidFill>
                    <a:latin typeface="Arial"/>
                  </a:rPr>
                  <a:t>, because then the second box is empty: </a:t>
                </a:r>
                <a:r>
                  <a:rPr lang="en-IN" sz="2400">
                    <a:solidFill>
                      <a:srgbClr val="111827"/>
                    </a:solidFill>
                    <a:latin typeface="Cambria Math" panose="02040503050406030204" pitchFamily="18" charset="0"/>
                  </a:rPr>
                  <a:t>$2^{n-1}-1$</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14:m>
                  <m:oMath xmlns:m="http://schemas.openxmlformats.org/officeDocument/2006/math">
                    <m:sSup>
                      <m:e>
                        <m:r>
                          <a:rPr lang="en-IN" sz="2800" i="1">
                            <a:solidFill>
                              <a:srgbClr val="15803D"/>
                            </a:solidFill>
                            <a:latin typeface="Cambria Math" panose="02040503050406030204" pitchFamily="18" charset="0"/>
                          </a:rPr>
                          <m:t>2</m:t>
                        </m:r>
                      </m:e>
                      <m:sup>
                        <m:r>
                          <a:rPr lang="en-IN" sz="2800" i="1">
                            <a:solidFill>
                              <a:srgbClr val="15803D"/>
                            </a:solidFill>
                            <a:latin typeface="Cambria Math" panose="02040503050406030204" pitchFamily="18" charset="0"/>
                          </a:rPr>
                          <m:t>𝑛</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1</m:t>
                        </m:r>
                      </m:sup>
                    </m:sSup>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1</m:t>
                    </m:r>
                  </m:oMath>
                </a14:m>
                <a:endParaRPr sz="2800">
                  <a:solidFill>
                    <a:srgbClr val="15803D"/>
                  </a:solidFill>
                </a:endParaRPr>
              </a:p>
            </p:txBody>
          </p:sp>
        </mc:Choice>
        <mc:Fallback>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r>
                  <a:rPr lang="en-IN" sz="2800">
                    <a:solidFill>
                      <a:srgbClr val="15803D"/>
                    </a:solidFill>
                    <a:latin typeface="Cambria Math" panose="02040503050406030204" pitchFamily="18" charset="0"/>
                  </a:rPr>
                  <a:t>$2^{n-1}-1$</a:t>
                </a:r>
                <a:endParaRPr sz="2800">
                  <a:solidFill>
                    <a:srgbClr val="15803D"/>
                  </a:solidFill>
                </a:endParaRPr>
              </a:p>
            </p:txBody>
          </p:sp>
        </mc:Fallback>
      </mc:AlternateContent>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Ways to split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distinct objects into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non-empty unlabelled groups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(Stirling number of the second kind).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Into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labelled non-empty boxes: </a:t>
                </a:r>
                <a14:m>
                  <m:oMath xmlns:m="http://schemas.openxmlformats.org/officeDocument/2006/math">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into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unlabelled boxes where empty is allowed: </a:t>
                </a:r>
                <a14:m>
                  <m:oMath xmlns:m="http://schemas.openxmlformats.org/officeDocument/2006/math">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Ways to split </a:t>
                </a:r>
                <a:r>
                  <a:rPr lang="en-IN" sz="2400">
                    <a:solidFill>
                      <a:srgbClr val="111827"/>
                    </a:solidFill>
                    <a:latin typeface="Cambria Math" panose="02040503050406030204" pitchFamily="18" charset="0"/>
                  </a:rPr>
                  <a:t>$n$</a:t>
                </a:r>
                <a:r>
                  <a:rPr sz="2400" b="0">
                    <a:solidFill>
                      <a:srgbClr val="111827"/>
                    </a:solidFill>
                    <a:latin typeface="Arial"/>
                  </a:rPr>
                  <a:t> distinct objects into </a:t>
                </a:r>
                <a:r>
                  <a:rPr lang="en-IN" sz="2400">
                    <a:solidFill>
                      <a:srgbClr val="111827"/>
                    </a:solidFill>
                    <a:latin typeface="Cambria Math" panose="02040503050406030204" pitchFamily="18" charset="0"/>
                  </a:rPr>
                  <a:t>$2$</a:t>
                </a:r>
                <a:r>
                  <a:rPr sz="2400" b="0">
                    <a:solidFill>
                      <a:srgbClr val="111827"/>
                    </a:solidFill>
                    <a:latin typeface="Arial"/>
                  </a:rPr>
                  <a:t> non-empty unlabelled groups </a:t>
                </a:r>
                <a:r>
                  <a:rPr lang="en-IN" sz="2400">
                    <a:solidFill>
                      <a:srgbClr val="111827"/>
                    </a:solidFill>
                    <a:latin typeface="Cambria Math" panose="02040503050406030204" pitchFamily="18" charset="0"/>
                  </a:rPr>
                  <a:t>$=S(n,2)=2^{n-1}-1$</a:t>
                </a:r>
                <a:r>
                  <a:rPr sz="2400" b="0">
                    <a:solidFill>
                      <a:srgbClr val="111827"/>
                    </a:solidFill>
                    <a:latin typeface="Arial"/>
                  </a:rPr>
                  <a:t> (Stirling number of the second kind).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Into </a:t>
                </a:r>
                <a:r>
                  <a:rPr lang="en-IN" sz="2400">
                    <a:solidFill>
                      <a:srgbClr val="111827"/>
                    </a:solidFill>
                    <a:latin typeface="Cambria Math" panose="02040503050406030204" pitchFamily="18" charset="0"/>
                  </a:rPr>
                  <a:t>$2$</a:t>
                </a:r>
                <a:r>
                  <a:rPr sz="2400" b="0">
                    <a:solidFill>
                      <a:srgbClr val="111827"/>
                    </a:solidFill>
                    <a:latin typeface="Arial"/>
                  </a:rPr>
                  <a:t> labelled non-empty boxes: </a:t>
                </a:r>
                <a:r>
                  <a:rPr lang="en-IN" sz="2400">
                    <a:solidFill>
                      <a:srgbClr val="111827"/>
                    </a:solidFill>
                    <a:latin typeface="Cambria Math" panose="02040503050406030204" pitchFamily="18" charset="0"/>
                  </a:rPr>
                  <a:t>$2^n-2$</a:t>
                </a:r>
                <a:r>
                  <a:rPr sz="2400" b="0">
                    <a:solidFill>
                      <a:srgbClr val="111827"/>
                    </a:solidFill>
                    <a:latin typeface="Arial"/>
                  </a:rPr>
                  <a:t>; into </a:t>
                </a:r>
                <a:r>
                  <a:rPr lang="en-IN" sz="2400">
                    <a:solidFill>
                      <a:srgbClr val="111827"/>
                    </a:solidFill>
                    <a:latin typeface="Cambria Math" panose="02040503050406030204" pitchFamily="18" charset="0"/>
                  </a:rPr>
                  <a:t>$2$</a:t>
                </a:r>
                <a:r>
                  <a:rPr sz="2400" b="0">
                    <a:solidFill>
                      <a:srgbClr val="111827"/>
                    </a:solidFill>
                    <a:latin typeface="Arial"/>
                  </a:rPr>
                  <a:t> unlabelled boxes where empty is allowed: </a:t>
                </a:r>
                <a:r>
                  <a:rPr lang="en-IN" sz="2400">
                    <a:solidFill>
                      <a:srgbClr val="111827"/>
                    </a:solidFill>
                    <a:latin typeface="Cambria Math" panose="02040503050406030204" pitchFamily="18" charset="0"/>
                  </a:rPr>
                  <a:t>$2^{n-1}$</a:t>
                </a:r>
                <a:r>
                  <a:rPr sz="2400" b="0">
                    <a:solidFill>
                      <a:srgbClr val="111827"/>
                    </a:solidFill>
                    <a:latin typeface="Arial"/>
                  </a:rPr>
                  <a:t> (for </a:t>
                </a:r>
                <a:r>
                  <a:rPr lang="en-IN" sz="2400">
                    <a:solidFill>
                      <a:srgbClr val="111827"/>
                    </a:solidFill>
                    <a:latin typeface="Cambria Math" panose="02040503050406030204" pitchFamily="18" charset="0"/>
                  </a:rPr>
                  <a:t>$n\ge1$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r>
                  <a:rPr lang="en-IN" sz="2400">
                    <a:solidFill>
                      <a:srgbClr val="111827"/>
                    </a:solidFill>
                    <a:latin typeface="Cambria Math" panose="02040503050406030204" pitchFamily="18" charset="0"/>
                  </a:rPr>
                  <a:t>$n=3$</a:t>
                </a:r>
                <a:r>
                  <a:rPr sz="2400" b="0">
                    <a:solidFill>
                      <a:srgbClr val="111827"/>
                    </a:solidFill>
                    <a:latin typeface="Arial"/>
                  </a:rPr>
                  <a:t>: </a:t>
                </a:r>
                <a:r>
                  <a:rPr lang="en-IN" sz="2400">
                    <a:solidFill>
                      <a:srgbClr val="111827"/>
                    </a:solidFill>
                    <a:latin typeface="Cambria Math" panose="02040503050406030204" pitchFamily="18" charset="0"/>
                  </a:rPr>
                  <a:t>$\{12|3\},\{13|2\},\{23|1\}$</a:t>
                </a:r>
                <a:r>
                  <a:rPr sz="2400" b="0">
                    <a:solidFill>
                      <a:srgbClr val="111827"/>
                    </a:solidFill>
                    <a:latin typeface="Arial"/>
                  </a:rPr>
                  <a:t> gives </a:t>
                </a:r>
                <a:r>
                  <a:rPr lang="en-IN" sz="2400">
                    <a:solidFill>
                      <a:srgbClr val="111827"/>
                    </a:solidFill>
                    <a:latin typeface="Cambria Math" panose="02040503050406030204" pitchFamily="18" charset="0"/>
                  </a:rPr>
                  <a:t>$3=2^2-1$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2895" cy="4114800"/>
          </a:xfrm>
          <a:prstGeom prst="rect">
            <a:avLst/>
          </a:prstGeom>
          <a:noFill/>
        </p:spPr>
        <p:txBody>
          <a:bodyPr wrap="square">
            <a:spAutoFit/>
          </a:bodyPr>
          <a:lstStyle>
            <a:lvl1pPr>
              <a:defRPr sz="2800">
                <a:solidFill>
                  <a:srgbClr val="FFFFFF"/>
                </a:solidFill>
              </a:defRPr>
            </a:lvl1pPr>
          </a:lstStyle>
          <a:p>
            <a:pPr algn="ctr">
              <a:spcAft>
                <a:spcPts val="1000"/>
              </a:spcAft>
              <a:defRPr sz="2800">
                <a:solidFill>
                  <a:srgbClr val="FFFFFF"/>
                </a:solidFill>
              </a:defRPr>
            </a:pPr>
            <a:r>
              <a:rPr sz="2800" b="0">
                <a:solidFill>
                  <a:srgbClr val="93C5FD"/>
                </a:solidFill>
                <a:latin typeface="Arial"/>
              </a:rPr>
              <a:t>Section 2</a:t>
            </a:r>
            <a:endParaRPr sz="2800">
              <a:solidFill>
                <a:srgbClr val="FFFFFF"/>
              </a:solidFill>
            </a:endParaRPr>
          </a:p>
          <a:p>
            <a:pPr algn="ctr">
              <a:spcAft>
                <a:spcPts val="1000"/>
              </a:spcAft>
              <a:defRPr sz="2800">
                <a:solidFill>
                  <a:srgbClr val="FFFFFF"/>
                </a:solidFill>
              </a:defRPr>
            </a:pPr>
            <a:r>
              <a:rPr sz="4400" b="1">
                <a:solidFill>
                  <a:srgbClr val="FFFFFF"/>
                </a:solidFill>
                <a:latin typeface="Arial"/>
              </a:rPr>
              <a:t>Paragraph Based Single Correct Type</a:t>
            </a:r>
            <a:endParaRPr sz="2800">
              <a:solidFill>
                <a:srgbClr val="FFFFFF"/>
              </a:solidFill>
            </a:endParaRPr>
          </a:p>
          <a:p>
            <a:pPr algn="ctr">
              <a:spcAft>
                <a:spcPts val="1000"/>
              </a:spcAft>
              <a:defRPr sz="2800">
                <a:solidFill>
                  <a:srgbClr val="FFFFFF"/>
                </a:solidFill>
              </a:defRPr>
            </a:pPr>
            <a:r>
              <a:rPr sz="3200" b="1">
                <a:solidFill>
                  <a:srgbClr val="FFFFFF"/>
                </a:solidFill>
                <a:latin typeface="Arial"/>
              </a:rPr>
              <a:t>Q19 – Q27</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Marks not printed in the paper: 3 marks each assumed (JEE Advanced default)</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Three paragraphs: Q19-21, Q22-24, Q25-27</a:t>
            </a:r>
            <a:endParaRPr sz="2800">
              <a:solidFill>
                <a:srgbClr val="FFFFFF"/>
              </a:solidFill>
            </a:endParaRP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5367527"/>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Paragraph: </a:t>
                </a:r>
                <a14:m>
                  <m:oMath xmlns:m="http://schemas.openxmlformats.org/officeDocument/2006/math">
                    <m:r>
                      <a:rPr lang="en-IN" sz="2400" i="1">
                        <a:solidFill>
                          <a:srgbClr val="111827"/>
                        </a:solidFill>
                        <a:latin typeface="Cambria Math" panose="02040503050406030204" pitchFamily="18" charset="0"/>
                      </a:rPr>
                      <m:t>16</m:t>
                    </m:r>
                  </m:oMath>
                </a14:m>
                <a:r>
                  <a:rPr sz="2400" b="0">
                    <a:solidFill>
                      <a:srgbClr val="111827"/>
                    </a:solidFill>
                    <a:latin typeface="Arial"/>
                  </a:rPr>
                  <a:t> players </a:t>
                </a:r>
                <a14:m>
                  <m:oMath xmlns:m="http://schemas.openxmlformats.org/officeDocument/2006/math">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16</m:t>
                        </m:r>
                      </m:sub>
                    </m:sSub>
                  </m:oMath>
                </a14:m>
                <a:r>
                  <a:rPr sz="2400" b="0">
                    <a:solidFill>
                      <a:srgbClr val="111827"/>
                    </a:solidFill>
                    <a:latin typeface="Arial"/>
                  </a:rPr>
                  <a:t> take part in a tennis tournament. A lower suffix player is better than any higher suffix player (</a:t>
                </a:r>
                <a14:m>
                  <m:oMath xmlns:m="http://schemas.openxmlformats.org/officeDocument/2006/math">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𝑖</m:t>
                        </m:r>
                      </m:sub>
                    </m:sSub>
                  </m:oMath>
                </a14:m>
                <a:r>
                  <a:rPr sz="2400" b="0">
                    <a:solidFill>
                      <a:srgbClr val="111827"/>
                    </a:solidFill>
                    <a:latin typeface="Arial"/>
                  </a:rPr>
                  <a:t> is better than </a:t>
                </a:r>
                <a14:m>
                  <m:oMath xmlns:m="http://schemas.openxmlformats.org/officeDocument/2006/math">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𝑗</m:t>
                        </m:r>
                      </m:sub>
                    </m:sSub>
                  </m:oMath>
                </a14:m>
                <a:r>
                  <a:rPr sz="2400" b="0">
                    <a:solidFill>
                      <a:srgbClr val="111827"/>
                    </a:solidFill>
                    <a:latin typeface="Arial"/>
                  </a:rPr>
                  <a:t> if </a:t>
                </a:r>
                <a14:m>
                  <m:oMath xmlns:m="http://schemas.openxmlformats.org/officeDocument/2006/math">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𝑗</m:t>
                    </m:r>
                  </m:oMath>
                </a14:m>
                <a:r>
                  <a:rPr sz="2400" b="0">
                    <a:solidFill>
                      <a:srgbClr val="111827"/>
                    </a:solidFill>
                    <a:latin typeface="Arial"/>
                  </a:rPr>
                  <a:t>). The players are to be divided into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groups, each comprising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players, and the best from each group is selected for the semifinals.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The number of ways in which </a:t>
                </a:r>
                <a14:m>
                  <m:oMath xmlns:m="http://schemas.openxmlformats.org/officeDocument/2006/math">
                    <m:r>
                      <a:rPr lang="en-IN" sz="2400" i="1">
                        <a:solidFill>
                          <a:srgbClr val="111827"/>
                        </a:solidFill>
                        <a:latin typeface="Cambria Math" panose="02040503050406030204" pitchFamily="18" charset="0"/>
                      </a:rPr>
                      <m:t>16</m:t>
                    </m:r>
                  </m:oMath>
                </a14:m>
                <a:r>
                  <a:rPr sz="2400" b="0">
                    <a:solidFill>
                      <a:srgbClr val="111827"/>
                    </a:solidFill>
                    <a:latin typeface="Arial"/>
                  </a:rPr>
                  <a:t> players can be divided into four equal groups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35</m:t>
                        </m:r>
                      </m:num>
                      <m:den>
                        <m:r>
                          <a:rPr lang="en-IN" sz="2400" i="1">
                            <a:solidFill>
                              <a:srgbClr val="111827"/>
                            </a:solidFill>
                            <a:latin typeface="Cambria Math" panose="02040503050406030204" pitchFamily="18" charset="0"/>
                          </a:rPr>
                          <m:t>27</m:t>
                        </m:r>
                      </m:den>
                    </m:f>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8</m:t>
                        </m:r>
                      </m:sup>
                      <m:e>
                        <m:r>
                          <m:rPr>
                            <m:sty m:val="p"/>
                          </m:rPr>
                          <a:rPr lang="en-IN" sz="2400">
                            <a:solidFill>
                              <a:srgbClr val="111827"/>
                            </a:solidFill>
                            <a:latin typeface="Cambria Math" panose="02040503050406030204" pitchFamily="18" charset="0"/>
                          </a:rPr>
                          <m:t>(</m:t>
                        </m:r>
                      </m:e>
                    </m:nary>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endParaRPr sz="2400">
                  <a:solidFill>
                    <a:srgbClr val="111827"/>
                  </a:solidFill>
                </a:endParaRPr>
              </a:p>
              <a:p>
                <a:pPr algn="l">
                  <a:spcAft>
                    <a:spcPts val="500"/>
                  </a:spcAft>
                  <a:defRPr sz="2400">
                    <a:solidFill>
                      <a:srgbClr val="111827"/>
                    </a:solidFill>
                  </a:defRPr>
                </a:pPr>
                <a:r>
                  <a:rPr sz="2400" b="0">
                    <a:solidFill>
                      <a:srgbClr val="111827"/>
                    </a:solidFill>
                    <a:latin typeface="Arial"/>
                  </a:rPr>
                  <a:t>(B)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35</m:t>
                        </m:r>
                      </m:num>
                      <m:den>
                        <m:r>
                          <a:rPr lang="en-IN" sz="2400" i="1">
                            <a:solidFill>
                              <a:srgbClr val="111827"/>
                            </a:solidFill>
                            <a:latin typeface="Cambria Math" panose="02040503050406030204" pitchFamily="18" charset="0"/>
                          </a:rPr>
                          <m:t>24</m:t>
                        </m:r>
                      </m:den>
                    </m:f>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8</m:t>
                        </m:r>
                      </m:sup>
                      <m:e>
                        <m:r>
                          <m:rPr>
                            <m:sty m:val="p"/>
                          </m:rPr>
                          <a:rPr lang="en-IN" sz="2400">
                            <a:solidFill>
                              <a:srgbClr val="111827"/>
                            </a:solidFill>
                            <a:latin typeface="Cambria Math" panose="02040503050406030204" pitchFamily="18" charset="0"/>
                          </a:rPr>
                          <m:t>(</m:t>
                        </m:r>
                      </m:e>
                    </m:nary>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endParaRPr sz="2400">
                  <a:solidFill>
                    <a:srgbClr val="111827"/>
                  </a:solidFill>
                </a:endParaRPr>
              </a:p>
              <a:p>
                <a:pPr algn="l">
                  <a:spcAft>
                    <a:spcPts val="500"/>
                  </a:spcAft>
                  <a:defRPr sz="2400">
                    <a:solidFill>
                      <a:srgbClr val="111827"/>
                    </a:solidFill>
                  </a:defRPr>
                </a:pPr>
                <a:r>
                  <a:rPr sz="2400" b="0">
                    <a:solidFill>
                      <a:srgbClr val="111827"/>
                    </a:solidFill>
                    <a:latin typeface="Arial"/>
                  </a:rPr>
                  <a:t>(C)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35</m:t>
                        </m:r>
                      </m:num>
                      <m:den>
                        <m:r>
                          <a:rPr lang="en-IN" sz="2400" i="1">
                            <a:solidFill>
                              <a:srgbClr val="111827"/>
                            </a:solidFill>
                            <a:latin typeface="Cambria Math" panose="02040503050406030204" pitchFamily="18" charset="0"/>
                          </a:rPr>
                          <m:t>52</m:t>
                        </m:r>
                      </m:den>
                    </m:f>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8</m:t>
                        </m:r>
                      </m:sup>
                      <m:e>
                        <m:r>
                          <m:rPr>
                            <m:sty m:val="p"/>
                          </m:rPr>
                          <a:rPr lang="en-IN" sz="2400">
                            <a:solidFill>
                              <a:srgbClr val="111827"/>
                            </a:solidFill>
                            <a:latin typeface="Cambria Math" panose="02040503050406030204" pitchFamily="18" charset="0"/>
                          </a:rPr>
                          <m:t>(</m:t>
                        </m:r>
                      </m:e>
                    </m:nary>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endParaRPr sz="2400">
                  <a:solidFill>
                    <a:srgbClr val="111827"/>
                  </a:solidFill>
                </a:endParaRPr>
              </a:p>
              <a:p>
                <a:pPr algn="l">
                  <a:spcAft>
                    <a:spcPts val="500"/>
                  </a:spcAft>
                  <a:defRPr sz="2400">
                    <a:solidFill>
                      <a:srgbClr val="111827"/>
                    </a:solidFill>
                  </a:defRPr>
                </a:pPr>
                <a:r>
                  <a:rPr sz="2400" b="0">
                    <a:solidFill>
                      <a:srgbClr val="111827"/>
                    </a:solidFill>
                    <a:latin typeface="Arial"/>
                  </a:rPr>
                  <a:t>(D)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35</m:t>
                        </m:r>
                      </m:num>
                      <m:den>
                        <m:r>
                          <a:rPr lang="en-IN" sz="2400" i="1">
                            <a:solidFill>
                              <a:srgbClr val="111827"/>
                            </a:solidFill>
                            <a:latin typeface="Cambria Math" panose="02040503050406030204" pitchFamily="18" charset="0"/>
                          </a:rPr>
                          <m:t>6</m:t>
                        </m:r>
                      </m:den>
                    </m:f>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8</m:t>
                        </m:r>
                      </m:sup>
                      <m:e>
                        <m:r>
                          <m:rPr>
                            <m:sty m:val="p"/>
                          </m:rPr>
                          <a:rPr lang="en-IN" sz="2400">
                            <a:solidFill>
                              <a:srgbClr val="111827"/>
                            </a:solidFill>
                            <a:latin typeface="Cambria Math" panose="02040503050406030204" pitchFamily="18" charset="0"/>
                          </a:rPr>
                          <m:t>(</m:t>
                        </m:r>
                      </m:e>
                    </m:nary>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endParaRPr sz="2400">
                  <a:solidFill>
                    <a:srgbClr val="111827"/>
                  </a:solidFill>
                </a:endParaRPr>
              </a:p>
            </p:txBody>
          </p:sp>
        </mc:Choice>
        <mc:Fallback>
          <p:sp>
            <p:nvSpPr>
              <p:cNvPr id="4" name="Rounded Rectangle 3"/>
              <p:cNvSpPr/>
              <p:nvPr/>
            </p:nvSpPr>
            <p:spPr>
              <a:xfrm>
                <a:off x="731520" y="1280160"/>
                <a:ext cx="10725912" cy="5367527"/>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Paragraph: </a:t>
                </a:r>
                <a:r>
                  <a:rPr lang="en-IN" sz="2400">
                    <a:solidFill>
                      <a:srgbClr val="111827"/>
                    </a:solidFill>
                    <a:latin typeface="Cambria Math" panose="02040503050406030204" pitchFamily="18" charset="0"/>
                  </a:rPr>
                  <a:t>$16$</a:t>
                </a:r>
                <a:r>
                  <a:rPr sz="2400" b="0">
                    <a:solidFill>
                      <a:srgbClr val="111827"/>
                    </a:solidFill>
                    <a:latin typeface="Arial"/>
                  </a:rPr>
                  <a:t> players </a:t>
                </a:r>
                <a:r>
                  <a:rPr lang="en-IN" sz="2400">
                    <a:solidFill>
                      <a:srgbClr val="111827"/>
                    </a:solidFill>
                    <a:latin typeface="Cambria Math" panose="02040503050406030204" pitchFamily="18" charset="0"/>
                  </a:rPr>
                  <a:t>$P_1,P_2,P_3,\dots,P_{16}$</a:t>
                </a:r>
                <a:r>
                  <a:rPr sz="2400" b="0">
                    <a:solidFill>
                      <a:srgbClr val="111827"/>
                    </a:solidFill>
                    <a:latin typeface="Arial"/>
                  </a:rPr>
                  <a:t> take part in a tennis tournament. A lower suffix player is better than any higher suffix player (</a:t>
                </a:r>
                <a:r>
                  <a:rPr lang="en-IN" sz="2400">
                    <a:solidFill>
                      <a:srgbClr val="111827"/>
                    </a:solidFill>
                    <a:latin typeface="Cambria Math" panose="02040503050406030204" pitchFamily="18" charset="0"/>
                  </a:rPr>
                  <a:t>$P_i$</a:t>
                </a:r>
                <a:r>
                  <a:rPr sz="2400" b="0">
                    <a:solidFill>
                      <a:srgbClr val="111827"/>
                    </a:solidFill>
                    <a:latin typeface="Arial"/>
                  </a:rPr>
                  <a:t> is better than </a:t>
                </a:r>
                <a:r>
                  <a:rPr lang="en-IN" sz="2400">
                    <a:solidFill>
                      <a:srgbClr val="111827"/>
                    </a:solidFill>
                    <a:latin typeface="Cambria Math" panose="02040503050406030204" pitchFamily="18" charset="0"/>
                  </a:rPr>
                  <a:t>$P_j$</a:t>
                </a:r>
                <a:r>
                  <a:rPr sz="2400" b="0">
                    <a:solidFill>
                      <a:srgbClr val="111827"/>
                    </a:solidFill>
                    <a:latin typeface="Arial"/>
                  </a:rPr>
                  <a:t> if </a:t>
                </a:r>
                <a:r>
                  <a:rPr lang="en-IN" sz="2400">
                    <a:solidFill>
                      <a:srgbClr val="111827"/>
                    </a:solidFill>
                    <a:latin typeface="Cambria Math" panose="02040503050406030204" pitchFamily="18" charset="0"/>
                  </a:rPr>
                  <a:t>$i&lt;j$</a:t>
                </a:r>
                <a:r>
                  <a:rPr sz="2400" b="0">
                    <a:solidFill>
                      <a:srgbClr val="111827"/>
                    </a:solidFill>
                    <a:latin typeface="Arial"/>
                  </a:rPr>
                  <a:t>). The players are to be divided into </a:t>
                </a:r>
                <a:r>
                  <a:rPr lang="en-IN" sz="2400">
                    <a:solidFill>
                      <a:srgbClr val="111827"/>
                    </a:solidFill>
                    <a:latin typeface="Cambria Math" panose="02040503050406030204" pitchFamily="18" charset="0"/>
                  </a:rPr>
                  <a:t>$4$</a:t>
                </a:r>
                <a:r>
                  <a:rPr sz="2400" b="0">
                    <a:solidFill>
                      <a:srgbClr val="111827"/>
                    </a:solidFill>
                    <a:latin typeface="Arial"/>
                  </a:rPr>
                  <a:t> groups, each comprising </a:t>
                </a:r>
                <a:r>
                  <a:rPr lang="en-IN" sz="2400">
                    <a:solidFill>
                      <a:srgbClr val="111827"/>
                    </a:solidFill>
                    <a:latin typeface="Cambria Math" panose="02040503050406030204" pitchFamily="18" charset="0"/>
                  </a:rPr>
                  <a:t>$4$</a:t>
                </a:r>
                <a:r>
                  <a:rPr sz="2400" b="0">
                    <a:solidFill>
                      <a:srgbClr val="111827"/>
                    </a:solidFill>
                    <a:latin typeface="Arial"/>
                  </a:rPr>
                  <a:t> players, and the best from each group is selected for the semifinals.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The number of ways in which </a:t>
                </a:r>
                <a:r>
                  <a:rPr lang="en-IN" sz="2400">
                    <a:solidFill>
                      <a:srgbClr val="111827"/>
                    </a:solidFill>
                    <a:latin typeface="Cambria Math" panose="02040503050406030204" pitchFamily="18" charset="0"/>
                  </a:rPr>
                  <a:t>$16$</a:t>
                </a:r>
                <a:r>
                  <a:rPr sz="2400" b="0">
                    <a:solidFill>
                      <a:srgbClr val="111827"/>
                    </a:solidFill>
                    <a:latin typeface="Arial"/>
                  </a:rPr>
                  <a:t> players can be divided into four equal groups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$\dfrac{35}{27}\prod_{r=1}^{8}(2r-1)$</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(B) </a:t>
                </a:r>
                <a:r>
                  <a:rPr lang="en-IN" sz="2400">
                    <a:solidFill>
                      <a:srgbClr val="111827"/>
                    </a:solidFill>
                    <a:latin typeface="Cambria Math" panose="02040503050406030204" pitchFamily="18" charset="0"/>
                  </a:rPr>
                  <a:t>$\dfrac{35}{24}\prod_{r=1}^{8}(2r-1)$</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a:t>
                </a:r>
                <a:r>
                  <a:rPr lang="en-IN" sz="2400">
                    <a:solidFill>
                      <a:srgbClr val="111827"/>
                    </a:solidFill>
                    <a:latin typeface="Cambria Math" panose="02040503050406030204" pitchFamily="18" charset="0"/>
                  </a:rPr>
                  <a:t>$\dfrac{35}{52}\prod_{r=1}^{8}(2r-1)$</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a:t>
                </a:r>
                <a:r>
                  <a:rPr lang="en-IN" sz="2400">
                    <a:solidFill>
                      <a:srgbClr val="111827"/>
                    </a:solidFill>
                    <a:latin typeface="Cambria Math" panose="02040503050406030204" pitchFamily="18" charset="0"/>
                  </a:rPr>
                  <a:t>$\dfrac{35}{6}\prod_{r=1}^{8}(2r-1)$</a:t>
                </a:r>
                <a:endParaRPr sz="2400">
                  <a:solidFill>
                    <a:srgbClr val="111827"/>
                  </a:solidFill>
                </a:endParaRPr>
              </a:p>
            </p:txBody>
          </p:sp>
        </mc:Fallback>
      </mc:AlternateContent>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3 Marks</a:t>
            </a:r>
            <a:endParaRPr sz="2400">
              <a:solidFill>
                <a:srgbClr val="111827"/>
              </a:solidFill>
            </a:endParaRPr>
          </a:p>
        </p:txBody>
      </p:sp>
      <p:sp>
        <p:nvSpPr>
          <p:cNvPr id="4" name="Rectangle 3"/>
          <p:cNvSpPr/>
          <p:nvPr/>
        </p:nvSpPr>
        <p:spPr>
          <a:xfrm>
            <a:off x="731520" y="1280160"/>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Paragraph Based Single Correct Type(3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Division of distinct objects into equal unlabelled groups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365760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Equal-sized groups that are unlabelled: divide </a:t>
                </a:r>
                <a14:m>
                  <m:oMath xmlns:m="http://schemas.openxmlformats.org/officeDocument/2006/math">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16</m:t>
                        </m:r>
                        <m:r>
                          <m:rPr>
                            <m:sty m:val="p"/>
                          </m:rPr>
                          <a:rPr lang="en-IN" sz="2400">
                            <a:solidFill>
                              <a:srgbClr val="78350F"/>
                            </a:solidFill>
                            <a:latin typeface="Cambria Math" panose="02040503050406030204" pitchFamily="18" charset="0"/>
                          </a:rPr>
                          <m:t>!</m:t>
                        </m:r>
                      </m:num>
                      <m:den>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4</m:t>
                        </m:r>
                        <m:r>
                          <m:rPr>
                            <m:sty m:val="p"/>
                          </m:rPr>
                          <a:rPr lang="en-IN" sz="2400">
                            <a:solidFill>
                              <a:srgbClr val="78350F"/>
                            </a:solidFill>
                            <a:latin typeface="Cambria Math" panose="02040503050406030204" pitchFamily="18" charset="0"/>
                          </a:rPr>
                          <m:t>!</m:t>
                        </m:r>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4</m:t>
                            </m:r>
                          </m:sup>
                        </m:sSup>
                      </m:den>
                    </m:f>
                  </m:oMath>
                </a14:m>
                <a:r>
                  <a:rPr sz="2400" b="0">
                    <a:solidFill>
                      <a:srgbClr val="78350F"/>
                    </a:solidFill>
                    <a:latin typeface="Arial"/>
                  </a:rPr>
                  <a:t> by </a:t>
                </a:r>
                <a14:m>
                  <m:oMath xmlns:m="http://schemas.openxmlformats.org/officeDocument/2006/math">
                    <m:r>
                      <a:rPr lang="en-IN" sz="2400" i="1">
                        <a:solidFill>
                          <a:srgbClr val="78350F"/>
                        </a:solidFill>
                        <a:latin typeface="Cambria Math" panose="02040503050406030204" pitchFamily="18" charset="0"/>
                      </a:rPr>
                      <m:t>4</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365760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Equal-sized groups that are unlabelled: divide </a:t>
                </a:r>
                <a:r>
                  <a:rPr lang="en-IN" sz="2400">
                    <a:solidFill>
                      <a:srgbClr val="78350F"/>
                    </a:solidFill>
                    <a:latin typeface="Cambria Math" panose="02040503050406030204" pitchFamily="18" charset="0"/>
                  </a:rPr>
                  <a:t>$\frac{16!}{(4!)^4}$</a:t>
                </a:r>
                <a:r>
                  <a:rPr sz="2400" b="0">
                    <a:solidFill>
                      <a:srgbClr val="78350F"/>
                    </a:solidFill>
                    <a:latin typeface="Arial"/>
                  </a:rPr>
                  <a:t> by </a:t>
                </a:r>
                <a:r>
                  <a:rPr lang="en-IN" sz="2400">
                    <a:solidFill>
                      <a:srgbClr val="78350F"/>
                    </a:solidFill>
                    <a:latin typeface="Cambria Math" panose="02040503050406030204" pitchFamily="18" charset="0"/>
                  </a:rPr>
                  <a:t>$4!$</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5013960"/>
                <a:ext cx="10725912" cy="166115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Four groups of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players each; the groups have no names, so they are identical.</a:t>
                </a:r>
                <a:endParaRPr sz="2400">
                  <a:solidFill>
                    <a:srgbClr val="111827"/>
                  </a:solidFill>
                </a:endParaRPr>
              </a:p>
            </p:txBody>
          </p:sp>
        </mc:Choice>
        <mc:Fallback>
          <p:sp>
            <p:nvSpPr>
              <p:cNvPr id="6" name="Rectangle 5"/>
              <p:cNvSpPr/>
              <p:nvPr/>
            </p:nvSpPr>
            <p:spPr>
              <a:xfrm>
                <a:off x="731520" y="5013960"/>
                <a:ext cx="10725912" cy="166115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Four groups of </a:t>
                </a:r>
                <a:r>
                  <a:rPr lang="en-IN" sz="2400">
                    <a:solidFill>
                      <a:srgbClr val="111827"/>
                    </a:solidFill>
                    <a:latin typeface="Cambria Math" panose="02040503050406030204" pitchFamily="18" charset="0"/>
                  </a:rPr>
                  <a:t>$4$</a:t>
                </a:r>
                <a:r>
                  <a:rPr sz="2400" b="0">
                    <a:solidFill>
                      <a:srgbClr val="111827"/>
                    </a:solidFill>
                    <a:latin typeface="Arial"/>
                  </a:rPr>
                  <a:t> players each; the groups have no names, so they are identical.</a:t>
                </a:r>
                <a:endParaRPr sz="2400">
                  <a:solidFill>
                    <a:srgbClr val="111827"/>
                  </a:solidFill>
                </a:endParaRPr>
              </a:p>
            </p:txBody>
          </p:sp>
        </mc:Fallback>
      </mc:AlternateContent>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the four groups were labelled, the number would be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4</m:t>
                            </m:r>
                          </m:sup>
                        </m:sSup>
                      </m:den>
                    </m:f>
                  </m:oMath>
                </a14:m>
                <a:r>
                  <a:rPr sz="2400" b="0">
                    <a:solidFill>
                      <a:srgbClr val="111827"/>
                    </a:solidFill>
                    <a:latin typeface="Arial"/>
                  </a:rPr>
                  <a:t>; for unlabelled groups divide by </a:t>
                </a:r>
                <a14:m>
                  <m:oMath xmlns:m="http://schemas.openxmlformats.org/officeDocument/2006/math">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 of ways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627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625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Option (A):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35</m:t>
                        </m:r>
                      </m:num>
                      <m:den>
                        <m:r>
                          <a:rPr lang="en-IN" sz="2400" i="1">
                            <a:solidFill>
                              <a:srgbClr val="111827"/>
                            </a:solidFill>
                            <a:latin typeface="Cambria Math" panose="02040503050406030204" pitchFamily="18" charset="0"/>
                          </a:rPr>
                          <m:t>27</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35</m:t>
                        </m:r>
                      </m:num>
                      <m:den>
                        <m:r>
                          <a:rPr lang="en-IN" sz="2400" i="1">
                            <a:solidFill>
                              <a:srgbClr val="111827"/>
                            </a:solidFill>
                            <a:latin typeface="Cambria Math" panose="02040503050406030204" pitchFamily="18" charset="0"/>
                          </a:rPr>
                          <m:t>27</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027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627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625</m:t>
                    </m:r>
                  </m:oMath>
                </a14:m>
                <a:r>
                  <a:rPr sz="2400" b="0">
                    <a:solidFill>
                      <a:srgbClr val="111827"/>
                    </a:solidFill>
                    <a:latin typeface="Arial"/>
                  </a:rPr>
                  <a:t>. It matches.</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the four groups were labelled, the number would be </a:t>
                </a:r>
                <a:r>
                  <a:rPr lang="en-IN" sz="2400">
                    <a:solidFill>
                      <a:srgbClr val="111827"/>
                    </a:solidFill>
                    <a:latin typeface="Cambria Math" panose="02040503050406030204" pitchFamily="18" charset="0"/>
                  </a:rPr>
                  <a:t>$\dfrac{16!}{(4!)^4}$</a:t>
                </a:r>
                <a:r>
                  <a:rPr sz="2400" b="0">
                    <a:solidFill>
                      <a:srgbClr val="111827"/>
                    </a:solidFill>
                    <a:latin typeface="Arial"/>
                  </a:rPr>
                  <a:t>; for unlabelled groups divide by </a:t>
                </a:r>
                <a:r>
                  <a:rPr lang="en-IN" sz="2400">
                    <a:solidFill>
                      <a:srgbClr val="111827"/>
                    </a:solidFill>
                    <a:latin typeface="Cambria Math" panose="02040503050406030204" pitchFamily="18" charset="0"/>
                  </a:rPr>
                  <a:t>$4!$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 of ways </a:t>
                </a:r>
                <a:r>
                  <a:rPr lang="en-IN" sz="2400">
                    <a:solidFill>
                      <a:srgbClr val="111827"/>
                    </a:solidFill>
                    <a:latin typeface="Cambria Math" panose="02040503050406030204" pitchFamily="18" charset="0"/>
                  </a:rPr>
                  <a:t>$=\dfrac{16!}{4!\,4!\,4!\,4!\,4!}=2{,}627{,}625$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Option (A): </a:t>
                </a:r>
                <a:r>
                  <a:rPr lang="en-IN" sz="2400">
                    <a:solidFill>
                      <a:srgbClr val="111827"/>
                    </a:solidFill>
                    <a:latin typeface="Cambria Math" panose="02040503050406030204" pitchFamily="18" charset="0"/>
                  </a:rPr>
                  <a:t>$\dfrac{35}{27}\times(1\cdot3\cdot5\cdot7\cdot9\cdot11\cdot13\cdot15)=\dfrac{35}{27}\times2{,}027{,}025=2{,}627{,}625$</a:t>
                </a:r>
                <a:r>
                  <a:rPr sz="2400" b="0">
                    <a:solidFill>
                      <a:srgbClr val="111827"/>
                    </a:solidFill>
                    <a:latin typeface="Arial"/>
                  </a:rPr>
                  <a:t>. It matches.</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35</m:t>
                        </m:r>
                      </m:num>
                      <m:den>
                        <m:r>
                          <a:rPr lang="en-IN" sz="2800" i="1">
                            <a:solidFill>
                              <a:srgbClr val="15803D"/>
                            </a:solidFill>
                            <a:latin typeface="Cambria Math" panose="02040503050406030204" pitchFamily="18" charset="0"/>
                          </a:rPr>
                          <m:t>27</m:t>
                        </m:r>
                      </m:den>
                    </m:f>
                    <m:nary>
                      <m:naryPr>
                        <m:chr m:val="∏"/>
                        <m:limLoc m:val="undOvr"/>
                        <m:subHide m:val="off"/>
                        <m:supHide m:val="off"/>
                        <m:ctrlPr>
                          <a:rPr lang="en-IN" sz="2800" i="1">
                            <a:solidFill>
                              <a:srgbClr val="15803D"/>
                            </a:solidFill>
                            <a:latin typeface="Cambria Math" panose="02040503050406030204" pitchFamily="18" charset="0"/>
                          </a:rPr>
                        </m:ctrlPr>
                      </m:naryPr>
                      <m:sub>
                        <m:r>
                          <a:rPr lang="en-IN" sz="2800" i="1">
                            <a:solidFill>
                              <a:srgbClr val="15803D"/>
                            </a:solidFill>
                            <a:latin typeface="Cambria Math" panose="02040503050406030204" pitchFamily="18" charset="0"/>
                          </a:rPr>
                          <m:t>𝑟</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1</m:t>
                        </m:r>
                      </m:sub>
                      <m:sup>
                        <m:r>
                          <a:rPr lang="en-IN" sz="2800" i="1">
                            <a:solidFill>
                              <a:srgbClr val="15803D"/>
                            </a:solidFill>
                            <a:latin typeface="Cambria Math" panose="02040503050406030204" pitchFamily="18" charset="0"/>
                          </a:rPr>
                          <m:t>8</m:t>
                        </m:r>
                      </m:sup>
                      <m:e>
                        <m:r>
                          <m:rPr>
                            <m:sty m:val="p"/>
                          </m:rPr>
                          <a:rPr lang="en-IN" sz="2800">
                            <a:solidFill>
                              <a:srgbClr val="15803D"/>
                            </a:solidFill>
                            <a:latin typeface="Cambria Math" panose="02040503050406030204" pitchFamily="18" charset="0"/>
                          </a:rPr>
                          <m:t>(</m:t>
                        </m:r>
                      </m:e>
                    </m:nary>
                    <m:r>
                      <a:rPr lang="en-IN" sz="2800" i="1">
                        <a:solidFill>
                          <a:srgbClr val="15803D"/>
                        </a:solidFill>
                        <a:latin typeface="Cambria Math" panose="02040503050406030204" pitchFamily="18" charset="0"/>
                      </a:rPr>
                      <m:t>2</m:t>
                    </m:r>
                    <m:r>
                      <a:rPr lang="en-IN" sz="2800" i="1">
                        <a:solidFill>
                          <a:srgbClr val="15803D"/>
                        </a:solidFill>
                        <a:latin typeface="Cambria Math" panose="02040503050406030204" pitchFamily="18" charset="0"/>
                      </a:rPr>
                      <m:t>𝑟</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1</m:t>
                    </m:r>
                    <m:r>
                      <m:rPr>
                        <m:sty m:val="p"/>
                      </m:rPr>
                      <a:rPr lang="en-IN" sz="2800">
                        <a:solidFill>
                          <a:srgbClr val="15803D"/>
                        </a:solidFill>
                        <a:latin typeface="Cambria Math" panose="02040503050406030204" pitchFamily="18" charset="0"/>
                      </a:rPr>
                      <m:t>)</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a:t>
                </a:r>
                <a:r>
                  <a:rPr lang="en-IN" sz="2800">
                    <a:solidFill>
                      <a:srgbClr val="15803D"/>
                    </a:solidFill>
                    <a:latin typeface="Cambria Math" panose="02040503050406030204" pitchFamily="18" charset="0"/>
                  </a:rPr>
                  <a:t>$\dfrac{35}{27}\prod_{r=1}^{8}(2r-1)$</a:t>
                </a:r>
                <a:endParaRPr sz="2800">
                  <a:solidFill>
                    <a:srgbClr val="15803D"/>
                  </a:solidFill>
                </a:endParaRPr>
              </a:p>
            </p:txBody>
          </p:sp>
        </mc:Fallback>
      </mc:AlternateContent>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3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Build the groups one at a time from the best remaining player (the 'anchor' method), which avoids dividing by </a:t>
                </a:r>
                <a14:m>
                  <m:oMath xmlns:m="http://schemas.openxmlformats.org/officeDocument/2006/math">
                    <m:r>
                      <a:rPr lang="en-IN" sz="2400" i="1">
                        <a:solidFill>
                          <a:srgbClr val="78350F"/>
                        </a:solidFill>
                        <a:latin typeface="Cambria Math" panose="02040503050406030204" pitchFamily="18" charset="0"/>
                      </a:rPr>
                      <m:t>4</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Build the groups one at a time from the best remaining player (the 'anchor' method), which avoids dividing by </a:t>
                </a:r>
                <a:r>
                  <a:rPr lang="en-IN" sz="2400">
                    <a:solidFill>
                      <a:srgbClr val="78350F"/>
                    </a:solidFill>
                    <a:latin typeface="Cambria Math" panose="02040503050406030204" pitchFamily="18" charset="0"/>
                  </a:rPr>
                  <a:t>$4!$</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group of the best player </a:t>
                </a:r>
                <a14:m>
                  <m:oMath xmlns:m="http://schemas.openxmlformats.org/officeDocument/2006/math">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choose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partners from the other </a:t>
                </a:r>
                <a14:m>
                  <m:oMath xmlns:m="http://schemas.openxmlformats.org/officeDocument/2006/math">
                    <m:r>
                      <a:rPr lang="en-IN" sz="2400" i="1">
                        <a:solidFill>
                          <a:srgbClr val="111827"/>
                        </a:solidFill>
                        <a:latin typeface="Cambria Math" panose="02040503050406030204" pitchFamily="18" charset="0"/>
                      </a:rPr>
                      <m:t>15</m:t>
                    </m:r>
                  </m:oMath>
                </a14:m>
                <a:r>
                  <a:rPr sz="2400" b="0">
                    <a:solidFill>
                      <a:srgbClr val="111827"/>
                    </a:solidFill>
                    <a:latin typeface="Arial"/>
                  </a:rPr>
                  <a:t>: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15</m:t>
                            </m:r>
                          </m:num>
                          <m:den>
                            <m:r>
                              <a:rPr lang="en-IN" sz="2400" i="1">
                                <a:solidFill>
                                  <a:srgbClr val="111827"/>
                                </a:solidFill>
                                <a:latin typeface="Cambria Math" panose="02040503050406030204" pitchFamily="18" charset="0"/>
                              </a:rPr>
                              <m:t>3</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455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Among the </a:t>
                </a:r>
                <a14:m>
                  <m:oMath xmlns:m="http://schemas.openxmlformats.org/officeDocument/2006/math">
                    <m:r>
                      <a:rPr lang="en-IN" sz="2400" i="1">
                        <a:solidFill>
                          <a:srgbClr val="111827"/>
                        </a:solidFill>
                        <a:latin typeface="Cambria Math" panose="02040503050406030204" pitchFamily="18" charset="0"/>
                      </a:rPr>
                      <m:t>12</m:t>
                    </m:r>
                  </m:oMath>
                </a14:m>
                <a:r>
                  <a:rPr sz="2400" b="0">
                    <a:solidFill>
                      <a:srgbClr val="111827"/>
                    </a:solidFill>
                    <a:latin typeface="Arial"/>
                  </a:rPr>
                  <a:t> players left, the best one's group: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m:t>
                            </m:r>
                          </m:num>
                          <m:den>
                            <m:r>
                              <a:rPr lang="en-IN" sz="2400" i="1">
                                <a:solidFill>
                                  <a:srgbClr val="111827"/>
                                </a:solidFill>
                                <a:latin typeface="Cambria Math" panose="02040503050406030204" pitchFamily="18" charset="0"/>
                              </a:rPr>
                              <m:t>3</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Among the </a:t>
                </a:r>
                <a14:m>
                  <m:oMath xmlns:m="http://schemas.openxmlformats.org/officeDocument/2006/math">
                    <m:r>
                      <a:rPr lang="en-IN" sz="2400" i="1">
                        <a:solidFill>
                          <a:srgbClr val="111827"/>
                        </a:solidFill>
                        <a:latin typeface="Cambria Math" panose="02040503050406030204" pitchFamily="18" charset="0"/>
                      </a:rPr>
                      <m:t>8</m:t>
                    </m:r>
                  </m:oMath>
                </a14:m>
                <a:r>
                  <a:rPr sz="2400" b="0">
                    <a:solidFill>
                      <a:srgbClr val="111827"/>
                    </a:solidFill>
                    <a:latin typeface="Arial"/>
                  </a:rPr>
                  <a:t> left: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num>
                          <m:den>
                            <m:r>
                              <a:rPr lang="en-IN" sz="2400" i="1">
                                <a:solidFill>
                                  <a:srgbClr val="111827"/>
                                </a:solidFill>
                                <a:latin typeface="Cambria Math" panose="02040503050406030204" pitchFamily="18" charset="0"/>
                              </a:rPr>
                              <m:t>3</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35</m:t>
                    </m:r>
                  </m:oMath>
                </a14:m>
                <a:r>
                  <a:rPr sz="2400" b="0">
                    <a:solidFill>
                      <a:srgbClr val="111827"/>
                    </a:solidFill>
                    <a:latin typeface="Arial"/>
                  </a:rPr>
                  <a:t>. The last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form the fourth group: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3</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group of the best player </a:t>
                </a:r>
                <a:r>
                  <a:rPr lang="en-IN" sz="2400">
                    <a:solidFill>
                      <a:srgbClr val="111827"/>
                    </a:solidFill>
                    <a:latin typeface="Cambria Math" panose="02040503050406030204" pitchFamily="18" charset="0"/>
                  </a:rPr>
                  <a:t>$P_1$</a:t>
                </a:r>
                <a:r>
                  <a:rPr sz="2400" b="0">
                    <a:solidFill>
                      <a:srgbClr val="111827"/>
                    </a:solidFill>
                    <a:latin typeface="Arial"/>
                  </a:rPr>
                  <a:t>: choose </a:t>
                </a:r>
                <a:r>
                  <a:rPr lang="en-IN" sz="2400">
                    <a:solidFill>
                      <a:srgbClr val="111827"/>
                    </a:solidFill>
                    <a:latin typeface="Cambria Math" panose="02040503050406030204" pitchFamily="18" charset="0"/>
                  </a:rPr>
                  <a:t>$3$</a:t>
                </a:r>
                <a:r>
                  <a:rPr sz="2400" b="0">
                    <a:solidFill>
                      <a:srgbClr val="111827"/>
                    </a:solidFill>
                    <a:latin typeface="Arial"/>
                  </a:rPr>
                  <a:t> partners from the other </a:t>
                </a:r>
                <a:r>
                  <a:rPr lang="en-IN" sz="2400">
                    <a:solidFill>
                      <a:srgbClr val="111827"/>
                    </a:solidFill>
                    <a:latin typeface="Cambria Math" panose="02040503050406030204" pitchFamily="18" charset="0"/>
                  </a:rPr>
                  <a:t>$15$</a:t>
                </a:r>
                <a:r>
                  <a:rPr sz="2400" b="0">
                    <a:solidFill>
                      <a:srgbClr val="111827"/>
                    </a:solidFill>
                    <a:latin typeface="Arial"/>
                  </a:rPr>
                  <a:t>: </a:t>
                </a:r>
                <a:r>
                  <a:rPr lang="en-IN" sz="2400">
                    <a:solidFill>
                      <a:srgbClr val="111827"/>
                    </a:solidFill>
                    <a:latin typeface="Cambria Math" panose="02040503050406030204" pitchFamily="18" charset="0"/>
                  </a:rPr>
                  <a:t>$\binom{15}{3}=455$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Among the </a:t>
                </a:r>
                <a:r>
                  <a:rPr lang="en-IN" sz="2400">
                    <a:solidFill>
                      <a:srgbClr val="111827"/>
                    </a:solidFill>
                    <a:latin typeface="Cambria Math" panose="02040503050406030204" pitchFamily="18" charset="0"/>
                  </a:rPr>
                  <a:t>$12$</a:t>
                </a:r>
                <a:r>
                  <a:rPr sz="2400" b="0">
                    <a:solidFill>
                      <a:srgbClr val="111827"/>
                    </a:solidFill>
                    <a:latin typeface="Arial"/>
                  </a:rPr>
                  <a:t> players left, the best one's group: </a:t>
                </a:r>
                <a:r>
                  <a:rPr lang="en-IN" sz="2400">
                    <a:solidFill>
                      <a:srgbClr val="111827"/>
                    </a:solidFill>
                    <a:latin typeface="Cambria Math" panose="02040503050406030204" pitchFamily="18" charset="0"/>
                  </a:rPr>
                  <a:t>$\binom{11}{3}=165$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Among the </a:t>
                </a:r>
                <a:r>
                  <a:rPr lang="en-IN" sz="2400">
                    <a:solidFill>
                      <a:srgbClr val="111827"/>
                    </a:solidFill>
                    <a:latin typeface="Cambria Math" panose="02040503050406030204" pitchFamily="18" charset="0"/>
                  </a:rPr>
                  <a:t>$8$</a:t>
                </a:r>
                <a:r>
                  <a:rPr sz="2400" b="0">
                    <a:solidFill>
                      <a:srgbClr val="111827"/>
                    </a:solidFill>
                    <a:latin typeface="Arial"/>
                  </a:rPr>
                  <a:t> left: </a:t>
                </a:r>
                <a:r>
                  <a:rPr lang="en-IN" sz="2400">
                    <a:solidFill>
                      <a:srgbClr val="111827"/>
                    </a:solidFill>
                    <a:latin typeface="Cambria Math" panose="02040503050406030204" pitchFamily="18" charset="0"/>
                  </a:rPr>
                  <a:t>$\binom73=35$</a:t>
                </a:r>
                <a:r>
                  <a:rPr sz="2400" b="0">
                    <a:solidFill>
                      <a:srgbClr val="111827"/>
                    </a:solidFill>
                    <a:latin typeface="Arial"/>
                  </a:rPr>
                  <a:t>. The last </a:t>
                </a:r>
                <a:r>
                  <a:rPr lang="en-IN" sz="2400">
                    <a:solidFill>
                      <a:srgbClr val="111827"/>
                    </a:solidFill>
                    <a:latin typeface="Cambria Math" panose="02040503050406030204" pitchFamily="18" charset="0"/>
                  </a:rPr>
                  <a:t>$4$</a:t>
                </a:r>
                <a:r>
                  <a:rPr sz="2400" b="0">
                    <a:solidFill>
                      <a:srgbClr val="111827"/>
                    </a:solidFill>
                    <a:latin typeface="Arial"/>
                  </a:rPr>
                  <a:t> form the fourth group: </a:t>
                </a:r>
                <a:r>
                  <a:rPr lang="en-IN" sz="2400">
                    <a:solidFill>
                      <a:srgbClr val="111827"/>
                    </a:solidFill>
                    <a:latin typeface="Cambria Math" panose="02040503050406030204" pitchFamily="18" charset="0"/>
                  </a:rPr>
                  <a:t>$\binom33=1$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3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Total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455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627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625</m:t>
                    </m:r>
                  </m:oMath>
                </a14:m>
                <a:r>
                  <a:rPr sz="2400" b="0">
                    <a:solidFill>
                      <a:srgbClr val="111827"/>
                    </a:solidFill>
                    <a:latin typeface="Arial"/>
                  </a:rPr>
                  <a:t>, as with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5</m:t>
                            </m:r>
                          </m:sup>
                        </m:sSup>
                      </m:den>
                    </m:f>
                  </m:oMath>
                </a14:m>
                <a:r>
                  <a:rPr sz="2400" b="0">
                    <a:solidFill>
                      <a:srgbClr val="111827"/>
                    </a:solidFill>
                    <a:latin typeface="Arial"/>
                  </a:rPr>
                  <a:t> (an anchor in each group removes the labelling).</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Compare with (A):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027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025</m:t>
                    </m:r>
                  </m:oMath>
                </a14:m>
                <a:r>
                  <a:rPr sz="2400" b="0">
                    <a:solidFill>
                      <a:srgbClr val="111827"/>
                    </a:solidFill>
                    <a:latin typeface="Arial"/>
                  </a:rPr>
                  <a:t> and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35</m:t>
                        </m:r>
                      </m:num>
                      <m:den>
                        <m:r>
                          <a:rPr lang="en-IN" sz="2400" i="1">
                            <a:solidFill>
                              <a:srgbClr val="111827"/>
                            </a:solidFill>
                            <a:latin typeface="Cambria Math" panose="02040503050406030204" pitchFamily="18" charset="0"/>
                          </a:rPr>
                          <m:t>27</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027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627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625</m:t>
                    </m:r>
                  </m:oMath>
                </a14:m>
                <a:r>
                  <a:rPr sz="2400" b="0">
                    <a:solidFill>
                      <a:srgbClr val="111827"/>
                    </a:solidFill>
                    <a:latin typeface="Arial"/>
                  </a:rPr>
                  <a:t> ✓.</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Total </a:t>
                </a:r>
                <a:r>
                  <a:rPr lang="en-IN" sz="2400">
                    <a:solidFill>
                      <a:srgbClr val="111827"/>
                    </a:solidFill>
                    <a:latin typeface="Cambria Math" panose="02040503050406030204" pitchFamily="18" charset="0"/>
                  </a:rPr>
                  <a:t>$=455\times165\times35=2{,}627{,}625$</a:t>
                </a:r>
                <a:r>
                  <a:rPr sz="2400" b="0">
                    <a:solidFill>
                      <a:srgbClr val="111827"/>
                    </a:solidFill>
                    <a:latin typeface="Arial"/>
                  </a:rPr>
                  <a:t>, as with </a:t>
                </a:r>
                <a:r>
                  <a:rPr lang="en-IN" sz="2400">
                    <a:solidFill>
                      <a:srgbClr val="111827"/>
                    </a:solidFill>
                    <a:latin typeface="Cambria Math" panose="02040503050406030204" pitchFamily="18" charset="0"/>
                  </a:rPr>
                  <a:t>$\frac{16!}{(4!)^5}$</a:t>
                </a:r>
                <a:r>
                  <a:rPr sz="2400" b="0">
                    <a:solidFill>
                      <a:srgbClr val="111827"/>
                    </a:solidFill>
                    <a:latin typeface="Arial"/>
                  </a:rPr>
                  <a:t> (an anchor in each group removes the labelling).</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Compare with (A): </a:t>
                </a:r>
                <a:r>
                  <a:rPr lang="en-IN" sz="2400">
                    <a:solidFill>
                      <a:srgbClr val="111827"/>
                    </a:solidFill>
                    <a:latin typeface="Cambria Math" panose="02040503050406030204" pitchFamily="18" charset="0"/>
                  </a:rPr>
                  <a:t>$1\cdot3\cdot5\cdots15=2{,}027{,}025$</a:t>
                </a:r>
                <a:r>
                  <a:rPr sz="2400" b="0">
                    <a:solidFill>
                      <a:srgbClr val="111827"/>
                    </a:solidFill>
                    <a:latin typeface="Arial"/>
                  </a:rPr>
                  <a:t> and </a:t>
                </a:r>
                <a:r>
                  <a:rPr lang="en-IN" sz="2400">
                    <a:solidFill>
                      <a:srgbClr val="111827"/>
                    </a:solidFill>
                    <a:latin typeface="Cambria Math" panose="02040503050406030204" pitchFamily="18" charset="0"/>
                  </a:rPr>
                  <a:t>$\frac{35}{27}\times2{,}027{,}025=2{,}627{,}625$</a:t>
                </a:r>
                <a:r>
                  <a:rPr sz="2400" b="0">
                    <a:solidFill>
                      <a:srgbClr val="111827"/>
                    </a:solidFill>
                    <a:latin typeface="Arial"/>
                  </a:rPr>
                  <a:t> ✓.</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35</m:t>
                        </m:r>
                      </m:num>
                      <m:den>
                        <m:r>
                          <a:rPr lang="en-IN" sz="2800" i="1">
                            <a:solidFill>
                              <a:srgbClr val="15803D"/>
                            </a:solidFill>
                            <a:latin typeface="Cambria Math" panose="02040503050406030204" pitchFamily="18" charset="0"/>
                          </a:rPr>
                          <m:t>27</m:t>
                        </m:r>
                      </m:den>
                    </m:f>
                    <m:nary>
                      <m:naryPr>
                        <m:chr m:val="∏"/>
                        <m:limLoc m:val="undOvr"/>
                        <m:subHide m:val="off"/>
                        <m:supHide m:val="off"/>
                        <m:ctrlPr>
                          <a:rPr lang="en-IN" sz="2800" i="1">
                            <a:solidFill>
                              <a:srgbClr val="15803D"/>
                            </a:solidFill>
                            <a:latin typeface="Cambria Math" panose="02040503050406030204" pitchFamily="18" charset="0"/>
                          </a:rPr>
                        </m:ctrlPr>
                      </m:naryPr>
                      <m:sub>
                        <m:r>
                          <a:rPr lang="en-IN" sz="2800" i="1">
                            <a:solidFill>
                              <a:srgbClr val="15803D"/>
                            </a:solidFill>
                            <a:latin typeface="Cambria Math" panose="02040503050406030204" pitchFamily="18" charset="0"/>
                          </a:rPr>
                          <m:t>𝑟</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1</m:t>
                        </m:r>
                      </m:sub>
                      <m:sup>
                        <m:r>
                          <a:rPr lang="en-IN" sz="2800" i="1">
                            <a:solidFill>
                              <a:srgbClr val="15803D"/>
                            </a:solidFill>
                            <a:latin typeface="Cambria Math" panose="02040503050406030204" pitchFamily="18" charset="0"/>
                          </a:rPr>
                          <m:t>8</m:t>
                        </m:r>
                      </m:sup>
                      <m:e>
                        <m:r>
                          <m:rPr>
                            <m:sty m:val="p"/>
                          </m:rPr>
                          <a:rPr lang="en-IN" sz="2800">
                            <a:solidFill>
                              <a:srgbClr val="15803D"/>
                            </a:solidFill>
                            <a:latin typeface="Cambria Math" panose="02040503050406030204" pitchFamily="18" charset="0"/>
                          </a:rPr>
                          <m:t>(</m:t>
                        </m:r>
                      </m:e>
                    </m:nary>
                    <m:r>
                      <a:rPr lang="en-IN" sz="2800" i="1">
                        <a:solidFill>
                          <a:srgbClr val="15803D"/>
                        </a:solidFill>
                        <a:latin typeface="Cambria Math" panose="02040503050406030204" pitchFamily="18" charset="0"/>
                      </a:rPr>
                      <m:t>2</m:t>
                    </m:r>
                    <m:r>
                      <a:rPr lang="en-IN" sz="2800" i="1">
                        <a:solidFill>
                          <a:srgbClr val="15803D"/>
                        </a:solidFill>
                        <a:latin typeface="Cambria Math" panose="02040503050406030204" pitchFamily="18" charset="0"/>
                      </a:rPr>
                      <m:t>𝑟</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1</m:t>
                    </m:r>
                    <m:r>
                      <m:rPr>
                        <m:sty m:val="p"/>
                      </m:rPr>
                      <a:rPr lang="en-IN" sz="2800">
                        <a:solidFill>
                          <a:srgbClr val="15803D"/>
                        </a:solidFill>
                        <a:latin typeface="Cambria Math" panose="02040503050406030204" pitchFamily="18" charset="0"/>
                      </a:rPr>
                      <m:t>)</m:t>
                    </m:r>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a:t>
                </a:r>
                <a:r>
                  <a:rPr lang="en-IN" sz="2800">
                    <a:solidFill>
                      <a:srgbClr val="15803D"/>
                    </a:solidFill>
                    <a:latin typeface="Cambria Math" panose="02040503050406030204" pitchFamily="18" charset="0"/>
                  </a:rPr>
                  <a:t>$\dfrac{35}{27}\prod_{r=1}^{8}(2r-1)$</a:t>
                </a:r>
                <a:endParaRPr sz="2800">
                  <a:solidFill>
                    <a:srgbClr val="15803D"/>
                  </a:solidFill>
                </a:endParaRPr>
              </a:p>
            </p:txBody>
          </p:sp>
        </mc:Fallback>
      </mc:AlternateContent>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3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Dividing </a:t>
                </a:r>
                <a14:m>
                  <m:oMath xmlns:m="http://schemas.openxmlformats.org/officeDocument/2006/math">
                    <m:r>
                      <a:rPr lang="en-IN" sz="2400" i="1">
                        <a:solidFill>
                          <a:srgbClr val="111827"/>
                        </a:solidFill>
                        <a:latin typeface="Cambria Math" panose="02040503050406030204" pitchFamily="18" charset="0"/>
                      </a:rPr>
                      <m:t>𝑚</m:t>
                    </m:r>
                    <m:r>
                      <a:rPr lang="en-IN" sz="2400" i="1">
                        <a:solidFill>
                          <a:srgbClr val="111827"/>
                        </a:solidFill>
                        <a:latin typeface="Cambria Math" panose="02040503050406030204" pitchFamily="18" charset="0"/>
                      </a:rPr>
                      <m:t>𝑛</m:t>
                    </m:r>
                  </m:oMath>
                </a14:m>
                <a:r>
                  <a:rPr sz="2400" b="0">
                    <a:solidFill>
                      <a:srgbClr val="111827"/>
                    </a:solidFill>
                    <a:latin typeface="Arial"/>
                  </a:rPr>
                  <a:t> distinct objects into </a:t>
                </a:r>
                <a14:m>
                  <m:oMath xmlns:m="http://schemas.openxmlformats.org/officeDocument/2006/math">
                    <m:r>
                      <a:rPr lang="en-IN" sz="2400" i="1">
                        <a:solidFill>
                          <a:srgbClr val="111827"/>
                        </a:solidFill>
                        <a:latin typeface="Cambria Math" panose="02040503050406030204" pitchFamily="18" charset="0"/>
                      </a:rPr>
                      <m:t>𝑚</m:t>
                    </m:r>
                  </m:oMath>
                </a14:m>
                <a:r>
                  <a:rPr sz="2400" b="0">
                    <a:solidFill>
                      <a:srgbClr val="111827"/>
                    </a:solidFill>
                    <a:latin typeface="Arial"/>
                  </a:rPr>
                  <a:t> unlabelled groups of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𝑚</m:t>
                            </m:r>
                          </m:sup>
                        </m:sSup>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groups of size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num>
                      <m:den>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𝑚</m:t>
                            </m:r>
                          </m:sup>
                        </m:sSup>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 the origin of the product of odd numbers in the options.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people into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pairs: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num>
                      <m:den>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Dividing </a:t>
                </a:r>
                <a:r>
                  <a:rPr lang="en-IN" sz="2400">
                    <a:solidFill>
                      <a:srgbClr val="111827"/>
                    </a:solidFill>
                    <a:latin typeface="Cambria Math" panose="02040503050406030204" pitchFamily="18" charset="0"/>
                  </a:rPr>
                  <a:t>$mn$</a:t>
                </a:r>
                <a:r>
                  <a:rPr sz="2400" b="0">
                    <a:solidFill>
                      <a:srgbClr val="111827"/>
                    </a:solidFill>
                    <a:latin typeface="Arial"/>
                  </a:rPr>
                  <a:t> distinct objects into </a:t>
                </a:r>
                <a:r>
                  <a:rPr lang="en-IN" sz="2400">
                    <a:solidFill>
                      <a:srgbClr val="111827"/>
                    </a:solidFill>
                    <a:latin typeface="Cambria Math" panose="02040503050406030204" pitchFamily="18" charset="0"/>
                  </a:rPr>
                  <a:t>$m$</a:t>
                </a:r>
                <a:r>
                  <a:rPr sz="2400" b="0">
                    <a:solidFill>
                      <a:srgbClr val="111827"/>
                    </a:solidFill>
                    <a:latin typeface="Arial"/>
                  </a:rPr>
                  <a:t> unlabelled groups of </a:t>
                </a:r>
                <a:r>
                  <a:rPr lang="en-IN" sz="2400">
                    <a:solidFill>
                      <a:srgbClr val="111827"/>
                    </a:solidFill>
                    <a:latin typeface="Cambria Math" panose="02040503050406030204" pitchFamily="18" charset="0"/>
                  </a:rPr>
                  <a:t>$n$</a:t>
                </a:r>
                <a:r>
                  <a:rPr sz="2400" b="0">
                    <a:solidFill>
                      <a:srgbClr val="111827"/>
                    </a:solidFill>
                    <a:latin typeface="Arial"/>
                  </a:rPr>
                  <a:t>: </a:t>
                </a:r>
                <a:r>
                  <a:rPr lang="en-IN" sz="2400">
                    <a:solidFill>
                      <a:srgbClr val="111827"/>
                    </a:solidFill>
                    <a:latin typeface="Cambria Math" panose="02040503050406030204" pitchFamily="18" charset="0"/>
                  </a:rPr>
                  <a:t>$\dfrac{(mn)!}{(n!)^m\,m!}$</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groups of size </a:t>
                </a:r>
                <a:r>
                  <a:rPr lang="en-IN" sz="2400">
                    <a:solidFill>
                      <a:srgbClr val="111827"/>
                    </a:solidFill>
                    <a:latin typeface="Cambria Math" panose="02040503050406030204" pitchFamily="18" charset="0"/>
                  </a:rPr>
                  <a:t>$2$</a:t>
                </a:r>
                <a:r>
                  <a:rPr sz="2400" b="0">
                    <a:solidFill>
                      <a:srgbClr val="111827"/>
                    </a:solidFill>
                    <a:latin typeface="Arial"/>
                  </a:rPr>
                  <a:t>: </a:t>
                </a:r>
                <a:r>
                  <a:rPr lang="en-IN" sz="2400">
                    <a:solidFill>
                      <a:srgbClr val="111827"/>
                    </a:solidFill>
                    <a:latin typeface="Cambria Math" panose="02040503050406030204" pitchFamily="18" charset="0"/>
                  </a:rPr>
                  <a:t>$\dfrac{(2m)!}{2^m\,m!}=(2m-1)(2m-3)\cdots3\cdot1=(2m-1)!!$</a:t>
                </a:r>
                <a:r>
                  <a:rPr sz="2400" b="0">
                    <a:solidFill>
                      <a:srgbClr val="111827"/>
                    </a:solidFill>
                    <a:latin typeface="Arial"/>
                  </a:rPr>
                  <a:t> - the origin of the product of odd numbers in the options.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r>
                  <a:rPr lang="en-IN" sz="2400">
                    <a:solidFill>
                      <a:srgbClr val="111827"/>
                    </a:solidFill>
                    <a:latin typeface="Cambria Math" panose="02040503050406030204" pitchFamily="18" charset="0"/>
                  </a:rPr>
                  <a:t>$4$</a:t>
                </a:r>
                <a:r>
                  <a:rPr sz="2400" b="0">
                    <a:solidFill>
                      <a:srgbClr val="111827"/>
                    </a:solidFill>
                    <a:latin typeface="Arial"/>
                  </a:rPr>
                  <a:t> people into </a:t>
                </a:r>
                <a:r>
                  <a:rPr lang="en-IN" sz="2400">
                    <a:solidFill>
                      <a:srgbClr val="111827"/>
                    </a:solidFill>
                    <a:latin typeface="Cambria Math" panose="02040503050406030204" pitchFamily="18" charset="0"/>
                  </a:rPr>
                  <a:t>$2$</a:t>
                </a:r>
                <a:r>
                  <a:rPr sz="2400" b="0">
                    <a:solidFill>
                      <a:srgbClr val="111827"/>
                    </a:solidFill>
                    <a:latin typeface="Arial"/>
                  </a:rPr>
                  <a:t> pairs: </a:t>
                </a:r>
                <a:r>
                  <a:rPr lang="en-IN" sz="2400">
                    <a:solidFill>
                      <a:srgbClr val="111827"/>
                    </a:solidFill>
                    <a:latin typeface="Cambria Math" panose="02040503050406030204" pitchFamily="18" charset="0"/>
                  </a:rPr>
                  <a:t>$\frac{4!}{2^2\,2!}=3$</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4104132"/>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Paragraph: </a:t>
                </a:r>
                <a14:m>
                  <m:oMath xmlns:m="http://schemas.openxmlformats.org/officeDocument/2006/math">
                    <m:r>
                      <a:rPr lang="en-IN" sz="2400" i="1">
                        <a:solidFill>
                          <a:srgbClr val="111827"/>
                        </a:solidFill>
                        <a:latin typeface="Cambria Math" panose="02040503050406030204" pitchFamily="18" charset="0"/>
                      </a:rPr>
                      <m:t>16</m:t>
                    </m:r>
                  </m:oMath>
                </a14:m>
                <a:r>
                  <a:rPr sz="2400" b="0">
                    <a:solidFill>
                      <a:srgbClr val="111827"/>
                    </a:solidFill>
                    <a:latin typeface="Arial"/>
                  </a:rPr>
                  <a:t> players </a:t>
                </a:r>
                <a14:m>
                  <m:oMath xmlns:m="http://schemas.openxmlformats.org/officeDocument/2006/math">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16</m:t>
                        </m:r>
                      </m:sub>
                    </m:sSub>
                  </m:oMath>
                </a14:m>
                <a:r>
                  <a:rPr sz="2400" b="0">
                    <a:solidFill>
                      <a:srgbClr val="111827"/>
                    </a:solidFill>
                    <a:latin typeface="Arial"/>
                  </a:rPr>
                  <a:t> take part in a tennis tournament. A lower suffix player is better than any higher suffix player (</a:t>
                </a:r>
                <a14:m>
                  <m:oMath xmlns:m="http://schemas.openxmlformats.org/officeDocument/2006/math">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𝑖</m:t>
                        </m:r>
                      </m:sub>
                    </m:sSub>
                  </m:oMath>
                </a14:m>
                <a:r>
                  <a:rPr sz="2400" b="0">
                    <a:solidFill>
                      <a:srgbClr val="111827"/>
                    </a:solidFill>
                    <a:latin typeface="Arial"/>
                  </a:rPr>
                  <a:t> is better than </a:t>
                </a:r>
                <a14:m>
                  <m:oMath xmlns:m="http://schemas.openxmlformats.org/officeDocument/2006/math">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𝑗</m:t>
                        </m:r>
                      </m:sub>
                    </m:sSub>
                  </m:oMath>
                </a14:m>
                <a:r>
                  <a:rPr sz="2400" b="0">
                    <a:solidFill>
                      <a:srgbClr val="111827"/>
                    </a:solidFill>
                    <a:latin typeface="Arial"/>
                  </a:rPr>
                  <a:t> if </a:t>
                </a:r>
                <a14:m>
                  <m:oMath xmlns:m="http://schemas.openxmlformats.org/officeDocument/2006/math">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𝑗</m:t>
                    </m:r>
                  </m:oMath>
                </a14:m>
                <a:r>
                  <a:rPr sz="2400" b="0">
                    <a:solidFill>
                      <a:srgbClr val="111827"/>
                    </a:solidFill>
                    <a:latin typeface="Arial"/>
                  </a:rPr>
                  <a:t>). The players are to be divided into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groups, each comprising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players, and the best from each group is selected for the semifinals.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The number of ways in which the </a:t>
                </a:r>
                <a14:m>
                  <m:oMath xmlns:m="http://schemas.openxmlformats.org/officeDocument/2006/math">
                    <m:r>
                      <a:rPr lang="en-IN" sz="2400" i="1">
                        <a:solidFill>
                          <a:srgbClr val="111827"/>
                        </a:solidFill>
                        <a:latin typeface="Cambria Math" panose="02040503050406030204" pitchFamily="18" charset="0"/>
                      </a:rPr>
                      <m:t>16</m:t>
                    </m:r>
                  </m:oMath>
                </a14:m>
                <a:r>
                  <a:rPr sz="2400" b="0">
                    <a:solidFill>
                      <a:srgbClr val="111827"/>
                    </a:solidFill>
                    <a:latin typeface="Arial"/>
                  </a:rPr>
                  <a:t> players can be divided into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equal groups if the players </a:t>
                </a:r>
                <a14:m>
                  <m:oMath xmlns:m="http://schemas.openxmlformats.org/officeDocument/2006/math">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3</m:t>
                        </m:r>
                      </m:sub>
                    </m:sSub>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4</m:t>
                        </m:r>
                      </m:sub>
                    </m:sSub>
                  </m:oMath>
                </a14:m>
                <a:r>
                  <a:rPr sz="2400" b="0">
                    <a:solidFill>
                      <a:srgbClr val="111827"/>
                    </a:solidFill>
                    <a:latin typeface="Arial"/>
                  </a:rPr>
                  <a:t> are in different groups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36</m:t>
                        </m:r>
                      </m:den>
                    </m:f>
                  </m:oMath>
                </a14:m>
                <a:r>
                  <a:rPr sz="2400" b="0">
                    <a:solidFill>
                      <a:srgbClr val="111827"/>
                    </a:solidFill>
                    <a:latin typeface="Arial"/>
                  </a:rPr>
                  <a:t>   (B)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72</m:t>
                        </m:r>
                      </m:den>
                    </m:f>
                  </m:oMath>
                </a14:m>
                <a:r>
                  <a:rPr sz="2400" b="0">
                    <a:solidFill>
                      <a:srgbClr val="111827"/>
                    </a:solidFill>
                    <a:latin typeface="Arial"/>
                  </a:rPr>
                  <a:t>   (C)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108</m:t>
                        </m:r>
                      </m:den>
                    </m:f>
                  </m:oMath>
                </a14:m>
                <a:r>
                  <a:rPr sz="2400" b="0">
                    <a:solidFill>
                      <a:srgbClr val="111827"/>
                    </a:solidFill>
                    <a:latin typeface="Arial"/>
                  </a:rPr>
                  <a:t>   (D)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216</m:t>
                        </m:r>
                      </m:den>
                    </m:f>
                  </m:oMath>
                </a14:m>
                <a:endParaRPr sz="2400">
                  <a:solidFill>
                    <a:srgbClr val="111827"/>
                  </a:solidFill>
                </a:endParaRPr>
              </a:p>
            </p:txBody>
          </p:sp>
        </mc:Choice>
        <mc:Fallback>
          <p:sp>
            <p:nvSpPr>
              <p:cNvPr id="4" name="Rounded Rectangle 3"/>
              <p:cNvSpPr/>
              <p:nvPr/>
            </p:nvSpPr>
            <p:spPr>
              <a:xfrm>
                <a:off x="731520" y="1280160"/>
                <a:ext cx="10725912" cy="4104132"/>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Paragraph: </a:t>
                </a:r>
                <a:r>
                  <a:rPr lang="en-IN" sz="2400">
                    <a:solidFill>
                      <a:srgbClr val="111827"/>
                    </a:solidFill>
                    <a:latin typeface="Cambria Math" panose="02040503050406030204" pitchFamily="18" charset="0"/>
                  </a:rPr>
                  <a:t>$16$</a:t>
                </a:r>
                <a:r>
                  <a:rPr sz="2400" b="0">
                    <a:solidFill>
                      <a:srgbClr val="111827"/>
                    </a:solidFill>
                    <a:latin typeface="Arial"/>
                  </a:rPr>
                  <a:t> players </a:t>
                </a:r>
                <a:r>
                  <a:rPr lang="en-IN" sz="2400">
                    <a:solidFill>
                      <a:srgbClr val="111827"/>
                    </a:solidFill>
                    <a:latin typeface="Cambria Math" panose="02040503050406030204" pitchFamily="18" charset="0"/>
                  </a:rPr>
                  <a:t>$P_1,P_2,P_3,\dots,P_{16}$</a:t>
                </a:r>
                <a:r>
                  <a:rPr sz="2400" b="0">
                    <a:solidFill>
                      <a:srgbClr val="111827"/>
                    </a:solidFill>
                    <a:latin typeface="Arial"/>
                  </a:rPr>
                  <a:t> take part in a tennis tournament. A lower suffix player is better than any higher suffix player (</a:t>
                </a:r>
                <a:r>
                  <a:rPr lang="en-IN" sz="2400">
                    <a:solidFill>
                      <a:srgbClr val="111827"/>
                    </a:solidFill>
                    <a:latin typeface="Cambria Math" panose="02040503050406030204" pitchFamily="18" charset="0"/>
                  </a:rPr>
                  <a:t>$P_i$</a:t>
                </a:r>
                <a:r>
                  <a:rPr sz="2400" b="0">
                    <a:solidFill>
                      <a:srgbClr val="111827"/>
                    </a:solidFill>
                    <a:latin typeface="Arial"/>
                  </a:rPr>
                  <a:t> is better than </a:t>
                </a:r>
                <a:r>
                  <a:rPr lang="en-IN" sz="2400">
                    <a:solidFill>
                      <a:srgbClr val="111827"/>
                    </a:solidFill>
                    <a:latin typeface="Cambria Math" panose="02040503050406030204" pitchFamily="18" charset="0"/>
                  </a:rPr>
                  <a:t>$P_j$</a:t>
                </a:r>
                <a:r>
                  <a:rPr sz="2400" b="0">
                    <a:solidFill>
                      <a:srgbClr val="111827"/>
                    </a:solidFill>
                    <a:latin typeface="Arial"/>
                  </a:rPr>
                  <a:t> if </a:t>
                </a:r>
                <a:r>
                  <a:rPr lang="en-IN" sz="2400">
                    <a:solidFill>
                      <a:srgbClr val="111827"/>
                    </a:solidFill>
                    <a:latin typeface="Cambria Math" panose="02040503050406030204" pitchFamily="18" charset="0"/>
                  </a:rPr>
                  <a:t>$i&lt;j$</a:t>
                </a:r>
                <a:r>
                  <a:rPr sz="2400" b="0">
                    <a:solidFill>
                      <a:srgbClr val="111827"/>
                    </a:solidFill>
                    <a:latin typeface="Arial"/>
                  </a:rPr>
                  <a:t>). The players are to be divided into </a:t>
                </a:r>
                <a:r>
                  <a:rPr lang="en-IN" sz="2400">
                    <a:solidFill>
                      <a:srgbClr val="111827"/>
                    </a:solidFill>
                    <a:latin typeface="Cambria Math" panose="02040503050406030204" pitchFamily="18" charset="0"/>
                  </a:rPr>
                  <a:t>$4$</a:t>
                </a:r>
                <a:r>
                  <a:rPr sz="2400" b="0">
                    <a:solidFill>
                      <a:srgbClr val="111827"/>
                    </a:solidFill>
                    <a:latin typeface="Arial"/>
                  </a:rPr>
                  <a:t> groups, each comprising </a:t>
                </a:r>
                <a:r>
                  <a:rPr lang="en-IN" sz="2400">
                    <a:solidFill>
                      <a:srgbClr val="111827"/>
                    </a:solidFill>
                    <a:latin typeface="Cambria Math" panose="02040503050406030204" pitchFamily="18" charset="0"/>
                  </a:rPr>
                  <a:t>$4$</a:t>
                </a:r>
                <a:r>
                  <a:rPr sz="2400" b="0">
                    <a:solidFill>
                      <a:srgbClr val="111827"/>
                    </a:solidFill>
                    <a:latin typeface="Arial"/>
                  </a:rPr>
                  <a:t> players, and the best from each group is selected for the semifinals.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The number of ways in which the </a:t>
                </a:r>
                <a:r>
                  <a:rPr lang="en-IN" sz="2400">
                    <a:solidFill>
                      <a:srgbClr val="111827"/>
                    </a:solidFill>
                    <a:latin typeface="Cambria Math" panose="02040503050406030204" pitchFamily="18" charset="0"/>
                  </a:rPr>
                  <a:t>$16$</a:t>
                </a:r>
                <a:r>
                  <a:rPr sz="2400" b="0">
                    <a:solidFill>
                      <a:srgbClr val="111827"/>
                    </a:solidFill>
                    <a:latin typeface="Arial"/>
                  </a:rPr>
                  <a:t> players can be divided into </a:t>
                </a:r>
                <a:r>
                  <a:rPr lang="en-IN" sz="2400">
                    <a:solidFill>
                      <a:srgbClr val="111827"/>
                    </a:solidFill>
                    <a:latin typeface="Cambria Math" panose="02040503050406030204" pitchFamily="18" charset="0"/>
                  </a:rPr>
                  <a:t>$4$</a:t>
                </a:r>
                <a:r>
                  <a:rPr sz="2400" b="0">
                    <a:solidFill>
                      <a:srgbClr val="111827"/>
                    </a:solidFill>
                    <a:latin typeface="Arial"/>
                  </a:rPr>
                  <a:t> equal groups if the players </a:t>
                </a:r>
                <a:r>
                  <a:rPr lang="en-IN" sz="2400">
                    <a:solidFill>
                      <a:srgbClr val="111827"/>
                    </a:solidFill>
                    <a:latin typeface="Cambria Math" panose="02040503050406030204" pitchFamily="18" charset="0"/>
                  </a:rPr>
                  <a:t>$P_1,P_2,P_3$</a:t>
                </a:r>
                <a:r>
                  <a:rPr sz="2400" b="0">
                    <a:solidFill>
                      <a:srgbClr val="111827"/>
                    </a:solidFill>
                    <a:latin typeface="Arial"/>
                  </a:rPr>
                  <a:t> and </a:t>
                </a:r>
                <a:r>
                  <a:rPr lang="en-IN" sz="2400">
                    <a:solidFill>
                      <a:srgbClr val="111827"/>
                    </a:solidFill>
                    <a:latin typeface="Cambria Math" panose="02040503050406030204" pitchFamily="18" charset="0"/>
                  </a:rPr>
                  <a:t>$P_4$</a:t>
                </a:r>
                <a:r>
                  <a:rPr sz="2400" b="0">
                    <a:solidFill>
                      <a:srgbClr val="111827"/>
                    </a:solidFill>
                    <a:latin typeface="Arial"/>
                  </a:rPr>
                  <a:t> are in different groups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$\dfrac{11!}{36}$</a:t>
                </a:r>
                <a:r>
                  <a:rPr sz="2400" b="0">
                    <a:solidFill>
                      <a:srgbClr val="111827"/>
                    </a:solidFill>
                    <a:latin typeface="Arial"/>
                  </a:rPr>
                  <a:t>   (B) </a:t>
                </a:r>
                <a:r>
                  <a:rPr lang="en-IN" sz="2400">
                    <a:solidFill>
                      <a:srgbClr val="111827"/>
                    </a:solidFill>
                    <a:latin typeface="Cambria Math" panose="02040503050406030204" pitchFamily="18" charset="0"/>
                  </a:rPr>
                  <a:t>$\dfrac{11!}{72}$</a:t>
                </a:r>
                <a:r>
                  <a:rPr sz="2400" b="0">
                    <a:solidFill>
                      <a:srgbClr val="111827"/>
                    </a:solidFill>
                    <a:latin typeface="Arial"/>
                  </a:rPr>
                  <a:t>   (C) </a:t>
                </a:r>
                <a:r>
                  <a:rPr lang="en-IN" sz="2400">
                    <a:solidFill>
                      <a:srgbClr val="111827"/>
                    </a:solidFill>
                    <a:latin typeface="Cambria Math" panose="02040503050406030204" pitchFamily="18" charset="0"/>
                  </a:rPr>
                  <a:t>$\dfrac{11!}{108}$</a:t>
                </a:r>
                <a:r>
                  <a:rPr sz="2400" b="0">
                    <a:solidFill>
                      <a:srgbClr val="111827"/>
                    </a:solidFill>
                    <a:latin typeface="Arial"/>
                  </a:rPr>
                  <a:t>   (D) </a:t>
                </a:r>
                <a:r>
                  <a:rPr lang="en-IN" sz="2400">
                    <a:solidFill>
                      <a:srgbClr val="111827"/>
                    </a:solidFill>
                    <a:latin typeface="Cambria Math" panose="02040503050406030204" pitchFamily="18" charset="0"/>
                  </a:rPr>
                  <a:t>$\dfrac{11!}{216}$</a:t>
                </a:r>
                <a:endParaRPr sz="2400">
                  <a:solidFill>
                    <a:srgbClr val="111827"/>
                  </a:solidFill>
                </a:endParaRPr>
              </a:p>
            </p:txBody>
          </p:sp>
        </mc:Fallback>
      </mc:AlternateContent>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3 Marks</a:t>
            </a:r>
            <a:endParaRPr sz="2400">
              <a:solidFill>
                <a:srgbClr val="111827"/>
              </a:solidFill>
            </a:endParaRPr>
          </a:p>
        </p:txBody>
      </p:sp>
      <p:sp>
        <p:nvSpPr>
          <p:cNvPr id="4" name="Rectangle 3"/>
          <p:cNvSpPr/>
          <p:nvPr/>
        </p:nvSpPr>
        <p:spPr>
          <a:xfrm>
            <a:off x="731520" y="128016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Paragraph Based Single Correct Type(3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Division of distinct objects into equal groups with separating conditions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3438144"/>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Seat </a:t>
                </a:r>
                <a14:m>
                  <m:oMath xmlns:m="http://schemas.openxmlformats.org/officeDocument/2006/math">
                    <m:sSub>
                      <m:e>
                        <m:r>
                          <a:rPr lang="en-IN" sz="2400" i="1">
                            <a:solidFill>
                              <a:srgbClr val="78350F"/>
                            </a:solidFill>
                            <a:latin typeface="Cambria Math" panose="02040503050406030204" pitchFamily="18" charset="0"/>
                          </a:rPr>
                          <m:t>𝑃</m:t>
                        </m:r>
                      </m:e>
                      <m:sub>
                        <m:r>
                          <a:rPr lang="en-IN" sz="2400" i="1">
                            <a:solidFill>
                              <a:srgbClr val="78350F"/>
                            </a:solidFill>
                            <a:latin typeface="Cambria Math" panose="02040503050406030204" pitchFamily="18" charset="0"/>
                          </a:rPr>
                          <m:t>1</m:t>
                        </m:r>
                      </m:sub>
                    </m:sSub>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𝑃</m:t>
                        </m:r>
                      </m:e>
                      <m:sub>
                        <m:r>
                          <a:rPr lang="en-IN" sz="2400" i="1">
                            <a:solidFill>
                              <a:srgbClr val="78350F"/>
                            </a:solidFill>
                            <a:latin typeface="Cambria Math" panose="02040503050406030204" pitchFamily="18" charset="0"/>
                          </a:rPr>
                          <m:t>4</m:t>
                        </m:r>
                      </m:sub>
                    </m:sSub>
                  </m:oMath>
                </a14:m>
                <a:r>
                  <a:rPr sz="2400" b="0">
                    <a:solidFill>
                      <a:srgbClr val="78350F"/>
                    </a:solidFill>
                    <a:latin typeface="Arial"/>
                  </a:rPr>
                  <a:t> as the four group 'leaders'; the other </a:t>
                </a:r>
                <a14:m>
                  <m:oMath xmlns:m="http://schemas.openxmlformats.org/officeDocument/2006/math">
                    <m:r>
                      <a:rPr lang="en-IN" sz="2400" i="1">
                        <a:solidFill>
                          <a:srgbClr val="78350F"/>
                        </a:solidFill>
                        <a:latin typeface="Cambria Math" panose="02040503050406030204" pitchFamily="18" charset="0"/>
                      </a:rPr>
                      <m:t>12</m:t>
                    </m:r>
                  </m:oMath>
                </a14:m>
                <a:r>
                  <a:rPr sz="2400" b="0">
                    <a:solidFill>
                      <a:srgbClr val="78350F"/>
                    </a:solidFill>
                    <a:latin typeface="Arial"/>
                  </a:rPr>
                  <a:t> players are then split </a:t>
                </a:r>
                <a14:m>
                  <m:oMath xmlns:m="http://schemas.openxmlformats.org/officeDocument/2006/math">
                    <m:r>
                      <a:rPr lang="en-IN" sz="2400" i="1">
                        <a:solidFill>
                          <a:srgbClr val="78350F"/>
                        </a:solidFill>
                        <a:latin typeface="Cambria Math" panose="02040503050406030204" pitchFamily="18" charset="0"/>
                      </a:rPr>
                      <m:t>3</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oMath>
                </a14:m>
                <a:r>
                  <a:rPr sz="2400" b="0">
                    <a:solidFill>
                      <a:srgbClr val="78350F"/>
                    </a:solidFill>
                    <a:latin typeface="Arial"/>
                  </a:rPr>
                  <a:t> among these named groups.</a:t>
                </a:r>
                <a:endParaRPr sz="2400">
                  <a:solidFill>
                    <a:srgbClr val="78350F"/>
                  </a:solidFill>
                </a:endParaRPr>
              </a:p>
            </p:txBody>
          </p:sp>
        </mc:Choice>
        <mc:Fallback>
          <p:sp>
            <p:nvSpPr>
              <p:cNvPr id="5" name="Rounded Rectangle 4"/>
              <p:cNvSpPr/>
              <p:nvPr/>
            </p:nvSpPr>
            <p:spPr>
              <a:xfrm>
                <a:off x="731520" y="3438144"/>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Seat </a:t>
                </a:r>
                <a:r>
                  <a:rPr lang="en-IN" sz="2400">
                    <a:solidFill>
                      <a:srgbClr val="78350F"/>
                    </a:solidFill>
                    <a:latin typeface="Cambria Math" panose="02040503050406030204" pitchFamily="18" charset="0"/>
                  </a:rPr>
                  <a:t>$P_1,\dots,P_4$</a:t>
                </a:r>
                <a:r>
                  <a:rPr sz="2400" b="0">
                    <a:solidFill>
                      <a:srgbClr val="78350F"/>
                    </a:solidFill>
                    <a:latin typeface="Arial"/>
                  </a:rPr>
                  <a:t> as the four group 'leaders'; the other </a:t>
                </a:r>
                <a:r>
                  <a:rPr lang="en-IN" sz="2400">
                    <a:solidFill>
                      <a:srgbClr val="78350F"/>
                    </a:solidFill>
                    <a:latin typeface="Cambria Math" panose="02040503050406030204" pitchFamily="18" charset="0"/>
                  </a:rPr>
                  <a:t>$12$</a:t>
                </a:r>
                <a:r>
                  <a:rPr sz="2400" b="0">
                    <a:solidFill>
                      <a:srgbClr val="78350F"/>
                    </a:solidFill>
                    <a:latin typeface="Arial"/>
                  </a:rPr>
                  <a:t> players are then split </a:t>
                </a:r>
                <a:r>
                  <a:rPr lang="en-IN" sz="2400">
                    <a:solidFill>
                      <a:srgbClr val="78350F"/>
                    </a:solidFill>
                    <a:latin typeface="Cambria Math" panose="02040503050406030204" pitchFamily="18" charset="0"/>
                  </a:rPr>
                  <a:t>$3+3+3+3$</a:t>
                </a:r>
                <a:r>
                  <a:rPr sz="2400" b="0">
                    <a:solidFill>
                      <a:srgbClr val="78350F"/>
                    </a:solidFill>
                    <a:latin typeface="Arial"/>
                  </a:rPr>
                  <a:t> among these named groups.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4684776"/>
                <a:ext cx="10725912" cy="199034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Since </a:t>
                </a:r>
                <a14:m>
                  <m:oMath xmlns:m="http://schemas.openxmlformats.org/officeDocument/2006/math">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4</m:t>
                        </m:r>
                      </m:sub>
                    </m:sSub>
                  </m:oMath>
                </a14:m>
                <a:r>
                  <a:rPr sz="2400" b="0">
                    <a:solidFill>
                      <a:srgbClr val="111827"/>
                    </a:solidFill>
                    <a:latin typeface="Arial"/>
                  </a:rPr>
                  <a:t> are in different groups, each group has exactly one of them.</a:t>
                </a:r>
                <a:endParaRPr sz="2400">
                  <a:solidFill>
                    <a:srgbClr val="111827"/>
                  </a:solidFill>
                </a:endParaRPr>
              </a:p>
            </p:txBody>
          </p:sp>
        </mc:Choice>
        <mc:Fallback>
          <p:sp>
            <p:nvSpPr>
              <p:cNvPr id="6" name="Rectangle 5"/>
              <p:cNvSpPr/>
              <p:nvPr/>
            </p:nvSpPr>
            <p:spPr>
              <a:xfrm>
                <a:off x="731520" y="4684776"/>
                <a:ext cx="10725912" cy="199034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Since </a:t>
                </a:r>
                <a:r>
                  <a:rPr lang="en-IN" sz="2400">
                    <a:solidFill>
                      <a:srgbClr val="111827"/>
                    </a:solidFill>
                    <a:latin typeface="Cambria Math" panose="02040503050406030204" pitchFamily="18" charset="0"/>
                  </a:rPr>
                  <a:t>$P_1,P_2,P_3,P_4$</a:t>
                </a:r>
                <a:r>
                  <a:rPr sz="2400" b="0">
                    <a:solidFill>
                      <a:srgbClr val="111827"/>
                    </a:solidFill>
                    <a:latin typeface="Arial"/>
                  </a:rPr>
                  <a:t> are in different groups, each group has exactly one of them.</a:t>
                </a:r>
                <a:endParaRPr sz="2400">
                  <a:solidFill>
                    <a:srgbClr val="111827"/>
                  </a:solidFill>
                </a:endParaRPr>
              </a:p>
            </p:txBody>
          </p:sp>
        </mc:Fallback>
      </mc:AlternateContent>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remaining </a:t>
                </a:r>
                <a14:m>
                  <m:oMath xmlns:m="http://schemas.openxmlformats.org/officeDocument/2006/math">
                    <m:r>
                      <a:rPr lang="en-IN" sz="2400" i="1">
                        <a:solidFill>
                          <a:srgbClr val="111827"/>
                        </a:solidFill>
                        <a:latin typeface="Cambria Math" panose="02040503050406030204" pitchFamily="18" charset="0"/>
                      </a:rPr>
                      <m:t>12</m:t>
                    </m:r>
                  </m:oMath>
                </a14:m>
                <a:r>
                  <a:rPr sz="2400" b="0">
                    <a:solidFill>
                      <a:srgbClr val="111827"/>
                    </a:solidFill>
                    <a:latin typeface="Arial"/>
                  </a:rPr>
                  <a:t> players are divided into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groups of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4</m:t>
                            </m:r>
                          </m:sup>
                        </m:sSup>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 ways (unlabelled groups of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These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groups are then attached to </a:t>
                </a:r>
                <a14:m>
                  <m:oMath xmlns:m="http://schemas.openxmlformats.org/officeDocument/2006/math">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4</m:t>
                        </m:r>
                      </m:sub>
                    </m:sSub>
                  </m:oMath>
                </a14:m>
                <a:r>
                  <a:rPr sz="2400" b="0">
                    <a:solidFill>
                      <a:srgbClr val="111827"/>
                    </a:solidFill>
                    <a:latin typeface="Arial"/>
                  </a:rPr>
                  <a:t> (distinct people), which can be done in </a:t>
                </a:r>
                <a14:m>
                  <m:oMath xmlns:m="http://schemas.openxmlformats.org/officeDocument/2006/math">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ways.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 of ways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4</m:t>
                            </m:r>
                          </m:sup>
                        </m:sSup>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1296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1296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108</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option (C).</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remaining </a:t>
                </a:r>
                <a:r>
                  <a:rPr lang="en-IN" sz="2400">
                    <a:solidFill>
                      <a:srgbClr val="111827"/>
                    </a:solidFill>
                    <a:latin typeface="Cambria Math" panose="02040503050406030204" pitchFamily="18" charset="0"/>
                  </a:rPr>
                  <a:t>$12$</a:t>
                </a:r>
                <a:r>
                  <a:rPr sz="2400" b="0">
                    <a:solidFill>
                      <a:srgbClr val="111827"/>
                    </a:solidFill>
                    <a:latin typeface="Arial"/>
                  </a:rPr>
                  <a:t> players are divided into </a:t>
                </a:r>
                <a:r>
                  <a:rPr lang="en-IN" sz="2400">
                    <a:solidFill>
                      <a:srgbClr val="111827"/>
                    </a:solidFill>
                    <a:latin typeface="Cambria Math" panose="02040503050406030204" pitchFamily="18" charset="0"/>
                  </a:rPr>
                  <a:t>$4$</a:t>
                </a:r>
                <a:r>
                  <a:rPr sz="2400" b="0">
                    <a:solidFill>
                      <a:srgbClr val="111827"/>
                    </a:solidFill>
                    <a:latin typeface="Arial"/>
                  </a:rPr>
                  <a:t> groups of </a:t>
                </a:r>
                <a:r>
                  <a:rPr lang="en-IN" sz="2400">
                    <a:solidFill>
                      <a:srgbClr val="111827"/>
                    </a:solidFill>
                    <a:latin typeface="Cambria Math" panose="02040503050406030204" pitchFamily="18" charset="0"/>
                  </a:rPr>
                  <a:t>$3$</a:t>
                </a:r>
                <a:r>
                  <a:rPr sz="2400" b="0">
                    <a:solidFill>
                      <a:srgbClr val="111827"/>
                    </a:solidFill>
                    <a:latin typeface="Arial"/>
                  </a:rPr>
                  <a:t>: </a:t>
                </a:r>
                <a:r>
                  <a:rPr lang="en-IN" sz="2400">
                    <a:solidFill>
                      <a:srgbClr val="111827"/>
                    </a:solidFill>
                    <a:latin typeface="Cambria Math" panose="02040503050406030204" pitchFamily="18" charset="0"/>
                  </a:rPr>
                  <a:t>$\dfrac{12!}{(3!)^4\,4!}$</a:t>
                </a:r>
                <a:r>
                  <a:rPr sz="2400" b="0">
                    <a:solidFill>
                      <a:srgbClr val="111827"/>
                    </a:solidFill>
                    <a:latin typeface="Arial"/>
                  </a:rPr>
                  <a:t> ways (unlabelled groups of </a:t>
                </a:r>
                <a:r>
                  <a:rPr lang="en-IN" sz="2400">
                    <a:solidFill>
                      <a:srgbClr val="111827"/>
                    </a:solidFill>
                    <a:latin typeface="Cambria Math" panose="02040503050406030204" pitchFamily="18" charset="0"/>
                  </a:rPr>
                  <a:t>$3$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These </a:t>
                </a:r>
                <a:r>
                  <a:rPr lang="en-IN" sz="2400">
                    <a:solidFill>
                      <a:srgbClr val="111827"/>
                    </a:solidFill>
                    <a:latin typeface="Cambria Math" panose="02040503050406030204" pitchFamily="18" charset="0"/>
                  </a:rPr>
                  <a:t>$4$</a:t>
                </a:r>
                <a:r>
                  <a:rPr sz="2400" b="0">
                    <a:solidFill>
                      <a:srgbClr val="111827"/>
                    </a:solidFill>
                    <a:latin typeface="Arial"/>
                  </a:rPr>
                  <a:t> groups are then attached to </a:t>
                </a:r>
                <a:r>
                  <a:rPr lang="en-IN" sz="2400">
                    <a:solidFill>
                      <a:srgbClr val="111827"/>
                    </a:solidFill>
                    <a:latin typeface="Cambria Math" panose="02040503050406030204" pitchFamily="18" charset="0"/>
                  </a:rPr>
                  <a:t>$P_1,P_2,P_3,P_4$</a:t>
                </a:r>
                <a:r>
                  <a:rPr sz="2400" b="0">
                    <a:solidFill>
                      <a:srgbClr val="111827"/>
                    </a:solidFill>
                    <a:latin typeface="Arial"/>
                  </a:rPr>
                  <a:t> (distinct people), which can be done in </a:t>
                </a:r>
                <a:r>
                  <a:rPr lang="en-IN" sz="2400">
                    <a:solidFill>
                      <a:srgbClr val="111827"/>
                    </a:solidFill>
                    <a:latin typeface="Cambria Math" panose="02040503050406030204" pitchFamily="18" charset="0"/>
                  </a:rPr>
                  <a:t>$4!$</a:t>
                </a:r>
                <a:r>
                  <a:rPr sz="2400" b="0">
                    <a:solidFill>
                      <a:srgbClr val="111827"/>
                    </a:solidFill>
                    <a:latin typeface="Arial"/>
                  </a:rPr>
                  <a:t> ways.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 of ways </a:t>
                </a:r>
                <a:r>
                  <a:rPr lang="en-IN" sz="2400">
                    <a:solidFill>
                      <a:srgbClr val="111827"/>
                    </a:solidFill>
                    <a:latin typeface="Cambria Math" panose="02040503050406030204" pitchFamily="18" charset="0"/>
                  </a:rPr>
                  <a:t>$=\dfrac{12!}{(3!)^4\,4!}\times4!=\dfrac{12!}{1296}=\dfrac{12\cdot11!}{1296}=\dfrac{11!}{108}$</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option (C).</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11</m:t>
                        </m:r>
                        <m:r>
                          <m:rPr>
                            <m:sty m:val="p"/>
                          </m:rPr>
                          <a:rPr lang="en-IN" sz="2800">
                            <a:solidFill>
                              <a:srgbClr val="15803D"/>
                            </a:solidFill>
                            <a:latin typeface="Cambria Math" panose="02040503050406030204" pitchFamily="18" charset="0"/>
                          </a:rPr>
                          <m:t>!</m:t>
                        </m:r>
                      </m:num>
                      <m:den>
                        <m:r>
                          <a:rPr lang="en-IN" sz="2800" i="1">
                            <a:solidFill>
                              <a:srgbClr val="15803D"/>
                            </a:solidFill>
                            <a:latin typeface="Cambria Math" panose="02040503050406030204" pitchFamily="18" charset="0"/>
                          </a:rPr>
                          <m:t>108</m:t>
                        </m:r>
                      </m:den>
                    </m:f>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a:t>
                </a:r>
                <a:r>
                  <a:rPr lang="en-IN" sz="2800">
                    <a:solidFill>
                      <a:srgbClr val="15803D"/>
                    </a:solidFill>
                    <a:latin typeface="Cambria Math" panose="02040503050406030204" pitchFamily="18" charset="0"/>
                  </a:rPr>
                  <a:t>$\dfrac{11!}{108}$</a:t>
                </a:r>
                <a:endParaRPr sz="2800">
                  <a:solidFill>
                    <a:srgbClr val="15803D"/>
                  </a:solidFill>
                </a:endParaRPr>
              </a:p>
            </p:txBody>
          </p:sp>
        </mc:Fallback>
      </mc:AlternateContent>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3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Fill the group of each of </a:t>
                </a:r>
                <a14:m>
                  <m:oMath xmlns:m="http://schemas.openxmlformats.org/officeDocument/2006/math">
                    <m:sSub>
                      <m:e>
                        <m:r>
                          <a:rPr lang="en-IN" sz="2400" i="1">
                            <a:solidFill>
                              <a:srgbClr val="78350F"/>
                            </a:solidFill>
                            <a:latin typeface="Cambria Math" panose="02040503050406030204" pitchFamily="18" charset="0"/>
                          </a:rPr>
                          <m:t>𝑃</m:t>
                        </m:r>
                      </m:e>
                      <m:sub>
                        <m:r>
                          <a:rPr lang="en-IN" sz="2400" i="1">
                            <a:solidFill>
                              <a:srgbClr val="78350F"/>
                            </a:solidFill>
                            <a:latin typeface="Cambria Math" panose="02040503050406030204" pitchFamily="18" charset="0"/>
                          </a:rPr>
                          <m:t>1</m:t>
                        </m:r>
                      </m:sub>
                    </m:sSub>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𝑃</m:t>
                        </m:r>
                      </m:e>
                      <m:sub>
                        <m:r>
                          <a:rPr lang="en-IN" sz="2400" i="1">
                            <a:solidFill>
                              <a:srgbClr val="78350F"/>
                            </a:solidFill>
                            <a:latin typeface="Cambria Math" panose="02040503050406030204" pitchFamily="18" charset="0"/>
                          </a:rPr>
                          <m:t>4</m:t>
                        </m:r>
                      </m:sub>
                    </m:sSub>
                  </m:oMath>
                </a14:m>
                <a:r>
                  <a:rPr sz="2400" b="0">
                    <a:solidFill>
                      <a:srgbClr val="78350F"/>
                    </a:solidFill>
                    <a:latin typeface="Arial"/>
                  </a:rPr>
                  <a:t> directly (they act as labels).</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Fill the group of each of </a:t>
                </a:r>
                <a:r>
                  <a:rPr lang="en-IN" sz="2400">
                    <a:solidFill>
                      <a:srgbClr val="78350F"/>
                    </a:solidFill>
                    <a:latin typeface="Cambria Math" panose="02040503050406030204" pitchFamily="18" charset="0"/>
                  </a:rPr>
                  <a:t>$P_1,\dots,P_4$</a:t>
                </a:r>
                <a:r>
                  <a:rPr sz="2400" b="0">
                    <a:solidFill>
                      <a:srgbClr val="78350F"/>
                    </a:solidFill>
                    <a:latin typeface="Arial"/>
                  </a:rPr>
                  <a:t> directly (they act as labels).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four groups are already distinguished by </a:t>
                </a:r>
                <a14:m>
                  <m:oMath xmlns:m="http://schemas.openxmlformats.org/officeDocument/2006/math">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4</m:t>
                        </m:r>
                      </m:sub>
                    </m:sSub>
                  </m:oMath>
                </a14:m>
                <a:r>
                  <a:rPr sz="2400" b="0">
                    <a:solidFill>
                      <a:srgbClr val="111827"/>
                    </a:solidFill>
                    <a:latin typeface="Arial"/>
                  </a:rPr>
                  <a:t>, so no division by </a:t>
                </a:r>
                <a14:m>
                  <m:oMath xmlns:m="http://schemas.openxmlformats.org/officeDocument/2006/math">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needed.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Choose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of the </a:t>
                </a:r>
                <a14:m>
                  <m:oMath xmlns:m="http://schemas.openxmlformats.org/officeDocument/2006/math">
                    <m:r>
                      <a:rPr lang="en-IN" sz="2400" i="1">
                        <a:solidFill>
                          <a:srgbClr val="111827"/>
                        </a:solidFill>
                        <a:latin typeface="Cambria Math" panose="02040503050406030204" pitchFamily="18" charset="0"/>
                      </a:rPr>
                      <m:t>12</m:t>
                    </m:r>
                  </m:oMath>
                </a14:m>
                <a:r>
                  <a:rPr sz="2400" b="0">
                    <a:solidFill>
                      <a:srgbClr val="111827"/>
                    </a:solidFill>
                    <a:latin typeface="Arial"/>
                  </a:rPr>
                  <a:t> other players for </a:t>
                </a:r>
                <a14:m>
                  <m:oMath xmlns:m="http://schemas.openxmlformats.org/officeDocument/2006/math">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's group: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12</m:t>
                            </m:r>
                          </m:num>
                          <m:den>
                            <m:r>
                              <a:rPr lang="en-IN" sz="2400" i="1">
                                <a:solidFill>
                                  <a:srgbClr val="111827"/>
                                </a:solidFill>
                                <a:latin typeface="Cambria Math" panose="02040503050406030204" pitchFamily="18" charset="0"/>
                              </a:rPr>
                              <m:t>3</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220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of the remaining </a:t>
                </a:r>
                <a14:m>
                  <m:oMath xmlns:m="http://schemas.openxmlformats.org/officeDocument/2006/math">
                    <m:r>
                      <a:rPr lang="en-IN" sz="2400" i="1">
                        <a:solidFill>
                          <a:srgbClr val="111827"/>
                        </a:solidFill>
                        <a:latin typeface="Cambria Math" panose="02040503050406030204" pitchFamily="18" charset="0"/>
                      </a:rPr>
                      <m:t>9</m:t>
                    </m:r>
                  </m:oMath>
                </a14:m>
                <a:r>
                  <a:rPr sz="2400" b="0">
                    <a:solidFill>
                      <a:srgbClr val="111827"/>
                    </a:solidFill>
                    <a:latin typeface="Arial"/>
                  </a:rPr>
                  <a:t> for </a:t>
                </a:r>
                <a14:m>
                  <m:oMath xmlns:m="http://schemas.openxmlformats.org/officeDocument/2006/math">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3</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84</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of the remaining </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 for </a:t>
                </a:r>
                <a14:m>
                  <m:oMath xmlns:m="http://schemas.openxmlformats.org/officeDocument/2006/math">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3</m:t>
                        </m:r>
                      </m:sub>
                    </m:sSub>
                  </m:oMath>
                </a14:m>
                <a:r>
                  <a:rPr sz="2400" b="0">
                    <a:solidFill>
                      <a:srgbClr val="111827"/>
                    </a:solidFill>
                    <a:latin typeface="Arial"/>
                  </a:rPr>
                  <a:t>: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num>
                          <m:den>
                            <m:r>
                              <a:rPr lang="en-IN" sz="2400" i="1">
                                <a:solidFill>
                                  <a:srgbClr val="111827"/>
                                </a:solidFill>
                                <a:latin typeface="Cambria Math" panose="02040503050406030204" pitchFamily="18" charset="0"/>
                              </a:rPr>
                              <m:t>3</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oMath>
                </a14:m>
                <a:r>
                  <a:rPr sz="2400" b="0">
                    <a:solidFill>
                      <a:srgbClr val="111827"/>
                    </a:solidFill>
                    <a:latin typeface="Arial"/>
                  </a:rPr>
                  <a:t>; the last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go with </a:t>
                </a:r>
                <a14:m>
                  <m:oMath xmlns:m="http://schemas.openxmlformats.org/officeDocument/2006/math">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4</m:t>
                        </m:r>
                      </m:sub>
                    </m:sSub>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four groups are already distinguished by </a:t>
                </a:r>
                <a:r>
                  <a:rPr lang="en-IN" sz="2400">
                    <a:solidFill>
                      <a:srgbClr val="111827"/>
                    </a:solidFill>
                    <a:latin typeface="Cambria Math" panose="02040503050406030204" pitchFamily="18" charset="0"/>
                  </a:rPr>
                  <a:t>$P_1,P_2,P_3,P_4$</a:t>
                </a:r>
                <a:r>
                  <a:rPr sz="2400" b="0">
                    <a:solidFill>
                      <a:srgbClr val="111827"/>
                    </a:solidFill>
                    <a:latin typeface="Arial"/>
                  </a:rPr>
                  <a:t>, so no division by </a:t>
                </a:r>
                <a:r>
                  <a:rPr lang="en-IN" sz="2400">
                    <a:solidFill>
                      <a:srgbClr val="111827"/>
                    </a:solidFill>
                    <a:latin typeface="Cambria Math" panose="02040503050406030204" pitchFamily="18" charset="0"/>
                  </a:rPr>
                  <a:t>$4!$</a:t>
                </a:r>
                <a:r>
                  <a:rPr sz="2400" b="0">
                    <a:solidFill>
                      <a:srgbClr val="111827"/>
                    </a:solidFill>
                    <a:latin typeface="Arial"/>
                  </a:rPr>
                  <a:t> is needed.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Choose </a:t>
                </a:r>
                <a:r>
                  <a:rPr lang="en-IN" sz="2400">
                    <a:solidFill>
                      <a:srgbClr val="111827"/>
                    </a:solidFill>
                    <a:latin typeface="Cambria Math" panose="02040503050406030204" pitchFamily="18" charset="0"/>
                  </a:rPr>
                  <a:t>$3$</a:t>
                </a:r>
                <a:r>
                  <a:rPr sz="2400" b="0">
                    <a:solidFill>
                      <a:srgbClr val="111827"/>
                    </a:solidFill>
                    <a:latin typeface="Arial"/>
                  </a:rPr>
                  <a:t> of the </a:t>
                </a:r>
                <a:r>
                  <a:rPr lang="en-IN" sz="2400">
                    <a:solidFill>
                      <a:srgbClr val="111827"/>
                    </a:solidFill>
                    <a:latin typeface="Cambria Math" panose="02040503050406030204" pitchFamily="18" charset="0"/>
                  </a:rPr>
                  <a:t>$12$</a:t>
                </a:r>
                <a:r>
                  <a:rPr sz="2400" b="0">
                    <a:solidFill>
                      <a:srgbClr val="111827"/>
                    </a:solidFill>
                    <a:latin typeface="Arial"/>
                  </a:rPr>
                  <a:t> other players for </a:t>
                </a:r>
                <a:r>
                  <a:rPr lang="en-IN" sz="2400">
                    <a:solidFill>
                      <a:srgbClr val="111827"/>
                    </a:solidFill>
                    <a:latin typeface="Cambria Math" panose="02040503050406030204" pitchFamily="18" charset="0"/>
                  </a:rPr>
                  <a:t>$P_1$</a:t>
                </a:r>
                <a:r>
                  <a:rPr sz="2400" b="0">
                    <a:solidFill>
                      <a:srgbClr val="111827"/>
                    </a:solidFill>
                    <a:latin typeface="Arial"/>
                  </a:rPr>
                  <a:t>'s group: </a:t>
                </a:r>
                <a:r>
                  <a:rPr lang="en-IN" sz="2400">
                    <a:solidFill>
                      <a:srgbClr val="111827"/>
                    </a:solidFill>
                    <a:latin typeface="Cambria Math" panose="02040503050406030204" pitchFamily="18" charset="0"/>
                  </a:rPr>
                  <a:t>$\binom{12}{3}=220$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$3$</a:t>
                </a:r>
                <a:r>
                  <a:rPr sz="2400" b="0">
                    <a:solidFill>
                      <a:srgbClr val="111827"/>
                    </a:solidFill>
                    <a:latin typeface="Arial"/>
                  </a:rPr>
                  <a:t> of the remaining </a:t>
                </a:r>
                <a:r>
                  <a:rPr lang="en-IN" sz="2400">
                    <a:solidFill>
                      <a:srgbClr val="111827"/>
                    </a:solidFill>
                    <a:latin typeface="Cambria Math" panose="02040503050406030204" pitchFamily="18" charset="0"/>
                  </a:rPr>
                  <a:t>$9$</a:t>
                </a:r>
                <a:r>
                  <a:rPr sz="2400" b="0">
                    <a:solidFill>
                      <a:srgbClr val="111827"/>
                    </a:solidFill>
                    <a:latin typeface="Arial"/>
                  </a:rPr>
                  <a:t> for </a:t>
                </a:r>
                <a:r>
                  <a:rPr lang="en-IN" sz="2400">
                    <a:solidFill>
                      <a:srgbClr val="111827"/>
                    </a:solidFill>
                    <a:latin typeface="Cambria Math" panose="02040503050406030204" pitchFamily="18" charset="0"/>
                  </a:rPr>
                  <a:t>$P_2$</a:t>
                </a:r>
                <a:r>
                  <a:rPr sz="2400" b="0">
                    <a:solidFill>
                      <a:srgbClr val="111827"/>
                    </a:solidFill>
                    <a:latin typeface="Arial"/>
                  </a:rPr>
                  <a:t>: </a:t>
                </a:r>
                <a:r>
                  <a:rPr lang="en-IN" sz="2400">
                    <a:solidFill>
                      <a:srgbClr val="111827"/>
                    </a:solidFill>
                    <a:latin typeface="Cambria Math" panose="02040503050406030204" pitchFamily="18" charset="0"/>
                  </a:rPr>
                  <a:t>$\binom93=84$</a:t>
                </a:r>
                <a:r>
                  <a:rPr sz="2400" b="0">
                    <a:solidFill>
                      <a:srgbClr val="111827"/>
                    </a:solidFill>
                    <a:latin typeface="Arial"/>
                  </a:rPr>
                  <a:t>; </a:t>
                </a:r>
                <a:r>
                  <a:rPr lang="en-IN" sz="2400">
                    <a:solidFill>
                      <a:srgbClr val="111827"/>
                    </a:solidFill>
                    <a:latin typeface="Cambria Math" panose="02040503050406030204" pitchFamily="18" charset="0"/>
                  </a:rPr>
                  <a:t>$3$</a:t>
                </a:r>
                <a:r>
                  <a:rPr sz="2400" b="0">
                    <a:solidFill>
                      <a:srgbClr val="111827"/>
                    </a:solidFill>
                    <a:latin typeface="Arial"/>
                  </a:rPr>
                  <a:t> of the remaining </a:t>
                </a:r>
                <a:r>
                  <a:rPr lang="en-IN" sz="2400">
                    <a:solidFill>
                      <a:srgbClr val="111827"/>
                    </a:solidFill>
                    <a:latin typeface="Cambria Math" panose="02040503050406030204" pitchFamily="18" charset="0"/>
                  </a:rPr>
                  <a:t>$6$</a:t>
                </a:r>
                <a:r>
                  <a:rPr sz="2400" b="0">
                    <a:solidFill>
                      <a:srgbClr val="111827"/>
                    </a:solidFill>
                    <a:latin typeface="Arial"/>
                  </a:rPr>
                  <a:t> for </a:t>
                </a:r>
                <a:r>
                  <a:rPr lang="en-IN" sz="2400">
                    <a:solidFill>
                      <a:srgbClr val="111827"/>
                    </a:solidFill>
                    <a:latin typeface="Cambria Math" panose="02040503050406030204" pitchFamily="18" charset="0"/>
                  </a:rPr>
                  <a:t>$P_3$</a:t>
                </a:r>
                <a:r>
                  <a:rPr sz="2400" b="0">
                    <a:solidFill>
                      <a:srgbClr val="111827"/>
                    </a:solidFill>
                    <a:latin typeface="Arial"/>
                  </a:rPr>
                  <a:t>: </a:t>
                </a:r>
                <a:r>
                  <a:rPr lang="en-IN" sz="2400">
                    <a:solidFill>
                      <a:srgbClr val="111827"/>
                    </a:solidFill>
                    <a:latin typeface="Cambria Math" panose="02040503050406030204" pitchFamily="18" charset="0"/>
                  </a:rPr>
                  <a:t>$\binom63=20$</a:t>
                </a:r>
                <a:r>
                  <a:rPr sz="2400" b="0">
                    <a:solidFill>
                      <a:srgbClr val="111827"/>
                    </a:solidFill>
                    <a:latin typeface="Arial"/>
                  </a:rPr>
                  <a:t>; the last </a:t>
                </a:r>
                <a:r>
                  <a:rPr lang="en-IN" sz="2400">
                    <a:solidFill>
                      <a:srgbClr val="111827"/>
                    </a:solidFill>
                    <a:latin typeface="Cambria Math" panose="02040503050406030204" pitchFamily="18" charset="0"/>
                  </a:rPr>
                  <a:t>$3$</a:t>
                </a:r>
                <a:r>
                  <a:rPr sz="2400" b="0">
                    <a:solidFill>
                      <a:srgbClr val="111827"/>
                    </a:solidFill>
                    <a:latin typeface="Arial"/>
                  </a:rPr>
                  <a:t> go with </a:t>
                </a:r>
                <a:r>
                  <a:rPr lang="en-IN" sz="2400">
                    <a:solidFill>
                      <a:srgbClr val="111827"/>
                    </a:solidFill>
                    <a:latin typeface="Cambria Math" panose="02040503050406030204" pitchFamily="18" charset="0"/>
                  </a:rPr>
                  <a:t>$P_4$</a:t>
                </a:r>
                <a:r>
                  <a:rPr sz="2400" b="0">
                    <a:solidFill>
                      <a:srgbClr val="111827"/>
                    </a:solidFill>
                    <a:latin typeface="Arial"/>
                  </a:rPr>
                  <a:t>: </a:t>
                </a:r>
                <a:r>
                  <a:rPr lang="en-IN" sz="2400">
                    <a:solidFill>
                      <a:srgbClr val="111827"/>
                    </a:solidFill>
                    <a:latin typeface="Cambria Math" panose="02040503050406030204" pitchFamily="18" charset="0"/>
                  </a:rPr>
                  <a:t>$1$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3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Total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108</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800</m:t>
                        </m:r>
                      </m:num>
                      <m:den>
                        <m:r>
                          <a:rPr lang="en-IN" sz="2400" i="1">
                            <a:solidFill>
                              <a:srgbClr val="111827"/>
                            </a:solidFill>
                            <a:latin typeface="Cambria Math" panose="02040503050406030204" pitchFamily="18" charset="0"/>
                          </a:rPr>
                          <m:t>108</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600</m:t>
                    </m:r>
                  </m:oMath>
                </a14:m>
                <a:r>
                  <a:rPr sz="2400" b="0">
                    <a:solidFill>
                      <a:srgbClr val="111827"/>
                    </a:solidFill>
                    <a:latin typeface="Arial"/>
                  </a:rPr>
                  <a:t> ✓ (option C).</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Total </a:t>
                </a:r>
                <a:r>
                  <a:rPr lang="en-IN" sz="2400">
                    <a:solidFill>
                      <a:srgbClr val="111827"/>
                    </a:solidFill>
                    <a:latin typeface="Cambria Math" panose="02040503050406030204" pitchFamily="18" charset="0"/>
                  </a:rPr>
                  <a:t>$=220\times84\times20=369{,}600$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$\dfrac{11!}{108}=\dfrac{39{,}916{,}800}{108}=369{,}600$</a:t>
                </a:r>
                <a:r>
                  <a:rPr sz="2400" b="0">
                    <a:solidFill>
                      <a:srgbClr val="111827"/>
                    </a:solidFill>
                    <a:latin typeface="Arial"/>
                  </a:rPr>
                  <a:t> ✓ (option C).</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11</m:t>
                        </m:r>
                        <m:r>
                          <m:rPr>
                            <m:sty m:val="p"/>
                          </m:rPr>
                          <a:rPr lang="en-IN" sz="2800">
                            <a:solidFill>
                              <a:srgbClr val="15803D"/>
                            </a:solidFill>
                            <a:latin typeface="Cambria Math" panose="02040503050406030204" pitchFamily="18" charset="0"/>
                          </a:rPr>
                          <m:t>!</m:t>
                        </m:r>
                      </m:num>
                      <m:den>
                        <m:r>
                          <a:rPr lang="en-IN" sz="2800" i="1">
                            <a:solidFill>
                              <a:srgbClr val="15803D"/>
                            </a:solidFill>
                            <a:latin typeface="Cambria Math" panose="02040503050406030204" pitchFamily="18" charset="0"/>
                          </a:rPr>
                          <m:t>108</m:t>
                        </m:r>
                      </m:den>
                    </m:f>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a:t>
                </a:r>
                <a:r>
                  <a:rPr lang="en-IN" sz="2800">
                    <a:solidFill>
                      <a:srgbClr val="15803D"/>
                    </a:solidFill>
                    <a:latin typeface="Cambria Math" panose="02040503050406030204" pitchFamily="18" charset="0"/>
                  </a:rPr>
                  <a:t>$\dfrac{11!}{108}$</a:t>
                </a:r>
                <a:endParaRPr sz="2800">
                  <a:solidFill>
                    <a:srgbClr val="15803D"/>
                  </a:solidFill>
                </a:endParaRPr>
              </a:p>
            </p:txBody>
          </p:sp>
        </mc:Fallback>
      </mc:AlternateContent>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3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some players must be in different groups and they equal the number of groups, they label the groups: remaining players are distributed as </a:t>
                </a:r>
                <a14:m>
                  <m:oMath xmlns:m="http://schemas.openxmlformats.org/officeDocument/2006/math">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m:rPr>
                            <m:nor/>
                          </m:rPr>
                          <a:rPr lang="en-IN" sz="2400" i="1">
                            <a:solidFill>
                              <a:srgbClr val="111827"/>
                            </a:solidFill>
                            <a:latin typeface="Cambria Math" panose="02040503050406030204" pitchFamily="18" charset="0"/>
                          </a:rPr>
                          <m:t>𝑟𝑒𝑠𝑡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num>
                      <m:den>
                        <m:r>
                          <m:rPr>
                            <m:sty m:val="p"/>
                          </m:rPr>
                          <a:rPr lang="en-IN" sz="2400">
                            <a:solidFill>
                              <a:srgbClr val="111827"/>
                            </a:solidFill>
                            <a:latin typeface="Cambria Math" panose="02040503050406030204" pitchFamily="18" charset="0"/>
                          </a:rPr>
                          <m:t>(</m:t>
                        </m:r>
                        <m:r>
                          <m:rPr>
                            <m:nor/>
                          </m:rPr>
                          <a:rPr lang="en-IN" sz="2400" i="1">
                            <a:solidFill>
                              <a:srgbClr val="111827"/>
                            </a:solidFill>
                            <a:latin typeface="Cambria Math" panose="02040503050406030204" pitchFamily="18" charset="0"/>
                          </a:rPr>
                          <m:t>𝑠𝑖𝑧𝑒</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𝑘</m:t>
                            </m:r>
                          </m:sup>
                        </m:sSup>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General form: </a:t>
                </a:r>
                <a14:m>
                  <m:oMath xmlns:m="http://schemas.openxmlformats.org/officeDocument/2006/math">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num>
                      <m:den>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𝑚</m:t>
                            </m:r>
                          </m:sup>
                        </m:sSup>
                      </m:den>
                    </m:f>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𝑚</m:t>
                    </m:r>
                  </m:oMath>
                </a14:m>
                <a:r>
                  <a:rPr sz="2400" b="0">
                    <a:solidFill>
                      <a:srgbClr val="111827"/>
                    </a:solidFill>
                    <a:latin typeface="Arial"/>
                  </a:rPr>
                  <a:t> groups of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here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4</m:t>
                            </m:r>
                          </m:sup>
                        </m:sSup>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on a small case: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players into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pairs with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oMath>
                </a14:m>
                <a:r>
                  <a:rPr sz="2400" b="0">
                    <a:solidFill>
                      <a:srgbClr val="111827"/>
                    </a:solidFill>
                    <a:latin typeface="Arial"/>
                  </a:rPr>
                  <a:t> separated: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some players must be in different groups and they equal the number of groups, they label the groups: remaining players are distributed as </a:t>
                </a:r>
                <a:r>
                  <a:rPr lang="en-IN" sz="2400">
                    <a:solidFill>
                      <a:srgbClr val="111827"/>
                    </a:solidFill>
                    <a:latin typeface="Cambria Math" panose="02040503050406030204" pitchFamily="18" charset="0"/>
                  </a:rPr>
                  <a:t>$\dfrac{(\text{rest})!}{(\text{size}-1)!^{\,k}}$</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General form: </a:t>
                </a:r>
                <a:r>
                  <a:rPr lang="en-IN" sz="2400">
                    <a:solidFill>
                      <a:srgbClr val="111827"/>
                    </a:solidFill>
                    <a:latin typeface="Cambria Math" panose="02040503050406030204" pitchFamily="18" charset="0"/>
                  </a:rPr>
                  <a:t>$\dfrac{(mn-m)!}{((n-1)!)^m}$</a:t>
                </a:r>
                <a:r>
                  <a:rPr sz="2400" b="0">
                    <a:solidFill>
                      <a:srgbClr val="111827"/>
                    </a:solidFill>
                    <a:latin typeface="Arial"/>
                  </a:rPr>
                  <a:t> for </a:t>
                </a:r>
                <a:r>
                  <a:rPr lang="en-IN" sz="2400">
                    <a:solidFill>
                      <a:srgbClr val="111827"/>
                    </a:solidFill>
                    <a:latin typeface="Cambria Math" panose="02040503050406030204" pitchFamily="18" charset="0"/>
                  </a:rPr>
                  <a:t>$m$</a:t>
                </a:r>
                <a:r>
                  <a:rPr sz="2400" b="0">
                    <a:solidFill>
                      <a:srgbClr val="111827"/>
                    </a:solidFill>
                    <a:latin typeface="Arial"/>
                  </a:rPr>
                  <a:t> groups of </a:t>
                </a:r>
                <a:r>
                  <a:rPr lang="en-IN" sz="2400">
                    <a:solidFill>
                      <a:srgbClr val="111827"/>
                    </a:solidFill>
                    <a:latin typeface="Cambria Math" panose="02040503050406030204" pitchFamily="18" charset="0"/>
                  </a:rPr>
                  <a:t>$n$</a:t>
                </a:r>
                <a:r>
                  <a:rPr sz="2400" b="0">
                    <a:solidFill>
                      <a:srgbClr val="111827"/>
                    </a:solidFill>
                    <a:latin typeface="Arial"/>
                  </a:rPr>
                  <a:t>; here </a:t>
                </a:r>
                <a:r>
                  <a:rPr lang="en-IN" sz="2400">
                    <a:solidFill>
                      <a:srgbClr val="111827"/>
                    </a:solidFill>
                    <a:latin typeface="Cambria Math" panose="02040503050406030204" pitchFamily="18" charset="0"/>
                  </a:rPr>
                  <a:t>$\dfrac{12!}{(3!)^4}=369{,}600$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on a small case: </a:t>
                </a:r>
                <a:r>
                  <a:rPr lang="en-IN" sz="2400">
                    <a:solidFill>
                      <a:srgbClr val="111827"/>
                    </a:solidFill>
                    <a:latin typeface="Cambria Math" panose="02040503050406030204" pitchFamily="18" charset="0"/>
                  </a:rPr>
                  <a:t>$4$</a:t>
                </a:r>
                <a:r>
                  <a:rPr sz="2400" b="0">
                    <a:solidFill>
                      <a:srgbClr val="111827"/>
                    </a:solidFill>
                    <a:latin typeface="Arial"/>
                  </a:rPr>
                  <a:t> players into </a:t>
                </a:r>
                <a:r>
                  <a:rPr lang="en-IN" sz="2400">
                    <a:solidFill>
                      <a:srgbClr val="111827"/>
                    </a:solidFill>
                    <a:latin typeface="Cambria Math" panose="02040503050406030204" pitchFamily="18" charset="0"/>
                  </a:rPr>
                  <a:t>$2$</a:t>
                </a:r>
                <a:r>
                  <a:rPr sz="2400" b="0">
                    <a:solidFill>
                      <a:srgbClr val="111827"/>
                    </a:solidFill>
                    <a:latin typeface="Arial"/>
                  </a:rPr>
                  <a:t> pairs with </a:t>
                </a:r>
                <a:r>
                  <a:rPr lang="en-IN" sz="2400">
                    <a:solidFill>
                      <a:srgbClr val="111827"/>
                    </a:solidFill>
                    <a:latin typeface="Cambria Math" panose="02040503050406030204" pitchFamily="18" charset="0"/>
                  </a:rPr>
                  <a:t>$A,B$</a:t>
                </a:r>
                <a:r>
                  <a:rPr sz="2400" b="0">
                    <a:solidFill>
                      <a:srgbClr val="111827"/>
                    </a:solidFill>
                    <a:latin typeface="Arial"/>
                  </a:rPr>
                  <a:t> separated: </a:t>
                </a:r>
                <a:r>
                  <a:rPr lang="en-IN" sz="2400">
                    <a:solidFill>
                      <a:srgbClr val="111827"/>
                    </a:solidFill>
                    <a:latin typeface="Cambria Math" panose="02040503050406030204" pitchFamily="18" charset="0"/>
                  </a:rPr>
                  <a:t>$\dfrac{2!}{(1!)^2}=2$</a:t>
                </a:r>
                <a:r>
                  <a:rPr sz="2400" b="0">
                    <a:solidFill>
                      <a:srgbClr val="111827"/>
                    </a:solidFill>
                    <a:latin typeface="Arial"/>
                  </a:rPr>
                  <a:t> ✓ (</a:t>
                </a:r>
                <a:r>
                  <a:rPr lang="en-IN" sz="2400">
                    <a:solidFill>
                      <a:srgbClr val="111827"/>
                    </a:solidFill>
                    <a:latin typeface="Cambria Math" panose="02040503050406030204" pitchFamily="18" charset="0"/>
                  </a:rPr>
                  <a:t>$\{A,C\},\{B,D\}$</a:t>
                </a:r>
                <a:r>
                  <a:rPr sz="2400" b="0">
                    <a:solidFill>
                      <a:srgbClr val="111827"/>
                    </a:solidFill>
                    <a:latin typeface="Arial"/>
                  </a:rPr>
                  <a:t> and </a:t>
                </a:r>
                <a:r>
                  <a:rPr lang="en-IN" sz="2400">
                    <a:solidFill>
                      <a:srgbClr val="111827"/>
                    </a:solidFill>
                    <a:latin typeface="Cambria Math" panose="02040503050406030204" pitchFamily="18" charset="0"/>
                  </a:rPr>
                  <a:t>$\{A,D\},\{B,C\}$</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4475988"/>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Paragraph: </a:t>
                </a:r>
                <a14:m>
                  <m:oMath xmlns:m="http://schemas.openxmlformats.org/officeDocument/2006/math">
                    <m:r>
                      <a:rPr lang="en-IN" sz="2400" i="1">
                        <a:solidFill>
                          <a:srgbClr val="111827"/>
                        </a:solidFill>
                        <a:latin typeface="Cambria Math" panose="02040503050406030204" pitchFamily="18" charset="0"/>
                      </a:rPr>
                      <m:t>16</m:t>
                    </m:r>
                  </m:oMath>
                </a14:m>
                <a:r>
                  <a:rPr sz="2400" b="0">
                    <a:solidFill>
                      <a:srgbClr val="111827"/>
                    </a:solidFill>
                    <a:latin typeface="Arial"/>
                  </a:rPr>
                  <a:t> players </a:t>
                </a:r>
                <a14:m>
                  <m:oMath xmlns:m="http://schemas.openxmlformats.org/officeDocument/2006/math">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16</m:t>
                        </m:r>
                      </m:sub>
                    </m:sSub>
                  </m:oMath>
                </a14:m>
                <a:r>
                  <a:rPr sz="2400" b="0">
                    <a:solidFill>
                      <a:srgbClr val="111827"/>
                    </a:solidFill>
                    <a:latin typeface="Arial"/>
                  </a:rPr>
                  <a:t> take part in a tennis tournament. A lower suffix player is better than any higher suffix player (</a:t>
                </a:r>
                <a14:m>
                  <m:oMath xmlns:m="http://schemas.openxmlformats.org/officeDocument/2006/math">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𝑖</m:t>
                        </m:r>
                      </m:sub>
                    </m:sSub>
                  </m:oMath>
                </a14:m>
                <a:r>
                  <a:rPr sz="2400" b="0">
                    <a:solidFill>
                      <a:srgbClr val="111827"/>
                    </a:solidFill>
                    <a:latin typeface="Arial"/>
                  </a:rPr>
                  <a:t> is better than </a:t>
                </a:r>
                <a14:m>
                  <m:oMath xmlns:m="http://schemas.openxmlformats.org/officeDocument/2006/math">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𝑗</m:t>
                        </m:r>
                      </m:sub>
                    </m:sSub>
                  </m:oMath>
                </a14:m>
                <a:r>
                  <a:rPr sz="2400" b="0">
                    <a:solidFill>
                      <a:srgbClr val="111827"/>
                    </a:solidFill>
                    <a:latin typeface="Arial"/>
                  </a:rPr>
                  <a:t> if </a:t>
                </a:r>
                <a14:m>
                  <m:oMath xmlns:m="http://schemas.openxmlformats.org/officeDocument/2006/math">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𝑗</m:t>
                    </m:r>
                  </m:oMath>
                </a14:m>
                <a:r>
                  <a:rPr sz="2400" b="0">
                    <a:solidFill>
                      <a:srgbClr val="111827"/>
                    </a:solidFill>
                    <a:latin typeface="Arial"/>
                  </a:rPr>
                  <a:t>). The players are to be divided into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groups, each comprising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players, and the best from each group is selected for the semifinals.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The number of ways in which these </a:t>
                </a:r>
                <a14:m>
                  <m:oMath xmlns:m="http://schemas.openxmlformats.org/officeDocument/2006/math">
                    <m:r>
                      <a:rPr lang="en-IN" sz="2400" i="1">
                        <a:solidFill>
                          <a:srgbClr val="111827"/>
                        </a:solidFill>
                        <a:latin typeface="Cambria Math" panose="02040503050406030204" pitchFamily="18" charset="0"/>
                      </a:rPr>
                      <m:t>16</m:t>
                    </m:r>
                  </m:oMath>
                </a14:m>
                <a:r>
                  <a:rPr sz="2400" b="0">
                    <a:solidFill>
                      <a:srgbClr val="111827"/>
                    </a:solidFill>
                    <a:latin typeface="Arial"/>
                  </a:rPr>
                  <a:t> players can be divided into four equal groups, such that when the best player is selected from each group, </a:t>
                </a:r>
                <a14:m>
                  <m:oMath xmlns:m="http://schemas.openxmlformats.org/officeDocument/2006/math">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6</m:t>
                        </m:r>
                      </m:sub>
                    </m:sSub>
                  </m:oMath>
                </a14:m>
                <a:r>
                  <a:rPr sz="2400" b="0">
                    <a:solidFill>
                      <a:srgbClr val="111827"/>
                    </a:solidFill>
                    <a:latin typeface="Arial"/>
                  </a:rPr>
                  <a:t> is one among them, is </a:t>
                </a:r>
                <a14:m>
                  <m:oMath xmlns:m="http://schemas.openxmlformats.org/officeDocument/2006/math">
                    <m:r>
                      <a:rPr lang="en-IN" sz="2400" i="1">
                        <a:solidFill>
                          <a:srgbClr val="111827"/>
                        </a:solidFill>
                        <a:latin typeface="Cambria Math" panose="02040503050406030204" pitchFamily="18" charset="0"/>
                      </a:rPr>
                      <m:t>𝑘</m:t>
                    </m:r>
                    <m:r>
                      <a:rPr lang="en-IN" sz="2400" i="1">
                        <a:solidFill>
                          <a:srgbClr val="111827"/>
                        </a:solidFill>
                        <a:latin typeface="Cambria Math" panose="02040503050406030204" pitchFamily="18" charset="0"/>
                      </a:rPr>
                      <m:t> </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m:t>
                            </m:r>
                          </m:sup>
                        </m:sSup>
                      </m:den>
                    </m:f>
                  </m:oMath>
                </a14:m>
                <a:r>
                  <a:rPr sz="2400" b="0">
                    <a:solidFill>
                      <a:srgbClr val="111827"/>
                    </a:solidFill>
                    <a:latin typeface="Arial"/>
                  </a:rPr>
                  <a:t>. The value of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36</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24</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18</m:t>
                    </m:r>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20</m:t>
                    </m:r>
                  </m:oMath>
                </a14:m>
                <a:endParaRPr sz="2400">
                  <a:solidFill>
                    <a:srgbClr val="111827"/>
                  </a:solidFill>
                </a:endParaRPr>
              </a:p>
            </p:txBody>
          </p:sp>
        </mc:Choice>
        <mc:Fallback>
          <p:sp>
            <p:nvSpPr>
              <p:cNvPr id="4" name="Rounded Rectangle 3"/>
              <p:cNvSpPr/>
              <p:nvPr/>
            </p:nvSpPr>
            <p:spPr>
              <a:xfrm>
                <a:off x="731520" y="1280160"/>
                <a:ext cx="10725912" cy="4475988"/>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Paragraph: </a:t>
                </a:r>
                <a:r>
                  <a:rPr lang="en-IN" sz="2400">
                    <a:solidFill>
                      <a:srgbClr val="111827"/>
                    </a:solidFill>
                    <a:latin typeface="Cambria Math" panose="02040503050406030204" pitchFamily="18" charset="0"/>
                  </a:rPr>
                  <a:t>$16$</a:t>
                </a:r>
                <a:r>
                  <a:rPr sz="2400" b="0">
                    <a:solidFill>
                      <a:srgbClr val="111827"/>
                    </a:solidFill>
                    <a:latin typeface="Arial"/>
                  </a:rPr>
                  <a:t> players </a:t>
                </a:r>
                <a:r>
                  <a:rPr lang="en-IN" sz="2400">
                    <a:solidFill>
                      <a:srgbClr val="111827"/>
                    </a:solidFill>
                    <a:latin typeface="Cambria Math" panose="02040503050406030204" pitchFamily="18" charset="0"/>
                  </a:rPr>
                  <a:t>$P_1,P_2,P_3,\dots,P_{16}$</a:t>
                </a:r>
                <a:r>
                  <a:rPr sz="2400" b="0">
                    <a:solidFill>
                      <a:srgbClr val="111827"/>
                    </a:solidFill>
                    <a:latin typeface="Arial"/>
                  </a:rPr>
                  <a:t> take part in a tennis tournament. A lower suffix player is better than any higher suffix player (</a:t>
                </a:r>
                <a:r>
                  <a:rPr lang="en-IN" sz="2400">
                    <a:solidFill>
                      <a:srgbClr val="111827"/>
                    </a:solidFill>
                    <a:latin typeface="Cambria Math" panose="02040503050406030204" pitchFamily="18" charset="0"/>
                  </a:rPr>
                  <a:t>$P_i$</a:t>
                </a:r>
                <a:r>
                  <a:rPr sz="2400" b="0">
                    <a:solidFill>
                      <a:srgbClr val="111827"/>
                    </a:solidFill>
                    <a:latin typeface="Arial"/>
                  </a:rPr>
                  <a:t> is better than </a:t>
                </a:r>
                <a:r>
                  <a:rPr lang="en-IN" sz="2400">
                    <a:solidFill>
                      <a:srgbClr val="111827"/>
                    </a:solidFill>
                    <a:latin typeface="Cambria Math" panose="02040503050406030204" pitchFamily="18" charset="0"/>
                  </a:rPr>
                  <a:t>$P_j$</a:t>
                </a:r>
                <a:r>
                  <a:rPr sz="2400" b="0">
                    <a:solidFill>
                      <a:srgbClr val="111827"/>
                    </a:solidFill>
                    <a:latin typeface="Arial"/>
                  </a:rPr>
                  <a:t> if </a:t>
                </a:r>
                <a:r>
                  <a:rPr lang="en-IN" sz="2400">
                    <a:solidFill>
                      <a:srgbClr val="111827"/>
                    </a:solidFill>
                    <a:latin typeface="Cambria Math" panose="02040503050406030204" pitchFamily="18" charset="0"/>
                  </a:rPr>
                  <a:t>$i&lt;j$</a:t>
                </a:r>
                <a:r>
                  <a:rPr sz="2400" b="0">
                    <a:solidFill>
                      <a:srgbClr val="111827"/>
                    </a:solidFill>
                    <a:latin typeface="Arial"/>
                  </a:rPr>
                  <a:t>). The players are to be divided into </a:t>
                </a:r>
                <a:r>
                  <a:rPr lang="en-IN" sz="2400">
                    <a:solidFill>
                      <a:srgbClr val="111827"/>
                    </a:solidFill>
                    <a:latin typeface="Cambria Math" panose="02040503050406030204" pitchFamily="18" charset="0"/>
                  </a:rPr>
                  <a:t>$4$</a:t>
                </a:r>
                <a:r>
                  <a:rPr sz="2400" b="0">
                    <a:solidFill>
                      <a:srgbClr val="111827"/>
                    </a:solidFill>
                    <a:latin typeface="Arial"/>
                  </a:rPr>
                  <a:t> groups, each comprising </a:t>
                </a:r>
                <a:r>
                  <a:rPr lang="en-IN" sz="2400">
                    <a:solidFill>
                      <a:srgbClr val="111827"/>
                    </a:solidFill>
                    <a:latin typeface="Cambria Math" panose="02040503050406030204" pitchFamily="18" charset="0"/>
                  </a:rPr>
                  <a:t>$4$</a:t>
                </a:r>
                <a:r>
                  <a:rPr sz="2400" b="0">
                    <a:solidFill>
                      <a:srgbClr val="111827"/>
                    </a:solidFill>
                    <a:latin typeface="Arial"/>
                  </a:rPr>
                  <a:t> players, and the best from each group is selected for the semifinals.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The number of ways in which these </a:t>
                </a:r>
                <a:r>
                  <a:rPr lang="en-IN" sz="2400">
                    <a:solidFill>
                      <a:srgbClr val="111827"/>
                    </a:solidFill>
                    <a:latin typeface="Cambria Math" panose="02040503050406030204" pitchFamily="18" charset="0"/>
                  </a:rPr>
                  <a:t>$16$</a:t>
                </a:r>
                <a:r>
                  <a:rPr sz="2400" b="0">
                    <a:solidFill>
                      <a:srgbClr val="111827"/>
                    </a:solidFill>
                    <a:latin typeface="Arial"/>
                  </a:rPr>
                  <a:t> players can be divided into four equal groups, such that when the best player is selected from each group, </a:t>
                </a:r>
                <a:r>
                  <a:rPr lang="en-IN" sz="2400">
                    <a:solidFill>
                      <a:srgbClr val="111827"/>
                    </a:solidFill>
                    <a:latin typeface="Cambria Math" panose="02040503050406030204" pitchFamily="18" charset="0"/>
                  </a:rPr>
                  <a:t>$P_6$</a:t>
                </a:r>
                <a:r>
                  <a:rPr sz="2400" b="0">
                    <a:solidFill>
                      <a:srgbClr val="111827"/>
                    </a:solidFill>
                    <a:latin typeface="Arial"/>
                  </a:rPr>
                  <a:t> is one among them, is </a:t>
                </a:r>
                <a:r>
                  <a:rPr lang="en-IN" sz="2400">
                    <a:solidFill>
                      <a:srgbClr val="111827"/>
                    </a:solidFill>
                    <a:latin typeface="Cambria Math" panose="02040503050406030204" pitchFamily="18" charset="0"/>
                  </a:rPr>
                  <a:t>$k\,\dfrac{12!}{(4!)^3}$</a:t>
                </a:r>
                <a:r>
                  <a:rPr sz="2400" b="0">
                    <a:solidFill>
                      <a:srgbClr val="111827"/>
                    </a:solidFill>
                    <a:latin typeface="Arial"/>
                  </a:rPr>
                  <a:t>. The value of </a:t>
                </a:r>
                <a:r>
                  <a:rPr lang="en-IN" sz="2400">
                    <a:solidFill>
                      <a:srgbClr val="111827"/>
                    </a:solidFill>
                    <a:latin typeface="Cambria Math" panose="02040503050406030204" pitchFamily="18" charset="0"/>
                  </a:rPr>
                  <a:t>$k$</a:t>
                </a:r>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$36$</a:t>
                </a:r>
                <a:r>
                  <a:rPr sz="2400" b="0">
                    <a:solidFill>
                      <a:srgbClr val="111827"/>
                    </a:solidFill>
                    <a:latin typeface="Arial"/>
                  </a:rPr>
                  <a:t>   (B) </a:t>
                </a:r>
                <a:r>
                  <a:rPr lang="en-IN" sz="2400">
                    <a:solidFill>
                      <a:srgbClr val="111827"/>
                    </a:solidFill>
                    <a:latin typeface="Cambria Math" panose="02040503050406030204" pitchFamily="18" charset="0"/>
                  </a:rPr>
                  <a:t>$24$</a:t>
                </a:r>
                <a:r>
                  <a:rPr sz="2400" b="0">
                    <a:solidFill>
                      <a:srgbClr val="111827"/>
                    </a:solidFill>
                    <a:latin typeface="Arial"/>
                  </a:rPr>
                  <a:t>   (C) </a:t>
                </a:r>
                <a:r>
                  <a:rPr lang="en-IN" sz="2400">
                    <a:solidFill>
                      <a:srgbClr val="111827"/>
                    </a:solidFill>
                    <a:latin typeface="Cambria Math" panose="02040503050406030204" pitchFamily="18" charset="0"/>
                  </a:rPr>
                  <a:t>$18$</a:t>
                </a:r>
                <a:r>
                  <a:rPr sz="2400" b="0">
                    <a:solidFill>
                      <a:srgbClr val="111827"/>
                    </a:solidFill>
                    <a:latin typeface="Arial"/>
                  </a:rPr>
                  <a:t>   (D) </a:t>
                </a:r>
                <a:r>
                  <a:rPr lang="en-IN" sz="2400">
                    <a:solidFill>
                      <a:srgbClr val="111827"/>
                    </a:solidFill>
                    <a:latin typeface="Cambria Math" panose="02040503050406030204" pitchFamily="18" charset="0"/>
                  </a:rPr>
                  <a:t>$20$</a:t>
                </a:r>
                <a:endParaRPr sz="2400">
                  <a:solidFill>
                    <a:srgbClr val="111827"/>
                  </a:solidFill>
                </a:endParaRPr>
              </a:p>
            </p:txBody>
          </p:sp>
        </mc:Fallback>
      </mc:AlternateContent>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3 Marks</a:t>
            </a:r>
            <a:endParaRPr sz="2400">
              <a:solidFill>
                <a:srgbClr val="111827"/>
              </a:solidFill>
            </a:endParaRPr>
          </a:p>
        </p:txBody>
      </p:sp>
      <p:sp>
        <p:nvSpPr>
          <p:cNvPr id="4" name="Rectangle 3"/>
          <p:cNvSpPr/>
          <p:nvPr/>
        </p:nvSpPr>
        <p:spPr>
          <a:xfrm>
            <a:off x="731520" y="128016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Paragraph Based Single Correct Type(3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Division into equal groups with a condition on the best player of a group</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3438144"/>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sSub>
                      <m:e>
                        <m:r>
                          <a:rPr lang="en-IN" sz="2400" i="1">
                            <a:solidFill>
                              <a:srgbClr val="78350F"/>
                            </a:solidFill>
                            <a:latin typeface="Cambria Math" panose="02040503050406030204" pitchFamily="18" charset="0"/>
                          </a:rPr>
                          <m:t>𝑃</m:t>
                        </m:r>
                      </m:e>
                      <m:sub>
                        <m:r>
                          <a:rPr lang="en-IN" sz="2400" i="1">
                            <a:solidFill>
                              <a:srgbClr val="78350F"/>
                            </a:solidFill>
                            <a:latin typeface="Cambria Math" panose="02040503050406030204" pitchFamily="18" charset="0"/>
                          </a:rPr>
                          <m:t>6</m:t>
                        </m:r>
                      </m:sub>
                    </m:sSub>
                  </m:oMath>
                </a14:m>
                <a:r>
                  <a:rPr sz="2400" b="0">
                    <a:solidFill>
                      <a:srgbClr val="78350F"/>
                    </a:solidFill>
                    <a:latin typeface="Arial"/>
                  </a:rPr>
                  <a:t> is the best of its group iff none of </a:t>
                </a:r>
                <a14:m>
                  <m:oMath xmlns:m="http://schemas.openxmlformats.org/officeDocument/2006/math">
                    <m:sSub>
                      <m:e>
                        <m:r>
                          <a:rPr lang="en-IN" sz="2400" i="1">
                            <a:solidFill>
                              <a:srgbClr val="78350F"/>
                            </a:solidFill>
                            <a:latin typeface="Cambria Math" panose="02040503050406030204" pitchFamily="18" charset="0"/>
                          </a:rPr>
                          <m:t>𝑃</m:t>
                        </m:r>
                      </m:e>
                      <m:sub>
                        <m:r>
                          <a:rPr lang="en-IN" sz="2400" i="1">
                            <a:solidFill>
                              <a:srgbClr val="78350F"/>
                            </a:solidFill>
                            <a:latin typeface="Cambria Math" panose="02040503050406030204" pitchFamily="18" charset="0"/>
                          </a:rPr>
                          <m:t>1</m:t>
                        </m:r>
                      </m:sub>
                    </m:sSub>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𝑃</m:t>
                        </m:r>
                      </m:e>
                      <m:sub>
                        <m:r>
                          <a:rPr lang="en-IN" sz="2400" i="1">
                            <a:solidFill>
                              <a:srgbClr val="78350F"/>
                            </a:solidFill>
                            <a:latin typeface="Cambria Math" panose="02040503050406030204" pitchFamily="18" charset="0"/>
                          </a:rPr>
                          <m:t>5</m:t>
                        </m:r>
                      </m:sub>
                    </m:sSub>
                  </m:oMath>
                </a14:m>
                <a:r>
                  <a:rPr sz="2400" b="0">
                    <a:solidFill>
                      <a:srgbClr val="78350F"/>
                    </a:solidFill>
                    <a:latin typeface="Arial"/>
                  </a:rPr>
                  <a:t> is in that group, so its three partners come from </a:t>
                </a:r>
                <a14:m>
                  <m:oMath xmlns:m="http://schemas.openxmlformats.org/officeDocument/2006/math">
                    <m:sSub>
                      <m:e>
                        <m:r>
                          <a:rPr lang="en-IN" sz="2400" i="1">
                            <a:solidFill>
                              <a:srgbClr val="78350F"/>
                            </a:solidFill>
                            <a:latin typeface="Cambria Math" panose="02040503050406030204" pitchFamily="18" charset="0"/>
                          </a:rPr>
                          <m:t>𝑃</m:t>
                        </m:r>
                      </m:e>
                      <m:sub>
                        <m:r>
                          <a:rPr lang="en-IN" sz="2400" i="1">
                            <a:solidFill>
                              <a:srgbClr val="78350F"/>
                            </a:solidFill>
                            <a:latin typeface="Cambria Math" panose="02040503050406030204" pitchFamily="18" charset="0"/>
                          </a:rPr>
                          <m:t>7</m:t>
                        </m:r>
                      </m:sub>
                    </m:sSub>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𝑃</m:t>
                        </m:r>
                      </m:e>
                      <m:sub>
                        <m:r>
                          <a:rPr lang="en-IN" sz="2400" i="1">
                            <a:solidFill>
                              <a:srgbClr val="78350F"/>
                            </a:solidFill>
                            <a:latin typeface="Cambria Math" panose="02040503050406030204" pitchFamily="18" charset="0"/>
                          </a:rPr>
                          <m:t>16</m:t>
                        </m:r>
                      </m:sub>
                    </m:sSub>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3438144"/>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$P_6$</a:t>
                </a:r>
                <a:r>
                  <a:rPr sz="2400" b="0">
                    <a:solidFill>
                      <a:srgbClr val="78350F"/>
                    </a:solidFill>
                    <a:latin typeface="Arial"/>
                  </a:rPr>
                  <a:t> is the best of its group iff none of </a:t>
                </a:r>
                <a:r>
                  <a:rPr lang="en-IN" sz="2400">
                    <a:solidFill>
                      <a:srgbClr val="78350F"/>
                    </a:solidFill>
                    <a:latin typeface="Cambria Math" panose="02040503050406030204" pitchFamily="18" charset="0"/>
                  </a:rPr>
                  <a:t>$P_1,\dots,P_5$</a:t>
                </a:r>
                <a:r>
                  <a:rPr sz="2400" b="0">
                    <a:solidFill>
                      <a:srgbClr val="78350F"/>
                    </a:solidFill>
                    <a:latin typeface="Arial"/>
                  </a:rPr>
                  <a:t> is in that group, so its three partners come from </a:t>
                </a:r>
                <a:r>
                  <a:rPr lang="en-IN" sz="2400">
                    <a:solidFill>
                      <a:srgbClr val="78350F"/>
                    </a:solidFill>
                    <a:latin typeface="Cambria Math" panose="02040503050406030204" pitchFamily="18" charset="0"/>
                  </a:rPr>
                  <a:t>$P_7,\dots,P_{16}$</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4684776"/>
                <a:ext cx="10725912" cy="199034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6</m:t>
                        </m:r>
                      </m:sub>
                    </m:sSub>
                  </m:oMath>
                </a14:m>
                <a:r>
                  <a:rPr sz="2400" b="0">
                    <a:solidFill>
                      <a:srgbClr val="111827"/>
                    </a:solidFill>
                    <a:latin typeface="Arial"/>
                  </a:rPr>
                  <a:t> is the best of its group exactly when its three group-mates are chosen from the worse players </a:t>
                </a:r>
                <a14:m>
                  <m:oMath xmlns:m="http://schemas.openxmlformats.org/officeDocument/2006/math">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7</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16</m:t>
                        </m:r>
                      </m:sub>
                    </m:sSub>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10</m:t>
                    </m:r>
                  </m:oMath>
                </a14:m>
                <a:r>
                  <a:rPr sz="2400" b="0">
                    <a:solidFill>
                      <a:srgbClr val="111827"/>
                    </a:solidFill>
                    <a:latin typeface="Arial"/>
                  </a:rPr>
                  <a:t> players).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Choose the three partners of </a:t>
                </a:r>
                <a14:m>
                  <m:oMath xmlns:m="http://schemas.openxmlformats.org/officeDocument/2006/math">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6</m:t>
                        </m:r>
                      </m:sub>
                    </m:sSub>
                  </m:oMath>
                </a14:m>
                <a:r>
                  <a:rPr sz="2400" b="0">
                    <a:solidFill>
                      <a:srgbClr val="111827"/>
                    </a:solidFill>
                    <a:latin typeface="Arial"/>
                  </a:rPr>
                  <a:t>: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num>
                          <m:den>
                            <m:r>
                              <a:rPr lang="en-IN" sz="2400" i="1">
                                <a:solidFill>
                                  <a:srgbClr val="111827"/>
                                </a:solidFill>
                                <a:latin typeface="Cambria Math" panose="02040503050406030204" pitchFamily="18" charset="0"/>
                              </a:rPr>
                              <m:t>3</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120</m:t>
                    </m:r>
                  </m:oMath>
                </a14:m>
                <a:r>
                  <a:rPr sz="2400" b="0">
                    <a:solidFill>
                      <a:srgbClr val="111827"/>
                    </a:solidFill>
                    <a:latin typeface="Arial"/>
                  </a:rPr>
                  <a:t> ways.</a:t>
                </a:r>
                <a:endParaRPr sz="2400">
                  <a:solidFill>
                    <a:srgbClr val="111827"/>
                  </a:solidFill>
                </a:endParaRPr>
              </a:p>
            </p:txBody>
          </p:sp>
        </mc:Choice>
        <mc:Fallback>
          <p:sp>
            <p:nvSpPr>
              <p:cNvPr id="6" name="Rectangle 5"/>
              <p:cNvSpPr/>
              <p:nvPr/>
            </p:nvSpPr>
            <p:spPr>
              <a:xfrm>
                <a:off x="731520" y="4684776"/>
                <a:ext cx="10725912" cy="199034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$P_6$</a:t>
                </a:r>
                <a:r>
                  <a:rPr sz="2400" b="0">
                    <a:solidFill>
                      <a:srgbClr val="111827"/>
                    </a:solidFill>
                    <a:latin typeface="Arial"/>
                  </a:rPr>
                  <a:t> is the best of its group exactly when its three group-mates are chosen from the worse players </a:t>
                </a:r>
                <a:r>
                  <a:rPr lang="en-IN" sz="2400">
                    <a:solidFill>
                      <a:srgbClr val="111827"/>
                    </a:solidFill>
                    <a:latin typeface="Cambria Math" panose="02040503050406030204" pitchFamily="18" charset="0"/>
                  </a:rPr>
                  <a:t>$P_7,\dots,P_{16}$</a:t>
                </a:r>
                <a:r>
                  <a:rPr sz="2400" b="0">
                    <a:solidFill>
                      <a:srgbClr val="111827"/>
                    </a:solidFill>
                    <a:latin typeface="Arial"/>
                  </a:rPr>
                  <a:t> (</a:t>
                </a:r>
                <a:r>
                  <a:rPr lang="en-IN" sz="2400">
                    <a:solidFill>
                      <a:srgbClr val="111827"/>
                    </a:solidFill>
                    <a:latin typeface="Cambria Math" panose="02040503050406030204" pitchFamily="18" charset="0"/>
                  </a:rPr>
                  <a:t>$10$</a:t>
                </a:r>
                <a:r>
                  <a:rPr sz="2400" b="0">
                    <a:solidFill>
                      <a:srgbClr val="111827"/>
                    </a:solidFill>
                    <a:latin typeface="Arial"/>
                  </a:rPr>
                  <a:t> players).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Choose the three partners of </a:t>
                </a:r>
                <a:r>
                  <a:rPr lang="en-IN" sz="2400">
                    <a:solidFill>
                      <a:srgbClr val="111827"/>
                    </a:solidFill>
                    <a:latin typeface="Cambria Math" panose="02040503050406030204" pitchFamily="18" charset="0"/>
                  </a:rPr>
                  <a:t>$P_6$</a:t>
                </a:r>
                <a:r>
                  <a:rPr sz="2400" b="0">
                    <a:solidFill>
                      <a:srgbClr val="111827"/>
                    </a:solidFill>
                    <a:latin typeface="Arial"/>
                  </a:rPr>
                  <a:t>: </a:t>
                </a:r>
                <a:r>
                  <a:rPr lang="en-IN" sz="2400">
                    <a:solidFill>
                      <a:srgbClr val="111827"/>
                    </a:solidFill>
                    <a:latin typeface="Cambria Math" panose="02040503050406030204" pitchFamily="18" charset="0"/>
                  </a:rPr>
                  <a:t>$\binom{10}{3}=120$</a:t>
                </a:r>
                <a:r>
                  <a:rPr sz="2400" b="0">
                    <a:solidFill>
                      <a:srgbClr val="111827"/>
                    </a:solidFill>
                    <a:latin typeface="Arial"/>
                  </a:rPr>
                  <a:t> ways.</a:t>
                </a:r>
                <a:endParaRPr sz="2400">
                  <a:solidFill>
                    <a:srgbClr val="111827"/>
                  </a:solidFill>
                </a:endParaRPr>
              </a:p>
            </p:txBody>
          </p:sp>
        </mc:Fallback>
      </mc:AlternateContent>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remaining </a:t>
                </a:r>
                <a14:m>
                  <m:oMath xmlns:m="http://schemas.openxmlformats.org/officeDocument/2006/math">
                    <m:r>
                      <a:rPr lang="en-IN" sz="2400" i="1">
                        <a:solidFill>
                          <a:srgbClr val="111827"/>
                        </a:solidFill>
                        <a:latin typeface="Cambria Math" panose="02040503050406030204" pitchFamily="18" charset="0"/>
                      </a:rPr>
                      <m:t>12</m:t>
                    </m:r>
                  </m:oMath>
                </a14:m>
                <a:r>
                  <a:rPr sz="2400" b="0">
                    <a:solidFill>
                      <a:srgbClr val="111827"/>
                    </a:solidFill>
                    <a:latin typeface="Arial"/>
                  </a:rPr>
                  <a:t> players (including </a:t>
                </a:r>
                <a14:m>
                  <m:oMath xmlns:m="http://schemas.openxmlformats.org/officeDocument/2006/math">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5</m:t>
                        </m:r>
                      </m:sub>
                    </m:sSub>
                  </m:oMath>
                </a14:m>
                <a:r>
                  <a:rPr sz="2400" b="0">
                    <a:solidFill>
                      <a:srgbClr val="111827"/>
                    </a:solidFill>
                    <a:latin typeface="Arial"/>
                  </a:rPr>
                  <a:t>) form three equal groups: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m:t>
                            </m:r>
                          </m:sup>
                        </m:sSup>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 ways.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120</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m:t>
                            </m:r>
                          </m:sup>
                        </m:sSup>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120</m:t>
                        </m:r>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m:t>
                            </m:r>
                          </m:sup>
                        </m:sSup>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m:t>
                            </m:r>
                          </m:sup>
                        </m:sSup>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oMath>
                </a14:m>
                <a:r>
                  <a:rPr sz="2400" b="0">
                    <a:solidFill>
                      <a:srgbClr val="111827"/>
                    </a:solidFill>
                    <a:latin typeface="Arial"/>
                  </a:rPr>
                  <a:t>, option (D).</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remaining </a:t>
                </a:r>
                <a:r>
                  <a:rPr lang="en-IN" sz="2400">
                    <a:solidFill>
                      <a:srgbClr val="111827"/>
                    </a:solidFill>
                    <a:latin typeface="Cambria Math" panose="02040503050406030204" pitchFamily="18" charset="0"/>
                  </a:rPr>
                  <a:t>$12$</a:t>
                </a:r>
                <a:r>
                  <a:rPr sz="2400" b="0">
                    <a:solidFill>
                      <a:srgbClr val="111827"/>
                    </a:solidFill>
                    <a:latin typeface="Arial"/>
                  </a:rPr>
                  <a:t> players (including </a:t>
                </a:r>
                <a:r>
                  <a:rPr lang="en-IN" sz="2400">
                    <a:solidFill>
                      <a:srgbClr val="111827"/>
                    </a:solidFill>
                    <a:latin typeface="Cambria Math" panose="02040503050406030204" pitchFamily="18" charset="0"/>
                  </a:rPr>
                  <a:t>$P_1,\dots,P_5$</a:t>
                </a:r>
                <a:r>
                  <a:rPr sz="2400" b="0">
                    <a:solidFill>
                      <a:srgbClr val="111827"/>
                    </a:solidFill>
                    <a:latin typeface="Arial"/>
                  </a:rPr>
                  <a:t>) form three equal groups: </a:t>
                </a:r>
                <a:r>
                  <a:rPr lang="en-IN" sz="2400">
                    <a:solidFill>
                      <a:srgbClr val="111827"/>
                    </a:solidFill>
                    <a:latin typeface="Cambria Math" panose="02040503050406030204" pitchFamily="18" charset="0"/>
                  </a:rPr>
                  <a:t>$\dfrac{12!}{(4!)^3\,3!}$</a:t>
                </a:r>
                <a:r>
                  <a:rPr sz="2400" b="0">
                    <a:solidFill>
                      <a:srgbClr val="111827"/>
                    </a:solidFill>
                    <a:latin typeface="Arial"/>
                  </a:rPr>
                  <a:t> ways.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r>
                  <a:rPr lang="en-IN" sz="2400">
                    <a:solidFill>
                      <a:srgbClr val="111827"/>
                    </a:solidFill>
                    <a:latin typeface="Cambria Math" panose="02040503050406030204" pitchFamily="18" charset="0"/>
                  </a:rPr>
                  <a:t>$=120\times\dfrac{12!}{(4!)^3\,3!}=\dfrac{120}{6}\cdot\dfrac{12!}{(4!)^3}=20\cdot\dfrac{12!}{(4!)^3}$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$k=20$</a:t>
                </a:r>
                <a:r>
                  <a:rPr sz="2400" b="0">
                    <a:solidFill>
                      <a:srgbClr val="111827"/>
                    </a:solidFill>
                    <a:latin typeface="Arial"/>
                  </a:rPr>
                  <a:t>, option (D).</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a:t>
                </a:r>
                <a14:m>
                  <m:oMath xmlns:m="http://schemas.openxmlformats.org/officeDocument/2006/math">
                    <m:r>
                      <a:rPr lang="en-IN" sz="2800" i="1">
                        <a:solidFill>
                          <a:srgbClr val="15803D"/>
                        </a:solidFill>
                        <a:latin typeface="Cambria Math" panose="02040503050406030204" pitchFamily="18" charset="0"/>
                      </a:rPr>
                      <m:t>20</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a:t>
                </a:r>
                <a:r>
                  <a:rPr lang="en-IN" sz="2800">
                    <a:solidFill>
                      <a:srgbClr val="15803D"/>
                    </a:solidFill>
                    <a:latin typeface="Cambria Math" panose="02040503050406030204" pitchFamily="18" charset="0"/>
                  </a:rPr>
                  <a:t>$20$</a:t>
                </a:r>
                <a:endParaRPr sz="2800">
                  <a:solidFill>
                    <a:srgbClr val="15803D"/>
                  </a:solidFill>
                </a:endParaRPr>
              </a:p>
            </p:txBody>
          </p:sp>
        </mc:Fallback>
      </mc:AlternateContent>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3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probability on the total: for a random division, find the chance that </a:t>
                </a:r>
                <a14:m>
                  <m:oMath xmlns:m="http://schemas.openxmlformats.org/officeDocument/2006/math">
                    <m:sSub>
                      <m:e>
                        <m:r>
                          <a:rPr lang="en-IN" sz="2400" i="1">
                            <a:solidFill>
                              <a:srgbClr val="78350F"/>
                            </a:solidFill>
                            <a:latin typeface="Cambria Math" panose="02040503050406030204" pitchFamily="18" charset="0"/>
                          </a:rPr>
                          <m:t>𝑃</m:t>
                        </m:r>
                      </m:e>
                      <m:sub>
                        <m:r>
                          <a:rPr lang="en-IN" sz="2400" i="1">
                            <a:solidFill>
                              <a:srgbClr val="78350F"/>
                            </a:solidFill>
                            <a:latin typeface="Cambria Math" panose="02040503050406030204" pitchFamily="18" charset="0"/>
                          </a:rPr>
                          <m:t>6</m:t>
                        </m:r>
                      </m:sub>
                    </m:sSub>
                  </m:oMath>
                </a14:m>
                <a:r>
                  <a:rPr sz="2400" b="0">
                    <a:solidFill>
                      <a:srgbClr val="78350F"/>
                    </a:solidFill>
                    <a:latin typeface="Arial"/>
                  </a:rPr>
                  <a:t>'s three partners all come from </a:t>
                </a:r>
                <a14:m>
                  <m:oMath xmlns:m="http://schemas.openxmlformats.org/officeDocument/2006/math">
                    <m:sSub>
                      <m:e>
                        <m:r>
                          <a:rPr lang="en-IN" sz="2400" i="1">
                            <a:solidFill>
                              <a:srgbClr val="78350F"/>
                            </a:solidFill>
                            <a:latin typeface="Cambria Math" panose="02040503050406030204" pitchFamily="18" charset="0"/>
                          </a:rPr>
                          <m:t>𝑃</m:t>
                        </m:r>
                      </m:e>
                      <m:sub>
                        <m:r>
                          <a:rPr lang="en-IN" sz="2400" i="1">
                            <a:solidFill>
                              <a:srgbClr val="78350F"/>
                            </a:solidFill>
                            <a:latin typeface="Cambria Math" panose="02040503050406030204" pitchFamily="18" charset="0"/>
                          </a:rPr>
                          <m:t>7</m:t>
                        </m:r>
                      </m:sub>
                    </m:sSub>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𝑃</m:t>
                        </m:r>
                      </m:e>
                      <m:sub>
                        <m:r>
                          <a:rPr lang="en-IN" sz="2400" i="1">
                            <a:solidFill>
                              <a:srgbClr val="78350F"/>
                            </a:solidFill>
                            <a:latin typeface="Cambria Math" panose="02040503050406030204" pitchFamily="18" charset="0"/>
                          </a:rPr>
                          <m:t>16</m:t>
                        </m:r>
                      </m:sub>
                    </m:sSub>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probability on the total: for a random division, find the chance that </a:t>
                </a:r>
                <a:r>
                  <a:rPr lang="en-IN" sz="2400">
                    <a:solidFill>
                      <a:srgbClr val="78350F"/>
                    </a:solidFill>
                    <a:latin typeface="Cambria Math" panose="02040503050406030204" pitchFamily="18" charset="0"/>
                  </a:rPr>
                  <a:t>$P_6$</a:t>
                </a:r>
                <a:r>
                  <a:rPr sz="2400" b="0">
                    <a:solidFill>
                      <a:srgbClr val="78350F"/>
                    </a:solidFill>
                    <a:latin typeface="Arial"/>
                  </a:rPr>
                  <a:t>'s three partners all come from </a:t>
                </a:r>
                <a:r>
                  <a:rPr lang="en-IN" sz="2400">
                    <a:solidFill>
                      <a:srgbClr val="78350F"/>
                    </a:solidFill>
                    <a:latin typeface="Cambria Math" panose="02040503050406030204" pitchFamily="18" charset="0"/>
                  </a:rPr>
                  <a:t>$P_7,\dots,P_{16}$</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Total divisions into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equal groups: </a:t>
                </a:r>
                <a14:m>
                  <m:oMath xmlns:m="http://schemas.openxmlformats.org/officeDocument/2006/math">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5</m:t>
                            </m:r>
                          </m:sup>
                        </m:sSup>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627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625</m:t>
                    </m:r>
                  </m:oMath>
                </a14:m>
                <a:r>
                  <a:rPr sz="2400" b="0">
                    <a:solidFill>
                      <a:srgbClr val="111827"/>
                    </a:solidFill>
                    <a:latin typeface="Arial"/>
                  </a:rPr>
                  <a:t> (Q19).</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By symmetry the three group-mates of </a:t>
                </a:r>
                <a14:m>
                  <m:oMath xmlns:m="http://schemas.openxmlformats.org/officeDocument/2006/math">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6</m:t>
                        </m:r>
                      </m:sub>
                    </m:sSub>
                  </m:oMath>
                </a14:m>
                <a:r>
                  <a:rPr sz="2400" b="0">
                    <a:solidFill>
                      <a:srgbClr val="111827"/>
                    </a:solidFill>
                    <a:latin typeface="Arial"/>
                  </a:rPr>
                  <a:t> form a uniformly random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-subset of the other </a:t>
                </a:r>
                <a14:m>
                  <m:oMath xmlns:m="http://schemas.openxmlformats.org/officeDocument/2006/math">
                    <m:r>
                      <a:rPr lang="en-IN" sz="2400" i="1">
                        <a:solidFill>
                          <a:srgbClr val="111827"/>
                        </a:solidFill>
                        <a:latin typeface="Cambria Math" panose="02040503050406030204" pitchFamily="18" charset="0"/>
                      </a:rPr>
                      <m:t>15</m:t>
                    </m:r>
                  </m:oMath>
                </a14:m>
                <a:r>
                  <a:rPr sz="2400" b="0">
                    <a:solidFill>
                      <a:srgbClr val="111827"/>
                    </a:solidFill>
                    <a:latin typeface="Arial"/>
                  </a:rPr>
                  <a:t> players.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Probability that all three are among </a:t>
                </a:r>
                <a14:m>
                  <m:oMath xmlns:m="http://schemas.openxmlformats.org/officeDocument/2006/math">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7</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16</m:t>
                        </m:r>
                      </m:sub>
                    </m:sSub>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num>
                              <m:den>
                                <m:r>
                                  <a:rPr lang="en-IN" sz="2400" i="1">
                                    <a:solidFill>
                                      <a:srgbClr val="111827"/>
                                    </a:solidFill>
                                    <a:latin typeface="Cambria Math" panose="02040503050406030204" pitchFamily="18" charset="0"/>
                                  </a:rPr>
                                  <m:t>3</m:t>
                                </m:r>
                              </m:den>
                            </m:f>
                          </m:e>
                        </m:d>
                      </m:num>
                      <m:den>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15</m:t>
                                </m:r>
                              </m:num>
                              <m:den>
                                <m:r>
                                  <a:rPr lang="en-IN" sz="2400" i="1">
                                    <a:solidFill>
                                      <a:srgbClr val="111827"/>
                                    </a:solidFill>
                                    <a:latin typeface="Cambria Math" panose="02040503050406030204" pitchFamily="18" charset="0"/>
                                  </a:rPr>
                                  <m:t>3</m:t>
                                </m:r>
                              </m:den>
                            </m:f>
                          </m:e>
                        </m:d>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120</m:t>
                        </m:r>
                      </m:num>
                      <m:den>
                        <m:r>
                          <a:rPr lang="en-IN" sz="2400" i="1">
                            <a:solidFill>
                              <a:srgbClr val="111827"/>
                            </a:solidFill>
                            <a:latin typeface="Cambria Math" panose="02040503050406030204" pitchFamily="18" charset="0"/>
                          </a:rPr>
                          <m:t>455</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24</m:t>
                        </m:r>
                      </m:num>
                      <m:den>
                        <m:r>
                          <a:rPr lang="en-IN" sz="2400" i="1">
                            <a:solidFill>
                              <a:srgbClr val="111827"/>
                            </a:solidFill>
                            <a:latin typeface="Cambria Math" panose="02040503050406030204" pitchFamily="18" charset="0"/>
                          </a:rPr>
                          <m:t>91</m:t>
                        </m:r>
                      </m:den>
                    </m:f>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Total divisions into </a:t>
                </a:r>
                <a:r>
                  <a:rPr lang="en-IN" sz="2400">
                    <a:solidFill>
                      <a:srgbClr val="111827"/>
                    </a:solidFill>
                    <a:latin typeface="Cambria Math" panose="02040503050406030204" pitchFamily="18" charset="0"/>
                  </a:rPr>
                  <a:t>$4$</a:t>
                </a:r>
                <a:r>
                  <a:rPr sz="2400" b="0">
                    <a:solidFill>
                      <a:srgbClr val="111827"/>
                    </a:solidFill>
                    <a:latin typeface="Arial"/>
                  </a:rPr>
                  <a:t> equal groups: </a:t>
                </a:r>
                <a:r>
                  <a:rPr lang="en-IN" sz="2400">
                    <a:solidFill>
                      <a:srgbClr val="111827"/>
                    </a:solidFill>
                    <a:latin typeface="Cambria Math" panose="02040503050406030204" pitchFamily="18" charset="0"/>
                  </a:rPr>
                  <a:t>$N=\dfrac{16!}{(4!)^5}=2{,}627{,}625$</a:t>
                </a:r>
                <a:r>
                  <a:rPr sz="2400" b="0">
                    <a:solidFill>
                      <a:srgbClr val="111827"/>
                    </a:solidFill>
                    <a:latin typeface="Arial"/>
                  </a:rPr>
                  <a:t> (Q19).</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By symmetry the three group-mates of </a:t>
                </a:r>
                <a:r>
                  <a:rPr lang="en-IN" sz="2400">
                    <a:solidFill>
                      <a:srgbClr val="111827"/>
                    </a:solidFill>
                    <a:latin typeface="Cambria Math" panose="02040503050406030204" pitchFamily="18" charset="0"/>
                  </a:rPr>
                  <a:t>$P_6$</a:t>
                </a:r>
                <a:r>
                  <a:rPr sz="2400" b="0">
                    <a:solidFill>
                      <a:srgbClr val="111827"/>
                    </a:solidFill>
                    <a:latin typeface="Arial"/>
                  </a:rPr>
                  <a:t> form a uniformly random </a:t>
                </a:r>
                <a:r>
                  <a:rPr lang="en-IN" sz="2400">
                    <a:solidFill>
                      <a:srgbClr val="111827"/>
                    </a:solidFill>
                    <a:latin typeface="Cambria Math" panose="02040503050406030204" pitchFamily="18" charset="0"/>
                  </a:rPr>
                  <a:t>$3$</a:t>
                </a:r>
                <a:r>
                  <a:rPr sz="2400" b="0">
                    <a:solidFill>
                      <a:srgbClr val="111827"/>
                    </a:solidFill>
                    <a:latin typeface="Arial"/>
                  </a:rPr>
                  <a:t>-subset of the other </a:t>
                </a:r>
                <a:r>
                  <a:rPr lang="en-IN" sz="2400">
                    <a:solidFill>
                      <a:srgbClr val="111827"/>
                    </a:solidFill>
                    <a:latin typeface="Cambria Math" panose="02040503050406030204" pitchFamily="18" charset="0"/>
                  </a:rPr>
                  <a:t>$15$</a:t>
                </a:r>
                <a:r>
                  <a:rPr sz="2400" b="0">
                    <a:solidFill>
                      <a:srgbClr val="111827"/>
                    </a:solidFill>
                    <a:latin typeface="Arial"/>
                  </a:rPr>
                  <a:t> players.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Probability that all three are among </a:t>
                </a:r>
                <a:r>
                  <a:rPr lang="en-IN" sz="2400">
                    <a:solidFill>
                      <a:srgbClr val="111827"/>
                    </a:solidFill>
                    <a:latin typeface="Cambria Math" panose="02040503050406030204" pitchFamily="18" charset="0"/>
                  </a:rPr>
                  <a:t>$P_7,\dots,P_{16}$</a:t>
                </a:r>
                <a:r>
                  <a:rPr sz="2400" b="0">
                    <a:solidFill>
                      <a:srgbClr val="111827"/>
                    </a:solidFill>
                    <a:latin typeface="Arial"/>
                  </a:rPr>
                  <a:t>: </a:t>
                </a:r>
                <a:r>
                  <a:rPr lang="en-IN" sz="2400">
                    <a:solidFill>
                      <a:srgbClr val="111827"/>
                    </a:solidFill>
                    <a:latin typeface="Cambria Math" panose="02040503050406030204" pitchFamily="18" charset="0"/>
                  </a:rPr>
                  <a:t>$\dfrac{\binom{10}{3}}{\binom{15}{3}}=\dfrac{120}{455}=\dfrac{24}{91}$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3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Favourable divisions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627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625</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24</m:t>
                        </m:r>
                      </m:num>
                      <m:den>
                        <m:r>
                          <a:rPr lang="en-IN" sz="2400" i="1">
                            <a:solidFill>
                              <a:srgbClr val="111827"/>
                            </a:solidFill>
                            <a:latin typeface="Cambria Math" panose="02040503050406030204" pitchFamily="18" charset="0"/>
                          </a:rPr>
                          <m:t>91</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875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693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000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And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479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001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600</m:t>
                        </m:r>
                      </m:num>
                      <m:den>
                        <m:r>
                          <a:rPr lang="en-IN" sz="2400" i="1">
                            <a:solidFill>
                              <a:srgbClr val="111827"/>
                            </a:solidFill>
                            <a:latin typeface="Cambria Math" panose="02040503050406030204" pitchFamily="18" charset="0"/>
                          </a:rPr>
                          <m:t>13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824</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650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693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000</m:t>
                        </m:r>
                      </m:num>
                      <m:den>
                        <m:r>
                          <a:rPr lang="en-IN" sz="2400" i="1">
                            <a:solidFill>
                              <a:srgbClr val="111827"/>
                            </a:solidFill>
                            <a:latin typeface="Cambria Math" panose="02040503050406030204" pitchFamily="18" charset="0"/>
                          </a:rPr>
                          <m:t>34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650</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oMath>
                </a14:m>
                <a:r>
                  <a:rPr sz="2400" b="0">
                    <a:solidFill>
                      <a:srgbClr val="111827"/>
                    </a:solidFill>
                    <a:latin typeface="Arial"/>
                  </a:rPr>
                  <a:t> ✓.</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Favourable divisions </a:t>
                </a:r>
                <a:r>
                  <a:rPr lang="en-IN" sz="2400">
                    <a:solidFill>
                      <a:srgbClr val="111827"/>
                    </a:solidFill>
                    <a:latin typeface="Cambria Math" panose="02040503050406030204" pitchFamily="18" charset="0"/>
                  </a:rPr>
                  <a:t>$=2{,}627{,}625\times\dfrac{24}{91}=28{,}875\times24=693{,}000$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And </a:t>
                </a:r>
                <a:r>
                  <a:rPr lang="en-IN" sz="2400">
                    <a:solidFill>
                      <a:srgbClr val="111827"/>
                    </a:solidFill>
                    <a:latin typeface="Cambria Math" panose="02040503050406030204" pitchFamily="18" charset="0"/>
                  </a:rPr>
                  <a:t>$\dfrac{12!}{(4!)^3}=\dfrac{479{,}001{,}600}{13{,}824}=34{,}650$</a:t>
                </a:r>
                <a:r>
                  <a:rPr sz="2400" b="0">
                    <a:solidFill>
                      <a:srgbClr val="111827"/>
                    </a:solidFill>
                    <a:latin typeface="Arial"/>
                  </a:rPr>
                  <a:t>, so </a:t>
                </a:r>
                <a:r>
                  <a:rPr lang="en-IN" sz="2400">
                    <a:solidFill>
                      <a:srgbClr val="111827"/>
                    </a:solidFill>
                    <a:latin typeface="Cambria Math" panose="02040503050406030204" pitchFamily="18" charset="0"/>
                  </a:rPr>
                  <a:t>$k=\dfrac{693{,}000}{34{,}650}=20$</a:t>
                </a:r>
                <a:r>
                  <a:rPr sz="2400" b="0">
                    <a:solidFill>
                      <a:srgbClr val="111827"/>
                    </a:solidFill>
                    <a:latin typeface="Arial"/>
                  </a:rPr>
                  <a:t> ✓.</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(D) </a:t>
                </a:r>
                <a14:m>
                  <m:oMath xmlns:m="http://schemas.openxmlformats.org/officeDocument/2006/math">
                    <m:r>
                      <a:rPr lang="en-IN" sz="2800" i="1">
                        <a:solidFill>
                          <a:srgbClr val="15803D"/>
                        </a:solidFill>
                        <a:latin typeface="Cambria Math" panose="02040503050406030204" pitchFamily="18" charset="0"/>
                      </a:rPr>
                      <m:t>20</m:t>
                    </m:r>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(D) </a:t>
                </a:r>
                <a:r>
                  <a:rPr lang="en-IN" sz="2800">
                    <a:solidFill>
                      <a:srgbClr val="15803D"/>
                    </a:solidFill>
                    <a:latin typeface="Cambria Math" panose="02040503050406030204" pitchFamily="18" charset="0"/>
                  </a:rPr>
                  <a:t>$20$</a:t>
                </a:r>
                <a:endParaRPr sz="2800">
                  <a:solidFill>
                    <a:srgbClr val="15803D"/>
                  </a:solidFill>
                </a:endParaRPr>
              </a:p>
            </p:txBody>
          </p:sp>
        </mc:Fallback>
      </mc:AlternateContent>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3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'Best player of the group is </a:t>
                </a:r>
                <a14:m>
                  <m:oMath xmlns:m="http://schemas.openxmlformats.org/officeDocument/2006/math">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𝑗</m:t>
                        </m:r>
                      </m:sub>
                    </m:sSub>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all other members are worse, i.e. chosen from players below </a:t>
                </a:r>
                <a14:m>
                  <m:oMath xmlns:m="http://schemas.openxmlformats.org/officeDocument/2006/math">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𝑗</m:t>
                        </m:r>
                      </m:sub>
                    </m:sSub>
                  </m:oMath>
                </a14:m>
                <a:r>
                  <a:rPr sz="2400" b="0">
                    <a:solidFill>
                      <a:srgbClr val="111827"/>
                    </a:solidFill>
                    <a:latin typeface="Arial"/>
                  </a:rPr>
                  <a:t>; rank conditions turn into restricted choices.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By symmetry, the number of divisions in which a given player's group-mates form a particular type of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-set is proportional to the number of such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-sets: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num>
                          <m:den>
                            <m:r>
                              <a:rPr lang="en-IN" sz="2400" i="1">
                                <a:solidFill>
                                  <a:srgbClr val="111827"/>
                                </a:solidFill>
                                <a:latin typeface="Cambria Math" panose="02040503050406030204" pitchFamily="18" charset="0"/>
                              </a:rPr>
                              <m:t>3</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15</m:t>
                            </m:r>
                          </m:num>
                          <m:den>
                            <m:r>
                              <a:rPr lang="en-IN" sz="2400" i="1">
                                <a:solidFill>
                                  <a:srgbClr val="111827"/>
                                </a:solidFill>
                                <a:latin typeface="Cambria Math" panose="02040503050406030204" pitchFamily="18" charset="0"/>
                              </a:rPr>
                              <m:t>3</m:t>
                            </m:r>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same idea gives the chance that </a:t>
                </a:r>
                <a14:m>
                  <m:oMath xmlns:m="http://schemas.openxmlformats.org/officeDocument/2006/math">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are in different groups: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12</m:t>
                        </m:r>
                      </m:num>
                      <m:den>
                        <m:r>
                          <a:rPr lang="en-IN" sz="2400" i="1">
                            <a:solidFill>
                              <a:srgbClr val="111827"/>
                            </a:solidFill>
                            <a:latin typeface="Cambria Math" panose="02040503050406030204" pitchFamily="18" charset="0"/>
                          </a:rPr>
                          <m:t>15</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5</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'Best player of the group is </a:t>
                </a:r>
                <a:r>
                  <a:rPr lang="en-IN" sz="2400">
                    <a:solidFill>
                      <a:srgbClr val="111827"/>
                    </a:solidFill>
                    <a:latin typeface="Cambria Math" panose="02040503050406030204" pitchFamily="18" charset="0"/>
                  </a:rPr>
                  <a:t>$P_j$</a:t>
                </a:r>
                <a:r>
                  <a:rPr sz="2400" b="0">
                    <a:solidFill>
                      <a:srgbClr val="111827"/>
                    </a:solidFill>
                    <a:latin typeface="Arial"/>
                  </a:rPr>
                  <a:t>' </a:t>
                </a:r>
                <a:r>
                  <a:rPr lang="en-IN" sz="2400">
                    <a:solidFill>
                      <a:srgbClr val="111827"/>
                    </a:solidFill>
                    <a:latin typeface="Cambria Math" panose="02040503050406030204" pitchFamily="18" charset="0"/>
                  </a:rPr>
                  <a:t>$\iff$</a:t>
                </a:r>
                <a:r>
                  <a:rPr sz="2400" b="0">
                    <a:solidFill>
                      <a:srgbClr val="111827"/>
                    </a:solidFill>
                    <a:latin typeface="Arial"/>
                  </a:rPr>
                  <a:t> all other members are worse, i.e. chosen from players below </a:t>
                </a:r>
                <a:r>
                  <a:rPr lang="en-IN" sz="2400">
                    <a:solidFill>
                      <a:srgbClr val="111827"/>
                    </a:solidFill>
                    <a:latin typeface="Cambria Math" panose="02040503050406030204" pitchFamily="18" charset="0"/>
                  </a:rPr>
                  <a:t>$P_j$</a:t>
                </a:r>
                <a:r>
                  <a:rPr sz="2400" b="0">
                    <a:solidFill>
                      <a:srgbClr val="111827"/>
                    </a:solidFill>
                    <a:latin typeface="Arial"/>
                  </a:rPr>
                  <a:t>; rank conditions turn into restricted choices.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By symmetry, the number of divisions in which a given player's group-mates form a particular type of </a:t>
                </a:r>
                <a:r>
                  <a:rPr lang="en-IN" sz="2400">
                    <a:solidFill>
                      <a:srgbClr val="111827"/>
                    </a:solidFill>
                    <a:latin typeface="Cambria Math" panose="02040503050406030204" pitchFamily="18" charset="0"/>
                  </a:rPr>
                  <a:t>$3$</a:t>
                </a:r>
                <a:r>
                  <a:rPr sz="2400" b="0">
                    <a:solidFill>
                      <a:srgbClr val="111827"/>
                    </a:solidFill>
                    <a:latin typeface="Arial"/>
                  </a:rPr>
                  <a:t>-set is proportional to the number of such </a:t>
                </a:r>
                <a:r>
                  <a:rPr lang="en-IN" sz="2400">
                    <a:solidFill>
                      <a:srgbClr val="111827"/>
                    </a:solidFill>
                    <a:latin typeface="Cambria Math" panose="02040503050406030204" pitchFamily="18" charset="0"/>
                  </a:rPr>
                  <a:t>$3$</a:t>
                </a:r>
                <a:r>
                  <a:rPr sz="2400" b="0">
                    <a:solidFill>
                      <a:srgbClr val="111827"/>
                    </a:solidFill>
                    <a:latin typeface="Arial"/>
                  </a:rPr>
                  <a:t>-sets: </a:t>
                </a:r>
                <a:r>
                  <a:rPr lang="en-IN" sz="2400">
                    <a:solidFill>
                      <a:srgbClr val="111827"/>
                    </a:solidFill>
                    <a:latin typeface="Cambria Math" panose="02040503050406030204" pitchFamily="18" charset="0"/>
                  </a:rPr>
                  <a:t>$\binom{10}{3}/\binom{15}{3}$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same idea gives the chance that </a:t>
                </a:r>
                <a:r>
                  <a:rPr lang="en-IN" sz="2400">
                    <a:solidFill>
                      <a:srgbClr val="111827"/>
                    </a:solidFill>
                    <a:latin typeface="Cambria Math" panose="02040503050406030204" pitchFamily="18" charset="0"/>
                  </a:rPr>
                  <a:t>$P_1$</a:t>
                </a:r>
                <a:r>
                  <a:rPr sz="2400" b="0">
                    <a:solidFill>
                      <a:srgbClr val="111827"/>
                    </a:solidFill>
                    <a:latin typeface="Arial"/>
                  </a:rPr>
                  <a:t> and </a:t>
                </a:r>
                <a:r>
                  <a:rPr lang="en-IN" sz="2400">
                    <a:solidFill>
                      <a:srgbClr val="111827"/>
                    </a:solidFill>
                    <a:latin typeface="Cambria Math" panose="02040503050406030204" pitchFamily="18" charset="0"/>
                  </a:rPr>
                  <a:t>$P_2$</a:t>
                </a:r>
                <a:r>
                  <a:rPr sz="2400" b="0">
                    <a:solidFill>
                      <a:srgbClr val="111827"/>
                    </a:solidFill>
                    <a:latin typeface="Arial"/>
                  </a:rPr>
                  <a:t> are in different groups: </a:t>
                </a:r>
                <a:r>
                  <a:rPr lang="en-IN" sz="2400">
                    <a:solidFill>
                      <a:srgbClr val="111827"/>
                    </a:solidFill>
                    <a:latin typeface="Cambria Math" panose="02040503050406030204" pitchFamily="18" charset="0"/>
                  </a:rPr>
                  <a:t>$\frac{12}{15}=\frac45$</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325069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Paragraph: When </a:t>
                </a:r>
                <a14:m>
                  <m:oMath xmlns:m="http://schemas.openxmlformats.org/officeDocument/2006/math">
                    <m:r>
                      <a:rPr lang="en-IN" sz="2400" i="1">
                        <a:solidFill>
                          <a:srgbClr val="111827"/>
                        </a:solidFill>
                        <a:latin typeface="Cambria Math" panose="02040503050406030204" pitchFamily="18" charset="0"/>
                      </a:rPr>
                      <m:t>𝑚</m:t>
                    </m:r>
                  </m:oMath>
                </a14:m>
                <a:r>
                  <a:rPr sz="2400" b="0">
                    <a:solidFill>
                      <a:srgbClr val="111827"/>
                    </a:solidFill>
                    <a:latin typeface="Arial"/>
                  </a:rPr>
                  <a:t> equally spaced parallel lines are intersected by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equally spaced parallel lines, a network of rectangles or squares is formed. The number of rectangles is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𝑚</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The squares have several dimensions. The smallest square is of dimension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the number of such squares is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If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𝑛</m:t>
                    </m:r>
                  </m:oMath>
                </a14:m>
                <a:r>
                  <a:rPr sz="2400" b="0">
                    <a:solidFill>
                      <a:srgbClr val="111827"/>
                    </a:solidFill>
                    <a:latin typeface="Arial"/>
                  </a:rPr>
                  <a:t>, the dimension of the largest possible square must be:</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𝑚</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endParaRPr sz="2400">
                  <a:solidFill>
                    <a:srgbClr val="111827"/>
                  </a:solidFill>
                </a:endParaRPr>
              </a:p>
            </p:txBody>
          </p:sp>
        </mc:Choice>
        <mc:Fallback>
          <p:sp>
            <p:nvSpPr>
              <p:cNvPr id="4" name="Rounded Rectangle 3"/>
              <p:cNvSpPr/>
              <p:nvPr/>
            </p:nvSpPr>
            <p:spPr>
              <a:xfrm>
                <a:off x="731520" y="1280160"/>
                <a:ext cx="10725912" cy="325069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Paragraph: When </a:t>
                </a:r>
                <a:r>
                  <a:rPr lang="en-IN" sz="2400">
                    <a:solidFill>
                      <a:srgbClr val="111827"/>
                    </a:solidFill>
                    <a:latin typeface="Cambria Math" panose="02040503050406030204" pitchFamily="18" charset="0"/>
                  </a:rPr>
                  <a:t>$m$</a:t>
                </a:r>
                <a:r>
                  <a:rPr sz="2400" b="0">
                    <a:solidFill>
                      <a:srgbClr val="111827"/>
                    </a:solidFill>
                    <a:latin typeface="Arial"/>
                  </a:rPr>
                  <a:t> equally spaced parallel lines are intersected by </a:t>
                </a:r>
                <a:r>
                  <a:rPr lang="en-IN" sz="2400">
                    <a:solidFill>
                      <a:srgbClr val="111827"/>
                    </a:solidFill>
                    <a:latin typeface="Cambria Math" panose="02040503050406030204" pitchFamily="18" charset="0"/>
                  </a:rPr>
                  <a:t>$n$</a:t>
                </a:r>
                <a:r>
                  <a:rPr sz="2400" b="0">
                    <a:solidFill>
                      <a:srgbClr val="111827"/>
                    </a:solidFill>
                    <a:latin typeface="Arial"/>
                  </a:rPr>
                  <a:t> equally spaced parallel lines, a network of rectangles or squares is formed. The number of rectangles is </a:t>
                </a:r>
                <a:r>
                  <a:rPr lang="en-IN" sz="2400">
                    <a:solidFill>
                      <a:srgbClr val="111827"/>
                    </a:solidFill>
                    <a:latin typeface="Cambria Math" panose="02040503050406030204" pitchFamily="18" charset="0"/>
                  </a:rPr>
                  <a:t>${}^mC_2\cdot{}^nC_2$</a:t>
                </a:r>
                <a:r>
                  <a:rPr sz="2400" b="0">
                    <a:solidFill>
                      <a:srgbClr val="111827"/>
                    </a:solidFill>
                    <a:latin typeface="Arial"/>
                  </a:rPr>
                  <a:t>. The squares have several dimensions. The smallest square is of dimension </a:t>
                </a:r>
                <a:r>
                  <a:rPr lang="en-IN" sz="2400">
                    <a:solidFill>
                      <a:srgbClr val="111827"/>
                    </a:solidFill>
                    <a:latin typeface="Cambria Math" panose="02040503050406030204" pitchFamily="18" charset="0"/>
                  </a:rPr>
                  <a:t>$1\times1$</a:t>
                </a:r>
                <a:r>
                  <a:rPr sz="2400" b="0">
                    <a:solidFill>
                      <a:srgbClr val="111827"/>
                    </a:solidFill>
                    <a:latin typeface="Arial"/>
                  </a:rPr>
                  <a:t>, and the number of such squares is </a:t>
                </a:r>
                <a:r>
                  <a:rPr lang="en-IN" sz="2400">
                    <a:solidFill>
                      <a:srgbClr val="111827"/>
                    </a:solidFill>
                    <a:latin typeface="Cambria Math" panose="02040503050406030204" pitchFamily="18" charset="0"/>
                  </a:rPr>
                  <a:t>$(m-1)\times(n-1)$</a:t>
                </a:r>
                <a:r>
                  <a:rPr sz="2400" b="0">
                    <a:solidFill>
                      <a:srgbClr val="111827"/>
                    </a:solidFill>
                    <a:latin typeface="Arial"/>
                  </a:rPr>
                  <a: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$m&lt;n$</a:t>
                </a:r>
                <a:r>
                  <a:rPr sz="2400" b="0">
                    <a:solidFill>
                      <a:srgbClr val="111827"/>
                    </a:solidFill>
                    <a:latin typeface="Arial"/>
                  </a:rPr>
                  <a:t>, the dimension of the largest possible square must be:</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$m$</a:t>
                </a:r>
                <a:r>
                  <a:rPr sz="2400" b="0">
                    <a:solidFill>
                      <a:srgbClr val="111827"/>
                    </a:solidFill>
                    <a:latin typeface="Arial"/>
                  </a:rPr>
                  <a:t>   (B) </a:t>
                </a:r>
                <a:r>
                  <a:rPr lang="en-IN" sz="2400">
                    <a:solidFill>
                      <a:srgbClr val="111827"/>
                    </a:solidFill>
                    <a:latin typeface="Cambria Math" panose="02040503050406030204" pitchFamily="18" charset="0"/>
                  </a:rPr>
                  <a:t>$n$</a:t>
                </a:r>
                <a:r>
                  <a:rPr sz="2400" b="0">
                    <a:solidFill>
                      <a:srgbClr val="111827"/>
                    </a:solidFill>
                    <a:latin typeface="Arial"/>
                  </a:rPr>
                  <a:t>   (C) </a:t>
                </a:r>
                <a:r>
                  <a:rPr lang="en-IN" sz="2400">
                    <a:solidFill>
                      <a:srgbClr val="111827"/>
                    </a:solidFill>
                    <a:latin typeface="Cambria Math" panose="02040503050406030204" pitchFamily="18" charset="0"/>
                  </a:rPr>
                  <a:t>$m-1$</a:t>
                </a:r>
                <a:r>
                  <a:rPr sz="2400" b="0">
                    <a:solidFill>
                      <a:srgbClr val="111827"/>
                    </a:solidFill>
                    <a:latin typeface="Arial"/>
                  </a:rPr>
                  <a:t>   (D) </a:t>
                </a:r>
                <a:r>
                  <a:rPr lang="en-IN" sz="2400">
                    <a:solidFill>
                      <a:srgbClr val="111827"/>
                    </a:solidFill>
                    <a:latin typeface="Cambria Math" panose="02040503050406030204" pitchFamily="18" charset="0"/>
                  </a:rPr>
                  <a:t>$n-1$</a:t>
                </a:r>
                <a:endParaRPr sz="2400">
                  <a:solidFill>
                    <a:srgbClr val="111827"/>
                  </a:solidFill>
                </a:endParaRPr>
              </a:p>
            </p:txBody>
          </p:sp>
        </mc:Fallback>
      </mc:AlternateContent>
      <p:sp>
        <p:nvSpPr>
          <p:cNvPr id="5" name="Rectangle 4"/>
          <p:cNvSpPr/>
          <p:nvPr/>
        </p:nvSpPr>
        <p:spPr>
          <a:xfrm>
            <a:off x="731520" y="4759451"/>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Paragraph Based Single Correct Type(3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Rectangles and squares in a grid of lines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r>
                      <a:rPr lang="en-IN" sz="2400" i="1">
                        <a:solidFill>
                          <a:srgbClr val="78350F"/>
                        </a:solidFill>
                        <a:latin typeface="Cambria Math" panose="02040503050406030204" pitchFamily="18" charset="0"/>
                      </a:rPr>
                      <m:t>𝑚</m:t>
                    </m:r>
                  </m:oMath>
                </a14:m>
                <a:r>
                  <a:rPr sz="2400" b="0">
                    <a:solidFill>
                      <a:srgbClr val="78350F"/>
                    </a:solidFill>
                    <a:latin typeface="Arial"/>
                  </a:rPr>
                  <a:t> parallel lines leave </a:t>
                </a:r>
                <a14:m>
                  <m:oMath xmlns:m="http://schemas.openxmlformats.org/officeDocument/2006/math">
                    <m:r>
                      <a:rPr lang="en-IN" sz="2400" i="1">
                        <a:solidFill>
                          <a:srgbClr val="78350F"/>
                        </a:solidFill>
                        <a:latin typeface="Cambria Math" panose="02040503050406030204" pitchFamily="18" charset="0"/>
                      </a:rPr>
                      <m:t>𝑚</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 gaps, so a square cannot be longer than the smaller number of gaps.</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$m$</a:t>
                </a:r>
                <a:r>
                  <a:rPr sz="2400" b="0">
                    <a:solidFill>
                      <a:srgbClr val="78350F"/>
                    </a:solidFill>
                    <a:latin typeface="Arial"/>
                  </a:rPr>
                  <a:t> parallel lines leave </a:t>
                </a:r>
                <a:r>
                  <a:rPr lang="en-IN" sz="2400">
                    <a:solidFill>
                      <a:srgbClr val="78350F"/>
                    </a:solidFill>
                    <a:latin typeface="Cambria Math" panose="02040503050406030204" pitchFamily="18" charset="0"/>
                  </a:rPr>
                  <a:t>$m-1$</a:t>
                </a:r>
                <a:r>
                  <a:rPr sz="2400" b="0">
                    <a:solidFill>
                      <a:srgbClr val="78350F"/>
                    </a:solidFill>
                    <a:latin typeface="Arial"/>
                  </a:rPr>
                  <a:t> gaps, so a square cannot be longer than the smaller number of gaps.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𝑚</m:t>
                    </m:r>
                  </m:oMath>
                </a14:m>
                <a:r>
                  <a:rPr sz="2400" b="0">
                    <a:solidFill>
                      <a:srgbClr val="111827"/>
                    </a:solidFill>
                    <a:latin typeface="Arial"/>
                  </a:rPr>
                  <a:t> lines in one direction form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equal gaps;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lines in the other direction form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gaps.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Example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there are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 squares of dimension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There are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squares of dimension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no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square fits.</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$m$</a:t>
                </a:r>
                <a:r>
                  <a:rPr sz="2400" b="0">
                    <a:solidFill>
                      <a:srgbClr val="111827"/>
                    </a:solidFill>
                    <a:latin typeface="Arial"/>
                  </a:rPr>
                  <a:t> lines in one direction form </a:t>
                </a:r>
                <a:r>
                  <a:rPr lang="en-IN" sz="2400">
                    <a:solidFill>
                      <a:srgbClr val="111827"/>
                    </a:solidFill>
                    <a:latin typeface="Cambria Math" panose="02040503050406030204" pitchFamily="18" charset="0"/>
                  </a:rPr>
                  <a:t>$m-1$</a:t>
                </a:r>
                <a:r>
                  <a:rPr sz="2400" b="0">
                    <a:solidFill>
                      <a:srgbClr val="111827"/>
                    </a:solidFill>
                    <a:latin typeface="Arial"/>
                  </a:rPr>
                  <a:t> equal gaps; </a:t>
                </a:r>
                <a:r>
                  <a:rPr lang="en-IN" sz="2400">
                    <a:solidFill>
                      <a:srgbClr val="111827"/>
                    </a:solidFill>
                    <a:latin typeface="Cambria Math" panose="02040503050406030204" pitchFamily="18" charset="0"/>
                  </a:rPr>
                  <a:t>$n$</a:t>
                </a:r>
                <a:r>
                  <a:rPr sz="2400" b="0">
                    <a:solidFill>
                      <a:srgbClr val="111827"/>
                    </a:solidFill>
                    <a:latin typeface="Arial"/>
                  </a:rPr>
                  <a:t> lines in the other direction form </a:t>
                </a:r>
                <a:r>
                  <a:rPr lang="en-IN" sz="2400">
                    <a:solidFill>
                      <a:srgbClr val="111827"/>
                    </a:solidFill>
                    <a:latin typeface="Cambria Math" panose="02040503050406030204" pitchFamily="18" charset="0"/>
                  </a:rPr>
                  <a:t>$n-1$</a:t>
                </a:r>
                <a:r>
                  <a:rPr sz="2400" b="0">
                    <a:solidFill>
                      <a:srgbClr val="111827"/>
                    </a:solidFill>
                    <a:latin typeface="Arial"/>
                  </a:rPr>
                  <a:t> gaps.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Example </a:t>
                </a:r>
                <a:r>
                  <a:rPr lang="en-IN" sz="2400">
                    <a:solidFill>
                      <a:srgbClr val="111827"/>
                    </a:solidFill>
                    <a:latin typeface="Cambria Math" panose="02040503050406030204" pitchFamily="18" charset="0"/>
                  </a:rPr>
                  <a:t>$m=3$</a:t>
                </a:r>
                <a:r>
                  <a:rPr sz="2400" b="0">
                    <a:solidFill>
                      <a:srgbClr val="111827"/>
                    </a:solidFill>
                    <a:latin typeface="Arial"/>
                  </a:rPr>
                  <a:t>, </a:t>
                </a:r>
                <a:r>
                  <a:rPr lang="en-IN" sz="2400">
                    <a:solidFill>
                      <a:srgbClr val="111827"/>
                    </a:solidFill>
                    <a:latin typeface="Cambria Math" panose="02040503050406030204" pitchFamily="18" charset="0"/>
                  </a:rPr>
                  <a:t>$n=5$</a:t>
                </a:r>
                <a:r>
                  <a:rPr sz="2400" b="0">
                    <a:solidFill>
                      <a:srgbClr val="111827"/>
                    </a:solidFill>
                    <a:latin typeface="Arial"/>
                  </a:rPr>
                  <a:t>: there are </a:t>
                </a:r>
                <a:r>
                  <a:rPr lang="en-IN" sz="2400">
                    <a:solidFill>
                      <a:srgbClr val="111827"/>
                    </a:solidFill>
                    <a:latin typeface="Cambria Math" panose="02040503050406030204" pitchFamily="18" charset="0"/>
                  </a:rPr>
                  <a:t>$2\times4=8$</a:t>
                </a:r>
                <a:r>
                  <a:rPr sz="2400" b="0">
                    <a:solidFill>
                      <a:srgbClr val="111827"/>
                    </a:solidFill>
                    <a:latin typeface="Arial"/>
                  </a:rPr>
                  <a:t> squares of dimension </a:t>
                </a:r>
                <a:r>
                  <a:rPr lang="en-IN" sz="2400">
                    <a:solidFill>
                      <a:srgbClr val="111827"/>
                    </a:solidFill>
                    <a:latin typeface="Cambria Math" panose="02040503050406030204" pitchFamily="18" charset="0"/>
                  </a:rPr>
                  <a:t>$1\times1$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There are </a:t>
                </a:r>
                <a:r>
                  <a:rPr lang="en-IN" sz="2400">
                    <a:solidFill>
                      <a:srgbClr val="111827"/>
                    </a:solidFill>
                    <a:latin typeface="Cambria Math" panose="02040503050406030204" pitchFamily="18" charset="0"/>
                  </a:rPr>
                  <a:t>$1\times3=3$</a:t>
                </a:r>
                <a:r>
                  <a:rPr sz="2400" b="0">
                    <a:solidFill>
                      <a:srgbClr val="111827"/>
                    </a:solidFill>
                    <a:latin typeface="Arial"/>
                  </a:rPr>
                  <a:t> squares of dimension </a:t>
                </a:r>
                <a:r>
                  <a:rPr lang="en-IN" sz="2400">
                    <a:solidFill>
                      <a:srgbClr val="111827"/>
                    </a:solidFill>
                    <a:latin typeface="Cambria Math" panose="02040503050406030204" pitchFamily="18" charset="0"/>
                  </a:rPr>
                  <a:t>$2\times2$</a:t>
                </a:r>
                <a:r>
                  <a:rPr sz="2400" b="0">
                    <a:solidFill>
                      <a:srgbClr val="111827"/>
                    </a:solidFill>
                    <a:latin typeface="Arial"/>
                  </a:rPr>
                  <a:t>; no </a:t>
                </a:r>
                <a:r>
                  <a:rPr lang="en-IN" sz="2400">
                    <a:solidFill>
                      <a:srgbClr val="111827"/>
                    </a:solidFill>
                    <a:latin typeface="Cambria Math" panose="02040503050406030204" pitchFamily="18" charset="0"/>
                  </a:rPr>
                  <a:t>$3\times3$</a:t>
                </a:r>
                <a:r>
                  <a:rPr sz="2400" b="0">
                    <a:solidFill>
                      <a:srgbClr val="111827"/>
                    </a:solidFill>
                    <a:latin typeface="Arial"/>
                  </a:rPr>
                  <a:t> square fits.</a:t>
                </a:r>
                <a:endParaRPr sz="2400">
                  <a:solidFill>
                    <a:srgbClr val="111827"/>
                  </a:solidFill>
                </a:endParaRPr>
              </a:p>
            </p:txBody>
          </p:sp>
        </mc:Fallback>
      </mc:AlternateContent>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largest square is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because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𝑛</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the dimension of the largest square is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(option C).</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largest square is </a:t>
                </a:r>
                <a:r>
                  <a:rPr lang="en-IN" sz="2400">
                    <a:solidFill>
                      <a:srgbClr val="111827"/>
                    </a:solidFill>
                    <a:latin typeface="Cambria Math" panose="02040503050406030204" pitchFamily="18" charset="0"/>
                  </a:rPr>
                  <a:t>$2\times2=(m-1)\times(m-1)$</a:t>
                </a:r>
                <a:r>
                  <a:rPr sz="2400" b="0">
                    <a:solidFill>
                      <a:srgbClr val="111827"/>
                    </a:solidFill>
                    <a:latin typeface="Arial"/>
                  </a:rPr>
                  <a:t>, because </a:t>
                </a:r>
                <a:r>
                  <a:rPr lang="en-IN" sz="2400">
                    <a:solidFill>
                      <a:srgbClr val="111827"/>
                    </a:solidFill>
                    <a:latin typeface="Cambria Math" panose="02040503050406030204" pitchFamily="18" charset="0"/>
                  </a:rPr>
                  <a:t>$m&lt;n$</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the dimension of the largest square is </a:t>
                </a:r>
                <a:r>
                  <a:rPr lang="en-IN" sz="2400">
                    <a:solidFill>
                      <a:srgbClr val="111827"/>
                    </a:solidFill>
                    <a:latin typeface="Cambria Math" panose="02040503050406030204" pitchFamily="18" charset="0"/>
                  </a:rPr>
                  <a:t>$m-1$</a:t>
                </a:r>
                <a:r>
                  <a:rPr sz="2400" b="0">
                    <a:solidFill>
                      <a:srgbClr val="111827"/>
                    </a:solidFill>
                    <a:latin typeface="Arial"/>
                  </a:rPr>
                  <a:t> (option C).</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a:t>
                </a:r>
                <a14:m>
                  <m:oMath xmlns:m="http://schemas.openxmlformats.org/officeDocument/2006/math">
                    <m:r>
                      <a:rPr lang="en-IN" sz="2800" i="1">
                        <a:solidFill>
                          <a:srgbClr val="15803D"/>
                        </a:solidFill>
                        <a:latin typeface="Cambria Math" panose="02040503050406030204" pitchFamily="18" charset="0"/>
                      </a:rPr>
                      <m:t>𝑚</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1</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a:t>
                </a:r>
                <a:r>
                  <a:rPr lang="en-IN" sz="2800">
                    <a:solidFill>
                      <a:srgbClr val="15803D"/>
                    </a:solidFill>
                    <a:latin typeface="Cambria Math" panose="02040503050406030204" pitchFamily="18" charset="0"/>
                  </a:rPr>
                  <a:t>$m-1$</a:t>
                </a:r>
                <a:endParaRPr sz="2800">
                  <a:solidFill>
                    <a:srgbClr val="15803D"/>
                  </a:solidFill>
                </a:endParaRPr>
              </a:p>
            </p:txBody>
          </p:sp>
        </mc:Fallback>
      </mc:AlternateContent>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3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General argument: a square needs the same number of gaps in both directions.</a:t>
            </a:r>
            <a:endParaRPr sz="2400">
              <a:solidFill>
                <a:srgbClr val="78350F"/>
              </a:solidFill>
            </a:endParaRPr>
          </a:p>
        </p:txBody>
      </p:sp>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square of side </a:t>
                </a:r>
                <a14:m>
                  <m:oMath xmlns:m="http://schemas.openxmlformats.org/officeDocument/2006/math">
                    <m:r>
                      <a:rPr lang="en-IN" sz="2400" i="1">
                        <a:solidFill>
                          <a:srgbClr val="111827"/>
                        </a:solidFill>
                        <a:latin typeface="Cambria Math" panose="02040503050406030204" pitchFamily="18" charset="0"/>
                      </a:rPr>
                      <m:t>𝑠</m:t>
                    </m:r>
                  </m:oMath>
                </a14:m>
                <a:r>
                  <a:rPr sz="2400" b="0">
                    <a:solidFill>
                      <a:srgbClr val="111827"/>
                    </a:solidFill>
                    <a:latin typeface="Arial"/>
                  </a:rPr>
                  <a:t> spans </a:t>
                </a:r>
                <a14:m>
                  <m:oMath xmlns:m="http://schemas.openxmlformats.org/officeDocument/2006/math">
                    <m:r>
                      <a:rPr lang="en-IN" sz="2400" i="1">
                        <a:solidFill>
                          <a:srgbClr val="111827"/>
                        </a:solidFill>
                        <a:latin typeface="Cambria Math" panose="02040503050406030204" pitchFamily="18" charset="0"/>
                      </a:rPr>
                      <m:t>𝑠</m:t>
                    </m:r>
                  </m:oMath>
                </a14:m>
                <a:r>
                  <a:rPr sz="2400" b="0">
                    <a:solidFill>
                      <a:srgbClr val="111827"/>
                    </a:solidFill>
                    <a:latin typeface="Arial"/>
                  </a:rPr>
                  <a:t> consecutive gaps in each direction.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This needs </a:t>
                </a:r>
                <a14:m>
                  <m:oMath xmlns:m="http://schemas.openxmlformats.org/officeDocument/2006/math">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(gaps between the </a:t>
                </a:r>
                <a14:m>
                  <m:oMath xmlns:m="http://schemas.openxmlformats.org/officeDocument/2006/math">
                    <m:r>
                      <a:rPr lang="en-IN" sz="2400" i="1">
                        <a:solidFill>
                          <a:srgbClr val="111827"/>
                        </a:solidFill>
                        <a:latin typeface="Cambria Math" panose="02040503050406030204" pitchFamily="18" charset="0"/>
                      </a:rPr>
                      <m:t>𝑚</m:t>
                    </m:r>
                  </m:oMath>
                </a14:m>
                <a:r>
                  <a:rPr sz="2400" b="0">
                    <a:solidFill>
                      <a:srgbClr val="111827"/>
                    </a:solidFill>
                    <a:latin typeface="Arial"/>
                  </a:rPr>
                  <a:t> lines) and </a:t>
                </a:r>
                <a14:m>
                  <m:oMath xmlns:m="http://schemas.openxmlformats.org/officeDocument/2006/math">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the largest </a:t>
                </a:r>
                <a14:m>
                  <m:oMath xmlns:m="http://schemas.openxmlformats.org/officeDocument/2006/math">
                    <m:r>
                      <a:rPr lang="en-IN" sz="2400" i="1">
                        <a:solidFill>
                          <a:srgbClr val="111827"/>
                        </a:solidFill>
                        <a:latin typeface="Cambria Math" panose="02040503050406030204" pitchFamily="18" charset="0"/>
                      </a:rPr>
                      <m:t>𝑠</m:t>
                    </m:r>
                  </m:oMath>
                </a14:m>
                <a:r>
                  <a:rPr sz="2400" b="0">
                    <a:solidFill>
                      <a:srgbClr val="111827"/>
                    </a:solidFill>
                    <a:latin typeface="Arial"/>
                  </a:rPr>
                  <a:t> is </a:t>
                </a:r>
                <a14:m>
                  <m:oMath xmlns:m="http://schemas.openxmlformats.org/officeDocument/2006/math">
                    <m:r>
                      <m:rPr>
                        <m:sty m:val="p"/>
                      </m:rPr>
                      <a:rPr lang="en-IN" sz="2400">
                        <a:solidFill>
                          <a:srgbClr val="111827"/>
                        </a:solidFill>
                        <a:latin typeface="Cambria Math" panose="02040503050406030204" pitchFamily="18" charset="0"/>
                      </a:rPr>
                      <m:t>min</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since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𝑛</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Option (A) </a:t>
                </a:r>
                <a14:m>
                  <m:oMath xmlns:m="http://schemas.openxmlformats.org/officeDocument/2006/math">
                    <m:r>
                      <a:rPr lang="en-IN" sz="2400" i="1">
                        <a:solidFill>
                          <a:srgbClr val="111827"/>
                        </a:solidFill>
                        <a:latin typeface="Cambria Math" panose="02040503050406030204" pitchFamily="18" charset="0"/>
                      </a:rPr>
                      <m:t>𝑚</m:t>
                    </m:r>
                  </m:oMath>
                </a14:m>
                <a:r>
                  <a:rPr sz="2400" b="0">
                    <a:solidFill>
                      <a:srgbClr val="111827"/>
                    </a:solidFill>
                    <a:latin typeface="Arial"/>
                  </a:rPr>
                  <a:t> and (B)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exceed the number of gaps, and (D)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is impossible.</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square of side </a:t>
                </a:r>
                <a:r>
                  <a:rPr lang="en-IN" sz="2400">
                    <a:solidFill>
                      <a:srgbClr val="111827"/>
                    </a:solidFill>
                    <a:latin typeface="Cambria Math" panose="02040503050406030204" pitchFamily="18" charset="0"/>
                  </a:rPr>
                  <a:t>$s$</a:t>
                </a:r>
                <a:r>
                  <a:rPr sz="2400" b="0">
                    <a:solidFill>
                      <a:srgbClr val="111827"/>
                    </a:solidFill>
                    <a:latin typeface="Arial"/>
                  </a:rPr>
                  <a:t> spans </a:t>
                </a:r>
                <a:r>
                  <a:rPr lang="en-IN" sz="2400">
                    <a:solidFill>
                      <a:srgbClr val="111827"/>
                    </a:solidFill>
                    <a:latin typeface="Cambria Math" panose="02040503050406030204" pitchFamily="18" charset="0"/>
                  </a:rPr>
                  <a:t>$s$</a:t>
                </a:r>
                <a:r>
                  <a:rPr sz="2400" b="0">
                    <a:solidFill>
                      <a:srgbClr val="111827"/>
                    </a:solidFill>
                    <a:latin typeface="Arial"/>
                  </a:rPr>
                  <a:t> consecutive gaps in each direction.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This needs </a:t>
                </a:r>
                <a:r>
                  <a:rPr lang="en-IN" sz="2400">
                    <a:solidFill>
                      <a:srgbClr val="111827"/>
                    </a:solidFill>
                    <a:latin typeface="Cambria Math" panose="02040503050406030204" pitchFamily="18" charset="0"/>
                  </a:rPr>
                  <a:t>$s\le m-1$</a:t>
                </a:r>
                <a:r>
                  <a:rPr sz="2400" b="0">
                    <a:solidFill>
                      <a:srgbClr val="111827"/>
                    </a:solidFill>
                    <a:latin typeface="Arial"/>
                  </a:rPr>
                  <a:t> (gaps between the </a:t>
                </a:r>
                <a:r>
                  <a:rPr lang="en-IN" sz="2400">
                    <a:solidFill>
                      <a:srgbClr val="111827"/>
                    </a:solidFill>
                    <a:latin typeface="Cambria Math" panose="02040503050406030204" pitchFamily="18" charset="0"/>
                  </a:rPr>
                  <a:t>$m$</a:t>
                </a:r>
                <a:r>
                  <a:rPr sz="2400" b="0">
                    <a:solidFill>
                      <a:srgbClr val="111827"/>
                    </a:solidFill>
                    <a:latin typeface="Arial"/>
                  </a:rPr>
                  <a:t> lines) and </a:t>
                </a:r>
                <a:r>
                  <a:rPr lang="en-IN" sz="2400">
                    <a:solidFill>
                      <a:srgbClr val="111827"/>
                    </a:solidFill>
                    <a:latin typeface="Cambria Math" panose="02040503050406030204" pitchFamily="18" charset="0"/>
                  </a:rPr>
                  <a:t>$s\le n-1$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the largest </a:t>
                </a:r>
                <a:r>
                  <a:rPr lang="en-IN" sz="2400">
                    <a:solidFill>
                      <a:srgbClr val="111827"/>
                    </a:solidFill>
                    <a:latin typeface="Cambria Math" panose="02040503050406030204" pitchFamily="18" charset="0"/>
                  </a:rPr>
                  <a:t>$s$</a:t>
                </a:r>
                <a:r>
                  <a:rPr sz="2400" b="0">
                    <a:solidFill>
                      <a:srgbClr val="111827"/>
                    </a:solidFill>
                    <a:latin typeface="Arial"/>
                  </a:rPr>
                  <a:t> is </a:t>
                </a:r>
                <a:r>
                  <a:rPr lang="en-IN" sz="2400">
                    <a:solidFill>
                      <a:srgbClr val="111827"/>
                    </a:solidFill>
                    <a:latin typeface="Cambria Math" panose="02040503050406030204" pitchFamily="18" charset="0"/>
                  </a:rPr>
                  <a:t>$\min(m-1,n-1)=m-1$</a:t>
                </a:r>
                <a:r>
                  <a:rPr sz="2400" b="0">
                    <a:solidFill>
                      <a:srgbClr val="111827"/>
                    </a:solidFill>
                    <a:latin typeface="Arial"/>
                  </a:rPr>
                  <a:t> since </a:t>
                </a:r>
                <a:r>
                  <a:rPr lang="en-IN" sz="2400">
                    <a:solidFill>
                      <a:srgbClr val="111827"/>
                    </a:solidFill>
                    <a:latin typeface="Cambria Math" panose="02040503050406030204" pitchFamily="18" charset="0"/>
                  </a:rPr>
                  <a:t>$m&lt;n$</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Option (A) </a:t>
                </a:r>
                <a:r>
                  <a:rPr lang="en-IN" sz="2400">
                    <a:solidFill>
                      <a:srgbClr val="111827"/>
                    </a:solidFill>
                    <a:latin typeface="Cambria Math" panose="02040503050406030204" pitchFamily="18" charset="0"/>
                  </a:rPr>
                  <a:t>$m$</a:t>
                </a:r>
                <a:r>
                  <a:rPr sz="2400" b="0">
                    <a:solidFill>
                      <a:srgbClr val="111827"/>
                    </a:solidFill>
                    <a:latin typeface="Arial"/>
                  </a:rPr>
                  <a:t> and (B) </a:t>
                </a:r>
                <a:r>
                  <a:rPr lang="en-IN" sz="2400">
                    <a:solidFill>
                      <a:srgbClr val="111827"/>
                    </a:solidFill>
                    <a:latin typeface="Cambria Math" panose="02040503050406030204" pitchFamily="18" charset="0"/>
                  </a:rPr>
                  <a:t>$n$</a:t>
                </a:r>
                <a:r>
                  <a:rPr sz="2400" b="0">
                    <a:solidFill>
                      <a:srgbClr val="111827"/>
                    </a:solidFill>
                    <a:latin typeface="Arial"/>
                  </a:rPr>
                  <a:t> exceed the number of gaps, and (D) </a:t>
                </a:r>
                <a:r>
                  <a:rPr lang="en-IN" sz="2400">
                    <a:solidFill>
                      <a:srgbClr val="111827"/>
                    </a:solidFill>
                    <a:latin typeface="Cambria Math" panose="02040503050406030204" pitchFamily="18" charset="0"/>
                  </a:rPr>
                  <a:t>$n-1&gt;m-1$</a:t>
                </a:r>
                <a:r>
                  <a:rPr sz="2400" b="0">
                    <a:solidFill>
                      <a:srgbClr val="111827"/>
                    </a:solidFill>
                    <a:latin typeface="Arial"/>
                  </a:rPr>
                  <a:t> is impossible.</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a:t>
                </a:r>
                <a14:m>
                  <m:oMath xmlns:m="http://schemas.openxmlformats.org/officeDocument/2006/math">
                    <m:r>
                      <a:rPr lang="en-IN" sz="2800" i="1">
                        <a:solidFill>
                          <a:srgbClr val="15803D"/>
                        </a:solidFill>
                        <a:latin typeface="Cambria Math" panose="02040503050406030204" pitchFamily="18" charset="0"/>
                      </a:rPr>
                      <m:t>𝑚</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1</m:t>
                    </m:r>
                  </m:oMath>
                </a14:m>
                <a:endParaRPr sz="2800">
                  <a:solidFill>
                    <a:srgbClr val="15803D"/>
                  </a:solidFill>
                </a:endParaRPr>
              </a:p>
            </p:txBody>
          </p:sp>
        </mc:Choice>
        <mc:Fallback>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a:t>
                </a:r>
                <a:r>
                  <a:rPr lang="en-IN" sz="2800">
                    <a:solidFill>
                      <a:srgbClr val="15803D"/>
                    </a:solidFill>
                    <a:latin typeface="Cambria Math" panose="02040503050406030204" pitchFamily="18" charset="0"/>
                  </a:rPr>
                  <a:t>$m-1$</a:t>
                </a:r>
                <a:endParaRPr sz="2800">
                  <a:solidFill>
                    <a:srgbClr val="15803D"/>
                  </a:solidFill>
                </a:endParaRPr>
              </a:p>
            </p:txBody>
          </p:sp>
        </mc:Fallback>
      </mc:AlternateContent>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3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network of </a:t>
                </a:r>
                <a14:m>
                  <m:oMath xmlns:m="http://schemas.openxmlformats.org/officeDocument/2006/math">
                    <m:r>
                      <a:rPr lang="en-IN" sz="2400" i="1">
                        <a:solidFill>
                          <a:srgbClr val="111827"/>
                        </a:solidFill>
                        <a:latin typeface="Cambria Math" panose="02040503050406030204" pitchFamily="18" charset="0"/>
                      </a:rPr>
                      <m:t>𝑚</m:t>
                    </m:r>
                  </m:oMath>
                </a14:m>
                <a:r>
                  <a:rPr sz="2400" b="0">
                    <a:solidFill>
                      <a:srgbClr val="111827"/>
                    </a:solidFill>
                    <a:latin typeface="Arial"/>
                  </a:rPr>
                  <a:t> horizontal and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vertical lines has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unit cells; the largest square has side </a:t>
                </a:r>
                <a14:m>
                  <m:oMath xmlns:m="http://schemas.openxmlformats.org/officeDocument/2006/math">
                    <m:r>
                      <m:rPr>
                        <m:sty m:val="p"/>
                      </m:rPr>
                      <a:rPr lang="en-IN" sz="2400">
                        <a:solidFill>
                          <a:srgbClr val="111827"/>
                        </a:solidFill>
                        <a:latin typeface="Cambria Math" panose="02040503050406030204" pitchFamily="18" charset="0"/>
                      </a:rPr>
                      <m:t>min</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number of squares of side </a:t>
                </a:r>
                <a14:m>
                  <m:oMath xmlns:m="http://schemas.openxmlformats.org/officeDocument/2006/math">
                    <m:r>
                      <a:rPr lang="en-IN" sz="2400" i="1">
                        <a:solidFill>
                          <a:srgbClr val="111827"/>
                        </a:solidFill>
                        <a:latin typeface="Cambria Math" panose="02040503050406030204" pitchFamily="18" charset="0"/>
                      </a:rPr>
                      <m:t>𝑠</m:t>
                    </m:r>
                  </m:oMath>
                </a14:m>
                <a:r>
                  <a:rPr sz="2400" b="0">
                    <a:solidFill>
                      <a:srgbClr val="111827"/>
                    </a:solidFill>
                    <a:latin typeface="Arial"/>
                  </a:rPr>
                  <a:t> is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min</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 of rectangles: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𝑚</m:t>
                            </m:r>
                          </m:num>
                          <m:den>
                            <m:r>
                              <a:rPr lang="en-IN" sz="2400" i="1">
                                <a:solidFill>
                                  <a:srgbClr val="111827"/>
                                </a:solidFill>
                                <a:latin typeface="Cambria Math" panose="02040503050406030204" pitchFamily="18" charset="0"/>
                              </a:rPr>
                              <m:t>2</m:t>
                            </m:r>
                          </m:den>
                        </m:f>
                      </m:e>
                    </m:d>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2</m:t>
                            </m:r>
                          </m:den>
                        </m:f>
                      </m:e>
                    </m:d>
                  </m:oMath>
                </a14:m>
                <a:r>
                  <a:rPr sz="2400" b="0">
                    <a:solidFill>
                      <a:srgbClr val="111827"/>
                    </a:solidFill>
                    <a:latin typeface="Arial"/>
                  </a:rPr>
                  <a:t>; of these, the squares form a smaller subset.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network of </a:t>
                </a:r>
                <a:r>
                  <a:rPr lang="en-IN" sz="2400">
                    <a:solidFill>
                      <a:srgbClr val="111827"/>
                    </a:solidFill>
                    <a:latin typeface="Cambria Math" panose="02040503050406030204" pitchFamily="18" charset="0"/>
                  </a:rPr>
                  <a:t>$m$</a:t>
                </a:r>
                <a:r>
                  <a:rPr sz="2400" b="0">
                    <a:solidFill>
                      <a:srgbClr val="111827"/>
                    </a:solidFill>
                    <a:latin typeface="Arial"/>
                  </a:rPr>
                  <a:t> horizontal and </a:t>
                </a:r>
                <a:r>
                  <a:rPr lang="en-IN" sz="2400">
                    <a:solidFill>
                      <a:srgbClr val="111827"/>
                    </a:solidFill>
                    <a:latin typeface="Cambria Math" panose="02040503050406030204" pitchFamily="18" charset="0"/>
                  </a:rPr>
                  <a:t>$n$</a:t>
                </a:r>
                <a:r>
                  <a:rPr sz="2400" b="0">
                    <a:solidFill>
                      <a:srgbClr val="111827"/>
                    </a:solidFill>
                    <a:latin typeface="Arial"/>
                  </a:rPr>
                  <a:t> vertical lines has </a:t>
                </a:r>
                <a:r>
                  <a:rPr lang="en-IN" sz="2400">
                    <a:solidFill>
                      <a:srgbClr val="111827"/>
                    </a:solidFill>
                    <a:latin typeface="Cambria Math" panose="02040503050406030204" pitchFamily="18" charset="0"/>
                  </a:rPr>
                  <a:t>$(m-1)(n-1)$</a:t>
                </a:r>
                <a:r>
                  <a:rPr sz="2400" b="0">
                    <a:solidFill>
                      <a:srgbClr val="111827"/>
                    </a:solidFill>
                    <a:latin typeface="Arial"/>
                  </a:rPr>
                  <a:t> unit cells; the largest square has side </a:t>
                </a:r>
                <a:r>
                  <a:rPr lang="en-IN" sz="2400">
                    <a:solidFill>
                      <a:srgbClr val="111827"/>
                    </a:solidFill>
                    <a:latin typeface="Cambria Math" panose="02040503050406030204" pitchFamily="18" charset="0"/>
                  </a:rPr>
                  <a:t>$\min(m,n)-1$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number of squares of side </a:t>
                </a:r>
                <a:r>
                  <a:rPr lang="en-IN" sz="2400">
                    <a:solidFill>
                      <a:srgbClr val="111827"/>
                    </a:solidFill>
                    <a:latin typeface="Cambria Math" panose="02040503050406030204" pitchFamily="18" charset="0"/>
                  </a:rPr>
                  <a:t>$s$</a:t>
                </a:r>
                <a:r>
                  <a:rPr sz="2400" b="0">
                    <a:solidFill>
                      <a:srgbClr val="111827"/>
                    </a:solidFill>
                    <a:latin typeface="Arial"/>
                  </a:rPr>
                  <a:t> is </a:t>
                </a:r>
                <a:r>
                  <a:rPr lang="en-IN" sz="2400">
                    <a:solidFill>
                      <a:srgbClr val="111827"/>
                    </a:solidFill>
                    <a:latin typeface="Cambria Math" panose="02040503050406030204" pitchFamily="18" charset="0"/>
                  </a:rPr>
                  <a:t>$(m-s)(n-s)$</a:t>
                </a:r>
                <a:r>
                  <a:rPr sz="2400" b="0">
                    <a:solidFill>
                      <a:srgbClr val="111827"/>
                    </a:solidFill>
                    <a:latin typeface="Arial"/>
                  </a:rPr>
                  <a:t> for </a:t>
                </a:r>
                <a:r>
                  <a:rPr lang="en-IN" sz="2400">
                    <a:solidFill>
                      <a:srgbClr val="111827"/>
                    </a:solidFill>
                    <a:latin typeface="Cambria Math" panose="02040503050406030204" pitchFamily="18" charset="0"/>
                  </a:rPr>
                  <a:t>$1\le s\le\min(m,n)-1$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 of rectangles: </a:t>
                </a:r>
                <a:r>
                  <a:rPr lang="en-IN" sz="2400">
                    <a:solidFill>
                      <a:srgbClr val="111827"/>
                    </a:solidFill>
                    <a:latin typeface="Cambria Math" panose="02040503050406030204" pitchFamily="18" charset="0"/>
                  </a:rPr>
                  <a:t>$\binom m2\binom n2$</a:t>
                </a:r>
                <a:r>
                  <a:rPr sz="2400" b="0">
                    <a:solidFill>
                      <a:srgbClr val="111827"/>
                    </a:solidFill>
                    <a:latin typeface="Arial"/>
                  </a:rPr>
                  <a:t>; of these, the squares form a smaller subset.</a:t>
                </a:r>
                <a:endParaRPr sz="2400">
                  <a:solidFill>
                    <a:srgbClr val="111827"/>
                  </a:solidFill>
                </a:endParaRPr>
              </a:p>
            </p:txBody>
          </p:sp>
        </mc:Fallback>
      </mc:AlternateContent>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325069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Paragraph: When </a:t>
                </a:r>
                <a14:m>
                  <m:oMath xmlns:m="http://schemas.openxmlformats.org/officeDocument/2006/math">
                    <m:r>
                      <a:rPr lang="en-IN" sz="2400" i="1">
                        <a:solidFill>
                          <a:srgbClr val="111827"/>
                        </a:solidFill>
                        <a:latin typeface="Cambria Math" panose="02040503050406030204" pitchFamily="18" charset="0"/>
                      </a:rPr>
                      <m:t>𝑚</m:t>
                    </m:r>
                  </m:oMath>
                </a14:m>
                <a:r>
                  <a:rPr sz="2400" b="0">
                    <a:solidFill>
                      <a:srgbClr val="111827"/>
                    </a:solidFill>
                    <a:latin typeface="Arial"/>
                  </a:rPr>
                  <a:t> equally spaced parallel lines are intersected by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equally spaced parallel lines, a network of rectangles or squares is formed. The number of rectangles is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𝑚</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The squares have several dimensions. The smallest square is of dimension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the number of such squares is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The number of squares on an </a:t>
                </a:r>
                <a14:m>
                  <m:oMath xmlns:m="http://schemas.openxmlformats.org/officeDocument/2006/math">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 chess board must be:</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64</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204</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285</m:t>
                    </m:r>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249</m:t>
                    </m:r>
                  </m:oMath>
                </a14:m>
                <a:endParaRPr sz="2400">
                  <a:solidFill>
                    <a:srgbClr val="111827"/>
                  </a:solidFill>
                </a:endParaRPr>
              </a:p>
            </p:txBody>
          </p:sp>
        </mc:Choice>
        <mc:Fallback>
          <p:sp>
            <p:nvSpPr>
              <p:cNvPr id="4" name="Rounded Rectangle 3"/>
              <p:cNvSpPr/>
              <p:nvPr/>
            </p:nvSpPr>
            <p:spPr>
              <a:xfrm>
                <a:off x="731520" y="1280160"/>
                <a:ext cx="10725912" cy="325069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Paragraph: When </a:t>
                </a:r>
                <a:r>
                  <a:rPr lang="en-IN" sz="2400">
                    <a:solidFill>
                      <a:srgbClr val="111827"/>
                    </a:solidFill>
                    <a:latin typeface="Cambria Math" panose="02040503050406030204" pitchFamily="18" charset="0"/>
                  </a:rPr>
                  <a:t>$m$</a:t>
                </a:r>
                <a:r>
                  <a:rPr sz="2400" b="0">
                    <a:solidFill>
                      <a:srgbClr val="111827"/>
                    </a:solidFill>
                    <a:latin typeface="Arial"/>
                  </a:rPr>
                  <a:t> equally spaced parallel lines are intersected by </a:t>
                </a:r>
                <a:r>
                  <a:rPr lang="en-IN" sz="2400">
                    <a:solidFill>
                      <a:srgbClr val="111827"/>
                    </a:solidFill>
                    <a:latin typeface="Cambria Math" panose="02040503050406030204" pitchFamily="18" charset="0"/>
                  </a:rPr>
                  <a:t>$n$</a:t>
                </a:r>
                <a:r>
                  <a:rPr sz="2400" b="0">
                    <a:solidFill>
                      <a:srgbClr val="111827"/>
                    </a:solidFill>
                    <a:latin typeface="Arial"/>
                  </a:rPr>
                  <a:t> equally spaced parallel lines, a network of rectangles or squares is formed. The number of rectangles is </a:t>
                </a:r>
                <a:r>
                  <a:rPr lang="en-IN" sz="2400">
                    <a:solidFill>
                      <a:srgbClr val="111827"/>
                    </a:solidFill>
                    <a:latin typeface="Cambria Math" panose="02040503050406030204" pitchFamily="18" charset="0"/>
                  </a:rPr>
                  <a:t>${}^mC_2\cdot{}^nC_2$</a:t>
                </a:r>
                <a:r>
                  <a:rPr sz="2400" b="0">
                    <a:solidFill>
                      <a:srgbClr val="111827"/>
                    </a:solidFill>
                    <a:latin typeface="Arial"/>
                  </a:rPr>
                  <a:t>. The squares have several dimensions. The smallest square is of dimension </a:t>
                </a:r>
                <a:r>
                  <a:rPr lang="en-IN" sz="2400">
                    <a:solidFill>
                      <a:srgbClr val="111827"/>
                    </a:solidFill>
                    <a:latin typeface="Cambria Math" panose="02040503050406030204" pitchFamily="18" charset="0"/>
                  </a:rPr>
                  <a:t>$1\times1$</a:t>
                </a:r>
                <a:r>
                  <a:rPr sz="2400" b="0">
                    <a:solidFill>
                      <a:srgbClr val="111827"/>
                    </a:solidFill>
                    <a:latin typeface="Arial"/>
                  </a:rPr>
                  <a:t>, and the number of such squares is </a:t>
                </a:r>
                <a:r>
                  <a:rPr lang="en-IN" sz="2400">
                    <a:solidFill>
                      <a:srgbClr val="111827"/>
                    </a:solidFill>
                    <a:latin typeface="Cambria Math" panose="02040503050406030204" pitchFamily="18" charset="0"/>
                  </a:rPr>
                  <a:t>$(m-1)\times(n-1)$</a:t>
                </a:r>
                <a:r>
                  <a:rPr sz="2400" b="0">
                    <a:solidFill>
                      <a:srgbClr val="111827"/>
                    </a:solidFill>
                    <a:latin typeface="Arial"/>
                  </a:rPr>
                  <a: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The number of squares on an </a:t>
                </a:r>
                <a:r>
                  <a:rPr lang="en-IN" sz="2400">
                    <a:solidFill>
                      <a:srgbClr val="111827"/>
                    </a:solidFill>
                    <a:latin typeface="Cambria Math" panose="02040503050406030204" pitchFamily="18" charset="0"/>
                  </a:rPr>
                  <a:t>$8\times8$</a:t>
                </a:r>
                <a:r>
                  <a:rPr sz="2400" b="0">
                    <a:solidFill>
                      <a:srgbClr val="111827"/>
                    </a:solidFill>
                    <a:latin typeface="Arial"/>
                  </a:rPr>
                  <a:t> chess board must be:</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$64$</a:t>
                </a:r>
                <a:r>
                  <a:rPr sz="2400" b="0">
                    <a:solidFill>
                      <a:srgbClr val="111827"/>
                    </a:solidFill>
                    <a:latin typeface="Arial"/>
                  </a:rPr>
                  <a:t>   (B) </a:t>
                </a:r>
                <a:r>
                  <a:rPr lang="en-IN" sz="2400">
                    <a:solidFill>
                      <a:srgbClr val="111827"/>
                    </a:solidFill>
                    <a:latin typeface="Cambria Math" panose="02040503050406030204" pitchFamily="18" charset="0"/>
                  </a:rPr>
                  <a:t>$204$</a:t>
                </a:r>
                <a:r>
                  <a:rPr sz="2400" b="0">
                    <a:solidFill>
                      <a:srgbClr val="111827"/>
                    </a:solidFill>
                    <a:latin typeface="Arial"/>
                  </a:rPr>
                  <a:t>   (C) </a:t>
                </a:r>
                <a:r>
                  <a:rPr lang="en-IN" sz="2400">
                    <a:solidFill>
                      <a:srgbClr val="111827"/>
                    </a:solidFill>
                    <a:latin typeface="Cambria Math" panose="02040503050406030204" pitchFamily="18" charset="0"/>
                  </a:rPr>
                  <a:t>$285$</a:t>
                </a:r>
                <a:r>
                  <a:rPr sz="2400" b="0">
                    <a:solidFill>
                      <a:srgbClr val="111827"/>
                    </a:solidFill>
                    <a:latin typeface="Arial"/>
                  </a:rPr>
                  <a:t>   (D) </a:t>
                </a:r>
                <a:r>
                  <a:rPr lang="en-IN" sz="2400">
                    <a:solidFill>
                      <a:srgbClr val="111827"/>
                    </a:solidFill>
                    <a:latin typeface="Cambria Math" panose="02040503050406030204" pitchFamily="18" charset="0"/>
                  </a:rPr>
                  <a:t>$249$</a:t>
                </a:r>
                <a:endParaRPr sz="2400">
                  <a:solidFill>
                    <a:srgbClr val="111827"/>
                  </a:solidFill>
                </a:endParaRPr>
              </a:p>
            </p:txBody>
          </p:sp>
        </mc:Fallback>
      </mc:AlternateContent>
      <p:sp>
        <p:nvSpPr>
          <p:cNvPr id="5" name="Rectangle 4"/>
          <p:cNvSpPr/>
          <p:nvPr/>
        </p:nvSpPr>
        <p:spPr>
          <a:xfrm>
            <a:off x="731520" y="4759451"/>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Paragraph Based Single Correct Type(3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Counting squares on a chess board</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Squares of side </a:t>
                </a:r>
                <a14:m>
                  <m:oMath xmlns:m="http://schemas.openxmlformats.org/officeDocument/2006/math">
                    <m:r>
                      <a:rPr lang="en-IN" sz="2400" i="1">
                        <a:solidFill>
                          <a:srgbClr val="78350F"/>
                        </a:solidFill>
                        <a:latin typeface="Cambria Math" panose="02040503050406030204" pitchFamily="18" charset="0"/>
                      </a:rPr>
                      <m:t>𝑘</m:t>
                    </m:r>
                  </m:oMath>
                </a14:m>
                <a:r>
                  <a:rPr sz="2400" b="0">
                    <a:solidFill>
                      <a:srgbClr val="78350F"/>
                    </a:solidFill>
                    <a:latin typeface="Arial"/>
                  </a:rPr>
                  <a:t> can be placed in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9</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𝑘</m:t>
                    </m:r>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2</m:t>
                        </m:r>
                      </m:sup>
                    </m:sSup>
                  </m:oMath>
                </a14:m>
                <a:r>
                  <a:rPr sz="2400" b="0">
                    <a:solidFill>
                      <a:srgbClr val="78350F"/>
                    </a:solidFill>
                    <a:latin typeface="Arial"/>
                  </a:rPr>
                  <a:t> positions, so the total is </a:t>
                </a:r>
                <a14:m>
                  <m:oMath xmlns:m="http://schemas.openxmlformats.org/officeDocument/2006/math">
                    <m:sSup>
                      <m:e>
                        <m:r>
                          <a:rPr lang="en-IN" sz="2400" i="1">
                            <a:solidFill>
                              <a:srgbClr val="78350F"/>
                            </a:solidFill>
                            <a:latin typeface="Cambria Math" panose="02040503050406030204" pitchFamily="18" charset="0"/>
                          </a:rPr>
                          <m:t>1</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2</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8</m:t>
                        </m:r>
                      </m:e>
                      <m:sup>
                        <m:r>
                          <a:rPr lang="en-IN" sz="2400" i="1">
                            <a:solidFill>
                              <a:srgbClr val="78350F"/>
                            </a:solidFill>
                            <a:latin typeface="Cambria Math" panose="02040503050406030204" pitchFamily="18" charset="0"/>
                          </a:rPr>
                          <m:t>2</m:t>
                        </m:r>
                      </m:sup>
                    </m:sSup>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Squares of side </a:t>
                </a:r>
                <a:r>
                  <a:rPr lang="en-IN" sz="2400">
                    <a:solidFill>
                      <a:srgbClr val="78350F"/>
                    </a:solidFill>
                    <a:latin typeface="Cambria Math" panose="02040503050406030204" pitchFamily="18" charset="0"/>
                  </a:rPr>
                  <a:t>$k$</a:t>
                </a:r>
                <a:r>
                  <a:rPr sz="2400" b="0">
                    <a:solidFill>
                      <a:srgbClr val="78350F"/>
                    </a:solidFill>
                    <a:latin typeface="Arial"/>
                  </a:rPr>
                  <a:t> can be placed in </a:t>
                </a:r>
                <a:r>
                  <a:rPr lang="en-IN" sz="2400">
                    <a:solidFill>
                      <a:srgbClr val="78350F"/>
                    </a:solidFill>
                    <a:latin typeface="Cambria Math" panose="02040503050406030204" pitchFamily="18" charset="0"/>
                  </a:rPr>
                  <a:t>$(9-k)^2$</a:t>
                </a:r>
                <a:r>
                  <a:rPr sz="2400" b="0">
                    <a:solidFill>
                      <a:srgbClr val="78350F"/>
                    </a:solidFill>
                    <a:latin typeface="Arial"/>
                  </a:rPr>
                  <a:t> positions, so the total is </a:t>
                </a:r>
                <a:r>
                  <a:rPr lang="en-IN" sz="2400">
                    <a:solidFill>
                      <a:srgbClr val="78350F"/>
                    </a:solidFill>
                    <a:latin typeface="Cambria Math" panose="02040503050406030204" pitchFamily="18" charset="0"/>
                  </a:rPr>
                  <a:t>$1^2+2^2+\dots+8^2$</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Squares of side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 can be placed 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positions on the </a:t>
                </a:r>
                <a14:m>
                  <m:oMath xmlns:m="http://schemas.openxmlformats.org/officeDocument/2006/math">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 board. Side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64</m:t>
                    </m:r>
                  </m:oMath>
                </a14:m>
                <a:r>
                  <a:rPr sz="2400" b="0">
                    <a:solidFill>
                      <a:srgbClr val="111827"/>
                    </a:solidFill>
                    <a:latin typeface="Arial"/>
                  </a:rPr>
                  <a:t> squares.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Squares of side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49</m:t>
                    </m:r>
                  </m:oMath>
                </a14:m>
                <a:r>
                  <a:rPr sz="2400" b="0">
                    <a:solidFill>
                      <a:srgbClr val="111827"/>
                    </a:solidFill>
                    <a:latin typeface="Arial"/>
                  </a:rPr>
                  <a:t>; side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m:t>
                    </m:r>
                  </m:oMath>
                </a14:m>
                <a:r>
                  <a:rPr sz="2400" b="0">
                    <a:solidFill>
                      <a:srgbClr val="111827"/>
                    </a:solidFill>
                    <a:latin typeface="Arial"/>
                  </a:rPr>
                  <a:t>; side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Side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oMath>
                </a14:m>
                <a:r>
                  <a:rPr sz="2400" b="0">
                    <a:solidFill>
                      <a:srgbClr val="111827"/>
                    </a:solidFill>
                    <a:latin typeface="Arial"/>
                  </a:rPr>
                  <a:t>; side </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side </a:t>
                </a:r>
                <a14:m>
                  <m:oMath xmlns:m="http://schemas.openxmlformats.org/officeDocument/2006/math">
                    <m:r>
                      <a:rPr lang="en-IN" sz="2400" i="1">
                        <a:solidFill>
                          <a:srgbClr val="111827"/>
                        </a:solidFill>
                        <a:latin typeface="Cambria Math" panose="02040503050406030204" pitchFamily="18" charset="0"/>
                      </a:rPr>
                      <m:t>7</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side </a:t>
                </a:r>
                <a14:m>
                  <m:oMath xmlns:m="http://schemas.openxmlformats.org/officeDocument/2006/math">
                    <m:r>
                      <a:rPr lang="en-IN" sz="2400" i="1">
                        <a:solidFill>
                          <a:srgbClr val="111827"/>
                        </a:solidFill>
                        <a:latin typeface="Cambria Math" panose="02040503050406030204" pitchFamily="18" charset="0"/>
                      </a:rPr>
                      <m:t>8</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204</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Squares of side </a:t>
                </a:r>
                <a:r>
                  <a:rPr lang="en-IN" sz="2400">
                    <a:solidFill>
                      <a:srgbClr val="111827"/>
                    </a:solidFill>
                    <a:latin typeface="Cambria Math" panose="02040503050406030204" pitchFamily="18" charset="0"/>
                  </a:rPr>
                  <a:t>$k$</a:t>
                </a:r>
                <a:r>
                  <a:rPr sz="2400" b="0">
                    <a:solidFill>
                      <a:srgbClr val="111827"/>
                    </a:solidFill>
                    <a:latin typeface="Arial"/>
                  </a:rPr>
                  <a:t> can be placed in </a:t>
                </a:r>
                <a:r>
                  <a:rPr lang="en-IN" sz="2400">
                    <a:solidFill>
                      <a:srgbClr val="111827"/>
                    </a:solidFill>
                    <a:latin typeface="Cambria Math" panose="02040503050406030204" pitchFamily="18" charset="0"/>
                  </a:rPr>
                  <a:t>$(9-k)\times(9-k)$</a:t>
                </a:r>
                <a:r>
                  <a:rPr sz="2400" b="0">
                    <a:solidFill>
                      <a:srgbClr val="111827"/>
                    </a:solidFill>
                    <a:latin typeface="Arial"/>
                  </a:rPr>
                  <a:t> positions on the </a:t>
                </a:r>
                <a:r>
                  <a:rPr lang="en-IN" sz="2400">
                    <a:solidFill>
                      <a:srgbClr val="111827"/>
                    </a:solidFill>
                    <a:latin typeface="Cambria Math" panose="02040503050406030204" pitchFamily="18" charset="0"/>
                  </a:rPr>
                  <a:t>$8\times8$</a:t>
                </a:r>
                <a:r>
                  <a:rPr sz="2400" b="0">
                    <a:solidFill>
                      <a:srgbClr val="111827"/>
                    </a:solidFill>
                    <a:latin typeface="Arial"/>
                  </a:rPr>
                  <a:t> board. Side </a:t>
                </a:r>
                <a:r>
                  <a:rPr lang="en-IN" sz="2400">
                    <a:solidFill>
                      <a:srgbClr val="111827"/>
                    </a:solidFill>
                    <a:latin typeface="Cambria Math" panose="02040503050406030204" pitchFamily="18" charset="0"/>
                  </a:rPr>
                  <a:t>$1$</a:t>
                </a:r>
                <a:r>
                  <a:rPr sz="2400" b="0">
                    <a:solidFill>
                      <a:srgbClr val="111827"/>
                    </a:solidFill>
                    <a:latin typeface="Arial"/>
                  </a:rPr>
                  <a:t>: </a:t>
                </a:r>
                <a:r>
                  <a:rPr lang="en-IN" sz="2400">
                    <a:solidFill>
                      <a:srgbClr val="111827"/>
                    </a:solidFill>
                    <a:latin typeface="Cambria Math" panose="02040503050406030204" pitchFamily="18" charset="0"/>
                  </a:rPr>
                  <a:t>$8\times8=64$</a:t>
                </a:r>
                <a:r>
                  <a:rPr sz="2400" b="0">
                    <a:solidFill>
                      <a:srgbClr val="111827"/>
                    </a:solidFill>
                    <a:latin typeface="Arial"/>
                  </a:rPr>
                  <a:t> squares.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Squares of side </a:t>
                </a:r>
                <a:r>
                  <a:rPr lang="en-IN" sz="2400">
                    <a:solidFill>
                      <a:srgbClr val="111827"/>
                    </a:solidFill>
                    <a:latin typeface="Cambria Math" panose="02040503050406030204" pitchFamily="18" charset="0"/>
                  </a:rPr>
                  <a:t>$2$</a:t>
                </a:r>
                <a:r>
                  <a:rPr sz="2400" b="0">
                    <a:solidFill>
                      <a:srgbClr val="111827"/>
                    </a:solidFill>
                    <a:latin typeface="Arial"/>
                  </a:rPr>
                  <a:t>: </a:t>
                </a:r>
                <a:r>
                  <a:rPr lang="en-IN" sz="2400">
                    <a:solidFill>
                      <a:srgbClr val="111827"/>
                    </a:solidFill>
                    <a:latin typeface="Cambria Math" panose="02040503050406030204" pitchFamily="18" charset="0"/>
                  </a:rPr>
                  <a:t>$7\times7=49$</a:t>
                </a:r>
                <a:r>
                  <a:rPr sz="2400" b="0">
                    <a:solidFill>
                      <a:srgbClr val="111827"/>
                    </a:solidFill>
                    <a:latin typeface="Arial"/>
                  </a:rPr>
                  <a:t>; side </a:t>
                </a:r>
                <a:r>
                  <a:rPr lang="en-IN" sz="2400">
                    <a:solidFill>
                      <a:srgbClr val="111827"/>
                    </a:solidFill>
                    <a:latin typeface="Cambria Math" panose="02040503050406030204" pitchFamily="18" charset="0"/>
                  </a:rPr>
                  <a:t>$3$</a:t>
                </a:r>
                <a:r>
                  <a:rPr sz="2400" b="0">
                    <a:solidFill>
                      <a:srgbClr val="111827"/>
                    </a:solidFill>
                    <a:latin typeface="Arial"/>
                  </a:rPr>
                  <a:t>: </a:t>
                </a:r>
                <a:r>
                  <a:rPr lang="en-IN" sz="2400">
                    <a:solidFill>
                      <a:srgbClr val="111827"/>
                    </a:solidFill>
                    <a:latin typeface="Cambria Math" panose="02040503050406030204" pitchFamily="18" charset="0"/>
                  </a:rPr>
                  <a:t>$6\times6=36$</a:t>
                </a:r>
                <a:r>
                  <a:rPr sz="2400" b="0">
                    <a:solidFill>
                      <a:srgbClr val="111827"/>
                    </a:solidFill>
                    <a:latin typeface="Arial"/>
                  </a:rPr>
                  <a:t>; side </a:t>
                </a:r>
                <a:r>
                  <a:rPr lang="en-IN" sz="2400">
                    <a:solidFill>
                      <a:srgbClr val="111827"/>
                    </a:solidFill>
                    <a:latin typeface="Cambria Math" panose="02040503050406030204" pitchFamily="18" charset="0"/>
                  </a:rPr>
                  <a:t>$4$</a:t>
                </a:r>
                <a:r>
                  <a:rPr sz="2400" b="0">
                    <a:solidFill>
                      <a:srgbClr val="111827"/>
                    </a:solidFill>
                    <a:latin typeface="Arial"/>
                  </a:rPr>
                  <a:t>: </a:t>
                </a:r>
                <a:r>
                  <a:rPr lang="en-IN" sz="2400">
                    <a:solidFill>
                      <a:srgbClr val="111827"/>
                    </a:solidFill>
                    <a:latin typeface="Cambria Math" panose="02040503050406030204" pitchFamily="18" charset="0"/>
                  </a:rPr>
                  <a:t>$5\times5=25$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Side </a:t>
                </a:r>
                <a:r>
                  <a:rPr lang="en-IN" sz="2400">
                    <a:solidFill>
                      <a:srgbClr val="111827"/>
                    </a:solidFill>
                    <a:latin typeface="Cambria Math" panose="02040503050406030204" pitchFamily="18" charset="0"/>
                  </a:rPr>
                  <a:t>$5$</a:t>
                </a:r>
                <a:r>
                  <a:rPr sz="2400" b="0">
                    <a:solidFill>
                      <a:srgbClr val="111827"/>
                    </a:solidFill>
                    <a:latin typeface="Arial"/>
                  </a:rPr>
                  <a:t>: </a:t>
                </a:r>
                <a:r>
                  <a:rPr lang="en-IN" sz="2400">
                    <a:solidFill>
                      <a:srgbClr val="111827"/>
                    </a:solidFill>
                    <a:latin typeface="Cambria Math" panose="02040503050406030204" pitchFamily="18" charset="0"/>
                  </a:rPr>
                  <a:t>$4\times4=16$</a:t>
                </a:r>
                <a:r>
                  <a:rPr sz="2400" b="0">
                    <a:solidFill>
                      <a:srgbClr val="111827"/>
                    </a:solidFill>
                    <a:latin typeface="Arial"/>
                  </a:rPr>
                  <a:t>; side </a:t>
                </a:r>
                <a:r>
                  <a:rPr lang="en-IN" sz="2400">
                    <a:solidFill>
                      <a:srgbClr val="111827"/>
                    </a:solidFill>
                    <a:latin typeface="Cambria Math" panose="02040503050406030204" pitchFamily="18" charset="0"/>
                  </a:rPr>
                  <a:t>$6$</a:t>
                </a:r>
                <a:r>
                  <a:rPr sz="2400" b="0">
                    <a:solidFill>
                      <a:srgbClr val="111827"/>
                    </a:solidFill>
                    <a:latin typeface="Arial"/>
                  </a:rPr>
                  <a:t>: </a:t>
                </a:r>
                <a:r>
                  <a:rPr lang="en-IN" sz="2400">
                    <a:solidFill>
                      <a:srgbClr val="111827"/>
                    </a:solidFill>
                    <a:latin typeface="Cambria Math" panose="02040503050406030204" pitchFamily="18" charset="0"/>
                  </a:rPr>
                  <a:t>$3\times3=9$</a:t>
                </a:r>
                <a:r>
                  <a:rPr sz="2400" b="0">
                    <a:solidFill>
                      <a:srgbClr val="111827"/>
                    </a:solidFill>
                    <a:latin typeface="Arial"/>
                  </a:rPr>
                  <a:t>; side </a:t>
                </a:r>
                <a:r>
                  <a:rPr lang="en-IN" sz="2400">
                    <a:solidFill>
                      <a:srgbClr val="111827"/>
                    </a:solidFill>
                    <a:latin typeface="Cambria Math" panose="02040503050406030204" pitchFamily="18" charset="0"/>
                  </a:rPr>
                  <a:t>$7$</a:t>
                </a:r>
                <a:r>
                  <a:rPr sz="2400" b="0">
                    <a:solidFill>
                      <a:srgbClr val="111827"/>
                    </a:solidFill>
                    <a:latin typeface="Arial"/>
                  </a:rPr>
                  <a:t>: </a:t>
                </a:r>
                <a:r>
                  <a:rPr lang="en-IN" sz="2400">
                    <a:solidFill>
                      <a:srgbClr val="111827"/>
                    </a:solidFill>
                    <a:latin typeface="Cambria Math" panose="02040503050406030204" pitchFamily="18" charset="0"/>
                  </a:rPr>
                  <a:t>$2\times2=4$</a:t>
                </a:r>
                <a:r>
                  <a:rPr sz="2400" b="0">
                    <a:solidFill>
                      <a:srgbClr val="111827"/>
                    </a:solidFill>
                    <a:latin typeface="Arial"/>
                  </a:rPr>
                  <a:t>; side </a:t>
                </a:r>
                <a:r>
                  <a:rPr lang="en-IN" sz="2400">
                    <a:solidFill>
                      <a:srgbClr val="111827"/>
                    </a:solidFill>
                    <a:latin typeface="Cambria Math" panose="02040503050406030204" pitchFamily="18" charset="0"/>
                  </a:rPr>
                  <a:t>$8$</a:t>
                </a:r>
                <a:r>
                  <a:rPr sz="2400" b="0">
                    <a:solidFill>
                      <a:srgbClr val="111827"/>
                    </a:solidFill>
                    <a:latin typeface="Arial"/>
                  </a:rPr>
                  <a:t>: </a:t>
                </a:r>
                <a:r>
                  <a:rPr lang="en-IN" sz="2400">
                    <a:solidFill>
                      <a:srgbClr val="111827"/>
                    </a:solidFill>
                    <a:latin typeface="Cambria Math" panose="02040503050406030204" pitchFamily="18" charset="0"/>
                  </a:rPr>
                  <a:t>$1\times1=1$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r>
                  <a:rPr lang="en-IN" sz="2400">
                    <a:solidFill>
                      <a:srgbClr val="111827"/>
                    </a:solidFill>
                    <a:latin typeface="Cambria Math" panose="02040503050406030204" pitchFamily="18" charset="0"/>
                  </a:rPr>
                  <a:t>$=64+49+36+25+16+9+4+1=204$</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a:t>
                </a:r>
                <a14:m>
                  <m:oMath xmlns:m="http://schemas.openxmlformats.org/officeDocument/2006/math">
                    <m:r>
                      <a:rPr lang="en-IN" sz="2800" i="1">
                        <a:solidFill>
                          <a:srgbClr val="15803D"/>
                        </a:solidFill>
                        <a:latin typeface="Cambria Math" panose="02040503050406030204" pitchFamily="18" charset="0"/>
                      </a:rPr>
                      <m:t>204</m:t>
                    </m:r>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a:t>
                </a:r>
                <a:r>
                  <a:rPr lang="en-IN" sz="2800">
                    <a:solidFill>
                      <a:srgbClr val="15803D"/>
                    </a:solidFill>
                    <a:latin typeface="Cambria Math" panose="02040503050406030204" pitchFamily="18" charset="0"/>
                  </a:rPr>
                  <a:t>$204$</a:t>
                </a:r>
                <a:endParaRPr sz="2800">
                  <a:solidFill>
                    <a:srgbClr val="15803D"/>
                  </a:solidFill>
                </a:endParaRPr>
              </a:p>
            </p:txBody>
          </p:sp>
        </mc:Fallback>
      </mc:AlternateContent>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3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the closed formula of the next question with </a:t>
                </a:r>
                <a14:m>
                  <m:oMath xmlns:m="http://schemas.openxmlformats.org/officeDocument/2006/math">
                    <m:r>
                      <a:rPr lang="en-IN" sz="2400" i="1">
                        <a:solidFill>
                          <a:srgbClr val="78350F"/>
                        </a:solidFill>
                        <a:latin typeface="Cambria Math" panose="02040503050406030204" pitchFamily="18" charset="0"/>
                      </a:rPr>
                      <m:t>𝑚</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9</m:t>
                    </m:r>
                  </m:oMath>
                </a14:m>
                <a:r>
                  <a:rPr sz="2400" b="0">
                    <a:solidFill>
                      <a:srgbClr val="78350F"/>
                    </a:solidFill>
                    <a:latin typeface="Arial"/>
                  </a:rPr>
                  <a:t> lines (an </a:t>
                </a:r>
                <a14:m>
                  <m:oMath xmlns:m="http://schemas.openxmlformats.org/officeDocument/2006/math">
                    <m:r>
                      <a:rPr lang="en-IN" sz="2400" i="1">
                        <a:solidFill>
                          <a:srgbClr val="78350F"/>
                        </a:solidFill>
                        <a:latin typeface="Cambria Math" panose="02040503050406030204" pitchFamily="18" charset="0"/>
                      </a:rPr>
                      <m:t>8</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8</m:t>
                    </m:r>
                  </m:oMath>
                </a14:m>
                <a:r>
                  <a:rPr sz="2400" b="0">
                    <a:solidFill>
                      <a:srgbClr val="78350F"/>
                    </a:solidFill>
                    <a:latin typeface="Arial"/>
                  </a:rPr>
                  <a:t> board has </a:t>
                </a:r>
                <a14:m>
                  <m:oMath xmlns:m="http://schemas.openxmlformats.org/officeDocument/2006/math">
                    <m:r>
                      <a:rPr lang="en-IN" sz="2400" i="1">
                        <a:solidFill>
                          <a:srgbClr val="78350F"/>
                        </a:solidFill>
                        <a:latin typeface="Cambria Math" panose="02040503050406030204" pitchFamily="18" charset="0"/>
                      </a:rPr>
                      <m:t>9</m:t>
                    </m:r>
                  </m:oMath>
                </a14:m>
                <a:r>
                  <a:rPr sz="2400" b="0">
                    <a:solidFill>
                      <a:srgbClr val="78350F"/>
                    </a:solidFill>
                    <a:latin typeface="Arial"/>
                  </a:rPr>
                  <a:t> lines each way).</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the closed formula of the next question with </a:t>
                </a:r>
                <a:r>
                  <a:rPr lang="en-IN" sz="2400">
                    <a:solidFill>
                      <a:srgbClr val="78350F"/>
                    </a:solidFill>
                    <a:latin typeface="Cambria Math" panose="02040503050406030204" pitchFamily="18" charset="0"/>
                  </a:rPr>
                  <a:t>$m=n=9$</a:t>
                </a:r>
                <a:r>
                  <a:rPr sz="2400" b="0">
                    <a:solidFill>
                      <a:srgbClr val="78350F"/>
                    </a:solidFill>
                    <a:latin typeface="Arial"/>
                  </a:rPr>
                  <a:t> lines (an </a:t>
                </a:r>
                <a:r>
                  <a:rPr lang="en-IN" sz="2400">
                    <a:solidFill>
                      <a:srgbClr val="78350F"/>
                    </a:solidFill>
                    <a:latin typeface="Cambria Math" panose="02040503050406030204" pitchFamily="18" charset="0"/>
                  </a:rPr>
                  <a:t>$8\times8$</a:t>
                </a:r>
                <a:r>
                  <a:rPr sz="2400" b="0">
                    <a:solidFill>
                      <a:srgbClr val="78350F"/>
                    </a:solidFill>
                    <a:latin typeface="Arial"/>
                  </a:rPr>
                  <a:t> board has </a:t>
                </a:r>
                <a:r>
                  <a:rPr lang="en-IN" sz="2400">
                    <a:solidFill>
                      <a:srgbClr val="78350F"/>
                    </a:solidFill>
                    <a:latin typeface="Cambria Math" panose="02040503050406030204" pitchFamily="18" charset="0"/>
                  </a:rPr>
                  <a:t>$9$</a:t>
                </a:r>
                <a:r>
                  <a:rPr sz="2400" b="0">
                    <a:solidFill>
                      <a:srgbClr val="78350F"/>
                    </a:solidFill>
                    <a:latin typeface="Arial"/>
                  </a:rPr>
                  <a:t> lines each way).</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An </a:t>
                </a:r>
                <a14:m>
                  <m:oMath xmlns:m="http://schemas.openxmlformats.org/officeDocument/2006/math">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 chess board is a network of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horizontal and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vertical lines.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Formula (Q24 with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6</m:t>
                        </m:r>
                      </m:den>
                    </m:f>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An </a:t>
                </a:r>
                <a:r>
                  <a:rPr lang="en-IN" sz="2400">
                    <a:solidFill>
                      <a:srgbClr val="111827"/>
                    </a:solidFill>
                    <a:latin typeface="Cambria Math" panose="02040503050406030204" pitchFamily="18" charset="0"/>
                  </a:rPr>
                  <a:t>$8\times8$</a:t>
                </a:r>
                <a:r>
                  <a:rPr sz="2400" b="0">
                    <a:solidFill>
                      <a:srgbClr val="111827"/>
                    </a:solidFill>
                    <a:latin typeface="Arial"/>
                  </a:rPr>
                  <a:t> chess board is a network of </a:t>
                </a:r>
                <a:r>
                  <a:rPr lang="en-IN" sz="2400">
                    <a:solidFill>
                      <a:srgbClr val="111827"/>
                    </a:solidFill>
                    <a:latin typeface="Cambria Math" panose="02040503050406030204" pitchFamily="18" charset="0"/>
                  </a:rPr>
                  <a:t>$m=9$</a:t>
                </a:r>
                <a:r>
                  <a:rPr sz="2400" b="0">
                    <a:solidFill>
                      <a:srgbClr val="111827"/>
                    </a:solidFill>
                    <a:latin typeface="Arial"/>
                  </a:rPr>
                  <a:t> horizontal and </a:t>
                </a:r>
                <a:r>
                  <a:rPr lang="en-IN" sz="2400">
                    <a:solidFill>
                      <a:srgbClr val="111827"/>
                    </a:solidFill>
                    <a:latin typeface="Cambria Math" panose="02040503050406030204" pitchFamily="18" charset="0"/>
                  </a:rPr>
                  <a:t>$n=9$</a:t>
                </a:r>
                <a:r>
                  <a:rPr sz="2400" b="0">
                    <a:solidFill>
                      <a:srgbClr val="111827"/>
                    </a:solidFill>
                    <a:latin typeface="Arial"/>
                  </a:rPr>
                  <a:t> vertical lines.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Formula (Q24 with </a:t>
                </a:r>
                <a:r>
                  <a:rPr lang="en-IN" sz="2400">
                    <a:solidFill>
                      <a:srgbClr val="111827"/>
                    </a:solidFill>
                    <a:latin typeface="Cambria Math" panose="02040503050406030204" pitchFamily="18" charset="0"/>
                  </a:rPr>
                  <a:t>$m=n=9$</a:t>
                </a:r>
                <a:r>
                  <a:rPr sz="2400" b="0">
                    <a:solidFill>
                      <a:srgbClr val="111827"/>
                    </a:solidFill>
                    <a:latin typeface="Arial"/>
                  </a:rPr>
                  <a:t>): </a:t>
                </a:r>
                <a:r>
                  <a:rPr lang="en-IN" sz="2400">
                    <a:solidFill>
                      <a:srgbClr val="111827"/>
                    </a:solidFill>
                    <a:latin typeface="Cambria Math" panose="02040503050406030204" pitchFamily="18" charset="0"/>
                  </a:rPr>
                  <a:t>$\dfrac{m(m-1)(3n-m-1)}{6}=\dfrac{9\cdot8\cdot(27-9-1)}{6}$</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3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17</m:t>
                        </m:r>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Or equivalently </a:t>
                </a:r>
                <a14:m>
                  <m:oMath xmlns:m="http://schemas.openxmlformats.org/officeDocument/2006/math">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8</m:t>
                        </m:r>
                      </m:sup>
                      <m:e>
                        <m:sSup>
                          <m:e>
                            <m:r>
                              <a:rPr lang="en-IN" sz="2400" i="1">
                                <a:solidFill>
                                  <a:srgbClr val="111827"/>
                                </a:solidFill>
                                <a:latin typeface="Cambria Math" panose="02040503050406030204" pitchFamily="18" charset="0"/>
                              </a:rPr>
                              <m:t>𝑘</m:t>
                            </m:r>
                          </m:e>
                          <m:sup>
                            <m:r>
                              <a:rPr lang="en-IN" sz="2400" i="1">
                                <a:solidFill>
                                  <a:srgbClr val="111827"/>
                                </a:solidFill>
                                <a:latin typeface="Cambria Math" panose="02040503050406030204" pitchFamily="18" charset="0"/>
                              </a:rPr>
                              <m:t>2</m:t>
                            </m:r>
                          </m:sup>
                        </m:sSup>
                      </m:e>
                    </m:nary>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17</m:t>
                        </m:r>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204</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$=\dfrac{72\times17}{6}=204$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Or equivalently </a:t>
                </a:r>
                <a:r>
                  <a:rPr lang="en-IN" sz="2400">
                    <a:solidFill>
                      <a:srgbClr val="111827"/>
                    </a:solidFill>
                    <a:latin typeface="Cambria Math" panose="02040503050406030204" pitchFamily="18" charset="0"/>
                  </a:rPr>
                  <a:t>$\sum_{k=1}^{8}k^2=\dfrac{8\cdot9\cdot17}{6}=204$</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a:t>
                </a:r>
                <a14:m>
                  <m:oMath xmlns:m="http://schemas.openxmlformats.org/officeDocument/2006/math">
                    <m:r>
                      <a:rPr lang="en-IN" sz="2800" i="1">
                        <a:solidFill>
                          <a:srgbClr val="15803D"/>
                        </a:solidFill>
                        <a:latin typeface="Cambria Math" panose="02040503050406030204" pitchFamily="18" charset="0"/>
                      </a:rPr>
                      <m:t>204</m:t>
                    </m:r>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a:t>
                </a:r>
                <a:r>
                  <a:rPr lang="en-IN" sz="2800">
                    <a:solidFill>
                      <a:srgbClr val="15803D"/>
                    </a:solidFill>
                    <a:latin typeface="Cambria Math" panose="02040503050406030204" pitchFamily="18" charset="0"/>
                  </a:rPr>
                  <a:t>$204$</a:t>
                </a:r>
                <a:endParaRPr sz="2800">
                  <a:solidFill>
                    <a:srgbClr val="15803D"/>
                  </a:solidFill>
                </a:endParaRPr>
              </a:p>
            </p:txBody>
          </p:sp>
        </mc:Fallback>
      </mc:AlternateContent>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3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Squares in an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oMath>
                </a14:m>
                <a:r>
                  <a:rPr sz="2400" b="0">
                    <a:solidFill>
                      <a:srgbClr val="111827"/>
                    </a:solidFill>
                    <a:latin typeface="Arial"/>
                  </a:rPr>
                  <a:t> board: </a:t>
                </a:r>
                <a14:m>
                  <m:oMath xmlns:m="http://schemas.openxmlformats.org/officeDocument/2006/math">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𝑛</m:t>
                        </m:r>
                      </m:sup>
                      <m:e>
                        <m:sSup>
                          <m:e>
                            <m:r>
                              <a:rPr lang="en-IN" sz="2400" i="1">
                                <a:solidFill>
                                  <a:srgbClr val="111827"/>
                                </a:solidFill>
                                <a:latin typeface="Cambria Math" panose="02040503050406030204" pitchFamily="18" charset="0"/>
                              </a:rPr>
                              <m:t>𝑘</m:t>
                            </m:r>
                          </m:e>
                          <m:sup>
                            <m:r>
                              <a:rPr lang="en-IN" sz="2400" i="1">
                                <a:solidFill>
                                  <a:srgbClr val="111827"/>
                                </a:solidFill>
                                <a:latin typeface="Cambria Math" panose="02040503050406030204" pitchFamily="18" charset="0"/>
                              </a:rPr>
                              <m:t>2</m:t>
                            </m:r>
                          </m:sup>
                        </m:sSup>
                      </m:e>
                    </m:nary>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6</m:t>
                        </m:r>
                      </m:den>
                    </m:f>
                  </m:oMath>
                </a14:m>
                <a:r>
                  <a:rPr sz="2400" b="0">
                    <a:solidFill>
                      <a:srgbClr val="111827"/>
                    </a:solidFill>
                    <a:latin typeface="Arial"/>
                  </a:rPr>
                  <a:t>; rectangles: </a:t>
                </a: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den>
                            </m:f>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𝑘</m:t>
                        </m:r>
                      </m:e>
                      <m:sup>
                        <m:r>
                          <a:rPr lang="en-IN" sz="2400" i="1">
                            <a:solidFill>
                              <a:srgbClr val="111827"/>
                            </a:solidFill>
                            <a:latin typeface="Cambria Math" panose="02040503050406030204" pitchFamily="18" charset="0"/>
                          </a:rPr>
                          <m:t>3</m:t>
                        </m:r>
                      </m:sup>
                    </m:sSup>
                  </m:oMath>
                </a14:m>
                <a:r>
                  <a:rPr sz="2400" b="0">
                    <a:solidFill>
                      <a:srgbClr val="111827"/>
                    </a:solidFill>
                    <a:latin typeface="Arial"/>
                  </a:rPr>
                  <a:t> (here </a:t>
                </a:r>
                <a14:m>
                  <m:oMath xmlns:m="http://schemas.openxmlformats.org/officeDocument/2006/math">
                    <m:sSup>
                      <m:e>
                        <m:r>
                          <a:rPr lang="en-IN" sz="2400" i="1">
                            <a:solidFill>
                              <a:srgbClr val="111827"/>
                            </a:solidFill>
                            <a:latin typeface="Cambria Math" panose="02040503050406030204" pitchFamily="18" charset="0"/>
                          </a:rPr>
                          <m:t>36</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1296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Squares in an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oMath>
                </a14:m>
                <a:r>
                  <a:rPr sz="2400" b="0">
                    <a:solidFill>
                      <a:srgbClr val="111827"/>
                    </a:solidFill>
                    <a:latin typeface="Arial"/>
                  </a:rPr>
                  <a:t> board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oMath>
                </a14:m>
                <a:r>
                  <a:rPr sz="2400" b="0">
                    <a:solidFill>
                      <a:srgbClr val="111827"/>
                    </a:solidFill>
                    <a:latin typeface="Arial"/>
                  </a:rPr>
                  <a:t>): </a:t>
                </a:r>
                <a14:m>
                  <m:oMath xmlns:m="http://schemas.openxmlformats.org/officeDocument/2006/math">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𝑚</m:t>
                        </m:r>
                      </m:sup>
                      <m:e>
                        <m:r>
                          <m:rPr>
                            <m:sty m:val="p"/>
                          </m:rPr>
                          <a:rPr lang="en-IN" sz="2400">
                            <a:solidFill>
                              <a:srgbClr val="111827"/>
                            </a:solidFill>
                            <a:latin typeface="Cambria Math" panose="02040503050406030204" pitchFamily="18" charset="0"/>
                          </a:rPr>
                          <m:t>(</m:t>
                        </m:r>
                      </m:e>
                    </m:nary>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Distractor warning: </a:t>
                </a:r>
                <a14:m>
                  <m:oMath xmlns:m="http://schemas.openxmlformats.org/officeDocument/2006/math">
                    <m:r>
                      <a:rPr lang="en-IN" sz="2400" i="1">
                        <a:solidFill>
                          <a:srgbClr val="111827"/>
                        </a:solidFill>
                        <a:latin typeface="Cambria Math" panose="02040503050406030204" pitchFamily="18" charset="0"/>
                      </a:rPr>
                      <m:t>285</m:t>
                    </m:r>
                    <m:r>
                      <m:rPr>
                        <m:sty m:val="p"/>
                      </m:rPr>
                      <a:rPr lang="en-IN" sz="2400">
                        <a:solidFill>
                          <a:srgbClr val="111827"/>
                        </a:solidFill>
                        <a:latin typeface="Cambria Math" panose="02040503050406030204" pitchFamily="18" charset="0"/>
                      </a:rPr>
                      <m:t>=</m:t>
                    </m:r>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9</m:t>
                        </m:r>
                      </m:sup>
                      <m:e>
                        <m:sSup>
                          <m:e>
                            <m:r>
                              <a:rPr lang="en-IN" sz="2400" i="1">
                                <a:solidFill>
                                  <a:srgbClr val="111827"/>
                                </a:solidFill>
                                <a:latin typeface="Cambria Math" panose="02040503050406030204" pitchFamily="18" charset="0"/>
                              </a:rPr>
                              <m:t>𝑘</m:t>
                            </m:r>
                          </m:e>
                          <m:sup>
                            <m:r>
                              <a:rPr lang="en-IN" sz="2400" i="1">
                                <a:solidFill>
                                  <a:srgbClr val="111827"/>
                                </a:solidFill>
                                <a:latin typeface="Cambria Math" panose="02040503050406030204" pitchFamily="18" charset="0"/>
                              </a:rPr>
                              <m:t>2</m:t>
                            </m:r>
                          </m:sup>
                        </m:sSup>
                      </m:e>
                    </m:nary>
                  </m:oMath>
                </a14:m>
                <a:r>
                  <a:rPr sz="2400" b="0">
                    <a:solidFill>
                      <a:srgbClr val="111827"/>
                    </a:solidFill>
                    <a:latin typeface="Arial"/>
                  </a:rPr>
                  <a:t> is the </a:t>
                </a:r>
                <a14:m>
                  <m:oMath xmlns:m="http://schemas.openxmlformats.org/officeDocument/2006/math">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board; </a:t>
                </a:r>
                <a14:m>
                  <m:oMath xmlns:m="http://schemas.openxmlformats.org/officeDocument/2006/math">
                    <m:r>
                      <a:rPr lang="en-IN" sz="2400" i="1">
                        <a:solidFill>
                          <a:srgbClr val="111827"/>
                        </a:solidFill>
                        <a:latin typeface="Cambria Math" panose="02040503050406030204" pitchFamily="18" charset="0"/>
                      </a:rPr>
                      <m:t>64</m:t>
                    </m:r>
                  </m:oMath>
                </a14:m>
                <a:r>
                  <a:rPr sz="2400" b="0">
                    <a:solidFill>
                      <a:srgbClr val="111827"/>
                    </a:solidFill>
                    <a:latin typeface="Arial"/>
                  </a:rPr>
                  <a:t> counts unit squares only.</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Squares in an </a:t>
                </a:r>
                <a:r>
                  <a:rPr lang="en-IN" sz="2400">
                    <a:solidFill>
                      <a:srgbClr val="111827"/>
                    </a:solidFill>
                    <a:latin typeface="Cambria Math" panose="02040503050406030204" pitchFamily="18" charset="0"/>
                  </a:rPr>
                  <a:t>$n\times n$</a:t>
                </a:r>
                <a:r>
                  <a:rPr sz="2400" b="0">
                    <a:solidFill>
                      <a:srgbClr val="111827"/>
                    </a:solidFill>
                    <a:latin typeface="Arial"/>
                  </a:rPr>
                  <a:t> board: </a:t>
                </a:r>
                <a:r>
                  <a:rPr lang="en-IN" sz="2400">
                    <a:solidFill>
                      <a:srgbClr val="111827"/>
                    </a:solidFill>
                    <a:latin typeface="Cambria Math" panose="02040503050406030204" pitchFamily="18" charset="0"/>
                  </a:rPr>
                  <a:t>$\sum_{k=1}^{n}k^2=\dfrac{n(n+1)(2n+1)}{6}$</a:t>
                </a:r>
                <a:r>
                  <a:rPr sz="2400" b="0">
                    <a:solidFill>
                      <a:srgbClr val="111827"/>
                    </a:solidFill>
                    <a:latin typeface="Arial"/>
                  </a:rPr>
                  <a:t>; rectangles: </a:t>
                </a:r>
                <a:r>
                  <a:rPr lang="en-IN" sz="2400">
                    <a:solidFill>
                      <a:srgbClr val="111827"/>
                    </a:solidFill>
                    <a:latin typeface="Cambria Math" panose="02040503050406030204" pitchFamily="18" charset="0"/>
                  </a:rPr>
                  <a:t>$\left(\dfrac{n(n+1)}2\right)^2=\sum k^3$</a:t>
                </a:r>
                <a:r>
                  <a:rPr sz="2400" b="0">
                    <a:solidFill>
                      <a:srgbClr val="111827"/>
                    </a:solidFill>
                    <a:latin typeface="Arial"/>
                  </a:rPr>
                  <a:t> (here </a:t>
                </a:r>
                <a:r>
                  <a:rPr lang="en-IN" sz="2400">
                    <a:solidFill>
                      <a:srgbClr val="111827"/>
                    </a:solidFill>
                    <a:latin typeface="Cambria Math" panose="02040503050406030204" pitchFamily="18" charset="0"/>
                  </a:rPr>
                  <a:t>$36^2=1296$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Squares in an </a:t>
                </a:r>
                <a:r>
                  <a:rPr lang="en-IN" sz="2400">
                    <a:solidFill>
                      <a:srgbClr val="111827"/>
                    </a:solidFill>
                    <a:latin typeface="Cambria Math" panose="02040503050406030204" pitchFamily="18" charset="0"/>
                  </a:rPr>
                  <a:t>$m\times n$</a:t>
                </a:r>
                <a:r>
                  <a:rPr sz="2400" b="0">
                    <a:solidFill>
                      <a:srgbClr val="111827"/>
                    </a:solidFill>
                    <a:latin typeface="Arial"/>
                  </a:rPr>
                  <a:t> board (</a:t>
                </a:r>
                <a:r>
                  <a:rPr lang="en-IN" sz="2400">
                    <a:solidFill>
                      <a:srgbClr val="111827"/>
                    </a:solidFill>
                    <a:latin typeface="Cambria Math" panose="02040503050406030204" pitchFamily="18" charset="0"/>
                  </a:rPr>
                  <a:t>$m\le n$</a:t>
                </a:r>
                <a:r>
                  <a:rPr sz="2400" b="0">
                    <a:solidFill>
                      <a:srgbClr val="111827"/>
                    </a:solidFill>
                    <a:latin typeface="Arial"/>
                  </a:rPr>
                  <a:t>): </a:t>
                </a:r>
                <a:r>
                  <a:rPr lang="en-IN" sz="2400">
                    <a:solidFill>
                      <a:srgbClr val="111827"/>
                    </a:solidFill>
                    <a:latin typeface="Cambria Math" panose="02040503050406030204" pitchFamily="18" charset="0"/>
                  </a:rPr>
                  <a:t>$\sum_{k=1}^{m}(m-k+1)(n-k+1)$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Distractor warning: </a:t>
                </a:r>
                <a:r>
                  <a:rPr lang="en-IN" sz="2400">
                    <a:solidFill>
                      <a:srgbClr val="111827"/>
                    </a:solidFill>
                    <a:latin typeface="Cambria Math" panose="02040503050406030204" pitchFamily="18" charset="0"/>
                  </a:rPr>
                  <a:t>$285=\sum_{k=1}^{9}k^2$</a:t>
                </a:r>
                <a:r>
                  <a:rPr sz="2400" b="0">
                    <a:solidFill>
                      <a:srgbClr val="111827"/>
                    </a:solidFill>
                    <a:latin typeface="Arial"/>
                  </a:rPr>
                  <a:t> is the </a:t>
                </a:r>
                <a:r>
                  <a:rPr lang="en-IN" sz="2400">
                    <a:solidFill>
                      <a:srgbClr val="111827"/>
                    </a:solidFill>
                    <a:latin typeface="Cambria Math" panose="02040503050406030204" pitchFamily="18" charset="0"/>
                  </a:rPr>
                  <a:t>$9\times9$</a:t>
                </a:r>
                <a:r>
                  <a:rPr sz="2400" b="0">
                    <a:solidFill>
                      <a:srgbClr val="111827"/>
                    </a:solidFill>
                    <a:latin typeface="Arial"/>
                  </a:rPr>
                  <a:t> board; </a:t>
                </a:r>
                <a:r>
                  <a:rPr lang="en-IN" sz="2400">
                    <a:solidFill>
                      <a:srgbClr val="111827"/>
                    </a:solidFill>
                    <a:latin typeface="Cambria Math" panose="02040503050406030204" pitchFamily="18" charset="0"/>
                  </a:rPr>
                  <a:t>$64$</a:t>
                </a:r>
                <a:r>
                  <a:rPr sz="2400" b="0">
                    <a:solidFill>
                      <a:srgbClr val="111827"/>
                    </a:solidFill>
                    <a:latin typeface="Arial"/>
                  </a:rPr>
                  <a:t> counts unit squares only.</a:t>
                </a:r>
                <a:endParaRPr sz="2400">
                  <a:solidFill>
                    <a:srgbClr val="111827"/>
                  </a:solidFill>
                </a:endParaRPr>
              </a:p>
            </p:txBody>
          </p:sp>
        </mc:Fallback>
      </mc:AlternateContent>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42138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Paragraph: When </a:t>
                </a:r>
                <a14:m>
                  <m:oMath xmlns:m="http://schemas.openxmlformats.org/officeDocument/2006/math">
                    <m:r>
                      <a:rPr lang="en-IN" sz="2400" i="1">
                        <a:solidFill>
                          <a:srgbClr val="111827"/>
                        </a:solidFill>
                        <a:latin typeface="Cambria Math" panose="02040503050406030204" pitchFamily="18" charset="0"/>
                      </a:rPr>
                      <m:t>𝑚</m:t>
                    </m:r>
                  </m:oMath>
                </a14:m>
                <a:r>
                  <a:rPr sz="2400" b="0">
                    <a:solidFill>
                      <a:srgbClr val="111827"/>
                    </a:solidFill>
                    <a:latin typeface="Arial"/>
                  </a:rPr>
                  <a:t> equally spaced parallel lines are intersected by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equally spaced parallel lines, a network of rectangles or squares is formed. The number of rectangles is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𝑚</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The squares have several dimensions. The smallest square is of dimension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the number of such squares is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The total number of squares, when </a:t>
                </a:r>
                <a14:m>
                  <m:oMath xmlns:m="http://schemas.openxmlformats.org/officeDocument/2006/math">
                    <m:r>
                      <a:rPr lang="en-IN" sz="2400" i="1">
                        <a:solidFill>
                          <a:srgbClr val="111827"/>
                        </a:solidFill>
                        <a:latin typeface="Cambria Math" panose="02040503050406030204" pitchFamily="18" charset="0"/>
                      </a:rPr>
                      <m:t>𝑚</m:t>
                    </m:r>
                  </m:oMath>
                </a14:m>
                <a:r>
                  <a:rPr sz="2400" b="0">
                    <a:solidFill>
                      <a:srgbClr val="111827"/>
                    </a:solidFill>
                    <a:latin typeface="Arial"/>
                  </a:rPr>
                  <a:t> such lines (as described in the passage) are intersected by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such lines, must be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𝑛</m:t>
                    </m:r>
                  </m:oMath>
                </a14:m>
                <a:r>
                  <a:rPr sz="2400" b="0">
                    <a:solidFill>
                      <a:srgbClr val="111827"/>
                    </a:solidFill>
                    <a:latin typeface="Arial"/>
                  </a:rPr>
                  <a: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𝑚</m:t>
                    </m:r>
                    <m:r>
                      <a:rPr lang="en-IN" sz="2400" i="1">
                        <a:solidFill>
                          <a:srgbClr val="111827"/>
                        </a:solidFill>
                        <a:latin typeface="Cambria Math" panose="02040503050406030204" pitchFamily="18" charset="0"/>
                      </a:rPr>
                      <m:t>𝑛</m:t>
                    </m:r>
                  </m:oMath>
                </a14:m>
                <a:r>
                  <a:rPr sz="2400" b="0">
                    <a:solidFill>
                      <a:srgbClr val="111827"/>
                    </a:solidFill>
                    <a:latin typeface="Arial"/>
                  </a:rPr>
                  <a:t>   (B)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(C)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6</m:t>
                        </m:r>
                      </m:den>
                    </m:f>
                  </m:oMath>
                </a14:m>
                <a:r>
                  <a:rPr sz="2400" b="0">
                    <a:solidFill>
                      <a:srgbClr val="111827"/>
                    </a:solidFill>
                    <a:latin typeface="Arial"/>
                  </a:rPr>
                  <a:t>   (D)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6</m:t>
                        </m:r>
                      </m:den>
                    </m:f>
                  </m:oMath>
                </a14:m>
                <a:endParaRPr sz="2400">
                  <a:solidFill>
                    <a:srgbClr val="111827"/>
                  </a:solidFill>
                </a:endParaRPr>
              </a:p>
            </p:txBody>
          </p:sp>
        </mc:Choice>
        <mc:Fallback>
          <p:sp>
            <p:nvSpPr>
              <p:cNvPr id="4" name="Rounded Rectangle 3"/>
              <p:cNvSpPr/>
              <p:nvPr/>
            </p:nvSpPr>
            <p:spPr>
              <a:xfrm>
                <a:off x="731520" y="1280160"/>
                <a:ext cx="10725912" cy="42138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Paragraph: When </a:t>
                </a:r>
                <a:r>
                  <a:rPr lang="en-IN" sz="2400">
                    <a:solidFill>
                      <a:srgbClr val="111827"/>
                    </a:solidFill>
                    <a:latin typeface="Cambria Math" panose="02040503050406030204" pitchFamily="18" charset="0"/>
                  </a:rPr>
                  <a:t>$m$</a:t>
                </a:r>
                <a:r>
                  <a:rPr sz="2400" b="0">
                    <a:solidFill>
                      <a:srgbClr val="111827"/>
                    </a:solidFill>
                    <a:latin typeface="Arial"/>
                  </a:rPr>
                  <a:t> equally spaced parallel lines are intersected by </a:t>
                </a:r>
                <a:r>
                  <a:rPr lang="en-IN" sz="2400">
                    <a:solidFill>
                      <a:srgbClr val="111827"/>
                    </a:solidFill>
                    <a:latin typeface="Cambria Math" panose="02040503050406030204" pitchFamily="18" charset="0"/>
                  </a:rPr>
                  <a:t>$n$</a:t>
                </a:r>
                <a:r>
                  <a:rPr sz="2400" b="0">
                    <a:solidFill>
                      <a:srgbClr val="111827"/>
                    </a:solidFill>
                    <a:latin typeface="Arial"/>
                  </a:rPr>
                  <a:t> equally spaced parallel lines, a network of rectangles or squares is formed. The number of rectangles is </a:t>
                </a:r>
                <a:r>
                  <a:rPr lang="en-IN" sz="2400">
                    <a:solidFill>
                      <a:srgbClr val="111827"/>
                    </a:solidFill>
                    <a:latin typeface="Cambria Math" panose="02040503050406030204" pitchFamily="18" charset="0"/>
                  </a:rPr>
                  <a:t>${}^mC_2\cdot{}^nC_2$</a:t>
                </a:r>
                <a:r>
                  <a:rPr sz="2400" b="0">
                    <a:solidFill>
                      <a:srgbClr val="111827"/>
                    </a:solidFill>
                    <a:latin typeface="Arial"/>
                  </a:rPr>
                  <a:t>. The squares have several dimensions. The smallest square is of dimension </a:t>
                </a:r>
                <a:r>
                  <a:rPr lang="en-IN" sz="2400">
                    <a:solidFill>
                      <a:srgbClr val="111827"/>
                    </a:solidFill>
                    <a:latin typeface="Cambria Math" panose="02040503050406030204" pitchFamily="18" charset="0"/>
                  </a:rPr>
                  <a:t>$1\times1$</a:t>
                </a:r>
                <a:r>
                  <a:rPr sz="2400" b="0">
                    <a:solidFill>
                      <a:srgbClr val="111827"/>
                    </a:solidFill>
                    <a:latin typeface="Arial"/>
                  </a:rPr>
                  <a:t>, and the number of such squares is </a:t>
                </a:r>
                <a:r>
                  <a:rPr lang="en-IN" sz="2400">
                    <a:solidFill>
                      <a:srgbClr val="111827"/>
                    </a:solidFill>
                    <a:latin typeface="Cambria Math" panose="02040503050406030204" pitchFamily="18" charset="0"/>
                  </a:rPr>
                  <a:t>$(m-1)\times(n-1)$</a:t>
                </a:r>
                <a:r>
                  <a:rPr sz="2400" b="0">
                    <a:solidFill>
                      <a:srgbClr val="111827"/>
                    </a:solidFill>
                    <a:latin typeface="Arial"/>
                  </a:rPr>
                  <a: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The total number of squares, when </a:t>
                </a:r>
                <a:r>
                  <a:rPr lang="en-IN" sz="2400">
                    <a:solidFill>
                      <a:srgbClr val="111827"/>
                    </a:solidFill>
                    <a:latin typeface="Cambria Math" panose="02040503050406030204" pitchFamily="18" charset="0"/>
                  </a:rPr>
                  <a:t>$m$</a:t>
                </a:r>
                <a:r>
                  <a:rPr sz="2400" b="0">
                    <a:solidFill>
                      <a:srgbClr val="111827"/>
                    </a:solidFill>
                    <a:latin typeface="Arial"/>
                  </a:rPr>
                  <a:t> such lines (as described in the passage) are intersected by </a:t>
                </a:r>
                <a:r>
                  <a:rPr lang="en-IN" sz="2400">
                    <a:solidFill>
                      <a:srgbClr val="111827"/>
                    </a:solidFill>
                    <a:latin typeface="Cambria Math" panose="02040503050406030204" pitchFamily="18" charset="0"/>
                  </a:rPr>
                  <a:t>$n$</a:t>
                </a:r>
                <a:r>
                  <a:rPr sz="2400" b="0">
                    <a:solidFill>
                      <a:srgbClr val="111827"/>
                    </a:solidFill>
                    <a:latin typeface="Arial"/>
                  </a:rPr>
                  <a:t> such lines, must be (</a:t>
                </a:r>
                <a:r>
                  <a:rPr lang="en-IN" sz="2400">
                    <a:solidFill>
                      <a:srgbClr val="111827"/>
                    </a:solidFill>
                    <a:latin typeface="Cambria Math" panose="02040503050406030204" pitchFamily="18" charset="0"/>
                  </a:rPr>
                  <a:t>$m&lt;n$</a:t>
                </a:r>
                <a:r>
                  <a:rPr sz="2400" b="0">
                    <a:solidFill>
                      <a:srgbClr val="111827"/>
                    </a:solidFill>
                    <a:latin typeface="Arial"/>
                  </a:rPr>
                  <a: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$mn$</a:t>
                </a:r>
                <a:r>
                  <a:rPr sz="2400" b="0">
                    <a:solidFill>
                      <a:srgbClr val="111827"/>
                    </a:solidFill>
                    <a:latin typeface="Arial"/>
                  </a:rPr>
                  <a:t>   (B) </a:t>
                </a:r>
                <a:r>
                  <a:rPr lang="en-IN" sz="2400">
                    <a:solidFill>
                      <a:srgbClr val="111827"/>
                    </a:solidFill>
                    <a:latin typeface="Cambria Math" panose="02040503050406030204" pitchFamily="18" charset="0"/>
                  </a:rPr>
                  <a:t>$\dfrac{m(m-1)n(n-1)}{4}$</a:t>
                </a:r>
                <a:r>
                  <a:rPr sz="2400" b="0">
                    <a:solidFill>
                      <a:srgbClr val="111827"/>
                    </a:solidFill>
                    <a:latin typeface="Arial"/>
                  </a:rPr>
                  <a:t>   (C) </a:t>
                </a:r>
                <a:r>
                  <a:rPr lang="en-IN" sz="2400">
                    <a:solidFill>
                      <a:srgbClr val="111827"/>
                    </a:solidFill>
                    <a:latin typeface="Cambria Math" panose="02040503050406030204" pitchFamily="18" charset="0"/>
                  </a:rPr>
                  <a:t>$\dfrac{n(n-1)(3m-n-1)}{6}$</a:t>
                </a:r>
                <a:r>
                  <a:rPr sz="2400" b="0">
                    <a:solidFill>
                      <a:srgbClr val="111827"/>
                    </a:solidFill>
                    <a:latin typeface="Arial"/>
                  </a:rPr>
                  <a:t>   (D) </a:t>
                </a:r>
                <a:r>
                  <a:rPr lang="en-IN" sz="2400">
                    <a:solidFill>
                      <a:srgbClr val="111827"/>
                    </a:solidFill>
                    <a:latin typeface="Cambria Math" panose="02040503050406030204" pitchFamily="18" charset="0"/>
                  </a:rPr>
                  <a:t>$\dfrac{m(m-1)(3n-m-1)}{6}$</a:t>
                </a:r>
                <a:endParaRPr sz="2400">
                  <a:solidFill>
                    <a:srgbClr val="111827"/>
                  </a:solidFill>
                </a:endParaRPr>
              </a:p>
            </p:txBody>
          </p:sp>
        </mc:Fallback>
      </mc:AlternateContent>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280160"/>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Paragraph Based Single Correct Type(3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Counting squares in an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oMath>
                </a14:m>
                <a:r>
                  <a:rPr sz="2400" b="0">
                    <a:solidFill>
                      <a:srgbClr val="111827"/>
                    </a:solidFill>
                    <a:latin typeface="Arial"/>
                  </a:rPr>
                  <a:t> network (summation of a series)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mc:Choice>
        <mc:Fallback>
          <p:sp>
            <p:nvSpPr>
              <p:cNvPr id="4" name="Rectangle 3"/>
              <p:cNvSpPr/>
              <p:nvPr/>
            </p:nvSpPr>
            <p:spPr>
              <a:xfrm>
                <a:off x="731520" y="1280160"/>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Paragraph Based Single Correct Type(3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Counting squares in an </a:t>
                </a:r>
                <a:r>
                  <a:rPr lang="en-IN" sz="2400">
                    <a:solidFill>
                      <a:srgbClr val="111827"/>
                    </a:solidFill>
                    <a:latin typeface="Cambria Math" panose="02040503050406030204" pitchFamily="18" charset="0"/>
                  </a:rPr>
                  <a:t>$m\times n$</a:t>
                </a:r>
                <a:r>
                  <a:rPr sz="2400" b="0">
                    <a:solidFill>
                      <a:srgbClr val="111827"/>
                    </a:solidFill>
                    <a:latin typeface="Arial"/>
                  </a:rPr>
                  <a:t> network (summation of a series)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365760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Squares of side </a:t>
                </a:r>
                <a14:m>
                  <m:oMath xmlns:m="http://schemas.openxmlformats.org/officeDocument/2006/math">
                    <m:r>
                      <a:rPr lang="en-IN" sz="2400" i="1">
                        <a:solidFill>
                          <a:srgbClr val="78350F"/>
                        </a:solidFill>
                        <a:latin typeface="Cambria Math" panose="02040503050406030204" pitchFamily="18" charset="0"/>
                      </a:rPr>
                      <m:t>𝑟</m:t>
                    </m:r>
                  </m:oMath>
                </a14:m>
                <a:r>
                  <a:rPr sz="2400" b="0">
                    <a:solidFill>
                      <a:srgbClr val="78350F"/>
                    </a:solidFill>
                    <a:latin typeface="Arial"/>
                  </a:rPr>
                  <a:t> number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𝑚</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𝑟</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𝑟</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sum over </a:t>
                </a:r>
                <a14:m>
                  <m:oMath xmlns:m="http://schemas.openxmlformats.org/officeDocument/2006/math">
                    <m:r>
                      <a:rPr lang="en-IN" sz="2400" i="1">
                        <a:solidFill>
                          <a:srgbClr val="78350F"/>
                        </a:solidFill>
                        <a:latin typeface="Cambria Math" panose="02040503050406030204" pitchFamily="18" charset="0"/>
                      </a:rPr>
                      <m:t>𝑟</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𝑚</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 using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𝑟</m:t>
                    </m:r>
                  </m:oMath>
                </a14:m>
                <a:r>
                  <a:rPr sz="2400" b="0">
                    <a:solidFill>
                      <a:srgbClr val="78350F"/>
                    </a:solidFill>
                    <a:latin typeface="Arial"/>
                  </a:rPr>
                  <a:t> and </a:t>
                </a:r>
                <a14:m>
                  <m:oMath xmlns:m="http://schemas.openxmlformats.org/officeDocument/2006/math">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𝑟</m:t>
                        </m:r>
                      </m:e>
                      <m:sup>
                        <m:r>
                          <a:rPr lang="en-IN" sz="2400" i="1">
                            <a:solidFill>
                              <a:srgbClr val="78350F"/>
                            </a:solidFill>
                            <a:latin typeface="Cambria Math" panose="02040503050406030204" pitchFamily="18" charset="0"/>
                          </a:rPr>
                          <m:t>2</m:t>
                        </m:r>
                      </m:sup>
                    </m:sSup>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365760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Squares of side </a:t>
                </a:r>
                <a:r>
                  <a:rPr lang="en-IN" sz="2400">
                    <a:solidFill>
                      <a:srgbClr val="78350F"/>
                    </a:solidFill>
                    <a:latin typeface="Cambria Math" panose="02040503050406030204" pitchFamily="18" charset="0"/>
                  </a:rPr>
                  <a:t>$r$</a:t>
                </a:r>
                <a:r>
                  <a:rPr sz="2400" b="0">
                    <a:solidFill>
                      <a:srgbClr val="78350F"/>
                    </a:solidFill>
                    <a:latin typeface="Arial"/>
                  </a:rPr>
                  <a:t> number </a:t>
                </a:r>
                <a:r>
                  <a:rPr lang="en-IN" sz="2400">
                    <a:solidFill>
                      <a:srgbClr val="78350F"/>
                    </a:solidFill>
                    <a:latin typeface="Cambria Math" panose="02040503050406030204" pitchFamily="18" charset="0"/>
                  </a:rPr>
                  <a:t>$(m-r)(n-r)$</a:t>
                </a:r>
                <a:r>
                  <a:rPr sz="2400" b="0">
                    <a:solidFill>
                      <a:srgbClr val="78350F"/>
                    </a:solidFill>
                    <a:latin typeface="Arial"/>
                  </a:rPr>
                  <a:t>; sum over </a:t>
                </a:r>
                <a:r>
                  <a:rPr lang="en-IN" sz="2400">
                    <a:solidFill>
                      <a:srgbClr val="78350F"/>
                    </a:solidFill>
                    <a:latin typeface="Cambria Math" panose="02040503050406030204" pitchFamily="18" charset="0"/>
                  </a:rPr>
                  <a:t>$r=1,\dots,m-1$</a:t>
                </a:r>
                <a:r>
                  <a:rPr sz="2400" b="0">
                    <a:solidFill>
                      <a:srgbClr val="78350F"/>
                    </a:solidFill>
                    <a:latin typeface="Arial"/>
                  </a:rPr>
                  <a:t> using </a:t>
                </a:r>
                <a:r>
                  <a:rPr lang="en-IN" sz="2400">
                    <a:solidFill>
                      <a:srgbClr val="78350F"/>
                    </a:solidFill>
                    <a:latin typeface="Cambria Math" panose="02040503050406030204" pitchFamily="18" charset="0"/>
                  </a:rPr>
                  <a:t>$\sum r$</a:t>
                </a:r>
                <a:r>
                  <a:rPr sz="2400" b="0">
                    <a:solidFill>
                      <a:srgbClr val="78350F"/>
                    </a:solidFill>
                    <a:latin typeface="Arial"/>
                  </a:rPr>
                  <a:t> and </a:t>
                </a:r>
                <a:r>
                  <a:rPr lang="en-IN" sz="2400">
                    <a:solidFill>
                      <a:srgbClr val="78350F"/>
                    </a:solidFill>
                    <a:latin typeface="Cambria Math" panose="02040503050406030204" pitchFamily="18" charset="0"/>
                  </a:rPr>
                  <a:t>$\sum r^2$</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4904232"/>
                <a:ext cx="10725912" cy="1770887"/>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Squares of side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Write it as </a:t>
                </a:r>
                <a14:m>
                  <m:oMath xmlns:m="http://schemas.openxmlformats.org/officeDocument/2006/math">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e>
                        <m:r>
                          <m:rPr>
                            <m:sty m:val="p"/>
                          </m:rPr>
                          <a:rPr lang="en-IN" sz="2400">
                            <a:solidFill>
                              <a:srgbClr val="111827"/>
                            </a:solidFill>
                            <a:latin typeface="Cambria Math" panose="02040503050406030204" pitchFamily="18" charset="0"/>
                          </a:rPr>
                          <m:t>(</m:t>
                        </m:r>
                      </m:e>
                    </m:nary>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4904232"/>
                <a:ext cx="10725912" cy="1770887"/>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Squares of side </a:t>
                </a:r>
                <a:r>
                  <a:rPr lang="en-IN" sz="2400">
                    <a:solidFill>
                      <a:srgbClr val="111827"/>
                    </a:solidFill>
                    <a:latin typeface="Cambria Math" panose="02040503050406030204" pitchFamily="18" charset="0"/>
                  </a:rPr>
                  <a:t>$1,2,\dots,m-1$</a:t>
                </a:r>
                <a:r>
                  <a:rPr sz="2400" b="0">
                    <a:solidFill>
                      <a:srgbClr val="111827"/>
                    </a:solidFill>
                    <a:latin typeface="Arial"/>
                  </a:rPr>
                  <a:t>: </a:t>
                </a:r>
                <a:r>
                  <a:rPr lang="en-IN" sz="2400">
                    <a:solidFill>
                      <a:srgbClr val="111827"/>
                    </a:solidFill>
                    <a:latin typeface="Cambria Math" panose="02040503050406030204" pitchFamily="18" charset="0"/>
                  </a:rPr>
                  <a:t>$(m-1)(n-1)+(m-2)(n-2)+\dots+1\cdot\big(n-(m-1)\big)$</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Write it as </a:t>
                </a:r>
                <a:r>
                  <a:rPr lang="en-IN" sz="2400">
                    <a:solidFill>
                      <a:srgbClr val="111827"/>
                    </a:solidFill>
                    <a:latin typeface="Cambria Math" panose="02040503050406030204" pitchFamily="18" charset="0"/>
                  </a:rPr>
                  <a:t>$\sum_{r=1}^{m-1}(m-r)(n-r)$</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Expand: </a:t>
                </a:r>
                <a14:m>
                  <m:oMath xmlns:m="http://schemas.openxmlformats.org/officeDocument/2006/math">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e>
                        <m:r>
                          <m:rPr>
                            <m:sty m:val="p"/>
                          </m:rPr>
                          <a:rPr lang="en-IN" sz="2400">
                            <a:solidFill>
                              <a:srgbClr val="111827"/>
                            </a:solidFill>
                            <a:latin typeface="Cambria Math" panose="02040503050406030204" pitchFamily="18" charset="0"/>
                          </a:rPr>
                          <m:t>{</m:t>
                        </m:r>
                      </m:e>
                    </m:nary>
                    <m:r>
                      <a:rPr lang="en-IN" sz="2400" i="1">
                        <a:solidFill>
                          <a:srgbClr val="111827"/>
                        </a:solidFill>
                        <a:latin typeface="Cambria Math" panose="02040503050406030204" pitchFamily="18" charset="0"/>
                      </a:rPr>
                      <m:t>𝑚</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6</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6</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6</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6</m:t>
                        </m:r>
                      </m:den>
                    </m:f>
                  </m:oMath>
                </a14:m>
                <a:r>
                  <a:rPr sz="2400" b="0">
                    <a:solidFill>
                      <a:srgbClr val="111827"/>
                    </a:solidFill>
                    <a:latin typeface="Arial"/>
                  </a:rPr>
                  <a:t>, option (D).</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Expand: </a:t>
                </a:r>
                <a:r>
                  <a:rPr lang="en-IN" sz="2400">
                    <a:solidFill>
                      <a:srgbClr val="111827"/>
                    </a:solidFill>
                    <a:latin typeface="Cambria Math" panose="02040503050406030204" pitchFamily="18" charset="0"/>
                  </a:rPr>
                  <a:t>$\sum_{r=1}^{m-1}\{mn-r(m+n)+r^2\}$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$=mn(m-1)-(m+n)\dfrac{(m-1)m}{2}+\dfrac{(m-1)m(2m-1)}{6}$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$=m(m-1)\left\{n-\dfrac{m+n}{2}+\dfrac{2m-1}{6}\right\}=m(m-1)\dfrac{6n-3m-3n+2m-1}{6}$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$=\dfrac{m(m-1)(3n-m-1)}{6}$</a:t>
                </a:r>
                <a:r>
                  <a:rPr sz="2400" b="0">
                    <a:solidFill>
                      <a:srgbClr val="111827"/>
                    </a:solidFill>
                    <a:latin typeface="Arial"/>
                  </a:rPr>
                  <a:t>, option (D).</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𝑚</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𝑚</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1</m:t>
                        </m:r>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3</m:t>
                        </m:r>
                        <m:r>
                          <a:rPr lang="en-IN" sz="2800" i="1">
                            <a:solidFill>
                              <a:srgbClr val="15803D"/>
                            </a:solidFill>
                            <a:latin typeface="Cambria Math" panose="02040503050406030204" pitchFamily="18" charset="0"/>
                          </a:rPr>
                          <m:t>𝑛</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𝑚</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1</m:t>
                        </m:r>
                        <m:r>
                          <m:rPr>
                            <m:sty m:val="p"/>
                          </m:rPr>
                          <a:rPr lang="en-IN" sz="2800">
                            <a:solidFill>
                              <a:srgbClr val="15803D"/>
                            </a:solidFill>
                            <a:latin typeface="Cambria Math" panose="02040503050406030204" pitchFamily="18" charset="0"/>
                          </a:rPr>
                          <m:t>)</m:t>
                        </m:r>
                      </m:num>
                      <m:den>
                        <m:r>
                          <a:rPr lang="en-IN" sz="2800" i="1">
                            <a:solidFill>
                              <a:srgbClr val="15803D"/>
                            </a:solidFill>
                            <a:latin typeface="Cambria Math" panose="02040503050406030204" pitchFamily="18" charset="0"/>
                          </a:rPr>
                          <m:t>6</m:t>
                        </m:r>
                      </m:den>
                    </m:f>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a:t>
                </a:r>
                <a:r>
                  <a:rPr lang="en-IN" sz="2800">
                    <a:solidFill>
                      <a:srgbClr val="15803D"/>
                    </a:solidFill>
                    <a:latin typeface="Cambria Math" panose="02040503050406030204" pitchFamily="18" charset="0"/>
                  </a:rPr>
                  <a:t>$\dfrac{m(m-1)(3n-m-1)}{6}$</a:t>
                </a:r>
                <a:endParaRPr sz="2800">
                  <a:solidFill>
                    <a:srgbClr val="15803D"/>
                  </a:solidFill>
                </a:endParaRPr>
              </a:p>
            </p:txBody>
          </p:sp>
        </mc:Fallback>
      </mc:AlternateContent>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3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Test a small case instead of summing: plug </a:t>
                </a:r>
                <a14:m>
                  <m:oMath xmlns:m="http://schemas.openxmlformats.org/officeDocument/2006/math">
                    <m:r>
                      <a:rPr lang="en-IN" sz="2400" i="1">
                        <a:solidFill>
                          <a:srgbClr val="78350F"/>
                        </a:solidFill>
                        <a:latin typeface="Cambria Math" panose="02040503050406030204" pitchFamily="18" charset="0"/>
                      </a:rPr>
                      <m:t>𝑚</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oMath>
                </a14:m>
                <a:r>
                  <a:rPr sz="2400" b="0">
                    <a:solidFill>
                      <a:srgbClr val="78350F"/>
                    </a:solidFill>
                    <a:latin typeface="Arial"/>
                  </a:rPr>
                  <a:t>, </a:t>
                </a:r>
                <a14:m>
                  <m:oMath xmlns:m="http://schemas.openxmlformats.org/officeDocument/2006/math">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5</m:t>
                    </m:r>
                  </m:oMath>
                </a14:m>
                <a:r>
                  <a:rPr sz="2400" b="0">
                    <a:solidFill>
                      <a:srgbClr val="78350F"/>
                    </a:solidFill>
                    <a:latin typeface="Arial"/>
                  </a:rPr>
                  <a:t> into the four options.</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Test a small case instead of summing: plug </a:t>
                </a:r>
                <a:r>
                  <a:rPr lang="en-IN" sz="2400">
                    <a:solidFill>
                      <a:srgbClr val="78350F"/>
                    </a:solidFill>
                    <a:latin typeface="Cambria Math" panose="02040503050406030204" pitchFamily="18" charset="0"/>
                  </a:rPr>
                  <a:t>$m=3$</a:t>
                </a:r>
                <a:r>
                  <a:rPr sz="2400" b="0">
                    <a:solidFill>
                      <a:srgbClr val="78350F"/>
                    </a:solidFill>
                    <a:latin typeface="Arial"/>
                  </a:rPr>
                  <a:t>, </a:t>
                </a:r>
                <a:r>
                  <a:rPr lang="en-IN" sz="2400">
                    <a:solidFill>
                      <a:srgbClr val="78350F"/>
                    </a:solidFill>
                    <a:latin typeface="Cambria Math" panose="02040503050406030204" pitchFamily="18" charset="0"/>
                  </a:rPr>
                  <a:t>$n=5$</a:t>
                </a:r>
                <a:r>
                  <a:rPr sz="2400" b="0">
                    <a:solidFill>
                      <a:srgbClr val="78350F"/>
                    </a:solidFill>
                    <a:latin typeface="Arial"/>
                  </a:rPr>
                  <a:t> into the four options.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the grid has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cells: </a:t>
                </a:r>
                <a14:m>
                  <m:oMath xmlns:m="http://schemas.openxmlformats.org/officeDocument/2006/math">
                    <m:r>
                      <a:rPr lang="en-IN" sz="2400" i="1">
                        <a:solidFill>
                          <a:srgbClr val="111827"/>
                        </a:solidFill>
                        <a:latin typeface="Cambria Math" panose="02040503050406030204" pitchFamily="18" charset="0"/>
                      </a:rPr>
                      <m:t>8</m:t>
                    </m:r>
                  </m:oMath>
                </a14:m>
                <a:r>
                  <a:rPr sz="2400" b="0">
                    <a:solidFill>
                      <a:srgbClr val="111827"/>
                    </a:solidFill>
                    <a:latin typeface="Arial"/>
                  </a:rPr>
                  <a:t> squares of side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of side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total </a:t>
                </a:r>
                <a14:m>
                  <m:oMath xmlns:m="http://schemas.openxmlformats.org/officeDocument/2006/math">
                    <m:r>
                      <a:rPr lang="en-IN" sz="2400" i="1">
                        <a:solidFill>
                          <a:srgbClr val="111827"/>
                        </a:solidFill>
                        <a:latin typeface="Cambria Math" panose="02040503050406030204" pitchFamily="18" charset="0"/>
                      </a:rPr>
                      <m:t>11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𝑚</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oMath>
                </a14:m>
                <a:r>
                  <a:rPr sz="2400" b="0">
                    <a:solidFill>
                      <a:srgbClr val="111827"/>
                    </a:solidFill>
                    <a:latin typeface="Arial"/>
                  </a:rPr>
                  <a:t> - no.</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m:t>
                    </m:r>
                  </m:oMath>
                </a14:m>
                <a:r>
                  <a:rPr sz="2400" b="0">
                    <a:solidFill>
                      <a:srgbClr val="111827"/>
                    </a:solidFill>
                    <a:latin typeface="Arial"/>
                  </a:rPr>
                  <a:t> - no. (C)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 no.</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$m=3$</a:t>
                </a:r>
                <a:r>
                  <a:rPr sz="2400" b="0">
                    <a:solidFill>
                      <a:srgbClr val="111827"/>
                    </a:solidFill>
                    <a:latin typeface="Arial"/>
                  </a:rPr>
                  <a:t>, </a:t>
                </a:r>
                <a:r>
                  <a:rPr lang="en-IN" sz="2400">
                    <a:solidFill>
                      <a:srgbClr val="111827"/>
                    </a:solidFill>
                    <a:latin typeface="Cambria Math" panose="02040503050406030204" pitchFamily="18" charset="0"/>
                  </a:rPr>
                  <a:t>$n=5$</a:t>
                </a:r>
                <a:r>
                  <a:rPr sz="2400" b="0">
                    <a:solidFill>
                      <a:srgbClr val="111827"/>
                    </a:solidFill>
                    <a:latin typeface="Arial"/>
                  </a:rPr>
                  <a:t> the grid has </a:t>
                </a:r>
                <a:r>
                  <a:rPr lang="en-IN" sz="2400">
                    <a:solidFill>
                      <a:srgbClr val="111827"/>
                    </a:solidFill>
                    <a:latin typeface="Cambria Math" panose="02040503050406030204" pitchFamily="18" charset="0"/>
                  </a:rPr>
                  <a:t>$2\times4$</a:t>
                </a:r>
                <a:r>
                  <a:rPr sz="2400" b="0">
                    <a:solidFill>
                      <a:srgbClr val="111827"/>
                    </a:solidFill>
                    <a:latin typeface="Arial"/>
                  </a:rPr>
                  <a:t> cells: </a:t>
                </a:r>
                <a:r>
                  <a:rPr lang="en-IN" sz="2400">
                    <a:solidFill>
                      <a:srgbClr val="111827"/>
                    </a:solidFill>
                    <a:latin typeface="Cambria Math" panose="02040503050406030204" pitchFamily="18" charset="0"/>
                  </a:rPr>
                  <a:t>$8$</a:t>
                </a:r>
                <a:r>
                  <a:rPr sz="2400" b="0">
                    <a:solidFill>
                      <a:srgbClr val="111827"/>
                    </a:solidFill>
                    <a:latin typeface="Arial"/>
                  </a:rPr>
                  <a:t> squares of side </a:t>
                </a:r>
                <a:r>
                  <a:rPr lang="en-IN" sz="2400">
                    <a:solidFill>
                      <a:srgbClr val="111827"/>
                    </a:solidFill>
                    <a:latin typeface="Cambria Math" panose="02040503050406030204" pitchFamily="18" charset="0"/>
                  </a:rPr>
                  <a:t>$1$</a:t>
                </a:r>
                <a:r>
                  <a:rPr sz="2400" b="0">
                    <a:solidFill>
                      <a:srgbClr val="111827"/>
                    </a:solidFill>
                    <a:latin typeface="Arial"/>
                  </a:rPr>
                  <a:t> and </a:t>
                </a:r>
                <a:r>
                  <a:rPr lang="en-IN" sz="2400">
                    <a:solidFill>
                      <a:srgbClr val="111827"/>
                    </a:solidFill>
                    <a:latin typeface="Cambria Math" panose="02040503050406030204" pitchFamily="18" charset="0"/>
                  </a:rPr>
                  <a:t>$3$</a:t>
                </a:r>
                <a:r>
                  <a:rPr sz="2400" b="0">
                    <a:solidFill>
                      <a:srgbClr val="111827"/>
                    </a:solidFill>
                    <a:latin typeface="Arial"/>
                  </a:rPr>
                  <a:t> of side </a:t>
                </a:r>
                <a:r>
                  <a:rPr lang="en-IN" sz="2400">
                    <a:solidFill>
                      <a:srgbClr val="111827"/>
                    </a:solidFill>
                    <a:latin typeface="Cambria Math" panose="02040503050406030204" pitchFamily="18" charset="0"/>
                  </a:rPr>
                  <a:t>$2$</a:t>
                </a:r>
                <a:r>
                  <a:rPr sz="2400" b="0">
                    <a:solidFill>
                      <a:srgbClr val="111827"/>
                    </a:solidFill>
                    <a:latin typeface="Arial"/>
                  </a:rPr>
                  <a:t>, total </a:t>
                </a:r>
                <a:r>
                  <a:rPr lang="en-IN" sz="2400">
                    <a:solidFill>
                      <a:srgbClr val="111827"/>
                    </a:solidFill>
                    <a:latin typeface="Cambria Math" panose="02040503050406030204" pitchFamily="18" charset="0"/>
                  </a:rPr>
                  <a:t>$11$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$mn=15$</a:t>
                </a:r>
                <a:r>
                  <a:rPr sz="2400" b="0">
                    <a:solidFill>
                      <a:srgbClr val="111827"/>
                    </a:solidFill>
                    <a:latin typeface="Arial"/>
                  </a:rPr>
                  <a:t> - no.</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 </a:t>
                </a:r>
                <a:r>
                  <a:rPr lang="en-IN" sz="2400">
                    <a:solidFill>
                      <a:srgbClr val="111827"/>
                    </a:solidFill>
                    <a:latin typeface="Cambria Math" panose="02040503050406030204" pitchFamily="18" charset="0"/>
                  </a:rPr>
                  <a:t>$\dfrac{3\cdot2\cdot5\cdot4}{4}=30$</a:t>
                </a:r>
                <a:r>
                  <a:rPr sz="2400" b="0">
                    <a:solidFill>
                      <a:srgbClr val="111827"/>
                    </a:solidFill>
                    <a:latin typeface="Arial"/>
                  </a:rPr>
                  <a:t> - no. (C) </a:t>
                </a:r>
                <a:r>
                  <a:rPr lang="en-IN" sz="2400">
                    <a:solidFill>
                      <a:srgbClr val="111827"/>
                    </a:solidFill>
                    <a:latin typeface="Cambria Math" panose="02040503050406030204" pitchFamily="18" charset="0"/>
                  </a:rPr>
                  <a:t>$\dfrac{5\cdot4\cdot(9-5-1)}{6}=10$</a:t>
                </a:r>
                <a:r>
                  <a:rPr sz="2400" b="0">
                    <a:solidFill>
                      <a:srgbClr val="111827"/>
                    </a:solidFill>
                    <a:latin typeface="Arial"/>
                  </a:rPr>
                  <a:t> - no.</a:t>
                </a:r>
                <a:endParaRPr sz="2400">
                  <a:solidFill>
                    <a:srgbClr val="111827"/>
                  </a:solidFill>
                </a:endParaRPr>
              </a:p>
            </p:txBody>
          </p:sp>
        </mc:Fallback>
      </mc:AlternateContent>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3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oMath>
                </a14:m>
                <a:r>
                  <a:rPr sz="2400" b="0">
                    <a:solidFill>
                      <a:srgbClr val="111827"/>
                    </a:solidFill>
                    <a:latin typeface="Arial"/>
                  </a:rPr>
                  <a:t> - yes.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(D); a second check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gives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17</m:t>
                        </m:r>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204</m:t>
                    </m:r>
                  </m:oMath>
                </a14:m>
                <a:r>
                  <a:rPr sz="2400" b="0">
                    <a:solidFill>
                      <a:srgbClr val="111827"/>
                    </a:solidFill>
                    <a:latin typeface="Arial"/>
                  </a:rPr>
                  <a:t> (the chess board).</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 </a:t>
                </a:r>
                <a:r>
                  <a:rPr lang="en-IN" sz="2400">
                    <a:solidFill>
                      <a:srgbClr val="111827"/>
                    </a:solidFill>
                    <a:latin typeface="Cambria Math" panose="02040503050406030204" pitchFamily="18" charset="0"/>
                  </a:rPr>
                  <a:t>$\dfrac{3\cdot2\cdot(15-3-1)}{6}=11$</a:t>
                </a:r>
                <a:r>
                  <a:rPr sz="2400" b="0">
                    <a:solidFill>
                      <a:srgbClr val="111827"/>
                    </a:solidFill>
                    <a:latin typeface="Arial"/>
                  </a:rPr>
                  <a:t> - yes.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(D); a second check </a:t>
                </a:r>
                <a:r>
                  <a:rPr lang="en-IN" sz="2400">
                    <a:solidFill>
                      <a:srgbClr val="111827"/>
                    </a:solidFill>
                    <a:latin typeface="Cambria Math" panose="02040503050406030204" pitchFamily="18" charset="0"/>
                  </a:rPr>
                  <a:t>$m=n=9$</a:t>
                </a:r>
                <a:r>
                  <a:rPr sz="2400" b="0">
                    <a:solidFill>
                      <a:srgbClr val="111827"/>
                    </a:solidFill>
                    <a:latin typeface="Arial"/>
                  </a:rPr>
                  <a:t> gives </a:t>
                </a:r>
                <a:r>
                  <a:rPr lang="en-IN" sz="2400">
                    <a:solidFill>
                      <a:srgbClr val="111827"/>
                    </a:solidFill>
                    <a:latin typeface="Cambria Math" panose="02040503050406030204" pitchFamily="18" charset="0"/>
                  </a:rPr>
                  <a:t>$\frac{9\cdot8\cdot17}{6}=204$</a:t>
                </a:r>
                <a:r>
                  <a:rPr sz="2400" b="0">
                    <a:solidFill>
                      <a:srgbClr val="111827"/>
                    </a:solidFill>
                    <a:latin typeface="Arial"/>
                  </a:rPr>
                  <a:t> (the chess board).</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(D)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𝑚</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𝑚</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1</m:t>
                        </m:r>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3</m:t>
                        </m:r>
                        <m:r>
                          <a:rPr lang="en-IN" sz="2800" i="1">
                            <a:solidFill>
                              <a:srgbClr val="15803D"/>
                            </a:solidFill>
                            <a:latin typeface="Cambria Math" panose="02040503050406030204" pitchFamily="18" charset="0"/>
                          </a:rPr>
                          <m:t>𝑛</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𝑚</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1</m:t>
                        </m:r>
                        <m:r>
                          <m:rPr>
                            <m:sty m:val="p"/>
                          </m:rPr>
                          <a:rPr lang="en-IN" sz="2800">
                            <a:solidFill>
                              <a:srgbClr val="15803D"/>
                            </a:solidFill>
                            <a:latin typeface="Cambria Math" panose="02040503050406030204" pitchFamily="18" charset="0"/>
                          </a:rPr>
                          <m:t>)</m:t>
                        </m:r>
                      </m:num>
                      <m:den>
                        <m:r>
                          <a:rPr lang="en-IN" sz="2800" i="1">
                            <a:solidFill>
                              <a:srgbClr val="15803D"/>
                            </a:solidFill>
                            <a:latin typeface="Cambria Math" panose="02040503050406030204" pitchFamily="18" charset="0"/>
                          </a:rPr>
                          <m:t>6</m:t>
                        </m:r>
                      </m:den>
                    </m:f>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(D) </a:t>
                </a:r>
                <a:r>
                  <a:rPr lang="en-IN" sz="2800">
                    <a:solidFill>
                      <a:srgbClr val="15803D"/>
                    </a:solidFill>
                    <a:latin typeface="Cambria Math" panose="02040503050406030204" pitchFamily="18" charset="0"/>
                  </a:rPr>
                  <a:t>$\dfrac{m(m-1)(3n-m-1)}{6}$</a:t>
                </a:r>
                <a:endParaRPr sz="2800">
                  <a:solidFill>
                    <a:srgbClr val="15803D"/>
                  </a:solidFill>
                </a:endParaRPr>
              </a:p>
            </p:txBody>
          </p:sp>
        </mc:Fallback>
      </mc:AlternateContent>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3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𝑘</m:t>
                        </m:r>
                      </m:sup>
                      <m:e>
                        <m:r>
                          <a:rPr lang="en-IN" sz="2400" i="1">
                            <a:solidFill>
                              <a:srgbClr val="111827"/>
                            </a:solidFill>
                            <a:latin typeface="Cambria Math" panose="02040503050406030204" pitchFamily="18" charset="0"/>
                          </a:rPr>
                          <m:t>𝑟</m:t>
                        </m:r>
                      </m:e>
                    </m:nary>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and </a:t>
                </a:r>
                <a14:m>
                  <m:oMath xmlns:m="http://schemas.openxmlformats.org/officeDocument/2006/math">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𝑘</m:t>
                        </m:r>
                      </m:sup>
                      <m:e>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2</m:t>
                            </m:r>
                          </m:sup>
                        </m:sSup>
                      </m:e>
                    </m:nary>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6</m:t>
                        </m:r>
                      </m:den>
                    </m:f>
                  </m:oMath>
                </a14:m>
                <a:r>
                  <a:rPr sz="2400" b="0">
                    <a:solidFill>
                      <a:srgbClr val="111827"/>
                    </a:solidFill>
                    <a:latin typeface="Arial"/>
                  </a:rPr>
                  <a:t> turn a sum over side length into a closed form.</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Alternative form: </a:t>
                </a:r>
                <a14:m>
                  <m:oMath xmlns:m="http://schemas.openxmlformats.org/officeDocument/2006/math">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e>
                        <m:r>
                          <a:rPr lang="en-IN" sz="2400" i="1">
                            <a:solidFill>
                              <a:srgbClr val="111827"/>
                            </a:solidFill>
                            <a:latin typeface="Cambria Math" panose="02040503050406030204" pitchFamily="18" charset="0"/>
                          </a:rPr>
                          <m:t>𝑘</m:t>
                        </m:r>
                      </m:e>
                    </m:nary>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the same expression.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 quick check pick two or three small values of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eliminate options.</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$\sum_{r=1}^{k}r=\frac{k(k+1)}2$</a:t>
                </a:r>
                <a:r>
                  <a:rPr sz="2400" b="0">
                    <a:solidFill>
                      <a:srgbClr val="111827"/>
                    </a:solidFill>
                    <a:latin typeface="Arial"/>
                  </a:rPr>
                  <a:t> and </a:t>
                </a:r>
                <a:r>
                  <a:rPr lang="en-IN" sz="2400">
                    <a:solidFill>
                      <a:srgbClr val="111827"/>
                    </a:solidFill>
                    <a:latin typeface="Cambria Math" panose="02040503050406030204" pitchFamily="18" charset="0"/>
                  </a:rPr>
                  <a:t>$\sum_{r=1}^{k}r^2=\frac{k(k+1)(2k+1)}6$</a:t>
                </a:r>
                <a:r>
                  <a:rPr sz="2400" b="0">
                    <a:solidFill>
                      <a:srgbClr val="111827"/>
                    </a:solidFill>
                    <a:latin typeface="Arial"/>
                  </a:rPr>
                  <a:t> turn a sum over side length into a closed form.</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Alternative form: </a:t>
                </a:r>
                <a:r>
                  <a:rPr lang="en-IN" sz="2400">
                    <a:solidFill>
                      <a:srgbClr val="111827"/>
                    </a:solidFill>
                    <a:latin typeface="Cambria Math" panose="02040503050406030204" pitchFamily="18" charset="0"/>
                  </a:rPr>
                  <a:t>$\sum_{k=1}^{m-1}k\,(k+n-m)=\frac{(m-1)m(2m-1)}6+(n-m)\frac{(m-1)m}2$</a:t>
                </a:r>
                <a:r>
                  <a:rPr sz="2400" b="0">
                    <a:solidFill>
                      <a:srgbClr val="111827"/>
                    </a:solidFill>
                    <a:latin typeface="Arial"/>
                  </a:rPr>
                  <a:t>, the same expression.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 quick check pick two or three small values of </a:t>
                </a:r>
                <a:r>
                  <a:rPr lang="en-IN" sz="2400">
                    <a:solidFill>
                      <a:srgbClr val="111827"/>
                    </a:solidFill>
                    <a:latin typeface="Cambria Math" panose="02040503050406030204" pitchFamily="18" charset="0"/>
                  </a:rPr>
                  <a:t>$(m,n)$</a:t>
                </a:r>
                <a:r>
                  <a:rPr sz="2400" b="0">
                    <a:solidFill>
                      <a:srgbClr val="111827"/>
                    </a:solidFill>
                    <a:latin typeface="Arial"/>
                  </a:rPr>
                  <a:t> and eliminate options.</a:t>
                </a:r>
                <a:endParaRPr sz="2400">
                  <a:solidFill>
                    <a:srgbClr val="111827"/>
                  </a:solidFill>
                </a:endParaRPr>
              </a:p>
            </p:txBody>
          </p:sp>
        </mc:Fallback>
      </mc:AlternateContent>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3622548"/>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Paragraph: Consider the arrangements of the integers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to </a:t>
                </a:r>
                <a14:m>
                  <m:oMath xmlns:m="http://schemas.openxmlformats.org/officeDocument/2006/math">
                    <m:r>
                      <a:rPr lang="en-IN" sz="2400" i="1">
                        <a:solidFill>
                          <a:srgbClr val="111827"/>
                        </a:solidFill>
                        <a:latin typeface="Cambria Math" panose="02040503050406030204" pitchFamily="18" charset="0"/>
                      </a:rPr>
                      <m:t>10</m:t>
                    </m:r>
                  </m:oMath>
                </a14:m>
                <a:r>
                  <a:rPr sz="2400" b="0">
                    <a:solidFill>
                      <a:srgbClr val="111827"/>
                    </a:solidFill>
                    <a:latin typeface="Arial"/>
                  </a:rPr>
                  <a:t> in which some of the integers are in their natural positions (integer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 at place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 and the others are deranged. Let </a:t>
                </a:r>
                <a14:m>
                  <m:oMath xmlns:m="http://schemas.openxmlformats.org/officeDocument/2006/math">
                    <m:sSub>
                      <m:e>
                        <m:r>
                          <a:rPr lang="en-IN" sz="2400" i="1">
                            <a:solidFill>
                              <a:srgbClr val="111827"/>
                            </a:solidFill>
                            <a:latin typeface="Cambria Math" panose="02040503050406030204" pitchFamily="18" charset="0"/>
                          </a:rPr>
                          <m:t>𝐷</m:t>
                        </m:r>
                      </m:e>
                      <m:sub>
                        <m:r>
                          <a:rPr lang="en-IN" sz="2400" i="1">
                            <a:solidFill>
                              <a:srgbClr val="111827"/>
                            </a:solidFill>
                            <a:latin typeface="Cambria Math" panose="02040503050406030204" pitchFamily="18" charset="0"/>
                          </a:rPr>
                          <m:t>𝑛</m:t>
                        </m:r>
                      </m:sub>
                    </m:sSub>
                  </m:oMath>
                </a14:m>
                <a:r>
                  <a:rPr sz="2400" b="0">
                    <a:solidFill>
                      <a:srgbClr val="111827"/>
                    </a:solidFill>
                    <a:latin typeface="Arial"/>
                  </a:rPr>
                  <a:t> be the number of derangements of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objects. The number of arrangements such that: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Exactly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integers are in their natural positions, that is, exactly </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 of the integers are deranged:</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10</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4</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𝐷</m:t>
                        </m:r>
                      </m:e>
                      <m:sub>
                        <m:r>
                          <a:rPr lang="en-IN" sz="2400" i="1">
                            <a:solidFill>
                              <a:srgbClr val="111827"/>
                            </a:solidFill>
                            <a:latin typeface="Cambria Math" panose="02040503050406030204" pitchFamily="18" charset="0"/>
                          </a:rPr>
                          <m:t>6</m:t>
                        </m:r>
                      </m:sub>
                    </m:sSub>
                  </m:oMath>
                </a14:m>
                <a:r>
                  <a:rPr sz="2400" b="0">
                    <a:solidFill>
                      <a:srgbClr val="111827"/>
                    </a:solidFill>
                    <a:latin typeface="Arial"/>
                  </a:rPr>
                  <a:t>   (B) </a:t>
                </a:r>
                <a14:m>
                  <m:oMath xmlns:m="http://schemas.openxmlformats.org/officeDocument/2006/math">
                    <m:sSub>
                      <m:e>
                        <m:r>
                          <a:rPr lang="en-IN" sz="2400" i="1">
                            <a:solidFill>
                              <a:srgbClr val="111827"/>
                            </a:solidFill>
                            <a:latin typeface="Cambria Math" panose="02040503050406030204" pitchFamily="18" charset="0"/>
                          </a:rPr>
                          <m:t>𝐷</m:t>
                        </m:r>
                      </m:e>
                      <m:sub>
                        <m:r>
                          <a:rPr lang="en-IN" sz="2400" i="1">
                            <a:solidFill>
                              <a:srgbClr val="111827"/>
                            </a:solidFill>
                            <a:latin typeface="Cambria Math" panose="02040503050406030204" pitchFamily="18" charset="0"/>
                          </a:rPr>
                          <m:t>6</m:t>
                        </m:r>
                      </m:sub>
                    </m:sSub>
                  </m:oMath>
                </a14:m>
                <a:r>
                  <a:rPr sz="2400" b="0">
                    <a:solidFill>
                      <a:srgbClr val="111827"/>
                    </a:solidFill>
                    <a:latin typeface="Arial"/>
                  </a:rPr>
                  <a:t>   (C) </a:t>
                </a:r>
                <a14:m>
                  <m:oMath xmlns:m="http://schemas.openxmlformats.org/officeDocument/2006/math">
                    <m:sSub>
                      <m:e>
                        <m:r>
                          <a:rPr lang="en-IN" sz="2400" i="1">
                            <a:solidFill>
                              <a:srgbClr val="111827"/>
                            </a:solidFill>
                            <a:latin typeface="Cambria Math" panose="02040503050406030204" pitchFamily="18" charset="0"/>
                          </a:rPr>
                          <m:t>𝐷</m:t>
                        </m:r>
                      </m:e>
                      <m:sub>
                        <m:r>
                          <a:rPr lang="en-IN" sz="2400" i="1">
                            <a:solidFill>
                              <a:srgbClr val="111827"/>
                            </a:solidFill>
                            <a:latin typeface="Cambria Math" panose="02040503050406030204" pitchFamily="18" charset="0"/>
                          </a:rPr>
                          <m:t>6</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𝐷</m:t>
                        </m:r>
                      </m:e>
                      <m:sub>
                        <m:r>
                          <a:rPr lang="en-IN" sz="2400" i="1">
                            <a:solidFill>
                              <a:srgbClr val="111827"/>
                            </a:solidFill>
                            <a:latin typeface="Cambria Math" panose="02040503050406030204" pitchFamily="18" charset="0"/>
                          </a:rPr>
                          <m:t>7</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𝐷</m:t>
                        </m:r>
                      </m:e>
                      <m:sub>
                        <m:r>
                          <a:rPr lang="en-IN" sz="2400" i="1">
                            <a:solidFill>
                              <a:srgbClr val="111827"/>
                            </a:solidFill>
                            <a:latin typeface="Cambria Math" panose="02040503050406030204" pitchFamily="18" charset="0"/>
                          </a:rPr>
                          <m:t>8</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𝐷</m:t>
                        </m:r>
                      </m:e>
                      <m:sub>
                        <m:r>
                          <a:rPr lang="en-IN" sz="2400" i="1">
                            <a:solidFill>
                              <a:srgbClr val="111827"/>
                            </a:solidFill>
                            <a:latin typeface="Cambria Math" panose="02040503050406030204" pitchFamily="18" charset="0"/>
                          </a:rPr>
                          <m:t>9</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𝐷</m:t>
                        </m:r>
                      </m:e>
                      <m:sub>
                        <m:r>
                          <a:rPr lang="en-IN" sz="2400" i="1">
                            <a:solidFill>
                              <a:srgbClr val="111827"/>
                            </a:solidFill>
                            <a:latin typeface="Cambria Math" panose="02040503050406030204" pitchFamily="18" charset="0"/>
                          </a:rPr>
                          <m:t>10</m:t>
                        </m:r>
                      </m:sub>
                    </m:sSub>
                  </m:oMath>
                </a14:m>
                <a:r>
                  <a:rPr sz="2400" b="0">
                    <a:solidFill>
                      <a:srgbClr val="111827"/>
                    </a:solidFill>
                    <a:latin typeface="Arial"/>
                  </a:rPr>
                  <a:t>   (D) </a:t>
                </a:r>
                <a14:m>
                  <m:oMath xmlns:m="http://schemas.openxmlformats.org/officeDocument/2006/math">
                    <m:sSub>
                      <m:e>
                        <m:r>
                          <a:rPr lang="en-IN" sz="2400" i="1">
                            <a:solidFill>
                              <a:srgbClr val="111827"/>
                            </a:solidFill>
                            <a:latin typeface="Cambria Math" panose="02040503050406030204" pitchFamily="18" charset="0"/>
                          </a:rPr>
                          <m:t>𝐷</m:t>
                        </m:r>
                      </m:e>
                      <m:sub>
                        <m:r>
                          <a:rPr lang="en-IN" sz="2400" i="1">
                            <a:solidFill>
                              <a:srgbClr val="111827"/>
                            </a:solidFill>
                            <a:latin typeface="Cambria Math" panose="02040503050406030204" pitchFamily="18" charset="0"/>
                          </a:rPr>
                          <m:t>10</m:t>
                        </m:r>
                      </m:sub>
                    </m:sSub>
                  </m:oMath>
                </a14:m>
                <a:endParaRPr sz="2400">
                  <a:solidFill>
                    <a:srgbClr val="111827"/>
                  </a:solidFill>
                </a:endParaRPr>
              </a:p>
            </p:txBody>
          </p:sp>
        </mc:Choice>
        <mc:Fallback>
          <p:sp>
            <p:nvSpPr>
              <p:cNvPr id="4" name="Rounded Rectangle 3"/>
              <p:cNvSpPr/>
              <p:nvPr/>
            </p:nvSpPr>
            <p:spPr>
              <a:xfrm>
                <a:off x="731520" y="1280160"/>
                <a:ext cx="10725912" cy="3622548"/>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Paragraph: Consider the arrangements of the integers </a:t>
                </a:r>
                <a:r>
                  <a:rPr lang="en-IN" sz="2400">
                    <a:solidFill>
                      <a:srgbClr val="111827"/>
                    </a:solidFill>
                    <a:latin typeface="Cambria Math" panose="02040503050406030204" pitchFamily="18" charset="0"/>
                  </a:rPr>
                  <a:t>$1$</a:t>
                </a:r>
                <a:r>
                  <a:rPr sz="2400" b="0">
                    <a:solidFill>
                      <a:srgbClr val="111827"/>
                    </a:solidFill>
                    <a:latin typeface="Arial"/>
                  </a:rPr>
                  <a:t> to </a:t>
                </a:r>
                <a:r>
                  <a:rPr lang="en-IN" sz="2400">
                    <a:solidFill>
                      <a:srgbClr val="111827"/>
                    </a:solidFill>
                    <a:latin typeface="Cambria Math" panose="02040503050406030204" pitchFamily="18" charset="0"/>
                  </a:rPr>
                  <a:t>$10$</a:t>
                </a:r>
                <a:r>
                  <a:rPr sz="2400" b="0">
                    <a:solidFill>
                      <a:srgbClr val="111827"/>
                    </a:solidFill>
                    <a:latin typeface="Arial"/>
                  </a:rPr>
                  <a:t> in which some of the integers are in their natural positions (integer </a:t>
                </a:r>
                <a:r>
                  <a:rPr lang="en-IN" sz="2400">
                    <a:solidFill>
                      <a:srgbClr val="111827"/>
                    </a:solidFill>
                    <a:latin typeface="Cambria Math" panose="02040503050406030204" pitchFamily="18" charset="0"/>
                  </a:rPr>
                  <a:t>$k$</a:t>
                </a:r>
                <a:r>
                  <a:rPr sz="2400" b="0">
                    <a:solidFill>
                      <a:srgbClr val="111827"/>
                    </a:solidFill>
                    <a:latin typeface="Arial"/>
                  </a:rPr>
                  <a:t> at place </a:t>
                </a:r>
                <a:r>
                  <a:rPr lang="en-IN" sz="2400">
                    <a:solidFill>
                      <a:srgbClr val="111827"/>
                    </a:solidFill>
                    <a:latin typeface="Cambria Math" panose="02040503050406030204" pitchFamily="18" charset="0"/>
                  </a:rPr>
                  <a:t>$k$</a:t>
                </a:r>
                <a:r>
                  <a:rPr sz="2400" b="0">
                    <a:solidFill>
                      <a:srgbClr val="111827"/>
                    </a:solidFill>
                    <a:latin typeface="Arial"/>
                  </a:rPr>
                  <a:t>) and the others are deranged. Let </a:t>
                </a:r>
                <a:r>
                  <a:rPr lang="en-IN" sz="2400">
                    <a:solidFill>
                      <a:srgbClr val="111827"/>
                    </a:solidFill>
                    <a:latin typeface="Cambria Math" panose="02040503050406030204" pitchFamily="18" charset="0"/>
                  </a:rPr>
                  <a:t>$D_n$</a:t>
                </a:r>
                <a:r>
                  <a:rPr sz="2400" b="0">
                    <a:solidFill>
                      <a:srgbClr val="111827"/>
                    </a:solidFill>
                    <a:latin typeface="Arial"/>
                  </a:rPr>
                  <a:t> be the number of derangements of </a:t>
                </a:r>
                <a:r>
                  <a:rPr lang="en-IN" sz="2400">
                    <a:solidFill>
                      <a:srgbClr val="111827"/>
                    </a:solidFill>
                    <a:latin typeface="Cambria Math" panose="02040503050406030204" pitchFamily="18" charset="0"/>
                  </a:rPr>
                  <a:t>$n$</a:t>
                </a:r>
                <a:r>
                  <a:rPr sz="2400" b="0">
                    <a:solidFill>
                      <a:srgbClr val="111827"/>
                    </a:solidFill>
                    <a:latin typeface="Arial"/>
                  </a:rPr>
                  <a:t> objects. The number of arrangements such that: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Exactly </a:t>
                </a:r>
                <a:r>
                  <a:rPr lang="en-IN" sz="2400">
                    <a:solidFill>
                      <a:srgbClr val="111827"/>
                    </a:solidFill>
                    <a:latin typeface="Cambria Math" panose="02040503050406030204" pitchFamily="18" charset="0"/>
                  </a:rPr>
                  <a:t>$4$</a:t>
                </a:r>
                <a:r>
                  <a:rPr sz="2400" b="0">
                    <a:solidFill>
                      <a:srgbClr val="111827"/>
                    </a:solidFill>
                    <a:latin typeface="Arial"/>
                  </a:rPr>
                  <a:t> integers are in their natural positions, that is, exactly </a:t>
                </a:r>
                <a:r>
                  <a:rPr lang="en-IN" sz="2400">
                    <a:solidFill>
                      <a:srgbClr val="111827"/>
                    </a:solidFill>
                    <a:latin typeface="Cambria Math" panose="02040503050406030204" pitchFamily="18" charset="0"/>
                  </a:rPr>
                  <a:t>$6$</a:t>
                </a:r>
                <a:r>
                  <a:rPr sz="2400" b="0">
                    <a:solidFill>
                      <a:srgbClr val="111827"/>
                    </a:solidFill>
                    <a:latin typeface="Arial"/>
                  </a:rPr>
                  <a:t> of the integers are deranged:</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${}^{10}C_4\cdot D_6$</a:t>
                </a:r>
                <a:r>
                  <a:rPr sz="2400" b="0">
                    <a:solidFill>
                      <a:srgbClr val="111827"/>
                    </a:solidFill>
                    <a:latin typeface="Arial"/>
                  </a:rPr>
                  <a:t>   (B) </a:t>
                </a:r>
                <a:r>
                  <a:rPr lang="en-IN" sz="2400">
                    <a:solidFill>
                      <a:srgbClr val="111827"/>
                    </a:solidFill>
                    <a:latin typeface="Cambria Math" panose="02040503050406030204" pitchFamily="18" charset="0"/>
                  </a:rPr>
                  <a:t>$D_6$</a:t>
                </a:r>
                <a:r>
                  <a:rPr sz="2400" b="0">
                    <a:solidFill>
                      <a:srgbClr val="111827"/>
                    </a:solidFill>
                    <a:latin typeface="Arial"/>
                  </a:rPr>
                  <a:t>   (C) </a:t>
                </a:r>
                <a:r>
                  <a:rPr lang="en-IN" sz="2400">
                    <a:solidFill>
                      <a:srgbClr val="111827"/>
                    </a:solidFill>
                    <a:latin typeface="Cambria Math" panose="02040503050406030204" pitchFamily="18" charset="0"/>
                  </a:rPr>
                  <a:t>$D_6+D_7+D_8+D_9+D_{10}$</a:t>
                </a:r>
                <a:r>
                  <a:rPr sz="2400" b="0">
                    <a:solidFill>
                      <a:srgbClr val="111827"/>
                    </a:solidFill>
                    <a:latin typeface="Arial"/>
                  </a:rPr>
                  <a:t>   (D) </a:t>
                </a:r>
                <a:r>
                  <a:rPr lang="en-IN" sz="2400">
                    <a:solidFill>
                      <a:srgbClr val="111827"/>
                    </a:solidFill>
                    <a:latin typeface="Cambria Math" panose="02040503050406030204" pitchFamily="18" charset="0"/>
                  </a:rPr>
                  <a:t>$D_{10}$</a:t>
                </a:r>
                <a:endParaRPr sz="2400">
                  <a:solidFill>
                    <a:srgbClr val="111827"/>
                  </a:solidFill>
                </a:endParaRPr>
              </a:p>
            </p:txBody>
          </p:sp>
        </mc:Fallback>
      </mc:AlternateContent>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3 Marks</a:t>
            </a:r>
            <a:endParaRPr sz="2400">
              <a:solidFill>
                <a:srgbClr val="111827"/>
              </a:solidFill>
            </a:endParaRPr>
          </a:p>
        </p:txBody>
      </p:sp>
      <p:sp>
        <p:nvSpPr>
          <p:cNvPr id="4" name="Rectangle 3"/>
          <p:cNvSpPr/>
          <p:nvPr/>
        </p:nvSpPr>
        <p:spPr>
          <a:xfrm>
            <a:off x="731520" y="1280160"/>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Paragraph Based Single Correct Type(3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Derangements and permutations with fixed points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3066288"/>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Choose which </a:t>
                </a:r>
                <a14:m>
                  <m:oMath xmlns:m="http://schemas.openxmlformats.org/officeDocument/2006/math">
                    <m:r>
                      <a:rPr lang="en-IN" sz="2400" i="1">
                        <a:solidFill>
                          <a:srgbClr val="78350F"/>
                        </a:solidFill>
                        <a:latin typeface="Cambria Math" panose="02040503050406030204" pitchFamily="18" charset="0"/>
                      </a:rPr>
                      <m:t>4</m:t>
                    </m:r>
                  </m:oMath>
                </a14:m>
                <a:r>
                  <a:rPr sz="2400" b="0">
                    <a:solidFill>
                      <a:srgbClr val="78350F"/>
                    </a:solidFill>
                    <a:latin typeface="Arial"/>
                  </a:rPr>
                  <a:t> integers stay fixed, then derange the other </a:t>
                </a:r>
                <a14:m>
                  <m:oMath xmlns:m="http://schemas.openxmlformats.org/officeDocument/2006/math">
                    <m:r>
                      <a:rPr lang="en-IN" sz="2400" i="1">
                        <a:solidFill>
                          <a:srgbClr val="78350F"/>
                        </a:solidFill>
                        <a:latin typeface="Cambria Math" panose="02040503050406030204" pitchFamily="18" charset="0"/>
                      </a:rPr>
                      <m:t>6</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3066288"/>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Choose which </a:t>
                </a:r>
                <a:r>
                  <a:rPr lang="en-IN" sz="2400">
                    <a:solidFill>
                      <a:srgbClr val="78350F"/>
                    </a:solidFill>
                    <a:latin typeface="Cambria Math" panose="02040503050406030204" pitchFamily="18" charset="0"/>
                  </a:rPr>
                  <a:t>$4$</a:t>
                </a:r>
                <a:r>
                  <a:rPr sz="2400" b="0">
                    <a:solidFill>
                      <a:srgbClr val="78350F"/>
                    </a:solidFill>
                    <a:latin typeface="Arial"/>
                  </a:rPr>
                  <a:t> integers stay fixed, then derange the other </a:t>
                </a:r>
                <a:r>
                  <a:rPr lang="en-IN" sz="2400">
                    <a:solidFill>
                      <a:srgbClr val="78350F"/>
                    </a:solidFill>
                    <a:latin typeface="Cambria Math" panose="02040503050406030204" pitchFamily="18" charset="0"/>
                  </a:rPr>
                  <a:t>$6$</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4312920"/>
                <a:ext cx="10725912" cy="23621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Select the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integers (out of </a:t>
                </a:r>
                <a14:m>
                  <m:oMath xmlns:m="http://schemas.openxmlformats.org/officeDocument/2006/math">
                    <m:r>
                      <a:rPr lang="en-IN" sz="2400" i="1">
                        <a:solidFill>
                          <a:srgbClr val="111827"/>
                        </a:solidFill>
                        <a:latin typeface="Cambria Math" panose="02040503050406030204" pitchFamily="18" charset="0"/>
                      </a:rPr>
                      <m:t>10</m:t>
                    </m:r>
                  </m:oMath>
                </a14:m>
                <a:r>
                  <a:rPr sz="2400" b="0">
                    <a:solidFill>
                      <a:srgbClr val="111827"/>
                    </a:solidFill>
                    <a:latin typeface="Arial"/>
                  </a:rPr>
                  <a:t>) that stay in their natural positions: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10</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4</m:t>
                        </m:r>
                      </m:sub>
                    </m:sSub>
                  </m:oMath>
                </a14:m>
                <a:r>
                  <a:rPr sz="2400" b="0">
                    <a:solidFill>
                      <a:srgbClr val="111827"/>
                    </a:solidFill>
                    <a:latin typeface="Arial"/>
                  </a:rPr>
                  <a:t> ways; they are placed in their correct positions in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way.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remaining </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 integers must all be deranged: </a:t>
                </a:r>
                <a14:m>
                  <m:oMath xmlns:m="http://schemas.openxmlformats.org/officeDocument/2006/math">
                    <m:sSub>
                      <m:e>
                        <m:r>
                          <a:rPr lang="en-IN" sz="2400" i="1">
                            <a:solidFill>
                              <a:srgbClr val="111827"/>
                            </a:solidFill>
                            <a:latin typeface="Cambria Math" panose="02040503050406030204" pitchFamily="18" charset="0"/>
                          </a:rPr>
                          <m:t>𝐷</m:t>
                        </m:r>
                      </m:e>
                      <m:sub>
                        <m:r>
                          <a:rPr lang="en-IN" sz="2400" i="1">
                            <a:solidFill>
                              <a:srgbClr val="111827"/>
                            </a:solidFill>
                            <a:latin typeface="Cambria Math" panose="02040503050406030204" pitchFamily="18" charset="0"/>
                          </a:rPr>
                          <m:t>6</m:t>
                        </m:r>
                      </m:sub>
                    </m:sSub>
                  </m:oMath>
                </a14:m>
                <a:r>
                  <a:rPr sz="2400" b="0">
                    <a:solidFill>
                      <a:srgbClr val="111827"/>
                    </a:solidFill>
                    <a:latin typeface="Arial"/>
                  </a:rPr>
                  <a:t> ways.</a:t>
                </a:r>
                <a:endParaRPr sz="2400">
                  <a:solidFill>
                    <a:srgbClr val="111827"/>
                  </a:solidFill>
                </a:endParaRPr>
              </a:p>
            </p:txBody>
          </p:sp>
        </mc:Choice>
        <mc:Fallback>
          <p:sp>
            <p:nvSpPr>
              <p:cNvPr id="6" name="Rectangle 5"/>
              <p:cNvSpPr/>
              <p:nvPr/>
            </p:nvSpPr>
            <p:spPr>
              <a:xfrm>
                <a:off x="731520" y="4312920"/>
                <a:ext cx="10725912" cy="23621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Select the </a:t>
                </a:r>
                <a:r>
                  <a:rPr lang="en-IN" sz="2400">
                    <a:solidFill>
                      <a:srgbClr val="111827"/>
                    </a:solidFill>
                    <a:latin typeface="Cambria Math" panose="02040503050406030204" pitchFamily="18" charset="0"/>
                  </a:rPr>
                  <a:t>$4$</a:t>
                </a:r>
                <a:r>
                  <a:rPr sz="2400" b="0">
                    <a:solidFill>
                      <a:srgbClr val="111827"/>
                    </a:solidFill>
                    <a:latin typeface="Arial"/>
                  </a:rPr>
                  <a:t> integers (out of </a:t>
                </a:r>
                <a:r>
                  <a:rPr lang="en-IN" sz="2400">
                    <a:solidFill>
                      <a:srgbClr val="111827"/>
                    </a:solidFill>
                    <a:latin typeface="Cambria Math" panose="02040503050406030204" pitchFamily="18" charset="0"/>
                  </a:rPr>
                  <a:t>$10$</a:t>
                </a:r>
                <a:r>
                  <a:rPr sz="2400" b="0">
                    <a:solidFill>
                      <a:srgbClr val="111827"/>
                    </a:solidFill>
                    <a:latin typeface="Arial"/>
                  </a:rPr>
                  <a:t>) that stay in their natural positions: </a:t>
                </a:r>
                <a:r>
                  <a:rPr lang="en-IN" sz="2400">
                    <a:solidFill>
                      <a:srgbClr val="111827"/>
                    </a:solidFill>
                    <a:latin typeface="Cambria Math" panose="02040503050406030204" pitchFamily="18" charset="0"/>
                  </a:rPr>
                  <a:t>${}^{10}C_4$</a:t>
                </a:r>
                <a:r>
                  <a:rPr sz="2400" b="0">
                    <a:solidFill>
                      <a:srgbClr val="111827"/>
                    </a:solidFill>
                    <a:latin typeface="Arial"/>
                  </a:rPr>
                  <a:t> ways; they are placed in their correct positions in </a:t>
                </a:r>
                <a:r>
                  <a:rPr lang="en-IN" sz="2400">
                    <a:solidFill>
                      <a:srgbClr val="111827"/>
                    </a:solidFill>
                    <a:latin typeface="Cambria Math" panose="02040503050406030204" pitchFamily="18" charset="0"/>
                  </a:rPr>
                  <a:t>$1$</a:t>
                </a:r>
                <a:r>
                  <a:rPr sz="2400" b="0">
                    <a:solidFill>
                      <a:srgbClr val="111827"/>
                    </a:solidFill>
                    <a:latin typeface="Arial"/>
                  </a:rPr>
                  <a:t> way.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remaining </a:t>
                </a:r>
                <a:r>
                  <a:rPr lang="en-IN" sz="2400">
                    <a:solidFill>
                      <a:srgbClr val="111827"/>
                    </a:solidFill>
                    <a:latin typeface="Cambria Math" panose="02040503050406030204" pitchFamily="18" charset="0"/>
                  </a:rPr>
                  <a:t>$6$</a:t>
                </a:r>
                <a:r>
                  <a:rPr sz="2400" b="0">
                    <a:solidFill>
                      <a:srgbClr val="111827"/>
                    </a:solidFill>
                    <a:latin typeface="Arial"/>
                  </a:rPr>
                  <a:t> integers must all be deranged: </a:t>
                </a:r>
                <a:r>
                  <a:rPr lang="en-IN" sz="2400">
                    <a:solidFill>
                      <a:srgbClr val="111827"/>
                    </a:solidFill>
                    <a:latin typeface="Cambria Math" panose="02040503050406030204" pitchFamily="18" charset="0"/>
                  </a:rPr>
                  <a:t>$D_6$</a:t>
                </a:r>
                <a:r>
                  <a:rPr sz="2400" b="0">
                    <a:solidFill>
                      <a:srgbClr val="111827"/>
                    </a:solidFill>
                    <a:latin typeface="Arial"/>
                  </a:rPr>
                  <a:t> ways.</a:t>
                </a:r>
                <a:endParaRPr sz="2400">
                  <a:solidFill>
                    <a:srgbClr val="111827"/>
                  </a:solidFill>
                </a:endParaRPr>
              </a:p>
            </p:txBody>
          </p:sp>
        </mc:Fallback>
      </mc:AlternateContent>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Number of arrangements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10</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4</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𝐷</m:t>
                        </m:r>
                      </m:e>
                      <m:sub>
                        <m:r>
                          <a:rPr lang="en-IN" sz="2400" i="1">
                            <a:solidFill>
                              <a:srgbClr val="111827"/>
                            </a:solidFill>
                            <a:latin typeface="Cambria Math" panose="02040503050406030204" pitchFamily="18" charset="0"/>
                          </a:rPr>
                          <m:t>6</m:t>
                        </m:r>
                      </m:sub>
                    </m:sSub>
                  </m:oMath>
                </a14:m>
                <a:r>
                  <a:rPr sz="2400" b="0">
                    <a:solidFill>
                      <a:srgbClr val="111827"/>
                    </a:solidFill>
                    <a:latin typeface="Arial"/>
                  </a:rPr>
                  <a:t>, option (A).</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Number of arrangements </a:t>
                </a:r>
                <a:r>
                  <a:rPr lang="en-IN" sz="2400">
                    <a:solidFill>
                      <a:srgbClr val="111827"/>
                    </a:solidFill>
                    <a:latin typeface="Cambria Math" panose="02040503050406030204" pitchFamily="18" charset="0"/>
                  </a:rPr>
                  <a:t>$={}^{10}C_4\cdot D_6$</a:t>
                </a:r>
                <a:r>
                  <a:rPr sz="2400" b="0">
                    <a:solidFill>
                      <a:srgbClr val="111827"/>
                    </a:solidFill>
                    <a:latin typeface="Arial"/>
                  </a:rPr>
                  <a:t>, option (A).</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a:t>
                </a:r>
                <a14:m>
                  <m:oMath xmlns:m="http://schemas.openxmlformats.org/officeDocument/2006/math">
                    <m:sSup>
                      <m:e>
                        <m:r>
                          <a:rPr lang="en-IN" sz="2800" i="1">
                            <a:solidFill>
                              <a:srgbClr val="15803D"/>
                            </a:solidFill>
                            <a:latin typeface="Cambria Math" panose="02040503050406030204" pitchFamily="18" charset="0"/>
                          </a:rPr>
                          <m:t>​</m:t>
                        </m:r>
                      </m:e>
                      <m:sup>
                        <m:r>
                          <a:rPr lang="en-IN" sz="2800" i="1">
                            <a:solidFill>
                              <a:srgbClr val="15803D"/>
                            </a:solidFill>
                            <a:latin typeface="Cambria Math" panose="02040503050406030204" pitchFamily="18" charset="0"/>
                          </a:rPr>
                          <m:t>10</m:t>
                        </m:r>
                      </m:sup>
                    </m:sSup>
                    <m:sSub>
                      <m:e>
                        <m:r>
                          <a:rPr lang="en-IN" sz="2800" i="1">
                            <a:solidFill>
                              <a:srgbClr val="15803D"/>
                            </a:solidFill>
                            <a:latin typeface="Cambria Math" panose="02040503050406030204" pitchFamily="18" charset="0"/>
                          </a:rPr>
                          <m:t>𝐶</m:t>
                        </m:r>
                      </m:e>
                      <m:sub>
                        <m:r>
                          <a:rPr lang="en-IN" sz="2800" i="1">
                            <a:solidFill>
                              <a:srgbClr val="15803D"/>
                            </a:solidFill>
                            <a:latin typeface="Cambria Math" panose="02040503050406030204" pitchFamily="18" charset="0"/>
                          </a:rPr>
                          <m:t>4</m:t>
                        </m:r>
                      </m:sub>
                    </m:sSub>
                    <m:r>
                      <m:rPr>
                        <m:sty m:val="p"/>
                      </m:rPr>
                      <a:rPr lang="en-IN" sz="2800">
                        <a:solidFill>
                          <a:srgbClr val="15803D"/>
                        </a:solidFill>
                        <a:latin typeface="Cambria Math" panose="02040503050406030204" pitchFamily="18" charset="0"/>
                      </a:rPr>
                      <m:t>⋅</m:t>
                    </m:r>
                    <m:sSub>
                      <m:e>
                        <m:r>
                          <a:rPr lang="en-IN" sz="2800" i="1">
                            <a:solidFill>
                              <a:srgbClr val="15803D"/>
                            </a:solidFill>
                            <a:latin typeface="Cambria Math" panose="02040503050406030204" pitchFamily="18" charset="0"/>
                          </a:rPr>
                          <m:t>𝐷</m:t>
                        </m:r>
                      </m:e>
                      <m:sub>
                        <m:r>
                          <a:rPr lang="en-IN" sz="2800" i="1">
                            <a:solidFill>
                              <a:srgbClr val="15803D"/>
                            </a:solidFill>
                            <a:latin typeface="Cambria Math" panose="02040503050406030204" pitchFamily="18" charset="0"/>
                          </a:rPr>
                          <m:t>6</m:t>
                        </m:r>
                      </m:sub>
                    </m:sSub>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a:t>
                </a:r>
                <a:r>
                  <a:rPr lang="en-IN" sz="2800">
                    <a:solidFill>
                      <a:srgbClr val="15803D"/>
                    </a:solidFill>
                    <a:latin typeface="Cambria Math" panose="02040503050406030204" pitchFamily="18" charset="0"/>
                  </a:rPr>
                  <a:t>${}^{10}C_4\cdot D_6$</a:t>
                </a:r>
                <a:endParaRPr sz="2800">
                  <a:solidFill>
                    <a:srgbClr val="15803D"/>
                  </a:solidFill>
                </a:endParaRPr>
              </a:p>
            </p:txBody>
          </p:sp>
        </mc:Fallback>
      </mc:AlternateContent>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3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Number of permutations of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objects with exactly </a:t>
                </a:r>
                <a14:m>
                  <m:oMath xmlns:m="http://schemas.openxmlformats.org/officeDocument/2006/math">
                    <m:r>
                      <a:rPr lang="en-IN" sz="2400" i="1">
                        <a:solidFill>
                          <a:srgbClr val="111827"/>
                        </a:solidFill>
                        <a:latin typeface="Cambria Math" panose="02040503050406030204" pitchFamily="18" charset="0"/>
                      </a:rPr>
                      <m:t>𝑟</m:t>
                    </m:r>
                  </m:oMath>
                </a14:m>
                <a:r>
                  <a:rPr sz="2400" b="0">
                    <a:solidFill>
                      <a:srgbClr val="111827"/>
                    </a:solidFill>
                    <a:latin typeface="Arial"/>
                  </a:rPr>
                  <a:t> fixed points: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𝑟</m:t>
                            </m:r>
                          </m:den>
                        </m:f>
                      </m:e>
                    </m:d>
                    <m:sSub>
                      <m:e>
                        <m:r>
                          <a:rPr lang="en-IN" sz="2400" i="1">
                            <a:solidFill>
                              <a:srgbClr val="111827"/>
                            </a:solidFill>
                            <a:latin typeface="Cambria Math" panose="02040503050406030204" pitchFamily="18" charset="0"/>
                          </a:rPr>
                          <m:t>𝐷</m:t>
                        </m:r>
                      </m:e>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sub>
                    </m:sSub>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𝐷</m:t>
                        </m:r>
                      </m:e>
                      <m:sub>
                        <m:r>
                          <a:rPr lang="en-IN" sz="2400" i="1">
                            <a:solidFill>
                              <a:srgbClr val="111827"/>
                            </a:solidFill>
                            <a:latin typeface="Cambria Math" panose="02040503050406030204" pitchFamily="18" charset="0"/>
                          </a:rPr>
                          <m:t>𝑛</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𝑛</m:t>
                        </m:r>
                      </m:sup>
                      <m:e>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𝑘</m:t>
                                </m:r>
                              </m:sup>
                            </m:sSup>
                          </m:num>
                          <m:den>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den>
                        </m:f>
                      </m:e>
                    </m:nary>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𝐷</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𝐷</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𝐷</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𝐷</m:t>
                        </m:r>
                      </m:e>
                      <m:sub>
                        <m:r>
                          <a:rPr lang="en-IN" sz="2400" i="1">
                            <a:solidFill>
                              <a:srgbClr val="111827"/>
                            </a:solidFill>
                            <a:latin typeface="Cambria Math" panose="02040503050406030204" pitchFamily="18" charset="0"/>
                          </a:rPr>
                          <m:t>4</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𝐷</m:t>
                        </m:r>
                      </m:e>
                      <m:sub>
                        <m:r>
                          <a:rPr lang="en-IN" sz="2400" i="1">
                            <a:solidFill>
                              <a:srgbClr val="111827"/>
                            </a:solidFill>
                            <a:latin typeface="Cambria Math" panose="02040503050406030204" pitchFamily="18" charset="0"/>
                          </a:rPr>
                          <m:t>5</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44</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𝐷</m:t>
                        </m:r>
                      </m:e>
                      <m:sub>
                        <m:r>
                          <a:rPr lang="en-IN" sz="2400" i="1">
                            <a:solidFill>
                              <a:srgbClr val="111827"/>
                            </a:solidFill>
                            <a:latin typeface="Cambria Math" panose="02040503050406030204" pitchFamily="18" charset="0"/>
                          </a:rPr>
                          <m:t>6</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265</m:t>
                    </m:r>
                  </m:oMath>
                </a14:m>
                <a:r>
                  <a:rPr sz="2400" b="0">
                    <a:solidFill>
                      <a:srgbClr val="111827"/>
                    </a:solidFill>
                    <a:latin typeface="Arial"/>
                  </a:rPr>
                  <a:t>; recursion </a:t>
                </a:r>
                <a14:m>
                  <m:oMath xmlns:m="http://schemas.openxmlformats.org/officeDocument/2006/math">
                    <m:sSub>
                      <m:e>
                        <m:r>
                          <a:rPr lang="en-IN" sz="2400" i="1">
                            <a:solidFill>
                              <a:srgbClr val="111827"/>
                            </a:solidFill>
                            <a:latin typeface="Cambria Math" panose="02040503050406030204" pitchFamily="18" charset="0"/>
                          </a:rPr>
                          <m:t>𝐷</m:t>
                        </m:r>
                      </m:e>
                      <m:sub>
                        <m:r>
                          <a:rPr lang="en-IN" sz="2400" i="1">
                            <a:solidFill>
                              <a:srgbClr val="111827"/>
                            </a:solidFill>
                            <a:latin typeface="Cambria Math" panose="02040503050406030204" pitchFamily="18" charset="0"/>
                          </a:rPr>
                          <m:t>𝑛</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𝐷</m:t>
                        </m:r>
                      </m:e>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𝐷</m:t>
                        </m:r>
                      </m:e>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14:m>
                  <m:oMath xmlns:m="http://schemas.openxmlformats.org/officeDocument/2006/math">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𝑟</m:t>
                        </m:r>
                      </m:sub>
                      <m:sup>
                        <m:r>
                          <a:rPr lang="en-IN" sz="2400" i="1">
                            <a:solidFill>
                              <a:srgbClr val="111827"/>
                            </a:solidFill>
                            <a:latin typeface="Cambria Math" panose="02040503050406030204" pitchFamily="18" charset="0"/>
                          </a:rPr>
                          <m:t>​</m:t>
                        </m:r>
                      </m:sup>
                      <m:e>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𝑟</m:t>
                                </m:r>
                              </m:den>
                            </m:f>
                          </m:e>
                        </m:d>
                      </m:e>
                    </m:nary>
                    <m:sSub>
                      <m:e>
                        <m:r>
                          <a:rPr lang="en-IN" sz="2400" i="1">
                            <a:solidFill>
                              <a:srgbClr val="111827"/>
                            </a:solidFill>
                            <a:latin typeface="Cambria Math" panose="02040503050406030204" pitchFamily="18" charset="0"/>
                          </a:rPr>
                          <m:t>𝐷</m:t>
                        </m:r>
                      </m:e>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oMath>
                </a14:m>
                <a:r>
                  <a:rPr sz="2400" b="0">
                    <a:solidFill>
                      <a:srgbClr val="111827"/>
                    </a:solidFill>
                    <a:latin typeface="Arial"/>
                  </a:rPr>
                  <a:t> ✓. Here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10</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4</m:t>
                        </m:r>
                      </m:sub>
                    </m:sSub>
                    <m:sSub>
                      <m:e>
                        <m:r>
                          <a:rPr lang="en-IN" sz="2400" i="1">
                            <a:solidFill>
                              <a:srgbClr val="111827"/>
                            </a:solidFill>
                            <a:latin typeface="Cambria Math" panose="02040503050406030204" pitchFamily="18" charset="0"/>
                          </a:rPr>
                          <m:t>𝐷</m:t>
                        </m:r>
                      </m:e>
                      <m:sub>
                        <m:r>
                          <a:rPr lang="en-IN" sz="2400" i="1">
                            <a:solidFill>
                              <a:srgbClr val="111827"/>
                            </a:solidFill>
                            <a:latin typeface="Cambria Math" panose="02040503050406030204" pitchFamily="18" charset="0"/>
                          </a:rPr>
                          <m:t>6</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265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650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Number of permutations of </a:t>
                </a:r>
                <a:r>
                  <a:rPr lang="en-IN" sz="2400">
                    <a:solidFill>
                      <a:srgbClr val="111827"/>
                    </a:solidFill>
                    <a:latin typeface="Cambria Math" panose="02040503050406030204" pitchFamily="18" charset="0"/>
                  </a:rPr>
                  <a:t>$n$</a:t>
                </a:r>
                <a:r>
                  <a:rPr sz="2400" b="0">
                    <a:solidFill>
                      <a:srgbClr val="111827"/>
                    </a:solidFill>
                    <a:latin typeface="Arial"/>
                  </a:rPr>
                  <a:t> objects with exactly </a:t>
                </a:r>
                <a:r>
                  <a:rPr lang="en-IN" sz="2400">
                    <a:solidFill>
                      <a:srgbClr val="111827"/>
                    </a:solidFill>
                    <a:latin typeface="Cambria Math" panose="02040503050406030204" pitchFamily="18" charset="0"/>
                  </a:rPr>
                  <a:t>$r$</a:t>
                </a:r>
                <a:r>
                  <a:rPr sz="2400" b="0">
                    <a:solidFill>
                      <a:srgbClr val="111827"/>
                    </a:solidFill>
                    <a:latin typeface="Arial"/>
                  </a:rPr>
                  <a:t> fixed points: </a:t>
                </a:r>
                <a:r>
                  <a:rPr lang="en-IN" sz="2400">
                    <a:solidFill>
                      <a:srgbClr val="111827"/>
                    </a:solidFill>
                    <a:latin typeface="Cambria Math" panose="02040503050406030204" pitchFamily="18" charset="0"/>
                  </a:rPr>
                  <a:t>$\binom nr D_{n-r}$</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$D_n=n!\sum_{k=0}^{n}\dfrac{(-1)^k}{k!}$</a:t>
                </a:r>
                <a:r>
                  <a:rPr sz="2400" b="0">
                    <a:solidFill>
                      <a:srgbClr val="111827"/>
                    </a:solidFill>
                    <a:latin typeface="Arial"/>
                  </a:rPr>
                  <a:t>; </a:t>
                </a:r>
                <a:r>
                  <a:rPr lang="en-IN" sz="2400">
                    <a:solidFill>
                      <a:srgbClr val="111827"/>
                    </a:solidFill>
                    <a:latin typeface="Cambria Math" panose="02040503050406030204" pitchFamily="18" charset="0"/>
                  </a:rPr>
                  <a:t>$D_1=0,D_2=1,D_3=2,D_4=9,D_5=44,D_6=265$</a:t>
                </a:r>
                <a:r>
                  <a:rPr sz="2400" b="0">
                    <a:solidFill>
                      <a:srgbClr val="111827"/>
                    </a:solidFill>
                    <a:latin typeface="Arial"/>
                  </a:rPr>
                  <a:t>; recursion </a:t>
                </a:r>
                <a:r>
                  <a:rPr lang="en-IN" sz="2400">
                    <a:solidFill>
                      <a:srgbClr val="111827"/>
                    </a:solidFill>
                    <a:latin typeface="Cambria Math" panose="02040503050406030204" pitchFamily="18" charset="0"/>
                  </a:rPr>
                  <a:t>$D_n=(n-1)(D_{n-1}+D_{n-2})$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r>
                  <a:rPr lang="en-IN" sz="2400">
                    <a:solidFill>
                      <a:srgbClr val="111827"/>
                    </a:solidFill>
                    <a:latin typeface="Cambria Math" panose="02040503050406030204" pitchFamily="18" charset="0"/>
                  </a:rPr>
                  <a:t>$\sum_{r}\binom nrD_{n-r}=n!$</a:t>
                </a:r>
                <a:r>
                  <a:rPr sz="2400" b="0">
                    <a:solidFill>
                      <a:srgbClr val="111827"/>
                    </a:solidFill>
                    <a:latin typeface="Arial"/>
                  </a:rPr>
                  <a:t>; for </a:t>
                </a:r>
                <a:r>
                  <a:rPr lang="en-IN" sz="2400">
                    <a:solidFill>
                      <a:srgbClr val="111827"/>
                    </a:solidFill>
                    <a:latin typeface="Cambria Math" panose="02040503050406030204" pitchFamily="18" charset="0"/>
                  </a:rPr>
                  <a:t>$n=4$</a:t>
                </a:r>
                <a:r>
                  <a:rPr sz="2400" b="0">
                    <a:solidFill>
                      <a:srgbClr val="111827"/>
                    </a:solidFill>
                    <a:latin typeface="Arial"/>
                  </a:rPr>
                  <a:t>: </a:t>
                </a:r>
                <a:r>
                  <a:rPr lang="en-IN" sz="2400">
                    <a:solidFill>
                      <a:srgbClr val="111827"/>
                    </a:solidFill>
                    <a:latin typeface="Cambria Math" panose="02040503050406030204" pitchFamily="18" charset="0"/>
                  </a:rPr>
                  <a:t>$9+4\cdot2+6\cdot1+4\cdot0+1=24$</a:t>
                </a:r>
                <a:r>
                  <a:rPr sz="2400" b="0">
                    <a:solidFill>
                      <a:srgbClr val="111827"/>
                    </a:solidFill>
                    <a:latin typeface="Arial"/>
                  </a:rPr>
                  <a:t> ✓. Here </a:t>
                </a:r>
                <a:r>
                  <a:rPr lang="en-IN" sz="2400">
                    <a:solidFill>
                      <a:srgbClr val="111827"/>
                    </a:solidFill>
                    <a:latin typeface="Cambria Math" panose="02040503050406030204" pitchFamily="18" charset="0"/>
                  </a:rPr>
                  <a:t>${}^{10}C_4D_6=210\times265=55{,}650$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3622548"/>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Paragraph: Consider the arrangements of the integers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to </a:t>
                </a:r>
                <a14:m>
                  <m:oMath xmlns:m="http://schemas.openxmlformats.org/officeDocument/2006/math">
                    <m:r>
                      <a:rPr lang="en-IN" sz="2400" i="1">
                        <a:solidFill>
                          <a:srgbClr val="111827"/>
                        </a:solidFill>
                        <a:latin typeface="Cambria Math" panose="02040503050406030204" pitchFamily="18" charset="0"/>
                      </a:rPr>
                      <m:t>10</m:t>
                    </m:r>
                  </m:oMath>
                </a14:m>
                <a:r>
                  <a:rPr sz="2400" b="0">
                    <a:solidFill>
                      <a:srgbClr val="111827"/>
                    </a:solidFill>
                    <a:latin typeface="Arial"/>
                  </a:rPr>
                  <a:t> in which some of the integers are in their natural positions (integer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 at place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 and the others are deranged. Let </a:t>
                </a:r>
                <a14:m>
                  <m:oMath xmlns:m="http://schemas.openxmlformats.org/officeDocument/2006/math">
                    <m:sSub>
                      <m:e>
                        <m:r>
                          <a:rPr lang="en-IN" sz="2400" i="1">
                            <a:solidFill>
                              <a:srgbClr val="111827"/>
                            </a:solidFill>
                            <a:latin typeface="Cambria Math" panose="02040503050406030204" pitchFamily="18" charset="0"/>
                          </a:rPr>
                          <m:t>𝐷</m:t>
                        </m:r>
                      </m:e>
                      <m:sub>
                        <m:r>
                          <a:rPr lang="en-IN" sz="2400" i="1">
                            <a:solidFill>
                              <a:srgbClr val="111827"/>
                            </a:solidFill>
                            <a:latin typeface="Cambria Math" panose="02040503050406030204" pitchFamily="18" charset="0"/>
                          </a:rPr>
                          <m:t>𝑛</m:t>
                        </m:r>
                      </m:sub>
                    </m:sSub>
                  </m:oMath>
                </a14:m>
                <a:r>
                  <a:rPr sz="2400" b="0">
                    <a:solidFill>
                      <a:srgbClr val="111827"/>
                    </a:solidFill>
                    <a:latin typeface="Arial"/>
                  </a:rPr>
                  <a:t> be the number of derangements of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objects. The number of arrangements such that:</a:t>
                </a:r>
                <a:endParaRPr sz="2400">
                  <a:solidFill>
                    <a:srgbClr val="111827"/>
                  </a:solidFill>
                </a:endParaRPr>
              </a:p>
              <a:p>
                <a:pPr algn="l">
                  <a:spcAft>
                    <a:spcPts val="500"/>
                  </a:spcAft>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are in some order in the first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places so that none takes its original position:</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sSub>
                      <m:e>
                        <m:r>
                          <a:rPr lang="en-IN" sz="2400" i="1">
                            <a:solidFill>
                              <a:srgbClr val="111827"/>
                            </a:solidFill>
                            <a:latin typeface="Cambria Math" panose="02040503050406030204" pitchFamily="18" charset="0"/>
                          </a:rPr>
                          <m:t>𝐷</m:t>
                        </m:r>
                      </m:e>
                      <m:sub>
                        <m:r>
                          <a:rPr lang="en-IN" sz="2400" i="1">
                            <a:solidFill>
                              <a:srgbClr val="111827"/>
                            </a:solidFill>
                            <a:latin typeface="Cambria Math" panose="02040503050406030204" pitchFamily="18" charset="0"/>
                          </a:rPr>
                          <m:t>5</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(B)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𝐷</m:t>
                        </m:r>
                      </m:e>
                      <m:sub>
                        <m:r>
                          <a:rPr lang="en-IN" sz="2400" i="1">
                            <a:solidFill>
                              <a:srgbClr val="111827"/>
                            </a:solidFill>
                            <a:latin typeface="Cambria Math" panose="02040503050406030204" pitchFamily="18" charset="0"/>
                          </a:rPr>
                          <m:t>5</m:t>
                        </m:r>
                      </m:sub>
                    </m:sSub>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𝐷</m:t>
                        </m:r>
                      </m:e>
                      <m:sub>
                        <m:r>
                          <a:rPr lang="en-IN" sz="2400" i="1">
                            <a:solidFill>
                              <a:srgbClr val="111827"/>
                            </a:solidFill>
                            <a:latin typeface="Cambria Math" panose="02040503050406030204" pitchFamily="18" charset="0"/>
                          </a:rPr>
                          <m:t>5</m:t>
                        </m:r>
                      </m:sub>
                    </m:sSub>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(D)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10</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5</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𝐷</m:t>
                        </m:r>
                      </m:e>
                      <m:sub>
                        <m:r>
                          <a:rPr lang="en-IN" sz="2400" i="1">
                            <a:solidFill>
                              <a:srgbClr val="111827"/>
                            </a:solidFill>
                            <a:latin typeface="Cambria Math" panose="02040503050406030204" pitchFamily="18" charset="0"/>
                          </a:rPr>
                          <m:t>5</m:t>
                        </m:r>
                      </m:sub>
                    </m:sSub>
                  </m:oMath>
                </a14:m>
                <a:endParaRPr sz="2400">
                  <a:solidFill>
                    <a:srgbClr val="111827"/>
                  </a:solidFill>
                </a:endParaRPr>
              </a:p>
            </p:txBody>
          </p:sp>
        </mc:Choice>
        <mc:Fallback>
          <p:sp>
            <p:nvSpPr>
              <p:cNvPr id="4" name="Rounded Rectangle 3"/>
              <p:cNvSpPr/>
              <p:nvPr/>
            </p:nvSpPr>
            <p:spPr>
              <a:xfrm>
                <a:off x="731520" y="1280160"/>
                <a:ext cx="10725912" cy="3622548"/>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Paragraph: Consider the arrangements of the integers </a:t>
                </a:r>
                <a:r>
                  <a:rPr lang="en-IN" sz="2400">
                    <a:solidFill>
                      <a:srgbClr val="111827"/>
                    </a:solidFill>
                    <a:latin typeface="Cambria Math" panose="02040503050406030204" pitchFamily="18" charset="0"/>
                  </a:rPr>
                  <a:t>$1$</a:t>
                </a:r>
                <a:r>
                  <a:rPr sz="2400" b="0">
                    <a:solidFill>
                      <a:srgbClr val="111827"/>
                    </a:solidFill>
                    <a:latin typeface="Arial"/>
                  </a:rPr>
                  <a:t> to </a:t>
                </a:r>
                <a:r>
                  <a:rPr lang="en-IN" sz="2400">
                    <a:solidFill>
                      <a:srgbClr val="111827"/>
                    </a:solidFill>
                    <a:latin typeface="Cambria Math" panose="02040503050406030204" pitchFamily="18" charset="0"/>
                  </a:rPr>
                  <a:t>$10$</a:t>
                </a:r>
                <a:r>
                  <a:rPr sz="2400" b="0">
                    <a:solidFill>
                      <a:srgbClr val="111827"/>
                    </a:solidFill>
                    <a:latin typeface="Arial"/>
                  </a:rPr>
                  <a:t> in which some of the integers are in their natural positions (integer </a:t>
                </a:r>
                <a:r>
                  <a:rPr lang="en-IN" sz="2400">
                    <a:solidFill>
                      <a:srgbClr val="111827"/>
                    </a:solidFill>
                    <a:latin typeface="Cambria Math" panose="02040503050406030204" pitchFamily="18" charset="0"/>
                  </a:rPr>
                  <a:t>$k$</a:t>
                </a:r>
                <a:r>
                  <a:rPr sz="2400" b="0">
                    <a:solidFill>
                      <a:srgbClr val="111827"/>
                    </a:solidFill>
                    <a:latin typeface="Arial"/>
                  </a:rPr>
                  <a:t> at place </a:t>
                </a:r>
                <a:r>
                  <a:rPr lang="en-IN" sz="2400">
                    <a:solidFill>
                      <a:srgbClr val="111827"/>
                    </a:solidFill>
                    <a:latin typeface="Cambria Math" panose="02040503050406030204" pitchFamily="18" charset="0"/>
                  </a:rPr>
                  <a:t>$k$</a:t>
                </a:r>
                <a:r>
                  <a:rPr sz="2400" b="0">
                    <a:solidFill>
                      <a:srgbClr val="111827"/>
                    </a:solidFill>
                    <a:latin typeface="Arial"/>
                  </a:rPr>
                  <a:t>) and the others are deranged. Let </a:t>
                </a:r>
                <a:r>
                  <a:rPr lang="en-IN" sz="2400">
                    <a:solidFill>
                      <a:srgbClr val="111827"/>
                    </a:solidFill>
                    <a:latin typeface="Cambria Math" panose="02040503050406030204" pitchFamily="18" charset="0"/>
                  </a:rPr>
                  <a:t>$D_n$</a:t>
                </a:r>
                <a:r>
                  <a:rPr sz="2400" b="0">
                    <a:solidFill>
                      <a:srgbClr val="111827"/>
                    </a:solidFill>
                    <a:latin typeface="Arial"/>
                  </a:rPr>
                  <a:t> be the number of derangements of </a:t>
                </a:r>
                <a:r>
                  <a:rPr lang="en-IN" sz="2400">
                    <a:solidFill>
                      <a:srgbClr val="111827"/>
                    </a:solidFill>
                    <a:latin typeface="Cambria Math" panose="02040503050406030204" pitchFamily="18" charset="0"/>
                  </a:rPr>
                  <a:t>$n$</a:t>
                </a:r>
                <a:r>
                  <a:rPr sz="2400" b="0">
                    <a:solidFill>
                      <a:srgbClr val="111827"/>
                    </a:solidFill>
                    <a:latin typeface="Arial"/>
                  </a:rPr>
                  <a:t> objects. The number of arrangements such that:</a:t>
                </a:r>
                <a:endParaRPr sz="2400">
                  <a:solidFill>
                    <a:srgbClr val="111827"/>
                  </a:solidFill>
                </a:endParaRPr>
              </a:p>
              <a:p>
                <a:pPr algn="l">
                  <a:spcAft>
                    <a:spcPts val="500"/>
                  </a:spcAft>
                  <a:defRPr sz="2400">
                    <a:solidFill>
                      <a:srgbClr val="111827"/>
                    </a:solidFill>
                  </a:defRPr>
                </a:pPr>
                <a:r>
                  <a:rPr lang="en-IN" sz="2400">
                    <a:solidFill>
                      <a:srgbClr val="111827"/>
                    </a:solidFill>
                    <a:latin typeface="Cambria Math" panose="02040503050406030204" pitchFamily="18" charset="0"/>
                  </a:rPr>
                  <a:t>$1,2,3,4,5$</a:t>
                </a:r>
                <a:r>
                  <a:rPr sz="2400" b="0">
                    <a:solidFill>
                      <a:srgbClr val="111827"/>
                    </a:solidFill>
                    <a:latin typeface="Arial"/>
                  </a:rPr>
                  <a:t> are in some order in the first </a:t>
                </a:r>
                <a:r>
                  <a:rPr lang="en-IN" sz="2400">
                    <a:solidFill>
                      <a:srgbClr val="111827"/>
                    </a:solidFill>
                    <a:latin typeface="Cambria Math" panose="02040503050406030204" pitchFamily="18" charset="0"/>
                  </a:rPr>
                  <a:t>$5$</a:t>
                </a:r>
                <a:r>
                  <a:rPr sz="2400" b="0">
                    <a:solidFill>
                      <a:srgbClr val="111827"/>
                    </a:solidFill>
                    <a:latin typeface="Arial"/>
                  </a:rPr>
                  <a:t> places so that none takes its original position:</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$D_5\cdot5!$</a:t>
                </a:r>
                <a:r>
                  <a:rPr sz="2400" b="0">
                    <a:solidFill>
                      <a:srgbClr val="111827"/>
                    </a:solidFill>
                    <a:latin typeface="Arial"/>
                  </a:rPr>
                  <a:t>   (B) </a:t>
                </a:r>
                <a:r>
                  <a:rPr lang="en-IN" sz="2400">
                    <a:solidFill>
                      <a:srgbClr val="111827"/>
                    </a:solidFill>
                    <a:latin typeface="Cambria Math" panose="02040503050406030204" pitchFamily="18" charset="0"/>
                  </a:rPr>
                  <a:t>$(D_5)^2$</a:t>
                </a:r>
                <a:r>
                  <a:rPr sz="2400" b="0">
                    <a:solidFill>
                      <a:srgbClr val="111827"/>
                    </a:solidFill>
                    <a:latin typeface="Arial"/>
                  </a:rPr>
                  <a:t>   (C) </a:t>
                </a:r>
                <a:r>
                  <a:rPr lang="en-IN" sz="2400">
                    <a:solidFill>
                      <a:srgbClr val="111827"/>
                    </a:solidFill>
                    <a:latin typeface="Cambria Math" panose="02040503050406030204" pitchFamily="18" charset="0"/>
                  </a:rPr>
                  <a:t>$5!\,(D_5)^2$</a:t>
                </a:r>
                <a:r>
                  <a:rPr sz="2400" b="0">
                    <a:solidFill>
                      <a:srgbClr val="111827"/>
                    </a:solidFill>
                    <a:latin typeface="Arial"/>
                  </a:rPr>
                  <a:t>   (D) </a:t>
                </a:r>
                <a:r>
                  <a:rPr lang="en-IN" sz="2400">
                    <a:solidFill>
                      <a:srgbClr val="111827"/>
                    </a:solidFill>
                    <a:latin typeface="Cambria Math" panose="02040503050406030204" pitchFamily="18" charset="0"/>
                  </a:rPr>
                  <a:t>${}^{10}C_5\cdot D_5$</a:t>
                </a:r>
                <a:endParaRPr sz="2400">
                  <a:solidFill>
                    <a:srgbClr val="111827"/>
                  </a:solidFill>
                </a:endParaRPr>
              </a:p>
            </p:txBody>
          </p:sp>
        </mc:Fallback>
      </mc:AlternateContent>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3 Marks</a:t>
            </a:r>
            <a:endParaRPr sz="2400">
              <a:solidFill>
                <a:srgbClr val="111827"/>
              </a:solidFill>
            </a:endParaRPr>
          </a:p>
        </p:txBody>
      </p:sp>
      <p:sp>
        <p:nvSpPr>
          <p:cNvPr id="4" name="Rectangle 3"/>
          <p:cNvSpPr/>
          <p:nvPr/>
        </p:nvSpPr>
        <p:spPr>
          <a:xfrm>
            <a:off x="731520" y="128016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Paragraph Based Single Correct Type(3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Derangements within blocks of places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3438144"/>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Since </a:t>
                </a:r>
                <a14:m>
                  <m:oMath xmlns:m="http://schemas.openxmlformats.org/officeDocument/2006/math">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5</m:t>
                    </m:r>
                  </m:oMath>
                </a14:m>
                <a:r>
                  <a:rPr sz="2400" b="0">
                    <a:solidFill>
                      <a:srgbClr val="78350F"/>
                    </a:solidFill>
                    <a:latin typeface="Arial"/>
                  </a:rPr>
                  <a:t> stay in the first five places, </a:t>
                </a:r>
                <a14:m>
                  <m:oMath xmlns:m="http://schemas.openxmlformats.org/officeDocument/2006/math">
                    <m:r>
                      <a:rPr lang="en-IN" sz="2400" i="1">
                        <a:solidFill>
                          <a:srgbClr val="78350F"/>
                        </a:solidFill>
                        <a:latin typeface="Cambria Math" panose="02040503050406030204" pitchFamily="18" charset="0"/>
                      </a:rPr>
                      <m:t>6</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10</m:t>
                    </m:r>
                  </m:oMath>
                </a14:m>
                <a:r>
                  <a:rPr sz="2400" b="0">
                    <a:solidFill>
                      <a:srgbClr val="78350F"/>
                    </a:solidFill>
                    <a:latin typeface="Arial"/>
                  </a:rPr>
                  <a:t> must fill the last five; both blocks must be deranged.</a:t>
                </a:r>
                <a:endParaRPr sz="2400">
                  <a:solidFill>
                    <a:srgbClr val="78350F"/>
                  </a:solidFill>
                </a:endParaRPr>
              </a:p>
            </p:txBody>
          </p:sp>
        </mc:Choice>
        <mc:Fallback>
          <p:sp>
            <p:nvSpPr>
              <p:cNvPr id="5" name="Rounded Rectangle 4"/>
              <p:cNvSpPr/>
              <p:nvPr/>
            </p:nvSpPr>
            <p:spPr>
              <a:xfrm>
                <a:off x="731520" y="3438144"/>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Since </a:t>
                </a:r>
                <a:r>
                  <a:rPr lang="en-IN" sz="2400">
                    <a:solidFill>
                      <a:srgbClr val="78350F"/>
                    </a:solidFill>
                    <a:latin typeface="Cambria Math" panose="02040503050406030204" pitchFamily="18" charset="0"/>
                  </a:rPr>
                  <a:t>$1,\dots,5$</a:t>
                </a:r>
                <a:r>
                  <a:rPr sz="2400" b="0">
                    <a:solidFill>
                      <a:srgbClr val="78350F"/>
                    </a:solidFill>
                    <a:latin typeface="Arial"/>
                  </a:rPr>
                  <a:t> stay in the first five places, </a:t>
                </a:r>
                <a:r>
                  <a:rPr lang="en-IN" sz="2400">
                    <a:solidFill>
                      <a:srgbClr val="78350F"/>
                    </a:solidFill>
                    <a:latin typeface="Cambria Math" panose="02040503050406030204" pitchFamily="18" charset="0"/>
                  </a:rPr>
                  <a:t>$6,\dots,10$</a:t>
                </a:r>
                <a:r>
                  <a:rPr sz="2400" b="0">
                    <a:solidFill>
                      <a:srgbClr val="78350F"/>
                    </a:solidFill>
                    <a:latin typeface="Arial"/>
                  </a:rPr>
                  <a:t> must fill the last five; both blocks must be deranged.</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4684776"/>
                <a:ext cx="10725912" cy="199034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integers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occupy places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to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and none is in its natural place: </a:t>
                </a:r>
                <a14:m>
                  <m:oMath xmlns:m="http://schemas.openxmlformats.org/officeDocument/2006/math">
                    <m:sSub>
                      <m:e>
                        <m:r>
                          <a:rPr lang="en-IN" sz="2400" i="1">
                            <a:solidFill>
                              <a:srgbClr val="111827"/>
                            </a:solidFill>
                            <a:latin typeface="Cambria Math" panose="02040503050406030204" pitchFamily="18" charset="0"/>
                          </a:rPr>
                          <m:t>𝐷</m:t>
                        </m:r>
                      </m:e>
                      <m:sub>
                        <m:r>
                          <a:rPr lang="en-IN" sz="2400" i="1">
                            <a:solidFill>
                              <a:srgbClr val="111827"/>
                            </a:solidFill>
                            <a:latin typeface="Cambria Math" panose="02040503050406030204" pitchFamily="18" charset="0"/>
                          </a:rPr>
                          <m:t>5</m:t>
                        </m:r>
                      </m:sub>
                    </m:sSub>
                  </m:oMath>
                </a14:m>
                <a:r>
                  <a:rPr sz="2400" b="0">
                    <a:solidFill>
                      <a:srgbClr val="111827"/>
                    </a:solidFill>
                    <a:latin typeface="Arial"/>
                  </a:rPr>
                  <a:t> ways.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Then </a:t>
                </a:r>
                <a14:m>
                  <m:oMath xmlns:m="http://schemas.openxmlformats.org/officeDocument/2006/math">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occupy places </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 to </a:t>
                </a:r>
                <a14:m>
                  <m:oMath xmlns:m="http://schemas.openxmlformats.org/officeDocument/2006/math">
                    <m:r>
                      <a:rPr lang="en-IN" sz="2400" i="1">
                        <a:solidFill>
                          <a:srgbClr val="111827"/>
                        </a:solidFill>
                        <a:latin typeface="Cambria Math" panose="02040503050406030204" pitchFamily="18" charset="0"/>
                      </a:rPr>
                      <m:t>10</m:t>
                    </m:r>
                  </m:oMath>
                </a14:m>
                <a:r>
                  <a:rPr sz="2400" b="0">
                    <a:solidFill>
                      <a:srgbClr val="111827"/>
                    </a:solidFill>
                    <a:latin typeface="Arial"/>
                  </a:rPr>
                  <a:t> and (by the paragraph) must also be deranged: </a:t>
                </a:r>
                <a14:m>
                  <m:oMath xmlns:m="http://schemas.openxmlformats.org/officeDocument/2006/math">
                    <m:sSub>
                      <m:e>
                        <m:r>
                          <a:rPr lang="en-IN" sz="2400" i="1">
                            <a:solidFill>
                              <a:srgbClr val="111827"/>
                            </a:solidFill>
                            <a:latin typeface="Cambria Math" panose="02040503050406030204" pitchFamily="18" charset="0"/>
                          </a:rPr>
                          <m:t>𝐷</m:t>
                        </m:r>
                      </m:e>
                      <m:sub>
                        <m:r>
                          <a:rPr lang="en-IN" sz="2400" i="1">
                            <a:solidFill>
                              <a:srgbClr val="111827"/>
                            </a:solidFill>
                            <a:latin typeface="Cambria Math" panose="02040503050406030204" pitchFamily="18" charset="0"/>
                          </a:rPr>
                          <m:t>5</m:t>
                        </m:r>
                      </m:sub>
                    </m:sSub>
                  </m:oMath>
                </a14:m>
                <a:r>
                  <a:rPr sz="2400" b="0">
                    <a:solidFill>
                      <a:srgbClr val="111827"/>
                    </a:solidFill>
                    <a:latin typeface="Arial"/>
                  </a:rPr>
                  <a:t> ways.</a:t>
                </a:r>
                <a:endParaRPr sz="2400">
                  <a:solidFill>
                    <a:srgbClr val="111827"/>
                  </a:solidFill>
                </a:endParaRPr>
              </a:p>
            </p:txBody>
          </p:sp>
        </mc:Choice>
        <mc:Fallback>
          <p:sp>
            <p:nvSpPr>
              <p:cNvPr id="6" name="Rectangle 5"/>
              <p:cNvSpPr/>
              <p:nvPr/>
            </p:nvSpPr>
            <p:spPr>
              <a:xfrm>
                <a:off x="731520" y="4684776"/>
                <a:ext cx="10725912" cy="199034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integers </a:t>
                </a:r>
                <a:r>
                  <a:rPr lang="en-IN" sz="2400">
                    <a:solidFill>
                      <a:srgbClr val="111827"/>
                    </a:solidFill>
                    <a:latin typeface="Cambria Math" panose="02040503050406030204" pitchFamily="18" charset="0"/>
                  </a:rPr>
                  <a:t>$1,2,3,4,5$</a:t>
                </a:r>
                <a:r>
                  <a:rPr sz="2400" b="0">
                    <a:solidFill>
                      <a:srgbClr val="111827"/>
                    </a:solidFill>
                    <a:latin typeface="Arial"/>
                  </a:rPr>
                  <a:t> occupy places </a:t>
                </a:r>
                <a:r>
                  <a:rPr lang="en-IN" sz="2400">
                    <a:solidFill>
                      <a:srgbClr val="111827"/>
                    </a:solidFill>
                    <a:latin typeface="Cambria Math" panose="02040503050406030204" pitchFamily="18" charset="0"/>
                  </a:rPr>
                  <a:t>$1$</a:t>
                </a:r>
                <a:r>
                  <a:rPr sz="2400" b="0">
                    <a:solidFill>
                      <a:srgbClr val="111827"/>
                    </a:solidFill>
                    <a:latin typeface="Arial"/>
                  </a:rPr>
                  <a:t> to </a:t>
                </a:r>
                <a:r>
                  <a:rPr lang="en-IN" sz="2400">
                    <a:solidFill>
                      <a:srgbClr val="111827"/>
                    </a:solidFill>
                    <a:latin typeface="Cambria Math" panose="02040503050406030204" pitchFamily="18" charset="0"/>
                  </a:rPr>
                  <a:t>$5$</a:t>
                </a:r>
                <a:r>
                  <a:rPr sz="2400" b="0">
                    <a:solidFill>
                      <a:srgbClr val="111827"/>
                    </a:solidFill>
                    <a:latin typeface="Arial"/>
                  </a:rPr>
                  <a:t> and none is in its natural place: </a:t>
                </a:r>
                <a:r>
                  <a:rPr lang="en-IN" sz="2400">
                    <a:solidFill>
                      <a:srgbClr val="111827"/>
                    </a:solidFill>
                    <a:latin typeface="Cambria Math" panose="02040503050406030204" pitchFamily="18" charset="0"/>
                  </a:rPr>
                  <a:t>$D_5$</a:t>
                </a:r>
                <a:r>
                  <a:rPr sz="2400" b="0">
                    <a:solidFill>
                      <a:srgbClr val="111827"/>
                    </a:solidFill>
                    <a:latin typeface="Arial"/>
                  </a:rPr>
                  <a:t> ways.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Then </a:t>
                </a:r>
                <a:r>
                  <a:rPr lang="en-IN" sz="2400">
                    <a:solidFill>
                      <a:srgbClr val="111827"/>
                    </a:solidFill>
                    <a:latin typeface="Cambria Math" panose="02040503050406030204" pitchFamily="18" charset="0"/>
                  </a:rPr>
                  <a:t>$6,7,8,9,10$</a:t>
                </a:r>
                <a:r>
                  <a:rPr sz="2400" b="0">
                    <a:solidFill>
                      <a:srgbClr val="111827"/>
                    </a:solidFill>
                    <a:latin typeface="Arial"/>
                  </a:rPr>
                  <a:t> occupy places </a:t>
                </a:r>
                <a:r>
                  <a:rPr lang="en-IN" sz="2400">
                    <a:solidFill>
                      <a:srgbClr val="111827"/>
                    </a:solidFill>
                    <a:latin typeface="Cambria Math" panose="02040503050406030204" pitchFamily="18" charset="0"/>
                  </a:rPr>
                  <a:t>$6$</a:t>
                </a:r>
                <a:r>
                  <a:rPr sz="2400" b="0">
                    <a:solidFill>
                      <a:srgbClr val="111827"/>
                    </a:solidFill>
                    <a:latin typeface="Arial"/>
                  </a:rPr>
                  <a:t> to </a:t>
                </a:r>
                <a:r>
                  <a:rPr lang="en-IN" sz="2400">
                    <a:solidFill>
                      <a:srgbClr val="111827"/>
                    </a:solidFill>
                    <a:latin typeface="Cambria Math" panose="02040503050406030204" pitchFamily="18" charset="0"/>
                  </a:rPr>
                  <a:t>$10$</a:t>
                </a:r>
                <a:r>
                  <a:rPr sz="2400" b="0">
                    <a:solidFill>
                      <a:srgbClr val="111827"/>
                    </a:solidFill>
                    <a:latin typeface="Arial"/>
                  </a:rPr>
                  <a:t> and (by the paragraph) must also be deranged: </a:t>
                </a:r>
                <a:r>
                  <a:rPr lang="en-IN" sz="2400">
                    <a:solidFill>
                      <a:srgbClr val="111827"/>
                    </a:solidFill>
                    <a:latin typeface="Cambria Math" panose="02040503050406030204" pitchFamily="18" charset="0"/>
                  </a:rPr>
                  <a:t>$D_5$</a:t>
                </a:r>
                <a:r>
                  <a:rPr sz="2400" b="0">
                    <a:solidFill>
                      <a:srgbClr val="111827"/>
                    </a:solidFill>
                    <a:latin typeface="Arial"/>
                  </a:rPr>
                  <a:t> ways.</a:t>
                </a:r>
                <a:endParaRPr sz="2400">
                  <a:solidFill>
                    <a:srgbClr val="111827"/>
                  </a:solidFill>
                </a:endParaRPr>
              </a:p>
            </p:txBody>
          </p:sp>
        </mc:Fallback>
      </mc:AlternateContent>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Total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𝐷</m:t>
                        </m:r>
                      </m:e>
                      <m:sub>
                        <m:r>
                          <a:rPr lang="en-IN" sz="2400" i="1">
                            <a:solidFill>
                              <a:srgbClr val="111827"/>
                            </a:solidFill>
                            <a:latin typeface="Cambria Math" panose="02040503050406030204" pitchFamily="18" charset="0"/>
                          </a:rPr>
                          <m:t>5</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𝐷</m:t>
                        </m:r>
                      </m:e>
                      <m:sub>
                        <m:r>
                          <a:rPr lang="en-IN" sz="2400" i="1">
                            <a:solidFill>
                              <a:srgbClr val="111827"/>
                            </a:solidFill>
                            <a:latin typeface="Cambria Math" panose="02040503050406030204" pitchFamily="18" charset="0"/>
                          </a:rPr>
                          <m:t>5</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𝐷</m:t>
                        </m:r>
                      </m:e>
                      <m:sub>
                        <m:r>
                          <a:rPr lang="en-IN" sz="2400" i="1">
                            <a:solidFill>
                              <a:srgbClr val="111827"/>
                            </a:solidFill>
                            <a:latin typeface="Cambria Math" panose="02040503050406030204" pitchFamily="18" charset="0"/>
                          </a:rPr>
                          <m:t>5</m:t>
                        </m:r>
                      </m:sub>
                    </m:sSub>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option (B).</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Total </a:t>
                </a:r>
                <a:r>
                  <a:rPr lang="en-IN" sz="2400">
                    <a:solidFill>
                      <a:srgbClr val="111827"/>
                    </a:solidFill>
                    <a:latin typeface="Cambria Math" panose="02040503050406030204" pitchFamily="18" charset="0"/>
                  </a:rPr>
                  <a:t>$=D_5\cdot D_5=(D_5)^2$</a:t>
                </a:r>
                <a:r>
                  <a:rPr sz="2400" b="0">
                    <a:solidFill>
                      <a:srgbClr val="111827"/>
                    </a:solidFill>
                    <a:latin typeface="Arial"/>
                  </a:rPr>
                  <a:t>, option (B).</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a:t>
                </a:r>
                <a14:m>
                  <m:oMath xmlns:m="http://schemas.openxmlformats.org/officeDocument/2006/math">
                    <m:r>
                      <m:rPr>
                        <m:sty m:val="p"/>
                      </m:rPr>
                      <a:rPr lang="en-IN" sz="2800">
                        <a:solidFill>
                          <a:srgbClr val="15803D"/>
                        </a:solidFill>
                        <a:latin typeface="Cambria Math" panose="02040503050406030204" pitchFamily="18" charset="0"/>
                      </a:rPr>
                      <m:t>(</m:t>
                    </m:r>
                    <m:sSub>
                      <m:e>
                        <m:r>
                          <a:rPr lang="en-IN" sz="2800" i="1">
                            <a:solidFill>
                              <a:srgbClr val="15803D"/>
                            </a:solidFill>
                            <a:latin typeface="Cambria Math" panose="02040503050406030204" pitchFamily="18" charset="0"/>
                          </a:rPr>
                          <m:t>𝐷</m:t>
                        </m:r>
                      </m:e>
                      <m:sub>
                        <m:r>
                          <a:rPr lang="en-IN" sz="2800" i="1">
                            <a:solidFill>
                              <a:srgbClr val="15803D"/>
                            </a:solidFill>
                            <a:latin typeface="Cambria Math" panose="02040503050406030204" pitchFamily="18" charset="0"/>
                          </a:rPr>
                          <m:t>5</m:t>
                        </m:r>
                      </m:sub>
                    </m:sSub>
                    <m:sSup>
                      <m:e>
                        <m:r>
                          <m:rPr>
                            <m:sty m:val="p"/>
                          </m:rPr>
                          <a:rPr lang="en-IN" sz="2800">
                            <a:solidFill>
                              <a:srgbClr val="15803D"/>
                            </a:solidFill>
                            <a:latin typeface="Cambria Math" panose="02040503050406030204" pitchFamily="18" charset="0"/>
                          </a:rPr>
                          <m:t>)</m:t>
                        </m:r>
                      </m:e>
                      <m:sup>
                        <m:r>
                          <a:rPr lang="en-IN" sz="2800" i="1">
                            <a:solidFill>
                              <a:srgbClr val="15803D"/>
                            </a:solidFill>
                            <a:latin typeface="Cambria Math" panose="02040503050406030204" pitchFamily="18" charset="0"/>
                          </a:rPr>
                          <m:t>2</m:t>
                        </m:r>
                      </m:sup>
                    </m:sSup>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a:t>
                </a:r>
                <a:r>
                  <a:rPr lang="en-IN" sz="2800">
                    <a:solidFill>
                      <a:srgbClr val="15803D"/>
                    </a:solidFill>
                    <a:latin typeface="Cambria Math" panose="02040503050406030204" pitchFamily="18" charset="0"/>
                  </a:rPr>
                  <a:t>$(D_5)^2$</a:t>
                </a:r>
                <a:endParaRPr sz="2800">
                  <a:solidFill>
                    <a:srgbClr val="15803D"/>
                  </a:solidFill>
                </a:endParaRPr>
              </a:p>
            </p:txBody>
          </p:sp>
        </mc:Fallback>
      </mc:AlternateContent>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3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the places split into blocks that are filled independently by the matching integers, derangements multiply: </a:t>
                </a:r>
                <a14:m>
                  <m:oMath xmlns:m="http://schemas.openxmlformats.org/officeDocument/2006/math">
                    <m:sSub>
                      <m:e>
                        <m:r>
                          <a:rPr lang="en-IN" sz="2400" i="1">
                            <a:solidFill>
                              <a:srgbClr val="111827"/>
                            </a:solidFill>
                            <a:latin typeface="Cambria Math" panose="02040503050406030204" pitchFamily="18" charset="0"/>
                          </a:rPr>
                          <m:t>𝐷</m:t>
                        </m:r>
                      </m:e>
                      <m:sub>
                        <m:r>
                          <a:rPr lang="en-IN" sz="2400" i="1">
                            <a:solidFill>
                              <a:srgbClr val="111827"/>
                            </a:solidFill>
                            <a:latin typeface="Cambria Math" panose="02040503050406030204" pitchFamily="18" charset="0"/>
                          </a:rPr>
                          <m:t>𝑎</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𝐷</m:t>
                        </m:r>
                      </m:e>
                      <m:sub>
                        <m:r>
                          <a:rPr lang="en-IN" sz="2400" i="1">
                            <a:solidFill>
                              <a:srgbClr val="111827"/>
                            </a:solidFill>
                            <a:latin typeface="Cambria Math" panose="02040503050406030204" pitchFamily="18" charset="0"/>
                          </a:rPr>
                          <m:t>𝑏</m:t>
                        </m:r>
                      </m:sub>
                    </m:sSub>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𝐷</m:t>
                        </m:r>
                      </m:e>
                      <m:sub>
                        <m:r>
                          <a:rPr lang="en-IN" sz="2400" i="1">
                            <a:solidFill>
                              <a:srgbClr val="111827"/>
                            </a:solidFill>
                            <a:latin typeface="Cambria Math" panose="02040503050406030204" pitchFamily="18" charset="0"/>
                          </a:rPr>
                          <m:t>5</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44</m:t>
                    </m:r>
                  </m:oMath>
                </a14:m>
                <a:r>
                  <a:rPr sz="2400" b="0">
                    <a:solidFill>
                      <a:srgbClr val="111827"/>
                    </a:solidFill>
                    <a:latin typeface="Arial"/>
                  </a:rPr>
                  <a:t>, so the count here is </a:t>
                </a:r>
                <a14:m>
                  <m:oMath xmlns:m="http://schemas.openxmlformats.org/officeDocument/2006/math">
                    <m:sSup>
                      <m:e>
                        <m:r>
                          <a:rPr lang="en-IN" sz="2400" i="1">
                            <a:solidFill>
                              <a:srgbClr val="111827"/>
                            </a:solidFill>
                            <a:latin typeface="Cambria Math" panose="02040503050406030204" pitchFamily="18" charset="0"/>
                          </a:rPr>
                          <m:t>44</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1936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Do not multiply by extra </a:t>
                </a:r>
                <a14:m>
                  <m:oMath xmlns:m="http://schemas.openxmlformats.org/officeDocument/2006/math">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 derangement already fixes the order within the block.</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the places split into blocks that are filled independently by the matching integers, derangements multiply: </a:t>
                </a:r>
                <a:r>
                  <a:rPr lang="en-IN" sz="2400">
                    <a:solidFill>
                      <a:srgbClr val="111827"/>
                    </a:solidFill>
                    <a:latin typeface="Cambria Math" panose="02040503050406030204" pitchFamily="18" charset="0"/>
                  </a:rPr>
                  <a:t>$D_a\cdot D_b$</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$D_5=44$</a:t>
                </a:r>
                <a:r>
                  <a:rPr sz="2400" b="0">
                    <a:solidFill>
                      <a:srgbClr val="111827"/>
                    </a:solidFill>
                    <a:latin typeface="Arial"/>
                  </a:rPr>
                  <a:t>, so the count here is </a:t>
                </a:r>
                <a:r>
                  <a:rPr lang="en-IN" sz="2400">
                    <a:solidFill>
                      <a:srgbClr val="111827"/>
                    </a:solidFill>
                    <a:latin typeface="Cambria Math" panose="02040503050406030204" pitchFamily="18" charset="0"/>
                  </a:rPr>
                  <a:t>$44^2=1936$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Do not multiply by extra </a:t>
                </a:r>
                <a:r>
                  <a:rPr lang="en-IN" sz="2400">
                    <a:solidFill>
                      <a:srgbClr val="111827"/>
                    </a:solidFill>
                    <a:latin typeface="Cambria Math" panose="02040503050406030204" pitchFamily="18" charset="0"/>
                  </a:rPr>
                  <a:t>$5!$</a:t>
                </a:r>
                <a:r>
                  <a:rPr sz="2400" b="0">
                    <a:solidFill>
                      <a:srgbClr val="111827"/>
                    </a:solidFill>
                    <a:latin typeface="Arial"/>
                  </a:rPr>
                  <a:t>: a derangement already fixes the order within the block.</a:t>
                </a:r>
                <a:endParaRPr sz="2400">
                  <a:solidFill>
                    <a:srgbClr val="111827"/>
                  </a:solidFill>
                </a:endParaRPr>
              </a:p>
            </p:txBody>
          </p:sp>
        </mc:Fallback>
      </mc:AlternateContent>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325069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Paragraph: Consider the arrangements of the integers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to </a:t>
                </a:r>
                <a14:m>
                  <m:oMath xmlns:m="http://schemas.openxmlformats.org/officeDocument/2006/math">
                    <m:r>
                      <a:rPr lang="en-IN" sz="2400" i="1">
                        <a:solidFill>
                          <a:srgbClr val="111827"/>
                        </a:solidFill>
                        <a:latin typeface="Cambria Math" panose="02040503050406030204" pitchFamily="18" charset="0"/>
                      </a:rPr>
                      <m:t>10</m:t>
                    </m:r>
                  </m:oMath>
                </a14:m>
                <a:r>
                  <a:rPr sz="2400" b="0">
                    <a:solidFill>
                      <a:srgbClr val="111827"/>
                    </a:solidFill>
                    <a:latin typeface="Arial"/>
                  </a:rPr>
                  <a:t> in which some of the integers are in their natural positions (integer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 at place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 and the others are deranged. Let </a:t>
                </a:r>
                <a14:m>
                  <m:oMath xmlns:m="http://schemas.openxmlformats.org/officeDocument/2006/math">
                    <m:sSub>
                      <m:e>
                        <m:r>
                          <a:rPr lang="en-IN" sz="2400" i="1">
                            <a:solidFill>
                              <a:srgbClr val="111827"/>
                            </a:solidFill>
                            <a:latin typeface="Cambria Math" panose="02040503050406030204" pitchFamily="18" charset="0"/>
                          </a:rPr>
                          <m:t>𝐷</m:t>
                        </m:r>
                      </m:e>
                      <m:sub>
                        <m:r>
                          <a:rPr lang="en-IN" sz="2400" i="1">
                            <a:solidFill>
                              <a:srgbClr val="111827"/>
                            </a:solidFill>
                            <a:latin typeface="Cambria Math" panose="02040503050406030204" pitchFamily="18" charset="0"/>
                          </a:rPr>
                          <m:t>𝑛</m:t>
                        </m:r>
                      </m:sub>
                    </m:sSub>
                  </m:oMath>
                </a14:m>
                <a:r>
                  <a:rPr sz="2400" b="0">
                    <a:solidFill>
                      <a:srgbClr val="111827"/>
                    </a:solidFill>
                    <a:latin typeface="Arial"/>
                  </a:rPr>
                  <a:t> be the number of derangements of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objects. The number of arrangements such that:</a:t>
                </a:r>
                <a:endParaRPr sz="2400">
                  <a:solidFill>
                    <a:srgbClr val="111827"/>
                  </a:solidFill>
                </a:endParaRPr>
              </a:p>
              <a:p>
                <a:pPr algn="l">
                  <a:spcAft>
                    <a:spcPts val="500"/>
                  </a:spcAft>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are in some order in the first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places: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(B) </a:t>
                </a:r>
                <a14:m>
                  <m:oMath xmlns:m="http://schemas.openxmlformats.org/officeDocument/2006/math">
                    <m:sSub>
                      <m:e>
                        <m:r>
                          <a:rPr lang="en-IN" sz="2400" i="1">
                            <a:solidFill>
                              <a:srgbClr val="111827"/>
                            </a:solidFill>
                            <a:latin typeface="Cambria Math" panose="02040503050406030204" pitchFamily="18" charset="0"/>
                          </a:rPr>
                          <m:t>𝐷</m:t>
                        </m:r>
                      </m:e>
                      <m:sub>
                        <m:r>
                          <a:rPr lang="en-IN" sz="2400" i="1">
                            <a:solidFill>
                              <a:srgbClr val="111827"/>
                            </a:solidFill>
                            <a:latin typeface="Cambria Math" panose="02040503050406030204" pitchFamily="18" charset="0"/>
                          </a:rPr>
                          <m:t>5</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𝐷</m:t>
                        </m:r>
                      </m:e>
                      <m:sub>
                        <m:r>
                          <a:rPr lang="en-IN" sz="2400" i="1">
                            <a:solidFill>
                              <a:srgbClr val="111827"/>
                            </a:solidFill>
                            <a:latin typeface="Cambria Math" panose="02040503050406030204" pitchFamily="18" charset="0"/>
                          </a:rPr>
                          <m:t>5</m:t>
                        </m:r>
                      </m:sub>
                    </m:sSub>
                  </m:oMath>
                </a14:m>
                <a:r>
                  <a:rPr sz="2400" b="0">
                    <a:solidFill>
                      <a:srgbClr val="111827"/>
                    </a:solidFill>
                    <a:latin typeface="Arial"/>
                  </a:rPr>
                  <a:t>   (C) </a:t>
                </a:r>
                <a14:m>
                  <m:oMath xmlns:m="http://schemas.openxmlformats.org/officeDocument/2006/math">
                    <m:sSub>
                      <m:e>
                        <m:r>
                          <a:rPr lang="en-IN" sz="2400" i="1">
                            <a:solidFill>
                              <a:srgbClr val="111827"/>
                            </a:solidFill>
                            <a:latin typeface="Cambria Math" panose="02040503050406030204" pitchFamily="18" charset="0"/>
                          </a:rPr>
                          <m:t>𝐷</m:t>
                        </m:r>
                      </m:e>
                      <m:sub>
                        <m:r>
                          <a:rPr lang="en-IN" sz="2400" i="1">
                            <a:solidFill>
                              <a:srgbClr val="111827"/>
                            </a:solidFill>
                            <a:latin typeface="Cambria Math" panose="02040503050406030204" pitchFamily="18" charset="0"/>
                          </a:rPr>
                          <m:t>5</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(D)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10</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5</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𝐷</m:t>
                        </m:r>
                      </m:e>
                      <m:sub>
                        <m:r>
                          <a:rPr lang="en-IN" sz="2400" i="1">
                            <a:solidFill>
                              <a:srgbClr val="111827"/>
                            </a:solidFill>
                            <a:latin typeface="Cambria Math" panose="02040503050406030204" pitchFamily="18" charset="0"/>
                          </a:rPr>
                          <m:t>5</m:t>
                        </m:r>
                      </m:sub>
                    </m:sSub>
                  </m:oMath>
                </a14:m>
                <a:endParaRPr sz="2400">
                  <a:solidFill>
                    <a:srgbClr val="111827"/>
                  </a:solidFill>
                </a:endParaRPr>
              </a:p>
            </p:txBody>
          </p:sp>
        </mc:Choice>
        <mc:Fallback>
          <p:sp>
            <p:nvSpPr>
              <p:cNvPr id="4" name="Rounded Rectangle 3"/>
              <p:cNvSpPr/>
              <p:nvPr/>
            </p:nvSpPr>
            <p:spPr>
              <a:xfrm>
                <a:off x="731520" y="1280160"/>
                <a:ext cx="10725912" cy="325069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Paragraph: Consider the arrangements of the integers </a:t>
                </a:r>
                <a:r>
                  <a:rPr lang="en-IN" sz="2400">
                    <a:solidFill>
                      <a:srgbClr val="111827"/>
                    </a:solidFill>
                    <a:latin typeface="Cambria Math" panose="02040503050406030204" pitchFamily="18" charset="0"/>
                  </a:rPr>
                  <a:t>$1$</a:t>
                </a:r>
                <a:r>
                  <a:rPr sz="2400" b="0">
                    <a:solidFill>
                      <a:srgbClr val="111827"/>
                    </a:solidFill>
                    <a:latin typeface="Arial"/>
                  </a:rPr>
                  <a:t> to </a:t>
                </a:r>
                <a:r>
                  <a:rPr lang="en-IN" sz="2400">
                    <a:solidFill>
                      <a:srgbClr val="111827"/>
                    </a:solidFill>
                    <a:latin typeface="Cambria Math" panose="02040503050406030204" pitchFamily="18" charset="0"/>
                  </a:rPr>
                  <a:t>$10$</a:t>
                </a:r>
                <a:r>
                  <a:rPr sz="2400" b="0">
                    <a:solidFill>
                      <a:srgbClr val="111827"/>
                    </a:solidFill>
                    <a:latin typeface="Arial"/>
                  </a:rPr>
                  <a:t> in which some of the integers are in their natural positions (integer </a:t>
                </a:r>
                <a:r>
                  <a:rPr lang="en-IN" sz="2400">
                    <a:solidFill>
                      <a:srgbClr val="111827"/>
                    </a:solidFill>
                    <a:latin typeface="Cambria Math" panose="02040503050406030204" pitchFamily="18" charset="0"/>
                  </a:rPr>
                  <a:t>$k$</a:t>
                </a:r>
                <a:r>
                  <a:rPr sz="2400" b="0">
                    <a:solidFill>
                      <a:srgbClr val="111827"/>
                    </a:solidFill>
                    <a:latin typeface="Arial"/>
                  </a:rPr>
                  <a:t> at place </a:t>
                </a:r>
                <a:r>
                  <a:rPr lang="en-IN" sz="2400">
                    <a:solidFill>
                      <a:srgbClr val="111827"/>
                    </a:solidFill>
                    <a:latin typeface="Cambria Math" panose="02040503050406030204" pitchFamily="18" charset="0"/>
                  </a:rPr>
                  <a:t>$k$</a:t>
                </a:r>
                <a:r>
                  <a:rPr sz="2400" b="0">
                    <a:solidFill>
                      <a:srgbClr val="111827"/>
                    </a:solidFill>
                    <a:latin typeface="Arial"/>
                  </a:rPr>
                  <a:t>) and the others are deranged. Let </a:t>
                </a:r>
                <a:r>
                  <a:rPr lang="en-IN" sz="2400">
                    <a:solidFill>
                      <a:srgbClr val="111827"/>
                    </a:solidFill>
                    <a:latin typeface="Cambria Math" panose="02040503050406030204" pitchFamily="18" charset="0"/>
                  </a:rPr>
                  <a:t>$D_n$</a:t>
                </a:r>
                <a:r>
                  <a:rPr sz="2400" b="0">
                    <a:solidFill>
                      <a:srgbClr val="111827"/>
                    </a:solidFill>
                    <a:latin typeface="Arial"/>
                  </a:rPr>
                  <a:t> be the number of derangements of </a:t>
                </a:r>
                <a:r>
                  <a:rPr lang="en-IN" sz="2400">
                    <a:solidFill>
                      <a:srgbClr val="111827"/>
                    </a:solidFill>
                    <a:latin typeface="Cambria Math" panose="02040503050406030204" pitchFamily="18" charset="0"/>
                  </a:rPr>
                  <a:t>$n$</a:t>
                </a:r>
                <a:r>
                  <a:rPr sz="2400" b="0">
                    <a:solidFill>
                      <a:srgbClr val="111827"/>
                    </a:solidFill>
                    <a:latin typeface="Arial"/>
                  </a:rPr>
                  <a:t> objects. The number of arrangements such that:</a:t>
                </a:r>
                <a:endParaRPr sz="2400">
                  <a:solidFill>
                    <a:srgbClr val="111827"/>
                  </a:solidFill>
                </a:endParaRPr>
              </a:p>
              <a:p>
                <a:pPr algn="l">
                  <a:spcAft>
                    <a:spcPts val="500"/>
                  </a:spcAft>
                  <a:defRPr sz="2400">
                    <a:solidFill>
                      <a:srgbClr val="111827"/>
                    </a:solidFill>
                  </a:defRPr>
                </a:pPr>
                <a:r>
                  <a:rPr lang="en-IN" sz="2400">
                    <a:solidFill>
                      <a:srgbClr val="111827"/>
                    </a:solidFill>
                    <a:latin typeface="Cambria Math" panose="02040503050406030204" pitchFamily="18" charset="0"/>
                  </a:rPr>
                  <a:t>$6,7,8,9,10$</a:t>
                </a:r>
                <a:r>
                  <a:rPr sz="2400" b="0">
                    <a:solidFill>
                      <a:srgbClr val="111827"/>
                    </a:solidFill>
                    <a:latin typeface="Arial"/>
                  </a:rPr>
                  <a:t> are in some order in the first </a:t>
                </a:r>
                <a:r>
                  <a:rPr lang="en-IN" sz="2400">
                    <a:solidFill>
                      <a:srgbClr val="111827"/>
                    </a:solidFill>
                    <a:latin typeface="Cambria Math" panose="02040503050406030204" pitchFamily="18" charset="0"/>
                  </a:rPr>
                  <a:t>$5$</a:t>
                </a:r>
                <a:r>
                  <a:rPr sz="2400" b="0">
                    <a:solidFill>
                      <a:srgbClr val="111827"/>
                    </a:solidFill>
                    <a:latin typeface="Arial"/>
                  </a:rPr>
                  <a:t> places: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$5!\,5!$</a:t>
                </a:r>
                <a:r>
                  <a:rPr sz="2400" b="0">
                    <a:solidFill>
                      <a:srgbClr val="111827"/>
                    </a:solidFill>
                    <a:latin typeface="Arial"/>
                  </a:rPr>
                  <a:t>   (B) </a:t>
                </a:r>
                <a:r>
                  <a:rPr lang="en-IN" sz="2400">
                    <a:solidFill>
                      <a:srgbClr val="111827"/>
                    </a:solidFill>
                    <a:latin typeface="Cambria Math" panose="02040503050406030204" pitchFamily="18" charset="0"/>
                  </a:rPr>
                  <a:t>$D_5\cdot D_5$</a:t>
                </a:r>
                <a:r>
                  <a:rPr sz="2400" b="0">
                    <a:solidFill>
                      <a:srgbClr val="111827"/>
                    </a:solidFill>
                    <a:latin typeface="Arial"/>
                  </a:rPr>
                  <a:t>   (C) </a:t>
                </a:r>
                <a:r>
                  <a:rPr lang="en-IN" sz="2400">
                    <a:solidFill>
                      <a:srgbClr val="111827"/>
                    </a:solidFill>
                    <a:latin typeface="Cambria Math" panose="02040503050406030204" pitchFamily="18" charset="0"/>
                  </a:rPr>
                  <a:t>$D_5\cdot5!$</a:t>
                </a:r>
                <a:r>
                  <a:rPr sz="2400" b="0">
                    <a:solidFill>
                      <a:srgbClr val="111827"/>
                    </a:solidFill>
                    <a:latin typeface="Arial"/>
                  </a:rPr>
                  <a:t>   (D) </a:t>
                </a:r>
                <a:r>
                  <a:rPr lang="en-IN" sz="2400">
                    <a:solidFill>
                      <a:srgbClr val="111827"/>
                    </a:solidFill>
                    <a:latin typeface="Cambria Math" panose="02040503050406030204" pitchFamily="18" charset="0"/>
                  </a:rPr>
                  <a:t>${}^{10}C_5\cdot D_5$</a:t>
                </a:r>
                <a:endParaRPr sz="2400">
                  <a:solidFill>
                    <a:srgbClr val="111827"/>
                  </a:solidFill>
                </a:endParaRPr>
              </a:p>
            </p:txBody>
          </p:sp>
        </mc:Fallback>
      </mc:AlternateContent>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3 Marks</a:t>
            </a:r>
            <a:endParaRPr sz="2400">
              <a:solidFill>
                <a:srgbClr val="111827"/>
              </a:solidFill>
            </a:endParaRPr>
          </a:p>
        </p:txBody>
      </p:sp>
      <p:sp>
        <p:nvSpPr>
          <p:cNvPr id="4" name="Rectangle 3"/>
          <p:cNvSpPr/>
          <p:nvPr/>
        </p:nvSpPr>
        <p:spPr>
          <a:xfrm>
            <a:off x="731520" y="128016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Paragraph Based Single Correct Type(3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Derangements and forced non-natural positions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3438144"/>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Integers </a:t>
                </a:r>
                <a14:m>
                  <m:oMath xmlns:m="http://schemas.openxmlformats.org/officeDocument/2006/math">
                    <m:r>
                      <a:rPr lang="en-IN" sz="2400" i="1">
                        <a:solidFill>
                          <a:srgbClr val="78350F"/>
                        </a:solidFill>
                        <a:latin typeface="Cambria Math" panose="02040503050406030204" pitchFamily="18" charset="0"/>
                      </a:rPr>
                      <m:t>6</m:t>
                    </m:r>
                  </m:oMath>
                </a14:m>
                <a:r>
                  <a:rPr sz="2400" b="0">
                    <a:solidFill>
                      <a:srgbClr val="78350F"/>
                    </a:solidFill>
                    <a:latin typeface="Arial"/>
                  </a:rPr>
                  <a:t>-</a:t>
                </a:r>
                <a14:m>
                  <m:oMath xmlns:m="http://schemas.openxmlformats.org/officeDocument/2006/math">
                    <m:r>
                      <a:rPr lang="en-IN" sz="2400" i="1">
                        <a:solidFill>
                          <a:srgbClr val="78350F"/>
                        </a:solidFill>
                        <a:latin typeface="Cambria Math" panose="02040503050406030204" pitchFamily="18" charset="0"/>
                      </a:rPr>
                      <m:t>10</m:t>
                    </m:r>
                  </m:oMath>
                </a14:m>
                <a:r>
                  <a:rPr sz="2400" b="0">
                    <a:solidFill>
                      <a:srgbClr val="78350F"/>
                    </a:solidFill>
                    <a:latin typeface="Arial"/>
                  </a:rPr>
                  <a:t> in places </a:t>
                </a:r>
                <a14:m>
                  <m:oMath xmlns:m="http://schemas.openxmlformats.org/officeDocument/2006/math">
                    <m:r>
                      <a:rPr lang="en-IN" sz="2400" i="1">
                        <a:solidFill>
                          <a:srgbClr val="78350F"/>
                        </a:solidFill>
                        <a:latin typeface="Cambria Math" panose="02040503050406030204" pitchFamily="18" charset="0"/>
                      </a:rPr>
                      <m:t>1</m:t>
                    </m:r>
                  </m:oMath>
                </a14:m>
                <a:r>
                  <a:rPr sz="2400" b="0">
                    <a:solidFill>
                      <a:srgbClr val="78350F"/>
                    </a:solidFill>
                    <a:latin typeface="Arial"/>
                  </a:rPr>
                  <a:t>-</a:t>
                </a:r>
                <a14:m>
                  <m:oMath xmlns:m="http://schemas.openxmlformats.org/officeDocument/2006/math">
                    <m:r>
                      <a:rPr lang="en-IN" sz="2400" i="1">
                        <a:solidFill>
                          <a:srgbClr val="78350F"/>
                        </a:solidFill>
                        <a:latin typeface="Cambria Math" panose="02040503050406030204" pitchFamily="18" charset="0"/>
                      </a:rPr>
                      <m:t>5</m:t>
                    </m:r>
                  </m:oMath>
                </a14:m>
                <a:r>
                  <a:rPr sz="2400" b="0">
                    <a:solidFill>
                      <a:srgbClr val="78350F"/>
                    </a:solidFill>
                    <a:latin typeface="Arial"/>
                  </a:rPr>
                  <a:t> are automatically away from their natural places, so there is no restriction at all.</a:t>
                </a:r>
                <a:endParaRPr sz="2400">
                  <a:solidFill>
                    <a:srgbClr val="78350F"/>
                  </a:solidFill>
                </a:endParaRPr>
              </a:p>
            </p:txBody>
          </p:sp>
        </mc:Choice>
        <mc:Fallback>
          <p:sp>
            <p:nvSpPr>
              <p:cNvPr id="5" name="Rounded Rectangle 4"/>
              <p:cNvSpPr/>
              <p:nvPr/>
            </p:nvSpPr>
            <p:spPr>
              <a:xfrm>
                <a:off x="731520" y="3438144"/>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Integers </a:t>
                </a:r>
                <a:r>
                  <a:rPr lang="en-IN" sz="2400">
                    <a:solidFill>
                      <a:srgbClr val="78350F"/>
                    </a:solidFill>
                    <a:latin typeface="Cambria Math" panose="02040503050406030204" pitchFamily="18" charset="0"/>
                  </a:rPr>
                  <a:t>$6$</a:t>
                </a:r>
                <a:r>
                  <a:rPr sz="2400" b="0">
                    <a:solidFill>
                      <a:srgbClr val="78350F"/>
                    </a:solidFill>
                    <a:latin typeface="Arial"/>
                  </a:rPr>
                  <a:t>-</a:t>
                </a:r>
                <a:r>
                  <a:rPr lang="en-IN" sz="2400">
                    <a:solidFill>
                      <a:srgbClr val="78350F"/>
                    </a:solidFill>
                    <a:latin typeface="Cambria Math" panose="02040503050406030204" pitchFamily="18" charset="0"/>
                  </a:rPr>
                  <a:t>$10$</a:t>
                </a:r>
                <a:r>
                  <a:rPr sz="2400" b="0">
                    <a:solidFill>
                      <a:srgbClr val="78350F"/>
                    </a:solidFill>
                    <a:latin typeface="Arial"/>
                  </a:rPr>
                  <a:t> in places </a:t>
                </a:r>
                <a:r>
                  <a:rPr lang="en-IN" sz="2400">
                    <a:solidFill>
                      <a:srgbClr val="78350F"/>
                    </a:solidFill>
                    <a:latin typeface="Cambria Math" panose="02040503050406030204" pitchFamily="18" charset="0"/>
                  </a:rPr>
                  <a:t>$1$</a:t>
                </a:r>
                <a:r>
                  <a:rPr sz="2400" b="0">
                    <a:solidFill>
                      <a:srgbClr val="78350F"/>
                    </a:solidFill>
                    <a:latin typeface="Arial"/>
                  </a:rPr>
                  <a:t>-</a:t>
                </a:r>
                <a:r>
                  <a:rPr lang="en-IN" sz="2400">
                    <a:solidFill>
                      <a:srgbClr val="78350F"/>
                    </a:solidFill>
                    <a:latin typeface="Cambria Math" panose="02040503050406030204" pitchFamily="18" charset="0"/>
                  </a:rPr>
                  <a:t>$5$</a:t>
                </a:r>
                <a:r>
                  <a:rPr sz="2400" b="0">
                    <a:solidFill>
                      <a:srgbClr val="78350F"/>
                    </a:solidFill>
                    <a:latin typeface="Arial"/>
                  </a:rPr>
                  <a:t> are automatically away from their natural places, so there is no restriction at all.</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4684776"/>
                <a:ext cx="10725912" cy="199034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are placed in places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in any order: </a:t>
                </a:r>
                <a14:m>
                  <m:oMath xmlns:m="http://schemas.openxmlformats.org/officeDocument/2006/math">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ways. None can be in its natural position, since their natural places are </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 to </a:t>
                </a:r>
                <a14:m>
                  <m:oMath xmlns:m="http://schemas.openxmlformats.org/officeDocument/2006/math">
                    <m:r>
                      <a:rPr lang="en-IN" sz="2400" i="1">
                        <a:solidFill>
                          <a:srgbClr val="111827"/>
                        </a:solidFill>
                        <a:latin typeface="Cambria Math" panose="02040503050406030204" pitchFamily="18" charset="0"/>
                      </a:rPr>
                      <m:t>10</m:t>
                    </m:r>
                  </m:oMath>
                </a14:m>
                <a:r>
                  <a:rPr sz="2400" b="0">
                    <a:solidFill>
                      <a:srgbClr val="111827"/>
                    </a:solidFill>
                    <a:latin typeface="Arial"/>
                  </a:rPr>
                  <a:t>, so it is automatically deranged.</a:t>
                </a:r>
                <a:endParaRPr sz="2400">
                  <a:solidFill>
                    <a:srgbClr val="111827"/>
                  </a:solidFill>
                </a:endParaRPr>
              </a:p>
            </p:txBody>
          </p:sp>
        </mc:Choice>
        <mc:Fallback>
          <p:sp>
            <p:nvSpPr>
              <p:cNvPr id="6" name="Rectangle 5"/>
              <p:cNvSpPr/>
              <p:nvPr/>
            </p:nvSpPr>
            <p:spPr>
              <a:xfrm>
                <a:off x="731520" y="4684776"/>
                <a:ext cx="10725912" cy="199034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$6,7,8,9,10$</a:t>
                </a:r>
                <a:r>
                  <a:rPr sz="2400" b="0">
                    <a:solidFill>
                      <a:srgbClr val="111827"/>
                    </a:solidFill>
                    <a:latin typeface="Arial"/>
                  </a:rPr>
                  <a:t> are placed in places </a:t>
                </a:r>
                <a:r>
                  <a:rPr lang="en-IN" sz="2400">
                    <a:solidFill>
                      <a:srgbClr val="111827"/>
                    </a:solidFill>
                    <a:latin typeface="Cambria Math" panose="02040503050406030204" pitchFamily="18" charset="0"/>
                  </a:rPr>
                  <a:t>$1,2,3,4,5$</a:t>
                </a:r>
                <a:r>
                  <a:rPr sz="2400" b="0">
                    <a:solidFill>
                      <a:srgbClr val="111827"/>
                    </a:solidFill>
                    <a:latin typeface="Arial"/>
                  </a:rPr>
                  <a:t> in any order: </a:t>
                </a:r>
                <a:r>
                  <a:rPr lang="en-IN" sz="2400">
                    <a:solidFill>
                      <a:srgbClr val="111827"/>
                    </a:solidFill>
                    <a:latin typeface="Cambria Math" panose="02040503050406030204" pitchFamily="18" charset="0"/>
                  </a:rPr>
                  <a:t>$5!$</a:t>
                </a:r>
                <a:r>
                  <a:rPr sz="2400" b="0">
                    <a:solidFill>
                      <a:srgbClr val="111827"/>
                    </a:solidFill>
                    <a:latin typeface="Arial"/>
                  </a:rPr>
                  <a:t> ways. None can be in its natural position, since their natural places are </a:t>
                </a:r>
                <a:r>
                  <a:rPr lang="en-IN" sz="2400">
                    <a:solidFill>
                      <a:srgbClr val="111827"/>
                    </a:solidFill>
                    <a:latin typeface="Cambria Math" panose="02040503050406030204" pitchFamily="18" charset="0"/>
                  </a:rPr>
                  <a:t>$6$</a:t>
                </a:r>
                <a:r>
                  <a:rPr sz="2400" b="0">
                    <a:solidFill>
                      <a:srgbClr val="111827"/>
                    </a:solidFill>
                    <a:latin typeface="Arial"/>
                  </a:rPr>
                  <a:t> to </a:t>
                </a:r>
                <a:r>
                  <a:rPr lang="en-IN" sz="2400">
                    <a:solidFill>
                      <a:srgbClr val="111827"/>
                    </a:solidFill>
                    <a:latin typeface="Cambria Math" panose="02040503050406030204" pitchFamily="18" charset="0"/>
                  </a:rPr>
                  <a:t>$10$</a:t>
                </a:r>
                <a:r>
                  <a:rPr sz="2400" b="0">
                    <a:solidFill>
                      <a:srgbClr val="111827"/>
                    </a:solidFill>
                    <a:latin typeface="Arial"/>
                  </a:rPr>
                  <a:t>, so it is automatically deranged.</a:t>
                </a:r>
                <a:endParaRPr sz="2400">
                  <a:solidFill>
                    <a:srgbClr val="111827"/>
                  </a:solidFill>
                </a:endParaRPr>
              </a:p>
            </p:txBody>
          </p:sp>
        </mc:Fallback>
      </mc:AlternateContent>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Then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must go to places </a:t>
                </a:r>
                <a14:m>
                  <m:oMath xmlns:m="http://schemas.openxmlformats.org/officeDocument/2006/math">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again in any order and automatically deranged: </a:t>
                </a:r>
                <a14:m>
                  <m:oMath xmlns:m="http://schemas.openxmlformats.org/officeDocument/2006/math">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ways.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option (A).</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Then </a:t>
                </a:r>
                <a:r>
                  <a:rPr lang="en-IN" sz="2400">
                    <a:solidFill>
                      <a:srgbClr val="111827"/>
                    </a:solidFill>
                    <a:latin typeface="Cambria Math" panose="02040503050406030204" pitchFamily="18" charset="0"/>
                  </a:rPr>
                  <a:t>$1,2,3,4,5$</a:t>
                </a:r>
                <a:r>
                  <a:rPr sz="2400" b="0">
                    <a:solidFill>
                      <a:srgbClr val="111827"/>
                    </a:solidFill>
                    <a:latin typeface="Arial"/>
                  </a:rPr>
                  <a:t> must go to places </a:t>
                </a:r>
                <a:r>
                  <a:rPr lang="en-IN" sz="2400">
                    <a:solidFill>
                      <a:srgbClr val="111827"/>
                    </a:solidFill>
                    <a:latin typeface="Cambria Math" panose="02040503050406030204" pitchFamily="18" charset="0"/>
                  </a:rPr>
                  <a:t>$6,\dots,10$</a:t>
                </a:r>
                <a:r>
                  <a:rPr sz="2400" b="0">
                    <a:solidFill>
                      <a:srgbClr val="111827"/>
                    </a:solidFill>
                    <a:latin typeface="Arial"/>
                  </a:rPr>
                  <a:t>, again in any order and automatically deranged: </a:t>
                </a:r>
                <a:r>
                  <a:rPr lang="en-IN" sz="2400">
                    <a:solidFill>
                      <a:srgbClr val="111827"/>
                    </a:solidFill>
                    <a:latin typeface="Cambria Math" panose="02040503050406030204" pitchFamily="18" charset="0"/>
                  </a:rPr>
                  <a:t>$5!$</a:t>
                </a:r>
                <a:r>
                  <a:rPr sz="2400" b="0">
                    <a:solidFill>
                      <a:srgbClr val="111827"/>
                    </a:solidFill>
                    <a:latin typeface="Arial"/>
                  </a:rPr>
                  <a:t> ways.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r>
                  <a:rPr lang="en-IN" sz="2400">
                    <a:solidFill>
                      <a:srgbClr val="111827"/>
                    </a:solidFill>
                    <a:latin typeface="Cambria Math" panose="02040503050406030204" pitchFamily="18" charset="0"/>
                  </a:rPr>
                  <a:t>$=5!\times5!$</a:t>
                </a:r>
                <a:r>
                  <a:rPr sz="2400" b="0">
                    <a:solidFill>
                      <a:srgbClr val="111827"/>
                    </a:solidFill>
                    <a:latin typeface="Arial"/>
                  </a:rPr>
                  <a:t>, option (A).</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a:t>
                </a:r>
                <a14:m>
                  <m:oMath xmlns:m="http://schemas.openxmlformats.org/officeDocument/2006/math">
                    <m:r>
                      <a:rPr lang="en-IN" sz="2800" i="1">
                        <a:solidFill>
                          <a:srgbClr val="15803D"/>
                        </a:solidFill>
                        <a:latin typeface="Cambria Math" panose="02040503050406030204" pitchFamily="18" charset="0"/>
                      </a:rPr>
                      <m:t>5</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 </m:t>
                    </m:r>
                    <m:r>
                      <a:rPr lang="en-IN" sz="2800" i="1">
                        <a:solidFill>
                          <a:srgbClr val="15803D"/>
                        </a:solidFill>
                        <a:latin typeface="Cambria Math" panose="02040503050406030204" pitchFamily="18" charset="0"/>
                      </a:rPr>
                      <m:t>5</m:t>
                    </m:r>
                    <m:r>
                      <m:rPr>
                        <m:sty m:val="p"/>
                      </m:rPr>
                      <a:rPr lang="en-IN" sz="2800">
                        <a:solidFill>
                          <a:srgbClr val="15803D"/>
                        </a:solidFill>
                        <a:latin typeface="Cambria Math" panose="02040503050406030204" pitchFamily="18" charset="0"/>
                      </a:rPr>
                      <m:t>!</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a:t>
                </a:r>
                <a:r>
                  <a:rPr lang="en-IN" sz="2800">
                    <a:solidFill>
                      <a:srgbClr val="15803D"/>
                    </a:solidFill>
                    <a:latin typeface="Cambria Math" panose="02040503050406030204" pitchFamily="18" charset="0"/>
                  </a:rPr>
                  <a:t>$5!\,5!$</a:t>
                </a:r>
                <a:endParaRPr sz="2800">
                  <a:solidFill>
                    <a:srgbClr val="15803D"/>
                  </a:solidFill>
                </a:endParaRPr>
              </a:p>
            </p:txBody>
          </p:sp>
        </mc:Fallback>
      </mc:AlternateContent>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3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the integers are forced into places outside their natural ones, the derangement condition is automatic and only a plain </a:t>
                </a:r>
                <a14:m>
                  <m:oMath xmlns:m="http://schemas.openxmlformats.org/officeDocument/2006/math">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remains.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Fixed-point constraints matter only when an object can land on its own place.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14:m>
                  <m:oMath xmlns:m="http://schemas.openxmlformats.org/officeDocument/2006/math">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400</m:t>
                    </m:r>
                  </m:oMath>
                </a14:m>
                <a:r>
                  <a:rPr sz="2400" b="0">
                    <a:solidFill>
                      <a:srgbClr val="111827"/>
                    </a:solidFill>
                    <a:latin typeface="Arial"/>
                  </a:rPr>
                  <a:t> arrangements, all of them valid.</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the integers are forced into places outside their natural ones, the derangement condition is automatic and only a plain </a:t>
                </a:r>
                <a:r>
                  <a:rPr lang="en-IN" sz="2400">
                    <a:solidFill>
                      <a:srgbClr val="111827"/>
                    </a:solidFill>
                    <a:latin typeface="Cambria Math" panose="02040503050406030204" pitchFamily="18" charset="0"/>
                  </a:rPr>
                  <a:t>$5!$</a:t>
                </a:r>
                <a:r>
                  <a:rPr sz="2400" b="0">
                    <a:solidFill>
                      <a:srgbClr val="111827"/>
                    </a:solidFill>
                    <a:latin typeface="Arial"/>
                  </a:rPr>
                  <a:t> remains.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Fixed-point constraints matter only when an object can land on its own place.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r>
                  <a:rPr lang="en-IN" sz="2400">
                    <a:solidFill>
                      <a:srgbClr val="111827"/>
                    </a:solidFill>
                    <a:latin typeface="Cambria Math" panose="02040503050406030204" pitchFamily="18" charset="0"/>
                  </a:rPr>
                  <a:t>$5!\times5!=14{,}400$</a:t>
                </a:r>
                <a:r>
                  <a:rPr sz="2400" b="0">
                    <a:solidFill>
                      <a:srgbClr val="111827"/>
                    </a:solidFill>
                    <a:latin typeface="Arial"/>
                  </a:rPr>
                  <a:t> arrangements, all of them valid.</a:t>
                </a:r>
                <a:endParaRPr sz="2400">
                  <a:solidFill>
                    <a:srgbClr val="111827"/>
                  </a:solidFill>
                </a:endParaRPr>
              </a:p>
            </p:txBody>
          </p:sp>
        </mc:Fallback>
      </mc:AlternateContent>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2895" cy="4114800"/>
          </a:xfrm>
          <a:prstGeom prst="rect">
            <a:avLst/>
          </a:prstGeom>
          <a:noFill/>
        </p:spPr>
        <p:txBody>
          <a:bodyPr wrap="square">
            <a:spAutoFit/>
          </a:bodyPr>
          <a:lstStyle>
            <a:lvl1pPr>
              <a:defRPr sz="2800">
                <a:solidFill>
                  <a:srgbClr val="FFFFFF"/>
                </a:solidFill>
              </a:defRPr>
            </a:lvl1pPr>
          </a:lstStyle>
          <a:p>
            <a:pPr algn="ctr">
              <a:spcAft>
                <a:spcPts val="1000"/>
              </a:spcAft>
              <a:defRPr sz="2800">
                <a:solidFill>
                  <a:srgbClr val="FFFFFF"/>
                </a:solidFill>
              </a:defRPr>
            </a:pPr>
            <a:r>
              <a:rPr sz="2800" b="0">
                <a:solidFill>
                  <a:srgbClr val="93C5FD"/>
                </a:solidFill>
                <a:latin typeface="Arial"/>
              </a:rPr>
              <a:t>Section 3</a:t>
            </a:r>
            <a:endParaRPr sz="2800">
              <a:solidFill>
                <a:srgbClr val="FFFFFF"/>
              </a:solidFill>
            </a:endParaRPr>
          </a:p>
          <a:p>
            <a:pPr algn="ctr">
              <a:spcAft>
                <a:spcPts val="1000"/>
              </a:spcAft>
              <a:defRPr sz="2800">
                <a:solidFill>
                  <a:srgbClr val="FFFFFF"/>
                </a:solidFill>
              </a:defRPr>
            </a:pPr>
            <a:r>
              <a:rPr sz="4400" b="1">
                <a:solidFill>
                  <a:srgbClr val="FFFFFF"/>
                </a:solidFill>
                <a:latin typeface="Arial"/>
              </a:rPr>
              <a:t>Matching List Type</a:t>
            </a:r>
            <a:endParaRPr sz="2800">
              <a:solidFill>
                <a:srgbClr val="FFFFFF"/>
              </a:solidFill>
            </a:endParaRPr>
          </a:p>
          <a:p>
            <a:pPr algn="ctr">
              <a:spcAft>
                <a:spcPts val="1000"/>
              </a:spcAft>
              <a:defRPr sz="2800">
                <a:solidFill>
                  <a:srgbClr val="FFFFFF"/>
                </a:solidFill>
              </a:defRPr>
            </a:pPr>
            <a:r>
              <a:rPr sz="3200" b="1">
                <a:solidFill>
                  <a:srgbClr val="FFFFFF"/>
                </a:solidFill>
                <a:latin typeface="Arial"/>
              </a:rPr>
              <a:t>Q28</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Marks not printed in the paper: 3 marks assumed (JEE Advanced default)</a:t>
            </a:r>
            <a:endParaRPr sz="2800">
              <a:solidFill>
                <a:srgbClr val="FFFFFF"/>
              </a:solidFill>
            </a:endParaRP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53949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000">
                    <a:solidFill>
                      <a:srgbClr val="111827"/>
                    </a:solidFill>
                  </a:defRPr>
                </a:lvl1pPr>
              </a:lstStyle>
              <a:p>
                <a:pPr algn="l">
                  <a:spcAft>
                    <a:spcPts val="500"/>
                  </a:spcAft>
                  <a:defRPr sz="2000">
                    <a:solidFill>
                      <a:srgbClr val="111827"/>
                    </a:solidFill>
                  </a:defRPr>
                </a:pPr>
                <a:r>
                  <a:rPr sz="2000" b="0">
                    <a:solidFill>
                      <a:srgbClr val="111827"/>
                    </a:solidFill>
                    <a:latin typeface="Arial"/>
                  </a:rPr>
                  <a:t>Match the items of Column-I with those of Column-II.</a:t>
                </a:r>
                <a:endParaRPr sz="2000">
                  <a:solidFill>
                    <a:srgbClr val="111827"/>
                  </a:solidFill>
                </a:endParaRPr>
              </a:p>
              <a:p>
                <a:pPr algn="l">
                  <a:spcAft>
                    <a:spcPts val="500"/>
                  </a:spcAft>
                  <a:defRPr sz="2000">
                    <a:solidFill>
                      <a:srgbClr val="111827"/>
                    </a:solidFill>
                  </a:defRPr>
                </a:pPr>
                <a:r>
                  <a:rPr sz="2000" b="0">
                    <a:solidFill>
                      <a:srgbClr val="111827"/>
                    </a:solidFill>
                    <a:latin typeface="Arial"/>
                  </a:rPr>
                  <a:t>(A) Four different movies are running in a town. Ten students go to watch these four movies. The number of ways in which every movie is watched by at least one student is (assume each way differs only by the number of students watching a movie).</a:t>
                </a:r>
                <a:endParaRPr sz="2000">
                  <a:solidFill>
                    <a:srgbClr val="111827"/>
                  </a:solidFill>
                </a:endParaRPr>
              </a:p>
              <a:p>
                <a:pPr algn="l">
                  <a:spcAft>
                    <a:spcPts val="500"/>
                  </a:spcAft>
                  <a:defRPr sz="2000">
                    <a:solidFill>
                      <a:srgbClr val="111827"/>
                    </a:solidFill>
                  </a:defRPr>
                </a:pPr>
                <a:r>
                  <a:rPr sz="2000" b="0">
                    <a:solidFill>
                      <a:srgbClr val="111827"/>
                    </a:solidFill>
                    <a:latin typeface="Arial"/>
                  </a:rPr>
                  <a:t>(B) Consider the </a:t>
                </a:r>
                <a14:m>
                  <m:oMath xmlns:m="http://schemas.openxmlformats.org/officeDocument/2006/math">
                    <m:r>
                      <a:rPr lang="en-IN" sz="2000" i="1">
                        <a:solidFill>
                          <a:srgbClr val="111827"/>
                        </a:solidFill>
                        <a:latin typeface="Cambria Math" panose="02040503050406030204" pitchFamily="18" charset="0"/>
                      </a:rPr>
                      <m:t>8</m:t>
                    </m:r>
                  </m:oMath>
                </a14:m>
                <a:r>
                  <a:rPr sz="2000" b="0">
                    <a:solidFill>
                      <a:srgbClr val="111827"/>
                    </a:solidFill>
                    <a:latin typeface="Arial"/>
                  </a:rPr>
                  <a:t> vertices of a regular octagon and its centre. If </a:t>
                </a:r>
                <a14:m>
                  <m:oMath xmlns:m="http://schemas.openxmlformats.org/officeDocument/2006/math">
                    <m:r>
                      <a:rPr lang="en-IN" sz="2000" i="1">
                        <a:solidFill>
                          <a:srgbClr val="111827"/>
                        </a:solidFill>
                        <a:latin typeface="Cambria Math" panose="02040503050406030204" pitchFamily="18" charset="0"/>
                      </a:rPr>
                      <m:t>𝑇</m:t>
                    </m:r>
                  </m:oMath>
                </a14:m>
                <a:r>
                  <a:rPr sz="2000" b="0">
                    <a:solidFill>
                      <a:srgbClr val="111827"/>
                    </a:solidFill>
                    <a:latin typeface="Arial"/>
                  </a:rPr>
                  <a:t> denotes the number of triangles and </a:t>
                </a:r>
                <a14:m>
                  <m:oMath xmlns:m="http://schemas.openxmlformats.org/officeDocument/2006/math">
                    <m:r>
                      <a:rPr lang="en-IN" sz="2000" i="1">
                        <a:solidFill>
                          <a:srgbClr val="111827"/>
                        </a:solidFill>
                        <a:latin typeface="Cambria Math" panose="02040503050406030204" pitchFamily="18" charset="0"/>
                      </a:rPr>
                      <m:t>𝑆</m:t>
                    </m:r>
                  </m:oMath>
                </a14:m>
                <a:r>
                  <a:rPr sz="2000" b="0">
                    <a:solidFill>
                      <a:srgbClr val="111827"/>
                    </a:solidFill>
                    <a:latin typeface="Arial"/>
                  </a:rPr>
                  <a:t> the number of straight lines that can be formed with these </a:t>
                </a:r>
                <a14:m>
                  <m:oMath xmlns:m="http://schemas.openxmlformats.org/officeDocument/2006/math">
                    <m:r>
                      <a:rPr lang="en-IN" sz="2000" i="1">
                        <a:solidFill>
                          <a:srgbClr val="111827"/>
                        </a:solidFill>
                        <a:latin typeface="Cambria Math" panose="02040503050406030204" pitchFamily="18" charset="0"/>
                      </a:rPr>
                      <m:t>9</m:t>
                    </m:r>
                  </m:oMath>
                </a14:m>
                <a:r>
                  <a:rPr sz="2000" b="0">
                    <a:solidFill>
                      <a:srgbClr val="111827"/>
                    </a:solidFill>
                    <a:latin typeface="Arial"/>
                  </a:rPr>
                  <a:t> points, then the value of </a:t>
                </a:r>
                <a14:m>
                  <m:oMath xmlns:m="http://schemas.openxmlformats.org/officeDocument/2006/math">
                    <m:r>
                      <m:rPr>
                        <m:sty m:val="p"/>
                      </m:rPr>
                      <a:rPr lang="en-IN" sz="2000">
                        <a:solidFill>
                          <a:srgbClr val="111827"/>
                        </a:solidFill>
                        <a:latin typeface="Cambria Math" panose="02040503050406030204" pitchFamily="18" charset="0"/>
                      </a:rPr>
                      <m:t>(</m:t>
                    </m:r>
                    <m:r>
                      <a:rPr lang="en-IN" sz="2000" i="1">
                        <a:solidFill>
                          <a:srgbClr val="111827"/>
                        </a:solidFill>
                        <a:latin typeface="Cambria Math" panose="02040503050406030204" pitchFamily="18" charset="0"/>
                      </a:rPr>
                      <m:t>𝑇</m:t>
                    </m:r>
                    <m:r>
                      <m:rPr>
                        <m:sty m:val="p"/>
                      </m:rPr>
                      <a:rPr lang="en-IN" sz="2000">
                        <a:solidFill>
                          <a:srgbClr val="111827"/>
                        </a:solidFill>
                        <a:latin typeface="Cambria Math" panose="02040503050406030204" pitchFamily="18" charset="0"/>
                      </a:rPr>
                      <m:t>−</m:t>
                    </m:r>
                    <m:r>
                      <a:rPr lang="en-IN" sz="2000" i="1">
                        <a:solidFill>
                          <a:srgbClr val="111827"/>
                        </a:solidFill>
                        <a:latin typeface="Cambria Math" panose="02040503050406030204" pitchFamily="18" charset="0"/>
                      </a:rPr>
                      <m:t>𝑆</m:t>
                    </m:r>
                    <m:r>
                      <m:rPr>
                        <m:sty m:val="p"/>
                      </m:rPr>
                      <a:rPr lang="en-IN" sz="2000">
                        <a:solidFill>
                          <a:srgbClr val="111827"/>
                        </a:solidFill>
                        <a:latin typeface="Cambria Math" panose="02040503050406030204" pitchFamily="18" charset="0"/>
                      </a:rPr>
                      <m:t>)</m:t>
                    </m:r>
                  </m:oMath>
                </a14:m>
                <a:r>
                  <a:rPr sz="2000" b="0">
                    <a:solidFill>
                      <a:srgbClr val="111827"/>
                    </a:solidFill>
                    <a:latin typeface="Arial"/>
                  </a:rPr>
                  <a:t> equals.</a:t>
                </a:r>
                <a:endParaRPr sz="2000">
                  <a:solidFill>
                    <a:srgbClr val="111827"/>
                  </a:solidFill>
                </a:endParaRPr>
              </a:p>
              <a:p>
                <a:pPr algn="l">
                  <a:spcAft>
                    <a:spcPts val="500"/>
                  </a:spcAft>
                  <a:defRPr sz="2000">
                    <a:solidFill>
                      <a:srgbClr val="111827"/>
                    </a:solidFill>
                  </a:defRPr>
                </a:pPr>
                <a:r>
                  <a:rPr sz="2000" b="0">
                    <a:solidFill>
                      <a:srgbClr val="111827"/>
                    </a:solidFill>
                    <a:latin typeface="Arial"/>
                  </a:rPr>
                  <a:t>(C) In an examination, </a:t>
                </a:r>
                <a14:m>
                  <m:oMath xmlns:m="http://schemas.openxmlformats.org/officeDocument/2006/math">
                    <m:r>
                      <a:rPr lang="en-IN" sz="2000" i="1">
                        <a:solidFill>
                          <a:srgbClr val="111827"/>
                        </a:solidFill>
                        <a:latin typeface="Cambria Math" panose="02040503050406030204" pitchFamily="18" charset="0"/>
                      </a:rPr>
                      <m:t>5</m:t>
                    </m:r>
                  </m:oMath>
                </a14:m>
                <a:r>
                  <a:rPr sz="2000" b="0">
                    <a:solidFill>
                      <a:srgbClr val="111827"/>
                    </a:solidFill>
                    <a:latin typeface="Arial"/>
                  </a:rPr>
                  <a:t> children were found to have their mobiles in their pockets. The invigilator took their mobiles and, at the end of the test, randomly returned them. The number of ways in which at most two children did not get their own mobiles is.</a:t>
                </a:r>
                <a:endParaRPr sz="2000">
                  <a:solidFill>
                    <a:srgbClr val="111827"/>
                  </a:solidFill>
                </a:endParaRPr>
              </a:p>
              <a:p>
                <a:pPr algn="l">
                  <a:spcAft>
                    <a:spcPts val="500"/>
                  </a:spcAft>
                  <a:defRPr sz="2000">
                    <a:solidFill>
                      <a:srgbClr val="111827"/>
                    </a:solidFill>
                  </a:defRPr>
                </a:pPr>
                <a:r>
                  <a:rPr sz="2000" b="0">
                    <a:solidFill>
                      <a:srgbClr val="111827"/>
                    </a:solidFill>
                    <a:latin typeface="Arial"/>
                  </a:rPr>
                  <a:t>(D) The product of the digits of </a:t>
                </a:r>
                <a14:m>
                  <m:oMath xmlns:m="http://schemas.openxmlformats.org/officeDocument/2006/math">
                    <m:r>
                      <a:rPr lang="en-IN" sz="2000" i="1">
                        <a:solidFill>
                          <a:srgbClr val="111827"/>
                        </a:solidFill>
                        <a:latin typeface="Cambria Math" panose="02040503050406030204" pitchFamily="18" charset="0"/>
                      </a:rPr>
                      <m:t>3214</m:t>
                    </m:r>
                  </m:oMath>
                </a14:m>
                <a:r>
                  <a:rPr sz="2000" b="0">
                    <a:solidFill>
                      <a:srgbClr val="111827"/>
                    </a:solidFill>
                    <a:latin typeface="Arial"/>
                  </a:rPr>
                  <a:t> is </a:t>
                </a:r>
                <a14:m>
                  <m:oMath xmlns:m="http://schemas.openxmlformats.org/officeDocument/2006/math">
                    <m:r>
                      <a:rPr lang="en-IN" sz="2000" i="1">
                        <a:solidFill>
                          <a:srgbClr val="111827"/>
                        </a:solidFill>
                        <a:latin typeface="Cambria Math" panose="02040503050406030204" pitchFamily="18" charset="0"/>
                      </a:rPr>
                      <m:t>24</m:t>
                    </m:r>
                  </m:oMath>
                </a14:m>
                <a:r>
                  <a:rPr sz="2000" b="0">
                    <a:solidFill>
                      <a:srgbClr val="111827"/>
                    </a:solidFill>
                    <a:latin typeface="Arial"/>
                  </a:rPr>
                  <a:t>. The number of </a:t>
                </a:r>
                <a14:m>
                  <m:oMath xmlns:m="http://schemas.openxmlformats.org/officeDocument/2006/math">
                    <m:r>
                      <a:rPr lang="en-IN" sz="2000" i="1">
                        <a:solidFill>
                          <a:srgbClr val="111827"/>
                        </a:solidFill>
                        <a:latin typeface="Cambria Math" panose="02040503050406030204" pitchFamily="18" charset="0"/>
                      </a:rPr>
                      <m:t>4</m:t>
                    </m:r>
                  </m:oMath>
                </a14:m>
                <a:r>
                  <a:rPr sz="2000" b="0">
                    <a:solidFill>
                      <a:srgbClr val="111827"/>
                    </a:solidFill>
                    <a:latin typeface="Arial"/>
                  </a:rPr>
                  <a:t>-digit natural numbers such that the product of their digits is </a:t>
                </a:r>
                <a14:m>
                  <m:oMath xmlns:m="http://schemas.openxmlformats.org/officeDocument/2006/math">
                    <m:r>
                      <a:rPr lang="en-IN" sz="2000" i="1">
                        <a:solidFill>
                          <a:srgbClr val="111827"/>
                        </a:solidFill>
                        <a:latin typeface="Cambria Math" panose="02040503050406030204" pitchFamily="18" charset="0"/>
                      </a:rPr>
                      <m:t>12</m:t>
                    </m:r>
                  </m:oMath>
                </a14:m>
                <a:r>
                  <a:rPr sz="2000" b="0">
                    <a:solidFill>
                      <a:srgbClr val="111827"/>
                    </a:solidFill>
                    <a:latin typeface="Arial"/>
                  </a:rPr>
                  <a:t> is.</a:t>
                </a:r>
                <a:endParaRPr sz="2000">
                  <a:solidFill>
                    <a:srgbClr val="111827"/>
                  </a:solidFill>
                </a:endParaRPr>
              </a:p>
              <a:p>
                <a:pPr algn="l">
                  <a:spcAft>
                    <a:spcPts val="500"/>
                  </a:spcAft>
                  <a:defRPr sz="2000">
                    <a:solidFill>
                      <a:srgbClr val="111827"/>
                    </a:solidFill>
                  </a:defRPr>
                </a:pPr>
                <a:r>
                  <a:rPr sz="2000" b="0">
                    <a:solidFill>
                      <a:srgbClr val="111827"/>
                    </a:solidFill>
                    <a:latin typeface="Arial"/>
                  </a:rPr>
                  <a:t>(E) The number of ways in which a mixed double tennis game can be arranged from amongst </a:t>
                </a:r>
                <a14:m>
                  <m:oMath xmlns:m="http://schemas.openxmlformats.org/officeDocument/2006/math">
                    <m:r>
                      <a:rPr lang="en-IN" sz="2000" i="1">
                        <a:solidFill>
                          <a:srgbClr val="111827"/>
                        </a:solidFill>
                        <a:latin typeface="Cambria Math" panose="02040503050406030204" pitchFamily="18" charset="0"/>
                      </a:rPr>
                      <m:t>5</m:t>
                    </m:r>
                  </m:oMath>
                </a14:m>
                <a:r>
                  <a:rPr sz="2000" b="0">
                    <a:solidFill>
                      <a:srgbClr val="111827"/>
                    </a:solidFill>
                    <a:latin typeface="Arial"/>
                  </a:rPr>
                  <a:t> married couples if no husband and wife play in the same game is.</a:t>
                </a:r>
                <a:endParaRPr sz="2000">
                  <a:solidFill>
                    <a:srgbClr val="111827"/>
                  </a:solidFill>
                </a:endParaRPr>
              </a:p>
              <a:p>
                <a:pPr algn="l">
                  <a:spcAft>
                    <a:spcPts val="500"/>
                  </a:spcAft>
                  <a:defRPr sz="2000">
                    <a:solidFill>
                      <a:srgbClr val="111827"/>
                    </a:solidFill>
                  </a:defRPr>
                </a:pPr>
                <a:r>
                  <a:rPr sz="2000" b="0">
                    <a:solidFill>
                      <a:srgbClr val="111827"/>
                    </a:solidFill>
                    <a:latin typeface="Arial"/>
                  </a:rPr>
                  <a:t>Column-II: (P) </a:t>
                </a:r>
                <a14:m>
                  <m:oMath xmlns:m="http://schemas.openxmlformats.org/officeDocument/2006/math">
                    <m:r>
                      <a:rPr lang="en-IN" sz="2000" i="1">
                        <a:solidFill>
                          <a:srgbClr val="111827"/>
                        </a:solidFill>
                        <a:latin typeface="Cambria Math" panose="02040503050406030204" pitchFamily="18" charset="0"/>
                      </a:rPr>
                      <m:t>11</m:t>
                    </m:r>
                  </m:oMath>
                </a14:m>
                <a:r>
                  <a:rPr sz="2000" b="0">
                    <a:solidFill>
                      <a:srgbClr val="111827"/>
                    </a:solidFill>
                    <a:latin typeface="Arial"/>
                  </a:rPr>
                  <a:t>   (Q) </a:t>
                </a:r>
                <a14:m>
                  <m:oMath xmlns:m="http://schemas.openxmlformats.org/officeDocument/2006/math">
                    <m:r>
                      <a:rPr lang="en-IN" sz="2000" i="1">
                        <a:solidFill>
                          <a:srgbClr val="111827"/>
                        </a:solidFill>
                        <a:latin typeface="Cambria Math" panose="02040503050406030204" pitchFamily="18" charset="0"/>
                      </a:rPr>
                      <m:t>36</m:t>
                    </m:r>
                  </m:oMath>
                </a14:m>
                <a:r>
                  <a:rPr sz="2000" b="0">
                    <a:solidFill>
                      <a:srgbClr val="111827"/>
                    </a:solidFill>
                    <a:latin typeface="Arial"/>
                  </a:rPr>
                  <a:t>   (R) </a:t>
                </a:r>
                <a14:m>
                  <m:oMath xmlns:m="http://schemas.openxmlformats.org/officeDocument/2006/math">
                    <m:r>
                      <a:rPr lang="en-IN" sz="2000" i="1">
                        <a:solidFill>
                          <a:srgbClr val="111827"/>
                        </a:solidFill>
                        <a:latin typeface="Cambria Math" panose="02040503050406030204" pitchFamily="18" charset="0"/>
                      </a:rPr>
                      <m:t>52</m:t>
                    </m:r>
                  </m:oMath>
                </a14:m>
                <a:r>
                  <a:rPr sz="2000" b="0">
                    <a:solidFill>
                      <a:srgbClr val="111827"/>
                    </a:solidFill>
                    <a:latin typeface="Arial"/>
                  </a:rPr>
                  <a:t>   (S) </a:t>
                </a:r>
                <a14:m>
                  <m:oMath xmlns:m="http://schemas.openxmlformats.org/officeDocument/2006/math">
                    <m:r>
                      <a:rPr lang="en-IN" sz="2000" i="1">
                        <a:solidFill>
                          <a:srgbClr val="111827"/>
                        </a:solidFill>
                        <a:latin typeface="Cambria Math" panose="02040503050406030204" pitchFamily="18" charset="0"/>
                      </a:rPr>
                      <m:t>60</m:t>
                    </m:r>
                  </m:oMath>
                </a14:m>
                <a:r>
                  <a:rPr sz="2000" b="0">
                    <a:solidFill>
                      <a:srgbClr val="111827"/>
                    </a:solidFill>
                    <a:latin typeface="Arial"/>
                  </a:rPr>
                  <a:t>   (T) </a:t>
                </a:r>
                <a14:m>
                  <m:oMath xmlns:m="http://schemas.openxmlformats.org/officeDocument/2006/math">
                    <m:r>
                      <a:rPr lang="en-IN" sz="2000" i="1">
                        <a:solidFill>
                          <a:srgbClr val="111827"/>
                        </a:solidFill>
                        <a:latin typeface="Cambria Math" panose="02040503050406030204" pitchFamily="18" charset="0"/>
                      </a:rPr>
                      <m:t>84</m:t>
                    </m:r>
                  </m:oMath>
                </a14:m>
                <a:endParaRPr sz="2000">
                  <a:solidFill>
                    <a:srgbClr val="111827"/>
                  </a:solidFill>
                </a:endParaRPr>
              </a:p>
            </p:txBody>
          </p:sp>
        </mc:Choice>
        <mc:Fallback>
          <p:sp>
            <p:nvSpPr>
              <p:cNvPr id="4" name="Rounded Rectangle 3"/>
              <p:cNvSpPr/>
              <p:nvPr/>
            </p:nvSpPr>
            <p:spPr>
              <a:xfrm>
                <a:off x="731520" y="1280160"/>
                <a:ext cx="10725912" cy="53949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000">
                    <a:solidFill>
                      <a:srgbClr val="111827"/>
                    </a:solidFill>
                  </a:defRPr>
                </a:lvl1pPr>
              </a:lstStyle>
              <a:p>
                <a:pPr algn="l">
                  <a:spcAft>
                    <a:spcPts val="500"/>
                  </a:spcAft>
                  <a:defRPr sz="2000">
                    <a:solidFill>
                      <a:srgbClr val="111827"/>
                    </a:solidFill>
                  </a:defRPr>
                </a:pPr>
                <a:r>
                  <a:rPr sz="2000" b="0">
                    <a:solidFill>
                      <a:srgbClr val="111827"/>
                    </a:solidFill>
                    <a:latin typeface="Arial"/>
                  </a:rPr>
                  <a:t>Match the items of Column-I with those of Column-II.</a:t>
                </a:r>
                <a:endParaRPr sz="2000">
                  <a:solidFill>
                    <a:srgbClr val="111827"/>
                  </a:solidFill>
                </a:endParaRPr>
              </a:p>
              <a:p>
                <a:pPr algn="l">
                  <a:spcAft>
                    <a:spcPts val="500"/>
                  </a:spcAft>
                  <a:defRPr sz="2000">
                    <a:solidFill>
                      <a:srgbClr val="111827"/>
                    </a:solidFill>
                  </a:defRPr>
                </a:pPr>
                <a:r>
                  <a:rPr sz="2000" b="0">
                    <a:solidFill>
                      <a:srgbClr val="111827"/>
                    </a:solidFill>
                    <a:latin typeface="Arial"/>
                  </a:rPr>
                  <a:t>(A) Four different movies are running in a town. Ten students go to watch these four movies. The number of ways in which every movie is watched by at least one student is (assume each way differs only by the number of students watching a movie).</a:t>
                </a:r>
                <a:endParaRPr sz="2000">
                  <a:solidFill>
                    <a:srgbClr val="111827"/>
                  </a:solidFill>
                </a:endParaRPr>
              </a:p>
              <a:p>
                <a:pPr algn="l">
                  <a:spcAft>
                    <a:spcPts val="500"/>
                  </a:spcAft>
                  <a:defRPr sz="2000">
                    <a:solidFill>
                      <a:srgbClr val="111827"/>
                    </a:solidFill>
                  </a:defRPr>
                </a:pPr>
                <a:r>
                  <a:rPr sz="2000" b="0">
                    <a:solidFill>
                      <a:srgbClr val="111827"/>
                    </a:solidFill>
                    <a:latin typeface="Arial"/>
                  </a:rPr>
                  <a:t>(B) Consider the </a:t>
                </a:r>
                <a:r>
                  <a:rPr lang="en-IN" sz="2000">
                    <a:solidFill>
                      <a:srgbClr val="111827"/>
                    </a:solidFill>
                    <a:latin typeface="Cambria Math" panose="02040503050406030204" pitchFamily="18" charset="0"/>
                  </a:rPr>
                  <a:t>$8$</a:t>
                </a:r>
                <a:r>
                  <a:rPr sz="2000" b="0">
                    <a:solidFill>
                      <a:srgbClr val="111827"/>
                    </a:solidFill>
                    <a:latin typeface="Arial"/>
                  </a:rPr>
                  <a:t> vertices of a regular octagon and its centre. If </a:t>
                </a:r>
                <a:r>
                  <a:rPr lang="en-IN" sz="2000">
                    <a:solidFill>
                      <a:srgbClr val="111827"/>
                    </a:solidFill>
                    <a:latin typeface="Cambria Math" panose="02040503050406030204" pitchFamily="18" charset="0"/>
                  </a:rPr>
                  <a:t>$T$</a:t>
                </a:r>
                <a:r>
                  <a:rPr sz="2000" b="0">
                    <a:solidFill>
                      <a:srgbClr val="111827"/>
                    </a:solidFill>
                    <a:latin typeface="Arial"/>
                  </a:rPr>
                  <a:t> denotes the number of triangles and </a:t>
                </a:r>
                <a:r>
                  <a:rPr lang="en-IN" sz="2000">
                    <a:solidFill>
                      <a:srgbClr val="111827"/>
                    </a:solidFill>
                    <a:latin typeface="Cambria Math" panose="02040503050406030204" pitchFamily="18" charset="0"/>
                  </a:rPr>
                  <a:t>$S$</a:t>
                </a:r>
                <a:r>
                  <a:rPr sz="2000" b="0">
                    <a:solidFill>
                      <a:srgbClr val="111827"/>
                    </a:solidFill>
                    <a:latin typeface="Arial"/>
                  </a:rPr>
                  <a:t> the number of straight lines that can be formed with these </a:t>
                </a:r>
                <a:r>
                  <a:rPr lang="en-IN" sz="2000">
                    <a:solidFill>
                      <a:srgbClr val="111827"/>
                    </a:solidFill>
                    <a:latin typeface="Cambria Math" panose="02040503050406030204" pitchFamily="18" charset="0"/>
                  </a:rPr>
                  <a:t>$9$</a:t>
                </a:r>
                <a:r>
                  <a:rPr sz="2000" b="0">
                    <a:solidFill>
                      <a:srgbClr val="111827"/>
                    </a:solidFill>
                    <a:latin typeface="Arial"/>
                  </a:rPr>
                  <a:t> points, then the value of </a:t>
                </a:r>
                <a:r>
                  <a:rPr lang="en-IN" sz="2000">
                    <a:solidFill>
                      <a:srgbClr val="111827"/>
                    </a:solidFill>
                    <a:latin typeface="Cambria Math" panose="02040503050406030204" pitchFamily="18" charset="0"/>
                  </a:rPr>
                  <a:t>$(T-S)$</a:t>
                </a:r>
                <a:r>
                  <a:rPr sz="2000" b="0">
                    <a:solidFill>
                      <a:srgbClr val="111827"/>
                    </a:solidFill>
                    <a:latin typeface="Arial"/>
                  </a:rPr>
                  <a:t> equals.</a:t>
                </a:r>
                <a:endParaRPr sz="2000">
                  <a:solidFill>
                    <a:srgbClr val="111827"/>
                  </a:solidFill>
                </a:endParaRPr>
              </a:p>
              <a:p>
                <a:pPr algn="l">
                  <a:spcAft>
                    <a:spcPts val="500"/>
                  </a:spcAft>
                  <a:defRPr sz="2000">
                    <a:solidFill>
                      <a:srgbClr val="111827"/>
                    </a:solidFill>
                  </a:defRPr>
                </a:pPr>
                <a:r>
                  <a:rPr sz="2000" b="0">
                    <a:solidFill>
                      <a:srgbClr val="111827"/>
                    </a:solidFill>
                    <a:latin typeface="Arial"/>
                  </a:rPr>
                  <a:t>(C) In an examination, </a:t>
                </a:r>
                <a:r>
                  <a:rPr lang="en-IN" sz="2000">
                    <a:solidFill>
                      <a:srgbClr val="111827"/>
                    </a:solidFill>
                    <a:latin typeface="Cambria Math" panose="02040503050406030204" pitchFamily="18" charset="0"/>
                  </a:rPr>
                  <a:t>$5$</a:t>
                </a:r>
                <a:r>
                  <a:rPr sz="2000" b="0">
                    <a:solidFill>
                      <a:srgbClr val="111827"/>
                    </a:solidFill>
                    <a:latin typeface="Arial"/>
                  </a:rPr>
                  <a:t> children were found to have their mobiles in their pockets. The invigilator took their mobiles and, at the end of the test, randomly returned them. The number of ways in which at most two children did not get their own mobiles is.</a:t>
                </a:r>
                <a:endParaRPr sz="2000">
                  <a:solidFill>
                    <a:srgbClr val="111827"/>
                  </a:solidFill>
                </a:endParaRPr>
              </a:p>
              <a:p>
                <a:pPr algn="l">
                  <a:spcAft>
                    <a:spcPts val="500"/>
                  </a:spcAft>
                  <a:defRPr sz="2000">
                    <a:solidFill>
                      <a:srgbClr val="111827"/>
                    </a:solidFill>
                  </a:defRPr>
                </a:pPr>
                <a:r>
                  <a:rPr sz="2000" b="0">
                    <a:solidFill>
                      <a:srgbClr val="111827"/>
                    </a:solidFill>
                    <a:latin typeface="Arial"/>
                  </a:rPr>
                  <a:t>(D) The product of the digits of </a:t>
                </a:r>
                <a:r>
                  <a:rPr lang="en-IN" sz="2000">
                    <a:solidFill>
                      <a:srgbClr val="111827"/>
                    </a:solidFill>
                    <a:latin typeface="Cambria Math" panose="02040503050406030204" pitchFamily="18" charset="0"/>
                  </a:rPr>
                  <a:t>$3214$</a:t>
                </a:r>
                <a:r>
                  <a:rPr sz="2000" b="0">
                    <a:solidFill>
                      <a:srgbClr val="111827"/>
                    </a:solidFill>
                    <a:latin typeface="Arial"/>
                  </a:rPr>
                  <a:t> is </a:t>
                </a:r>
                <a:r>
                  <a:rPr lang="en-IN" sz="2000">
                    <a:solidFill>
                      <a:srgbClr val="111827"/>
                    </a:solidFill>
                    <a:latin typeface="Cambria Math" panose="02040503050406030204" pitchFamily="18" charset="0"/>
                  </a:rPr>
                  <a:t>$24$</a:t>
                </a:r>
                <a:r>
                  <a:rPr sz="2000" b="0">
                    <a:solidFill>
                      <a:srgbClr val="111827"/>
                    </a:solidFill>
                    <a:latin typeface="Arial"/>
                  </a:rPr>
                  <a:t>. The number of </a:t>
                </a:r>
                <a:r>
                  <a:rPr lang="en-IN" sz="2000">
                    <a:solidFill>
                      <a:srgbClr val="111827"/>
                    </a:solidFill>
                    <a:latin typeface="Cambria Math" panose="02040503050406030204" pitchFamily="18" charset="0"/>
                  </a:rPr>
                  <a:t>$4$</a:t>
                </a:r>
                <a:r>
                  <a:rPr sz="2000" b="0">
                    <a:solidFill>
                      <a:srgbClr val="111827"/>
                    </a:solidFill>
                    <a:latin typeface="Arial"/>
                  </a:rPr>
                  <a:t>-digit natural numbers such that the product of their digits is </a:t>
                </a:r>
                <a:r>
                  <a:rPr lang="en-IN" sz="2000">
                    <a:solidFill>
                      <a:srgbClr val="111827"/>
                    </a:solidFill>
                    <a:latin typeface="Cambria Math" panose="02040503050406030204" pitchFamily="18" charset="0"/>
                  </a:rPr>
                  <a:t>$12$</a:t>
                </a:r>
                <a:r>
                  <a:rPr sz="2000" b="0">
                    <a:solidFill>
                      <a:srgbClr val="111827"/>
                    </a:solidFill>
                    <a:latin typeface="Arial"/>
                  </a:rPr>
                  <a:t> is.</a:t>
                </a:r>
                <a:endParaRPr sz="2000">
                  <a:solidFill>
                    <a:srgbClr val="111827"/>
                  </a:solidFill>
                </a:endParaRPr>
              </a:p>
              <a:p>
                <a:pPr algn="l">
                  <a:spcAft>
                    <a:spcPts val="500"/>
                  </a:spcAft>
                  <a:defRPr sz="2000">
                    <a:solidFill>
                      <a:srgbClr val="111827"/>
                    </a:solidFill>
                  </a:defRPr>
                </a:pPr>
                <a:r>
                  <a:rPr sz="2000" b="0">
                    <a:solidFill>
                      <a:srgbClr val="111827"/>
                    </a:solidFill>
                    <a:latin typeface="Arial"/>
                  </a:rPr>
                  <a:t>(E) The number of ways in which a mixed double tennis game can be arranged from amongst </a:t>
                </a:r>
                <a:r>
                  <a:rPr lang="en-IN" sz="2000">
                    <a:solidFill>
                      <a:srgbClr val="111827"/>
                    </a:solidFill>
                    <a:latin typeface="Cambria Math" panose="02040503050406030204" pitchFamily="18" charset="0"/>
                  </a:rPr>
                  <a:t>$5$</a:t>
                </a:r>
                <a:r>
                  <a:rPr sz="2000" b="0">
                    <a:solidFill>
                      <a:srgbClr val="111827"/>
                    </a:solidFill>
                    <a:latin typeface="Arial"/>
                  </a:rPr>
                  <a:t> married couples if no husband and wife play in the same game is.</a:t>
                </a:r>
                <a:endParaRPr sz="2000">
                  <a:solidFill>
                    <a:srgbClr val="111827"/>
                  </a:solidFill>
                </a:endParaRPr>
              </a:p>
              <a:p>
                <a:pPr algn="l">
                  <a:spcAft>
                    <a:spcPts val="500"/>
                  </a:spcAft>
                  <a:defRPr sz="2000">
                    <a:solidFill>
                      <a:srgbClr val="111827"/>
                    </a:solidFill>
                  </a:defRPr>
                </a:pPr>
                <a:r>
                  <a:rPr sz="2000" b="0">
                    <a:solidFill>
                      <a:srgbClr val="111827"/>
                    </a:solidFill>
                    <a:latin typeface="Arial"/>
                  </a:rPr>
                  <a:t>Column-II: (P) </a:t>
                </a:r>
                <a:r>
                  <a:rPr lang="en-IN" sz="2000">
                    <a:solidFill>
                      <a:srgbClr val="111827"/>
                    </a:solidFill>
                    <a:latin typeface="Cambria Math" panose="02040503050406030204" pitchFamily="18" charset="0"/>
                  </a:rPr>
                  <a:t>$11$</a:t>
                </a:r>
                <a:r>
                  <a:rPr sz="2000" b="0">
                    <a:solidFill>
                      <a:srgbClr val="111827"/>
                    </a:solidFill>
                    <a:latin typeface="Arial"/>
                  </a:rPr>
                  <a:t>   (Q) </a:t>
                </a:r>
                <a:r>
                  <a:rPr lang="en-IN" sz="2000">
                    <a:solidFill>
                      <a:srgbClr val="111827"/>
                    </a:solidFill>
                    <a:latin typeface="Cambria Math" panose="02040503050406030204" pitchFamily="18" charset="0"/>
                  </a:rPr>
                  <a:t>$36$</a:t>
                </a:r>
                <a:r>
                  <a:rPr sz="2000" b="0">
                    <a:solidFill>
                      <a:srgbClr val="111827"/>
                    </a:solidFill>
                    <a:latin typeface="Arial"/>
                  </a:rPr>
                  <a:t>   (R) </a:t>
                </a:r>
                <a:r>
                  <a:rPr lang="en-IN" sz="2000">
                    <a:solidFill>
                      <a:srgbClr val="111827"/>
                    </a:solidFill>
                    <a:latin typeface="Cambria Math" panose="02040503050406030204" pitchFamily="18" charset="0"/>
                  </a:rPr>
                  <a:t>$52$</a:t>
                </a:r>
                <a:r>
                  <a:rPr sz="2000" b="0">
                    <a:solidFill>
                      <a:srgbClr val="111827"/>
                    </a:solidFill>
                    <a:latin typeface="Arial"/>
                  </a:rPr>
                  <a:t>   (S) </a:t>
                </a:r>
                <a:r>
                  <a:rPr lang="en-IN" sz="2000">
                    <a:solidFill>
                      <a:srgbClr val="111827"/>
                    </a:solidFill>
                    <a:latin typeface="Cambria Math" panose="02040503050406030204" pitchFamily="18" charset="0"/>
                  </a:rPr>
                  <a:t>$60$</a:t>
                </a:r>
                <a:r>
                  <a:rPr sz="2000" b="0">
                    <a:solidFill>
                      <a:srgbClr val="111827"/>
                    </a:solidFill>
                    <a:latin typeface="Arial"/>
                  </a:rPr>
                  <a:t>   (T) </a:t>
                </a:r>
                <a:r>
                  <a:rPr lang="en-IN" sz="2000">
                    <a:solidFill>
                      <a:srgbClr val="111827"/>
                    </a:solidFill>
                    <a:latin typeface="Cambria Math" panose="02040503050406030204" pitchFamily="18" charset="0"/>
                  </a:rPr>
                  <a:t>$84$</a:t>
                </a:r>
                <a:endParaRPr sz="2000">
                  <a:solidFill>
                    <a:srgbClr val="111827"/>
                  </a:solidFill>
                </a:endParaRPr>
              </a:p>
            </p:txBody>
          </p:sp>
        </mc:Fallback>
      </mc:AlternateContent>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3 Marks</a:t>
            </a:r>
            <a:endParaRPr sz="2400">
              <a:solidFill>
                <a:srgbClr val="111827"/>
              </a:solidFill>
            </a:endParaRPr>
          </a:p>
        </p:txBody>
      </p:sp>
      <p:sp>
        <p:nvSpPr>
          <p:cNvPr id="4" name="Rectangle 3"/>
          <p:cNvSpPr/>
          <p:nvPr/>
        </p:nvSpPr>
        <p:spPr>
          <a:xfrm>
            <a:off x="731520" y="128016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Matching List Type(3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Combinatorial counting: distributions, geometry of points, derangements, digit-product and pairing problems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p:sp>
        <p:nvSpPr>
          <p:cNvPr id="5" name="Rounded Rectangle 4"/>
          <p:cNvSpPr/>
          <p:nvPr/>
        </p:nvSpPr>
        <p:spPr>
          <a:xfrm>
            <a:off x="731520" y="3438144"/>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Solve each part separately: stars and bars for (A), collinear triples for (B), derangements for (C), digit patterns for (D), pairing of couples for (E).</a:t>
            </a:r>
            <a:endParaRPr sz="2400">
              <a:solidFill>
                <a:srgbClr val="78350F"/>
              </a:solidFill>
            </a:endParaRPr>
          </a:p>
        </p:txBody>
      </p:sp>
      <mc:AlternateContent xmlns:mc="http://schemas.openxmlformats.org/markup-compatibility/2006" xmlns:a14="http://schemas.microsoft.com/office/drawing/2010/main">
        <mc:Choice Requires="a14">
          <p:sp>
            <p:nvSpPr>
              <p:cNvPr id="6" name="Rectangle 5"/>
              <p:cNvSpPr/>
              <p:nvPr/>
            </p:nvSpPr>
            <p:spPr>
              <a:xfrm>
                <a:off x="731520" y="5056632"/>
                <a:ext cx="10725912" cy="1618487"/>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Let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be the numbers of students at the four movies,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Put </a:t>
                </a:r>
                <a14:m>
                  <m:oMath xmlns:m="http://schemas.openxmlformats.org/officeDocument/2006/math">
                    <m:sSup>
                      <m:e>
                        <m:r>
                          <a:rPr lang="en-IN" sz="2400" i="1">
                            <a:solidFill>
                              <a:srgbClr val="111827"/>
                            </a:solidFill>
                            <a:latin typeface="Cambria Math" panose="02040503050406030204" pitchFamily="18" charset="0"/>
                          </a:rPr>
                          <m:t>𝑥</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etc.: </a:t>
                </a:r>
                <a14:m>
                  <m:oMath xmlns:m="http://schemas.openxmlformats.org/officeDocument/2006/math">
                    <m:sSup>
                      <m:e>
                        <m:r>
                          <a:rPr lang="en-IN" sz="2400" i="1">
                            <a:solidFill>
                              <a:srgbClr val="111827"/>
                            </a:solidFill>
                            <a:latin typeface="Cambria Math" panose="02040503050406030204" pitchFamily="18" charset="0"/>
                          </a:rPr>
                          <m:t>𝑥</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𝑧</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𝑡</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in non-negative integers.</a:t>
                </a:r>
                <a:endParaRPr sz="2400">
                  <a:solidFill>
                    <a:srgbClr val="111827"/>
                  </a:solidFill>
                </a:endParaRPr>
              </a:p>
            </p:txBody>
          </p:sp>
        </mc:Choice>
        <mc:Fallback>
          <p:sp>
            <p:nvSpPr>
              <p:cNvPr id="6" name="Rectangle 5"/>
              <p:cNvSpPr/>
              <p:nvPr/>
            </p:nvSpPr>
            <p:spPr>
              <a:xfrm>
                <a:off x="731520" y="5056632"/>
                <a:ext cx="10725912" cy="1618487"/>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Let </a:t>
                </a:r>
                <a:r>
                  <a:rPr lang="en-IN" sz="2400">
                    <a:solidFill>
                      <a:srgbClr val="111827"/>
                    </a:solidFill>
                    <a:latin typeface="Cambria Math" panose="02040503050406030204" pitchFamily="18" charset="0"/>
                  </a:rPr>
                  <a:t>$x,y,z,t\ge1$</a:t>
                </a:r>
                <a:r>
                  <a:rPr sz="2400" b="0">
                    <a:solidFill>
                      <a:srgbClr val="111827"/>
                    </a:solidFill>
                    <a:latin typeface="Arial"/>
                  </a:rPr>
                  <a:t> be the numbers of students at the four movies, </a:t>
                </a:r>
                <a:r>
                  <a:rPr lang="en-IN" sz="2400">
                    <a:solidFill>
                      <a:srgbClr val="111827"/>
                    </a:solidFill>
                    <a:latin typeface="Cambria Math" panose="02040503050406030204" pitchFamily="18" charset="0"/>
                  </a:rPr>
                  <a:t>$x+y+z+t=10$</a:t>
                </a:r>
                <a:r>
                  <a:rPr sz="2400" b="0">
                    <a:solidFill>
                      <a:srgbClr val="111827"/>
                    </a:solidFill>
                    <a:latin typeface="Arial"/>
                  </a:rPr>
                  <a:t>. Put </a:t>
                </a:r>
                <a:r>
                  <a:rPr lang="en-IN" sz="2400">
                    <a:solidFill>
                      <a:srgbClr val="111827"/>
                    </a:solidFill>
                    <a:latin typeface="Cambria Math" panose="02040503050406030204" pitchFamily="18" charset="0"/>
                  </a:rPr>
                  <a:t>$x'=x-1$</a:t>
                </a:r>
                <a:r>
                  <a:rPr sz="2400" b="0">
                    <a:solidFill>
                      <a:srgbClr val="111827"/>
                    </a:solidFill>
                    <a:latin typeface="Arial"/>
                  </a:rPr>
                  <a:t> etc.: </a:t>
                </a:r>
                <a:r>
                  <a:rPr lang="en-IN" sz="2400">
                    <a:solidFill>
                      <a:srgbClr val="111827"/>
                    </a:solidFill>
                    <a:latin typeface="Cambria Math" panose="02040503050406030204" pitchFamily="18" charset="0"/>
                  </a:rPr>
                  <a:t>$x'+y'+z'+t'=6$</a:t>
                </a:r>
                <a:r>
                  <a:rPr sz="2400" b="0">
                    <a:solidFill>
                      <a:srgbClr val="111827"/>
                    </a:solidFill>
                    <a:latin typeface="Arial"/>
                  </a:rPr>
                  <a:t> in non-negative integers.</a:t>
                </a:r>
                <a:endParaRPr sz="2400">
                  <a:solidFill>
                    <a:srgbClr val="111827"/>
                  </a:solidFill>
                </a:endParaRPr>
              </a:p>
            </p:txBody>
          </p:sp>
        </mc:Fallback>
      </mc:AlternateContent>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Number of solutions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9</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num>
                      <m:den>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84</m:t>
                    </m:r>
                  </m:oMath>
                </a14:m>
                <a:r>
                  <a:rPr sz="2400" b="0">
                    <a:solidFill>
                      <a:srgbClr val="111827"/>
                    </a:solidFill>
                    <a:latin typeface="Arial"/>
                  </a:rPr>
                  <a:t>. So (A)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 Triangles: choose any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of </a:t>
                </a:r>
                <a14:m>
                  <m:oMath xmlns:m="http://schemas.openxmlformats.org/officeDocument/2006/math">
                    <m:r>
                      <a:rPr lang="en-IN" sz="2400" i="1">
                        <a:solidFill>
                          <a:srgbClr val="111827"/>
                        </a:solidFill>
                        <a:latin typeface="Cambria Math" panose="02040503050406030204" pitchFamily="18" charset="0"/>
                      </a:rPr>
                      <m:t>9</m:t>
                    </m:r>
                  </m:oMath>
                </a14:m>
                <a:r>
                  <a:rPr sz="2400" b="0">
                    <a:solidFill>
                      <a:srgbClr val="111827"/>
                    </a:solidFill>
                    <a:latin typeface="Arial"/>
                  </a:rPr>
                  <a:t> points,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9</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84</m:t>
                    </m:r>
                  </m:oMath>
                </a14:m>
                <a:r>
                  <a:rPr sz="2400" b="0">
                    <a:solidFill>
                      <a:srgbClr val="111827"/>
                    </a:solidFill>
                    <a:latin typeface="Arial"/>
                  </a:rPr>
                  <a:t>, minus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collinear triples (the centre with each of the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diameters): </a:t>
                </a:r>
                <a14:m>
                  <m:oMath xmlns:m="http://schemas.openxmlformats.org/officeDocument/2006/math">
                    <m:r>
                      <a:rPr lang="en-IN" sz="2400" i="1">
                        <a:solidFill>
                          <a:srgbClr val="111827"/>
                        </a:solidFill>
                        <a:latin typeface="Cambria Math" panose="02040503050406030204" pitchFamily="18" charset="0"/>
                      </a:rPr>
                      <m:t>𝑇</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Lines: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8</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28</m:t>
                    </m:r>
                  </m:oMath>
                </a14:m>
                <a:r>
                  <a:rPr sz="2400" b="0">
                    <a:solidFill>
                      <a:srgbClr val="111827"/>
                    </a:solidFill>
                    <a:latin typeface="Arial"/>
                  </a:rPr>
                  <a:t> from the octagon's vertices; the centre adds no new line (each line through it already joins two opposite vertices). </a:t>
                </a: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28</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𝑇</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52</m:t>
                    </m:r>
                  </m:oMath>
                </a14:m>
                <a:r>
                  <a:rPr sz="2400" b="0">
                    <a:solidFill>
                      <a:srgbClr val="111827"/>
                    </a:solidFill>
                    <a:latin typeface="Arial"/>
                  </a:rPr>
                  <a:t>. So (B)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 At most two children get a wrong mobile: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wrong gives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way; exactly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wrong gives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5</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wrong is impossible).</a:t>
                </a:r>
                <a:endParaRPr sz="2400">
                  <a:solidFill>
                    <a:srgbClr val="111827"/>
                  </a:solidFill>
                </a:endParaRPr>
              </a:p>
            </p:txBody>
          </p:sp>
        </mc:Choice>
        <mc:Fallback>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Number of solutions </a:t>
                </a:r>
                <a:r>
                  <a:rPr lang="en-IN" sz="2400">
                    <a:solidFill>
                      <a:srgbClr val="111827"/>
                    </a:solidFill>
                    <a:latin typeface="Cambria Math" panose="02040503050406030204" pitchFamily="18" charset="0"/>
                  </a:rPr>
                  <a:t>$={}^{6+4-1}C_{4-1}={}^9C_3=\dfrac{9\cdot8\cdot7}{3\cdot2\cdot1}=84$</a:t>
                </a:r>
                <a:r>
                  <a:rPr sz="2400" b="0">
                    <a:solidFill>
                      <a:srgbClr val="111827"/>
                    </a:solidFill>
                    <a:latin typeface="Arial"/>
                  </a:rPr>
                  <a:t>. So (A) </a:t>
                </a:r>
                <a:r>
                  <a:rPr lang="en-IN" sz="2400">
                    <a:solidFill>
                      <a:srgbClr val="111827"/>
                    </a:solidFill>
                    <a:latin typeface="Cambria Math" panose="02040503050406030204" pitchFamily="18" charset="0"/>
                  </a:rPr>
                  <a:t>$\to$</a:t>
                </a:r>
                <a:r>
                  <a:rPr sz="2400" b="0">
                    <a:solidFill>
                      <a:srgbClr val="111827"/>
                    </a:solidFill>
                    <a:latin typeface="Arial"/>
                  </a:rPr>
                  <a:t> (T).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 Triangles: choose any </a:t>
                </a:r>
                <a:r>
                  <a:rPr lang="en-IN" sz="2400">
                    <a:solidFill>
                      <a:srgbClr val="111827"/>
                    </a:solidFill>
                    <a:latin typeface="Cambria Math" panose="02040503050406030204" pitchFamily="18" charset="0"/>
                  </a:rPr>
                  <a:t>$3$</a:t>
                </a:r>
                <a:r>
                  <a:rPr sz="2400" b="0">
                    <a:solidFill>
                      <a:srgbClr val="111827"/>
                    </a:solidFill>
                    <a:latin typeface="Arial"/>
                  </a:rPr>
                  <a:t> of </a:t>
                </a:r>
                <a:r>
                  <a:rPr lang="en-IN" sz="2400">
                    <a:solidFill>
                      <a:srgbClr val="111827"/>
                    </a:solidFill>
                    <a:latin typeface="Cambria Math" panose="02040503050406030204" pitchFamily="18" charset="0"/>
                  </a:rPr>
                  <a:t>$9$</a:t>
                </a:r>
                <a:r>
                  <a:rPr sz="2400" b="0">
                    <a:solidFill>
                      <a:srgbClr val="111827"/>
                    </a:solidFill>
                    <a:latin typeface="Arial"/>
                  </a:rPr>
                  <a:t> points, </a:t>
                </a:r>
                <a:r>
                  <a:rPr lang="en-IN" sz="2400">
                    <a:solidFill>
                      <a:srgbClr val="111827"/>
                    </a:solidFill>
                    <a:latin typeface="Cambria Math" panose="02040503050406030204" pitchFamily="18" charset="0"/>
                  </a:rPr>
                  <a:t>${}^9C_3=84$</a:t>
                </a:r>
                <a:r>
                  <a:rPr sz="2400" b="0">
                    <a:solidFill>
                      <a:srgbClr val="111827"/>
                    </a:solidFill>
                    <a:latin typeface="Arial"/>
                  </a:rPr>
                  <a:t>, minus </a:t>
                </a:r>
                <a:r>
                  <a:rPr lang="en-IN" sz="2400">
                    <a:solidFill>
                      <a:srgbClr val="111827"/>
                    </a:solidFill>
                    <a:latin typeface="Cambria Math" panose="02040503050406030204" pitchFamily="18" charset="0"/>
                  </a:rPr>
                  <a:t>$4$</a:t>
                </a:r>
                <a:r>
                  <a:rPr sz="2400" b="0">
                    <a:solidFill>
                      <a:srgbClr val="111827"/>
                    </a:solidFill>
                    <a:latin typeface="Arial"/>
                  </a:rPr>
                  <a:t> collinear triples (the centre with each of the </a:t>
                </a:r>
                <a:r>
                  <a:rPr lang="en-IN" sz="2400">
                    <a:solidFill>
                      <a:srgbClr val="111827"/>
                    </a:solidFill>
                    <a:latin typeface="Cambria Math" panose="02040503050406030204" pitchFamily="18" charset="0"/>
                  </a:rPr>
                  <a:t>$4$</a:t>
                </a:r>
                <a:r>
                  <a:rPr sz="2400" b="0">
                    <a:solidFill>
                      <a:srgbClr val="111827"/>
                    </a:solidFill>
                    <a:latin typeface="Arial"/>
                  </a:rPr>
                  <a:t> diameters): </a:t>
                </a:r>
                <a:r>
                  <a:rPr lang="en-IN" sz="2400">
                    <a:solidFill>
                      <a:srgbClr val="111827"/>
                    </a:solidFill>
                    <a:latin typeface="Cambria Math" panose="02040503050406030204" pitchFamily="18" charset="0"/>
                  </a:rPr>
                  <a:t>$T=80$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Lines: </a:t>
                </a:r>
                <a:r>
                  <a:rPr lang="en-IN" sz="2400">
                    <a:solidFill>
                      <a:srgbClr val="111827"/>
                    </a:solidFill>
                    <a:latin typeface="Cambria Math" panose="02040503050406030204" pitchFamily="18" charset="0"/>
                  </a:rPr>
                  <a:t>${}^8C_2=28$</a:t>
                </a:r>
                <a:r>
                  <a:rPr sz="2400" b="0">
                    <a:solidFill>
                      <a:srgbClr val="111827"/>
                    </a:solidFill>
                    <a:latin typeface="Arial"/>
                  </a:rPr>
                  <a:t> from the octagon's vertices; the centre adds no new line (each line through it already joins two opposite vertices). </a:t>
                </a:r>
                <a:r>
                  <a:rPr lang="en-IN" sz="2400">
                    <a:solidFill>
                      <a:srgbClr val="111827"/>
                    </a:solidFill>
                    <a:latin typeface="Cambria Math" panose="02040503050406030204" pitchFamily="18" charset="0"/>
                  </a:rPr>
                  <a:t>$S=28$</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$T-S=80-28=52$</a:t>
                </a:r>
                <a:r>
                  <a:rPr sz="2400" b="0">
                    <a:solidFill>
                      <a:srgbClr val="111827"/>
                    </a:solidFill>
                    <a:latin typeface="Arial"/>
                  </a:rPr>
                  <a:t>. So (B) </a:t>
                </a:r>
                <a:r>
                  <a:rPr lang="en-IN" sz="2400">
                    <a:solidFill>
                      <a:srgbClr val="111827"/>
                    </a:solidFill>
                    <a:latin typeface="Cambria Math" panose="02040503050406030204" pitchFamily="18" charset="0"/>
                  </a:rPr>
                  <a:t>$\to$</a:t>
                </a:r>
                <a:r>
                  <a:rPr sz="2400" b="0">
                    <a:solidFill>
                      <a:srgbClr val="111827"/>
                    </a:solidFill>
                    <a:latin typeface="Arial"/>
                  </a:rPr>
                  <a:t> (R).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 At most two children get a wrong mobile: </a:t>
                </a:r>
                <a:r>
                  <a:rPr lang="en-IN" sz="2400">
                    <a:solidFill>
                      <a:srgbClr val="111827"/>
                    </a:solidFill>
                    <a:latin typeface="Cambria Math" panose="02040503050406030204" pitchFamily="18" charset="0"/>
                  </a:rPr>
                  <a:t>$0$</a:t>
                </a:r>
                <a:r>
                  <a:rPr sz="2400" b="0">
                    <a:solidFill>
                      <a:srgbClr val="111827"/>
                    </a:solidFill>
                    <a:latin typeface="Arial"/>
                  </a:rPr>
                  <a:t> wrong gives </a:t>
                </a:r>
                <a:r>
                  <a:rPr lang="en-IN" sz="2400">
                    <a:solidFill>
                      <a:srgbClr val="111827"/>
                    </a:solidFill>
                    <a:latin typeface="Cambria Math" panose="02040503050406030204" pitchFamily="18" charset="0"/>
                  </a:rPr>
                  <a:t>$1$</a:t>
                </a:r>
                <a:r>
                  <a:rPr sz="2400" b="0">
                    <a:solidFill>
                      <a:srgbClr val="111827"/>
                    </a:solidFill>
                    <a:latin typeface="Arial"/>
                  </a:rPr>
                  <a:t> way; exactly </a:t>
                </a:r>
                <a:r>
                  <a:rPr lang="en-IN" sz="2400">
                    <a:solidFill>
                      <a:srgbClr val="111827"/>
                    </a:solidFill>
                    <a:latin typeface="Cambria Math" panose="02040503050406030204" pitchFamily="18" charset="0"/>
                  </a:rPr>
                  <a:t>$2$</a:t>
                </a:r>
                <a:r>
                  <a:rPr sz="2400" b="0">
                    <a:solidFill>
                      <a:srgbClr val="111827"/>
                    </a:solidFill>
                    <a:latin typeface="Arial"/>
                  </a:rPr>
                  <a:t> wrong gives </a:t>
                </a:r>
                <a:r>
                  <a:rPr lang="en-IN" sz="2400">
                    <a:solidFill>
                      <a:srgbClr val="111827"/>
                    </a:solidFill>
                    <a:latin typeface="Cambria Math" panose="02040503050406030204" pitchFamily="18" charset="0"/>
                  </a:rPr>
                  <a:t>${}^5C_2\times1=10$</a:t>
                </a:r>
                <a:r>
                  <a:rPr sz="2400" b="0">
                    <a:solidFill>
                      <a:srgbClr val="111827"/>
                    </a:solidFill>
                    <a:latin typeface="Arial"/>
                  </a:rPr>
                  <a:t> (</a:t>
                </a:r>
                <a:r>
                  <a:rPr lang="en-IN" sz="2400">
                    <a:solidFill>
                      <a:srgbClr val="111827"/>
                    </a:solidFill>
                    <a:latin typeface="Cambria Math" panose="02040503050406030204" pitchFamily="18" charset="0"/>
                  </a:rPr>
                  <a:t>$1$</a:t>
                </a:r>
                <a:r>
                  <a:rPr sz="2400" b="0">
                    <a:solidFill>
                      <a:srgbClr val="111827"/>
                    </a:solidFill>
                    <a:latin typeface="Arial"/>
                  </a:rPr>
                  <a:t> wrong is impossible).</a:t>
                </a:r>
                <a:endParaRPr sz="2400">
                  <a:solidFill>
                    <a:srgbClr val="111827"/>
                  </a:solidFill>
                </a:endParaRPr>
              </a:p>
            </p:txBody>
          </p:sp>
        </mc:Fallback>
      </mc:AlternateContent>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Total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oMath>
                </a14:m>
                <a:r>
                  <a:rPr sz="2400" b="0">
                    <a:solidFill>
                      <a:srgbClr val="111827"/>
                    </a:solidFill>
                    <a:latin typeface="Arial"/>
                  </a:rPr>
                  <a:t>. So (C)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(P).</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 </a:t>
                </a:r>
                <a14:m>
                  <m:oMath xmlns:m="http://schemas.openxmlformats.org/officeDocument/2006/math">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as products of four digits.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Digits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oMath>
                </a14:m>
                <a:r>
                  <a:rPr sz="2400" b="0">
                    <a:solidFill>
                      <a:srgbClr val="111827"/>
                    </a:solidFill>
                    <a:latin typeface="Arial"/>
                  </a:rPr>
                  <a:t> numbers;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12</m:t>
                    </m:r>
                  </m:oMath>
                </a14:m>
                <a:r>
                  <a:rPr sz="2400" b="0">
                    <a:solidFill>
                      <a:srgbClr val="111827"/>
                    </a:solidFill>
                    <a:latin typeface="Arial"/>
                  </a:rPr>
                  <a:t> numbers;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12</m:t>
                    </m:r>
                  </m:oMath>
                </a14:m>
                <a:r>
                  <a:rPr sz="2400" b="0">
                    <a:solidFill>
                      <a:srgbClr val="111827"/>
                    </a:solidFill>
                    <a:latin typeface="Arial"/>
                  </a:rPr>
                  <a:t> numbers. Total </a:t>
                </a:r>
                <a14:m>
                  <m:oMath xmlns:m="http://schemas.openxmlformats.org/officeDocument/2006/math">
                    <m:r>
                      <a:rPr lang="en-IN" sz="2400" i="1">
                        <a:solidFill>
                          <a:srgbClr val="111827"/>
                        </a:solidFill>
                        <a:latin typeface="Cambria Math" panose="02040503050406030204" pitchFamily="18" charset="0"/>
                      </a:rPr>
                      <m:t>36</m:t>
                    </m:r>
                  </m:oMath>
                </a14:m>
                <a:r>
                  <a:rPr sz="2400" b="0">
                    <a:solidFill>
                      <a:srgbClr val="111827"/>
                    </a:solidFill>
                    <a:latin typeface="Arial"/>
                  </a:rPr>
                  <a:t>. So (D)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(Q).</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 Choose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husbands from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5</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remove their wives and choose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wives from the other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these four players can form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different pairs of teams: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 of ways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m:t>
                    </m:r>
                  </m:oMath>
                </a14:m>
                <a:r>
                  <a:rPr sz="2400" b="0">
                    <a:solidFill>
                      <a:srgbClr val="111827"/>
                    </a:solidFill>
                    <a:latin typeface="Arial"/>
                  </a:rPr>
                  <a:t>. So (E)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(S).</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Total </a:t>
                </a:r>
                <a:r>
                  <a:rPr lang="en-IN" sz="2400">
                    <a:solidFill>
                      <a:srgbClr val="111827"/>
                    </a:solidFill>
                    <a:latin typeface="Cambria Math" panose="02040503050406030204" pitchFamily="18" charset="0"/>
                  </a:rPr>
                  <a:t>$=10+1=11$</a:t>
                </a:r>
                <a:r>
                  <a:rPr sz="2400" b="0">
                    <a:solidFill>
                      <a:srgbClr val="111827"/>
                    </a:solidFill>
                    <a:latin typeface="Arial"/>
                  </a:rPr>
                  <a:t>. So (C) </a:t>
                </a:r>
                <a:r>
                  <a:rPr lang="en-IN" sz="2400">
                    <a:solidFill>
                      <a:srgbClr val="111827"/>
                    </a:solidFill>
                    <a:latin typeface="Cambria Math" panose="02040503050406030204" pitchFamily="18" charset="0"/>
                  </a:rPr>
                  <a:t>$\to$</a:t>
                </a:r>
                <a:r>
                  <a:rPr sz="2400" b="0">
                    <a:solidFill>
                      <a:srgbClr val="111827"/>
                    </a:solidFill>
                    <a:latin typeface="Arial"/>
                  </a:rPr>
                  <a:t> (P).</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 </a:t>
                </a:r>
                <a:r>
                  <a:rPr lang="en-IN" sz="2400">
                    <a:solidFill>
                      <a:srgbClr val="111827"/>
                    </a:solidFill>
                    <a:latin typeface="Cambria Math" panose="02040503050406030204" pitchFamily="18" charset="0"/>
                  </a:rPr>
                  <a:t>$12=2\cdot2\cdot3\cdot1=4\cdot3\cdot1\cdot1=6\cdot2\cdot1\cdot1$</a:t>
                </a:r>
                <a:r>
                  <a:rPr sz="2400" b="0">
                    <a:solidFill>
                      <a:srgbClr val="111827"/>
                    </a:solidFill>
                    <a:latin typeface="Arial"/>
                  </a:rPr>
                  <a:t> as products of four digits.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Digits </a:t>
                </a:r>
                <a:r>
                  <a:rPr lang="en-IN" sz="2400">
                    <a:solidFill>
                      <a:srgbClr val="111827"/>
                    </a:solidFill>
                    <a:latin typeface="Cambria Math" panose="02040503050406030204" pitchFamily="18" charset="0"/>
                  </a:rPr>
                  <a:t>$\{2,2,3,1\}$</a:t>
                </a:r>
                <a:r>
                  <a:rPr sz="2400" b="0">
                    <a:solidFill>
                      <a:srgbClr val="111827"/>
                    </a:solidFill>
                    <a:latin typeface="Arial"/>
                  </a:rPr>
                  <a:t>: </a:t>
                </a:r>
                <a:r>
                  <a:rPr lang="en-IN" sz="2400">
                    <a:solidFill>
                      <a:srgbClr val="111827"/>
                    </a:solidFill>
                    <a:latin typeface="Cambria Math" panose="02040503050406030204" pitchFamily="18" charset="0"/>
                  </a:rPr>
                  <a:t>$\dfrac{4!}{2!}=12$</a:t>
                </a:r>
                <a:r>
                  <a:rPr sz="2400" b="0">
                    <a:solidFill>
                      <a:srgbClr val="111827"/>
                    </a:solidFill>
                    <a:latin typeface="Arial"/>
                  </a:rPr>
                  <a:t> numbers; </a:t>
                </a:r>
                <a:r>
                  <a:rPr lang="en-IN" sz="2400">
                    <a:solidFill>
                      <a:srgbClr val="111827"/>
                    </a:solidFill>
                    <a:latin typeface="Cambria Math" panose="02040503050406030204" pitchFamily="18" charset="0"/>
                  </a:rPr>
                  <a:t>$\{4,3,1,1\}$</a:t>
                </a:r>
                <a:r>
                  <a:rPr sz="2400" b="0">
                    <a:solidFill>
                      <a:srgbClr val="111827"/>
                    </a:solidFill>
                    <a:latin typeface="Arial"/>
                  </a:rPr>
                  <a:t>: </a:t>
                </a:r>
                <a:r>
                  <a:rPr lang="en-IN" sz="2400">
                    <a:solidFill>
                      <a:srgbClr val="111827"/>
                    </a:solidFill>
                    <a:latin typeface="Cambria Math" panose="02040503050406030204" pitchFamily="18" charset="0"/>
                  </a:rPr>
                  <a:t>$12$</a:t>
                </a:r>
                <a:r>
                  <a:rPr sz="2400" b="0">
                    <a:solidFill>
                      <a:srgbClr val="111827"/>
                    </a:solidFill>
                    <a:latin typeface="Arial"/>
                  </a:rPr>
                  <a:t> numbers; </a:t>
                </a:r>
                <a:r>
                  <a:rPr lang="en-IN" sz="2400">
                    <a:solidFill>
                      <a:srgbClr val="111827"/>
                    </a:solidFill>
                    <a:latin typeface="Cambria Math" panose="02040503050406030204" pitchFamily="18" charset="0"/>
                  </a:rPr>
                  <a:t>$\{6,2,1,1\}$</a:t>
                </a:r>
                <a:r>
                  <a:rPr sz="2400" b="0">
                    <a:solidFill>
                      <a:srgbClr val="111827"/>
                    </a:solidFill>
                    <a:latin typeface="Arial"/>
                  </a:rPr>
                  <a:t>: </a:t>
                </a:r>
                <a:r>
                  <a:rPr lang="en-IN" sz="2400">
                    <a:solidFill>
                      <a:srgbClr val="111827"/>
                    </a:solidFill>
                    <a:latin typeface="Cambria Math" panose="02040503050406030204" pitchFamily="18" charset="0"/>
                  </a:rPr>
                  <a:t>$12$</a:t>
                </a:r>
                <a:r>
                  <a:rPr sz="2400" b="0">
                    <a:solidFill>
                      <a:srgbClr val="111827"/>
                    </a:solidFill>
                    <a:latin typeface="Arial"/>
                  </a:rPr>
                  <a:t> numbers. Total </a:t>
                </a:r>
                <a:r>
                  <a:rPr lang="en-IN" sz="2400">
                    <a:solidFill>
                      <a:srgbClr val="111827"/>
                    </a:solidFill>
                    <a:latin typeface="Cambria Math" panose="02040503050406030204" pitchFamily="18" charset="0"/>
                  </a:rPr>
                  <a:t>$36$</a:t>
                </a:r>
                <a:r>
                  <a:rPr sz="2400" b="0">
                    <a:solidFill>
                      <a:srgbClr val="111827"/>
                    </a:solidFill>
                    <a:latin typeface="Arial"/>
                  </a:rPr>
                  <a:t>. So (D) </a:t>
                </a:r>
                <a:r>
                  <a:rPr lang="en-IN" sz="2400">
                    <a:solidFill>
                      <a:srgbClr val="111827"/>
                    </a:solidFill>
                    <a:latin typeface="Cambria Math" panose="02040503050406030204" pitchFamily="18" charset="0"/>
                  </a:rPr>
                  <a:t>$\to$</a:t>
                </a:r>
                <a:r>
                  <a:rPr sz="2400" b="0">
                    <a:solidFill>
                      <a:srgbClr val="111827"/>
                    </a:solidFill>
                    <a:latin typeface="Arial"/>
                  </a:rPr>
                  <a:t> (Q).</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 Choose </a:t>
                </a:r>
                <a:r>
                  <a:rPr lang="en-IN" sz="2400">
                    <a:solidFill>
                      <a:srgbClr val="111827"/>
                    </a:solidFill>
                    <a:latin typeface="Cambria Math" panose="02040503050406030204" pitchFamily="18" charset="0"/>
                  </a:rPr>
                  <a:t>$2$</a:t>
                </a:r>
                <a:r>
                  <a:rPr sz="2400" b="0">
                    <a:solidFill>
                      <a:srgbClr val="111827"/>
                    </a:solidFill>
                    <a:latin typeface="Arial"/>
                  </a:rPr>
                  <a:t> husbands from </a:t>
                </a:r>
                <a:r>
                  <a:rPr lang="en-IN" sz="2400">
                    <a:solidFill>
                      <a:srgbClr val="111827"/>
                    </a:solidFill>
                    <a:latin typeface="Cambria Math" panose="02040503050406030204" pitchFamily="18" charset="0"/>
                  </a:rPr>
                  <a:t>$5$</a:t>
                </a:r>
                <a:r>
                  <a:rPr sz="2400" b="0">
                    <a:solidFill>
                      <a:srgbClr val="111827"/>
                    </a:solidFill>
                    <a:latin typeface="Arial"/>
                  </a:rPr>
                  <a:t>: </a:t>
                </a:r>
                <a:r>
                  <a:rPr lang="en-IN" sz="2400">
                    <a:solidFill>
                      <a:srgbClr val="111827"/>
                    </a:solidFill>
                    <a:latin typeface="Cambria Math" panose="02040503050406030204" pitchFamily="18" charset="0"/>
                  </a:rPr>
                  <a:t>${}^5C_2$</a:t>
                </a:r>
                <a:r>
                  <a:rPr sz="2400" b="0">
                    <a:solidFill>
                      <a:srgbClr val="111827"/>
                    </a:solidFill>
                    <a:latin typeface="Arial"/>
                  </a:rPr>
                  <a:t>; remove their wives and choose </a:t>
                </a:r>
                <a:r>
                  <a:rPr lang="en-IN" sz="2400">
                    <a:solidFill>
                      <a:srgbClr val="111827"/>
                    </a:solidFill>
                    <a:latin typeface="Cambria Math" panose="02040503050406030204" pitchFamily="18" charset="0"/>
                  </a:rPr>
                  <a:t>$2$</a:t>
                </a:r>
                <a:r>
                  <a:rPr sz="2400" b="0">
                    <a:solidFill>
                      <a:srgbClr val="111827"/>
                    </a:solidFill>
                    <a:latin typeface="Arial"/>
                  </a:rPr>
                  <a:t> wives from the other </a:t>
                </a:r>
                <a:r>
                  <a:rPr lang="en-IN" sz="2400">
                    <a:solidFill>
                      <a:srgbClr val="111827"/>
                    </a:solidFill>
                    <a:latin typeface="Cambria Math" panose="02040503050406030204" pitchFamily="18" charset="0"/>
                  </a:rPr>
                  <a:t>$3$</a:t>
                </a:r>
                <a:r>
                  <a:rPr sz="2400" b="0">
                    <a:solidFill>
                      <a:srgbClr val="111827"/>
                    </a:solidFill>
                    <a:latin typeface="Arial"/>
                  </a:rPr>
                  <a:t>: </a:t>
                </a:r>
                <a:r>
                  <a:rPr lang="en-IN" sz="2400">
                    <a:solidFill>
                      <a:srgbClr val="111827"/>
                    </a:solidFill>
                    <a:latin typeface="Cambria Math" panose="02040503050406030204" pitchFamily="18" charset="0"/>
                  </a:rPr>
                  <a:t>${}^3C_2$</a:t>
                </a:r>
                <a:r>
                  <a:rPr sz="2400" b="0">
                    <a:solidFill>
                      <a:srgbClr val="111827"/>
                    </a:solidFill>
                    <a:latin typeface="Arial"/>
                  </a:rPr>
                  <a:t>; these four players can form </a:t>
                </a:r>
                <a:r>
                  <a:rPr lang="en-IN" sz="2400">
                    <a:solidFill>
                      <a:srgbClr val="111827"/>
                    </a:solidFill>
                    <a:latin typeface="Cambria Math" panose="02040503050406030204" pitchFamily="18" charset="0"/>
                  </a:rPr>
                  <a:t>$2$</a:t>
                </a:r>
                <a:r>
                  <a:rPr sz="2400" b="0">
                    <a:solidFill>
                      <a:srgbClr val="111827"/>
                    </a:solidFill>
                    <a:latin typeface="Arial"/>
                  </a:rPr>
                  <a:t> different pairs of teams: </a:t>
                </a:r>
                <a:r>
                  <a:rPr lang="en-IN" sz="2400">
                    <a:solidFill>
                      <a:srgbClr val="111827"/>
                    </a:solidFill>
                    <a:latin typeface="Cambria Math" panose="02040503050406030204" pitchFamily="18" charset="0"/>
                  </a:rPr>
                  <a:t>$2!$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 of ways </a:t>
                </a:r>
                <a:r>
                  <a:rPr lang="en-IN" sz="2400">
                    <a:solidFill>
                      <a:srgbClr val="111827"/>
                    </a:solidFill>
                    <a:latin typeface="Cambria Math" panose="02040503050406030204" pitchFamily="18" charset="0"/>
                  </a:rPr>
                  <a:t>$=10\times3\times2=60$</a:t>
                </a:r>
                <a:r>
                  <a:rPr sz="2400" b="0">
                    <a:solidFill>
                      <a:srgbClr val="111827"/>
                    </a:solidFill>
                    <a:latin typeface="Arial"/>
                  </a:rPr>
                  <a:t>. So (E) </a:t>
                </a:r>
                <a:r>
                  <a:rPr lang="en-IN" sz="2400">
                    <a:solidFill>
                      <a:srgbClr val="111827"/>
                    </a:solidFill>
                    <a:latin typeface="Cambria Math" panose="02040503050406030204" pitchFamily="18" charset="0"/>
                  </a:rPr>
                  <a:t>$\to$</a:t>
                </a:r>
                <a:r>
                  <a:rPr sz="2400" b="0">
                    <a:solidFill>
                      <a:srgbClr val="111827"/>
                    </a:solidFill>
                    <a:latin typeface="Arial"/>
                  </a:rPr>
                  <a:t> (S).</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(B)-(R), (C)-(P), (D)-(Q), (E)-(S)</a:t>
            </a:r>
            <a:endParaRPr sz="2800">
              <a:solidFill>
                <a:srgbClr val="15803D"/>
              </a:solidFill>
            </a:endParaRP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3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Check (A) by inclusion-exclusion on non-negative solutions, and (E) by choosing </a:t>
                </a:r>
                <a14:m>
                  <m:oMath xmlns:m="http://schemas.openxmlformats.org/officeDocument/2006/math">
                    <m:r>
                      <a:rPr lang="en-IN" sz="2400" i="1">
                        <a:solidFill>
                          <a:srgbClr val="78350F"/>
                        </a:solidFill>
                        <a:latin typeface="Cambria Math" panose="02040503050406030204" pitchFamily="18" charset="0"/>
                      </a:rPr>
                      <m:t>4</m:t>
                    </m:r>
                  </m:oMath>
                </a14:m>
                <a:r>
                  <a:rPr sz="2400" b="0">
                    <a:solidFill>
                      <a:srgbClr val="78350F"/>
                    </a:solidFill>
                    <a:latin typeface="Arial"/>
                  </a:rPr>
                  <a:t> different couples first.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Check (A) by inclusion-exclusion on non-negative solutions, and (E) by choosing </a:t>
                </a:r>
                <a:r>
                  <a:rPr lang="en-IN" sz="2400">
                    <a:solidFill>
                      <a:srgbClr val="78350F"/>
                    </a:solidFill>
                    <a:latin typeface="Cambria Math" panose="02040503050406030204" pitchFamily="18" charset="0"/>
                  </a:rPr>
                  <a:t>$4$</a:t>
                </a:r>
                <a:r>
                  <a:rPr sz="2400" b="0">
                    <a:solidFill>
                      <a:srgbClr val="78350F"/>
                    </a:solidFill>
                    <a:latin typeface="Arial"/>
                  </a:rPr>
                  <a:t> different couples first.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Non-negative solutions of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13</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286</m:t>
                    </m:r>
                  </m:oMath>
                </a14:m>
                <a:r>
                  <a:rPr sz="2400" b="0">
                    <a:solidFill>
                      <a:srgbClr val="111827"/>
                    </a:solidFill>
                    <a:latin typeface="Arial"/>
                  </a:rPr>
                  <a:t>. Remove those with a specified variable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12</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264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Add back two variables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11</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66</m:t>
                    </m:r>
                  </m:oMath>
                </a14:m>
                <a:r>
                  <a:rPr sz="2400" b="0">
                    <a:solidFill>
                      <a:srgbClr val="111827"/>
                    </a:solidFill>
                    <a:latin typeface="Arial"/>
                  </a:rPr>
                  <a:t>; subtract three variables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Number with all four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286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264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84</m:t>
                    </m:r>
                  </m:oMath>
                </a14:m>
                <a:r>
                  <a:rPr sz="2400" b="0">
                    <a:solidFill>
                      <a:srgbClr val="111827"/>
                    </a:solidFill>
                    <a:latin typeface="Arial"/>
                  </a:rPr>
                  <a:t> ✓.</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 The four players must come from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different couples: choose the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couples in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5</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4</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ways.</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Non-negative solutions of </a:t>
                </a:r>
                <a:r>
                  <a:rPr lang="en-IN" sz="2400">
                    <a:solidFill>
                      <a:srgbClr val="111827"/>
                    </a:solidFill>
                    <a:latin typeface="Cambria Math" panose="02040503050406030204" pitchFamily="18" charset="0"/>
                  </a:rPr>
                  <a:t>$x+y+z+t=10$</a:t>
                </a:r>
                <a:r>
                  <a:rPr sz="2400" b="0">
                    <a:solidFill>
                      <a:srgbClr val="111827"/>
                    </a:solidFill>
                    <a:latin typeface="Arial"/>
                  </a:rPr>
                  <a:t>: </a:t>
                </a:r>
                <a:r>
                  <a:rPr lang="en-IN" sz="2400">
                    <a:solidFill>
                      <a:srgbClr val="111827"/>
                    </a:solidFill>
                    <a:latin typeface="Cambria Math" panose="02040503050406030204" pitchFamily="18" charset="0"/>
                  </a:rPr>
                  <a:t>${}^{13}C_3=286$</a:t>
                </a:r>
                <a:r>
                  <a:rPr sz="2400" b="0">
                    <a:solidFill>
                      <a:srgbClr val="111827"/>
                    </a:solidFill>
                    <a:latin typeface="Arial"/>
                  </a:rPr>
                  <a:t>. Remove those with a specified variable </a:t>
                </a:r>
                <a:r>
                  <a:rPr lang="en-IN" sz="2400">
                    <a:solidFill>
                      <a:srgbClr val="111827"/>
                    </a:solidFill>
                    <a:latin typeface="Cambria Math" panose="02040503050406030204" pitchFamily="18" charset="0"/>
                  </a:rPr>
                  <a:t>$0$</a:t>
                </a:r>
                <a:r>
                  <a:rPr sz="2400" b="0">
                    <a:solidFill>
                      <a:srgbClr val="111827"/>
                    </a:solidFill>
                    <a:latin typeface="Arial"/>
                  </a:rPr>
                  <a:t>: </a:t>
                </a:r>
                <a:r>
                  <a:rPr lang="en-IN" sz="2400">
                    <a:solidFill>
                      <a:srgbClr val="111827"/>
                    </a:solidFill>
                    <a:latin typeface="Cambria Math" panose="02040503050406030204" pitchFamily="18" charset="0"/>
                  </a:rPr>
                  <a:t>$4\times{}^{12}C_2=4\times66=264$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Add back two variables </a:t>
                </a:r>
                <a:r>
                  <a:rPr lang="en-IN" sz="2400">
                    <a:solidFill>
                      <a:srgbClr val="111827"/>
                    </a:solidFill>
                    <a:latin typeface="Cambria Math" panose="02040503050406030204" pitchFamily="18" charset="0"/>
                  </a:rPr>
                  <a:t>$0$</a:t>
                </a:r>
                <a:r>
                  <a:rPr sz="2400" b="0">
                    <a:solidFill>
                      <a:srgbClr val="111827"/>
                    </a:solidFill>
                    <a:latin typeface="Arial"/>
                  </a:rPr>
                  <a:t>: </a:t>
                </a:r>
                <a:r>
                  <a:rPr lang="en-IN" sz="2400">
                    <a:solidFill>
                      <a:srgbClr val="111827"/>
                    </a:solidFill>
                    <a:latin typeface="Cambria Math" panose="02040503050406030204" pitchFamily="18" charset="0"/>
                  </a:rPr>
                  <a:t>$6\times{}^{11}C_1=66$</a:t>
                </a:r>
                <a:r>
                  <a:rPr sz="2400" b="0">
                    <a:solidFill>
                      <a:srgbClr val="111827"/>
                    </a:solidFill>
                    <a:latin typeface="Arial"/>
                  </a:rPr>
                  <a:t>; subtract three variables </a:t>
                </a:r>
                <a:r>
                  <a:rPr lang="en-IN" sz="2400">
                    <a:solidFill>
                      <a:srgbClr val="111827"/>
                    </a:solidFill>
                    <a:latin typeface="Cambria Math" panose="02040503050406030204" pitchFamily="18" charset="0"/>
                  </a:rPr>
                  <a:t>$0$</a:t>
                </a:r>
                <a:r>
                  <a:rPr sz="2400" b="0">
                    <a:solidFill>
                      <a:srgbClr val="111827"/>
                    </a:solidFill>
                    <a:latin typeface="Arial"/>
                  </a:rPr>
                  <a:t>: </a:t>
                </a:r>
                <a:r>
                  <a:rPr lang="en-IN" sz="2400">
                    <a:solidFill>
                      <a:srgbClr val="111827"/>
                    </a:solidFill>
                    <a:latin typeface="Cambria Math" panose="02040503050406030204" pitchFamily="18" charset="0"/>
                  </a:rPr>
                  <a:t>$4\times1=4$</a:t>
                </a:r>
                <a:r>
                  <a:rPr sz="2400" b="0">
                    <a:solidFill>
                      <a:srgbClr val="111827"/>
                    </a:solidFill>
                    <a:latin typeface="Arial"/>
                  </a:rPr>
                  <a:t>. Number with all four </a:t>
                </a:r>
                <a:r>
                  <a:rPr lang="en-IN" sz="2400">
                    <a:solidFill>
                      <a:srgbClr val="111827"/>
                    </a:solidFill>
                    <a:latin typeface="Cambria Math" panose="02040503050406030204" pitchFamily="18" charset="0"/>
                  </a:rPr>
                  <a:t>$\ge1$</a:t>
                </a:r>
                <a:r>
                  <a:rPr sz="2400" b="0">
                    <a:solidFill>
                      <a:srgbClr val="111827"/>
                    </a:solidFill>
                    <a:latin typeface="Arial"/>
                  </a:rPr>
                  <a:t>: </a:t>
                </a:r>
                <a:r>
                  <a:rPr lang="en-IN" sz="2400">
                    <a:solidFill>
                      <a:srgbClr val="111827"/>
                    </a:solidFill>
                    <a:latin typeface="Cambria Math" panose="02040503050406030204" pitchFamily="18" charset="0"/>
                  </a:rPr>
                  <a:t>$286-264+66-4=84$</a:t>
                </a:r>
                <a:r>
                  <a:rPr sz="2400" b="0">
                    <a:solidFill>
                      <a:srgbClr val="111827"/>
                    </a:solidFill>
                    <a:latin typeface="Arial"/>
                  </a:rPr>
                  <a:t> ✓.</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 The four players must come from </a:t>
                </a:r>
                <a:r>
                  <a:rPr lang="en-IN" sz="2400">
                    <a:solidFill>
                      <a:srgbClr val="111827"/>
                    </a:solidFill>
                    <a:latin typeface="Cambria Math" panose="02040503050406030204" pitchFamily="18" charset="0"/>
                  </a:rPr>
                  <a:t>$4$</a:t>
                </a:r>
                <a:r>
                  <a:rPr sz="2400" b="0">
                    <a:solidFill>
                      <a:srgbClr val="111827"/>
                    </a:solidFill>
                    <a:latin typeface="Arial"/>
                  </a:rPr>
                  <a:t> different couples: choose the </a:t>
                </a:r>
                <a:r>
                  <a:rPr lang="en-IN" sz="2400">
                    <a:solidFill>
                      <a:srgbClr val="111827"/>
                    </a:solidFill>
                    <a:latin typeface="Cambria Math" panose="02040503050406030204" pitchFamily="18" charset="0"/>
                  </a:rPr>
                  <a:t>$4$</a:t>
                </a:r>
                <a:r>
                  <a:rPr sz="2400" b="0">
                    <a:solidFill>
                      <a:srgbClr val="111827"/>
                    </a:solidFill>
                    <a:latin typeface="Arial"/>
                  </a:rPr>
                  <a:t> couples in </a:t>
                </a:r>
                <a:r>
                  <a:rPr lang="en-IN" sz="2400">
                    <a:solidFill>
                      <a:srgbClr val="111827"/>
                    </a:solidFill>
                    <a:latin typeface="Cambria Math" panose="02040503050406030204" pitchFamily="18" charset="0"/>
                  </a:rPr>
                  <a:t>${}^5C_4=5$</a:t>
                </a:r>
                <a:r>
                  <a:rPr sz="2400" b="0">
                    <a:solidFill>
                      <a:srgbClr val="111827"/>
                    </a:solidFill>
                    <a:latin typeface="Arial"/>
                  </a:rPr>
                  <a:t> ways.</a:t>
                </a:r>
                <a:endParaRPr sz="2400">
                  <a:solidFill>
                    <a:srgbClr val="111827"/>
                  </a:solidFill>
                </a:endParaRPr>
              </a:p>
            </p:txBody>
          </p:sp>
        </mc:Fallback>
      </mc:AlternateContent>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3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From these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couples take the husband of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of them and the wife of the other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4</m:t>
                        </m:r>
                      </m:sup>
                    </m:sSup>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ways. This gives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players.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men and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women form two mixed teams in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ways. Total </a:t>
                </a:r>
                <a14:m>
                  <m:oMath xmlns:m="http://schemas.openxmlformats.org/officeDocument/2006/math">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m:t>
                    </m:r>
                  </m:oMath>
                </a14:m>
                <a:r>
                  <a:rPr sz="2400" b="0">
                    <a:solidFill>
                      <a:srgbClr val="111827"/>
                    </a:solidFill>
                    <a:latin typeface="Arial"/>
                  </a:rPr>
                  <a:t> ✓.</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From these </a:t>
                </a:r>
                <a:r>
                  <a:rPr lang="en-IN" sz="2400">
                    <a:solidFill>
                      <a:srgbClr val="111827"/>
                    </a:solidFill>
                    <a:latin typeface="Cambria Math" panose="02040503050406030204" pitchFamily="18" charset="0"/>
                  </a:rPr>
                  <a:t>$4$</a:t>
                </a:r>
                <a:r>
                  <a:rPr sz="2400" b="0">
                    <a:solidFill>
                      <a:srgbClr val="111827"/>
                    </a:solidFill>
                    <a:latin typeface="Arial"/>
                  </a:rPr>
                  <a:t> couples take the husband of </a:t>
                </a:r>
                <a:r>
                  <a:rPr lang="en-IN" sz="2400">
                    <a:solidFill>
                      <a:srgbClr val="111827"/>
                    </a:solidFill>
                    <a:latin typeface="Cambria Math" panose="02040503050406030204" pitchFamily="18" charset="0"/>
                  </a:rPr>
                  <a:t>$2$</a:t>
                </a:r>
                <a:r>
                  <a:rPr sz="2400" b="0">
                    <a:solidFill>
                      <a:srgbClr val="111827"/>
                    </a:solidFill>
                    <a:latin typeface="Arial"/>
                  </a:rPr>
                  <a:t> of them and the wife of the other </a:t>
                </a:r>
                <a:r>
                  <a:rPr lang="en-IN" sz="2400">
                    <a:solidFill>
                      <a:srgbClr val="111827"/>
                    </a:solidFill>
                    <a:latin typeface="Cambria Math" panose="02040503050406030204" pitchFamily="18" charset="0"/>
                  </a:rPr>
                  <a:t>$2$</a:t>
                </a:r>
                <a:r>
                  <a:rPr sz="2400" b="0">
                    <a:solidFill>
                      <a:srgbClr val="111827"/>
                    </a:solidFill>
                    <a:latin typeface="Arial"/>
                  </a:rPr>
                  <a:t>: </a:t>
                </a:r>
                <a:r>
                  <a:rPr lang="en-IN" sz="2400">
                    <a:solidFill>
                      <a:srgbClr val="111827"/>
                    </a:solidFill>
                    <a:latin typeface="Cambria Math" panose="02040503050406030204" pitchFamily="18" charset="0"/>
                  </a:rPr>
                  <a:t>${}^4C_2=6$</a:t>
                </a:r>
                <a:r>
                  <a:rPr sz="2400" b="0">
                    <a:solidFill>
                      <a:srgbClr val="111827"/>
                    </a:solidFill>
                    <a:latin typeface="Arial"/>
                  </a:rPr>
                  <a:t> ways. This gives </a:t>
                </a:r>
                <a:r>
                  <a:rPr lang="en-IN" sz="2400">
                    <a:solidFill>
                      <a:srgbClr val="111827"/>
                    </a:solidFill>
                    <a:latin typeface="Cambria Math" panose="02040503050406030204" pitchFamily="18" charset="0"/>
                  </a:rPr>
                  <a:t>$4$</a:t>
                </a:r>
                <a:r>
                  <a:rPr sz="2400" b="0">
                    <a:solidFill>
                      <a:srgbClr val="111827"/>
                    </a:solidFill>
                    <a:latin typeface="Arial"/>
                  </a:rPr>
                  <a:t> players.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a:t>
                </a:r>
                <a:r>
                  <a:rPr lang="en-IN" sz="2400">
                    <a:solidFill>
                      <a:srgbClr val="111827"/>
                    </a:solidFill>
                    <a:latin typeface="Cambria Math" panose="02040503050406030204" pitchFamily="18" charset="0"/>
                  </a:rPr>
                  <a:t>$2$</a:t>
                </a:r>
                <a:r>
                  <a:rPr sz="2400" b="0">
                    <a:solidFill>
                      <a:srgbClr val="111827"/>
                    </a:solidFill>
                    <a:latin typeface="Arial"/>
                  </a:rPr>
                  <a:t> men and </a:t>
                </a:r>
                <a:r>
                  <a:rPr lang="en-IN" sz="2400">
                    <a:solidFill>
                      <a:srgbClr val="111827"/>
                    </a:solidFill>
                    <a:latin typeface="Cambria Math" panose="02040503050406030204" pitchFamily="18" charset="0"/>
                  </a:rPr>
                  <a:t>$2$</a:t>
                </a:r>
                <a:r>
                  <a:rPr sz="2400" b="0">
                    <a:solidFill>
                      <a:srgbClr val="111827"/>
                    </a:solidFill>
                    <a:latin typeface="Arial"/>
                  </a:rPr>
                  <a:t> women form two mixed teams in </a:t>
                </a:r>
                <a:r>
                  <a:rPr lang="en-IN" sz="2400">
                    <a:solidFill>
                      <a:srgbClr val="111827"/>
                    </a:solidFill>
                    <a:latin typeface="Cambria Math" panose="02040503050406030204" pitchFamily="18" charset="0"/>
                  </a:rPr>
                  <a:t>$2$</a:t>
                </a:r>
                <a:r>
                  <a:rPr sz="2400" b="0">
                    <a:solidFill>
                      <a:srgbClr val="111827"/>
                    </a:solidFill>
                    <a:latin typeface="Arial"/>
                  </a:rPr>
                  <a:t> ways. Total </a:t>
                </a:r>
                <a:r>
                  <a:rPr lang="en-IN" sz="2400">
                    <a:solidFill>
                      <a:srgbClr val="111827"/>
                    </a:solidFill>
                    <a:latin typeface="Cambria Math" panose="02040503050406030204" pitchFamily="18" charset="0"/>
                  </a:rPr>
                  <a:t>$5\times6\times2=60$</a:t>
                </a:r>
                <a:r>
                  <a:rPr sz="2400" b="0">
                    <a:solidFill>
                      <a:srgbClr val="111827"/>
                    </a:solidFill>
                    <a:latin typeface="Arial"/>
                  </a:rPr>
                  <a:t> ✓.</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(B)-(R), (C)-(P), (D)-(Q), (E)-(S)</a:t>
            </a:r>
            <a:endParaRPr sz="2800">
              <a:solidFill>
                <a:srgbClr val="15803D"/>
              </a:solidFill>
            </a:endParaRP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3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Positive solutions of </a:t>
                </a:r>
                <a14:m>
                  <m:oMath xmlns:m="http://schemas.openxmlformats.org/officeDocument/2006/math">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𝑘</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oMath>
                </a14:m>
                <a:r>
                  <a:rPr sz="2400" b="0">
                    <a:solidFill>
                      <a:srgbClr val="111827"/>
                    </a:solidFill>
                    <a:latin typeface="Arial"/>
                  </a:rPr>
                  <a:t>: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e>
                    </m:d>
                  </m:oMath>
                </a14:m>
                <a:r>
                  <a:rPr sz="2400" b="0">
                    <a:solidFill>
                      <a:srgbClr val="111827"/>
                    </a:solidFill>
                    <a:latin typeface="Arial"/>
                  </a:rPr>
                  <a:t>; non-negative solutions: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Triangles from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points with collinear sets: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3</m:t>
                            </m:r>
                          </m:den>
                        </m:f>
                      </m:e>
                    </m: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𝑖</m:t>
                                </m:r>
                              </m:sub>
                            </m:sSub>
                          </m:num>
                          <m:den>
                            <m:r>
                              <a:rPr lang="en-IN" sz="2400" i="1">
                                <a:solidFill>
                                  <a:srgbClr val="111827"/>
                                </a:solidFill>
                                <a:latin typeface="Cambria Math" panose="02040503050406030204" pitchFamily="18" charset="0"/>
                              </a:rPr>
                              <m:t>3</m:t>
                            </m:r>
                          </m:den>
                        </m:f>
                      </m:e>
                    </m:d>
                  </m:oMath>
                </a14:m>
                <a:r>
                  <a:rPr sz="2400" b="0">
                    <a:solidFill>
                      <a:srgbClr val="111827"/>
                    </a:solidFill>
                    <a:latin typeface="Arial"/>
                  </a:rPr>
                  <a:t>; lines: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𝑖</m:t>
                                    </m:r>
                                  </m:sub>
                                </m:sSub>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d>
                  </m:oMath>
                </a14:m>
                <a:r>
                  <a:rPr sz="2400" b="0">
                    <a:solidFill>
                      <a:srgbClr val="111827"/>
                    </a:solidFill>
                    <a:latin typeface="Arial"/>
                  </a:rPr>
                  <a:t> for each collinear set of size </a:t>
                </a:r>
                <a14:m>
                  <m:oMath xmlns:m="http://schemas.openxmlformats.org/officeDocument/2006/math">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𝑖</m:t>
                        </m:r>
                      </m:sub>
                    </m:sSub>
                  </m:oMath>
                </a14:m>
                <a:r>
                  <a:rPr sz="2400" b="0">
                    <a:solidFill>
                      <a:srgbClr val="111827"/>
                    </a:solidFill>
                    <a:latin typeface="Arial"/>
                  </a:rPr>
                  <a:t> (here the centre set has </a:t>
                </a:r>
                <a14:m>
                  <m:oMath xmlns:m="http://schemas.openxmlformats.org/officeDocument/2006/math">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for each of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diameters).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Permutations of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with exactly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 non-fixed points (all others fixed):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𝑘</m:t>
                            </m:r>
                          </m:den>
                        </m:f>
                      </m:e>
                    </m:d>
                    <m:sSub>
                      <m:e>
                        <m:r>
                          <a:rPr lang="en-IN" sz="2400" i="1">
                            <a:solidFill>
                              <a:srgbClr val="111827"/>
                            </a:solidFill>
                            <a:latin typeface="Cambria Math" panose="02040503050406030204" pitchFamily="18" charset="0"/>
                          </a:rPr>
                          <m:t>𝐷</m:t>
                        </m:r>
                      </m:e>
                      <m:sub>
                        <m:r>
                          <a:rPr lang="en-IN" sz="2400" i="1">
                            <a:solidFill>
                              <a:srgbClr val="111827"/>
                            </a:solidFill>
                            <a:latin typeface="Cambria Math" panose="02040503050406030204" pitchFamily="18" charset="0"/>
                          </a:rPr>
                          <m:t>𝑘</m:t>
                        </m:r>
                      </m:sub>
                    </m:sSub>
                  </m:oMath>
                </a14:m>
                <a:r>
                  <a:rPr sz="2400" b="0">
                    <a:solidFill>
                      <a:srgbClr val="111827"/>
                    </a:solidFill>
                    <a:latin typeface="Arial"/>
                  </a:rPr>
                  <a:t>; with at most two wrong: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2</m:t>
                            </m:r>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Digit-product counts: factor the product, list digit multisets, then permute each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num>
                      <m:den>
                        <m:r>
                          <m:rPr>
                            <m:nor/>
                          </m:rPr>
                          <a:rPr lang="en-IN" sz="2400" i="1">
                            <a:solidFill>
                              <a:srgbClr val="111827"/>
                            </a:solidFill>
                            <a:latin typeface="Cambria Math" panose="02040503050406030204" pitchFamily="18" charset="0"/>
                          </a:rPr>
                          <m:t>𝑟𝑒𝑝𝑒𝑎𝑡𝑠</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Positive solutions of </a:t>
                </a:r>
                <a:r>
                  <a:rPr lang="en-IN" sz="2400">
                    <a:solidFill>
                      <a:srgbClr val="111827"/>
                    </a:solidFill>
                    <a:latin typeface="Cambria Math" panose="02040503050406030204" pitchFamily="18" charset="0"/>
                  </a:rPr>
                  <a:t>$x_1+\dots+x_k=n$</a:t>
                </a:r>
                <a:r>
                  <a:rPr sz="2400" b="0">
                    <a:solidFill>
                      <a:srgbClr val="111827"/>
                    </a:solidFill>
                    <a:latin typeface="Arial"/>
                  </a:rPr>
                  <a:t>: </a:t>
                </a:r>
                <a:r>
                  <a:rPr lang="en-IN" sz="2400">
                    <a:solidFill>
                      <a:srgbClr val="111827"/>
                    </a:solidFill>
                    <a:latin typeface="Cambria Math" panose="02040503050406030204" pitchFamily="18" charset="0"/>
                  </a:rPr>
                  <a:t>$\binom{n-1}{k-1}$</a:t>
                </a:r>
                <a:r>
                  <a:rPr sz="2400" b="0">
                    <a:solidFill>
                      <a:srgbClr val="111827"/>
                    </a:solidFill>
                    <a:latin typeface="Arial"/>
                  </a:rPr>
                  <a:t>; non-negative solutions: </a:t>
                </a:r>
                <a:r>
                  <a:rPr lang="en-IN" sz="2400">
                    <a:solidFill>
                      <a:srgbClr val="111827"/>
                    </a:solidFill>
                    <a:latin typeface="Cambria Math" panose="02040503050406030204" pitchFamily="18" charset="0"/>
                  </a:rPr>
                  <a:t>$\binom{n+k-1}{k-1}$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Triangles from </a:t>
                </a:r>
                <a:r>
                  <a:rPr lang="en-IN" sz="2400">
                    <a:solidFill>
                      <a:srgbClr val="111827"/>
                    </a:solidFill>
                    <a:latin typeface="Cambria Math" panose="02040503050406030204" pitchFamily="18" charset="0"/>
                  </a:rPr>
                  <a:t>$n$</a:t>
                </a:r>
                <a:r>
                  <a:rPr sz="2400" b="0">
                    <a:solidFill>
                      <a:srgbClr val="111827"/>
                    </a:solidFill>
                    <a:latin typeface="Arial"/>
                  </a:rPr>
                  <a:t> points with collinear sets: </a:t>
                </a:r>
                <a:r>
                  <a:rPr lang="en-IN" sz="2400">
                    <a:solidFill>
                      <a:srgbClr val="111827"/>
                    </a:solidFill>
                    <a:latin typeface="Cambria Math" panose="02040503050406030204" pitchFamily="18" charset="0"/>
                  </a:rPr>
                  <a:t>$\binom n3-\sum\binom{c_i}{3}$</a:t>
                </a:r>
                <a:r>
                  <a:rPr sz="2400" b="0">
                    <a:solidFill>
                      <a:srgbClr val="111827"/>
                    </a:solidFill>
                    <a:latin typeface="Arial"/>
                  </a:rPr>
                  <a:t>; lines: </a:t>
                </a:r>
                <a:r>
                  <a:rPr lang="en-IN" sz="2400">
                    <a:solidFill>
                      <a:srgbClr val="111827"/>
                    </a:solidFill>
                    <a:latin typeface="Cambria Math" panose="02040503050406030204" pitchFamily="18" charset="0"/>
                  </a:rPr>
                  <a:t>$\binom n2-\sum\big(\binom{c_i}{2}-1\big)$</a:t>
                </a:r>
                <a:r>
                  <a:rPr sz="2400" b="0">
                    <a:solidFill>
                      <a:srgbClr val="111827"/>
                    </a:solidFill>
                    <a:latin typeface="Arial"/>
                  </a:rPr>
                  <a:t> for each collinear set of size </a:t>
                </a:r>
                <a:r>
                  <a:rPr lang="en-IN" sz="2400">
                    <a:solidFill>
                      <a:srgbClr val="111827"/>
                    </a:solidFill>
                    <a:latin typeface="Cambria Math" panose="02040503050406030204" pitchFamily="18" charset="0"/>
                  </a:rPr>
                  <a:t>$c_i$</a:t>
                </a:r>
                <a:r>
                  <a:rPr sz="2400" b="0">
                    <a:solidFill>
                      <a:srgbClr val="111827"/>
                    </a:solidFill>
                    <a:latin typeface="Arial"/>
                  </a:rPr>
                  <a:t> (here the centre set has </a:t>
                </a:r>
                <a:r>
                  <a:rPr lang="en-IN" sz="2400">
                    <a:solidFill>
                      <a:srgbClr val="111827"/>
                    </a:solidFill>
                    <a:latin typeface="Cambria Math" panose="02040503050406030204" pitchFamily="18" charset="0"/>
                  </a:rPr>
                  <a:t>$c=3$</a:t>
                </a:r>
                <a:r>
                  <a:rPr sz="2400" b="0">
                    <a:solidFill>
                      <a:srgbClr val="111827"/>
                    </a:solidFill>
                    <a:latin typeface="Arial"/>
                  </a:rPr>
                  <a:t> for each of </a:t>
                </a:r>
                <a:r>
                  <a:rPr lang="en-IN" sz="2400">
                    <a:solidFill>
                      <a:srgbClr val="111827"/>
                    </a:solidFill>
                    <a:latin typeface="Cambria Math" panose="02040503050406030204" pitchFamily="18" charset="0"/>
                  </a:rPr>
                  <a:t>$4$</a:t>
                </a:r>
                <a:r>
                  <a:rPr sz="2400" b="0">
                    <a:solidFill>
                      <a:srgbClr val="111827"/>
                    </a:solidFill>
                    <a:latin typeface="Arial"/>
                  </a:rPr>
                  <a:t> diameters).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Permutations of </a:t>
                </a:r>
                <a:r>
                  <a:rPr lang="en-IN" sz="2400">
                    <a:solidFill>
                      <a:srgbClr val="111827"/>
                    </a:solidFill>
                    <a:latin typeface="Cambria Math" panose="02040503050406030204" pitchFamily="18" charset="0"/>
                  </a:rPr>
                  <a:t>$n$</a:t>
                </a:r>
                <a:r>
                  <a:rPr sz="2400" b="0">
                    <a:solidFill>
                      <a:srgbClr val="111827"/>
                    </a:solidFill>
                    <a:latin typeface="Arial"/>
                  </a:rPr>
                  <a:t> with exactly </a:t>
                </a:r>
                <a:r>
                  <a:rPr lang="en-IN" sz="2400">
                    <a:solidFill>
                      <a:srgbClr val="111827"/>
                    </a:solidFill>
                    <a:latin typeface="Cambria Math" panose="02040503050406030204" pitchFamily="18" charset="0"/>
                  </a:rPr>
                  <a:t>$k$</a:t>
                </a:r>
                <a:r>
                  <a:rPr sz="2400" b="0">
                    <a:solidFill>
                      <a:srgbClr val="111827"/>
                    </a:solidFill>
                    <a:latin typeface="Arial"/>
                  </a:rPr>
                  <a:t> non-fixed points (all others fixed): </a:t>
                </a:r>
                <a:r>
                  <a:rPr lang="en-IN" sz="2400">
                    <a:solidFill>
                      <a:srgbClr val="111827"/>
                    </a:solidFill>
                    <a:latin typeface="Cambria Math" panose="02040503050406030204" pitchFamily="18" charset="0"/>
                  </a:rPr>
                  <a:t>$\binom nkD_k$</a:t>
                </a:r>
                <a:r>
                  <a:rPr sz="2400" b="0">
                    <a:solidFill>
                      <a:srgbClr val="111827"/>
                    </a:solidFill>
                    <a:latin typeface="Arial"/>
                  </a:rPr>
                  <a:t>; with at most two wrong: </a:t>
                </a:r>
                <a:r>
                  <a:rPr lang="en-IN" sz="2400">
                    <a:solidFill>
                      <a:srgbClr val="111827"/>
                    </a:solidFill>
                    <a:latin typeface="Cambria Math" panose="02040503050406030204" pitchFamily="18" charset="0"/>
                  </a:rPr>
                  <a:t>$1+\binom n2$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Digit-product counts: factor the product, list digit multisets, then permute each (</a:t>
                </a:r>
                <a:r>
                  <a:rPr lang="en-IN" sz="2400">
                    <a:solidFill>
                      <a:srgbClr val="111827"/>
                    </a:solidFill>
                    <a:latin typeface="Cambria Math" panose="02040503050406030204" pitchFamily="18" charset="0"/>
                  </a:rPr>
                  <a:t>$\frac{4!}{\text{repeats}}$</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(1/6)</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502920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01</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r h="868680">
                <a:tc>
                  <a:txBody>
                    <a:bodyPr/>
                    <a:lstStyle/>
                    <a:p>
                      <a:pPr algn="ctr"/>
                      <a:r>
                        <a:rPr sz="2400" b="1">
                          <a:solidFill>
                            <a:srgbClr val="111827"/>
                          </a:solidFill>
                          <a:latin typeface="Arial"/>
                        </a:rPr>
                        <a:t>02</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03</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r h="868680">
                <a:tc>
                  <a:txBody>
                    <a:bodyPr/>
                    <a:lstStyle/>
                    <a:p>
                      <a:pPr algn="ctr"/>
                      <a:r>
                        <a:rPr sz="2400" b="1">
                          <a:solidFill>
                            <a:srgbClr val="111827"/>
                          </a:solidFill>
                          <a:latin typeface="Arial"/>
                        </a:rPr>
                        <a:t>04</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05</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bl>
          </a:graphicData>
        </a:graphic>
      </p:graphicFrame>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(2/6)</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502920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06</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r h="868680">
                <a:tc>
                  <a:txBody>
                    <a:bodyPr/>
                    <a:lstStyle/>
                    <a:p>
                      <a:pPr algn="ctr"/>
                      <a:r>
                        <a:rPr sz="2400" b="1">
                          <a:solidFill>
                            <a:srgbClr val="111827"/>
                          </a:solidFill>
                          <a:latin typeface="Arial"/>
                        </a:rPr>
                        <a:t>07</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08</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09</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10</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bl>
          </a:graphicData>
        </a:graphic>
      </p:graphicFrame>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(3/6)</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502920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11</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12</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13</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14</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15</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bl>
          </a:graphicData>
        </a:graphic>
      </p:graphicFrame>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(4/6)</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502920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16</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r h="868680">
                <a:tc>
                  <a:txBody>
                    <a:bodyPr/>
                    <a:lstStyle/>
                    <a:p>
                      <a:pPr algn="ctr"/>
                      <a:r>
                        <a:rPr sz="2400" b="1">
                          <a:solidFill>
                            <a:srgbClr val="111827"/>
                          </a:solidFill>
                          <a:latin typeface="Arial"/>
                        </a:rPr>
                        <a:t>17</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18</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19</a:t>
                      </a:r>
                    </a:p>
                  </a:txBody>
                  <a:tcPr anchor="ctr" marL="91440" marR="91440">
                    <a:solidFill>
                      <a:srgbClr val="FFFFFF"/>
                    </a:solidFill>
                  </a:tcPr>
                </a:tc>
                <a:tc>
                  <a:txBody>
                    <a:bodyPr/>
                    <a:lstStyle/>
                    <a:p>
                      <a:pPr algn="l"/>
                      <a:r>
                        <a:rPr sz="2400" b="0">
                          <a:solidFill>
                            <a:srgbClr val="111827"/>
                          </a:solidFill>
                          <a:latin typeface="Arial"/>
                        </a:rPr>
                        <a:t>Paragraph Single Correct</a:t>
                      </a:r>
                    </a:p>
                  </a:txBody>
                  <a:tcPr anchor="ctr" marL="91440" marR="91440">
                    <a:solidFill>
                      <a:srgbClr val="FFFFFF"/>
                    </a:solidFill>
                  </a:tcPr>
                </a:tc>
                <a:tc>
                  <a:txBody>
                    <a:bodyPr/>
                    <a:lstStyle/>
                    <a:p>
                      <a:pPr algn="ctr"/>
                      <a:r>
                        <a:rPr sz="2400" b="0">
                          <a:solidFill>
                            <a:srgbClr val="111827"/>
                          </a:solidFill>
                          <a:latin typeface="Arial"/>
                        </a:rPr>
                        <a:t>3</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20</a:t>
                      </a:r>
                    </a:p>
                  </a:txBody>
                  <a:tcPr anchor="ctr" marL="91440" marR="91440">
                    <a:solidFill>
                      <a:srgbClr val="FFFFFF"/>
                    </a:solidFill>
                  </a:tcPr>
                </a:tc>
                <a:tc>
                  <a:txBody>
                    <a:bodyPr/>
                    <a:lstStyle/>
                    <a:p>
                      <a:pPr algn="l"/>
                      <a:r>
                        <a:rPr sz="2400" b="0">
                          <a:solidFill>
                            <a:srgbClr val="111827"/>
                          </a:solidFill>
                          <a:latin typeface="Arial"/>
                        </a:rPr>
                        <a:t>Paragraph Single Correct</a:t>
                      </a:r>
                    </a:p>
                  </a:txBody>
                  <a:tcPr anchor="ctr" marL="91440" marR="91440">
                    <a:solidFill>
                      <a:srgbClr val="FFFFFF"/>
                    </a:solidFill>
                  </a:tcPr>
                </a:tc>
                <a:tc>
                  <a:txBody>
                    <a:bodyPr/>
                    <a:lstStyle/>
                    <a:p>
                      <a:pPr algn="ctr"/>
                      <a:r>
                        <a:rPr sz="2400" b="0">
                          <a:solidFill>
                            <a:srgbClr val="111827"/>
                          </a:solidFill>
                          <a:latin typeface="Arial"/>
                        </a:rPr>
                        <a:t>3</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bl>
          </a:graphicData>
        </a:graphic>
      </p:graphicFrame>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(5/6)</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416052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21</a:t>
                      </a:r>
                    </a:p>
                  </a:txBody>
                  <a:tcPr anchor="ctr" marL="91440" marR="91440">
                    <a:solidFill>
                      <a:srgbClr val="FFFFFF"/>
                    </a:solidFill>
                  </a:tcPr>
                </a:tc>
                <a:tc>
                  <a:txBody>
                    <a:bodyPr/>
                    <a:lstStyle/>
                    <a:p>
                      <a:pPr algn="l"/>
                      <a:r>
                        <a:rPr sz="2400" b="0">
                          <a:solidFill>
                            <a:srgbClr val="111827"/>
                          </a:solidFill>
                          <a:latin typeface="Arial"/>
                        </a:rPr>
                        <a:t>Paragraph Single Correct</a:t>
                      </a:r>
                    </a:p>
                  </a:txBody>
                  <a:tcPr anchor="ctr" marL="91440" marR="91440">
                    <a:solidFill>
                      <a:srgbClr val="FFFFFF"/>
                    </a:solidFill>
                  </a:tcPr>
                </a:tc>
                <a:tc>
                  <a:txBody>
                    <a:bodyPr/>
                    <a:lstStyle/>
                    <a:p>
                      <a:pPr algn="ctr"/>
                      <a:r>
                        <a:rPr sz="2400" b="0">
                          <a:solidFill>
                            <a:srgbClr val="111827"/>
                          </a:solidFill>
                          <a:latin typeface="Arial"/>
                        </a:rPr>
                        <a:t>3</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r h="868680">
                <a:tc>
                  <a:txBody>
                    <a:bodyPr/>
                    <a:lstStyle/>
                    <a:p>
                      <a:pPr algn="ctr"/>
                      <a:r>
                        <a:rPr sz="2400" b="1">
                          <a:solidFill>
                            <a:srgbClr val="111827"/>
                          </a:solidFill>
                          <a:latin typeface="Arial"/>
                        </a:rPr>
                        <a:t>22</a:t>
                      </a:r>
                    </a:p>
                  </a:txBody>
                  <a:tcPr anchor="ctr" marL="91440" marR="91440">
                    <a:solidFill>
                      <a:srgbClr val="FFFFFF"/>
                    </a:solidFill>
                  </a:tcPr>
                </a:tc>
                <a:tc>
                  <a:txBody>
                    <a:bodyPr/>
                    <a:lstStyle/>
                    <a:p>
                      <a:pPr algn="l"/>
                      <a:r>
                        <a:rPr sz="2400" b="0">
                          <a:solidFill>
                            <a:srgbClr val="111827"/>
                          </a:solidFill>
                          <a:latin typeface="Arial"/>
                        </a:rPr>
                        <a:t>Paragraph Single Correct</a:t>
                      </a:r>
                    </a:p>
                  </a:txBody>
                  <a:tcPr anchor="ctr" marL="91440" marR="91440">
                    <a:solidFill>
                      <a:srgbClr val="FFFFFF"/>
                    </a:solidFill>
                  </a:tcPr>
                </a:tc>
                <a:tc>
                  <a:txBody>
                    <a:bodyPr/>
                    <a:lstStyle/>
                    <a:p>
                      <a:pPr algn="ctr"/>
                      <a:r>
                        <a:rPr sz="2400" b="0">
                          <a:solidFill>
                            <a:srgbClr val="111827"/>
                          </a:solidFill>
                          <a:latin typeface="Arial"/>
                        </a:rPr>
                        <a:t>3</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23</a:t>
                      </a:r>
                    </a:p>
                  </a:txBody>
                  <a:tcPr anchor="ctr" marL="91440" marR="91440">
                    <a:solidFill>
                      <a:srgbClr val="FFFFFF"/>
                    </a:solidFill>
                  </a:tcPr>
                </a:tc>
                <a:tc>
                  <a:txBody>
                    <a:bodyPr/>
                    <a:lstStyle/>
                    <a:p>
                      <a:pPr algn="l"/>
                      <a:r>
                        <a:rPr sz="2400" b="0">
                          <a:solidFill>
                            <a:srgbClr val="111827"/>
                          </a:solidFill>
                          <a:latin typeface="Arial"/>
                        </a:rPr>
                        <a:t>Paragraph Single Correct</a:t>
                      </a:r>
                    </a:p>
                  </a:txBody>
                  <a:tcPr anchor="ctr" marL="91440" marR="91440">
                    <a:solidFill>
                      <a:srgbClr val="FFFFFF"/>
                    </a:solidFill>
                  </a:tcPr>
                </a:tc>
                <a:tc>
                  <a:txBody>
                    <a:bodyPr/>
                    <a:lstStyle/>
                    <a:p>
                      <a:pPr algn="ctr"/>
                      <a:r>
                        <a:rPr sz="2400" b="0">
                          <a:solidFill>
                            <a:srgbClr val="111827"/>
                          </a:solidFill>
                          <a:latin typeface="Arial"/>
                        </a:rPr>
                        <a:t>3</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24</a:t>
                      </a:r>
                    </a:p>
                  </a:txBody>
                  <a:tcPr anchor="ctr" marL="91440" marR="91440">
                    <a:solidFill>
                      <a:srgbClr val="FFFFFF"/>
                    </a:solidFill>
                  </a:tcPr>
                </a:tc>
                <a:tc>
                  <a:txBody>
                    <a:bodyPr/>
                    <a:lstStyle/>
                    <a:p>
                      <a:pPr algn="l"/>
                      <a:r>
                        <a:rPr sz="2400" b="0">
                          <a:solidFill>
                            <a:srgbClr val="111827"/>
                          </a:solidFill>
                          <a:latin typeface="Arial"/>
                        </a:rPr>
                        <a:t>Paragraph Single Correct</a:t>
                      </a:r>
                    </a:p>
                  </a:txBody>
                  <a:tcPr anchor="ctr" marL="91440" marR="91440">
                    <a:solidFill>
                      <a:srgbClr val="FFFFFF"/>
                    </a:solidFill>
                  </a:tcPr>
                </a:tc>
                <a:tc>
                  <a:txBody>
                    <a:bodyPr/>
                    <a:lstStyle/>
                    <a:p>
                      <a:pPr algn="ctr"/>
                      <a:r>
                        <a:rPr sz="2400" b="0">
                          <a:solidFill>
                            <a:srgbClr val="111827"/>
                          </a:solidFill>
                          <a:latin typeface="Arial"/>
                        </a:rPr>
                        <a:t>3</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bl>
          </a:graphicData>
        </a:graphic>
      </p:graphicFrame>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(6/6)</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416052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25</a:t>
                      </a:r>
                    </a:p>
                  </a:txBody>
                  <a:tcPr anchor="ctr" marL="91440" marR="91440">
                    <a:solidFill>
                      <a:srgbClr val="FFFFFF"/>
                    </a:solidFill>
                  </a:tcPr>
                </a:tc>
                <a:tc>
                  <a:txBody>
                    <a:bodyPr/>
                    <a:lstStyle/>
                    <a:p>
                      <a:pPr algn="l"/>
                      <a:r>
                        <a:rPr sz="2400" b="0">
                          <a:solidFill>
                            <a:srgbClr val="111827"/>
                          </a:solidFill>
                          <a:latin typeface="Arial"/>
                        </a:rPr>
                        <a:t>Paragraph Single Correct</a:t>
                      </a:r>
                    </a:p>
                  </a:txBody>
                  <a:tcPr anchor="ctr" marL="91440" marR="91440">
                    <a:solidFill>
                      <a:srgbClr val="FFFFFF"/>
                    </a:solidFill>
                  </a:tcPr>
                </a:tc>
                <a:tc>
                  <a:txBody>
                    <a:bodyPr/>
                    <a:lstStyle/>
                    <a:p>
                      <a:pPr algn="ctr"/>
                      <a:r>
                        <a:rPr sz="2400" b="0">
                          <a:solidFill>
                            <a:srgbClr val="111827"/>
                          </a:solidFill>
                          <a:latin typeface="Arial"/>
                        </a:rPr>
                        <a:t>3</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26</a:t>
                      </a:r>
                    </a:p>
                  </a:txBody>
                  <a:tcPr anchor="ctr" marL="91440" marR="91440">
                    <a:solidFill>
                      <a:srgbClr val="FFFFFF"/>
                    </a:solidFill>
                  </a:tcPr>
                </a:tc>
                <a:tc>
                  <a:txBody>
                    <a:bodyPr/>
                    <a:lstStyle/>
                    <a:p>
                      <a:pPr algn="l"/>
                      <a:r>
                        <a:rPr sz="2400" b="0">
                          <a:solidFill>
                            <a:srgbClr val="111827"/>
                          </a:solidFill>
                          <a:latin typeface="Arial"/>
                        </a:rPr>
                        <a:t>Paragraph Single Correct</a:t>
                      </a:r>
                    </a:p>
                  </a:txBody>
                  <a:tcPr anchor="ctr" marL="91440" marR="91440">
                    <a:solidFill>
                      <a:srgbClr val="FFFFFF"/>
                    </a:solidFill>
                  </a:tcPr>
                </a:tc>
                <a:tc>
                  <a:txBody>
                    <a:bodyPr/>
                    <a:lstStyle/>
                    <a:p>
                      <a:pPr algn="ctr"/>
                      <a:r>
                        <a:rPr sz="2400" b="0">
                          <a:solidFill>
                            <a:srgbClr val="111827"/>
                          </a:solidFill>
                          <a:latin typeface="Arial"/>
                        </a:rPr>
                        <a:t>3</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27</a:t>
                      </a:r>
                    </a:p>
                  </a:txBody>
                  <a:tcPr anchor="ctr" marL="91440" marR="91440">
                    <a:solidFill>
                      <a:srgbClr val="FFFFFF"/>
                    </a:solidFill>
                  </a:tcPr>
                </a:tc>
                <a:tc>
                  <a:txBody>
                    <a:bodyPr/>
                    <a:lstStyle/>
                    <a:p>
                      <a:pPr algn="l"/>
                      <a:r>
                        <a:rPr sz="2400" b="0">
                          <a:solidFill>
                            <a:srgbClr val="111827"/>
                          </a:solidFill>
                          <a:latin typeface="Arial"/>
                        </a:rPr>
                        <a:t>Paragraph Single Correct</a:t>
                      </a:r>
                    </a:p>
                  </a:txBody>
                  <a:tcPr anchor="ctr" marL="91440" marR="91440">
                    <a:solidFill>
                      <a:srgbClr val="FFFFFF"/>
                    </a:solidFill>
                  </a:tcPr>
                </a:tc>
                <a:tc>
                  <a:txBody>
                    <a:bodyPr/>
                    <a:lstStyle/>
                    <a:p>
                      <a:pPr algn="ctr"/>
                      <a:r>
                        <a:rPr sz="2400" b="0">
                          <a:solidFill>
                            <a:srgbClr val="111827"/>
                          </a:solidFill>
                          <a:latin typeface="Arial"/>
                        </a:rPr>
                        <a:t>3</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28</a:t>
                      </a:r>
                    </a:p>
                  </a:txBody>
                  <a:tcPr anchor="ctr" marL="91440" marR="91440">
                    <a:solidFill>
                      <a:srgbClr val="FFFFFF"/>
                    </a:solidFill>
                  </a:tcPr>
                </a:tc>
                <a:tc>
                  <a:txBody>
                    <a:bodyPr/>
                    <a:lstStyle/>
                    <a:p>
                      <a:pPr algn="l"/>
                      <a:r>
                        <a:rPr sz="2400" b="0">
                          <a:solidFill>
                            <a:srgbClr val="111827"/>
                          </a:solidFill>
                          <a:latin typeface="Arial"/>
                        </a:rPr>
                        <a:t>Matching</a:t>
                      </a:r>
                    </a:p>
                  </a:txBody>
                  <a:tcPr anchor="ctr" marL="91440" marR="91440">
                    <a:solidFill>
                      <a:srgbClr val="FFFFFF"/>
                    </a:solidFill>
                  </a:tcPr>
                </a:tc>
                <a:tc>
                  <a:txBody>
                    <a:bodyPr/>
                    <a:lstStyle/>
                    <a:p>
                      <a:pPr algn="ctr"/>
                      <a:r>
                        <a:rPr sz="2400" b="0">
                          <a:solidFill>
                            <a:srgbClr val="111827"/>
                          </a:solidFill>
                          <a:latin typeface="Arial"/>
                        </a:rPr>
                        <a:t>3</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bl>
          </a:graphicData>
        </a:graphic>
      </p:graphicFrame>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a:t>
            </a:r>
            <a:endParaRPr sz="3200">
              <a:solidFill>
                <a:srgbClr val="FFFFFF"/>
              </a:solidFill>
            </a:endParaRPr>
          </a:p>
        </p:txBody>
      </p:sp>
      <p:sp>
        <p:nvSpPr>
          <p:cNvPr id="3" name="Rounded Rectangle 2"/>
          <p:cNvSpPr/>
          <p:nvPr/>
        </p:nvSpPr>
        <p:spPr>
          <a:xfrm>
            <a:off x="731520" y="1417320"/>
            <a:ext cx="4754880" cy="329184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37160" bIns="73152"/>
          <a:lstStyle>
            <a:lvl1pPr>
              <a:defRPr sz="3000">
                <a:solidFill>
                  <a:srgbClr val="0B1F3A"/>
                </a:solidFill>
              </a:defRPr>
            </a:lvl1pPr>
          </a:lstStyle>
          <a:p>
            <a:pPr algn="ctr">
              <a:defRPr sz="3000">
                <a:solidFill>
                  <a:srgbClr val="0B1F3A"/>
                </a:solidFill>
              </a:defRPr>
            </a:pPr>
            <a:r>
              <a:rPr sz="3000" b="1">
                <a:solidFill>
                  <a:srgbClr val="0B1F3A"/>
                </a:solidFill>
                <a:latin typeface="Arial"/>
              </a:rPr>
              <a:t>Difficulty Index</a:t>
            </a:r>
            <a:endParaRPr sz="3000">
              <a:solidFill>
                <a:srgbClr val="0B1F3A"/>
              </a:solidFill>
            </a:endParaRPr>
          </a:p>
          <a:p>
            <a:pPr algn="ctr">
              <a:defRPr sz="3000">
                <a:solidFill>
                  <a:srgbClr val="0B1F3A"/>
                </a:solidFill>
              </a:defRPr>
            </a:pPr>
            <a:r>
              <a:rPr sz="8800" b="1">
                <a:solidFill>
                  <a:srgbClr val="0B1F3A"/>
                </a:solidFill>
                <a:latin typeface="Arial"/>
              </a:rPr>
              <a:t>1.96</a:t>
            </a:r>
            <a:endParaRPr sz="3000">
              <a:solidFill>
                <a:srgbClr val="0B1F3A"/>
              </a:solidFill>
            </a:endParaRPr>
          </a:p>
          <a:p>
            <a:pPr algn="ctr">
              <a:defRPr sz="3000">
                <a:solidFill>
                  <a:srgbClr val="0B1F3A"/>
                </a:solidFill>
              </a:defRPr>
            </a:pPr>
            <a:r>
              <a:rPr sz="2400" b="0">
                <a:solidFill>
                  <a:srgbClr val="0B1F3A"/>
                </a:solidFill>
                <a:latin typeface="Arial"/>
              </a:rPr>
              <a:t>out of 5</a:t>
            </a:r>
            <a:endParaRPr sz="3000">
              <a:solidFill>
                <a:srgbClr val="0B1F3A"/>
              </a:solidFill>
            </a:endParaRPr>
          </a:p>
        </p:txBody>
      </p:sp>
      <p:sp>
        <p:nvSpPr>
          <p:cNvPr id="4" name="Rectangle 3"/>
          <p:cNvSpPr/>
          <p:nvPr/>
        </p:nvSpPr>
        <p:spPr>
          <a:xfrm>
            <a:off x="5852160" y="1417320"/>
            <a:ext cx="5605272" cy="603504"/>
          </a:xfrm>
          <a:prstGeom prst="rect">
            <a:avLst/>
          </a:prstGeom>
          <a:solidFill>
            <a:srgbClr val="93C47D"/>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73152"/>
          <a:lstStyle>
            <a:lvl1pPr>
              <a:defRPr sz="2400">
                <a:solidFill>
                  <a:srgbClr val="111827"/>
                </a:solidFill>
              </a:defRPr>
            </a:lvl1pPr>
          </a:lstStyle>
          <a:p>
            <a:pPr algn="l">
              <a:defRPr sz="2400">
                <a:solidFill>
                  <a:srgbClr val="111827"/>
                </a:solidFill>
              </a:defRPr>
            </a:pPr>
            <a:r>
              <a:rPr sz="2400" b="1">
                <a:solidFill>
                  <a:srgbClr val="111827"/>
                </a:solidFill>
                <a:latin typeface="Arial"/>
              </a:rPr>
              <a:t>JEE Main or easier:  8 questions</a:t>
            </a:r>
            <a:endParaRPr sz="2400">
              <a:solidFill>
                <a:srgbClr val="111827"/>
              </a:solidFill>
            </a:endParaRPr>
          </a:p>
        </p:txBody>
      </p:sp>
      <p:sp>
        <p:nvSpPr>
          <p:cNvPr id="5" name="Rectangle 4"/>
          <p:cNvSpPr/>
          <p:nvPr/>
        </p:nvSpPr>
        <p:spPr>
          <a:xfrm>
            <a:off x="5852160" y="2093976"/>
            <a:ext cx="5605272" cy="603504"/>
          </a:xfrm>
          <a:prstGeom prst="rect">
            <a:avLst/>
          </a:prstGeom>
          <a:solidFill>
            <a:srgbClr val="FFD966"/>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73152"/>
          <a:lstStyle>
            <a:lvl1pPr>
              <a:defRPr sz="2400">
                <a:solidFill>
                  <a:srgbClr val="111827"/>
                </a:solidFill>
              </a:defRPr>
            </a:lvl1pPr>
          </a:lstStyle>
          <a:p>
            <a:pPr algn="l">
              <a:defRPr sz="2400">
                <a:solidFill>
                  <a:srgbClr val="111827"/>
                </a:solidFill>
              </a:defRPr>
            </a:pPr>
            <a:r>
              <a:rPr sz="2400" b="1">
                <a:solidFill>
                  <a:srgbClr val="111827"/>
                </a:solidFill>
                <a:latin typeface="Arial"/>
              </a:rPr>
              <a:t>Below average:  13 questions</a:t>
            </a:r>
            <a:endParaRPr sz="2400">
              <a:solidFill>
                <a:srgbClr val="111827"/>
              </a:solidFill>
            </a:endParaRPr>
          </a:p>
        </p:txBody>
      </p:sp>
      <p:sp>
        <p:nvSpPr>
          <p:cNvPr id="6" name="Rectangle 5"/>
          <p:cNvSpPr/>
          <p:nvPr/>
        </p:nvSpPr>
        <p:spPr>
          <a:xfrm>
            <a:off x="5852160" y="2770632"/>
            <a:ext cx="5605272" cy="603504"/>
          </a:xfrm>
          <a:prstGeom prst="rect">
            <a:avLst/>
          </a:prstGeom>
          <a:solidFill>
            <a:srgbClr val="F6B26B"/>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73152"/>
          <a:lstStyle>
            <a:lvl1pPr>
              <a:defRPr sz="2400">
                <a:solidFill>
                  <a:srgbClr val="111827"/>
                </a:solidFill>
              </a:defRPr>
            </a:lvl1pPr>
          </a:lstStyle>
          <a:p>
            <a:pPr algn="l">
              <a:defRPr sz="2400">
                <a:solidFill>
                  <a:srgbClr val="111827"/>
                </a:solidFill>
              </a:defRPr>
            </a:pPr>
            <a:r>
              <a:rPr sz="2400" b="1">
                <a:solidFill>
                  <a:srgbClr val="111827"/>
                </a:solidFill>
                <a:latin typeface="Arial"/>
              </a:rPr>
              <a:t>Average Advanced:  7 questions</a:t>
            </a:r>
            <a:endParaRPr sz="2400">
              <a:solidFill>
                <a:srgbClr val="111827"/>
              </a:solidFill>
            </a:endParaRPr>
          </a:p>
        </p:txBody>
      </p:sp>
      <p:sp>
        <p:nvSpPr>
          <p:cNvPr id="7" name="Rectangle 6"/>
          <p:cNvSpPr/>
          <p:nvPr/>
        </p:nvSpPr>
        <p:spPr>
          <a:xfrm>
            <a:off x="5852160" y="3447288"/>
            <a:ext cx="5605272" cy="603504"/>
          </a:xfrm>
          <a:prstGeom prst="rect">
            <a:avLst/>
          </a:prstGeom>
          <a:solidFill>
            <a:srgbClr val="E88080"/>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73152"/>
          <a:lstStyle>
            <a:lvl1pPr>
              <a:defRPr sz="2400">
                <a:solidFill>
                  <a:srgbClr val="111827"/>
                </a:solidFill>
              </a:defRPr>
            </a:lvl1pPr>
          </a:lstStyle>
          <a:p>
            <a:pPr algn="l">
              <a:defRPr sz="2400">
                <a:solidFill>
                  <a:srgbClr val="111827"/>
                </a:solidFill>
              </a:defRPr>
            </a:pPr>
            <a:r>
              <a:rPr sz="2400" b="1">
                <a:solidFill>
                  <a:srgbClr val="111827"/>
                </a:solidFill>
                <a:latin typeface="Arial"/>
              </a:rPr>
              <a:t>Above average:  0 questions</a:t>
            </a:r>
            <a:endParaRPr sz="2400">
              <a:solidFill>
                <a:srgbClr val="111827"/>
              </a:solidFill>
            </a:endParaRPr>
          </a:p>
        </p:txBody>
      </p:sp>
      <p:sp>
        <p:nvSpPr>
          <p:cNvPr id="8" name="Rectangle 7"/>
          <p:cNvSpPr/>
          <p:nvPr/>
        </p:nvSpPr>
        <p:spPr>
          <a:xfrm>
            <a:off x="5852160" y="4123944"/>
            <a:ext cx="5605272" cy="603504"/>
          </a:xfrm>
          <a:prstGeom prst="rect">
            <a:avLst/>
          </a:prstGeom>
          <a:solidFill>
            <a:srgbClr val="CC4125"/>
          </a:solidFill>
          <a:ln w="19050">
            <a:solidFill>
              <a:srgbClr val="6B7280"/>
            </a:solidFill>
          </a:ln>
          <a:effectLst/>
        </p:spPr>
        <p:style>
          <a:lnRef idx="1">
            <a:schemeClr val="accent1"/>
          </a:lnRef>
          <a:fillRef idx="3">
            <a:schemeClr val="accent1"/>
          </a:fillRef>
          <a:effectRef idx="2">
            <a:schemeClr val="accent1"/>
          </a:effectRef>
          <a:fontRef idx="minor">
            <a:srgbClr val="FFFFFF"/>
          </a:fontRef>
        </p:style>
        <p:txBody>
          <a:bodyPr rtlCol="0" anchor="ctr" wrap="square" lIns="228600" rIns="228600" tIns="18288" bIns="73152"/>
          <a:lstStyle>
            <a:lvl1pPr>
              <a:defRPr sz="2400">
                <a:solidFill>
                  <a:srgbClr val="FFFFFF"/>
                </a:solidFill>
              </a:defRPr>
            </a:lvl1pPr>
          </a:lstStyle>
          <a:p>
            <a:pPr algn="l">
              <a:defRPr sz="2400">
                <a:solidFill>
                  <a:srgbClr val="FFFFFF"/>
                </a:solidFill>
              </a:defRPr>
            </a:pPr>
            <a:r>
              <a:rPr sz="2400" b="1">
                <a:solidFill>
                  <a:srgbClr val="FFFFFF"/>
                </a:solidFill>
                <a:latin typeface="Arial"/>
              </a:rPr>
              <a:t>Very difficult:  0 questions</a:t>
            </a:r>
            <a:endParaRPr sz="2400">
              <a:solidFill>
                <a:srgbClr val="FFFFFF"/>
              </a:solidFill>
            </a:endParaRPr>
          </a:p>
        </p:txBody>
      </p:sp>
      <p:sp>
        <p:nvSpPr>
          <p:cNvPr id="9" name="Rectangle 8"/>
          <p:cNvSpPr/>
          <p:nvPr/>
        </p:nvSpPr>
        <p:spPr>
          <a:xfrm>
            <a:off x="731520" y="5029200"/>
            <a:ext cx="10725912" cy="1097280"/>
          </a:xfrm>
          <a:prstGeom prst="rect">
            <a:avLst/>
          </a:prstGeom>
          <a:solidFill>
            <a:srgbClr val="FFFFFF"/>
          </a:solidFill>
          <a:ln w="19050">
            <a:no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ctr">
              <a:defRPr sz="2400">
                <a:solidFill>
                  <a:srgbClr val="111827"/>
                </a:solidFill>
              </a:defRPr>
            </a:pPr>
            <a:r>
              <a:rPr sz="2400" b="0">
                <a:solidFill>
                  <a:srgbClr val="111827"/>
                </a:solidFill>
                <a:latin typeface="Arial"/>
              </a:rPr>
              <a:t>Total: 28 questions, 102 marks.  Index = Σ(marks × level) ÷ Σ marks, on the 0-5 scale.</a:t>
            </a:r>
            <a:endParaRPr sz="2400">
              <a:solidFill>
                <a:srgbClr val="111827"/>
              </a:solidFill>
            </a:endParaRP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Difficulty Profile of the Paper</a:t>
            </a:r>
            <a:endParaRPr sz="3200">
              <a:solidFill>
                <a:srgbClr val="FFFFFF"/>
              </a:solidFill>
            </a:endParaRPr>
          </a:p>
        </p:txBody>
      </p:sp>
      <p:graphicFrame>
        <p:nvGraphicFramePr>
          <p:cNvPr id="3" name="Chart 2"/>
          <p:cNvGraphicFramePr>
            <a:graphicFrameLocks noGrp="1"/>
          </p:cNvGraphicFramePr>
          <p:nvPr/>
        </p:nvGraphicFramePr>
        <p:xfrm>
          <a:off x="457200" y="1280160"/>
          <a:ext cx="11274552" cy="5349240"/>
        </p:xfrm>
        <a:graphic>
          <a:graphicData uri="http://schemas.openxmlformats.org/drawingml/2006/chart">
            <c:chart xmlns:c="http://schemas.openxmlformats.org/drawingml/2006/chart" r:id="rId2"/>
          </a:graphicData>
        </a:graphic>
      </p:graphicFrame>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Comparison with JEE Advanced Papers</a:t>
            </a:r>
            <a:endParaRPr sz="3200">
              <a:solidFill>
                <a:srgbClr val="FFFFFF"/>
              </a:solidFill>
            </a:endParaRPr>
          </a:p>
        </p:txBody>
      </p:sp>
      <p:graphicFrame>
        <p:nvGraphicFramePr>
          <p:cNvPr id="3" name="Table 2"/>
          <p:cNvGraphicFramePr>
            <a:graphicFrameLocks noGrp="1"/>
          </p:cNvGraphicFramePr>
          <p:nvPr/>
        </p:nvGraphicFramePr>
        <p:xfrm>
          <a:off x="1661007" y="1371600"/>
          <a:ext cx="8869680" cy="4526280"/>
        </p:xfrm>
        <a:graphic>
          <a:graphicData uri="http://schemas.openxmlformats.org/drawingml/2006/table">
            <a:tbl>
              <a:tblPr firstRow="1" bandRow="1">
                <a:tableStyleId>{5C22544A-7EE6-4342-B048-85BDC9FD1C3A}</a:tableStyleId>
              </a:tblPr>
              <a:tblGrid>
                <a:gridCol w="5760720"/>
                <a:gridCol w="3108960"/>
              </a:tblGrid>
              <a:tr h="685800">
                <a:tc>
                  <a:txBody>
                    <a:bodyPr/>
                    <a:lstStyle/>
                    <a:p>
                      <a:pPr algn="ctr"/>
                      <a:r>
                        <a:rPr sz="2600" b="1">
                          <a:solidFill>
                            <a:srgbClr val="FFFFFF"/>
                          </a:solidFill>
                          <a:latin typeface="Arial"/>
                        </a:rPr>
                        <a:t>Paper</a:t>
                      </a:r>
                    </a:p>
                  </a:txBody>
                  <a:tcPr anchor="ctr" marL="137160" marR="137160">
                    <a:solidFill>
                      <a:srgbClr val="0B1F3A"/>
                    </a:solidFill>
                  </a:tcPr>
                </a:tc>
                <a:tc>
                  <a:txBody>
                    <a:bodyPr/>
                    <a:lstStyle/>
                    <a:p>
                      <a:pPr algn="ctr"/>
                      <a:r>
                        <a:rPr sz="2600" b="1">
                          <a:solidFill>
                            <a:srgbClr val="FFFFFF"/>
                          </a:solidFill>
                          <a:latin typeface="Arial"/>
                        </a:rPr>
                        <a:t>Difficulty Index</a:t>
                      </a:r>
                    </a:p>
                  </a:txBody>
                  <a:tcPr anchor="ctr" marL="137160" marR="137160">
                    <a:solidFill>
                      <a:srgbClr val="0B1F3A"/>
                    </a:solidFill>
                  </a:tcPr>
                </a:tc>
              </a:tr>
              <a:tr h="640080">
                <a:tc>
                  <a:txBody>
                    <a:bodyPr/>
                    <a:lstStyle/>
                    <a:p>
                      <a:pPr algn="l"/>
                      <a:r>
                        <a:rPr sz="2600" b="0">
                          <a:solidFill>
                            <a:srgbClr val="111827"/>
                          </a:solidFill>
                          <a:latin typeface="Arial"/>
                        </a:rPr>
                        <a:t>JEE Advanced 2021</a:t>
                      </a:r>
                    </a:p>
                  </a:txBody>
                  <a:tcPr anchor="ctr" marL="137160" marR="137160">
                    <a:solidFill>
                      <a:srgbClr val="FFFFFF"/>
                    </a:solidFill>
                  </a:tcPr>
                </a:tc>
                <a:tc>
                  <a:txBody>
                    <a:bodyPr/>
                    <a:lstStyle/>
                    <a:p>
                      <a:pPr algn="ctr"/>
                      <a:r>
                        <a:rPr sz="2600" b="1">
                          <a:solidFill>
                            <a:srgbClr val="111827"/>
                          </a:solidFill>
                          <a:latin typeface="Arial"/>
                        </a:rPr>
                        <a:t>2.76</a:t>
                      </a:r>
                    </a:p>
                  </a:txBody>
                  <a:tcPr anchor="ctr" marL="137160" marR="137160">
                    <a:solidFill>
                      <a:srgbClr val="FFFFFF"/>
                    </a:solidFill>
                  </a:tcPr>
                </a:tc>
              </a:tr>
              <a:tr h="640080">
                <a:tc>
                  <a:txBody>
                    <a:bodyPr/>
                    <a:lstStyle/>
                    <a:p>
                      <a:pPr algn="l"/>
                      <a:r>
                        <a:rPr sz="2600" b="0">
                          <a:solidFill>
                            <a:srgbClr val="111827"/>
                          </a:solidFill>
                          <a:latin typeface="Arial"/>
                        </a:rPr>
                        <a:t>JEE Advanced 2023</a:t>
                      </a:r>
                    </a:p>
                  </a:txBody>
                  <a:tcPr anchor="ctr" marL="137160" marR="137160">
                    <a:solidFill>
                      <a:srgbClr val="FFFFFF"/>
                    </a:solidFill>
                  </a:tcPr>
                </a:tc>
                <a:tc>
                  <a:txBody>
                    <a:bodyPr/>
                    <a:lstStyle/>
                    <a:p>
                      <a:pPr algn="ctr"/>
                      <a:r>
                        <a:rPr sz="2600" b="1">
                          <a:solidFill>
                            <a:srgbClr val="111827"/>
                          </a:solidFill>
                          <a:latin typeface="Arial"/>
                        </a:rPr>
                        <a:t>3.19</a:t>
                      </a:r>
                    </a:p>
                  </a:txBody>
                  <a:tcPr anchor="ctr" marL="137160" marR="137160">
                    <a:solidFill>
                      <a:srgbClr val="FFFFFF"/>
                    </a:solidFill>
                  </a:tcPr>
                </a:tc>
              </a:tr>
              <a:tr h="640080">
                <a:tc>
                  <a:txBody>
                    <a:bodyPr/>
                    <a:lstStyle/>
                    <a:p>
                      <a:pPr algn="l"/>
                      <a:r>
                        <a:rPr sz="2600" b="0">
                          <a:solidFill>
                            <a:srgbClr val="111827"/>
                          </a:solidFill>
                          <a:latin typeface="Arial"/>
                        </a:rPr>
                        <a:t>JEE Advanced 2024</a:t>
                      </a:r>
                    </a:p>
                  </a:txBody>
                  <a:tcPr anchor="ctr" marL="137160" marR="137160">
                    <a:solidFill>
                      <a:srgbClr val="FFFFFF"/>
                    </a:solidFill>
                  </a:tcPr>
                </a:tc>
                <a:tc>
                  <a:txBody>
                    <a:bodyPr/>
                    <a:lstStyle/>
                    <a:p>
                      <a:pPr algn="ctr"/>
                      <a:r>
                        <a:rPr sz="2600" b="1">
                          <a:solidFill>
                            <a:srgbClr val="111827"/>
                          </a:solidFill>
                          <a:latin typeface="Arial"/>
                        </a:rPr>
                        <a:t>2.59</a:t>
                      </a:r>
                    </a:p>
                  </a:txBody>
                  <a:tcPr anchor="ctr" marL="137160" marR="137160">
                    <a:solidFill>
                      <a:srgbClr val="FFFFFF"/>
                    </a:solidFill>
                  </a:tcPr>
                </a:tc>
              </a:tr>
              <a:tr h="640080">
                <a:tc>
                  <a:txBody>
                    <a:bodyPr/>
                    <a:lstStyle/>
                    <a:p>
                      <a:pPr algn="l"/>
                      <a:r>
                        <a:rPr sz="2600" b="0">
                          <a:solidFill>
                            <a:srgbClr val="111827"/>
                          </a:solidFill>
                          <a:latin typeface="Arial"/>
                        </a:rPr>
                        <a:t>JEE Advanced 2025</a:t>
                      </a:r>
                    </a:p>
                  </a:txBody>
                  <a:tcPr anchor="ctr" marL="137160" marR="137160">
                    <a:solidFill>
                      <a:srgbClr val="FFFFFF"/>
                    </a:solidFill>
                  </a:tcPr>
                </a:tc>
                <a:tc>
                  <a:txBody>
                    <a:bodyPr/>
                    <a:lstStyle/>
                    <a:p>
                      <a:pPr algn="ctr"/>
                      <a:r>
                        <a:rPr sz="2600" b="1">
                          <a:solidFill>
                            <a:srgbClr val="111827"/>
                          </a:solidFill>
                          <a:latin typeface="Arial"/>
                        </a:rPr>
                        <a:t>3.21</a:t>
                      </a:r>
                    </a:p>
                  </a:txBody>
                  <a:tcPr anchor="ctr" marL="137160" marR="137160">
                    <a:solidFill>
                      <a:srgbClr val="FFFFFF"/>
                    </a:solidFill>
                  </a:tcPr>
                </a:tc>
              </a:tr>
              <a:tr h="640080">
                <a:tc>
                  <a:txBody>
                    <a:bodyPr/>
                    <a:lstStyle/>
                    <a:p>
                      <a:pPr algn="l"/>
                      <a:r>
                        <a:rPr sz="2600" b="0">
                          <a:solidFill>
                            <a:srgbClr val="111827"/>
                          </a:solidFill>
                          <a:latin typeface="Arial"/>
                        </a:rPr>
                        <a:t>JEE Advanced 2026</a:t>
                      </a:r>
                    </a:p>
                  </a:txBody>
                  <a:tcPr anchor="ctr" marL="137160" marR="137160">
                    <a:solidFill>
                      <a:srgbClr val="FFFFFF"/>
                    </a:solidFill>
                  </a:tcPr>
                </a:tc>
                <a:tc>
                  <a:txBody>
                    <a:bodyPr/>
                    <a:lstStyle/>
                    <a:p>
                      <a:pPr algn="ctr"/>
                      <a:r>
                        <a:rPr sz="2600" b="1">
                          <a:solidFill>
                            <a:srgbClr val="111827"/>
                          </a:solidFill>
                          <a:latin typeface="Arial"/>
                        </a:rPr>
                        <a:t>3.02</a:t>
                      </a:r>
                    </a:p>
                  </a:txBody>
                  <a:tcPr anchor="ctr" marL="137160" marR="137160">
                    <a:solidFill>
                      <a:srgbClr val="FFFFFF"/>
                    </a:solidFill>
                  </a:tcPr>
                </a:tc>
              </a:tr>
              <a:tr h="640080">
                <a:tc>
                  <a:txBody>
                    <a:bodyPr/>
                    <a:lstStyle/>
                    <a:p>
                      <a:pPr algn="l"/>
                      <a:r>
                        <a:rPr sz="2600" b="1">
                          <a:solidFill>
                            <a:srgbClr val="0B1F3A"/>
                          </a:solidFill>
                          <a:latin typeface="Arial"/>
                        </a:rPr>
                        <a:t>P &amp; C Sheet FCopy C2</a:t>
                      </a:r>
                    </a:p>
                  </a:txBody>
                  <a:tcPr anchor="ctr" marL="137160" marR="137160">
                    <a:solidFill>
                      <a:srgbClr val="E0ECFF"/>
                    </a:solidFill>
                  </a:tcPr>
                </a:tc>
                <a:tc>
                  <a:txBody>
                    <a:bodyPr/>
                    <a:lstStyle/>
                    <a:p>
                      <a:pPr algn="ctr"/>
                      <a:r>
                        <a:rPr sz="2600" b="1">
                          <a:solidFill>
                            <a:srgbClr val="0B1F3A"/>
                          </a:solidFill>
                          <a:latin typeface="Arial"/>
                        </a:rPr>
                        <a:t>1.96</a:t>
                      </a:r>
                    </a:p>
                  </a:txBody>
                  <a:tcPr anchor="ctr" marL="137160" marR="137160">
                    <a:solidFill>
                      <a:srgbClr val="E0ECFF"/>
                    </a:solidFill>
                  </a:tcPr>
                </a:tc>
              </a:tr>
            </a:tbl>
          </a:graphicData>
        </a:graphic>
      </p:graphicFrame>
      <p:sp>
        <p:nvSpPr>
          <p:cNvPr id="4" name="TextBox 3"/>
          <p:cNvSpPr txBox="1"/>
          <p:nvPr/>
        </p:nvSpPr>
        <p:spPr>
          <a:xfrm>
            <a:off x="731520" y="6080759"/>
            <a:ext cx="10725912" cy="457200"/>
          </a:xfrm>
          <a:prstGeom prst="rect">
            <a:avLst/>
          </a:prstGeom>
          <a:noFill/>
        </p:spPr>
        <p:txBody>
          <a:bodyPr wrap="none">
            <a:spAutoFit/>
          </a:bodyPr>
          <a:lstStyle>
            <a:lvl1pPr>
              <a:defRPr sz="2000">
                <a:solidFill>
                  <a:srgbClr val="111827"/>
                </a:solidFill>
              </a:defRPr>
            </a:lvl1pPr>
          </a:lstStyle>
          <a:p>
            <a:pPr algn="ctr">
              <a:defRPr sz="2000">
                <a:solidFill>
                  <a:srgbClr val="111827"/>
                </a:solidFill>
              </a:defRPr>
            </a:pPr>
            <a:r>
              <a:rPr sz="2000" b="0">
                <a:solidFill>
                  <a:srgbClr val="111827"/>
                </a:solidFill>
                <a:latin typeface="Arial"/>
              </a:rPr>
              <a:t>Marks-weighted difficulty index on the 0-5 scale</a:t>
            </a:r>
            <a:endParaRPr sz="2000">
              <a:solidFill>
                <a:srgbClr val="111827"/>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